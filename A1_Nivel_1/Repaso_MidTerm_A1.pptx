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Energía alta: hoy es celebración de progreso, no clase nueva. Pide que cada uno diga una palabra coreana que recuerde antes de partir.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segundos por tarjeta: '¿quién recuerda qué vimos aquí?' Deja que ellos digan el contenido antes de avanzar.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Lectura coral primero, luego individual rápido. Tapa la romanización con la mano si proyectas: que lean solo el hangul. Refuerza: hace 8 semanas esto eran dibujos.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Ronda relámpago: cada alumno se presenta con nombre + una cosa que le gusta (좋아해요). Corrige pronunciación 1:1 aquí.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Juego de objetos reales: muestra cosas por la cámara (o imágenes) y pregunta 이게 뭐예요. Alterna 네/아니요 con trampas.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alumno presenta a UN familiar con foto del celular: 우리 엄마예요. Momento cultural del 우리 — véndelo, es de los favoritos.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 rápido: di números al azar (14, 32, 58) y que los armen. Recuérdales: el Lector de Hangul tiene el nivel Números para practicar en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 la hora con relojes: 2:00, 5:30, 7:15. Contadores clave: 개 (cosas), 명 (personas), 잔 (vasos). El examen trae una hora, avísales.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tu casa en 2 frases: qué hay en tu pieza. 있어요/없어요 aparece en el examen en traducción.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Cadena: '어디에 가요?' → responde y pregunta al siguiente. Mete el 안 para negar: 학교에 안 가요, 공원에 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3 frases son literalmente de nuestra clase del 19 de agosto. Pídeles crear la suya con su propia familia.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Mímica: un alumno actúa el verbo, el resto dice la frase completa con objeto (텔레비전을 봐요). Los 9 verbos entran al examen.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regla del semáforo: mira la ÚLTIMA vocal de la raíz. Practica con 보다→봐요, 마시다→마셔요, 읽다→읽어요.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Entrevista en parejas: 3 preguntas, 3 respuestas, luego presentan al compañero. Es el formato de la parte oral del examen.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Dales 2 minutos en parejas antes de resolver. La siguiente lámina tiene las respuestas.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 cada frase en voz alta con ellos. Celebra los aciertos; los errores de partícula son ORO: explican la regla mejor que tú.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Voluntarios leen + traducen. Respuestas: voy al colegio / ¿a dónde va mi hermano? / no voy al colegio, voy al parque / me gusta el jugo de mango / en la pieza hay una cama.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Baja la ansiedad: todo lo del examen está en esta presentación. 45 puntos + bono. Manda la lista de vocab y el link del Lector al Discord hoy mismo.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emocional: recuérdales su primera clase. Foto grupal de pantalla para el Instagram (con permiso).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3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Chingu\AppData\Local\Temp\claude\C--Users-Chingu-Desktop-ACADEMIASEULWEB\d4111e1b-5523-44ea-97b2-b1a1d9545b9e\scratchpad\tigre-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685800"/>
            <a:ext cx="1371600" cy="13258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C9C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ACADEMIA SEÚL · NIVEL 1 · MÉTODO CHINGU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697480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복습</a:t>
            </a:r>
            <a:endParaRPr lang="en-US" sz="7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77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Repaso Mid-term · Todo lo que ya sabes decir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C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Lecciones 1–8 · 한글학교 한국어 1 · + números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¡Hoy no aprendemos nada nuevo — descubrimos cuánto sabes! 화이팅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MAPA DEL VIAJE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lecciones en 8 semanas — mira todo lo que cubrimos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2743200" cy="1115568"/>
          </a:xfrm>
          <a:prstGeom prst="roundRect">
            <a:avLst>
              <a:gd name="adj" fmla="val 655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9344"/>
            <a:ext cx="2743200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68042"/>
            <a:ext cx="2743200" cy="245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han-gul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380000"/>
            <a:ext cx="2743200" cy="267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el alfabeto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19856" y="1554480"/>
            <a:ext cx="2743200" cy="1115568"/>
          </a:xfrm>
          <a:prstGeom prst="roundRect">
            <a:avLst>
              <a:gd name="adj" fmla="val 655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19856" y="1609344"/>
            <a:ext cx="2743200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419856" y="2168042"/>
            <a:ext cx="2743200" cy="245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an-niong-ja-se-io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419856" y="2380000"/>
            <a:ext cx="2743200" cy="267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saludos · 1과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91072" y="1554480"/>
            <a:ext cx="2743200" cy="1115568"/>
          </a:xfrm>
          <a:prstGeom prst="roundRect">
            <a:avLst>
              <a:gd name="adj" fmla="val 655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91072" y="1609344"/>
            <a:ext cx="2743200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뭐예요?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291072" y="2168042"/>
            <a:ext cx="2743200" cy="245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i-gue mo-e-io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291072" y="2380000"/>
            <a:ext cx="2743200" cy="267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esto? · 2–3과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62288" y="1554480"/>
            <a:ext cx="2743200" cy="1115568"/>
          </a:xfrm>
          <a:prstGeom prst="roundRect">
            <a:avLst>
              <a:gd name="adj" fmla="val 655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62288" y="1609344"/>
            <a:ext cx="2743200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엄마예요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162288" y="2168042"/>
            <a:ext cx="2743200" cy="245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u-ri om-ma-e-io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9162288" y="2380000"/>
            <a:ext cx="2743200" cy="267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· 4과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2834640"/>
            <a:ext cx="2743200" cy="1115568"/>
          </a:xfrm>
          <a:prstGeom prst="roundRect">
            <a:avLst>
              <a:gd name="adj" fmla="val 655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2889504"/>
            <a:ext cx="2743200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3448202"/>
            <a:ext cx="2743200" cy="245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sut-cha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3660160"/>
            <a:ext cx="2743200" cy="267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· fechas · hora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419856" y="2834640"/>
            <a:ext cx="2743200" cy="1115568"/>
          </a:xfrm>
          <a:prstGeom prst="roundRect">
            <a:avLst>
              <a:gd name="adj" fmla="val 655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19856" y="2889504"/>
            <a:ext cx="2743200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어디예요?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3419856" y="3448202"/>
            <a:ext cx="2743200" cy="245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chi-bi o-di-e-io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419856" y="3660160"/>
            <a:ext cx="2743200" cy="267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lugares · 5과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291072" y="2834640"/>
            <a:ext cx="2743200" cy="1115568"/>
          </a:xfrm>
          <a:prstGeom prst="roundRect">
            <a:avLst>
              <a:gd name="adj" fmla="val 655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91072" y="2889504"/>
            <a:ext cx="2743200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가요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6291072" y="3448202"/>
            <a:ext cx="2743200" cy="245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jak-kio-e ga-io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6291072" y="3660160"/>
            <a:ext cx="2743200" cy="267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voy a… · 6과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9162288" y="2834640"/>
            <a:ext cx="2743200" cy="1115568"/>
          </a:xfrm>
          <a:prstGeom prst="roundRect">
            <a:avLst>
              <a:gd name="adj" fmla="val 655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162288" y="2889504"/>
            <a:ext cx="2743200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그려요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9162288" y="3448202"/>
            <a:ext cx="2743200" cy="245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gu-ri-mul gu-rio-io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162288" y="3660160"/>
            <a:ext cx="2743200" cy="267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verbos · 8과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Hoy: repaso rápido de cada parada + práctica → el examen de la próxima clase no tendrá sorpresas.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CALENTAMIENTO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¿Puedes leer esto? — en agosto no podías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164592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700784"/>
            <a:ext cx="34290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01468"/>
            <a:ext cx="34290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ga-io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31566"/>
            <a:ext cx="342900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26280" y="164592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26280" y="1700784"/>
            <a:ext cx="34290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2601468"/>
            <a:ext cx="34290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jak-kio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931566"/>
            <a:ext cx="342900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colegio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0" y="164592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1700784"/>
            <a:ext cx="34290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2601468"/>
            <a:ext cx="34290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u-iu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931566"/>
            <a:ext cx="342900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leche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370332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758184"/>
            <a:ext cx="34290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바나나</a:t>
            </a:r>
            <a:endParaRPr lang="en-US" sz="40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658868"/>
            <a:ext cx="34290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ba-na-na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988966"/>
            <a:ext cx="342900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banana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26280" y="370332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26280" y="3758184"/>
            <a:ext cx="34290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</a:t>
            </a:r>
            <a:endParaRPr lang="en-US" sz="4000" dirty="0"/>
          </a:p>
        </p:txBody>
      </p:sp>
      <p:sp>
        <p:nvSpPr>
          <p:cNvPr id="23" name="Text 20"/>
          <p:cNvSpPr txBox="1"/>
          <p:nvPr/>
        </p:nvSpPr>
        <p:spPr>
          <a:xfrm>
            <a:off x="4526280" y="4658868"/>
            <a:ext cx="34290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chek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26280" y="4988966"/>
            <a:ext cx="342900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libro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229600" y="370332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0" y="3758184"/>
            <a:ext cx="34290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수영장</a:t>
            </a:r>
            <a:endParaRPr lang="en-US" sz="40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0" y="4658868"/>
            <a:ext cx="34290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su-iong-chang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0" y="4988966"/>
            <a:ext cx="342900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piscina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1과 · 안녕하세요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Saludar y presentarte — tu primera conversación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6002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안녕하세요?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[an-niong-ja-se-io]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hola (formal)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33172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마리아예요.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[cho-nun ma-ri-a-e-io]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yo soy María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뭐예요?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[i-ru-mi mo-e-io]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¿cómo te llamas?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947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만나서 반갑습니다.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[man-na-so ban-gap-sum-ni-da]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mucho gusto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513892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</a:t>
            </a:r>
            <a:pPr indent="0" marL="0">
              <a:buNone/>
            </a:pPr>
            <a:r>
              <a:rPr lang="en-US" sz="1400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yo (formal)   ·   </a:t>
            </a:r>
            <a:pPr indent="0" marL="0">
              <a:buNone/>
            </a:pPr>
            <a:r>
              <a:rPr lang="en-US" sz="1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pPr indent="0" marL="0">
              <a:buNone/>
            </a:pPr>
            <a:r>
              <a:rPr lang="en-US" sz="1400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yo (informal)   ·   </a:t>
            </a:r>
            <a:pPr indent="0" marL="0">
              <a:buNone/>
            </a:pPr>
            <a:r>
              <a:rPr lang="en-US" sz="1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~예요 / 이에요</a:t>
            </a:r>
            <a:pPr indent="0" marL="0">
              <a:buNone/>
            </a:pPr>
            <a:r>
              <a:rPr lang="en-US" sz="1400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soy / es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2과 · 3과 · 이게 뭐예요?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Preguntar qué es cualquier cosa — y responder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6002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뭐예요?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[i-gue mo-e-io]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¿qué es esto?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33172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책이에요.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[che-gui-e-io]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es un libro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빵이에요?  네, 빵이에요.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[pang-i-e-io]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¿es pan? — sí, es pan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947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아니요, 우유예요.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[a-ni-io, u-iu-e-io]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no, es leche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513892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de oro:  </a:t>
            </a:r>
            <a:pPr indent="0" marL="0">
              <a:buNone/>
            </a:pPr>
            <a:r>
              <a:rPr lang="en-US" sz="1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termina en batchim → 이에요</a:t>
            </a:r>
            <a:pPr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(책이에요)   ·   </a:t>
            </a:r>
            <a:pPr indent="0" marL="0">
              <a:buNone/>
            </a:pPr>
            <a:r>
              <a:rPr lang="en-US" sz="1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termina en vocal → 예요</a:t>
            </a:r>
            <a:pPr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(우유예요)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4과 · 우리 엄마예요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— y el famoso 우리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1600200"/>
            <a:ext cx="3429000" cy="1325880"/>
          </a:xfrm>
          <a:prstGeom prst="roundRect">
            <a:avLst>
              <a:gd name="adj" fmla="val 551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655064"/>
            <a:ext cx="342900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29434"/>
            <a:ext cx="34290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om-ma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81351"/>
            <a:ext cx="342900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mamá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26280" y="1600200"/>
            <a:ext cx="3429000" cy="1325880"/>
          </a:xfrm>
          <a:prstGeom prst="roundRect">
            <a:avLst>
              <a:gd name="adj" fmla="val 551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26280" y="1655064"/>
            <a:ext cx="342900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아빠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2329434"/>
            <a:ext cx="34290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a-pa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581351"/>
            <a:ext cx="342900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papá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229600" y="1600200"/>
            <a:ext cx="3429000" cy="1325880"/>
          </a:xfrm>
          <a:prstGeom prst="roundRect">
            <a:avLst>
              <a:gd name="adj" fmla="val 551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1655064"/>
            <a:ext cx="342900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할아버지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2329434"/>
            <a:ext cx="34290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ja-ra-bo-chi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581351"/>
            <a:ext cx="342900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abuelo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22960" y="3200400"/>
            <a:ext cx="3429000" cy="1325880"/>
          </a:xfrm>
          <a:prstGeom prst="roundRect">
            <a:avLst>
              <a:gd name="adj" fmla="val 551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255264"/>
            <a:ext cx="342900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할머니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929634"/>
            <a:ext cx="34290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jal-mo-ni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181551"/>
            <a:ext cx="342900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abuela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26280" y="3200400"/>
            <a:ext cx="3429000" cy="1325880"/>
          </a:xfrm>
          <a:prstGeom prst="roundRect">
            <a:avLst>
              <a:gd name="adj" fmla="val 551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26280" y="3255264"/>
            <a:ext cx="342900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4526280" y="3929634"/>
            <a:ext cx="34290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dong-seng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4526280" y="4181551"/>
            <a:ext cx="342900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hermano/a menor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229600" y="3200400"/>
            <a:ext cx="3429000" cy="1325880"/>
          </a:xfrm>
          <a:prstGeom prst="roundRect">
            <a:avLst>
              <a:gd name="adj" fmla="val 551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0" y="3255264"/>
            <a:ext cx="342900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0" y="3929634"/>
            <a:ext cx="34290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ga-chok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0" y="4181551"/>
            <a:ext cx="342900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22960" y="507492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0034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엄마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“nuestra mamá” — en coreano la familia (y el país, y la escuela) siempre es “nuestra”, no “mía”. Corea piensa en equipo.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 I · SINO-COREANOS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 이 삼 — los números de las fechas y el dinero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9344"/>
            <a:ext cx="214884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8218"/>
            <a:ext cx="2148840" cy="257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420600"/>
            <a:ext cx="214884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34640" y="1554480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1609344"/>
            <a:ext cx="214884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2834640" y="2198218"/>
            <a:ext cx="2148840" cy="257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34640" y="2420600"/>
            <a:ext cx="214884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120640" y="1554480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09344"/>
            <a:ext cx="214884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2198218"/>
            <a:ext cx="2148840" cy="257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120640" y="2420600"/>
            <a:ext cx="214884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406640" y="1554480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06640" y="1609344"/>
            <a:ext cx="214884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2198218"/>
            <a:ext cx="2148840" cy="257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0" y="2420600"/>
            <a:ext cx="214884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692640" y="1554480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692640" y="1609344"/>
            <a:ext cx="214884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</a:t>
            </a:r>
            <a:endParaRPr lang="en-US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9692640" y="2198218"/>
            <a:ext cx="2148840" cy="257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692640" y="2420600"/>
            <a:ext cx="214884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2953512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08376"/>
            <a:ext cx="214884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육</a:t>
            </a:r>
            <a:endParaRPr lang="en-US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3597250"/>
            <a:ext cx="2148840" cy="257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iuk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819632"/>
            <a:ext cx="214884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2834640" y="2953512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834640" y="3008376"/>
            <a:ext cx="214884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</a:t>
            </a:r>
            <a:endParaRPr lang="en-US" sz="3000" dirty="0"/>
          </a:p>
        </p:txBody>
      </p:sp>
      <p:sp>
        <p:nvSpPr>
          <p:cNvPr id="31" name="Text 28"/>
          <p:cNvSpPr txBox="1"/>
          <p:nvPr/>
        </p:nvSpPr>
        <p:spPr>
          <a:xfrm>
            <a:off x="2834640" y="3597250"/>
            <a:ext cx="2148840" cy="257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834640" y="3819632"/>
            <a:ext cx="214884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120640" y="2953512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120640" y="3008376"/>
            <a:ext cx="214884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</a:t>
            </a:r>
            <a:endParaRPr lang="en-US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120640" y="3597250"/>
            <a:ext cx="2148840" cy="257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120640" y="3819632"/>
            <a:ext cx="214884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7406640" y="2953512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406640" y="3008376"/>
            <a:ext cx="214884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</a:t>
            </a:r>
            <a:endParaRPr lang="en-US" sz="3000" dirty="0"/>
          </a:p>
        </p:txBody>
      </p:sp>
      <p:sp>
        <p:nvSpPr>
          <p:cNvPr id="39" name="Text 36"/>
          <p:cNvSpPr txBox="1"/>
          <p:nvPr/>
        </p:nvSpPr>
        <p:spPr>
          <a:xfrm>
            <a:off x="7406640" y="3597250"/>
            <a:ext cx="2148840" cy="257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406640" y="3819632"/>
            <a:ext cx="214884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692640" y="2953512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692640" y="3008376"/>
            <a:ext cx="214884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</a:t>
            </a:r>
            <a:endParaRPr lang="en-US" sz="3000" dirty="0"/>
          </a:p>
        </p:txBody>
      </p:sp>
      <p:sp>
        <p:nvSpPr>
          <p:cNvPr id="43" name="Text 40"/>
          <p:cNvSpPr txBox="1"/>
          <p:nvPr/>
        </p:nvSpPr>
        <p:spPr>
          <a:xfrm>
            <a:off x="9692640" y="3597250"/>
            <a:ext cx="2148840" cy="257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9692640" y="3819632"/>
            <a:ext cx="214884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48640" y="51206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349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arman como LEGO:  </a:t>
            </a:r>
            <a:pPr indent="0" marL="0">
              <a:buNone/>
            </a:pPr>
            <a:r>
              <a:rPr lang="en-US" sz="1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= 이십칠</a:t>
            </a:r>
            <a:pPr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(2×10+7)   ·   Se usan para: fechas · dinero · minutos · teléfono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 II · NATIVOS + LA HORA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 둘 셋 — los números de contar y la hora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63624"/>
            <a:ext cx="214884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12264"/>
            <a:ext cx="2148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ja-na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320747"/>
            <a:ext cx="21488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34640" y="15087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1563624"/>
            <a:ext cx="214884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2834640" y="2112264"/>
            <a:ext cx="2148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dul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34640" y="2320747"/>
            <a:ext cx="21488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120640" y="15087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563624"/>
            <a:ext cx="214884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2112264"/>
            <a:ext cx="2148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120640" y="2320747"/>
            <a:ext cx="21488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406640" y="15087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06640" y="1563624"/>
            <a:ext cx="214884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넷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2112264"/>
            <a:ext cx="2148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0" y="2320747"/>
            <a:ext cx="21488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692640" y="15087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692640" y="1563624"/>
            <a:ext cx="214884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9692640" y="2112264"/>
            <a:ext cx="2148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da-sot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692640" y="2320747"/>
            <a:ext cx="21488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278892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2843784"/>
            <a:ext cx="214884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</a:t>
            </a:r>
            <a:endParaRPr lang="en-US" sz="26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3392424"/>
            <a:ext cx="2148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io-sot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600907"/>
            <a:ext cx="21488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2834640" y="278892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834640" y="2843784"/>
            <a:ext cx="214884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</a:t>
            </a:r>
            <a:endParaRPr lang="en-US" sz="2600" dirty="0"/>
          </a:p>
        </p:txBody>
      </p:sp>
      <p:sp>
        <p:nvSpPr>
          <p:cNvPr id="31" name="Text 28"/>
          <p:cNvSpPr txBox="1"/>
          <p:nvPr/>
        </p:nvSpPr>
        <p:spPr>
          <a:xfrm>
            <a:off x="2834640" y="3392424"/>
            <a:ext cx="2148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il-gop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834640" y="3600907"/>
            <a:ext cx="21488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120640" y="278892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120640" y="2843784"/>
            <a:ext cx="214884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</a:t>
            </a:r>
            <a:endParaRPr lang="en-US" sz="2600" dirty="0"/>
          </a:p>
        </p:txBody>
      </p:sp>
      <p:sp>
        <p:nvSpPr>
          <p:cNvPr id="35" name="Text 32"/>
          <p:cNvSpPr txBox="1"/>
          <p:nvPr/>
        </p:nvSpPr>
        <p:spPr>
          <a:xfrm>
            <a:off x="5120640" y="3392424"/>
            <a:ext cx="2148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io-dol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120640" y="3600907"/>
            <a:ext cx="21488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7406640" y="278892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406640" y="2843784"/>
            <a:ext cx="214884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</a:t>
            </a:r>
            <a:endParaRPr lang="en-US" sz="2600" dirty="0"/>
          </a:p>
        </p:txBody>
      </p:sp>
      <p:sp>
        <p:nvSpPr>
          <p:cNvPr id="39" name="Text 36"/>
          <p:cNvSpPr txBox="1"/>
          <p:nvPr/>
        </p:nvSpPr>
        <p:spPr>
          <a:xfrm>
            <a:off x="7406640" y="3392424"/>
            <a:ext cx="2148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a-jop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406640" y="3600907"/>
            <a:ext cx="21488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692640" y="278892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692640" y="2843784"/>
            <a:ext cx="214884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</a:t>
            </a:r>
            <a:endParaRPr lang="en-US" sz="2600" dirty="0"/>
          </a:p>
        </p:txBody>
      </p:sp>
      <p:sp>
        <p:nvSpPr>
          <p:cNvPr id="43" name="Text 40"/>
          <p:cNvSpPr txBox="1"/>
          <p:nvPr/>
        </p:nvSpPr>
        <p:spPr>
          <a:xfrm>
            <a:off x="9692640" y="3392424"/>
            <a:ext cx="2148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iol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9692640" y="3600907"/>
            <a:ext cx="21488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48640" y="49834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003478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4A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3:30 = 세 시 삼십 분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la hora usa NATIVOS y los minutos SINO. Al contar, 1–4 se acortan: </a:t>
            </a:r>
            <a:pPr indent="0" marL="0">
              <a:buNone/>
            </a:pPr>
            <a:r>
              <a:rPr lang="en-US" sz="1600" b="1" dirty="0">
                <a:solidFill>
                  <a:srgbClr val="D4A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개, 두 명, 세 잔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5과 · 집이 어디예요?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Lugares — y decir dónde están las cosas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63624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61972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253082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97680" y="150876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1563624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2061972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2253082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pieza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46720" y="150876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1563624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부엌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061972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bu-ok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253082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cocina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2660904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715768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가게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214116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ga-gue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405226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297680" y="2660904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715768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3214116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gong-uon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4297680" y="3405226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parque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46720" y="2660904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46720" y="2715768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3214116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jue-sa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3405226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3813048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3867912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백화점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366260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bek-jua-chom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4557370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mall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297680" y="3813048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3867912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4297680" y="4366260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biong-uon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557370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046720" y="3813048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46720" y="3867912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수영장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8046720" y="4366260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su-iong-chang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046720" y="4557370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piscina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48640" y="51663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3675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어디예요?</a:t>
            </a:r>
            <a:pPr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¿dónde está tu casa?   ·   </a:t>
            </a:r>
            <a:pPr indent="0" marL="0">
              <a:buNone/>
            </a:pPr>
            <a:r>
              <a:rPr lang="en-US" sz="1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침대가 있어요</a:t>
            </a:r>
            <a:pPr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 la pieza hay una cama (있어요 = hay/tener)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6과 · 학교에 가요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orden coreano y la partícula 에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5544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Guillermo va a la escuela</a:t>
            </a:r>
            <a:pPr indent="0" marL="0">
              <a:buNone/>
            </a:pPr>
            <a:r>
              <a:rPr lang="en-US" sz="14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 + V + O (español)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기제르모는 학교에 가요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 + O + V (coreano): el verbo SIEMPRE al final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학교에 가요.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[cho-nun jak-kio-e ga-io]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voy al colegio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29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안 가요.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[jak-kio-e an ga-io]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 voy al colegio (안 = no)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0690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가요?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[o-di-e ga-io]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¿a dónde vas?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822960" y="5029200"/>
            <a:ext cx="1051560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97280" y="5257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pPr indent="0" marL="0">
              <a:buNone/>
            </a:pPr>
            <a:r>
              <a:rPr lang="en-US" sz="1400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partícula de lugar/tiempo (“a, en”)   ·   </a:t>
            </a:r>
            <a:pPr indent="0" marL="0">
              <a:buNone/>
            </a:pPr>
            <a:r>
              <a:rPr lang="en-US" sz="1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pPr indent="0" marL="0">
              <a:buNone/>
            </a:pPr>
            <a:r>
              <a:rPr lang="en-US" sz="1400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ir  ·  </a:t>
            </a:r>
            <a:pPr indent="0" marL="0">
              <a:buNone/>
            </a:pPr>
            <a:r>
              <a:rPr lang="en-US" sz="1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pPr indent="0" marL="0">
              <a:buNone/>
            </a:pPr>
            <a:r>
              <a:rPr lang="en-US" sz="1400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venir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PARTÍCULA DEL TEMA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은/는 — el “hablando de…” del coreano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1554480"/>
            <a:ext cx="5074920" cy="13716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17373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termina en BATCHIM → 은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동생은 · 기제르모는? no → 아비가일은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554480"/>
            <a:ext cx="5074920" cy="13716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termina en VOCAL → 는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· 엄마는 · 아빠는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9184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아빠는 회사에 가요.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[a-pa-nun jue-sa-e ga-io]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papá va a la oficina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엄마는 백화점에 가요.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[om-ma-nun bek-jua-cho-me ga-io]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mamá va al mall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572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동생은 유치원에 가요.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[dong-seng-un iu-chi-uo-ne ga-io]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mi hermano va al jardín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56235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3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examen: rellenar 은/는 y 을/를 — la pista SIEMPRE es el batchim.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8과 · 그림을 그려요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verbos de todos los días + la partícula 을/를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63624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61972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bua-io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253082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97680" y="150876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1563624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읽어요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2061972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il-go-io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2253082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46720" y="150876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1563624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061972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mo-go-io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253082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2660904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715768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214116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ma-shio-io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405226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297680" y="2660904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715768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그려요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3214116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gu-rio-io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4297680" y="3405226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dibujar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46720" y="2660904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46720" y="2715768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써요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3214116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so-io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3405226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3813048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3867912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입어요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366260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i-bo-io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4557370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ponerse ropa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297680" y="3813048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3867912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해요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4297680" y="4366260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je-io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557370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hacer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046720" y="3813048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46720" y="3867912"/>
            <a:ext cx="361188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좋아해요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8046720" y="4366260"/>
            <a:ext cx="361188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cho-a-je-io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046720" y="4557370"/>
            <a:ext cx="361188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gustar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48640" y="51663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3675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을/를</a:t>
            </a:r>
            <a:pPr indent="0" marL="0">
              <a:buNone/>
            </a:pPr>
            <a:r>
              <a:rPr lang="en-US" sz="1300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marca el objeto: </a:t>
            </a:r>
            <a:pPr indent="0" marL="0">
              <a:buNone/>
            </a:pPr>
            <a:r>
              <a:rPr lang="en-US" sz="1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읽어요</a:t>
            </a:r>
            <a:pPr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leo un libro · </a:t>
            </a:r>
            <a:pPr indent="0" marL="0">
              <a:buNone/>
            </a:pPr>
            <a:r>
              <a:rPr lang="en-US" sz="1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우유를 마셔요</a:t>
            </a:r>
            <a:pPr indent="0" marL="0">
              <a:buNone/>
            </a:pPr>
            <a:r>
              <a:rPr lang="en-US" sz="13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tomo leche  (batchim → 을 · vocal → 를)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MÁQUINA DE CONJUGAR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-아요 / -어요 — una regla para todos los verbos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160020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4236F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ㅏ , ㅗ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아요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DE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→ 가요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89120" y="160020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00347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389120" y="19202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 de vocales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389120" y="25146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어요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38912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DE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→ 먹어요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955280" y="160020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D4AF3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955280" y="1828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25146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해요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C4A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 → 공부해요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16052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텔레비전을 봐요.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[cho-nun tel-le-bi-cho-nul bua-io]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yo veo televisión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8006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물을 마셔요.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[na-nun mu-rul ma-shio-io]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yo tomo agua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9과 · 사과를 좋아해요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Decir lo que te gusta — y las 3 preguntas mágicas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6002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망고 주스를 좋아해요.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[man-go chu-su-rul cho-a-je-io]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me gusta el jugo de mango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240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파스타 좋아해요?  네!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[pas-ta cho-a-je-io]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¿te gusta la pasta? ¡sí!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싫어해요.</a:t>
            </a:r>
            <a:pPr indent="0" marL="0">
              <a:buNone/>
            </a:pPr>
            <a:r>
              <a:rPr lang="en-US" sz="14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[shi-ro-je-io]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 me gusta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822960" y="379476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849624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뭐?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549140"/>
            <a:ext cx="3429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8097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¿qué?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26280" y="379476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6280" y="3849624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누구?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4549140"/>
            <a:ext cx="3429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nu-gu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48097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¿quién?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229600" y="379476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0" y="3849624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어디?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4549140"/>
            <a:ext cx="3429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o-di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48097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¿dónde?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4406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 마셔요? · 뭐 먹어요? · 어디에 가요? · 누구예요? — con 3 preguntas ya conversas.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A · 은/는/을/를/에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la partícula — piensa en el batchim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97280" y="1691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아빠___ 회사___ 가요.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2468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엄마는 책___ 읽어요.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동생___ 우유___ 마셔요.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4023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저는 수영장___ 가요.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4800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 나___ 그림___ 그려요.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5715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Pista: batchim → 은 / 을 · vocal → 는 / 를 · lugar → 에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A · RESPUESTAS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¿Cuántas acertaste?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97280" y="16916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아빠는 회사에 가요.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papá va a la oficina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24688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엄마는 책을 읽어요.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mamá lee un libro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32461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동생은 우유를 마셔요.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mi hermano toma leche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40233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저는 수영장에 가요.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voy a la piscina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4800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 나는 그림을 그려요.</a:t>
            </a:r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yo dibujo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B · LEE Y TRADUCE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junto — frases reales de nuestras clases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97280" y="1691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저는 학교에 가요.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2468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동생은 어디에 가요?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학교에 안 가요. 공원에 가요.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4023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나는 망고 주스를 좋아해요.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4800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 방에 침대가 있어요.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5715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Léela en voz alta primero — si puedes LEERLA, ya ganaste la mitad.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수업 · PRÓXIMA CLASE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examen mid-term — sin sorpresas</a:t>
            </a:r>
            <a:endParaRPr lang="en-US" sz="3200" dirty="0"/>
          </a:p>
        </p:txBody>
      </p:sp>
      <p:pic>
        <p:nvPicPr>
          <p:cNvPr id="4" name="Image 0" descr="C:\Users\Chingu\AppData\Local\Temp\claude\C--Users-Chingu-Desktop-ACADEMIASEULWEB\d4111e1b-5523-44ea-97b2-b1a1d9545b9e\scratchpad\igpost\sello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6236208"/>
            <a:ext cx="457200" cy="4389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9344"/>
            <a:ext cx="361188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단어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33422"/>
            <a:ext cx="3611880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vocabulario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467966"/>
            <a:ext cx="361188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coreano ↔ español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97680" y="15544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1609344"/>
            <a:ext cx="361188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2233422"/>
            <a:ext cx="3611880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partículas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2467966"/>
            <a:ext cx="361188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은/는 · 을/를 · 에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46720" y="15544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1609344"/>
            <a:ext cx="361188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동사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233422"/>
            <a:ext cx="3611880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verbos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467966"/>
            <a:ext cx="361188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-아요/어요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01752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072384"/>
            <a:ext cx="361188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696462"/>
            <a:ext cx="3611880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931006"/>
            <a:ext cx="361188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sino · nativos · hora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297680" y="301752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3072384"/>
            <a:ext cx="361188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3696462"/>
            <a:ext cx="3611880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traducción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4297680" y="3931006"/>
            <a:ext cx="361188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coreano → español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46720" y="301752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EEF1FF"/>
          </a:solidFill>
          <a:ln w="12700">
            <a:solidFill>
              <a:srgbClr val="D8DCF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46720" y="3072384"/>
            <a:ext cx="361188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0A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대답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3696462"/>
            <a:ext cx="3611880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23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3931006"/>
            <a:ext cx="361188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sobre ti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489204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4236F6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22960" y="5120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estudiar esta semana: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La lista de vocabulario (te la mando hoy)  ·  2) El Lector de Hangul: 10 min al día (Palabras + Números + Contrarreloj)  ·  3) Relee tus hojas de clase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23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Chingu\AppData\Local\Temp\claude\C--Users-Chingu-Desktop-ACADEMIASEULWEB\d4111e1b-5523-44ea-97b2-b1a1d9545b9e\scratchpad\tigre-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1005840"/>
            <a:ext cx="1371600" cy="13258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8주 전에는 한글도 몰랐어요.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520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C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Hace 8 semanas no sabías ni leer hangul. Hoy conversas.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3891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D4A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화이팅!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 coreano con un chingu · academiaseul.com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2026-09-09T21:34:41Z</dcterms:created>
  <dcterms:modified xsi:type="dcterms:W3CDTF">2026-09-09T21:34:41Z</dcterms:modified>
</cp:coreProperties>
</file>