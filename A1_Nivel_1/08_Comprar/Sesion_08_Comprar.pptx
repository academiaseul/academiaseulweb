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3" d="100"/>
          <a:sy n="83" d="100"/>
        </p:scale>
        <p:origin x="65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73733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2E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sleepy-zen-cray/mnt/outputs/deck_assets/logo_principal_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8956" y="-1001915"/>
            <a:ext cx="3676535" cy="367653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1600200"/>
            <a:ext cx="1216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kern="0" spc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8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0" y="2194560"/>
            <a:ext cx="12161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물건 사기</a:t>
            </a:r>
            <a:endParaRPr lang="en-US" sz="9000" dirty="0"/>
          </a:p>
        </p:txBody>
      </p:sp>
      <p:sp>
        <p:nvSpPr>
          <p:cNvPr id="5" name="Text 2"/>
          <p:cNvSpPr/>
          <p:nvPr/>
        </p:nvSpPr>
        <p:spPr>
          <a:xfrm>
            <a:off x="0" y="3657600"/>
            <a:ext cx="1216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Comprar en Corea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914400" y="443484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Sostener una conversación de compra completa</a:t>
            </a:r>
            <a:endParaRPr lang="en-US" sz="1300" dirty="0"/>
          </a:p>
        </p:txBody>
      </p:sp>
      <p:pic>
        <p:nvPicPr>
          <p:cNvPr id="7" name="Image 1" descr="/sessions/sleepy-zen-cray/mnt/outputs/deck_assets/sello_linea_v1_0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0" y="5852160"/>
            <a:ext cx="822960" cy="8229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0" y="6263640"/>
            <a:ext cx="1216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Profesora · Jay Kim · 김재희</a:t>
            </a:r>
            <a:endParaRPr lang="en-US" sz="1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6A98DF-EBB4-ADEC-BD37-DA5A33A61930}"/>
              </a:ext>
            </a:extLst>
          </p:cNvPr>
          <p:cNvSpPr txBox="1"/>
          <p:nvPr/>
        </p:nvSpPr>
        <p:spPr>
          <a:xfrm>
            <a:off x="9005455" y="1403927"/>
            <a:ext cx="20519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altLang="ko-KR" dirty="0"/>
              <a:t>‘ </a:t>
            </a:r>
            <a:r>
              <a:rPr lang="ko-KR" altLang="es-CL" dirty="0"/>
              <a:t>사다</a:t>
            </a:r>
            <a:r>
              <a:rPr lang="es-CL" altLang="ko-KR" dirty="0"/>
              <a:t>＇</a:t>
            </a:r>
            <a:r>
              <a:rPr lang="ko-KR" altLang="es-CL" dirty="0"/>
              <a:t> </a:t>
            </a:r>
            <a:r>
              <a:rPr lang="es-CL" altLang="ko-KR" dirty="0"/>
              <a:t>=  comprar</a:t>
            </a:r>
            <a:endParaRPr lang="es-CL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BIENVENIDA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aprendemos a sobrevivir en Corea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109728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Pedir café, comprar comida, preguntar precios. Las frases más útiles para alguien que viaja a Corea o vive cerca de un restaurante coreano.</a:t>
            </a:r>
            <a:endParaRPr lang="en-US" sz="1600" dirty="0"/>
          </a:p>
          <a:p>
            <a:pPr marL="0" indent="0">
              <a:lnSpc>
                <a:spcPct val="140000"/>
              </a:lnSpc>
              <a:buNone/>
            </a:pPr>
            <a:endParaRPr lang="en-US" sz="16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frase MÁS útil del coreano que vas a aprender hoy: -</a:t>
            </a:r>
            <a:r>
              <a:rPr lang="en-US" sz="16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주세요</a:t>
            </a: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(déme / por favor). La vas a decir miles de veces.</a:t>
            </a:r>
            <a:endParaRPr lang="en-US" sz="1600" dirty="0"/>
          </a:p>
          <a:p>
            <a:pPr marL="0" indent="0">
              <a:lnSpc>
                <a:spcPct val="140000"/>
              </a:lnSpc>
              <a:buNone/>
            </a:pPr>
            <a:endParaRPr lang="en-US" sz="16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Gramática nueva: clasificadores (단위명사), 이/그/저 (este/ese/aquel), 와/과 + 하고 (y), 주세요.</a:t>
            </a:r>
            <a:endParaRPr lang="en-US" sz="1600" dirty="0"/>
          </a:p>
        </p:txBody>
      </p:sp>
      <p:pic>
        <p:nvPicPr>
          <p:cNvPr id="5" name="Image 0" descr="/sessions/sleepy-zen-cray/mnt/outputs/deck_assets/sello_relleno_v1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274320"/>
            <a:ext cx="502920" cy="502920"/>
          </a:xfrm>
          <a:prstGeom prst="rect">
            <a:avLst/>
          </a:prstGeom>
        </p:spPr>
      </p:pic>
      <p:pic>
        <p:nvPicPr>
          <p:cNvPr id="6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08  ·  MULGEONSAGI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§8.1 · GRAMÁTICA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Clasificadores · 단위명사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54864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español decís 'tres LIBROS'. En coreano NO podés decir 'tres libros' directamente. Necesitás un CLASIFICADOR según el tipo de cosa.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책 세 권 = 3 libros (권 para libros)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커피 두 잔 = 2 cafés (잔 para tazas)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사람 다섯 명 = 5 personas (명 para personas)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CLASIFICADORES USAN NÚMEROS COREANOS PUROS (한, 두, 세, 네…) — los que aprendiste en Sesión 7.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una particularidad del coreano que toma tiempo adoptar, pero una vez que lo hacés se vuelve natural.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766560" y="1828800"/>
            <a:ext cx="4846320" cy="4389120"/>
          </a:xfrm>
          <a:prstGeom prst="roundRect">
            <a:avLst>
              <a:gd name="adj" fmla="val 3125"/>
            </a:avLst>
          </a:prstGeom>
          <a:solidFill>
            <a:srgbClr val="3D2EE8"/>
          </a:solidFill>
          <a:ln w="12700">
            <a:solidFill>
              <a:srgbClr val="3D2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0" y="256032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단위명사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6766560" y="429768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danwimyeongsa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766560" y="49377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(clasificadores)</a:t>
            </a:r>
            <a:endParaRPr lang="en-US" sz="1400" dirty="0"/>
          </a:p>
        </p:txBody>
      </p:sp>
      <p:pic>
        <p:nvPicPr>
          <p:cNvPr id="9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10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08  ·  MULGEONSAGI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§8.2 · CLASIFICADORES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más usados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cosas (개 = generic)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10712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10712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410712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(informal)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72784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72784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272784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(formal)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34856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34856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잔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134856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vasos / tazas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48640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libros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410712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10712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마리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410712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animales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72784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72784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272784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años (edad)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134856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34856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134856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Veces</a:t>
            </a: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r>
              <a:rPr lang="en-US" sz="12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numero</a:t>
            </a:r>
            <a:endParaRPr lang="en-US" sz="1200" dirty="0"/>
          </a:p>
        </p:txBody>
      </p:sp>
      <p:pic>
        <p:nvPicPr>
          <p:cNvPr id="28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29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31" name="Text 27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08  ·  MULGEONSAGI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FF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§8.3 · LECTURA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Cantidades reales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FF5C5C"/>
          </a:solidFill>
          <a:ln w="12700">
            <a:solidFill>
              <a:srgbClr val="FF5C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965960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사과 세 개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3657600" cy="800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manzanas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25112" y="1828800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25112" y="1965960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 두 잔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4325112" y="3200400"/>
            <a:ext cx="3657600" cy="800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cafés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01584" y="1828800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3D2EE8"/>
          </a:solidFill>
          <a:ln w="12700">
            <a:solidFill>
              <a:srgbClr val="3D2E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01584" y="1965960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 한 권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101584" y="3200400"/>
            <a:ext cx="3657600" cy="800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libro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233672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FF5C5C"/>
          </a:solidFill>
          <a:ln w="12700">
            <a:solidFill>
              <a:srgbClr val="FF5C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4370832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다섯 명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548640" y="5605272"/>
            <a:ext cx="3657600" cy="800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personas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25112" y="4233672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25112" y="4370832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강아지 두 마리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4325112" y="5605272"/>
            <a:ext cx="3657600" cy="800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perritos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01584" y="4233672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3D2EE8"/>
          </a:solidFill>
          <a:ln w="12700">
            <a:solidFill>
              <a:srgbClr val="3D2E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01584" y="4370832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스물다섯 살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8101584" y="5605272"/>
            <a:ext cx="3657600" cy="800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años</a:t>
            </a:r>
            <a:endParaRPr lang="en-US" sz="1200" dirty="0"/>
          </a:p>
        </p:txBody>
      </p:sp>
      <p:pic>
        <p:nvPicPr>
          <p:cNvPr id="22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23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25" name="Text 21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08  ·  MULGEONSAGI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§8.4 · DEMOSTRATIVOS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/ 그 / 저 · Este / Ese / Aquel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54864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Coreano tiene los mismos tres demostrativos que español: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이 = este (cerca del hablante)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그 = ese (cerca del oyente o ya mencionado)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저 = aquel (lejos de ambos)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Ejemplos: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이 책 (este libro, en mi mano)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그 사람 (esa persona, cerca tuyo)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저 카페 (aquel café, al fondo)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+ sustantivo, sin partícula entre ellos.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766560" y="1828800"/>
            <a:ext cx="4846320" cy="4389120"/>
          </a:xfrm>
          <a:prstGeom prst="roundRect">
            <a:avLst>
              <a:gd name="adj" fmla="val 3125"/>
            </a:avLst>
          </a:prstGeom>
          <a:solidFill>
            <a:srgbClr val="FF5C5C"/>
          </a:solidFill>
          <a:ln w="12700">
            <a:solidFill>
              <a:srgbClr val="FF5C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0" y="256032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/ 그 / 저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6766560" y="429768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/ geu / jeo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766560" y="49377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(este / ese / aquel)</a:t>
            </a:r>
            <a:endParaRPr lang="en-US" sz="1400" dirty="0"/>
          </a:p>
        </p:txBody>
      </p:sp>
      <p:pic>
        <p:nvPicPr>
          <p:cNvPr id="9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10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08  ·  MULGEONSAGI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§8.5 · GRAMÁTICA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와/과 + 하고 · Y entre sustantivos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54864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conectar SUSTANTIVOS (no verbos), tenés 2 opciones: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와/과 (más formal):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Sin batchim → 와 (커피와 빵)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 batchim → 과 (밥과 김치)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하고 (más coloquial, funciona con todos):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커피하고 빵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밥하고 김치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 con -고 (Sesión 7):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와/과/하고 → entre sustantivos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-고 → entre verbos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los confundas.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766560" y="1828800"/>
            <a:ext cx="4846320" cy="4389120"/>
          </a:xfrm>
          <a:prstGeom prst="roundRect">
            <a:avLst>
              <a:gd name="adj" fmla="val 3125"/>
            </a:avLst>
          </a:prstGeom>
          <a:solidFill>
            <a:srgbClr val="3D2EE8"/>
          </a:solidFill>
          <a:ln w="12700">
            <a:solidFill>
              <a:srgbClr val="3D2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0" y="256032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 / 과 </a:t>
            </a:r>
          </a:p>
          <a:p>
            <a:pPr marL="0" indent="0" algn="ctr">
              <a:buNone/>
            </a:pPr>
            <a:r>
              <a:rPr lang="en-US" sz="8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 하고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6766560" y="429768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 / gwa / hago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766560" y="49377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(y, entre sustantivos)</a:t>
            </a:r>
            <a:endParaRPr lang="en-US" sz="1400" dirty="0"/>
          </a:p>
        </p:txBody>
      </p:sp>
      <p:pic>
        <p:nvPicPr>
          <p:cNvPr id="9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10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08  ·  MULGEONSAGI</a:t>
            </a:r>
            <a:endParaRPr lang="en-US" sz="8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F76FE1C-2848-514A-83E7-4E7A77124F17}"/>
              </a:ext>
            </a:extLst>
          </p:cNvPr>
          <p:cNvSpPr txBox="1"/>
          <p:nvPr/>
        </p:nvSpPr>
        <p:spPr>
          <a:xfrm>
            <a:off x="4712208" y="4511040"/>
            <a:ext cx="18533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s-CL" dirty="0"/>
              <a:t>밥 먹고 자요</a:t>
            </a:r>
            <a:r>
              <a:rPr lang="es-CL" altLang="ko-KR" dirty="0"/>
              <a:t>.</a:t>
            </a:r>
          </a:p>
          <a:p>
            <a:r>
              <a:rPr lang="ko-KR" altLang="es-CL" dirty="0"/>
              <a:t>수영하고 쉬어요</a:t>
            </a:r>
            <a:endParaRPr lang="es-CL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§8.6 · PEDIR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주세요 · Déme / Por favor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54864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주세요 es la frase MÁS ÚTIL del coreano para sobrevivir.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Estructura: [Cosa] + 주세요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Ejemplos: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커피 주세요 (Café, por favor)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김밥 한 개 주세요 (Un kimbap, por favor)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물 두 잔 주세요 (Dos vasos de agua, por favor)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메뉴 주세요 (El menú, por favor)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이거 주세요 (Esto, por favor)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puede usar en tiendas, restaurantes, taxis, hospitales — TODO.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766560" y="1828800"/>
            <a:ext cx="4846320" cy="4389120"/>
          </a:xfrm>
          <a:prstGeom prst="roundRect">
            <a:avLst>
              <a:gd name="adj" fmla="val 3125"/>
            </a:avLst>
          </a:prstGeom>
          <a:solidFill>
            <a:srgbClr val="FF5C5C"/>
          </a:solidFill>
          <a:ln w="12700">
            <a:solidFill>
              <a:srgbClr val="FF5C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0" y="256032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주세요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6766560" y="429768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juseyo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766560" y="49377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(déme / por favor)</a:t>
            </a:r>
            <a:endParaRPr lang="en-US" sz="1400" dirty="0"/>
          </a:p>
        </p:txBody>
      </p:sp>
      <p:pic>
        <p:nvPicPr>
          <p:cNvPr id="9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10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08  ·  MULGEONSAGI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FF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§8.7 · PRECIOS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Precios en 원 (Won)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FF5C5C"/>
          </a:solidFill>
          <a:ln w="12700">
            <a:solidFill>
              <a:srgbClr val="FF5C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965960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비빔밥 9.000원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3657600" cy="800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Bibimbap (~$6.30)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25112" y="1828800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25112" y="1965960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김치찌개 8.000원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4325112" y="3200400"/>
            <a:ext cx="3657600" cy="800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Sopa kimchi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01584" y="1828800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3D2EE8"/>
          </a:solidFill>
          <a:ln w="12700">
            <a:solidFill>
              <a:srgbClr val="3D2E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01584" y="1965960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불고기 12.000원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101584" y="3200400"/>
            <a:ext cx="3657600" cy="800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Bulgogi (~$8.40)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233672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FF5C5C"/>
          </a:solidFill>
          <a:ln w="12700">
            <a:solidFill>
              <a:srgbClr val="FF5C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4370832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떡볶이 6.000원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548640" y="5605272"/>
            <a:ext cx="3657600" cy="800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Tteokbokki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25112" y="4233672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25112" y="4370832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김밥 4.000원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4325112" y="5605272"/>
            <a:ext cx="3657600" cy="800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Kimbap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01584" y="4233672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3D2EE8"/>
          </a:solidFill>
          <a:ln w="12700">
            <a:solidFill>
              <a:srgbClr val="3D2E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01584" y="4370832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콜라 2.000원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8101584" y="5605272"/>
            <a:ext cx="3657600" cy="800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</a:t>
            </a:r>
            <a:endParaRPr lang="en-US" sz="1200" dirty="0"/>
          </a:p>
        </p:txBody>
      </p:sp>
      <p:pic>
        <p:nvPicPr>
          <p:cNvPr id="22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23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25" name="Text 21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08  ·  MULGEONSAGI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§8.8 · DIÁLOGO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una tienda coreana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0972800" cy="4572000"/>
          </a:xfrm>
          <a:prstGeom prst="roundRect">
            <a:avLst>
              <a:gd name="adj" fmla="val 3000"/>
            </a:avLst>
          </a:prstGeom>
          <a:solidFill>
            <a:srgbClr val="E8E5F8"/>
          </a:solidFill>
          <a:ln w="12700">
            <a:solidFill>
              <a:srgbClr val="C7C1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2024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63040" y="1920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안녕하세요!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463040" y="23317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¡Hola!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269748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B: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63040" y="2697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안녕하세요. 뭐 드릴까요?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463040" y="310896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le doy?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347472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63040" y="34747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김밥 두 개하고 콜라 한 잔 주세요.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463040" y="3886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kimbap y una cola por favor.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425196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B: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63040" y="4251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네. 모두 10.000원이에요.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463040" y="46634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Sí. En total 10.000 won.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22960" y="50292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63040" y="5029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 있어요.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463040" y="54406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Aquí tiene.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22960" y="580644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B: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463040" y="58064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감사합니다. 안녕히 가세요.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463040" y="62179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Gracias. Adiós.</a:t>
            </a:r>
            <a:endParaRPr lang="en-US" sz="1100" dirty="0"/>
          </a:p>
        </p:txBody>
      </p:sp>
      <p:pic>
        <p:nvPicPr>
          <p:cNvPr id="23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24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26" name="Text 22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08  ·  MULGEONSAGI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5C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sleepy-zen-cray/mnt/outputs/deck_assets/logo_principal_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274320"/>
            <a:ext cx="914400" cy="914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1325880"/>
            <a:ext cx="1216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0" y="1691640"/>
            <a:ext cx="1216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aprendiste hoy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1371600" y="2606040"/>
            <a:ext cx="9418320" cy="246888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645920" y="2788920"/>
            <a:ext cx="88696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Clasificadores (개, 명, 잔, 권, 마리, 살)</a:t>
            </a:r>
            <a:endParaRPr lang="en-US" sz="15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Números coreanos puros con clasificadores</a:t>
            </a:r>
            <a:endParaRPr lang="en-US" sz="15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이/그/저 (este/ese/aquel)</a:t>
            </a:r>
            <a:endParaRPr lang="en-US" sz="15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와/과/하고 (y entre sustantivos)</a:t>
            </a:r>
            <a:endParaRPr lang="en-US" sz="15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주세요 (por favor)</a:t>
            </a:r>
            <a:endParaRPr lang="en-US" sz="15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Sistema de precios 원 (won)</a:t>
            </a:r>
            <a:endParaRPr lang="en-US" sz="15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Podés hacer una compra completa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0" y="5349240"/>
            <a:ext cx="1216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TAREA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914400" y="571500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role-play 1-2 min: vos hacés los 2 roles (cliente y vendedor). Mínimo 6 intercambios. Discord.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3D2E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828800"/>
            <a:ext cx="121615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화이팅!</a:t>
            </a:r>
            <a:endParaRPr lang="en-US" sz="12000" dirty="0"/>
          </a:p>
        </p:txBody>
      </p:sp>
      <p:sp>
        <p:nvSpPr>
          <p:cNvPr id="3" name="Text 1"/>
          <p:cNvSpPr/>
          <p:nvPr/>
        </p:nvSpPr>
        <p:spPr>
          <a:xfrm>
            <a:off x="0" y="4023360"/>
            <a:ext cx="1216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vemos en la próxima sesión</a:t>
            </a:r>
            <a:endParaRPr lang="en-US" sz="1800" dirty="0"/>
          </a:p>
        </p:txBody>
      </p:sp>
      <p:pic>
        <p:nvPicPr>
          <p:cNvPr id="4" name="Image 0" descr="/sessions/sleepy-zen-cray/mnt/outputs/deck_assets/logo_principal_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484632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6355080"/>
            <a:ext cx="1216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· 김재희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966</Words>
  <Application>Microsoft Office PowerPoint</Application>
  <PresentationFormat>Widescreen</PresentationFormat>
  <Paragraphs>194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Malgun Gothic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Academia Seúl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Academia Seúl · A1 · Sesión 8</dc:title>
  <dc:subject>PptxGenJS Presentation</dc:subject>
  <dc:creator>김재희 (Jay Kim)</dc:creator>
  <cp:lastModifiedBy>Jae Hee Kim</cp:lastModifiedBy>
  <cp:revision>10</cp:revision>
  <dcterms:created xsi:type="dcterms:W3CDTF">2026-06-02T01:22:05Z</dcterms:created>
  <dcterms:modified xsi:type="dcterms:W3CDTF">2026-08-31T01:20:31Z</dcterms:modified>
</cp:coreProperties>
</file>