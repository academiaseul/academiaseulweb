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24" y="-95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280160" y="5120640"/>
            <a:ext cx="3108960" cy="3108960"/>
          </a:xfrm>
          <a:prstGeom prst="ellipse">
            <a:avLst/>
          </a:prstGeom>
          <a:solidFill>
            <a:srgbClr val="2E4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378440" y="548640"/>
            <a:ext cx="1371600" cy="13716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802368" y="1938528"/>
            <a:ext cx="777240" cy="777240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928911"/>
            <a:ext cx="10058400" cy="1661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 dirty="0" err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숫자</a:t>
            </a:r>
            <a:r>
              <a:rPr sz="54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, </a:t>
            </a:r>
            <a:r>
              <a:rPr sz="5400" b="1" dirty="0" err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날짜</a:t>
            </a:r>
            <a:r>
              <a:rPr sz="54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, </a:t>
            </a:r>
            <a:r>
              <a:rPr sz="5400" b="1" dirty="0" err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시간</a:t>
            </a:r>
            <a:endParaRPr lang="es-CL" sz="5400" b="1" dirty="0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  <a:p>
            <a:pPr algn="l">
              <a:spcAft>
                <a:spcPts val="0"/>
              </a:spcAft>
            </a:pPr>
            <a:r>
              <a:rPr lang="en-US" sz="5400" b="1" dirty="0" err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Núm</a:t>
            </a:r>
            <a:r>
              <a:rPr lang="en-US" sz="54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., </a:t>
            </a:r>
            <a:r>
              <a:rPr lang="en-US" sz="5400" b="1" dirty="0" err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Fechas</a:t>
            </a:r>
            <a:r>
              <a:rPr lang="en-US" sz="54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, Hora</a:t>
            </a:r>
            <a:endParaRPr lang="es-CL" sz="5400" b="1" dirty="0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E6C7D4"/>
                </a:solidFill>
                <a:latin typeface="Calibri"/>
                <a:ea typeface="Calibri"/>
                <a:cs typeface="Calibri"/>
              </a:rPr>
              <a:t>Numbers, Dates &amp;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18688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Números, fechas y hora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023360"/>
            <a:ext cx="2011680" cy="1270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2062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온라인 회화 수업 자료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4456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Online conversation lesson · A2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188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Lección de conversación en línea · A2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1264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ACADEMIA SEÚL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수업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Lesson Roadmap  ·  Ruta de la Clase   (60 min)</a:t>
            </a:r>
          </a:p>
        </p:txBody>
      </p:sp>
      <p:sp>
        <p:nvSpPr>
          <p:cNvPr id="4" name="Oval 3"/>
          <p:cNvSpPr/>
          <p:nvPr/>
        </p:nvSpPr>
        <p:spPr>
          <a:xfrm>
            <a:off x="1353312" y="2286000"/>
            <a:ext cx="731520" cy="731520"/>
          </a:xfrm>
          <a:prstGeom prst="ellipse">
            <a:avLst/>
          </a:prstGeom>
          <a:solidFill>
            <a:srgbClr val="9C5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53312" y="22860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2148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워밍업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Warm-up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13632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Calentamiento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24528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5분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423160"/>
            <a:ext cx="182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3639312" y="2286000"/>
            <a:ext cx="731520" cy="731520"/>
          </a:xfrm>
          <a:prstGeom prst="ellipse">
            <a:avLst/>
          </a:prstGeom>
          <a:solidFill>
            <a:srgbClr val="8A4B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39312" y="22860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246120"/>
            <a:ext cx="2148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어휘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65760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Vocabulary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913632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Vocabulario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224528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10분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423160"/>
            <a:ext cx="182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5916168" y="2286000"/>
            <a:ext cx="731520" cy="7315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16168" y="22860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246120"/>
            <a:ext cx="2148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Culture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913632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Cultura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4224528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15분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423160"/>
            <a:ext cx="182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8202168" y="2286000"/>
            <a:ext cx="731520" cy="731520"/>
          </a:xfrm>
          <a:prstGeom prst="ellipse">
            <a:avLst/>
          </a:prstGeom>
          <a:solidFill>
            <a:srgbClr val="5A2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02168" y="22860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246120"/>
            <a:ext cx="2148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65760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Grammar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3913632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Gramática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4224528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15분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2423160"/>
            <a:ext cx="182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2" name="Oval 31"/>
          <p:cNvSpPr/>
          <p:nvPr/>
        </p:nvSpPr>
        <p:spPr>
          <a:xfrm>
            <a:off x="10488168" y="2286000"/>
            <a:ext cx="731520" cy="731520"/>
          </a:xfrm>
          <a:prstGeom prst="ellipse">
            <a:avLst/>
          </a:prstGeom>
          <a:solidFill>
            <a:srgbClr val="4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488168" y="22860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3246120"/>
            <a:ext cx="2148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회화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65760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Conversation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3913632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Conversación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4224528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15분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0749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오늘의 문법 · Today's grammar · Gramática de hoy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394960"/>
            <a:ext cx="10881360" cy="868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" y="5559552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수 + 단위 명사     ·     몇 + 단위 명사?     ·     N에 (tiempo)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907024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Usar los dos sistemas de números, contar con contadores, y decir fechas y horas.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숫자, 날짜, 시간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숫자 · Numbers, Dates &amp;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워밍업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Warm-up  ·  Calentamiento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3429000" cy="2011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071115" y="2359152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71115" y="235915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3580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dirty="0" err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전화번호</a:t>
            </a:r>
            <a:endParaRPr sz="1200" b="1" dirty="0">
              <a:solidFill>
                <a:srgbClr val="1D355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3319272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Phone number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057400"/>
            <a:ext cx="3429000" cy="2011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728716" y="2359152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28716" y="235915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03580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시계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319272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Clock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2057400"/>
            <a:ext cx="3429000" cy="2011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386315" y="2359152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86315" y="235915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03580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달력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319272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Calendar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15968"/>
            <a:ext cx="10881360" cy="199339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434840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사진을</a:t>
            </a:r>
            <a:r>
              <a:rPr sz="1150" b="1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50" b="1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보면서</a:t>
            </a:r>
            <a:r>
              <a:rPr sz="1150" b="1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50" b="1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이야기해</a:t>
            </a:r>
            <a:r>
              <a:rPr sz="1150" b="1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50" b="1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보세요</a:t>
            </a:r>
            <a:r>
              <a:rPr sz="1150" b="1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 · Talk about the photos · Habla </a:t>
            </a:r>
            <a:r>
              <a:rPr sz="1150" b="1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sobre</a:t>
            </a:r>
            <a:r>
              <a:rPr sz="1150" b="1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 las </a:t>
            </a:r>
            <a:r>
              <a:rPr sz="1150" b="1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fotos</a:t>
            </a:r>
            <a:endParaRPr sz="1150" b="1" dirty="0">
              <a:solidFill>
                <a:srgbClr val="6D2E4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14400" y="4736592"/>
            <a:ext cx="10332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1. 한국어로 1부터 10까지 셀 수 있어요?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4983479"/>
            <a:ext cx="10149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Can you count 1 to 10 in Korean?  ·  ¿Puedes contar del 1 al 10 en coreano?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248656"/>
            <a:ext cx="10332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2. 전화번호가 뭐예요?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5495544"/>
            <a:ext cx="10149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What's your phone number?  ·  ¿Cuál es tu número de teléfono?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760720"/>
            <a:ext cx="10332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3. 지금 몇 시예요?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6007608"/>
            <a:ext cx="10149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What time is it now?  ·  ¿Qué hora es ahora?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숫자, 날짜, 시간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숫자 · Numbers, Dates &amp;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두 개의 수 체계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Two number systems · Los dos sistemas de números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3429000" cy="40690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" y="2221992"/>
            <a:ext cx="502920" cy="5029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22199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두 개의 체계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73552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Two number systems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611880"/>
            <a:ext cx="315468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749039"/>
            <a:ext cx="31546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한국어에는 숫자가 두 가지 있어요. 한자어 수와 고유어 수예요.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00600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Korean has TWO number systems: Sino-Korean and native Korean. Both are used daily.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68112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El coreano tiene DOS sistemas de números: el sino-coreano y el nativo. Los dos se usan a diario.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057400"/>
            <a:ext cx="3429000" cy="40690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434840" y="2221992"/>
            <a:ext cx="502920" cy="5029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34840" y="222199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834640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한자어 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273552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Sino-Korean · 일 이 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3611880"/>
            <a:ext cx="315468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34840" y="3749039"/>
            <a:ext cx="31546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dirty="0" err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전화번호</a:t>
            </a:r>
            <a:r>
              <a:rPr sz="1100" b="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, 돈, </a:t>
            </a:r>
            <a:r>
              <a:rPr sz="1100" b="0" dirty="0" err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날짜</a:t>
            </a:r>
            <a:r>
              <a:rPr sz="1100" b="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, 분, 층, </a:t>
            </a:r>
            <a:r>
              <a:rPr sz="1100" b="0" dirty="0" err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버스</a:t>
            </a:r>
            <a:r>
              <a:rPr sz="1100" b="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dirty="0" err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번호에</a:t>
            </a:r>
            <a:r>
              <a:rPr sz="1100" b="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dirty="0" err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써요</a:t>
            </a:r>
            <a:r>
              <a:rPr sz="1100" b="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828032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Used for phone numbers, money, dates, minutes, floors and bus numbers — things you read out.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027932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Para </a:t>
            </a:r>
            <a:r>
              <a:rPr sz="900" b="0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teléfonos</a:t>
            </a:r>
            <a:r>
              <a:rPr sz="900" b="0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, dinero, </a:t>
            </a:r>
            <a:r>
              <a:rPr sz="900" b="0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fechas</a:t>
            </a:r>
            <a:r>
              <a:rPr sz="900" b="0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900" b="0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minutos</a:t>
            </a:r>
            <a:r>
              <a:rPr sz="900" b="0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900" b="0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pisos</a:t>
            </a:r>
            <a:r>
              <a:rPr sz="900" b="0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 y buses — </a:t>
            </a:r>
            <a:r>
              <a:rPr sz="900" b="0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cosas</a:t>
            </a:r>
            <a:r>
              <a:rPr sz="900" b="0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que</a:t>
            </a:r>
            <a:r>
              <a:rPr sz="900" b="0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 se </a:t>
            </a:r>
            <a:r>
              <a:rPr sz="900" b="0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leen</a:t>
            </a:r>
            <a:r>
              <a:rPr sz="900" b="0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, no </a:t>
            </a:r>
            <a:r>
              <a:rPr sz="900" b="0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que</a:t>
            </a:r>
            <a:r>
              <a:rPr sz="900" b="0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 se </a:t>
            </a:r>
            <a:r>
              <a:rPr sz="900" b="0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cuentan</a:t>
            </a:r>
            <a:r>
              <a:rPr sz="900" b="0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2057400"/>
            <a:ext cx="3429000" cy="40690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092440" y="2221992"/>
            <a:ext cx="502920" cy="5029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92440" y="222199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2834640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고유어 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273552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Native · 하나 둘 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2440" y="3611880"/>
            <a:ext cx="315468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92440" y="3749039"/>
            <a:ext cx="31546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dirty="0" err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물건</a:t>
            </a:r>
            <a:r>
              <a:rPr sz="1100" b="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100" b="0" dirty="0" err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사람</a:t>
            </a:r>
            <a:r>
              <a:rPr sz="1100" b="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100" b="0" dirty="0" err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나이</a:t>
            </a:r>
            <a:r>
              <a:rPr sz="1100" b="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100" b="0" dirty="0" err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시간을</a:t>
            </a:r>
            <a:r>
              <a:rPr sz="1100" b="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 셀 때 </a:t>
            </a:r>
            <a:r>
              <a:rPr sz="1100" b="0" dirty="0" err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써요</a:t>
            </a:r>
            <a:r>
              <a:rPr sz="1100" b="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1100" b="0" dirty="0" err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단위</a:t>
            </a:r>
            <a:r>
              <a:rPr sz="1100" b="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dirty="0" err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명사와</a:t>
            </a:r>
            <a:r>
              <a:rPr sz="1100" b="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dirty="0" err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같이</a:t>
            </a:r>
            <a:r>
              <a:rPr sz="1100" b="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dirty="0" err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써요</a:t>
            </a:r>
            <a:r>
              <a:rPr sz="1100" b="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4800600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Used to count objects, people, age and hours — always together with a counter noun.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39" y="4229099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Para </a:t>
            </a:r>
            <a:r>
              <a:rPr sz="900" b="0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contar</a:t>
            </a:r>
            <a:r>
              <a:rPr sz="900" b="0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objetos</a:t>
            </a:r>
            <a:r>
              <a:rPr sz="900" b="0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, personas, </a:t>
            </a:r>
            <a:r>
              <a:rPr sz="900" b="0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edad</a:t>
            </a:r>
            <a:r>
              <a:rPr sz="900" b="0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 y horas — </a:t>
            </a:r>
            <a:r>
              <a:rPr sz="900" b="0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siempre</a:t>
            </a:r>
            <a:r>
              <a:rPr sz="900" b="0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 junto a un </a:t>
            </a:r>
            <a:r>
              <a:rPr sz="900" b="0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sustantivo</a:t>
            </a:r>
            <a:r>
              <a:rPr sz="900" b="0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900" b="0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contador</a:t>
            </a:r>
            <a:r>
              <a:rPr sz="900" b="0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숫자, 날짜, 시간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숫자 · Numbers, Dates &amp;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한자어 수 · Números sino-coreanos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Sino-Korean numbers · Para fechas, dinero, teléfonos, minutos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937259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121408"/>
            <a:ext cx="9372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50008"/>
            <a:ext cx="9372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영/공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32204" y="2057400"/>
            <a:ext cx="937259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32204" y="2121408"/>
            <a:ext cx="9372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32204" y="2350008"/>
            <a:ext cx="9372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24328" y="2057400"/>
            <a:ext cx="937259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24328" y="2121408"/>
            <a:ext cx="9372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24328" y="2350008"/>
            <a:ext cx="9372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6452" y="2057400"/>
            <a:ext cx="937259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16452" y="2121408"/>
            <a:ext cx="9372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6452" y="2350008"/>
            <a:ext cx="9372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08576" y="2057400"/>
            <a:ext cx="937259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08576" y="2121408"/>
            <a:ext cx="9372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8576" y="2350008"/>
            <a:ext cx="9372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00700" y="2057400"/>
            <a:ext cx="937259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00700" y="2121408"/>
            <a:ext cx="9372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00700" y="2350008"/>
            <a:ext cx="9372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92824" y="2057400"/>
            <a:ext cx="937259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92824" y="2121408"/>
            <a:ext cx="9372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92824" y="2350008"/>
            <a:ext cx="9372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84948" y="2057400"/>
            <a:ext cx="937259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84948" y="2121408"/>
            <a:ext cx="9372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4948" y="2350008"/>
            <a:ext cx="9372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77072" y="2057400"/>
            <a:ext cx="937259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77072" y="2121408"/>
            <a:ext cx="9372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77072" y="2350008"/>
            <a:ext cx="9372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69196" y="2057400"/>
            <a:ext cx="937259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569196" y="2121408"/>
            <a:ext cx="9372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69196" y="2350008"/>
            <a:ext cx="9372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561319" y="2057400"/>
            <a:ext cx="937259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561319" y="2121408"/>
            <a:ext cx="9372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61319" y="2350008"/>
            <a:ext cx="9372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십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2880360"/>
            <a:ext cx="1036015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2944368"/>
            <a:ext cx="10360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3172968"/>
            <a:ext cx="1036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십일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30959" y="2880360"/>
            <a:ext cx="1036015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730959" y="2944368"/>
            <a:ext cx="10360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30959" y="3172968"/>
            <a:ext cx="1036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이십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21838" y="2880360"/>
            <a:ext cx="1036015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821838" y="2944368"/>
            <a:ext cx="10360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21838" y="3172968"/>
            <a:ext cx="1036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삼십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12717" y="2880360"/>
            <a:ext cx="1036015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912717" y="2944368"/>
            <a:ext cx="10360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40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12717" y="3172968"/>
            <a:ext cx="1036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사십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03596" y="2880360"/>
            <a:ext cx="1036015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003596" y="2944368"/>
            <a:ext cx="10360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50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03596" y="3172968"/>
            <a:ext cx="1036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오십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94476" y="2880360"/>
            <a:ext cx="1036015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094476" y="2944368"/>
            <a:ext cx="10360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60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94476" y="3172968"/>
            <a:ext cx="1036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육십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85355" y="2880360"/>
            <a:ext cx="1036015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185355" y="2944368"/>
            <a:ext cx="10360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70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85355" y="3172968"/>
            <a:ext cx="1036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칠십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76234" y="2880360"/>
            <a:ext cx="1036015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276234" y="2944368"/>
            <a:ext cx="10360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80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76234" y="3172968"/>
            <a:ext cx="1036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팔십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367113" y="2880360"/>
            <a:ext cx="1036015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367113" y="2944368"/>
            <a:ext cx="10360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90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67113" y="3172968"/>
            <a:ext cx="1036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구십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457992" y="2880360"/>
            <a:ext cx="1036015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457992" y="2944368"/>
            <a:ext cx="10360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457992" y="3172968"/>
            <a:ext cx="1036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백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0080" y="3703320"/>
            <a:ext cx="1408176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40080" y="3767328"/>
            <a:ext cx="14081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1.000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3995928"/>
            <a:ext cx="14081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천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103120" y="3703320"/>
            <a:ext cx="1408176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103120" y="3767328"/>
            <a:ext cx="14081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10.000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03120" y="3995928"/>
            <a:ext cx="14081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만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566160" y="3703320"/>
            <a:ext cx="1408176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566160" y="3767328"/>
            <a:ext cx="14081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100.000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66160" y="3995928"/>
            <a:ext cx="14081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십만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029200" y="3703320"/>
            <a:ext cx="1408176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029200" y="3767328"/>
            <a:ext cx="14081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1.000.000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29200" y="3995928"/>
            <a:ext cx="14081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백만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583680" y="3703320"/>
            <a:ext cx="4937760" cy="713232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766560" y="377647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9C46A"/>
                </a:solidFill>
                <a:latin typeface="Calibri"/>
                <a:ea typeface="Calibri"/>
                <a:cs typeface="Calibri"/>
              </a:rPr>
              <a:t>¡Ojo!  10.000 = 만 (no "diez mil")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766560" y="40690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 coreano agrupa de 4 en 4 cifras, no de 3 en 3.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53796" y="4663440"/>
            <a:ext cx="10881360" cy="164592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14400" y="4791456"/>
            <a:ext cx="10332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¿Dónde se usan? · Se usan para casi todo lo que se "lee", no lo que se "cuenta"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14400" y="5138928"/>
            <a:ext cx="2514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dirty="0" err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전화번호</a:t>
            </a:r>
            <a:r>
              <a:rPr lang="es-CL" sz="1000" b="1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 Número de teléfono</a:t>
            </a:r>
            <a:endParaRPr sz="1000" b="1" dirty="0">
              <a:solidFill>
                <a:srgbClr val="5C6B7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914400" y="5394960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010-4783-3275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4400" y="5705856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공일공</a:t>
            </a:r>
            <a:r>
              <a:rPr sz="1050" b="0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사칠팔삼</a:t>
            </a:r>
            <a:r>
              <a:rPr sz="1050" b="0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삼이칠오</a:t>
            </a:r>
            <a:endParaRPr sz="1050" b="0" dirty="0">
              <a:solidFill>
                <a:srgbClr val="6D2E4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3611880" y="5138928"/>
            <a:ext cx="2514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dirty="0" err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버스</a:t>
            </a:r>
            <a:r>
              <a:rPr lang="es-CL" sz="1000" b="1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 Bus</a:t>
            </a:r>
            <a:endParaRPr sz="1000" b="1" dirty="0">
              <a:solidFill>
                <a:srgbClr val="5C6B7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3611880" y="5394960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705번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16452" y="5705856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칠백오 번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309360" y="5138928"/>
            <a:ext cx="2514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dirty="0" err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가격</a:t>
            </a:r>
            <a:r>
              <a:rPr lang="es-CL" sz="1000" b="1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 Precio</a:t>
            </a:r>
            <a:endParaRPr sz="1000" b="1" dirty="0">
              <a:solidFill>
                <a:srgbClr val="5C6B7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6309360" y="5394960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25.000원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309360" y="5705856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이만</a:t>
            </a:r>
            <a:r>
              <a:rPr sz="1050" b="0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50" b="0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오천</a:t>
            </a:r>
            <a:r>
              <a:rPr sz="1050" b="0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 원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006840" y="5138928"/>
            <a:ext cx="2514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층</a:t>
            </a:r>
            <a:r>
              <a:rPr lang="es-CL" sz="1000" b="1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 Piso</a:t>
            </a:r>
            <a:endParaRPr sz="1000" b="1" dirty="0">
              <a:solidFill>
                <a:srgbClr val="5C6B7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9006840" y="5394960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3층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006840" y="5705856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삼 층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6C09705-6195-EF58-F8F5-F9860EC31AD8}"/>
              </a:ext>
            </a:extLst>
          </p:cNvPr>
          <p:cNvSpPr txBox="1"/>
          <p:nvPr/>
        </p:nvSpPr>
        <p:spPr>
          <a:xfrm>
            <a:off x="5224272" y="2350008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F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077BE81-E3C3-DEC9-B923-89F5555F1584}"/>
              </a:ext>
            </a:extLst>
          </p:cNvPr>
          <p:cNvSpPr txBox="1"/>
          <p:nvPr/>
        </p:nvSpPr>
        <p:spPr>
          <a:xfrm>
            <a:off x="5003596" y="1645920"/>
            <a:ext cx="1328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사 </a:t>
            </a:r>
            <a:r>
              <a:rPr lang="es-CL" altLang="ko-KR" dirty="0"/>
              <a:t>= muerte</a:t>
            </a:r>
            <a:endParaRPr lang="es-CL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464A919-BCD2-F974-1CCA-BADD4B4B3595}"/>
              </a:ext>
            </a:extLst>
          </p:cNvPr>
          <p:cNvSpPr txBox="1"/>
          <p:nvPr/>
        </p:nvSpPr>
        <p:spPr>
          <a:xfrm>
            <a:off x="6370842" y="1656064"/>
            <a:ext cx="3143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El nombre no se escribe en rojo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E5F795E-98B1-3AE3-FF16-C406EF8EA7D7}"/>
              </a:ext>
            </a:extLst>
          </p:cNvPr>
          <p:cNvSpPr txBox="1"/>
          <p:nvPr/>
        </p:nvSpPr>
        <p:spPr>
          <a:xfrm>
            <a:off x="6238951" y="4470856"/>
            <a:ext cx="1408176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</a:t>
            </a:r>
            <a:r>
              <a:rPr lang="es-CL" sz="900" b="0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</a:t>
            </a:r>
            <a:r>
              <a:rPr sz="900" b="0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.000.000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6E0CEF2-D573-C5EC-6AFE-74D5B94D9B18}"/>
              </a:ext>
            </a:extLst>
          </p:cNvPr>
          <p:cNvSpPr txBox="1"/>
          <p:nvPr/>
        </p:nvSpPr>
        <p:spPr>
          <a:xfrm>
            <a:off x="6238951" y="4699456"/>
            <a:ext cx="140817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ko-KR" altLang="es-CL" sz="14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천</a:t>
            </a:r>
            <a:r>
              <a:rPr sz="14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만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0B78DC5-2971-6B8E-18D6-F4099C364A30}"/>
              </a:ext>
            </a:extLst>
          </p:cNvPr>
          <p:cNvSpPr txBox="1"/>
          <p:nvPr/>
        </p:nvSpPr>
        <p:spPr>
          <a:xfrm>
            <a:off x="6880860" y="4470856"/>
            <a:ext cx="1408176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</a:t>
            </a:r>
            <a:r>
              <a:rPr lang="es-CL" sz="900" b="0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00</a:t>
            </a:r>
            <a:r>
              <a:rPr sz="900" b="0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.000.000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C528106-44F6-8BBC-7943-C30B5D0131A9}"/>
              </a:ext>
            </a:extLst>
          </p:cNvPr>
          <p:cNvSpPr txBox="1"/>
          <p:nvPr/>
        </p:nvSpPr>
        <p:spPr>
          <a:xfrm>
            <a:off x="6880860" y="4699456"/>
            <a:ext cx="140817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ko-KR" altLang="es-CL" sz="14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억</a:t>
            </a:r>
            <a:endParaRPr sz="140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숫자, 날짜, 시간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숫자 · Numbers, Dates &amp;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고유어 수 · Números nativos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Native Korean numbers · Para contar cosas, personas, edad y horas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1036015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121408"/>
            <a:ext cx="10360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50008"/>
            <a:ext cx="1036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하나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0959" y="2057400"/>
            <a:ext cx="1036015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730959" y="2121408"/>
            <a:ext cx="10360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0959" y="2350008"/>
            <a:ext cx="1036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21838" y="2057400"/>
            <a:ext cx="1036015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21838" y="2121408"/>
            <a:ext cx="10360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21838" y="2350008"/>
            <a:ext cx="1036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12717" y="2057400"/>
            <a:ext cx="1036015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12717" y="2121408"/>
            <a:ext cx="10360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12717" y="2350008"/>
            <a:ext cx="1036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3596" y="2057400"/>
            <a:ext cx="1036015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03596" y="2121408"/>
            <a:ext cx="10360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03596" y="2350008"/>
            <a:ext cx="1036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다섯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4476" y="2057400"/>
            <a:ext cx="1036015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94476" y="2121408"/>
            <a:ext cx="10360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4476" y="2350008"/>
            <a:ext cx="1036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여섯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85355" y="2057400"/>
            <a:ext cx="1036015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85355" y="2121408"/>
            <a:ext cx="10360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85355" y="2350008"/>
            <a:ext cx="1036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일곱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6234" y="2057400"/>
            <a:ext cx="1036015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76234" y="2121408"/>
            <a:ext cx="10360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6234" y="2350008"/>
            <a:ext cx="1036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여덟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67113" y="2057400"/>
            <a:ext cx="1036015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67113" y="2121408"/>
            <a:ext cx="10360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67113" y="2350008"/>
            <a:ext cx="1036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아홉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457992" y="2057400"/>
            <a:ext cx="1036015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457992" y="2121408"/>
            <a:ext cx="10360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57992" y="2350008"/>
            <a:ext cx="1036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2880360"/>
            <a:ext cx="1036015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2944368"/>
            <a:ext cx="10360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3172968"/>
            <a:ext cx="1036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열하나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30959" y="2880360"/>
            <a:ext cx="1036015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730959" y="2944368"/>
            <a:ext cx="10360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30959" y="3172968"/>
            <a:ext cx="1036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스물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21838" y="2880360"/>
            <a:ext cx="1036015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821838" y="2944368"/>
            <a:ext cx="10360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21838" y="3172968"/>
            <a:ext cx="1036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서른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12717" y="2880360"/>
            <a:ext cx="1036015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912717" y="2944368"/>
            <a:ext cx="10360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40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12717" y="3172968"/>
            <a:ext cx="1036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마흔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03596" y="2880360"/>
            <a:ext cx="1036015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03596" y="2944368"/>
            <a:ext cx="10360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50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03596" y="3172968"/>
            <a:ext cx="1036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94476" y="2880360"/>
            <a:ext cx="1036015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094476" y="2944368"/>
            <a:ext cx="10360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60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94476" y="3172968"/>
            <a:ext cx="1036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예순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85355" y="2880360"/>
            <a:ext cx="1036015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185355" y="2944368"/>
            <a:ext cx="10360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70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85355" y="3172968"/>
            <a:ext cx="1036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일흔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76234" y="2880360"/>
            <a:ext cx="1036015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276234" y="2944368"/>
            <a:ext cx="10360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80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76234" y="3172968"/>
            <a:ext cx="1036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여든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67113" y="2880360"/>
            <a:ext cx="1036015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367113" y="2944368"/>
            <a:ext cx="10360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90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67113" y="3172968"/>
            <a:ext cx="1036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아흔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457992" y="2880360"/>
            <a:ext cx="1036015" cy="71323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0457992" y="2944368"/>
            <a:ext cx="103601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57992" y="3172968"/>
            <a:ext cx="1036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백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379476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A </a:t>
            </a:r>
            <a:r>
              <a:rPr sz="1100" b="0" dirty="0" err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partir</a:t>
            </a:r>
            <a:r>
              <a:rPr sz="1100" b="0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 de 100 se </a:t>
            </a:r>
            <a:r>
              <a:rPr sz="1100" b="0" dirty="0" err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vuelve</a:t>
            </a:r>
            <a:r>
              <a:rPr sz="1100" b="0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 a usar el </a:t>
            </a:r>
            <a:r>
              <a:rPr sz="1100" b="0" dirty="0" err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sistema</a:t>
            </a:r>
            <a:r>
              <a:rPr sz="1100" b="0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dirty="0" err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sino-coreano</a:t>
            </a:r>
            <a:r>
              <a:rPr sz="1100" b="0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: 백, 천, 만…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0080" y="4206240"/>
            <a:ext cx="10881360" cy="210312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14400" y="4352544"/>
            <a:ext cx="10332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9C46A"/>
                </a:solidFill>
                <a:latin typeface="Calibri"/>
                <a:ea typeface="Calibri"/>
                <a:cs typeface="Calibri"/>
              </a:rPr>
              <a:t>LA REGLA QUE HAY QUE MEMORIZAR HOY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4400" y="4645152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Cinco números CAMBIAN de forma cuando van delante de un contador: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05840" y="5047488"/>
            <a:ext cx="1874519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005840" y="5120640"/>
            <a:ext cx="187451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C6B7A"/>
                </a:solidFill>
                <a:latin typeface="Cambria"/>
                <a:ea typeface="Cambria"/>
                <a:cs typeface="Cambria"/>
              </a:rPr>
              <a:t>하나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5840" y="5413248"/>
            <a:ext cx="187451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↓  한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108960" y="5047488"/>
            <a:ext cx="1874519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108960" y="5120640"/>
            <a:ext cx="187451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C6B7A"/>
                </a:solidFill>
                <a:latin typeface="Cambria"/>
                <a:ea typeface="Cambria"/>
                <a:cs typeface="Cambria"/>
              </a:rPr>
              <a:t>둘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108960" y="5413248"/>
            <a:ext cx="187451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↓  두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212079" y="5047488"/>
            <a:ext cx="1874519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212079" y="5120640"/>
            <a:ext cx="187451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C6B7A"/>
                </a:solidFill>
                <a:latin typeface="Cambria"/>
                <a:ea typeface="Cambria"/>
                <a:cs typeface="Cambria"/>
              </a:rPr>
              <a:t>셋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212079" y="5413248"/>
            <a:ext cx="187451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↓  세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00" y="5047488"/>
            <a:ext cx="1874519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315200" y="5120640"/>
            <a:ext cx="187451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C6B7A"/>
                </a:solidFill>
                <a:latin typeface="Cambria"/>
                <a:ea typeface="Cambria"/>
                <a:cs typeface="Cambria"/>
              </a:rPr>
              <a:t>넷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0" y="5413248"/>
            <a:ext cx="187451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↓  네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418319" y="5047488"/>
            <a:ext cx="1874519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418319" y="5120640"/>
            <a:ext cx="187451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C6B7A"/>
                </a:solidFill>
                <a:latin typeface="Cambria"/>
                <a:ea typeface="Cambria"/>
                <a:cs typeface="Cambria"/>
              </a:rPr>
              <a:t>스물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418319" y="5413248"/>
            <a:ext cx="187451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↓  스무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14400" y="5870448"/>
            <a:ext cx="10332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9C46A"/>
                </a:solidFill>
                <a:latin typeface="Calibri"/>
                <a:ea typeface="Calibri"/>
                <a:cs typeface="Calibri"/>
              </a:rPr>
              <a:t>하나 개 (✗)  →  한 개 (○)      둘 명 (✗)  →  두 명 (○)      스물 살 (✗)  →  스무 살 (○)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62D2AB7-9D27-C2E9-AD56-9832AA78C78B}"/>
              </a:ext>
            </a:extLst>
          </p:cNvPr>
          <p:cNvSpPr txBox="1"/>
          <p:nvPr/>
        </p:nvSpPr>
        <p:spPr>
          <a:xfrm>
            <a:off x="8130540" y="1591056"/>
            <a:ext cx="168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s-CL" dirty="0"/>
              <a:t>여덟 </a:t>
            </a:r>
            <a:r>
              <a:rPr lang="es-CL" altLang="ko-KR" dirty="0"/>
              <a:t>[</a:t>
            </a:r>
            <a:r>
              <a:rPr lang="ko-KR" altLang="es-CL" dirty="0"/>
              <a:t>여덜</a:t>
            </a:r>
            <a:r>
              <a:rPr lang="es-CL" altLang="ko-KR" dirty="0"/>
              <a:t>]</a:t>
            </a:r>
            <a:endParaRPr lang="es-CL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1F3BB8E-41FE-2B90-2476-25FA14F32B74}"/>
              </a:ext>
            </a:extLst>
          </p:cNvPr>
          <p:cNvSpPr txBox="1"/>
          <p:nvPr/>
        </p:nvSpPr>
        <p:spPr>
          <a:xfrm>
            <a:off x="5212079" y="4471416"/>
            <a:ext cx="6484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s-CL" dirty="0">
                <a:solidFill>
                  <a:schemeClr val="bg1"/>
                </a:solidFill>
              </a:rPr>
              <a:t>사과 한 개</a:t>
            </a:r>
            <a:r>
              <a:rPr lang="es-CL" altLang="ko-KR" dirty="0">
                <a:solidFill>
                  <a:schemeClr val="bg1"/>
                </a:solidFill>
              </a:rPr>
              <a:t>, </a:t>
            </a:r>
            <a:r>
              <a:rPr lang="ko-KR" altLang="es-CL" dirty="0">
                <a:solidFill>
                  <a:schemeClr val="bg1"/>
                </a:solidFill>
              </a:rPr>
              <a:t>사과 두 개</a:t>
            </a:r>
            <a:r>
              <a:rPr lang="es-CL" altLang="ko-KR" dirty="0">
                <a:solidFill>
                  <a:schemeClr val="bg1"/>
                </a:solidFill>
              </a:rPr>
              <a:t>, </a:t>
            </a:r>
            <a:r>
              <a:rPr lang="ko-KR" altLang="es-CL" dirty="0">
                <a:solidFill>
                  <a:schemeClr val="bg1"/>
                </a:solidFill>
              </a:rPr>
              <a:t>사과 세 개</a:t>
            </a:r>
            <a:r>
              <a:rPr lang="es-CL" altLang="ko-KR" dirty="0">
                <a:solidFill>
                  <a:schemeClr val="bg1"/>
                </a:solidFill>
              </a:rPr>
              <a:t>, </a:t>
            </a:r>
            <a:r>
              <a:rPr lang="ko-KR" altLang="es-CL" dirty="0">
                <a:solidFill>
                  <a:schemeClr val="bg1"/>
                </a:solidFill>
              </a:rPr>
              <a:t>사과 네 개</a:t>
            </a:r>
            <a:endParaRPr lang="es-CL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숫자, 날짜, 시간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숫자 · Numbers, Dates &amp;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단위 명사 1 · Contadores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Counter nouns 1 · Personas, animales y objetos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650748" y="2048256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2167128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dirty="0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60604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personas (normal)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" y="2916936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3026664"/>
            <a:ext cx="23774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학생</a:t>
            </a:r>
            <a:r>
              <a:rPr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 세 명</a:t>
            </a:r>
            <a:endParaRPr lang="es-CL" sz="130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  <a:p>
            <a:pPr algn="l">
              <a:spcAft>
                <a:spcPts val="0"/>
              </a:spcAft>
            </a:pPr>
            <a:r>
              <a:rPr lang="es-CL"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Estudiante</a:t>
            </a:r>
            <a:r>
              <a:rPr lang="ko-KR" altLang="es-CL"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s-CL" altLang="ko-KR"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tres</a:t>
            </a:r>
            <a:r>
              <a:rPr lang="ko-KR" altLang="es-CL"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s-CL" altLang="ko-KR"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personas</a:t>
            </a:r>
            <a:endParaRPr sz="130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6384" y="3447288"/>
            <a:ext cx="23774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tres estudiantes · el contador más usado para gente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19856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66160" y="2167128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60604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personas (respeto)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2916936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66160" y="3026664"/>
            <a:ext cx="23774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선생님</a:t>
            </a:r>
            <a:r>
              <a:rPr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 두 분</a:t>
            </a:r>
            <a:endParaRPr lang="es-CL" sz="130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  <a:p>
            <a:pPr algn="l">
              <a:spcAft>
                <a:spcPts val="0"/>
              </a:spcAft>
            </a:pPr>
            <a:r>
              <a:rPr lang="en-US" sz="13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Profesor</a:t>
            </a:r>
            <a:r>
              <a:rPr lang="en-US"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 dos personas</a:t>
            </a:r>
            <a:endParaRPr sz="130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66160" y="3447288"/>
            <a:ext cx="23774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dos profesores · versión honorífica de 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2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45936" y="2167128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dirty="0" err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마리</a:t>
            </a:r>
            <a:endParaRPr sz="2200" b="1" dirty="0">
              <a:solidFill>
                <a:srgbClr val="6D2E46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45936" y="260604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animales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45936" y="2916936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45936" y="3026664"/>
            <a:ext cx="23774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고양이</a:t>
            </a:r>
            <a:r>
              <a:rPr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 한 </a:t>
            </a:r>
            <a:r>
              <a:rPr sz="13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마리</a:t>
            </a:r>
            <a:r>
              <a:rPr lang="es-CL"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lang="en-US"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Gato uno animal</a:t>
            </a:r>
            <a:endParaRPr sz="130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45936" y="3447288"/>
            <a:ext cx="23774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un gato · para todo animal, grande o pequeño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79408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25712" y="2167128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712" y="260604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cosas (general)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25712" y="2916936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25712" y="3026664"/>
            <a:ext cx="23774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사과</a:t>
            </a:r>
            <a:r>
              <a:rPr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 네 개</a:t>
            </a:r>
            <a:endParaRPr lang="es-CL" sz="130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  <a:p>
            <a:pPr algn="l">
              <a:spcAft>
                <a:spcPts val="0"/>
              </a:spcAft>
            </a:pPr>
            <a:r>
              <a:rPr lang="es-CL"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Manzana cuatro cosas</a:t>
            </a:r>
            <a:endParaRPr sz="130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125712" y="3447288"/>
            <a:ext cx="23774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cuatro manzanas · el comodín para objetos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6384" y="4270248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" y="4709159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libros, cuadernos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6384" y="5020056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6384" y="5129783"/>
            <a:ext cx="23774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책 </a:t>
            </a:r>
            <a:r>
              <a:rPr sz="13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다섯</a:t>
            </a:r>
            <a:r>
              <a:rPr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 권</a:t>
            </a:r>
            <a:endParaRPr lang="es-CL" sz="130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  <a:p>
            <a:pPr algn="l">
              <a:spcAft>
                <a:spcPts val="0"/>
              </a:spcAft>
            </a:pPr>
            <a:r>
              <a:rPr lang="en-US"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Libro </a:t>
            </a:r>
            <a:r>
              <a:rPr lang="en-US" sz="13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cinco</a:t>
            </a:r>
            <a:r>
              <a:rPr lang="en-US"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sz="13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libros</a:t>
            </a:r>
            <a:endParaRPr sz="130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86384" y="5550408"/>
            <a:ext cx="23774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cinco libros · también revistas y cuadernos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19856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566160" y="4270248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4709159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botellas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66160" y="5020056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566160" y="5129783"/>
            <a:ext cx="23774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맥주</a:t>
            </a:r>
            <a:r>
              <a:rPr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 두 병</a:t>
            </a:r>
            <a:endParaRPr lang="es-CL" sz="130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  <a:p>
            <a:pPr algn="l">
              <a:spcAft>
                <a:spcPts val="0"/>
              </a:spcAft>
            </a:pPr>
            <a:r>
              <a:rPr lang="en-US"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Cerveza dos </a:t>
            </a:r>
            <a:r>
              <a:rPr lang="en-US" sz="13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botellas</a:t>
            </a:r>
            <a:endParaRPr sz="130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566160" y="5550408"/>
            <a:ext cx="23774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dos cervezas · líquidos embotellados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99632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45936" y="4270248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45936" y="4709159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vasos, tazas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45936" y="5020056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45936" y="5129783"/>
            <a:ext cx="23774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커피</a:t>
            </a:r>
            <a:r>
              <a:rPr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 세 잔</a:t>
            </a:r>
            <a:endParaRPr lang="es-CL" sz="130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  <a:p>
            <a:pPr algn="l">
              <a:spcAft>
                <a:spcPts val="0"/>
              </a:spcAft>
            </a:pPr>
            <a:r>
              <a:rPr lang="en-US"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Café </a:t>
            </a:r>
            <a:r>
              <a:rPr lang="en-US" sz="13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tres</a:t>
            </a:r>
            <a:r>
              <a:rPr lang="en-US"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sz="13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tazas</a:t>
            </a:r>
            <a:endParaRPr sz="130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345936" y="5550408"/>
            <a:ext cx="23774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tres cafés · bebidas servidas en vaso o taza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79408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25712" y="4270248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25712" y="4709159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vehículos, máquinas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25712" y="5020056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125712" y="5129783"/>
            <a:ext cx="23774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자동차</a:t>
            </a:r>
            <a:r>
              <a:rPr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 한 대</a:t>
            </a:r>
            <a:endParaRPr lang="es-CL" sz="130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  <a:p>
            <a:pPr algn="l">
              <a:spcAft>
                <a:spcPts val="0"/>
              </a:spcAft>
            </a:pPr>
            <a:r>
              <a:rPr lang="es-CL"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Auto uno vehículos </a:t>
            </a:r>
            <a:endParaRPr sz="130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125712" y="5550408"/>
            <a:ext cx="23774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un auto · también computadores y celulares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EC52054-95AC-5A5C-2DFD-C3F98176594D}"/>
              </a:ext>
            </a:extLst>
          </p:cNvPr>
          <p:cNvSpPr txBox="1"/>
          <p:nvPr/>
        </p:nvSpPr>
        <p:spPr>
          <a:xfrm>
            <a:off x="6199632" y="1086457"/>
            <a:ext cx="35696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고양이 한 마리 있어요</a:t>
            </a:r>
            <a:endParaRPr lang="es-CL" altLang="ko-KR" dirty="0"/>
          </a:p>
          <a:p>
            <a:r>
              <a:rPr lang="es-CL" dirty="0"/>
              <a:t>Gato Uno Animal Haber, estar, tener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D5D7171-8578-F7CF-1403-212644EB3032}"/>
              </a:ext>
            </a:extLst>
          </p:cNvPr>
          <p:cNvSpPr txBox="1"/>
          <p:nvPr/>
        </p:nvSpPr>
        <p:spPr>
          <a:xfrm>
            <a:off x="6890004" y="4187952"/>
            <a:ext cx="23774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커피</a:t>
            </a:r>
            <a:r>
              <a:rPr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 세 잔</a:t>
            </a:r>
            <a:r>
              <a:rPr lang="es-CL"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ko-KR" altLang="es-CL"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주세요</a:t>
            </a:r>
            <a:endParaRPr lang="es-CL" sz="130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  <a:p>
            <a:pPr algn="l">
              <a:spcAft>
                <a:spcPts val="0"/>
              </a:spcAft>
            </a:pPr>
            <a:r>
              <a:rPr lang="en-US"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Café </a:t>
            </a:r>
            <a:r>
              <a:rPr lang="en-US" sz="13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tres</a:t>
            </a:r>
            <a:r>
              <a:rPr lang="en-US"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sz="13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tazas</a:t>
            </a:r>
            <a:r>
              <a:rPr lang="en-US"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 dame</a:t>
            </a:r>
            <a:endParaRPr sz="130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숫자, 날짜, 시간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숫자 · Numbers, Dates &amp;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단위 명사 2 · Contadores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Counter nouns 2 · Edad, ropa, comida y otros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2167128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60604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edad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" y="2916936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3026664"/>
            <a:ext cx="23774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스무</a:t>
            </a:r>
            <a:r>
              <a:rPr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 살</a:t>
            </a:r>
            <a:endParaRPr lang="es-CL" sz="130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  <a:p>
            <a:pPr algn="l">
              <a:spcAft>
                <a:spcPts val="0"/>
              </a:spcAft>
            </a:pPr>
            <a:r>
              <a:rPr lang="en-US" sz="13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Veinte</a:t>
            </a:r>
            <a:r>
              <a:rPr lang="en-US"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sz="13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edad</a:t>
            </a:r>
            <a:endParaRPr sz="130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6384" y="3447288"/>
            <a:ext cx="23774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veinte años · con número nativo, siempre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19856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66160" y="2167128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60604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hojas, papeles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2916936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66160" y="3026664"/>
            <a:ext cx="23774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종이</a:t>
            </a:r>
            <a:r>
              <a:rPr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 열 장</a:t>
            </a:r>
            <a:endParaRPr lang="es-CL" sz="130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  <a:p>
            <a:pPr algn="l">
              <a:spcAft>
                <a:spcPts val="0"/>
              </a:spcAft>
            </a:pPr>
            <a:r>
              <a:rPr lang="en-US"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Papel </a:t>
            </a:r>
            <a:r>
              <a:rPr lang="en-US" sz="13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diez</a:t>
            </a:r>
            <a:r>
              <a:rPr lang="en-US"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 hojas</a:t>
            </a:r>
            <a:endParaRPr sz="130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66160" y="3447288"/>
            <a:ext cx="23774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diez hojas · también entradas y fotos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2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45936" y="2167128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켤레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260604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pares de calzado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45936" y="2916936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45936" y="3026664"/>
            <a:ext cx="23774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구두</a:t>
            </a:r>
            <a:r>
              <a:rPr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 한 </a:t>
            </a:r>
            <a:r>
              <a:rPr sz="13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켤레</a:t>
            </a:r>
            <a:endParaRPr lang="es-CL" sz="130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  <a:p>
            <a:pPr algn="l">
              <a:spcAft>
                <a:spcPts val="0"/>
              </a:spcAft>
            </a:pPr>
            <a:r>
              <a:rPr lang="en-US" sz="13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Zapatos</a:t>
            </a:r>
            <a:r>
              <a:rPr lang="en-US"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 uno pares de </a:t>
            </a:r>
            <a:r>
              <a:rPr lang="en-US" sz="13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calzados</a:t>
            </a:r>
            <a:endParaRPr sz="130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45936" y="3447288"/>
            <a:ext cx="23774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un par de zapatos · también calcetines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79408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25712" y="2167128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그릇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712" y="260604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platos de comida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25712" y="2916936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25712" y="3026664"/>
            <a:ext cx="23774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밥 두 </a:t>
            </a:r>
            <a:r>
              <a:rPr sz="13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그릇</a:t>
            </a:r>
            <a:r>
              <a:rPr lang="es-CL"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ko-KR" altLang="es-CL"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주세요</a:t>
            </a:r>
            <a:endParaRPr lang="es-CL" sz="130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  <a:p>
            <a:pPr algn="l">
              <a:spcAft>
                <a:spcPts val="0"/>
              </a:spcAft>
            </a:pPr>
            <a:r>
              <a:rPr lang="en-US"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Arroz dos </a:t>
            </a:r>
            <a:r>
              <a:rPr lang="en-US" sz="13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platos</a:t>
            </a:r>
            <a:r>
              <a:rPr lang="en-US"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 dame.</a:t>
            </a:r>
            <a:endParaRPr sz="130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125712" y="3447288"/>
            <a:ext cx="23774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dos platos de arroz · comida servida en bol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6384" y="4270248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dirty="0" err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송이</a:t>
            </a:r>
            <a:endParaRPr sz="2200" b="1" dirty="0">
              <a:solidFill>
                <a:srgbClr val="6D2E46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86384" y="4709159"/>
            <a:ext cx="237744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s-CL" sz="1050" b="1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F</a:t>
            </a:r>
            <a:r>
              <a:rPr sz="1050" b="1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lores</a:t>
            </a:r>
            <a:r>
              <a:rPr lang="es-CL" sz="1050" b="1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, uvas</a:t>
            </a:r>
            <a:endParaRPr sz="1050" b="1" dirty="0">
              <a:solidFill>
                <a:srgbClr val="1D355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86384" y="5020056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6384" y="5129783"/>
            <a:ext cx="23774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장미</a:t>
            </a:r>
            <a:r>
              <a:rPr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 열 </a:t>
            </a:r>
            <a:r>
              <a:rPr sz="13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송이</a:t>
            </a:r>
            <a:endParaRPr lang="es-CL" sz="130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  <a:p>
            <a:pPr algn="l">
              <a:spcAft>
                <a:spcPts val="0"/>
              </a:spcAft>
            </a:pPr>
            <a:r>
              <a:rPr lang="en-US"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Rosas </a:t>
            </a:r>
            <a:r>
              <a:rPr lang="en-US" sz="13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diez</a:t>
            </a:r>
            <a:r>
              <a:rPr lang="en-US"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 flores</a:t>
            </a:r>
            <a:endParaRPr sz="130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86384" y="5550408"/>
            <a:ext cx="23774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diez rosas · flores individuales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19856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566160" y="4270248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4709159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ropa (conjuntos)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66160" y="5020056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566160" y="5129783"/>
            <a:ext cx="23774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한복</a:t>
            </a:r>
            <a:r>
              <a:rPr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 한 벌</a:t>
            </a:r>
            <a:endParaRPr lang="es-CL" sz="130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  <a:p>
            <a:pPr algn="l">
              <a:spcAft>
                <a:spcPts val="0"/>
              </a:spcAft>
            </a:pPr>
            <a:r>
              <a:rPr lang="es-CL" sz="13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Hanbok</a:t>
            </a:r>
            <a:r>
              <a:rPr lang="es-CL"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 un ropa</a:t>
            </a:r>
            <a:endParaRPr sz="130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566160" y="5550408"/>
            <a:ext cx="23774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un hanbok · trajes y conjuntos completos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99632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45936" y="4270248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인분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45936" y="4709159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porciones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45936" y="5020056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45936" y="5129783"/>
            <a:ext cx="23774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삼겹살</a:t>
            </a:r>
            <a:r>
              <a:rPr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 이 </a:t>
            </a:r>
            <a:r>
              <a:rPr sz="13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인분</a:t>
            </a:r>
            <a:endParaRPr lang="es-CL" sz="130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  <a:p>
            <a:pPr algn="l">
              <a:spcAft>
                <a:spcPts val="0"/>
              </a:spcAft>
            </a:pPr>
            <a:r>
              <a:rPr lang="en-US" sz="13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panceto</a:t>
            </a:r>
            <a:r>
              <a:rPr lang="en-US"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 dos </a:t>
            </a:r>
            <a:r>
              <a:rPr lang="en-US" sz="13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porciones</a:t>
            </a:r>
            <a:endParaRPr sz="130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345936" y="5550408"/>
            <a:ext cx="23774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dos porciones · ¡usa número SINO!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79408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25712" y="4270248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25712" y="4709159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veces / número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25712" y="5020056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125712" y="5129783"/>
            <a:ext cx="23774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한 번 · 705번</a:t>
            </a:r>
            <a:endParaRPr lang="es-CL" sz="130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  <a:p>
            <a:pPr algn="l">
              <a:spcAft>
                <a:spcPts val="0"/>
              </a:spcAft>
            </a:pPr>
            <a:r>
              <a:rPr lang="en-US"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Una </a:t>
            </a:r>
            <a:r>
              <a:rPr lang="en-US" sz="13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vez</a:t>
            </a:r>
            <a:r>
              <a:rPr lang="en-US" sz="13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 705 </a:t>
            </a:r>
            <a:r>
              <a:rPr lang="en-US" sz="13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numero</a:t>
            </a:r>
            <a:endParaRPr sz="130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125712" y="5550408"/>
            <a:ext cx="23774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una vez (nativo) · bus 705 (sino) — dos usos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숫자, 날짜, 시간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숫자 · Numbers, Dates &amp;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날짜</a:t>
            </a:r>
            <a:r>
              <a:rPr sz="2600" b="1" dirty="0" err="1">
                <a:solidFill>
                  <a:srgbClr val="1D3557"/>
                </a:solidFill>
                <a:highlight>
                  <a:srgbClr val="FFFF00"/>
                </a:highlight>
                <a:latin typeface="Cambria"/>
                <a:ea typeface="Cambria"/>
                <a:cs typeface="Cambria"/>
              </a:rPr>
              <a:t>와</a:t>
            </a:r>
            <a:r>
              <a:rPr sz="26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 </a:t>
            </a:r>
            <a:r>
              <a:rPr sz="26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요일</a:t>
            </a:r>
            <a:r>
              <a:rPr sz="260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 · </a:t>
            </a:r>
            <a:r>
              <a:rPr sz="26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Fechas</a:t>
            </a:r>
            <a:endParaRPr sz="260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2940" y="1517904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Dates and days of the week · Todo con </a:t>
            </a:r>
            <a:r>
              <a:rPr sz="1250" b="0" dirty="0" err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números</a:t>
            </a:r>
            <a:r>
              <a:rPr sz="1250" b="0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50" b="0" dirty="0" err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sino-coreanos</a:t>
            </a:r>
            <a:endParaRPr sz="1250" b="0" dirty="0">
              <a:solidFill>
                <a:srgbClr val="5C6B7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몇 월? · ¿Qué mes?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04288"/>
            <a:ext cx="854964" cy="658368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368296"/>
            <a:ext cx="85496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96896"/>
            <a:ext cx="8549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일월</a:t>
            </a:r>
            <a:endParaRPr sz="110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549907" y="2304288"/>
            <a:ext cx="854964" cy="658368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69719" y="2350008"/>
            <a:ext cx="85496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2월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49907" y="2596896"/>
            <a:ext cx="8549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이월</a:t>
            </a:r>
            <a:endParaRPr sz="110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459736" y="2304288"/>
            <a:ext cx="854964" cy="658368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59736" y="2368296"/>
            <a:ext cx="85496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3월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9736" y="2596896"/>
            <a:ext cx="8549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삼월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9563" y="2304288"/>
            <a:ext cx="854964" cy="658368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69563" y="2368296"/>
            <a:ext cx="85496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4월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9563" y="2596896"/>
            <a:ext cx="8549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사월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9392" y="2304288"/>
            <a:ext cx="854964" cy="658368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79392" y="2368296"/>
            <a:ext cx="85496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5월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9392" y="2596896"/>
            <a:ext cx="8549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오월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89220" y="2304288"/>
            <a:ext cx="854964" cy="658368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89220" y="2368296"/>
            <a:ext cx="85496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9220" y="2596896"/>
            <a:ext cx="8549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유월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9048" y="2304288"/>
            <a:ext cx="854964" cy="658368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99048" y="2368296"/>
            <a:ext cx="85496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7월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9048" y="2596896"/>
            <a:ext cx="8549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칠월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08876" y="2304288"/>
            <a:ext cx="854964" cy="658368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08876" y="2368296"/>
            <a:ext cx="85496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8월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08876" y="2596896"/>
            <a:ext cx="8549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팔월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18704" y="2304288"/>
            <a:ext cx="854964" cy="658368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918704" y="2368296"/>
            <a:ext cx="85496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9월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18704" y="2596896"/>
            <a:ext cx="8549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구월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28532" y="2304288"/>
            <a:ext cx="854964" cy="658368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828532" y="2368296"/>
            <a:ext cx="85496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8532" y="2596896"/>
            <a:ext cx="8549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시월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38359" y="2304288"/>
            <a:ext cx="854964" cy="658368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738359" y="2368296"/>
            <a:ext cx="85496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11월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38359" y="2596896"/>
            <a:ext cx="8549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십일월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48188" y="2304288"/>
            <a:ext cx="854964" cy="658368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648188" y="2368296"/>
            <a:ext cx="85496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12월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48188" y="2596896"/>
            <a:ext cx="8549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십이월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20" y="303580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6월 = </a:t>
            </a:r>
            <a:r>
              <a:rPr sz="1100" b="1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유월</a:t>
            </a:r>
            <a:r>
              <a:rPr sz="1100" b="1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 (no </a:t>
            </a:r>
            <a:r>
              <a:rPr sz="1100" b="1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육월</a:t>
            </a:r>
            <a:r>
              <a:rPr sz="1100" b="1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)  ·  10월 = </a:t>
            </a:r>
            <a:r>
              <a:rPr sz="1100" b="1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시월</a:t>
            </a:r>
            <a:r>
              <a:rPr sz="1100" b="1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 (no </a:t>
            </a:r>
            <a:r>
              <a:rPr sz="1100" b="1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십월</a:t>
            </a:r>
            <a:r>
              <a:rPr sz="1100" b="1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)  — son las dos </a:t>
            </a:r>
            <a:r>
              <a:rPr sz="1100" b="1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únicas</a:t>
            </a:r>
            <a:r>
              <a:rPr sz="1100" b="1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1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irregulares</a:t>
            </a:r>
            <a:r>
              <a:rPr sz="1100" b="1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, y </a:t>
            </a:r>
            <a:r>
              <a:rPr sz="1100" b="1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siempre</a:t>
            </a:r>
            <a:r>
              <a:rPr sz="1100" b="1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 se </a:t>
            </a:r>
            <a:r>
              <a:rPr sz="1100" b="1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preguntan</a:t>
            </a:r>
            <a:r>
              <a:rPr sz="1100" b="1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1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</a:t>
            </a:r>
            <a:r>
              <a:rPr sz="1100" b="1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1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clase</a:t>
            </a:r>
            <a:r>
              <a:rPr sz="1100" b="1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347472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무슨 요일? · ¿Qué día de la semana?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3767328"/>
            <a:ext cx="1504188" cy="6858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0080" y="3831336"/>
            <a:ext cx="15041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LUN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4059936"/>
            <a:ext cx="15041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월요일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99132" y="3767328"/>
            <a:ext cx="1504188" cy="6858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199132" y="3831336"/>
            <a:ext cx="15041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MAR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99132" y="4059936"/>
            <a:ext cx="15041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화요일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58184" y="3767328"/>
            <a:ext cx="1504188" cy="6858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758184" y="3831336"/>
            <a:ext cx="15041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MIÉ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58184" y="4059936"/>
            <a:ext cx="15041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수요일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17236" y="3767328"/>
            <a:ext cx="1504188" cy="6858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317236" y="3831336"/>
            <a:ext cx="15041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JUE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17236" y="4059936"/>
            <a:ext cx="15041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목요일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76288" y="3767328"/>
            <a:ext cx="1504188" cy="6858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876288" y="3831336"/>
            <a:ext cx="15041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VIE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76288" y="4059936"/>
            <a:ext cx="15041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금요일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35340" y="3767328"/>
            <a:ext cx="1504188" cy="6858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435340" y="3831336"/>
            <a:ext cx="15041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SÁB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35340" y="4059936"/>
            <a:ext cx="15041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토요일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994392" y="3767328"/>
            <a:ext cx="1504188" cy="6858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994392" y="3831336"/>
            <a:ext cx="15041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DOM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994392" y="4059936"/>
            <a:ext cx="15041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일요일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0080" y="4663440"/>
            <a:ext cx="10881360" cy="164592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14400" y="4791456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9C46A"/>
                </a:solidFill>
                <a:latin typeface="Calibri"/>
                <a:ea typeface="Calibri"/>
                <a:cs typeface="Calibri"/>
              </a:rPr>
              <a:t>Preguntar la fecha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4400" y="5138928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몇 년?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4400" y="5468112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mion nion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705856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¿Qué año?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11880" y="5138928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몇 월?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11880" y="5468112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mio-duol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11880" y="5705856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¿Qué mes?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09360" y="5138928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며칠?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09360" y="5468112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mio-chil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09360" y="5705856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¿Qué día? (NO 몇 일)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06840" y="5138928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무슨 요일?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06840" y="5468112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mu-seun nio-il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06840" y="5705856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¿Qué día de la semana?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" y="6355080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Ejemplo</a:t>
            </a:r>
            <a:r>
              <a:rPr sz="1100" b="1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:  2026년 8월 16일 </a:t>
            </a:r>
            <a:r>
              <a:rPr sz="1100" b="1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일요일</a:t>
            </a:r>
            <a:r>
              <a:rPr sz="1100" b="1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  →  </a:t>
            </a:r>
            <a:r>
              <a:rPr sz="1100" b="1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이천이십육</a:t>
            </a:r>
            <a:r>
              <a:rPr sz="1100" b="1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 년 </a:t>
            </a:r>
            <a:r>
              <a:rPr sz="1100" b="1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팔월</a:t>
            </a:r>
            <a:r>
              <a:rPr sz="1100" b="1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1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십육일</a:t>
            </a:r>
            <a:r>
              <a:rPr sz="1100" b="1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1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일요일</a:t>
            </a:r>
            <a:endParaRPr sz="1100" b="1" dirty="0">
              <a:solidFill>
                <a:srgbClr val="6D2E4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FC7BD5A-C005-72B5-BD72-C60702B8643F}"/>
              </a:ext>
            </a:extLst>
          </p:cNvPr>
          <p:cNvSpPr txBox="1"/>
          <p:nvPr/>
        </p:nvSpPr>
        <p:spPr>
          <a:xfrm>
            <a:off x="5897880" y="708660"/>
            <a:ext cx="24449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와</a:t>
            </a:r>
            <a:r>
              <a:rPr lang="es-CL" altLang="ko-KR" dirty="0"/>
              <a:t>/</a:t>
            </a:r>
            <a:r>
              <a:rPr lang="ko-KR" altLang="es-CL" dirty="0"/>
              <a:t>과 </a:t>
            </a:r>
            <a:r>
              <a:rPr lang="es-CL" altLang="ko-KR" dirty="0"/>
              <a:t>= y</a:t>
            </a:r>
          </a:p>
          <a:p>
            <a:r>
              <a:rPr lang="ko-KR" altLang="es-CL" dirty="0"/>
              <a:t>날짜 </a:t>
            </a:r>
            <a:r>
              <a:rPr lang="es-CL" altLang="ko-KR" dirty="0"/>
              <a:t>= fecha</a:t>
            </a:r>
          </a:p>
          <a:p>
            <a:r>
              <a:rPr lang="ko-KR" altLang="es-CL" dirty="0"/>
              <a:t>요일 </a:t>
            </a:r>
            <a:r>
              <a:rPr lang="es-CL" altLang="ko-KR" dirty="0"/>
              <a:t>= </a:t>
            </a:r>
            <a:r>
              <a:rPr lang="es-CL" altLang="ko-KR" dirty="0" err="1"/>
              <a:t>dia</a:t>
            </a:r>
            <a:r>
              <a:rPr lang="es-CL" altLang="ko-KR" dirty="0"/>
              <a:t> de la semana</a:t>
            </a:r>
          </a:p>
          <a:p>
            <a:r>
              <a:rPr lang="ko-KR" altLang="es-CL" dirty="0"/>
              <a:t>몇 </a:t>
            </a:r>
            <a:r>
              <a:rPr lang="es-CL" altLang="ko-KR" dirty="0"/>
              <a:t>= que, cual</a:t>
            </a:r>
            <a:endParaRPr lang="es-CL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D48EF13-9860-B1BC-9F56-C4B6859B7C52}"/>
              </a:ext>
            </a:extLst>
          </p:cNvPr>
          <p:cNvSpPr txBox="1"/>
          <p:nvPr/>
        </p:nvSpPr>
        <p:spPr>
          <a:xfrm>
            <a:off x="8515909" y="637615"/>
            <a:ext cx="10262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년 </a:t>
            </a:r>
            <a:r>
              <a:rPr lang="es-CL" altLang="ko-KR" dirty="0"/>
              <a:t>= año</a:t>
            </a:r>
          </a:p>
          <a:p>
            <a:r>
              <a:rPr lang="ko-KR" altLang="es-CL" dirty="0"/>
              <a:t>월 </a:t>
            </a:r>
            <a:r>
              <a:rPr lang="es-CL" altLang="ko-KR" dirty="0"/>
              <a:t>= mes</a:t>
            </a:r>
          </a:p>
          <a:p>
            <a:r>
              <a:rPr lang="ko-KR" altLang="es-CL" dirty="0"/>
              <a:t>일 </a:t>
            </a:r>
            <a:r>
              <a:rPr lang="es-CL" altLang="ko-KR" dirty="0"/>
              <a:t>= día</a:t>
            </a:r>
            <a:endParaRPr lang="es-CL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571C0CC-51BB-C752-7F36-2C706E4015D2}"/>
              </a:ext>
            </a:extLst>
          </p:cNvPr>
          <p:cNvSpPr txBox="1"/>
          <p:nvPr/>
        </p:nvSpPr>
        <p:spPr>
          <a:xfrm>
            <a:off x="726692" y="2689336"/>
            <a:ext cx="735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enero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7F0F6D3-1877-7486-2C56-E4E4B892B275}"/>
              </a:ext>
            </a:extLst>
          </p:cNvPr>
          <p:cNvSpPr txBox="1"/>
          <p:nvPr/>
        </p:nvSpPr>
        <p:spPr>
          <a:xfrm>
            <a:off x="1547198" y="2721340"/>
            <a:ext cx="877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febrero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FB1BB85-5A0C-14FD-D214-40B71BCFB5BC}"/>
              </a:ext>
            </a:extLst>
          </p:cNvPr>
          <p:cNvSpPr txBox="1"/>
          <p:nvPr/>
        </p:nvSpPr>
        <p:spPr>
          <a:xfrm>
            <a:off x="2546797" y="2710410"/>
            <a:ext cx="767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marzo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5706219-4F00-3720-709B-080346C3D7D2}"/>
              </a:ext>
            </a:extLst>
          </p:cNvPr>
          <p:cNvSpPr txBox="1"/>
          <p:nvPr/>
        </p:nvSpPr>
        <p:spPr>
          <a:xfrm>
            <a:off x="3495520" y="2757916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abril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B684306-1493-D1AF-92B3-E7AF98F46FE4}"/>
              </a:ext>
            </a:extLst>
          </p:cNvPr>
          <p:cNvSpPr txBox="1"/>
          <p:nvPr/>
        </p:nvSpPr>
        <p:spPr>
          <a:xfrm>
            <a:off x="4357547" y="2727174"/>
            <a:ext cx="698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mayo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83CB707-9859-CBE0-902A-567A7190CCFA}"/>
              </a:ext>
            </a:extLst>
          </p:cNvPr>
          <p:cNvSpPr txBox="1"/>
          <p:nvPr/>
        </p:nvSpPr>
        <p:spPr>
          <a:xfrm>
            <a:off x="5279136" y="2651760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junio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C8695A8-005C-324E-B53A-61FF738AFFF0}"/>
              </a:ext>
            </a:extLst>
          </p:cNvPr>
          <p:cNvSpPr txBox="1"/>
          <p:nvPr/>
        </p:nvSpPr>
        <p:spPr>
          <a:xfrm>
            <a:off x="6276235" y="2706100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julio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F06033F-8505-A86B-12B6-E03078E853B7}"/>
              </a:ext>
            </a:extLst>
          </p:cNvPr>
          <p:cNvSpPr txBox="1"/>
          <p:nvPr/>
        </p:nvSpPr>
        <p:spPr>
          <a:xfrm>
            <a:off x="7057646" y="2713720"/>
            <a:ext cx="808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agosto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4A390F1-330B-FB19-D54F-F5EC618B5111}"/>
              </a:ext>
            </a:extLst>
          </p:cNvPr>
          <p:cNvSpPr txBox="1"/>
          <p:nvPr/>
        </p:nvSpPr>
        <p:spPr>
          <a:xfrm>
            <a:off x="7757160" y="2861286"/>
            <a:ext cx="2133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septiembre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9A64191-5ABF-3294-9500-43D188EE2835}"/>
              </a:ext>
            </a:extLst>
          </p:cNvPr>
          <p:cNvSpPr txBox="1"/>
          <p:nvPr/>
        </p:nvSpPr>
        <p:spPr>
          <a:xfrm>
            <a:off x="8971320" y="3004542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Oct.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BC90131-89E1-809E-17EC-7F2F0E26304B}"/>
              </a:ext>
            </a:extLst>
          </p:cNvPr>
          <p:cNvSpPr txBox="1"/>
          <p:nvPr/>
        </p:nvSpPr>
        <p:spPr>
          <a:xfrm>
            <a:off x="9890759" y="2984730"/>
            <a:ext cx="1002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Nov.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9C0EA85-2F0C-0EC2-458E-4C0DCC8501E7}"/>
              </a:ext>
            </a:extLst>
          </p:cNvPr>
          <p:cNvSpPr txBox="1"/>
          <p:nvPr/>
        </p:nvSpPr>
        <p:spPr>
          <a:xfrm>
            <a:off x="10746486" y="2954512"/>
            <a:ext cx="1002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Dic.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703C578-8A87-9F94-5FE3-8971AA8E18F9}"/>
              </a:ext>
            </a:extLst>
          </p:cNvPr>
          <p:cNvSpPr txBox="1"/>
          <p:nvPr/>
        </p:nvSpPr>
        <p:spPr>
          <a:xfrm>
            <a:off x="3367224" y="3188131"/>
            <a:ext cx="2522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s-CL" dirty="0"/>
              <a:t>무슨 요일이에요</a:t>
            </a:r>
            <a:r>
              <a:rPr lang="es-CL" altLang="ko-KR" dirty="0"/>
              <a:t>?</a:t>
            </a:r>
          </a:p>
          <a:p>
            <a:r>
              <a:rPr lang="es-CL" dirty="0"/>
              <a:t>Que </a:t>
            </a:r>
            <a:r>
              <a:rPr lang="es-CL" dirty="0" err="1"/>
              <a:t>dia</a:t>
            </a:r>
            <a:r>
              <a:rPr lang="es-CL" dirty="0"/>
              <a:t> de la semana ser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8D06F10-C6AE-4B5A-8BBE-A1ECDDEFFFCF}"/>
              </a:ext>
            </a:extLst>
          </p:cNvPr>
          <p:cNvSpPr txBox="1"/>
          <p:nvPr/>
        </p:nvSpPr>
        <p:spPr>
          <a:xfrm>
            <a:off x="2802272" y="4714732"/>
            <a:ext cx="2547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solidFill>
                  <a:schemeClr val="bg1"/>
                </a:solidFill>
              </a:rPr>
              <a:t>2026</a:t>
            </a:r>
            <a:r>
              <a:rPr lang="ko-KR" altLang="es-CL" dirty="0">
                <a:solidFill>
                  <a:schemeClr val="bg1"/>
                </a:solidFill>
              </a:rPr>
              <a:t>년 </a:t>
            </a:r>
            <a:r>
              <a:rPr lang="es-CL" altLang="ko-KR" dirty="0">
                <a:solidFill>
                  <a:schemeClr val="bg1"/>
                </a:solidFill>
              </a:rPr>
              <a:t>8</a:t>
            </a:r>
            <a:r>
              <a:rPr lang="ko-KR" altLang="es-CL" dirty="0">
                <a:solidFill>
                  <a:schemeClr val="bg1"/>
                </a:solidFill>
              </a:rPr>
              <a:t>월 </a:t>
            </a:r>
            <a:r>
              <a:rPr lang="es-CL" altLang="ko-KR" dirty="0">
                <a:solidFill>
                  <a:schemeClr val="bg1"/>
                </a:solidFill>
              </a:rPr>
              <a:t>29</a:t>
            </a:r>
            <a:r>
              <a:rPr lang="ko-KR" altLang="es-CL" dirty="0">
                <a:solidFill>
                  <a:schemeClr val="bg1"/>
                </a:solidFill>
              </a:rPr>
              <a:t>일 토요일</a:t>
            </a:r>
            <a:endParaRPr lang="es-CL" dirty="0">
              <a:solidFill>
                <a:schemeClr val="bg1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395E906-C768-A9D6-667F-1365B1C532E9}"/>
              </a:ext>
            </a:extLst>
          </p:cNvPr>
          <p:cNvSpPr txBox="1"/>
          <p:nvPr/>
        </p:nvSpPr>
        <p:spPr>
          <a:xfrm>
            <a:off x="5463540" y="4714732"/>
            <a:ext cx="3026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solidFill>
                  <a:schemeClr val="bg1"/>
                </a:solidFill>
              </a:rPr>
              <a:t>Año Mes Día </a:t>
            </a:r>
            <a:r>
              <a:rPr lang="es-CL" dirty="0" err="1">
                <a:solidFill>
                  <a:schemeClr val="bg1"/>
                </a:solidFill>
              </a:rPr>
              <a:t>Día</a:t>
            </a:r>
            <a:r>
              <a:rPr lang="es-CL" dirty="0">
                <a:solidFill>
                  <a:schemeClr val="bg1"/>
                </a:solidFill>
              </a:rPr>
              <a:t> de la semana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1EE90C-CB2D-EBD8-870B-4907B979F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529" y="1530462"/>
            <a:ext cx="5992061" cy="29436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260391-F356-7A56-BB44-BD58AB2BA9B8}"/>
              </a:ext>
            </a:extLst>
          </p:cNvPr>
          <p:cNvSpPr txBox="1"/>
          <p:nvPr/>
        </p:nvSpPr>
        <p:spPr>
          <a:xfrm>
            <a:off x="6758940" y="2113865"/>
            <a:ext cx="209063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월 </a:t>
            </a:r>
            <a:r>
              <a:rPr lang="es-CL" altLang="ko-KR" dirty="0"/>
              <a:t>= </a:t>
            </a:r>
            <a:r>
              <a:rPr lang="ko-KR" altLang="es-CL" dirty="0"/>
              <a:t>달 월 </a:t>
            </a:r>
            <a:r>
              <a:rPr lang="es-CL" altLang="ko-KR" dirty="0"/>
              <a:t>= luna</a:t>
            </a:r>
          </a:p>
          <a:p>
            <a:r>
              <a:rPr lang="ko-KR" altLang="es-CL" dirty="0"/>
              <a:t>화 </a:t>
            </a:r>
            <a:r>
              <a:rPr lang="es-CL" altLang="ko-KR" dirty="0"/>
              <a:t>= </a:t>
            </a:r>
            <a:r>
              <a:rPr lang="ko-KR" altLang="es-CL" dirty="0"/>
              <a:t>불 화 </a:t>
            </a:r>
            <a:r>
              <a:rPr lang="es-CL" altLang="ko-KR" dirty="0"/>
              <a:t>= fuego</a:t>
            </a:r>
          </a:p>
          <a:p>
            <a:r>
              <a:rPr lang="ko-KR" altLang="es-CL" dirty="0"/>
              <a:t>수 </a:t>
            </a:r>
            <a:r>
              <a:rPr lang="es-CL" altLang="ko-KR" dirty="0"/>
              <a:t>= </a:t>
            </a:r>
            <a:r>
              <a:rPr lang="ko-KR" altLang="es-CL" dirty="0"/>
              <a:t>물 수 </a:t>
            </a:r>
            <a:r>
              <a:rPr lang="es-CL" altLang="ko-KR" dirty="0"/>
              <a:t>= agua</a:t>
            </a:r>
          </a:p>
          <a:p>
            <a:r>
              <a:rPr lang="ko-KR" altLang="es-CL" dirty="0"/>
              <a:t>목 </a:t>
            </a:r>
            <a:r>
              <a:rPr lang="es-CL" altLang="ko-KR" dirty="0"/>
              <a:t>= </a:t>
            </a:r>
            <a:r>
              <a:rPr lang="ko-KR" altLang="es-CL" dirty="0"/>
              <a:t>나무 목 </a:t>
            </a:r>
            <a:r>
              <a:rPr lang="es-CL" altLang="ko-KR" dirty="0"/>
              <a:t>= </a:t>
            </a:r>
            <a:r>
              <a:rPr lang="es-CL" altLang="ko-KR" dirty="0" err="1"/>
              <a:t>arbol</a:t>
            </a:r>
            <a:endParaRPr lang="es-CL" altLang="ko-KR" dirty="0"/>
          </a:p>
          <a:p>
            <a:r>
              <a:rPr lang="ko-KR" altLang="es-CL" dirty="0"/>
              <a:t>금 </a:t>
            </a:r>
            <a:r>
              <a:rPr lang="es-CL" altLang="ko-KR" dirty="0"/>
              <a:t>= </a:t>
            </a:r>
            <a:r>
              <a:rPr lang="ko-KR" altLang="es-CL" dirty="0"/>
              <a:t>쇠 금 </a:t>
            </a:r>
            <a:r>
              <a:rPr lang="es-CL" altLang="ko-KR" dirty="0"/>
              <a:t>= metal</a:t>
            </a:r>
          </a:p>
          <a:p>
            <a:r>
              <a:rPr lang="ko-KR" altLang="es-CL" dirty="0"/>
              <a:t>토 </a:t>
            </a:r>
            <a:r>
              <a:rPr lang="es-CL" altLang="ko-KR" dirty="0"/>
              <a:t>= </a:t>
            </a:r>
            <a:r>
              <a:rPr lang="ko-KR" altLang="es-CL" dirty="0"/>
              <a:t>흙 토 </a:t>
            </a:r>
            <a:r>
              <a:rPr lang="es-CL" altLang="ko-KR" dirty="0"/>
              <a:t>= tierra</a:t>
            </a:r>
          </a:p>
          <a:p>
            <a:r>
              <a:rPr lang="ko-KR" altLang="es-CL" dirty="0"/>
              <a:t>일 </a:t>
            </a:r>
            <a:r>
              <a:rPr lang="es-CL" altLang="ko-KR" dirty="0"/>
              <a:t>= </a:t>
            </a:r>
            <a:r>
              <a:rPr lang="ko-KR" altLang="es-CL" dirty="0"/>
              <a:t>날 일 </a:t>
            </a:r>
            <a:r>
              <a:rPr lang="es-CL" altLang="ko-KR" dirty="0"/>
              <a:t>= sol/</a:t>
            </a:r>
            <a:r>
              <a:rPr lang="es-CL" altLang="ko-KR" dirty="0" err="1"/>
              <a:t>dia</a:t>
            </a:r>
            <a:endParaRPr lang="es-C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5ECC83-1003-EFA3-C766-05AFAEBFA694}"/>
              </a:ext>
            </a:extLst>
          </p:cNvPr>
          <p:cNvSpPr txBox="1"/>
          <p:nvPr/>
        </p:nvSpPr>
        <p:spPr>
          <a:xfrm>
            <a:off x="7955280" y="1379220"/>
            <a:ext cx="2488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한자 </a:t>
            </a:r>
            <a:r>
              <a:rPr lang="es-CL" altLang="ko-KR" dirty="0"/>
              <a:t>= caracteres chinos</a:t>
            </a:r>
          </a:p>
          <a:p>
            <a:r>
              <a:rPr lang="es-CL" dirty="0"/>
              <a:t>Kenji o chino cantones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ABFBA0-0DDA-C614-DE44-B484A36B8BA3}"/>
              </a:ext>
            </a:extLst>
          </p:cNvPr>
          <p:cNvSpPr txBox="1"/>
          <p:nvPr/>
        </p:nvSpPr>
        <p:spPr>
          <a:xfrm>
            <a:off x="8867603" y="2944445"/>
            <a:ext cx="8146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altLang="ko-KR" dirty="0"/>
              <a:t>+ </a:t>
            </a:r>
            <a:r>
              <a:rPr lang="ko-KR" altLang="es-CL" dirty="0"/>
              <a:t>요일</a:t>
            </a:r>
            <a:endParaRPr lang="es-CL" altLang="ko-KR" dirty="0"/>
          </a:p>
          <a:p>
            <a:endParaRPr lang="es-C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06CCC7-3C5A-A807-B9CA-36F9D855A498}"/>
              </a:ext>
            </a:extLst>
          </p:cNvPr>
          <p:cNvSpPr txBox="1"/>
          <p:nvPr/>
        </p:nvSpPr>
        <p:spPr>
          <a:xfrm>
            <a:off x="9759834" y="2101750"/>
            <a:ext cx="200356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월요일 </a:t>
            </a:r>
            <a:r>
              <a:rPr lang="es-CL" altLang="ko-KR" dirty="0"/>
              <a:t>= lunes</a:t>
            </a:r>
          </a:p>
          <a:p>
            <a:r>
              <a:rPr lang="ko-KR" altLang="es-CL" dirty="0"/>
              <a:t>화요일 </a:t>
            </a:r>
            <a:r>
              <a:rPr lang="es-CL" altLang="ko-KR" dirty="0"/>
              <a:t>= martes</a:t>
            </a:r>
          </a:p>
          <a:p>
            <a:r>
              <a:rPr lang="ko-KR" altLang="es-CL" dirty="0"/>
              <a:t>수요일 </a:t>
            </a:r>
            <a:r>
              <a:rPr lang="es-CL" altLang="ko-KR" dirty="0"/>
              <a:t>= miércoles</a:t>
            </a:r>
          </a:p>
          <a:p>
            <a:r>
              <a:rPr lang="ko-KR" altLang="es-CL" dirty="0"/>
              <a:t>목요일 </a:t>
            </a:r>
            <a:r>
              <a:rPr lang="es-CL" altLang="ko-KR" dirty="0"/>
              <a:t>=  jueves</a:t>
            </a:r>
          </a:p>
          <a:p>
            <a:r>
              <a:rPr lang="ko-KR" altLang="es-CL" dirty="0"/>
              <a:t>금요일 </a:t>
            </a:r>
            <a:r>
              <a:rPr lang="es-CL" altLang="ko-KR" dirty="0"/>
              <a:t>= viernes</a:t>
            </a:r>
          </a:p>
          <a:p>
            <a:r>
              <a:rPr lang="ko-KR" altLang="es-CL" dirty="0"/>
              <a:t>토요일 </a:t>
            </a:r>
            <a:r>
              <a:rPr lang="es-CL" altLang="ko-KR" dirty="0"/>
              <a:t>= sábado</a:t>
            </a:r>
          </a:p>
          <a:p>
            <a:r>
              <a:rPr lang="ko-KR" altLang="es-CL" dirty="0"/>
              <a:t>일요일 </a:t>
            </a:r>
            <a:r>
              <a:rPr lang="es-CL" altLang="ko-KR" dirty="0"/>
              <a:t>= domingo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48311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숫자, 날짜, 시간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숫자 · Numbers, Dates &amp;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시간 · La hora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Telling time · La regla más importante de toda la clase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10881360" cy="1234440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39696"/>
            <a:ext cx="10332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9C46A"/>
                </a:solidFill>
                <a:latin typeface="Calibri"/>
                <a:ea typeface="Calibri"/>
                <a:cs typeface="Calibri"/>
              </a:rPr>
              <a:t>LA REGLA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14016"/>
            <a:ext cx="4937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시 (hora) → número NATIVO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98064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ADCFC"/>
                </a:solidFill>
                <a:latin typeface="Cambria"/>
                <a:ea typeface="Cambria"/>
                <a:cs typeface="Cambria"/>
              </a:rPr>
              <a:t>한 시, 두 시, 세 시…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414016"/>
            <a:ext cx="4937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분 (minuto) → número SINO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798064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ADCFC"/>
                </a:solidFill>
                <a:latin typeface="Cambria"/>
                <a:ea typeface="Cambria"/>
                <a:cs typeface="Cambria"/>
              </a:rPr>
              <a:t>십 분, 삼십 분, 사십오 분…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286000"/>
            <a:ext cx="12801" cy="1270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429000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Se mezclan en la misma frase: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30752"/>
            <a:ext cx="2103120" cy="9144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822191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1" y="4133087"/>
            <a:ext cx="195681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한 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52928" y="3730752"/>
            <a:ext cx="2103120" cy="9144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52928" y="3822191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2:10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133087"/>
            <a:ext cx="195681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두 시 십 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65776" y="3730752"/>
            <a:ext cx="2103120" cy="9144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65776" y="3822191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3:30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85664" y="4207607"/>
            <a:ext cx="2511552" cy="3587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5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세 시 </a:t>
            </a:r>
            <a:r>
              <a:rPr sz="115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삼십</a:t>
            </a:r>
            <a:r>
              <a:rPr sz="115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 분 = 세 시 반</a:t>
            </a:r>
            <a:endParaRPr lang="es-CL" sz="115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US" sz="115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Tres hora 30 min = </a:t>
            </a:r>
            <a:r>
              <a:rPr lang="en-US" sz="115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tres</a:t>
            </a:r>
            <a:r>
              <a:rPr lang="en-US" sz="115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 hora </a:t>
            </a:r>
            <a:r>
              <a:rPr lang="en-US" sz="115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mitad</a:t>
            </a:r>
            <a:endParaRPr sz="115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278624" y="3730752"/>
            <a:ext cx="2103120" cy="9144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78624" y="3822191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4:45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4133087"/>
            <a:ext cx="195681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네 시 사십오 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91472" y="3730752"/>
            <a:ext cx="2103120" cy="9144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91472" y="3822191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1:50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64624" y="4133087"/>
            <a:ext cx="1956816" cy="3587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5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두 시 십 분 전</a:t>
            </a:r>
            <a:endParaRPr lang="es-CL" sz="115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US" sz="1150" b="1" dirty="0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Dos horas 10 min. antes</a:t>
            </a:r>
            <a:endParaRPr sz="115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0080" y="4736592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반 = media  ·  전 = antes de (para "menos cuarto", "diez para las dos")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102352"/>
            <a:ext cx="10881360" cy="1207008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5212080"/>
            <a:ext cx="10332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하루의 시간 · Las partes del día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50468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새벽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83387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madrugada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04872" y="550468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dirty="0" err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아침</a:t>
            </a:r>
            <a:endParaRPr sz="1500" b="1" dirty="0">
              <a:solidFill>
                <a:srgbClr val="1D3557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404872" y="5833872"/>
            <a:ext cx="137160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s-CL" sz="950" b="0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M</a:t>
            </a:r>
            <a:r>
              <a:rPr sz="950" b="0" dirty="0" err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añana</a:t>
            </a:r>
            <a:r>
              <a:rPr lang="es-CL" sz="950" b="0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/desayuno</a:t>
            </a:r>
            <a:endParaRPr sz="950" b="0" dirty="0">
              <a:solidFill>
                <a:srgbClr val="5C6B7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895344" y="550468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점심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95344" y="5833872"/>
            <a:ext cx="137160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s-CL" sz="950" b="0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M</a:t>
            </a:r>
            <a:r>
              <a:rPr sz="950" b="0" dirty="0" err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ediodía</a:t>
            </a:r>
            <a:r>
              <a:rPr lang="es-CL" sz="950" b="0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/almuerzo</a:t>
            </a:r>
            <a:endParaRPr sz="950" b="0" dirty="0">
              <a:solidFill>
                <a:srgbClr val="5C6B7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385816" y="550468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저녁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85816" y="5833872"/>
            <a:ext cx="137160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dirty="0" err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tarde-noche</a:t>
            </a:r>
            <a:r>
              <a:rPr lang="es-CL" sz="950" b="0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/cena</a:t>
            </a:r>
            <a:endParaRPr sz="950" b="0" dirty="0">
              <a:solidFill>
                <a:srgbClr val="5C6B7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876288" y="550468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76288" y="583387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noche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59" y="550468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오전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59" y="583387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a.m.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57232" y="550468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오후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57232" y="583387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p.m.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6053328"/>
            <a:ext cx="10332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Van SIEMPRE delante de la hora:  아침 일곱 시 · 저녁 여섯 시 반 · 오후 세 시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E3A8187-8C02-D4CB-9474-87808CD76AD2}"/>
              </a:ext>
            </a:extLst>
          </p:cNvPr>
          <p:cNvSpPr txBox="1"/>
          <p:nvPr/>
        </p:nvSpPr>
        <p:spPr>
          <a:xfrm>
            <a:off x="7317759" y="4489918"/>
            <a:ext cx="14125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반 </a:t>
            </a:r>
            <a:r>
              <a:rPr lang="es-CL" altLang="ko-KR" dirty="0"/>
              <a:t>mitad</a:t>
            </a:r>
          </a:p>
          <a:p>
            <a:r>
              <a:rPr lang="ko-KR" altLang="es-CL" dirty="0"/>
              <a:t>전 </a:t>
            </a:r>
            <a:r>
              <a:rPr lang="es-CL" altLang="ko-KR" dirty="0"/>
              <a:t>= antes</a:t>
            </a:r>
          </a:p>
          <a:p>
            <a:r>
              <a:rPr lang="ko-KR" altLang="es-CL" dirty="0"/>
              <a:t>후 </a:t>
            </a:r>
            <a:r>
              <a:rPr lang="es-CL" altLang="ko-KR" dirty="0"/>
              <a:t>= después</a:t>
            </a:r>
            <a:endParaRPr lang="es-CL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60E279C-4713-100D-B98D-163CA3A39091}"/>
              </a:ext>
            </a:extLst>
          </p:cNvPr>
          <p:cNvSpPr txBox="1"/>
          <p:nvPr/>
        </p:nvSpPr>
        <p:spPr>
          <a:xfrm>
            <a:off x="2285544" y="6205650"/>
            <a:ext cx="16098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아침 일곱 시 </a:t>
            </a:r>
            <a:endParaRPr lang="es-CL" altLang="ko-KR" dirty="0"/>
          </a:p>
          <a:p>
            <a:r>
              <a:rPr lang="es-CL" dirty="0"/>
              <a:t>Mañana 7 hora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86F79A6-196C-7906-E936-F368DF048ABE}"/>
              </a:ext>
            </a:extLst>
          </p:cNvPr>
          <p:cNvSpPr txBox="1"/>
          <p:nvPr/>
        </p:nvSpPr>
        <p:spPr>
          <a:xfrm>
            <a:off x="4410372" y="4821674"/>
            <a:ext cx="28329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s-CL" dirty="0"/>
              <a:t>저녁 여섯 시 반</a:t>
            </a:r>
            <a:endParaRPr lang="es-CL" altLang="ko-KR" dirty="0"/>
          </a:p>
          <a:p>
            <a:pPr algn="ctr"/>
            <a:r>
              <a:rPr lang="es-CL" altLang="ko-KR" dirty="0"/>
              <a:t>Tarde-noche seis hora mitad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98ACCC-463A-5A35-0178-26C3C8B66DC9}"/>
              </a:ext>
            </a:extLst>
          </p:cNvPr>
          <p:cNvSpPr txBox="1"/>
          <p:nvPr/>
        </p:nvSpPr>
        <p:spPr>
          <a:xfrm>
            <a:off x="8673600" y="4638901"/>
            <a:ext cx="29209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오전 </a:t>
            </a:r>
            <a:r>
              <a:rPr lang="es-CL" altLang="ko-KR" dirty="0"/>
              <a:t>= antes de medio </a:t>
            </a:r>
            <a:r>
              <a:rPr lang="es-CL" altLang="ko-KR" dirty="0" err="1"/>
              <a:t>dia</a:t>
            </a:r>
            <a:endParaRPr lang="es-CL" altLang="ko-KR" dirty="0"/>
          </a:p>
          <a:p>
            <a:r>
              <a:rPr lang="ko-KR" altLang="es-CL" dirty="0"/>
              <a:t>오후 </a:t>
            </a:r>
            <a:r>
              <a:rPr lang="es-CL" altLang="ko-KR" dirty="0"/>
              <a:t>= </a:t>
            </a:r>
            <a:r>
              <a:rPr lang="es-CL" altLang="ko-KR" dirty="0" err="1"/>
              <a:t>despues</a:t>
            </a:r>
            <a:r>
              <a:rPr lang="es-CL" altLang="ko-KR" dirty="0"/>
              <a:t> de medio </a:t>
            </a:r>
            <a:r>
              <a:rPr lang="es-CL" altLang="ko-KR" dirty="0" err="1"/>
              <a:t>dia</a:t>
            </a:r>
            <a:endParaRPr lang="es-CL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4B2CDC1-1CED-44EC-B26E-7255856631BC}"/>
              </a:ext>
            </a:extLst>
          </p:cNvPr>
          <p:cNvSpPr txBox="1"/>
          <p:nvPr/>
        </p:nvSpPr>
        <p:spPr>
          <a:xfrm>
            <a:off x="9491472" y="6022770"/>
            <a:ext cx="15709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오후 세 시 </a:t>
            </a:r>
            <a:endParaRPr lang="es-CL" altLang="ko-KR" dirty="0"/>
          </a:p>
          <a:p>
            <a:r>
              <a:rPr lang="es-CL" altLang="ko-KR" dirty="0"/>
              <a:t>P.M. tres horas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숫자, 날짜, 시간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숫자 · Numbers, Dates &amp;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Grammar Patterns · Patrones Gramaticales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10881360" cy="13716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수 + 단위 명사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24328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number + counter noun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número + contador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2221992"/>
            <a:ext cx="10972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2221992"/>
            <a:ext cx="69037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00" b="0" dirty="0" err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커피</a:t>
            </a:r>
            <a:r>
              <a:rPr sz="1300" b="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 두 잔 </a:t>
            </a:r>
            <a:r>
              <a:rPr sz="1300" b="0" dirty="0" err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주세요</a:t>
            </a:r>
            <a:r>
              <a:rPr sz="1300" b="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.</a:t>
            </a:r>
            <a:endParaRPr lang="es-CL" sz="1300" b="0" dirty="0">
              <a:solidFill>
                <a:srgbClr val="1D3557"/>
              </a:solidFill>
              <a:latin typeface="Calibri"/>
              <a:ea typeface="Calibri"/>
              <a:cs typeface="Calibri"/>
            </a:endParaRPr>
          </a:p>
          <a:p>
            <a:pPr algn="l">
              <a:spcAft>
                <a:spcPts val="0"/>
              </a:spcAft>
            </a:pPr>
            <a:r>
              <a:rPr lang="en-US" sz="130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Café dos </a:t>
            </a:r>
            <a:r>
              <a:rPr lang="en-US" sz="1300" dirty="0" err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tazas</a:t>
            </a:r>
            <a:r>
              <a:rPr lang="en-US" sz="130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 dame </a:t>
            </a:r>
            <a:endParaRPr sz="1300" b="0" dirty="0">
              <a:solidFill>
                <a:srgbClr val="1D355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34840" y="2770632"/>
            <a:ext cx="69037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00" b="0" dirty="0" err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학생이</a:t>
            </a:r>
            <a:r>
              <a:rPr sz="1300" b="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 세 명 </a:t>
            </a:r>
            <a:r>
              <a:rPr sz="1300" b="0" dirty="0" err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있어요</a:t>
            </a:r>
            <a:r>
              <a:rPr sz="1300" b="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.</a:t>
            </a:r>
            <a:endParaRPr lang="es-CL" sz="1300" b="0" dirty="0">
              <a:solidFill>
                <a:srgbClr val="1D3557"/>
              </a:solidFill>
              <a:latin typeface="Calibri"/>
              <a:ea typeface="Calibri"/>
              <a:cs typeface="Calibri"/>
            </a:endParaRPr>
          </a:p>
          <a:p>
            <a:pPr algn="l">
              <a:spcAft>
                <a:spcPts val="0"/>
              </a:spcAft>
            </a:pPr>
            <a:r>
              <a:rPr lang="en-US" sz="1300" b="0" dirty="0" err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Estudiate</a:t>
            </a:r>
            <a:r>
              <a:rPr lang="en-US" sz="1300" b="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(PS) </a:t>
            </a:r>
            <a:r>
              <a:rPr lang="en-US" sz="1300" b="0" dirty="0" err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tres</a:t>
            </a:r>
            <a:r>
              <a:rPr lang="en-US" sz="1300" b="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 personas </a:t>
            </a:r>
            <a:r>
              <a:rPr lang="en-US" sz="1300" b="0" dirty="0" err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haber</a:t>
            </a:r>
            <a:r>
              <a:rPr lang="en-US" sz="1300" b="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300" b="0" dirty="0" err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estar</a:t>
            </a:r>
            <a:r>
              <a:rPr lang="en-US" sz="1300" b="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300" b="0" dirty="0" err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tener</a:t>
            </a:r>
            <a:endParaRPr sz="1300" b="0" dirty="0">
              <a:solidFill>
                <a:srgbClr val="1D355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19600" y="3216463"/>
            <a:ext cx="6903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El número va DESPUÉS del sustantivo: 커피 두 잔, no 두 잔 커피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93591"/>
            <a:ext cx="10881360" cy="13716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685031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몇 + 단위 명사?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6052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how many …?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¿cuántos/as …?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3758183"/>
            <a:ext cx="10972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34840" y="3758183"/>
            <a:ext cx="69037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00" b="0" dirty="0" err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사람이</a:t>
            </a:r>
            <a:r>
              <a:rPr sz="1300" b="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 몇 </a:t>
            </a:r>
            <a:r>
              <a:rPr sz="1300" b="0" dirty="0" err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명이에요</a:t>
            </a:r>
            <a:r>
              <a:rPr sz="1300" b="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?</a:t>
            </a:r>
            <a:endParaRPr lang="es-CL" sz="1300" b="0" dirty="0">
              <a:solidFill>
                <a:srgbClr val="1D3557"/>
              </a:solidFill>
              <a:latin typeface="Calibri"/>
              <a:ea typeface="Calibri"/>
              <a:cs typeface="Calibri"/>
            </a:endParaRPr>
          </a:p>
          <a:p>
            <a:pPr algn="l">
              <a:spcAft>
                <a:spcPts val="0"/>
              </a:spcAft>
            </a:pPr>
            <a:r>
              <a:rPr lang="en-US" sz="130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Person(PS) </a:t>
            </a:r>
            <a:r>
              <a:rPr lang="en-US" sz="1300" dirty="0" err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cuanto</a:t>
            </a:r>
            <a:r>
              <a:rPr lang="en-US" sz="130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 personas ser</a:t>
            </a:r>
            <a:endParaRPr sz="1300" b="0" dirty="0">
              <a:solidFill>
                <a:srgbClr val="1D355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434840" y="4306824"/>
            <a:ext cx="69037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몇 </a:t>
            </a:r>
            <a:r>
              <a:rPr sz="1300" b="0" dirty="0" err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시예요</a:t>
            </a:r>
            <a:r>
              <a:rPr sz="1300" b="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?</a:t>
            </a:r>
            <a:endParaRPr lang="es-CL" sz="1300" b="0" dirty="0">
              <a:solidFill>
                <a:srgbClr val="1D3557"/>
              </a:solidFill>
              <a:latin typeface="Calibri"/>
              <a:ea typeface="Calibri"/>
              <a:cs typeface="Calibri"/>
            </a:endParaRPr>
          </a:p>
          <a:p>
            <a:pPr algn="l">
              <a:spcAft>
                <a:spcPts val="0"/>
              </a:spcAft>
            </a:pPr>
            <a:r>
              <a:rPr lang="en-US" sz="1300" dirty="0" err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Que</a:t>
            </a:r>
            <a:r>
              <a:rPr lang="en-US" sz="130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 hora es?</a:t>
            </a:r>
            <a:endParaRPr sz="1300" b="0" dirty="0">
              <a:solidFill>
                <a:srgbClr val="1D355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34840" y="4718304"/>
            <a:ext cx="6903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몇 se </a:t>
            </a:r>
            <a:r>
              <a:rPr sz="850" b="0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usa</a:t>
            </a:r>
            <a:r>
              <a:rPr sz="850" b="0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 con </a:t>
            </a:r>
            <a:r>
              <a:rPr sz="850" b="0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contadores</a:t>
            </a:r>
            <a:r>
              <a:rPr sz="850" b="0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 para </a:t>
            </a:r>
            <a:r>
              <a:rPr sz="850" b="0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preguntar</a:t>
            </a:r>
            <a:r>
              <a:rPr sz="850" b="0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850" b="0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cantidad</a:t>
            </a:r>
            <a:endParaRPr sz="850" b="0" dirty="0">
              <a:solidFill>
                <a:srgbClr val="6D2E4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40080" y="5129783"/>
            <a:ext cx="10881360" cy="13716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221223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N에 (tiempo)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696712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at (a time)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a las / en (hora o fecha)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5294375"/>
            <a:ext cx="10972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34840" y="5294375"/>
            <a:ext cx="69037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00" b="0" dirty="0" err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일곱</a:t>
            </a:r>
            <a:r>
              <a:rPr sz="1300" b="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00" b="0" dirty="0" err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시에</a:t>
            </a:r>
            <a:r>
              <a:rPr sz="1300" b="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00" b="0" dirty="0" err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일어나요</a:t>
            </a:r>
            <a:r>
              <a:rPr sz="1300" b="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.</a:t>
            </a:r>
            <a:endParaRPr lang="es-CL" sz="1300" dirty="0">
              <a:solidFill>
                <a:srgbClr val="1D3557"/>
              </a:solidFill>
              <a:latin typeface="Calibri"/>
              <a:ea typeface="Calibri"/>
              <a:cs typeface="Calibri"/>
            </a:endParaRPr>
          </a:p>
          <a:p>
            <a:pPr algn="l">
              <a:spcAft>
                <a:spcPts val="0"/>
              </a:spcAft>
            </a:pPr>
            <a:r>
              <a:rPr lang="es-CL" sz="1300" b="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Siete hora(a, en) levant</a:t>
            </a:r>
            <a:r>
              <a:rPr lang="es-CL" sz="130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arse</a:t>
            </a:r>
            <a:endParaRPr sz="1300" b="0" dirty="0">
              <a:solidFill>
                <a:srgbClr val="1D355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434840" y="5843016"/>
            <a:ext cx="69037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300" b="0" dirty="0" err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토요일에</a:t>
            </a:r>
            <a:r>
              <a:rPr sz="1300" b="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00" b="0" dirty="0" err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만나요</a:t>
            </a:r>
            <a:r>
              <a:rPr sz="1300" b="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.</a:t>
            </a:r>
            <a:endParaRPr lang="es-CL" sz="1300" b="0" dirty="0">
              <a:solidFill>
                <a:srgbClr val="1D3557"/>
              </a:solidFill>
              <a:latin typeface="Calibri"/>
              <a:ea typeface="Calibri"/>
              <a:cs typeface="Calibri"/>
            </a:endParaRPr>
          </a:p>
          <a:p>
            <a:pPr algn="l">
              <a:spcAft>
                <a:spcPts val="0"/>
              </a:spcAft>
            </a:pPr>
            <a:r>
              <a:rPr lang="en-US" sz="130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Sabado(a, </a:t>
            </a:r>
            <a:r>
              <a:rPr lang="en-US" sz="1300" dirty="0" err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300" dirty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) </a:t>
            </a:r>
            <a:r>
              <a:rPr lang="en-US" sz="1300" dirty="0" err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encontrarse</a:t>
            </a:r>
            <a:endParaRPr sz="1300" b="0" dirty="0">
              <a:solidFill>
                <a:srgbClr val="1D355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462272" y="6256019"/>
            <a:ext cx="6903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La </a:t>
            </a:r>
            <a:r>
              <a:rPr sz="850" b="0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partícula</a:t>
            </a:r>
            <a:r>
              <a:rPr sz="850" b="0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 에 </a:t>
            </a:r>
            <a:r>
              <a:rPr sz="850" b="0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marca</a:t>
            </a:r>
            <a:r>
              <a:rPr sz="850" b="0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850" b="0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cuándo</a:t>
            </a:r>
            <a:r>
              <a:rPr sz="850" b="0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850" b="0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ocurre</a:t>
            </a:r>
            <a:r>
              <a:rPr sz="850" b="0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 algo. Nunca con </a:t>
            </a:r>
            <a:r>
              <a:rPr sz="850" b="0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오늘</a:t>
            </a:r>
            <a:r>
              <a:rPr sz="850" b="0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/</a:t>
            </a:r>
            <a:r>
              <a:rPr sz="850" b="0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내일</a:t>
            </a:r>
            <a:r>
              <a:rPr sz="850" b="0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/</a:t>
            </a:r>
            <a:r>
              <a:rPr sz="850" b="0" dirty="0" err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어제</a:t>
            </a:r>
            <a:r>
              <a:rPr sz="850" b="0" dirty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819CBC-DDA1-DD74-B896-A1D354170D2B}"/>
              </a:ext>
            </a:extLst>
          </p:cNvPr>
          <p:cNvSpPr txBox="1"/>
          <p:nvPr/>
        </p:nvSpPr>
        <p:spPr>
          <a:xfrm>
            <a:off x="2653676" y="2349930"/>
            <a:ext cx="109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두 개</a:t>
            </a:r>
            <a:endParaRPr lang="es-CL" altLang="ko-KR" dirty="0"/>
          </a:p>
          <a:p>
            <a:r>
              <a:rPr lang="es-CL" dirty="0"/>
              <a:t>Dos cosas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7D642E-7B2C-8B32-ADFA-658AECE54E9D}"/>
              </a:ext>
            </a:extLst>
          </p:cNvPr>
          <p:cNvSpPr txBox="1"/>
          <p:nvPr/>
        </p:nvSpPr>
        <p:spPr>
          <a:xfrm>
            <a:off x="2588493" y="5366356"/>
            <a:ext cx="14531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에</a:t>
            </a:r>
            <a:r>
              <a:rPr lang="es-CL" altLang="ko-KR" dirty="0"/>
              <a:t> = a, en</a:t>
            </a:r>
          </a:p>
          <a:p>
            <a:r>
              <a:rPr lang="es-CL" dirty="0"/>
              <a:t>Tiempo/lugar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-2103120"/>
            <a:ext cx="5486400" cy="5486400"/>
          </a:xfrm>
          <a:prstGeom prst="ellipse">
            <a:avLst/>
          </a:prstGeom>
          <a:solidFill>
            <a:srgbClr val="14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424160" y="411480"/>
            <a:ext cx="914400" cy="9144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회화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Conversation Questions · Preguntas de Conversación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62763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609344"/>
            <a:ext cx="44165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생일이 언제예요? 몇 월 며칠이에요?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212848"/>
            <a:ext cx="44165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When is your birthday?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542032"/>
            <a:ext cx="44165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¿Cuándo es tu cumpleaños?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463040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46520" y="1627632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62763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8" y="1609344"/>
            <a:ext cx="44165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보통 몇 시에 일어나요?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2008" y="2212848"/>
            <a:ext cx="44165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What time do you usually wake up?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2008" y="2542032"/>
            <a:ext cx="44165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¿A qué hora te levantas normalmente?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090672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22959" y="3255264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325526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236976"/>
            <a:ext cx="44165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커피를 하루에 몇 잔 마셔요?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840480"/>
            <a:ext cx="44165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How many cups of coffee a day?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4169663"/>
            <a:ext cx="44165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¿Cuántas tazas de café tomas al día?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090672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446520" y="3255264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325526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8" y="3236976"/>
            <a:ext cx="44165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가족이 몇 명이에요?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2008" y="3840480"/>
            <a:ext cx="44165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How many people in your family?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8" y="4169663"/>
            <a:ext cx="44165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¿Cuántas personas hay en tu familia?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718304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22959" y="4882896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59" y="488289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4864608"/>
            <a:ext cx="44165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오늘이 며칠이에요? 무슨 요일이에요?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8448" y="5468112"/>
            <a:ext cx="44165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What's today's date and day?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98448" y="5797296"/>
            <a:ext cx="44165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¿Qué fecha y qué día es hoy?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4718304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446520" y="4882896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46520" y="488289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22008" y="4864608"/>
            <a:ext cx="44165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한국에 가면 몇 시에 저녁을 먹고 싶어요?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22008" y="5468112"/>
            <a:ext cx="44165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In Korea, what time would you have dinner?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22008" y="5797296"/>
            <a:ext cx="44165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En Corea, ¿a qué hora cenarías?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828800" y="-2286000"/>
            <a:ext cx="5943600" cy="5943600"/>
          </a:xfrm>
          <a:prstGeom prst="ellipse">
            <a:avLst/>
          </a:prstGeom>
          <a:solidFill>
            <a:srgbClr val="14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3840480"/>
            <a:ext cx="4114800" cy="41148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수고하셨습니다!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Great work today!  ·  ¡Buen trabajo hoy!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931920"/>
            <a:ext cx="2011680" cy="1270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과제: 자기소개에 나이, 생일, 전화번호, 일어나는 시간을 넣어서 말해 보세요.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9884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Tarea: preséntate incluyendo tu edad, cumpleaños, teléfono y a qué hora te levantas.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436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ACADEMIA SEÚL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093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academiaseul.com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2098</Words>
  <Application>Microsoft Office PowerPoint</Application>
  <PresentationFormat>Widescreen</PresentationFormat>
  <Paragraphs>538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Chingu</dc:creator>
  <cp:keywords/>
  <dc:description>generated using python-pptx</dc:description>
  <cp:lastModifiedBy>Jae Hee Kim</cp:lastModifiedBy>
  <cp:revision>140</cp:revision>
  <dcterms:created xsi:type="dcterms:W3CDTF">2013-01-27T09:14:16Z</dcterms:created>
  <dcterms:modified xsi:type="dcterms:W3CDTF">2026-08-29T16:30:50Z</dcterms:modified>
  <cp:category/>
</cp:coreProperties>
</file>