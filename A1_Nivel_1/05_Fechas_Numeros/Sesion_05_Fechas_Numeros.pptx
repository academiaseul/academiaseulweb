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7" d="100"/>
          <a:sy n="67" d="100"/>
        </p:scale>
        <p:origin x="78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947213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32120" y="365760"/>
            <a:ext cx="1097280" cy="109728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60020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CAPÍTULO 5</a:t>
            </a:r>
            <a:endParaRPr lang="en-US" sz="1400" dirty="0"/>
          </a:p>
        </p:txBody>
      </p:sp>
      <p:sp>
        <p:nvSpPr>
          <p:cNvPr id="4" name="Text 1"/>
          <p:cNvSpPr/>
          <p:nvPr/>
        </p:nvSpPr>
        <p:spPr>
          <a:xfrm>
            <a:off x="0" y="2194560"/>
            <a:ext cx="121615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날짜와 요일</a:t>
            </a:r>
            <a:endParaRPr lang="en-US" sz="9000" dirty="0"/>
          </a:p>
        </p:txBody>
      </p:sp>
      <p:sp>
        <p:nvSpPr>
          <p:cNvPr id="5" name="Text 2"/>
          <p:cNvSpPr/>
          <p:nvPr/>
        </p:nvSpPr>
        <p:spPr>
          <a:xfrm>
            <a:off x="0" y="365760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Fechas, Días y Números</a:t>
            </a:r>
            <a:endParaRPr lang="en-US" sz="3000" dirty="0"/>
          </a:p>
        </p:txBody>
      </p:sp>
      <p:sp>
        <p:nvSpPr>
          <p:cNvPr id="6" name="Text 3"/>
          <p:cNvSpPr/>
          <p:nvPr/>
        </p:nvSpPr>
        <p:spPr>
          <a:xfrm>
            <a:off x="914400" y="4434840"/>
            <a:ext cx="10332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el primer sistema de números coreano y decir fechas</a:t>
            </a:r>
            <a:endParaRPr lang="en-US" sz="1300" dirty="0"/>
          </a:p>
        </p:txBody>
      </p:sp>
      <p:pic>
        <p:nvPicPr>
          <p:cNvPr id="7" name="Image 1" descr="/sessions/sleepy-zen-cray/mnt/outputs/deck_assets/sello_linea_v1_0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72800" y="585216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0" y="626364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kern="0" spc="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Profesora · Jay Kim · 김재희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BIENVENIDA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aprendemos a contar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0972800" cy="4114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números abren mil puertas: dinero, hora, edad, dirección, teléfono.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coreano hay DOS sistemas de números: el SINO-COREANO (de origen chino) y el COREANO PURO. Hoy aprendemos el primero — el sino-coreano — que es el más útil para empezar.</a:t>
            </a: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endParaRPr lang="en-US" sz="16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del día: decir tu cumpleaños, el día y la fecha de hoy.</a:t>
            </a:r>
            <a:endParaRPr lang="en-US" sz="1600" dirty="0"/>
          </a:p>
        </p:txBody>
      </p:sp>
      <p:pic>
        <p:nvPicPr>
          <p:cNvPr id="5" name="Image 0" descr="/sessions/sleepy-zen-cray/mnt/outputs/deck_assets/sello_relleno_v1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247120" y="274320"/>
            <a:ext cx="502920" cy="502920"/>
          </a:xfrm>
          <a:prstGeom prst="rect">
            <a:avLst/>
          </a:prstGeom>
        </p:spPr>
      </p:pic>
      <p:pic>
        <p:nvPicPr>
          <p:cNvPr id="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8" name="Text 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§5.1 · NÚMEROS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sino-coreano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usa para: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Fechas (1월 2일 = 2 de enero)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Dinero (1.000원)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Números de teléfono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Direcciones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Minutos (3시 30분 = 3:30)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derivado del chino antiguo. Es el sistema más usado en contextos formales y modernos.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이 삼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il-i-sam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(números sino-coreanos)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§5.2 · NÚMEROS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1-10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(il)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(i)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(sam)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(sa)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(o)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육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(yuk)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칠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(chil)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팔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(pal)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(gu)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십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(sip)</a:t>
            </a:r>
            <a:endParaRPr lang="en-US" sz="1200" dirty="0"/>
          </a:p>
        </p:txBody>
      </p:sp>
      <p:pic>
        <p:nvPicPr>
          <p:cNvPr id="34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5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6" name="Text 32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7" name="Text 33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§5.3 · COMBINAR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Números 11-100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super lógico: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11 = 십일 (10+1)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20 = 이십 (2×10)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25 = 이십오 (2×10 + 5)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50 = 오십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99 = 구십구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100 = 백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como un Lego: ponés los bloques en el orden correcto.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백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baek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§5.3 · DRILLING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Practicá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5544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Decime estos números en sino-coreano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48640" y="2304288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548640" y="2937510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십오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153912" y="2194560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153912" y="2304288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23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6153912" y="2937510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이십삼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45643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3566160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37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548640" y="4199382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삼십칠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6153912" y="3456432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53912" y="3566160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48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6153912" y="4199382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사십팔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4718304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828032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56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548640" y="5461254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오십육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6153912" y="4718304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153912" y="4828032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69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153912" y="5461254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육십구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548640" y="598017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6089904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80</a:t>
            </a:r>
            <a:endParaRPr lang="en-US" sz="3200" dirty="0"/>
          </a:p>
        </p:txBody>
      </p:sp>
      <p:sp>
        <p:nvSpPr>
          <p:cNvPr id="25" name="Text 23"/>
          <p:cNvSpPr/>
          <p:nvPr/>
        </p:nvSpPr>
        <p:spPr>
          <a:xfrm>
            <a:off x="548640" y="6723126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팔십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6153912" y="5980176"/>
            <a:ext cx="5486400" cy="1143000"/>
          </a:xfrm>
          <a:prstGeom prst="roundRect">
            <a:avLst>
              <a:gd name="adj" fmla="val 8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53912" y="6089904"/>
            <a:ext cx="5486400" cy="62865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99</a:t>
            </a:r>
            <a:endParaRPr lang="en-US" sz="3200" dirty="0"/>
          </a:p>
        </p:txBody>
      </p:sp>
      <p:sp>
        <p:nvSpPr>
          <p:cNvPr id="28" name="Text 26"/>
          <p:cNvSpPr/>
          <p:nvPr/>
        </p:nvSpPr>
        <p:spPr>
          <a:xfrm>
            <a:off x="6153912" y="6723126"/>
            <a:ext cx="5486400" cy="4000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구십구</a:t>
            </a:r>
            <a:endParaRPr lang="en-US" sz="1400" dirty="0"/>
          </a:p>
        </p:txBody>
      </p:sp>
      <p:pic>
        <p:nvPicPr>
          <p:cNvPr id="2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3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31" name="Text 2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32" name="Text 2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§5.4 · MESES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12 meses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1월 (일월)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Enero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2월 (이월)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Febrero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3월 (삼월)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Marzo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4월 (사월)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Abril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(오월)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Mayo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(유월) *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Junio - EXCEPCIÓN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7월 (칠월)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Julio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9134856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134856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(팔월)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134856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548640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9월 (구월)</a:t>
            </a:r>
            <a:endParaRPr lang="en-US" sz="2200" dirty="0"/>
          </a:p>
        </p:txBody>
      </p:sp>
      <p:sp>
        <p:nvSpPr>
          <p:cNvPr id="30" name="Text 28"/>
          <p:cNvSpPr/>
          <p:nvPr/>
        </p:nvSpPr>
        <p:spPr>
          <a:xfrm>
            <a:off x="548640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Septiembre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410712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3410712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(시월) *</a:t>
            </a:r>
            <a:endParaRPr lang="en-US" sz="2200" dirty="0"/>
          </a:p>
        </p:txBody>
      </p:sp>
      <p:sp>
        <p:nvSpPr>
          <p:cNvPr id="33" name="Text 31"/>
          <p:cNvSpPr/>
          <p:nvPr/>
        </p:nvSpPr>
        <p:spPr>
          <a:xfrm>
            <a:off x="3410712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Octubre - EXCEPCIÓN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272784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272784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11월 (십일월)</a:t>
            </a:r>
            <a:endParaRPr lang="en-US" sz="2200" dirty="0"/>
          </a:p>
        </p:txBody>
      </p:sp>
      <p:sp>
        <p:nvSpPr>
          <p:cNvPr id="36" name="Text 34"/>
          <p:cNvSpPr/>
          <p:nvPr/>
        </p:nvSpPr>
        <p:spPr>
          <a:xfrm>
            <a:off x="6272784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Noviembre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9134856" y="466344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9134856" y="480060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 (십이월)</a:t>
            </a:r>
            <a:endParaRPr lang="en-US" sz="2200" dirty="0"/>
          </a:p>
        </p:txBody>
      </p:sp>
      <p:sp>
        <p:nvSpPr>
          <p:cNvPr id="39" name="Text 37"/>
          <p:cNvSpPr/>
          <p:nvPr/>
        </p:nvSpPr>
        <p:spPr>
          <a:xfrm>
            <a:off x="9134856" y="537667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Diciembre</a:t>
            </a:r>
            <a:endParaRPr lang="en-US" sz="1200" dirty="0"/>
          </a:p>
        </p:txBody>
      </p:sp>
      <p:pic>
        <p:nvPicPr>
          <p:cNvPr id="40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41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42" name="Text 38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43" name="Text 39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§5.5 · FECHAS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del mes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días del mes usan números sino-coreanos + 일: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1일 = 일일 (día 1)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15일 = 십오일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30일 = 삼십일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COREANO: MES + DÍA (como en inglés, no como en español).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Ejemplo: 7월 3일 = 3 de julio.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oneul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(hoy)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§5.6 · DÍAS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Días de la semana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월요일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548640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Lunes (luna)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10712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410712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화요일</a:t>
            </a:r>
            <a:endParaRPr lang="en-US" sz="2200" dirty="0"/>
          </a:p>
        </p:txBody>
      </p:sp>
      <p:sp>
        <p:nvSpPr>
          <p:cNvPr id="9" name="Text 7"/>
          <p:cNvSpPr/>
          <p:nvPr/>
        </p:nvSpPr>
        <p:spPr>
          <a:xfrm>
            <a:off x="3410712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Martes (fuego)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72784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272784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수요일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6272784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Miércoles (agua)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134856" y="182880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34856" y="196596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목요일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9134856" y="254203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Jueves (árbol)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48640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48640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금요일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548640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Viernes (oro)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410712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FFE2E2"/>
          </a:solidFill>
          <a:ln w="12700">
            <a:solidFill>
              <a:srgbClr val="FFE2E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410712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토요일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3410712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Sábado (tierra)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272784" y="3246120"/>
            <a:ext cx="2743200" cy="1280160"/>
          </a:xfrm>
          <a:prstGeom prst="roundRect">
            <a:avLst>
              <a:gd name="adj" fmla="val 7143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272784" y="3383280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일요일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6272784" y="3959352"/>
            <a:ext cx="27432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Domingo (sol)</a:t>
            </a:r>
            <a:endParaRPr lang="en-US" sz="1200" dirty="0"/>
          </a:p>
        </p:txBody>
      </p:sp>
      <p:pic>
        <p:nvPicPr>
          <p:cNvPr id="25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6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7" name="Text 23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8" name="Text 24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§5.7 · PREGUNTAR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Preguntar fechas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828800"/>
            <a:ext cx="5486400" cy="4389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 preguntar: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오늘 며칠이에요? (¿Qué día del mes es hoy?)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7월 3일이에요.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오늘 무슨 요일이에요? (¿Qué día de la semana es?)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화요일이에요.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생일이 언제예요? (¿Cuándo es tu cumpleaños?)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→ 제 생일은 5월 6일이에요.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무슨 = qué (para opciones definidas)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며칠 = qué día (del mes)</a:t>
            </a:r>
            <a:endParaRPr lang="en-US" sz="1400" dirty="0"/>
          </a:p>
          <a:p>
            <a:pPr marL="0" indent="0">
              <a:lnSpc>
                <a:spcPct val="140000"/>
              </a:lnSpc>
              <a:buNone/>
            </a:pPr>
            <a:r>
              <a:rPr lang="en-US" sz="14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언제 = cuándo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828800"/>
            <a:ext cx="4846320" cy="4389120"/>
          </a:xfrm>
          <a:prstGeom prst="roundRect">
            <a:avLst>
              <a:gd name="adj" fmla="val 3125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766560" y="2560320"/>
            <a:ext cx="484632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8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며칠?</a:t>
            </a:r>
            <a:endParaRPr lang="en-US" sz="8000" dirty="0"/>
          </a:p>
        </p:txBody>
      </p:sp>
      <p:sp>
        <p:nvSpPr>
          <p:cNvPr id="7" name="Text 5"/>
          <p:cNvSpPr/>
          <p:nvPr/>
        </p:nvSpPr>
        <p:spPr>
          <a:xfrm>
            <a:off x="6766560" y="4297680"/>
            <a:ext cx="48463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myeochil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766560" y="4937760"/>
            <a:ext cx="4846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(¿qué día?)</a:t>
            </a:r>
            <a:endParaRPr lang="en-US" sz="1400" dirty="0"/>
          </a:p>
        </p:txBody>
      </p:sp>
      <p:pic>
        <p:nvPicPr>
          <p:cNvPr id="9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10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12" name="Text 8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§5.8 · LECTURA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Fechas importantes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48640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1월 1일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548640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de enero (Año Nuevo)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25112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325112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12월 25일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4325112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Navidad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01584" y="182880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101584" y="1965960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8월 15일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8101584" y="3200400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Liberación Corea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F5C5C"/>
          </a:solidFill>
          <a:ln w="12700">
            <a:solidFill>
              <a:srgbClr val="FF5C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48640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5월 5일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548640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del niño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25112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E8E5F8"/>
          </a:solidFill>
          <a:ln w="12700">
            <a:solidFill>
              <a:srgbClr val="E8E5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25112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10월 9일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4325112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Día del Hangul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01584" y="4233672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3D2EE8"/>
          </a:solidFill>
          <a:ln w="12700">
            <a:solidFill>
              <a:srgbClr val="3D2EE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101584" y="4370832"/>
            <a:ext cx="365760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6월 6일</a:t>
            </a:r>
            <a:endParaRPr lang="en-US" sz="2600" dirty="0"/>
          </a:p>
        </p:txBody>
      </p:sp>
      <p:sp>
        <p:nvSpPr>
          <p:cNvPr id="21" name="Text 19"/>
          <p:cNvSpPr/>
          <p:nvPr/>
        </p:nvSpPr>
        <p:spPr>
          <a:xfrm>
            <a:off x="8101584" y="5605272"/>
            <a:ext cx="3657600" cy="8001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(tu taller fue!)</a:t>
            </a:r>
            <a:endParaRPr lang="en-US" sz="1200" dirty="0"/>
          </a:p>
        </p:txBody>
      </p:sp>
      <p:pic>
        <p:nvPicPr>
          <p:cNvPr id="22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3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5" name="Text 21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900" b="1" kern="0" spc="600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§5.9 · DIÁLOGO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548640" y="82296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Hablar de cumpleaños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10972800" cy="4572000"/>
          </a:xfrm>
          <a:prstGeom prst="roundRect">
            <a:avLst>
              <a:gd name="adj" fmla="val 3000"/>
            </a:avLst>
          </a:prstGeom>
          <a:solidFill>
            <a:srgbClr val="E8E5F8"/>
          </a:solidFill>
          <a:ln w="12700">
            <a:solidFill>
              <a:srgbClr val="C7C1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9202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19202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무슨 요일이에요?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463040" y="23317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día es hoy?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822960" y="269748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2697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오늘은 화요일이에요.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463040" y="310896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 martes.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822960" y="347472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34747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마리아 씨, 생일이 언제예요?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463040" y="388620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María, ¿cuándo es tu cumpleaños?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425196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42519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 생일은 5월 6일이에요.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1463040" y="466344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 cumple es el 6 de mayo.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22960" y="502920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D2E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A: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463040" y="50292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와! 저는 5월 12일이에요.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1463040" y="54406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¡Wow! El mío es el 12 de mayo.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806440"/>
            <a:ext cx="548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B: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463040" y="58064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000" dirty="0">
                <a:solidFill>
                  <a:srgbClr val="1A1A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달! 신기해요.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463040" y="621792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¡Mismo mes! Qué increíble.</a:t>
            </a:r>
            <a:endParaRPr lang="en-US" sz="1100" dirty="0"/>
          </a:p>
        </p:txBody>
      </p:sp>
      <p:pic>
        <p:nvPicPr>
          <p:cNvPr id="23" name="Image 0" descr="/sessions/sleepy-zen-cray/mnt/outputs/deck_assets/logo_var2_azu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338560" y="228600"/>
            <a:ext cx="594360" cy="594360"/>
          </a:xfrm>
          <a:prstGeom prst="rect">
            <a:avLst/>
          </a:prstGeom>
        </p:spPr>
      </p:pic>
      <p:pic>
        <p:nvPicPr>
          <p:cNvPr id="24" name="Image 1" descr="/sessions/sleepy-zen-cray/mnt/outputs/deck_assets/sello_linea_v1_0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5760" y="6355080"/>
            <a:ext cx="411480" cy="41148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9144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 ·  MÉTODO CHINGU™</a:t>
            </a:r>
            <a:endParaRPr lang="en-US" sz="800" dirty="0"/>
          </a:p>
        </p:txBody>
      </p:sp>
      <p:sp>
        <p:nvSpPr>
          <p:cNvPr id="26" name="Text 22"/>
          <p:cNvSpPr/>
          <p:nvPr/>
        </p:nvSpPr>
        <p:spPr>
          <a:xfrm>
            <a:off x="7315200" y="6492240"/>
            <a:ext cx="4572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r">
              <a:buNone/>
            </a:pPr>
            <a:r>
              <a:rPr lang="en-US" sz="800" b="1" dirty="0">
                <a:solidFill>
                  <a:srgbClr val="6B6B7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 05  ·  NALJJA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5C5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74320"/>
            <a:ext cx="914400" cy="9144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0" y="13258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</a:t>
            </a:r>
            <a:endParaRPr lang="en-US" sz="1000" dirty="0"/>
          </a:p>
        </p:txBody>
      </p:sp>
      <p:sp>
        <p:nvSpPr>
          <p:cNvPr id="4" name="Text 1"/>
          <p:cNvSpPr/>
          <p:nvPr/>
        </p:nvSpPr>
        <p:spPr>
          <a:xfrm>
            <a:off x="0" y="1691640"/>
            <a:ext cx="12161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que aprendiste hoy</a:t>
            </a:r>
            <a:endParaRPr lang="en-US" sz="3000" dirty="0"/>
          </a:p>
        </p:txBody>
      </p:sp>
      <p:sp>
        <p:nvSpPr>
          <p:cNvPr id="5" name="Shape 2"/>
          <p:cNvSpPr/>
          <p:nvPr/>
        </p:nvSpPr>
        <p:spPr>
          <a:xfrm>
            <a:off x="1371600" y="2606040"/>
            <a:ext cx="9418320" cy="24688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645920" y="2788920"/>
            <a:ext cx="8869680" cy="21031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Números sino-coreanos 1-100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12 meses (con excepciones 6월/10월)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7 días de la semana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Decir fecha completa (mes + día)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Preguntar cumpleaños y día actual</a:t>
            </a:r>
            <a:endParaRPr lang="en-US" sz="1500" dirty="0"/>
          </a:p>
          <a:p>
            <a:pPr marL="0" indent="0">
              <a:lnSpc>
                <a:spcPct val="150000"/>
              </a:lnSpc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Vocabulario: 오늘, 내일, 어제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0" y="5349240"/>
            <a:ext cx="12161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📝 TAREA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914400" y="5715000"/>
            <a:ext cx="1033272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Audio 1 min: tu cumple + el día de hoy + 3 fechas importantes para vos. Subir al Discord.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3D2EE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6152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화이팅!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0" y="4023360"/>
            <a:ext cx="12161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 vemos en la próxima sesión</a:t>
            </a:r>
            <a:endParaRPr lang="en-US" sz="1800" dirty="0"/>
          </a:p>
        </p:txBody>
      </p:sp>
      <p:pic>
        <p:nvPicPr>
          <p:cNvPr id="4" name="Image 0" descr="/sessions/sleepy-zen-cray/mnt/outputs/deck_assets/logo_principal_blanc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4960" y="484632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0" y="6355080"/>
            <a:ext cx="1216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b="1" kern="0" spc="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ACADEMIA SEÚL · 김재희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</TotalTime>
  <Words>954</Words>
  <Application>Microsoft Office PowerPoint</Application>
  <PresentationFormat>Widescreen</PresentationFormat>
  <Paragraphs>239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8" baseType="lpstr">
      <vt:lpstr>Malgun Gothic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Academia Seúl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Academia Seúl · A1 · Sesión 5</dc:title>
  <dc:subject>PptxGenJS Presentation</dc:subject>
  <dc:creator>김재희 (Jay Kim)</dc:creator>
  <cp:lastModifiedBy>Jae Hee Kim</cp:lastModifiedBy>
  <cp:revision>2</cp:revision>
  <dcterms:created xsi:type="dcterms:W3CDTF">2026-06-02T07:35:58Z</dcterms:created>
  <dcterms:modified xsi:type="dcterms:W3CDTF">2026-06-07T23:29:07Z</dcterms:modified>
</cp:coreProperties>
</file>