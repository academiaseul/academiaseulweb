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80" r:id="rId3"/>
    <p:sldId id="281" r:id="rId4"/>
    <p:sldId id="282" r:id="rId5"/>
    <p:sldId id="283" r:id="rId6"/>
    <p:sldId id="257" r:id="rId7"/>
    <p:sldId id="258" r:id="rId8"/>
    <p:sldId id="284" r:id="rId9"/>
    <p:sldId id="285" r:id="rId10"/>
    <p:sldId id="259" r:id="rId11"/>
    <p:sldId id="260" r:id="rId12"/>
    <p:sldId id="261" r:id="rId13"/>
    <p:sldId id="262" r:id="rId14"/>
    <p:sldId id="287" r:id="rId15"/>
    <p:sldId id="288" r:id="rId16"/>
    <p:sldId id="289" r:id="rId17"/>
    <p:sldId id="263" r:id="rId18"/>
    <p:sldId id="264" r:id="rId19"/>
    <p:sldId id="265" r:id="rId20"/>
    <p:sldId id="268" r:id="rId21"/>
    <p:sldId id="269" r:id="rId22"/>
    <p:sldId id="290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91" r:id="rId31"/>
    <p:sldId id="277" r:id="rId32"/>
    <p:sldId id="278" r:id="rId33"/>
    <p:sldId id="279" r:id="rId34"/>
    <p:sldId id="266" r:id="rId35"/>
    <p:sldId id="286" r:id="rId36"/>
    <p:sldId id="267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77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5383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657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002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0" y="2194560"/>
            <a:ext cx="1216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일과</a:t>
            </a:r>
            <a:endParaRPr lang="en-US" sz="9000" dirty="0"/>
          </a:p>
        </p:txBody>
      </p:sp>
      <p:sp>
        <p:nvSpPr>
          <p:cNvPr id="5" name="Text 2"/>
          <p:cNvSpPr/>
          <p:nvPr/>
        </p:nvSpPr>
        <p:spPr>
          <a:xfrm>
            <a:off x="0" y="365760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 Diaria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14400" y="44348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tu día desde la mañana hasta la noche</a:t>
            </a:r>
            <a:endParaRPr lang="en-US" sz="1300" dirty="0"/>
          </a:p>
        </p:txBody>
      </p:sp>
      <p:pic>
        <p:nvPicPr>
          <p:cNvPr id="7" name="Image 1" descr="/sessions/sleepy-zen-cray/mnt/outputs/deck_assets/sello_linea_v1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5852160"/>
            <a:ext cx="822960" cy="8229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0" y="626364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</a:t>
            </a:r>
            <a:r>
              <a:rPr lang="en-US" sz="1000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Jay Kim · 김재희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85A370-D06D-E7D1-60DF-9548731180A0}"/>
              </a:ext>
            </a:extLst>
          </p:cNvPr>
          <p:cNvSpPr txBox="1"/>
          <p:nvPr/>
        </p:nvSpPr>
        <p:spPr>
          <a:xfrm>
            <a:off x="2715491" y="960582"/>
            <a:ext cx="6476901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sz="5000" dirty="0"/>
              <a:t>후고는 뭐 해요</a:t>
            </a:r>
            <a:r>
              <a:rPr lang="es-CL" altLang="ko-KR" sz="5000" dirty="0"/>
              <a:t>?</a:t>
            </a:r>
            <a:br>
              <a:rPr lang="es-CL" altLang="ko-KR" sz="5000" dirty="0"/>
            </a:br>
            <a:r>
              <a:rPr lang="ko-KR" altLang="es-CL" sz="5000" dirty="0"/>
              <a:t>후고는 뭘 먹어요</a:t>
            </a:r>
            <a:r>
              <a:rPr lang="es-CL" altLang="ko-KR" sz="5000" dirty="0"/>
              <a:t>?</a:t>
            </a:r>
          </a:p>
          <a:p>
            <a:r>
              <a:rPr lang="es-CL" sz="5000" dirty="0"/>
              <a:t>Hugo</a:t>
            </a:r>
            <a:r>
              <a:rPr lang="ko-KR" altLang="es-CL" sz="5000" dirty="0"/>
              <a:t>는 </a:t>
            </a:r>
            <a:r>
              <a:rPr lang="ko-KR" altLang="es-CL" sz="5000" dirty="0">
                <a:highlight>
                  <a:srgbClr val="FFFF00"/>
                </a:highlight>
              </a:rPr>
              <a:t>사과</a:t>
            </a:r>
            <a:r>
              <a:rPr lang="ko-KR" altLang="es-CL" sz="5000" dirty="0"/>
              <a:t>를 먹어요</a:t>
            </a:r>
            <a:endParaRPr lang="es-CL" altLang="ko-KR" sz="5000" dirty="0"/>
          </a:p>
          <a:p>
            <a:endParaRPr lang="es-CL" altLang="ko-KR" sz="5000" dirty="0"/>
          </a:p>
          <a:p>
            <a:r>
              <a:rPr lang="ko-KR" altLang="es-CL" sz="5000" dirty="0"/>
              <a:t>누가 사과를 먹어요</a:t>
            </a:r>
            <a:r>
              <a:rPr lang="es-CL" altLang="ko-KR" sz="5000" dirty="0"/>
              <a:t>?</a:t>
            </a:r>
          </a:p>
          <a:p>
            <a:r>
              <a:rPr lang="es-CL" sz="5000" dirty="0">
                <a:highlight>
                  <a:srgbClr val="FFFF00"/>
                </a:highlight>
              </a:rPr>
              <a:t>Hugo</a:t>
            </a:r>
            <a:r>
              <a:rPr lang="es-CL" sz="5000" dirty="0"/>
              <a:t> </a:t>
            </a:r>
            <a:r>
              <a:rPr lang="ko-KR" altLang="es-CL" sz="5000" dirty="0"/>
              <a:t>가 사과를 먹어요</a:t>
            </a:r>
            <a:endParaRPr lang="es-CL" sz="5000" dirty="0"/>
          </a:p>
        </p:txBody>
      </p:sp>
    </p:spTree>
    <p:extLst>
      <p:ext uri="{BB962C8B-B14F-4D97-AF65-F5344CB8AC3E}">
        <p14:creationId xmlns:p14="http://schemas.microsoft.com/office/powerpoint/2010/main" val="4161364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89DE8-44C7-16E0-F748-2383CDCDC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8C35AB-6A9A-8A4D-4B72-17F9E9E0DA7F}"/>
              </a:ext>
            </a:extLst>
          </p:cNvPr>
          <p:cNvSpPr txBox="1"/>
          <p:nvPr/>
        </p:nvSpPr>
        <p:spPr>
          <a:xfrm>
            <a:off x="1062182" y="424873"/>
            <a:ext cx="8175893" cy="62478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altLang="ko-KR" sz="5000" dirty="0" err="1"/>
              <a:t>Particula</a:t>
            </a:r>
            <a:r>
              <a:rPr lang="es-CL" altLang="ko-KR" sz="5000" dirty="0"/>
              <a:t> Tema</a:t>
            </a:r>
          </a:p>
          <a:p>
            <a:r>
              <a:rPr lang="ko-KR" altLang="es-CL" sz="5000" dirty="0"/>
              <a:t>주비</a:t>
            </a:r>
            <a:r>
              <a:rPr lang="ko-KR" altLang="es-CL" sz="5000" dirty="0">
                <a:highlight>
                  <a:srgbClr val="FFFF00"/>
                </a:highlight>
              </a:rPr>
              <a:t>는</a:t>
            </a:r>
            <a:r>
              <a:rPr lang="ko-KR" altLang="es-CL" sz="5000" dirty="0"/>
              <a:t> </a:t>
            </a:r>
            <a:r>
              <a:rPr lang="ko-KR" altLang="es-CL" sz="5000" dirty="0">
                <a:highlight>
                  <a:srgbClr val="00FFFF"/>
                </a:highlight>
              </a:rPr>
              <a:t>사과</a:t>
            </a:r>
            <a:r>
              <a:rPr lang="ko-KR" altLang="es-CL" sz="5000" dirty="0">
                <a:highlight>
                  <a:srgbClr val="FFFF00"/>
                </a:highlight>
              </a:rPr>
              <a:t>를</a:t>
            </a:r>
            <a:r>
              <a:rPr lang="ko-KR" altLang="es-CL" sz="5000" dirty="0"/>
              <a:t> 먹어요</a:t>
            </a:r>
            <a:endParaRPr lang="es-CL" altLang="ko-KR" sz="5000" dirty="0"/>
          </a:p>
          <a:p>
            <a:r>
              <a:rPr lang="es-CL" sz="5000" dirty="0"/>
              <a:t>Sujeto(P/T) </a:t>
            </a:r>
            <a:r>
              <a:rPr lang="es-CL" sz="5000" dirty="0">
                <a:highlight>
                  <a:srgbClr val="00FFFF"/>
                </a:highlight>
              </a:rPr>
              <a:t>Tema</a:t>
            </a:r>
            <a:r>
              <a:rPr lang="es-CL" sz="5000" dirty="0"/>
              <a:t>(P/O) Verbo</a:t>
            </a:r>
          </a:p>
          <a:p>
            <a:r>
              <a:rPr lang="es-CL" sz="5000" dirty="0" err="1"/>
              <a:t>Particula</a:t>
            </a:r>
            <a:r>
              <a:rPr lang="es-CL" sz="5000" dirty="0"/>
              <a:t> Sujeto</a:t>
            </a:r>
          </a:p>
          <a:p>
            <a:r>
              <a:rPr lang="ko-KR" altLang="es-CL" sz="5000" dirty="0">
                <a:highlight>
                  <a:srgbClr val="00FFFF"/>
                </a:highlight>
              </a:rPr>
              <a:t>주비</a:t>
            </a:r>
            <a:r>
              <a:rPr lang="ko-KR" altLang="es-CL" sz="5000" dirty="0">
                <a:highlight>
                  <a:srgbClr val="FFFF00"/>
                </a:highlight>
              </a:rPr>
              <a:t>가</a:t>
            </a:r>
            <a:r>
              <a:rPr lang="ko-KR" altLang="es-CL" sz="5000" dirty="0"/>
              <a:t> 사과</a:t>
            </a:r>
            <a:r>
              <a:rPr lang="ko-KR" altLang="es-CL" sz="5000" dirty="0">
                <a:highlight>
                  <a:srgbClr val="FFFF00"/>
                </a:highlight>
              </a:rPr>
              <a:t>를</a:t>
            </a:r>
            <a:r>
              <a:rPr lang="ko-KR" altLang="es-CL" sz="5000" dirty="0"/>
              <a:t> 먹어요</a:t>
            </a:r>
            <a:endParaRPr lang="es-CL" altLang="ko-KR" sz="5000" dirty="0"/>
          </a:p>
          <a:p>
            <a:r>
              <a:rPr lang="es-CL" altLang="ko-KR" sz="5000" dirty="0" err="1"/>
              <a:t>Particula</a:t>
            </a:r>
            <a:r>
              <a:rPr lang="ko-KR" altLang="es-CL" sz="5000" dirty="0"/>
              <a:t> </a:t>
            </a:r>
            <a:r>
              <a:rPr lang="es-CL" altLang="ko-KR" sz="5000" dirty="0"/>
              <a:t>Objeto(verbo/acción)</a:t>
            </a:r>
          </a:p>
          <a:p>
            <a:r>
              <a:rPr lang="ko-KR" altLang="es-CL" sz="5000" dirty="0"/>
              <a:t>주비가 사과</a:t>
            </a:r>
            <a:r>
              <a:rPr lang="ko-KR" altLang="es-CL" sz="5000" dirty="0">
                <a:highlight>
                  <a:srgbClr val="FFFF00"/>
                </a:highlight>
              </a:rPr>
              <a:t>를</a:t>
            </a:r>
            <a:r>
              <a:rPr lang="ko-KR" altLang="es-CL" sz="5000" dirty="0"/>
              <a:t> </a:t>
            </a:r>
            <a:r>
              <a:rPr lang="ko-KR" altLang="es-CL" sz="5000" dirty="0">
                <a:highlight>
                  <a:srgbClr val="00FFFF"/>
                </a:highlight>
              </a:rPr>
              <a:t>먹어요</a:t>
            </a:r>
            <a:endParaRPr lang="es-CL" altLang="ko-KR" sz="5000" dirty="0">
              <a:highlight>
                <a:srgbClr val="00FFFF"/>
              </a:highlight>
            </a:endParaRPr>
          </a:p>
          <a:p>
            <a:endParaRPr lang="es-CL" sz="5000" dirty="0"/>
          </a:p>
        </p:txBody>
      </p:sp>
    </p:spTree>
    <p:extLst>
      <p:ext uri="{BB962C8B-B14F-4D97-AF65-F5344CB8AC3E}">
        <p14:creationId xmlns:p14="http://schemas.microsoft.com/office/powerpoint/2010/main" val="3664383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BB8574-DA69-9F52-75CF-CBBBDB051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59" y="783664"/>
            <a:ext cx="5930141" cy="58301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664185-5199-7A40-4FA3-6CFCC08B2C8D}"/>
              </a:ext>
            </a:extLst>
          </p:cNvPr>
          <p:cNvSpPr txBox="1"/>
          <p:nvPr/>
        </p:nvSpPr>
        <p:spPr>
          <a:xfrm>
            <a:off x="6096000" y="1456138"/>
            <a:ext cx="5647700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sz="4400" dirty="0">
                <a:highlight>
                  <a:srgbClr val="FFFF00"/>
                </a:highlight>
              </a:rPr>
              <a:t>램</a:t>
            </a:r>
            <a:r>
              <a:rPr lang="ko-KR" altLang="es-CL" sz="4400" dirty="0"/>
              <a:t>프가 책 위에 있어요</a:t>
            </a:r>
            <a:endParaRPr lang="es-CL" altLang="ko-KR" sz="4400" dirty="0"/>
          </a:p>
          <a:p>
            <a:endParaRPr lang="es-CL" sz="4400" dirty="0"/>
          </a:p>
          <a:p>
            <a:r>
              <a:rPr lang="ko-KR" altLang="es-CL" sz="4400" dirty="0"/>
              <a:t>개가 침대 위에 있어요</a:t>
            </a:r>
            <a:endParaRPr lang="es-CL" altLang="ko-KR" sz="4400" dirty="0"/>
          </a:p>
          <a:p>
            <a:endParaRPr lang="es-CL" altLang="ko-KR" sz="4400" dirty="0"/>
          </a:p>
          <a:p>
            <a:endParaRPr lang="es-CL" sz="4400" dirty="0"/>
          </a:p>
          <a:p>
            <a:r>
              <a:rPr lang="ko-KR" altLang="es-CL" sz="4400" dirty="0"/>
              <a:t>집이 식당 앞에 있어요</a:t>
            </a:r>
            <a:endParaRPr lang="es-CL" sz="4400" dirty="0"/>
          </a:p>
        </p:txBody>
      </p:sp>
    </p:spTree>
    <p:extLst>
      <p:ext uri="{BB962C8B-B14F-4D97-AF65-F5344CB8AC3E}">
        <p14:creationId xmlns:p14="http://schemas.microsoft.com/office/powerpoint/2010/main" val="283964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787566-654B-E48F-3E7E-8669B045A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587530" y="-13689"/>
            <a:ext cx="3715268" cy="59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125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encadenamos acciones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hoy dijiste frases sueltas: 'tomo café', 'voy al café'. Hoy vas a ENCADENAR acciones: 'me levanto Y tomo café Y voy a trabajar' — todo en una sola frase.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aprendemos el segundo sistema de números — los COREANOS PUROS — para decir horas exactas.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contar tu rutina completa en coreano con orden temporal correcto.</a:t>
            </a:r>
            <a:endParaRPr lang="en-US" sz="1600" dirty="0"/>
          </a:p>
        </p:txBody>
      </p:sp>
      <p:pic>
        <p:nvPicPr>
          <p:cNvPr id="5" name="Image 0" descr="/sessions/sleepy-zen-cray/mnt/outputs/deck_assets/sello_relleno_v1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274320"/>
            <a:ext cx="502920" cy="502920"/>
          </a:xfrm>
          <a:prstGeom prst="rect">
            <a:avLst/>
          </a:prstGeom>
        </p:spPr>
      </p:pic>
      <p:pic>
        <p:nvPicPr>
          <p:cNvPr id="6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07  ·  HARUILGWA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§7.1 · NÚMEROS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Coreanos puros (1-10)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Recordá: hay 2 sistemas de números: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Sino-coreanos (일, 이, 삼…) → fechas, dinero, minutos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Coreanos puros → CANTIDAD, EDAD, HORAS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primeros tienen forma corta cuando van con un sustantivo: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하나 → 한 (한 시 = la una)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둘 → 두 (두 명 = 2 personas)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셋 → 세 (세 권 = 3 libros)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넷 → 네 (네 개 = 4 cosas)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둘 셋 넷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han-dul-set-net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(números coreanos puros)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07  ·  HARUILGWA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2D05EF-2674-5C8A-4003-BB177E6BC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0143"/>
            <a:ext cx="12192000" cy="493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568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E60A7A-0380-6084-356A-978D62595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98" y="804496"/>
            <a:ext cx="10421804" cy="524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86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§7.1 · NÚMEROS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Coreanos puros 1-10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44204" y="1728216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 (한)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(hana / han)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 (두)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(dul / du)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(세)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(set / se)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넷 (네)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(net / ne)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(daseot)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(yeoseot)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(ilgop)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(yeodeol)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아홉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(ahop)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10712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410712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(yeol)</a:t>
            </a:r>
            <a:endParaRPr lang="en-US" sz="1200" dirty="0"/>
          </a:p>
        </p:txBody>
      </p:sp>
      <p:pic>
        <p:nvPicPr>
          <p:cNvPr id="34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35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07  ·  HARUILGWA</a:t>
            </a:r>
            <a:endParaRPr lang="en-US" sz="8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99C699-0AC7-C62B-1425-089F7AE18FF8}"/>
              </a:ext>
            </a:extLst>
          </p:cNvPr>
          <p:cNvSpPr txBox="1"/>
          <p:nvPr/>
        </p:nvSpPr>
        <p:spPr>
          <a:xfrm>
            <a:off x="3908571" y="198150"/>
            <a:ext cx="148470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sz="2400" dirty="0"/>
              <a:t>사과 한개</a:t>
            </a:r>
            <a:endParaRPr lang="es-CL" altLang="ko-KR" sz="2400" dirty="0"/>
          </a:p>
          <a:p>
            <a:r>
              <a:rPr lang="ko-KR" altLang="es-CL" sz="2400" dirty="0"/>
              <a:t>두개</a:t>
            </a:r>
            <a:endParaRPr lang="es-CL" altLang="ko-KR" sz="2400" dirty="0"/>
          </a:p>
          <a:p>
            <a:r>
              <a:rPr lang="ko-KR" altLang="es-CL" sz="2400" dirty="0"/>
              <a:t>세개 </a:t>
            </a:r>
            <a:endParaRPr lang="es-CL" altLang="ko-KR" sz="2400" dirty="0"/>
          </a:p>
          <a:p>
            <a:r>
              <a:rPr lang="ko-KR" altLang="es-CL" sz="2400" dirty="0"/>
              <a:t>네</a:t>
            </a:r>
            <a:endParaRPr lang="es-CL" sz="2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13C5C24-DC5F-85C6-885A-0843E199410F}"/>
              </a:ext>
            </a:extLst>
          </p:cNvPr>
          <p:cNvSpPr txBox="1"/>
          <p:nvPr/>
        </p:nvSpPr>
        <p:spPr>
          <a:xfrm>
            <a:off x="5422511" y="118962"/>
            <a:ext cx="13300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sz="2400" dirty="0"/>
              <a:t>한살</a:t>
            </a:r>
            <a:endParaRPr lang="es-CL" altLang="ko-KR" sz="2400" dirty="0"/>
          </a:p>
          <a:p>
            <a:r>
              <a:rPr lang="ko-KR" altLang="es-CL" sz="2400" dirty="0"/>
              <a:t>두살</a:t>
            </a:r>
            <a:endParaRPr lang="es-CL" altLang="ko-KR" sz="2400" dirty="0"/>
          </a:p>
          <a:p>
            <a:r>
              <a:rPr lang="ko-KR" altLang="es-CL" sz="2400" dirty="0"/>
              <a:t>세살</a:t>
            </a:r>
            <a:endParaRPr lang="es-CL" altLang="ko-KR" sz="2400" dirty="0"/>
          </a:p>
          <a:p>
            <a:r>
              <a:rPr lang="ko-KR" altLang="es-CL" sz="2400" dirty="0"/>
              <a:t>네살</a:t>
            </a:r>
            <a:endParaRPr lang="es-CL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§7.2 · HORAS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en punto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시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1:00 (la una)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시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25112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시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101584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시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5:00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 시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5112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열두 시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01584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1200" dirty="0"/>
          </a:p>
        </p:txBody>
      </p:sp>
      <p:pic>
        <p:nvPicPr>
          <p:cNvPr id="22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3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07  ·  HARUILGWA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§7.3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부터 ... 까지 · Desde ... hasta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expresar un rango (de horas, días, lugares) usás 부터…까지.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부터 = desde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까지 = hasta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van juntos en pareja: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9시</a:t>
            </a:r>
            <a:r>
              <a:rPr lang="en-US" sz="1400" dirty="0">
                <a:solidFill>
                  <a:srgbClr val="1A1A2E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부터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6시</a:t>
            </a:r>
            <a:r>
              <a:rPr lang="en-US" sz="1400" dirty="0">
                <a:solidFill>
                  <a:srgbClr val="1A1A2E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까지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일해요 (Trabajo de 9 a 6) Horas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ko-KR" altLang="es-CL" sz="14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아홉</a:t>
            </a:r>
            <a:r>
              <a:rPr lang="es-CL" altLang="ko-KR" sz="14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(hora)desde </a:t>
            </a:r>
            <a:r>
              <a:rPr lang="ko-KR" altLang="es-CL" sz="14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여섯</a:t>
            </a:r>
            <a:r>
              <a:rPr lang="es-CL" altLang="ko-KR" sz="14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(hora)hasta trabajo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월요일</a:t>
            </a:r>
            <a:r>
              <a:rPr lang="en-US" sz="1400" dirty="0">
                <a:solidFill>
                  <a:srgbClr val="1A1A2E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부터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금요일</a:t>
            </a:r>
            <a:r>
              <a:rPr lang="en-US" sz="1400" dirty="0" err="1">
                <a:solidFill>
                  <a:srgbClr val="1A1A2E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까지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s-CL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노래해요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 lunes a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viernes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lunes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desde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 Viernes hasta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cancion+hacer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=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cantar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s-CL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노래를 해요            노래해요</a:t>
            </a:r>
            <a:endParaRPr lang="es-CL" altLang="ko-KR" sz="14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s-CL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Cancion</a:t>
            </a:r>
            <a:r>
              <a:rPr lang="es-CL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(PO) hacer     cantar</a:t>
            </a:r>
            <a:endParaRPr lang="en-US" sz="14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서울</a:t>
            </a:r>
            <a:r>
              <a:rPr lang="en-US" sz="1400" dirty="0">
                <a:solidFill>
                  <a:srgbClr val="1A1A2E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부터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부산</a:t>
            </a:r>
            <a:r>
              <a:rPr lang="en-US" sz="1400" dirty="0" err="1">
                <a:solidFill>
                  <a:srgbClr val="1A1A2E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까지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s-CL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여행해요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 Seúl a Busan)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seul/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busan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/hasta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viaje+hacer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viajar</a:t>
            </a:r>
            <a:endParaRPr lang="en-US" sz="14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solo no funciona — es como 'desde-hasta' en español, los dos deben estar.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부터…까지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buteo...kkaji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(desde…hasta)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07  ·  HARUILGWA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§7.4 · GRAMÁTICA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-고 · Conector 'Y'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-고 conecta dos verbos en una sola frase, con orden temporal.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Estructura: [Raíz verbo] + 고 + [Verbo conjugado]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ko-KR" altLang="es-CL" sz="1400" dirty="0"/>
              <a:t>일어나다 </a:t>
            </a:r>
            <a:r>
              <a:rPr lang="es-CL" altLang="ko-KR" sz="1400" dirty="0"/>
              <a:t>-&gt; </a:t>
            </a:r>
            <a:r>
              <a:rPr lang="ko-KR" altLang="es-CL" sz="1400" dirty="0"/>
              <a:t>일어나고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일어나</a:t>
            </a:r>
            <a:r>
              <a:rPr lang="en-US" sz="1400" dirty="0">
                <a:solidFill>
                  <a:srgbClr val="1A1A2E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고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커피를 마셔요 (Me levanto y tomo café)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Levantarse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/y cafe(po)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beber</a:t>
            </a:r>
            <a:endParaRPr lang="en-US" sz="1400" dirty="0">
              <a:solidFill>
                <a:srgbClr val="1A1A2E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공부하</a:t>
            </a:r>
            <a:r>
              <a:rPr lang="en-US" sz="1400" dirty="0">
                <a:solidFill>
                  <a:srgbClr val="1A1A2E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고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자요 (Estudio y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duermo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Estudio+hacer+y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dormir</a:t>
            </a:r>
            <a:endParaRPr lang="en-US" sz="1400" dirty="0">
              <a:solidFill>
                <a:srgbClr val="1A1A2E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Estudiar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/y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dormir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운동하</a:t>
            </a:r>
            <a:r>
              <a:rPr lang="en-US" sz="1400" dirty="0">
                <a:solidFill>
                  <a:srgbClr val="1A1A2E"/>
                </a:solidFill>
                <a:highlight>
                  <a:srgbClr val="FFFF00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고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샤워해요 (Hago ejercicio y me </a:t>
            </a:r>
            <a:r>
              <a:rPr lang="en-US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ducho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ko-KR" altLang="es-CL" sz="14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샤워하</a:t>
            </a:r>
            <a:r>
              <a:rPr lang="ko-KR" altLang="es-CL" sz="1400" dirty="0">
                <a:solidFill>
                  <a:srgbClr val="1A1A2E"/>
                </a:solidFill>
                <a:highlight>
                  <a:srgbClr val="FFFF00"/>
                </a:highlight>
                <a:latin typeface="Calibri" pitchFamily="34" charset="0"/>
                <a:cs typeface="Calibri" pitchFamily="34" charset="-120"/>
              </a:rPr>
              <a:t>고</a:t>
            </a:r>
            <a:r>
              <a:rPr lang="ko-KR" altLang="es-CL" sz="1400" dirty="0">
                <a:solidFill>
                  <a:srgbClr val="1A1A2E"/>
                </a:solidFill>
                <a:latin typeface="Calibri" pitchFamily="34" charset="0"/>
                <a:cs typeface="Calibri" pitchFamily="34" charset="-120"/>
              </a:rPr>
              <a:t> 운동해요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 err="1"/>
              <a:t>Ejercio+hacer+y</a:t>
            </a:r>
            <a:r>
              <a:rPr lang="en-US" sz="1400" dirty="0"/>
              <a:t> </a:t>
            </a:r>
            <a:r>
              <a:rPr lang="en-US" sz="1400" dirty="0" err="1"/>
              <a:t>duchar</a:t>
            </a:r>
            <a:r>
              <a:rPr lang="en-US" sz="1400" dirty="0"/>
              <a:t> </a:t>
            </a:r>
            <a:r>
              <a:rPr lang="en-US" sz="1400" dirty="0" err="1"/>
              <a:t>hacer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con 그리고: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그리고 → 'y' entre 2 oraciones separadas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-고 → 'y' entre 2 verbos del mismo sujeto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-고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-go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(y, luego)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07  ·  HARUILGWA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E6CC3-880A-837D-0A39-D3EC94021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_710_focus.png">
            <a:extLst>
              <a:ext uri="{FF2B5EF4-FFF2-40B4-BE49-F238E27FC236}">
                <a16:creationId xmlns:a16="http://schemas.microsoft.com/office/drawing/2014/main" id="{7EDF9D3C-580C-2EEA-7CAB-F4CF2563F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EF9ED9-E479-6465-DB92-6C542C54A1A8}"/>
              </a:ext>
            </a:extLst>
          </p:cNvPr>
          <p:cNvSpPr txBox="1"/>
          <p:nvPr/>
        </p:nvSpPr>
        <p:spPr>
          <a:xfrm>
            <a:off x="4213860" y="3638788"/>
            <a:ext cx="1710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Silla y  escritorio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7CF7E-ADEA-E060-01C5-C15142150C39}"/>
              </a:ext>
            </a:extLst>
          </p:cNvPr>
          <p:cNvSpPr txBox="1"/>
          <p:nvPr/>
        </p:nvSpPr>
        <p:spPr>
          <a:xfrm>
            <a:off x="4305300" y="4198620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mama y  papa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07F22D-F712-E288-8143-201A23847DCD}"/>
              </a:ext>
            </a:extLst>
          </p:cNvPr>
          <p:cNvSpPr txBox="1"/>
          <p:nvPr/>
        </p:nvSpPr>
        <p:spPr>
          <a:xfrm>
            <a:off x="4593666" y="4758452"/>
            <a:ext cx="2023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err="1"/>
              <a:t>bulgogi</a:t>
            </a:r>
            <a:r>
              <a:rPr lang="es-CL" dirty="0"/>
              <a:t> y  </a:t>
            </a:r>
            <a:r>
              <a:rPr lang="es-CL" dirty="0" err="1"/>
              <a:t>bibimbap</a:t>
            </a:r>
            <a:endParaRPr lang="es-C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A4FC6-61A5-4690-33E5-522389776877}"/>
              </a:ext>
            </a:extLst>
          </p:cNvPr>
          <p:cNvSpPr txBox="1"/>
          <p:nvPr/>
        </p:nvSpPr>
        <p:spPr>
          <a:xfrm>
            <a:off x="9791700" y="3638788"/>
            <a:ext cx="1608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diario y  revista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232548-47A6-D260-E42F-8AA6DBC52727}"/>
              </a:ext>
            </a:extLst>
          </p:cNvPr>
          <p:cNvSpPr txBox="1"/>
          <p:nvPr/>
        </p:nvSpPr>
        <p:spPr>
          <a:xfrm>
            <a:off x="9975774" y="4183380"/>
            <a:ext cx="1473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hermano y yo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60040A-4CD5-924B-8A08-DBA96E4055F7}"/>
              </a:ext>
            </a:extLst>
          </p:cNvPr>
          <p:cNvSpPr txBox="1"/>
          <p:nvPr/>
        </p:nvSpPr>
        <p:spPr>
          <a:xfrm>
            <a:off x="9975774" y="4705112"/>
            <a:ext cx="1503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ropa y  zapato</a:t>
            </a:r>
          </a:p>
        </p:txBody>
      </p:sp>
    </p:spTree>
    <p:extLst>
      <p:ext uri="{BB962C8B-B14F-4D97-AF65-F5344CB8AC3E}">
        <p14:creationId xmlns:p14="http://schemas.microsoft.com/office/powerpoint/2010/main" val="861411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C8F49-758D-B88B-F60D-3AB0FCCDD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_710_ej.png">
            <a:extLst>
              <a:ext uri="{FF2B5EF4-FFF2-40B4-BE49-F238E27FC236}">
                <a16:creationId xmlns:a16="http://schemas.microsoft.com/office/drawing/2014/main" id="{5FB26641-C1AF-E6B3-C0DB-5CFF494055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331BC0-3CE4-8C75-5B52-358E25E19242}"/>
              </a:ext>
            </a:extLst>
          </p:cNvPr>
          <p:cNvSpPr txBox="1"/>
          <p:nvPr/>
        </p:nvSpPr>
        <p:spPr>
          <a:xfrm>
            <a:off x="2804160" y="2034540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와</a:t>
            </a:r>
            <a:r>
              <a:rPr lang="es-CL" altLang="ko-KR" dirty="0"/>
              <a:t>/</a:t>
            </a:r>
            <a:r>
              <a:rPr lang="ko-KR" altLang="es-CL" dirty="0"/>
              <a:t>과 </a:t>
            </a:r>
            <a:endParaRPr lang="es-C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81685B-7AE2-7029-9C85-62F8537B3C27}"/>
              </a:ext>
            </a:extLst>
          </p:cNvPr>
          <p:cNvSpPr txBox="1"/>
          <p:nvPr/>
        </p:nvSpPr>
        <p:spPr>
          <a:xfrm>
            <a:off x="2903220" y="3360420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랑</a:t>
            </a:r>
            <a:r>
              <a:rPr lang="es-CL" altLang="ko-KR" dirty="0"/>
              <a:t>/</a:t>
            </a:r>
            <a:r>
              <a:rPr lang="ko-KR" altLang="es-CL" dirty="0"/>
              <a:t>이랑</a:t>
            </a:r>
            <a:endParaRPr lang="es-C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63CDCE-0A6F-82AD-BABA-5B587BFC09BC}"/>
              </a:ext>
            </a:extLst>
          </p:cNvPr>
          <p:cNvSpPr txBox="1"/>
          <p:nvPr/>
        </p:nvSpPr>
        <p:spPr>
          <a:xfrm>
            <a:off x="3063519" y="46863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/>
              <a:t>하고</a:t>
            </a:r>
            <a:endParaRPr lang="es-C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4A692-65FF-14C3-FA4B-49D08C5EFCAD}"/>
              </a:ext>
            </a:extLst>
          </p:cNvPr>
          <p:cNvSpPr txBox="1"/>
          <p:nvPr/>
        </p:nvSpPr>
        <p:spPr>
          <a:xfrm>
            <a:off x="4183380" y="2034540"/>
            <a:ext cx="817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escrito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983B8B-C01F-BFB2-68B8-AFE3E00A2A9F}"/>
              </a:ext>
            </a:extLst>
          </p:cNvPr>
          <p:cNvSpPr txBox="1"/>
          <p:nvPr/>
        </p:nvSpPr>
        <p:spPr>
          <a:xfrm>
            <a:off x="4351020" y="3360420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altLang="ko-KR" dirty="0"/>
              <a:t>Al hablar</a:t>
            </a:r>
            <a:endParaRPr lang="es-C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1B9069-A599-C8BB-875F-76A26249A385}"/>
              </a:ext>
            </a:extLst>
          </p:cNvPr>
          <p:cNvSpPr txBox="1"/>
          <p:nvPr/>
        </p:nvSpPr>
        <p:spPr>
          <a:xfrm>
            <a:off x="4226225" y="460248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ambos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209785-198C-3DA6-5F50-D77C3C926F04}"/>
              </a:ext>
            </a:extLst>
          </p:cNvPr>
          <p:cNvSpPr txBox="1"/>
          <p:nvPr/>
        </p:nvSpPr>
        <p:spPr>
          <a:xfrm>
            <a:off x="8168640" y="1775460"/>
            <a:ext cx="445956" cy="923330"/>
          </a:xfrm>
          <a:prstGeom prst="rect">
            <a:avLst/>
          </a:prstGeom>
          <a:noFill/>
        </p:spPr>
        <p:txBody>
          <a:bodyPr wrap="none" numCol="2" rtlCol="0">
            <a:spAutoFit/>
          </a:bodyPr>
          <a:lstStyle/>
          <a:p>
            <a:r>
              <a:rPr lang="es-CL" dirty="0"/>
              <a:t>VOCAL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594645E-85EF-5DEA-205D-3FE533634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289478"/>
              </p:ext>
            </p:extLst>
          </p:nvPr>
        </p:nvGraphicFramePr>
        <p:xfrm>
          <a:off x="3802380" y="420132"/>
          <a:ext cx="393481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2813">
                  <a:extLst>
                    <a:ext uri="{9D8B030D-6E8A-4147-A177-3AD203B41FA5}">
                      <a16:colId xmlns:a16="http://schemas.microsoft.com/office/drawing/2014/main" val="419672852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90828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L" dirty="0"/>
                        <a:t>-Vocal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-Consonante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496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s-CL" dirty="0"/>
                        <a:t>와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s-CL" dirty="0"/>
                        <a:t>과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542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s-CL" dirty="0"/>
                        <a:t>랑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s-CL" dirty="0"/>
                        <a:t>이랑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426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ko-KR" altLang="es-CL" dirty="0"/>
                        <a:t>하고 </a:t>
                      </a:r>
                      <a:endParaRPr lang="es-C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ko-KR" altLang="es-CL" dirty="0"/>
                        <a:t>하고</a:t>
                      </a:r>
                      <a:endParaRPr lang="es-C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899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6276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C70C1-C6D6-3D11-DED5-732ABEC94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_710_convo.png">
            <a:extLst>
              <a:ext uri="{FF2B5EF4-FFF2-40B4-BE49-F238E27FC236}">
                <a16:creationId xmlns:a16="http://schemas.microsoft.com/office/drawing/2014/main" id="{AE6801A5-331F-C2CB-8E9E-227A9FED2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6E7101-1BCF-5658-EC7F-821CEBC04BE3}"/>
              </a:ext>
            </a:extLst>
          </p:cNvPr>
          <p:cNvSpPr txBox="1"/>
          <p:nvPr/>
        </p:nvSpPr>
        <p:spPr>
          <a:xfrm>
            <a:off x="5631180" y="1539240"/>
            <a:ext cx="44424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dirty="0"/>
              <a:t>엄마</a:t>
            </a:r>
            <a:r>
              <a:rPr lang="ko-KR" altLang="es-CL" dirty="0">
                <a:highlight>
                  <a:srgbClr val="FFFF00"/>
                </a:highlight>
              </a:rPr>
              <a:t>하고</a:t>
            </a:r>
            <a:r>
              <a:rPr lang="ko-KR" altLang="es-CL" dirty="0"/>
              <a:t> </a:t>
            </a:r>
            <a:r>
              <a:rPr lang="ko-KR" altLang="es-CL" dirty="0">
                <a:highlight>
                  <a:srgbClr val="FFFF00"/>
                </a:highlight>
              </a:rPr>
              <a:t>같이</a:t>
            </a:r>
            <a:r>
              <a:rPr lang="es-CL" altLang="ko-KR" dirty="0">
                <a:highlight>
                  <a:srgbClr val="FFFF00"/>
                </a:highlight>
              </a:rPr>
              <a:t>/</a:t>
            </a:r>
            <a:r>
              <a:rPr lang="ko-KR" altLang="es-CL" dirty="0">
                <a:highlight>
                  <a:srgbClr val="FFFF00"/>
                </a:highlight>
              </a:rPr>
              <a:t>함께</a:t>
            </a:r>
            <a:r>
              <a:rPr lang="ko-KR" altLang="es-CL" dirty="0"/>
              <a:t> 밥 먹어요</a:t>
            </a:r>
            <a:endParaRPr lang="es-CL" altLang="ko-KR" dirty="0"/>
          </a:p>
          <a:p>
            <a:r>
              <a:rPr lang="es-CL" dirty="0"/>
              <a:t>Mama(junto con) arroz como</a:t>
            </a:r>
          </a:p>
          <a:p>
            <a:r>
              <a:rPr lang="ko-KR" altLang="es-CL" dirty="0"/>
              <a:t>친구</a:t>
            </a:r>
            <a:r>
              <a:rPr lang="ko-KR" altLang="es-CL" dirty="0">
                <a:highlight>
                  <a:srgbClr val="FFFF00"/>
                </a:highlight>
              </a:rPr>
              <a:t>와</a:t>
            </a:r>
            <a:r>
              <a:rPr lang="ko-KR" altLang="es-CL" dirty="0"/>
              <a:t> </a:t>
            </a:r>
            <a:r>
              <a:rPr lang="ko-KR" altLang="es-CL" dirty="0">
                <a:highlight>
                  <a:srgbClr val="FFFF00"/>
                </a:highlight>
              </a:rPr>
              <a:t>같이</a:t>
            </a:r>
            <a:r>
              <a:rPr lang="ko-KR" altLang="es-CL" dirty="0"/>
              <a:t> 공부해요</a:t>
            </a:r>
            <a:endParaRPr lang="es-CL" altLang="ko-KR" dirty="0"/>
          </a:p>
          <a:p>
            <a:r>
              <a:rPr lang="es-CL" dirty="0"/>
              <a:t>Amigo(junto con) estudiar</a:t>
            </a:r>
          </a:p>
          <a:p>
            <a:r>
              <a:rPr lang="ko-KR" altLang="es-CL" dirty="0"/>
              <a:t>선생님</a:t>
            </a:r>
            <a:r>
              <a:rPr lang="ko-KR" altLang="es-CL" dirty="0">
                <a:highlight>
                  <a:srgbClr val="FFFF00"/>
                </a:highlight>
              </a:rPr>
              <a:t>이랑</a:t>
            </a:r>
            <a:r>
              <a:rPr lang="ko-KR" altLang="es-CL" dirty="0"/>
              <a:t> </a:t>
            </a:r>
            <a:r>
              <a:rPr lang="ko-KR" altLang="es-CL" dirty="0">
                <a:highlight>
                  <a:srgbClr val="FFFF00"/>
                </a:highlight>
              </a:rPr>
              <a:t>함께</a:t>
            </a:r>
            <a:r>
              <a:rPr lang="ko-KR" altLang="es-CL" dirty="0"/>
              <a:t> 노래해요</a:t>
            </a:r>
            <a:br>
              <a:rPr lang="es-CL" altLang="ko-KR" dirty="0"/>
            </a:br>
            <a:r>
              <a:rPr lang="es-CL" altLang="ko-KR" dirty="0"/>
              <a:t>Profesor(junto con) cantar</a:t>
            </a:r>
            <a:endParaRPr lang="es-CL" dirty="0"/>
          </a:p>
          <a:p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665674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§7.5 · VERBOS RUTINA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de rutina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일어나다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0712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씻다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10712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Lavarse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2784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양치하다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72784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Cepillarse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34856" y="182880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34856" y="19659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옷을 입다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34856" y="254203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Vestirse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아침을 먹다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8640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Desayunar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10712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0712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출근하다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410712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trabajar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2784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72784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점심을 먹다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72784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Almorzar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4856" y="324612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34856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퇴근하다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34856" y="39593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Salir del trabajo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저녁을 먹다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48640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10712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샤워하다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410712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Ducharse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72784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72784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자다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272784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134856" y="4663440"/>
            <a:ext cx="2743200" cy="1280160"/>
          </a:xfrm>
          <a:prstGeom prst="roundRect">
            <a:avLst>
              <a:gd name="adj" fmla="val 7143"/>
            </a:avLst>
          </a:prstGeom>
          <a:solidFill>
            <a:srgbClr val="FFE2E2"/>
          </a:solidFill>
          <a:ln w="12700">
            <a:solidFill>
              <a:srgbClr val="FF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34856" y="4800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쉬다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134856" y="5376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Descansar</a:t>
            </a:r>
            <a:endParaRPr lang="en-US" sz="1200" dirty="0"/>
          </a:p>
        </p:txBody>
      </p:sp>
      <p:pic>
        <p:nvPicPr>
          <p:cNvPr id="40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41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07  ·  HARUILGWA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3D2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§7.6 · IRREGULAR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ㄷ irregular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Algunos verbos que terminan en 받침 ㄷ son IRREGULARES.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agregás -어요, la ㄷ se convierte en ㄹ: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듣다 (escuchar) → 들어요 (no 듣어요)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걷다 (caminar) → 걸어요 (no 걷어요)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묻다 (preguntar) → 물어요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no todos los ㄷ son irregulares.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받다 (recibir) → 받아요 ✅ (regular)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닫다 (cerrar) → 닫아요 ✅ (regular)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Memorizá la lista de los irregulares.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0" y="1828800"/>
            <a:ext cx="4846320" cy="4389120"/>
          </a:xfrm>
          <a:prstGeom prst="roundRect">
            <a:avLst>
              <a:gd name="adj" fmla="val 3125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256032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듣다 → 들어요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6766560" y="4297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(ㄷ irregular)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766560" y="4937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ㄷ se vuelve ㄹ</a:t>
            </a:r>
            <a:endParaRPr lang="en-US" sz="1400" dirty="0"/>
          </a:p>
        </p:txBody>
      </p:sp>
      <p:pic>
        <p:nvPicPr>
          <p:cNvPr id="9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10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07  ·  HARUILGWA</a:t>
            </a:r>
            <a:endParaRPr lang="en-US" sz="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112D4-06ED-3349-0D22-AD38B07851B2}"/>
              </a:ext>
            </a:extLst>
          </p:cNvPr>
          <p:cNvSpPr txBox="1"/>
          <p:nvPr/>
        </p:nvSpPr>
        <p:spPr>
          <a:xfrm>
            <a:off x="4137713" y="2368094"/>
            <a:ext cx="28879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dirty="0"/>
              <a:t>먹다</a:t>
            </a:r>
            <a:r>
              <a:rPr lang="es-CL" altLang="ko-KR" dirty="0"/>
              <a:t> -&gt; </a:t>
            </a:r>
            <a:r>
              <a:rPr lang="ko-KR" altLang="es-CL" dirty="0"/>
              <a:t>먹어요</a:t>
            </a:r>
            <a:endParaRPr lang="es-CL" altLang="ko-KR" dirty="0"/>
          </a:p>
          <a:p>
            <a:r>
              <a:rPr lang="ko-KR" altLang="es-CL" dirty="0"/>
              <a:t>듣다 </a:t>
            </a:r>
            <a:r>
              <a:rPr lang="es-CL" altLang="ko-KR" dirty="0"/>
              <a:t>-&gt; </a:t>
            </a:r>
            <a:r>
              <a:rPr lang="ko-KR" altLang="es-CL" dirty="0"/>
              <a:t>들어요</a:t>
            </a:r>
            <a:endParaRPr lang="es-CL" altLang="ko-KR" dirty="0"/>
          </a:p>
          <a:p>
            <a:r>
              <a:rPr lang="ko-KR" altLang="es-CL" dirty="0"/>
              <a:t>음악</a:t>
            </a:r>
            <a:r>
              <a:rPr lang="ko-KR" altLang="es-CL" dirty="0">
                <a:highlight>
                  <a:srgbClr val="FFFF00"/>
                </a:highlight>
              </a:rPr>
              <a:t>을</a:t>
            </a:r>
            <a:r>
              <a:rPr lang="ko-KR" altLang="es-CL" dirty="0"/>
              <a:t> 들어요</a:t>
            </a:r>
            <a:endParaRPr lang="es-CL" altLang="ko-KR" dirty="0"/>
          </a:p>
          <a:p>
            <a:r>
              <a:rPr lang="ko-KR" altLang="es-CL" dirty="0"/>
              <a:t>듣어요</a:t>
            </a:r>
            <a:r>
              <a:rPr lang="es-CL" altLang="ko-KR" dirty="0"/>
              <a:t>(X)</a:t>
            </a:r>
          </a:p>
          <a:p>
            <a:r>
              <a:rPr lang="ko-KR" altLang="es-CL" dirty="0"/>
              <a:t>들어요</a:t>
            </a:r>
            <a:endParaRPr lang="es-CL" altLang="ko-KR" dirty="0"/>
          </a:p>
          <a:p>
            <a:r>
              <a:rPr lang="ko-KR" altLang="es-CL" dirty="0"/>
              <a:t>걷다</a:t>
            </a:r>
            <a:r>
              <a:rPr lang="es-CL" altLang="ko-KR" dirty="0"/>
              <a:t>(caminar) -&gt; </a:t>
            </a:r>
            <a:r>
              <a:rPr lang="ko-KR" altLang="es-CL" dirty="0"/>
              <a:t>걸어요</a:t>
            </a:r>
            <a:endParaRPr lang="es-CL" altLang="ko-KR" dirty="0"/>
          </a:p>
          <a:p>
            <a:r>
              <a:rPr lang="ko-KR" altLang="es-CL" dirty="0"/>
              <a:t>묻다</a:t>
            </a:r>
            <a:r>
              <a:rPr lang="es-CL" altLang="ko-KR" dirty="0"/>
              <a:t>(preguntar) -&gt; </a:t>
            </a:r>
            <a:r>
              <a:rPr lang="ko-KR" altLang="es-CL" dirty="0"/>
              <a:t>물어요</a:t>
            </a:r>
            <a:endParaRPr lang="es-CL" altLang="ko-KR" dirty="0"/>
          </a:p>
          <a:p>
            <a:endParaRPr lang="es-CL" dirty="0"/>
          </a:p>
          <a:p>
            <a:r>
              <a:rPr lang="ko-KR" altLang="es-CL" dirty="0"/>
              <a:t>받다</a:t>
            </a:r>
            <a:r>
              <a:rPr lang="es-CL" altLang="ko-KR" dirty="0"/>
              <a:t>(recibir) -&gt; </a:t>
            </a:r>
            <a:r>
              <a:rPr lang="ko-KR" altLang="es-CL" dirty="0"/>
              <a:t>받아요</a:t>
            </a:r>
            <a:endParaRPr lang="es-CL" altLang="ko-KR" dirty="0"/>
          </a:p>
          <a:p>
            <a:r>
              <a:rPr lang="ko-KR" altLang="es-CL" dirty="0"/>
              <a:t>선물을 받아요</a:t>
            </a:r>
            <a:endParaRPr lang="es-CL" altLang="ko-KR" dirty="0"/>
          </a:p>
          <a:p>
            <a:r>
              <a:rPr lang="ko-KR" altLang="es-CL" dirty="0"/>
              <a:t>닫다</a:t>
            </a:r>
            <a:r>
              <a:rPr lang="es-CL" altLang="ko-KR" dirty="0"/>
              <a:t>(cerrar) -&gt; </a:t>
            </a:r>
            <a:r>
              <a:rPr lang="ko-KR" altLang="es-CL" dirty="0"/>
              <a:t>닫아요</a:t>
            </a:r>
            <a:endParaRPr lang="es-CL" altLang="ko-KR" dirty="0"/>
          </a:p>
          <a:p>
            <a:r>
              <a:rPr lang="ko-KR" altLang="es-CL" dirty="0"/>
              <a:t>문을 닫아요</a:t>
            </a:r>
            <a:endParaRPr lang="es-CL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FF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§7.7 · LECTURA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día completo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7시</a:t>
            </a:r>
            <a:r>
              <a:rPr lang="en-US" sz="2600" b="1" dirty="0">
                <a:solidFill>
                  <a:srgbClr val="FFFFFF"/>
                </a:solidFill>
                <a:highlight>
                  <a:srgbClr val="000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일어나요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levanto a las 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25112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5112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씻</a:t>
            </a:r>
            <a:r>
              <a:rPr lang="en-US" sz="2600" b="1" dirty="0">
                <a:solidFill>
                  <a:srgbClr val="1A1A2E"/>
                </a:solidFill>
                <a:highlight>
                  <a:srgbClr val="FFFF0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</a:t>
            </a: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옷</a:t>
            </a:r>
            <a:r>
              <a:rPr lang="en-US" sz="2600" b="1" dirty="0">
                <a:solidFill>
                  <a:srgbClr val="1A1A2E"/>
                </a:solidFill>
                <a:highlight>
                  <a:srgbClr val="FFFF0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입어요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25112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lavo y me visto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1584" y="1828800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01584" y="196596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8시</a:t>
            </a:r>
            <a:r>
              <a:rPr lang="en-US" sz="2000" b="1" dirty="0">
                <a:solidFill>
                  <a:srgbClr val="FFFFFF"/>
                </a:solidFill>
                <a:highlight>
                  <a:srgbClr val="FF00F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아침</a:t>
            </a:r>
            <a:r>
              <a:rPr lang="en-US" sz="2000" b="1" dirty="0" err="1">
                <a:solidFill>
                  <a:srgbClr val="FFFFFF"/>
                </a:solidFill>
                <a:highlight>
                  <a:srgbClr val="FF00F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먹어요</a:t>
            </a:r>
            <a:endParaRPr lang="en-US" sz="20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</a:t>
            </a:r>
            <a:r>
              <a:rPr lang="es-CL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hora(a) desayuno como</a:t>
            </a:r>
            <a:endParaRPr lang="en-US" sz="20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101584" y="3200400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Desayuno a las 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FF5C5C"/>
          </a:solidFill>
          <a:ln w="12700">
            <a:solidFill>
              <a:srgbClr val="FF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4606052"/>
            <a:ext cx="377647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9시</a:t>
            </a:r>
            <a:r>
              <a:rPr lang="en-US" sz="2000" b="1" dirty="0">
                <a:solidFill>
                  <a:srgbClr val="FFFFFF"/>
                </a:solidFill>
                <a:highlight>
                  <a:srgbClr val="FF00F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</a:t>
            </a: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6시</a:t>
            </a:r>
            <a:r>
              <a:rPr lang="en-US" sz="2000" b="1" dirty="0">
                <a:solidFill>
                  <a:srgbClr val="FFFFFF"/>
                </a:solidFill>
                <a:highlight>
                  <a:srgbClr val="FF00F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</a:t>
            </a: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r>
              <a:rPr lang="es-CL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hora(desde)</a:t>
            </a:r>
            <a:r>
              <a:rPr lang="ko-KR" altLang="es-CL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s-CL" altLang="ko-KR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6hora(hasta)</a:t>
            </a:r>
            <a:endParaRPr lang="en-US" sz="20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2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일해요</a:t>
            </a:r>
            <a:endParaRPr lang="en-US" sz="20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r>
              <a:rPr lang="en-US" sz="20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trabajo</a:t>
            </a:r>
            <a:endParaRPr lang="en-US" sz="2000" b="1" dirty="0">
              <a:solidFill>
                <a:srgbClr val="FFFFFF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9 a 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25112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E8E5F8"/>
          </a:solidFill>
          <a:ln w="12700">
            <a:solidFill>
              <a:srgbClr val="E8E5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운동하</a:t>
            </a:r>
            <a:r>
              <a:rPr lang="en-US" sz="2600" b="1" dirty="0">
                <a:solidFill>
                  <a:srgbClr val="1A1A2E"/>
                </a:solidFill>
                <a:highlight>
                  <a:srgbClr val="FF00F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</a:t>
            </a:r>
            <a:r>
              <a:rPr lang="en-US" sz="2600" b="1" dirty="0">
                <a:solidFill>
                  <a:srgbClr val="1A1A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샤워해요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325112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Hago ejercicio y me ducho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1584" y="4233672"/>
            <a:ext cx="3657600" cy="2286000"/>
          </a:xfrm>
          <a:prstGeom prst="roundRect">
            <a:avLst>
              <a:gd name="adj" fmla="val 4000"/>
            </a:avLst>
          </a:prstGeom>
          <a:solidFill>
            <a:srgbClr val="3D2EE8"/>
          </a:solidFill>
          <a:ln w="12700">
            <a:solidFill>
              <a:srgbClr val="3D2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01584" y="4370832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11시</a:t>
            </a:r>
            <a:r>
              <a:rPr lang="en-US" sz="2600" b="1" dirty="0">
                <a:solidFill>
                  <a:srgbClr val="FFFFFF"/>
                </a:solidFill>
                <a:highlight>
                  <a:srgbClr val="FF00FF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자요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101584" y="5605272"/>
            <a:ext cx="36576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Duermo a las 11</a:t>
            </a:r>
            <a:endParaRPr lang="en-US" sz="1200" dirty="0"/>
          </a:p>
        </p:txBody>
      </p:sp>
      <p:pic>
        <p:nvPicPr>
          <p:cNvPr id="22" name="Image 0" descr="/sessions/sleepy-zen-cray/mnt/outputs/deck_assets/logo_var2_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228600"/>
            <a:ext cx="594360" cy="594360"/>
          </a:xfrm>
          <a:prstGeom prst="rect">
            <a:avLst/>
          </a:prstGeom>
        </p:spPr>
      </p:pic>
      <p:pic>
        <p:nvPicPr>
          <p:cNvPr id="23" name="Image 1" descr="/sessions/sleepy-zen-cray/mnt/outputs/deck_assets/sello_linea_v1_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6355080"/>
            <a:ext cx="411480" cy="4114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 ·  MÉTODO CHINGU™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315200" y="6492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 07  ·  HARUILGWA</a:t>
            </a:r>
            <a:endParaRPr lang="en-US" sz="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608845-420D-53A0-1161-88EFCF038AED}"/>
              </a:ext>
            </a:extLst>
          </p:cNvPr>
          <p:cNvSpPr txBox="1"/>
          <p:nvPr/>
        </p:nvSpPr>
        <p:spPr>
          <a:xfrm>
            <a:off x="1280160" y="2941320"/>
            <a:ext cx="2053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7 hora(a) levantarse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C02639-EC62-2D0A-B0B2-3B7C29B34660}"/>
              </a:ext>
            </a:extLst>
          </p:cNvPr>
          <p:cNvSpPr txBox="1"/>
          <p:nvPr/>
        </p:nvSpPr>
        <p:spPr>
          <a:xfrm>
            <a:off x="1397043" y="1882140"/>
            <a:ext cx="1960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몇시에 일어나요</a:t>
            </a:r>
            <a:r>
              <a:rPr lang="es-CL" altLang="ko-KR" dirty="0"/>
              <a:t>?</a:t>
            </a:r>
            <a:endParaRPr lang="es-CL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2D5488-C506-08AA-E284-6A0B633C1653}"/>
              </a:ext>
            </a:extLst>
          </p:cNvPr>
          <p:cNvSpPr txBox="1"/>
          <p:nvPr/>
        </p:nvSpPr>
        <p:spPr>
          <a:xfrm>
            <a:off x="4810236" y="726948"/>
            <a:ext cx="16268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씻다 </a:t>
            </a:r>
            <a:r>
              <a:rPr lang="es-CL" altLang="ko-KR" dirty="0"/>
              <a:t>‘lavarse’</a:t>
            </a:r>
          </a:p>
          <a:p>
            <a:r>
              <a:rPr lang="ko-KR" altLang="es-CL" dirty="0"/>
              <a:t>손을 씻어요</a:t>
            </a:r>
            <a:r>
              <a:rPr lang="es-CL" altLang="ko-KR" dirty="0"/>
              <a:t> </a:t>
            </a:r>
          </a:p>
          <a:p>
            <a:r>
              <a:rPr lang="es-CL" altLang="ko-KR" dirty="0"/>
              <a:t>Mano P/O lavo</a:t>
            </a:r>
          </a:p>
          <a:p>
            <a:r>
              <a:rPr lang="ko-KR" altLang="es-CL" dirty="0"/>
              <a:t>입다 </a:t>
            </a:r>
            <a:r>
              <a:rPr lang="es-CL" altLang="ko-KR" dirty="0"/>
              <a:t>‘vestirse’</a:t>
            </a:r>
            <a:endParaRPr lang="es-CL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4C4A30-85C8-E250-A4BD-AF44A118CB88}"/>
              </a:ext>
            </a:extLst>
          </p:cNvPr>
          <p:cNvSpPr txBox="1"/>
          <p:nvPr/>
        </p:nvSpPr>
        <p:spPr>
          <a:xfrm>
            <a:off x="5044440" y="5318761"/>
            <a:ext cx="293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Ejercio-y ducharse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_78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447CA2-2B83-B9E3-1552-48441426171B}"/>
              </a:ext>
            </a:extLst>
          </p:cNvPr>
          <p:cNvSpPr txBox="1"/>
          <p:nvPr/>
        </p:nvSpPr>
        <p:spPr>
          <a:xfrm>
            <a:off x="8885382" y="4655127"/>
            <a:ext cx="14077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/>
              <a:t>[</a:t>
            </a:r>
            <a:r>
              <a:rPr lang="ko-KR" altLang="es-CL" sz="2400" dirty="0"/>
              <a:t>슴니다</a:t>
            </a:r>
            <a:r>
              <a:rPr lang="es-CL" altLang="ko-KR" sz="2400" dirty="0"/>
              <a:t>]</a:t>
            </a:r>
          </a:p>
          <a:p>
            <a:r>
              <a:rPr lang="es-CL" sz="2400" dirty="0" err="1"/>
              <a:t>seumnida</a:t>
            </a:r>
            <a:endParaRPr lang="es-CL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_78_con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280892-3069-550C-A5EC-D6E39478D89E}"/>
              </a:ext>
            </a:extLst>
          </p:cNvPr>
          <p:cNvSpPr txBox="1"/>
          <p:nvPr/>
        </p:nvSpPr>
        <p:spPr>
          <a:xfrm>
            <a:off x="5407347" y="2749034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[</a:t>
            </a:r>
            <a:r>
              <a:rPr lang="ko-KR" altLang="es-CL" dirty="0"/>
              <a:t>옴니다</a:t>
            </a:r>
            <a:r>
              <a:rPr lang="es-CL" altLang="ko-KR" dirty="0"/>
              <a:t>]</a:t>
            </a:r>
            <a:endParaRPr lang="es-C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9B8EFE-120C-F1FF-2F61-1C6FD1728A9C}"/>
              </a:ext>
            </a:extLst>
          </p:cNvPr>
          <p:cNvSpPr txBox="1"/>
          <p:nvPr/>
        </p:nvSpPr>
        <p:spPr>
          <a:xfrm>
            <a:off x="3581013" y="253306"/>
            <a:ext cx="467089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sz="2400" dirty="0"/>
              <a:t>집에 갑니다            집에 옵니까</a:t>
            </a:r>
            <a:r>
              <a:rPr lang="es-CL" altLang="ko-KR" sz="2400" dirty="0"/>
              <a:t>?</a:t>
            </a:r>
          </a:p>
          <a:p>
            <a:r>
              <a:rPr lang="es-CL" sz="2400" dirty="0"/>
              <a:t>Casa(a, en) ir            casa(a, en) venir</a:t>
            </a:r>
          </a:p>
          <a:p>
            <a:r>
              <a:rPr lang="ko-KR" altLang="es-CL" sz="2400" dirty="0"/>
              <a:t>학교에 갑니다      병원에 갑니다</a:t>
            </a:r>
            <a:endParaRPr lang="es-CL" altLang="ko-KR" sz="2400" dirty="0"/>
          </a:p>
          <a:p>
            <a:r>
              <a:rPr lang="es-CL" sz="2400" dirty="0"/>
              <a:t>Colegio(a, en) ir       hospital(a, en) ir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DC88C1-254F-52D3-2C6A-2A9BE8C526D3}"/>
              </a:ext>
            </a:extLst>
          </p:cNvPr>
          <p:cNvSpPr txBox="1"/>
          <p:nvPr/>
        </p:nvSpPr>
        <p:spPr>
          <a:xfrm>
            <a:off x="715893" y="337126"/>
            <a:ext cx="5537991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sz="4400" dirty="0"/>
              <a:t>먹습니다</a:t>
            </a:r>
            <a:endParaRPr lang="es-CL" altLang="ko-KR" sz="4400" dirty="0"/>
          </a:p>
          <a:p>
            <a:r>
              <a:rPr lang="ko-KR" altLang="es-CL" sz="4400" dirty="0"/>
              <a:t>사과</a:t>
            </a:r>
            <a:r>
              <a:rPr lang="ko-KR" altLang="es-CL" sz="4400" dirty="0">
                <a:highlight>
                  <a:srgbClr val="FFFF00"/>
                </a:highlight>
              </a:rPr>
              <a:t>를</a:t>
            </a:r>
            <a:r>
              <a:rPr lang="ko-KR" altLang="es-CL" sz="4400" dirty="0"/>
              <a:t> 먹습니다</a:t>
            </a:r>
            <a:endParaRPr lang="es-CL" sz="4400" dirty="0"/>
          </a:p>
          <a:p>
            <a:r>
              <a:rPr lang="es-CL" sz="4400" dirty="0"/>
              <a:t>Manzana(PO) comer</a:t>
            </a:r>
          </a:p>
          <a:p>
            <a:r>
              <a:rPr lang="ko-KR" altLang="es-CL" sz="4400" dirty="0"/>
              <a:t>을</a:t>
            </a:r>
            <a:r>
              <a:rPr lang="es-CL" altLang="ko-KR" sz="4400" dirty="0"/>
              <a:t>/</a:t>
            </a:r>
            <a:r>
              <a:rPr lang="ko-KR" altLang="es-CL" sz="4400" dirty="0"/>
              <a:t>를 </a:t>
            </a:r>
            <a:r>
              <a:rPr lang="es-CL" altLang="ko-KR" sz="4400" dirty="0"/>
              <a:t>= </a:t>
            </a:r>
            <a:r>
              <a:rPr lang="es-CL" altLang="ko-KR" sz="4400" dirty="0" err="1"/>
              <a:t>particula</a:t>
            </a:r>
            <a:r>
              <a:rPr lang="es-CL" altLang="ko-KR" sz="4400" dirty="0"/>
              <a:t> verbo</a:t>
            </a:r>
            <a:endParaRPr lang="es-CL" sz="4400" dirty="0"/>
          </a:p>
          <a:p>
            <a:r>
              <a:rPr lang="ko-KR" altLang="es-CL" sz="4400" dirty="0"/>
              <a:t>앉습니다</a:t>
            </a:r>
            <a:endParaRPr lang="es-CL" altLang="ko-KR" sz="4400" dirty="0"/>
          </a:p>
          <a:p>
            <a:r>
              <a:rPr lang="ko-KR" altLang="es-CL" sz="4400" dirty="0"/>
              <a:t>의자에 앉습니다</a:t>
            </a:r>
            <a:endParaRPr lang="es-CL" altLang="ko-KR" sz="4400" dirty="0"/>
          </a:p>
          <a:p>
            <a:r>
              <a:rPr lang="es-CL" sz="4400" dirty="0"/>
              <a:t>Silla(a, en) sentarse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CB2FE3-A682-F86E-20A0-F45FDC175C66}"/>
              </a:ext>
            </a:extLst>
          </p:cNvPr>
          <p:cNvSpPr txBox="1"/>
          <p:nvPr/>
        </p:nvSpPr>
        <p:spPr>
          <a:xfrm>
            <a:off x="6195060" y="337126"/>
            <a:ext cx="293965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sz="3600" dirty="0"/>
              <a:t>은</a:t>
            </a:r>
            <a:r>
              <a:rPr lang="es-CL" altLang="ko-KR" sz="3600" dirty="0"/>
              <a:t>/</a:t>
            </a:r>
            <a:r>
              <a:rPr lang="ko-KR" altLang="es-CL" sz="3600" dirty="0"/>
              <a:t>는 </a:t>
            </a:r>
            <a:r>
              <a:rPr lang="es-CL" altLang="ko-KR" sz="3600" dirty="0"/>
              <a:t>= tema</a:t>
            </a:r>
          </a:p>
          <a:p>
            <a:r>
              <a:rPr lang="ko-KR" altLang="es-CL" sz="3600" dirty="0"/>
              <a:t>이</a:t>
            </a:r>
            <a:r>
              <a:rPr lang="es-CL" altLang="ko-KR" sz="3600" dirty="0"/>
              <a:t>/</a:t>
            </a:r>
            <a:r>
              <a:rPr lang="ko-KR" altLang="es-CL" sz="3600" dirty="0"/>
              <a:t>가 </a:t>
            </a:r>
            <a:r>
              <a:rPr lang="es-CL" altLang="ko-KR" sz="3600" dirty="0"/>
              <a:t>= sujeto</a:t>
            </a:r>
          </a:p>
          <a:p>
            <a:r>
              <a:rPr lang="ko-KR" altLang="es-CL" sz="3600" dirty="0"/>
              <a:t>을</a:t>
            </a:r>
            <a:r>
              <a:rPr lang="es-CL" altLang="ko-KR" sz="3600" dirty="0"/>
              <a:t>/</a:t>
            </a:r>
            <a:r>
              <a:rPr lang="ko-KR" altLang="es-CL" sz="3600" dirty="0"/>
              <a:t>를 </a:t>
            </a:r>
            <a:r>
              <a:rPr lang="es-CL" altLang="ko-KR" sz="3600" dirty="0"/>
              <a:t>= objeto</a:t>
            </a:r>
            <a:endParaRPr lang="es-CL" sz="3600" dirty="0"/>
          </a:p>
        </p:txBody>
      </p:sp>
    </p:spTree>
    <p:extLst>
      <p:ext uri="{BB962C8B-B14F-4D97-AF65-F5344CB8AC3E}">
        <p14:creationId xmlns:p14="http://schemas.microsoft.com/office/powerpoint/2010/main" val="1875751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_78_m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9575F2-9A42-A7B4-0CBF-32E0AEA193FD}"/>
              </a:ext>
            </a:extLst>
          </p:cNvPr>
          <p:cNvSpPr txBox="1"/>
          <p:nvPr/>
        </p:nvSpPr>
        <p:spPr>
          <a:xfrm>
            <a:off x="4242608" y="515064"/>
            <a:ext cx="185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침대</a:t>
            </a:r>
            <a:r>
              <a:rPr lang="ko-KR" altLang="es-CL" dirty="0">
                <a:highlight>
                  <a:srgbClr val="FFFF00"/>
                </a:highlight>
              </a:rPr>
              <a:t>에서</a:t>
            </a:r>
            <a:r>
              <a:rPr lang="ko-KR" altLang="es-CL" dirty="0"/>
              <a:t> 잡니다</a:t>
            </a:r>
            <a:endParaRPr lang="es-C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EDDC48-1116-88EF-0E6C-0D0CD6C749FF}"/>
              </a:ext>
            </a:extLst>
          </p:cNvPr>
          <p:cNvSpPr txBox="1"/>
          <p:nvPr/>
        </p:nvSpPr>
        <p:spPr>
          <a:xfrm>
            <a:off x="7122562" y="354695"/>
            <a:ext cx="265649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침대에서 잡니까</a:t>
            </a:r>
            <a:r>
              <a:rPr lang="es-CL" altLang="ko-KR" dirty="0"/>
              <a:t>?</a:t>
            </a:r>
          </a:p>
          <a:p>
            <a:r>
              <a:rPr lang="es-CL" altLang="ko-KR" dirty="0"/>
              <a:t>Cama(en) </a:t>
            </a:r>
            <a:r>
              <a:rPr lang="es-CL" altLang="ko-KR" dirty="0" err="1"/>
              <a:t>domir</a:t>
            </a:r>
            <a:endParaRPr lang="es-CL" altLang="ko-KR" dirty="0"/>
          </a:p>
          <a:p>
            <a:r>
              <a:rPr lang="ko-KR" altLang="es-CL" dirty="0"/>
              <a:t>아니요</a:t>
            </a:r>
            <a:r>
              <a:rPr lang="es-CL" altLang="ko-KR" dirty="0"/>
              <a:t>, </a:t>
            </a:r>
            <a:r>
              <a:rPr lang="ko-KR" altLang="es-CL" dirty="0"/>
              <a:t>소파</a:t>
            </a:r>
            <a:r>
              <a:rPr lang="ko-KR" altLang="es-CL" dirty="0">
                <a:highlight>
                  <a:srgbClr val="FFFF00"/>
                </a:highlight>
              </a:rPr>
              <a:t>에서</a:t>
            </a:r>
            <a:r>
              <a:rPr lang="ko-KR" altLang="es-CL" dirty="0"/>
              <a:t> 잡니다</a:t>
            </a:r>
            <a:endParaRPr lang="es-CL" altLang="ko-KR" dirty="0"/>
          </a:p>
          <a:p>
            <a:r>
              <a:rPr lang="es-CL" dirty="0"/>
              <a:t>No, </a:t>
            </a:r>
            <a:r>
              <a:rPr lang="es-CL" dirty="0" err="1"/>
              <a:t>sillon</a:t>
            </a:r>
            <a:r>
              <a:rPr lang="es-CL" dirty="0"/>
              <a:t>(en) dormir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53FF35-5467-B418-FAC3-66D494D31B2C}"/>
              </a:ext>
            </a:extLst>
          </p:cNvPr>
          <p:cNvSpPr txBox="1"/>
          <p:nvPr/>
        </p:nvSpPr>
        <p:spPr>
          <a:xfrm>
            <a:off x="8229600" y="270200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주비입니다</a:t>
            </a:r>
            <a:endParaRPr lang="es-C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A236B3-C124-FC2D-4D0E-D2E4E4433A42}"/>
              </a:ext>
            </a:extLst>
          </p:cNvPr>
          <p:cNvSpPr txBox="1"/>
          <p:nvPr/>
        </p:nvSpPr>
        <p:spPr>
          <a:xfrm>
            <a:off x="8229600" y="3333513"/>
            <a:ext cx="25987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종이 비행기</a:t>
            </a:r>
            <a:r>
              <a:rPr lang="ko-KR" altLang="es-CL" dirty="0">
                <a:highlight>
                  <a:srgbClr val="FFFF00"/>
                </a:highlight>
              </a:rPr>
              <a:t>를</a:t>
            </a:r>
            <a:r>
              <a:rPr lang="ko-KR" altLang="es-CL" dirty="0"/>
              <a:t> 만듭니다</a:t>
            </a:r>
            <a:endParaRPr lang="es-CL" altLang="ko-KR" dirty="0"/>
          </a:p>
          <a:p>
            <a:r>
              <a:rPr lang="es-CL" dirty="0"/>
              <a:t>Papel avión(PO) crear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1F7EEE-9CA7-4BC2-E6C2-17C27F655642}"/>
              </a:ext>
            </a:extLst>
          </p:cNvPr>
          <p:cNvSpPr txBox="1"/>
          <p:nvPr/>
        </p:nvSpPr>
        <p:spPr>
          <a:xfrm>
            <a:off x="8382000" y="3960940"/>
            <a:ext cx="2553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무슨 책</a:t>
            </a:r>
            <a:r>
              <a:rPr lang="ko-KR" altLang="es-CL" dirty="0">
                <a:highlight>
                  <a:srgbClr val="FFFF00"/>
                </a:highlight>
              </a:rPr>
              <a:t>을</a:t>
            </a:r>
            <a:r>
              <a:rPr lang="ko-KR" altLang="es-CL" dirty="0"/>
              <a:t> 읽습니까</a:t>
            </a:r>
            <a:r>
              <a:rPr lang="es-CL" altLang="ko-KR" dirty="0"/>
              <a:t>?</a:t>
            </a:r>
          </a:p>
          <a:p>
            <a:r>
              <a:rPr lang="es-CL" dirty="0"/>
              <a:t>Que libro(PO) leer formal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50AA7B-FDEE-4ECA-6142-0E98E4BFC3B1}"/>
              </a:ext>
            </a:extLst>
          </p:cNvPr>
          <p:cNvSpPr txBox="1"/>
          <p:nvPr/>
        </p:nvSpPr>
        <p:spPr>
          <a:xfrm>
            <a:off x="8313420" y="4735876"/>
            <a:ext cx="2855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연필이 있습니까</a:t>
            </a:r>
            <a:r>
              <a:rPr lang="es-CL" altLang="ko-KR" dirty="0"/>
              <a:t>?</a:t>
            </a:r>
          </a:p>
          <a:p>
            <a:r>
              <a:rPr lang="es-CL" dirty="0" err="1"/>
              <a:t>Lapiz</a:t>
            </a:r>
            <a:r>
              <a:rPr lang="es-CL" dirty="0"/>
              <a:t>(P/S) haber/tener/estar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_78_con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DDEB32-FCA2-C6A2-E952-0E86AEC9E53E}"/>
              </a:ext>
            </a:extLst>
          </p:cNvPr>
          <p:cNvSpPr txBox="1"/>
          <p:nvPr/>
        </p:nvSpPr>
        <p:spPr>
          <a:xfrm>
            <a:off x="4194048" y="1999488"/>
            <a:ext cx="1800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습니다</a:t>
            </a:r>
            <a:r>
              <a:rPr lang="es-CL" altLang="ko-KR" dirty="0"/>
              <a:t>/</a:t>
            </a:r>
            <a:r>
              <a:rPr lang="ko-KR" altLang="es-CL" dirty="0"/>
              <a:t>습니까</a:t>
            </a:r>
            <a:r>
              <a:rPr lang="es-CL" altLang="ko-KR" dirty="0"/>
              <a:t>?</a:t>
            </a:r>
          </a:p>
          <a:p>
            <a:r>
              <a:rPr lang="es-CL" dirty="0"/>
              <a:t>[</a:t>
            </a:r>
            <a:r>
              <a:rPr lang="ko-KR" altLang="es-CL" dirty="0"/>
              <a:t>슴니다</a:t>
            </a:r>
            <a:r>
              <a:rPr lang="es-CL" altLang="ko-KR" dirty="0"/>
              <a:t>/</a:t>
            </a:r>
            <a:r>
              <a:rPr lang="ko-KR" altLang="es-CL" dirty="0"/>
              <a:t>슴니까</a:t>
            </a:r>
            <a:r>
              <a:rPr lang="es-CL" altLang="ko-KR" dirty="0"/>
              <a:t>]</a:t>
            </a:r>
            <a:endParaRPr lang="es-CL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_79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_79_a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754BFE-9D52-2A74-DB07-00C90F2E5606}"/>
              </a:ext>
            </a:extLst>
          </p:cNvPr>
          <p:cNvSpPr txBox="1"/>
          <p:nvPr/>
        </p:nvSpPr>
        <p:spPr>
          <a:xfrm>
            <a:off x="3208020" y="212598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>
                <a:highlight>
                  <a:srgbClr val="FFFF00"/>
                </a:highlight>
              </a:rPr>
              <a:t>앉</a:t>
            </a:r>
            <a:r>
              <a:rPr lang="ko-KR" altLang="es-CL" dirty="0"/>
              <a:t>아요</a:t>
            </a:r>
            <a:endParaRPr lang="es-C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5003E8-5F62-4F12-4578-7CB622FF1FC9}"/>
              </a:ext>
            </a:extLst>
          </p:cNvPr>
          <p:cNvSpPr txBox="1"/>
          <p:nvPr/>
        </p:nvSpPr>
        <p:spPr>
          <a:xfrm>
            <a:off x="4232910" y="1322070"/>
            <a:ext cx="10358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한  </a:t>
            </a:r>
            <a:r>
              <a:rPr lang="ko-KR" altLang="es-CL" dirty="0">
                <a:highlight>
                  <a:srgbClr val="00FFFF"/>
                </a:highlight>
              </a:rPr>
              <a:t>ㅎ</a:t>
            </a:r>
            <a:r>
              <a:rPr lang="ko-KR" altLang="es-CL" dirty="0"/>
              <a:t> </a:t>
            </a:r>
            <a:r>
              <a:rPr lang="ko-KR" altLang="es-CL" dirty="0">
                <a:highlight>
                  <a:srgbClr val="FFFF00"/>
                </a:highlight>
              </a:rPr>
              <a:t>ㅏ</a:t>
            </a:r>
            <a:endParaRPr lang="es-CL" altLang="ko-KR" dirty="0">
              <a:highlight>
                <a:srgbClr val="FFFF00"/>
              </a:highlight>
            </a:endParaRPr>
          </a:p>
          <a:p>
            <a:r>
              <a:rPr lang="es-CL" dirty="0"/>
              <a:t>         </a:t>
            </a:r>
            <a:r>
              <a:rPr lang="ko-KR" altLang="es-CL" dirty="0">
                <a:highlight>
                  <a:srgbClr val="FF00FF"/>
                </a:highlight>
              </a:rPr>
              <a:t>ㄴ</a:t>
            </a:r>
            <a:endParaRPr lang="es-CL" altLang="ko-KR" dirty="0">
              <a:highlight>
                <a:srgbClr val="FF00FF"/>
              </a:highlight>
            </a:endParaRPr>
          </a:p>
          <a:p>
            <a:endParaRPr lang="es-C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54E68A-D5FE-1418-C0A4-D308D84B9F43}"/>
              </a:ext>
            </a:extLst>
          </p:cNvPr>
          <p:cNvSpPr txBox="1"/>
          <p:nvPr/>
        </p:nvSpPr>
        <p:spPr>
          <a:xfrm>
            <a:off x="1424940" y="1985010"/>
            <a:ext cx="975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sentarse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68D029-D6AA-0DEE-C11E-94B7E592BDBE}"/>
              </a:ext>
            </a:extLst>
          </p:cNvPr>
          <p:cNvSpPr txBox="1"/>
          <p:nvPr/>
        </p:nvSpPr>
        <p:spPr>
          <a:xfrm>
            <a:off x="1360170" y="2670810"/>
            <a:ext cx="57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vivir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B40EDB-355F-015E-DC17-460F557ED6D4}"/>
              </a:ext>
            </a:extLst>
          </p:cNvPr>
          <p:cNvSpPr txBox="1"/>
          <p:nvPr/>
        </p:nvSpPr>
        <p:spPr>
          <a:xfrm>
            <a:off x="1424940" y="3303270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ir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6E8321-6A28-484E-0AC8-0A4FBC814D73}"/>
              </a:ext>
            </a:extLst>
          </p:cNvPr>
          <p:cNvSpPr txBox="1"/>
          <p:nvPr/>
        </p:nvSpPr>
        <p:spPr>
          <a:xfrm>
            <a:off x="5326380" y="3970020"/>
            <a:ext cx="1225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err="1"/>
              <a:t>encontarse</a:t>
            </a:r>
            <a:endParaRPr lang="es-CL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8B9ECD-DEAC-D636-A972-1E85DE3D9F2E}"/>
              </a:ext>
            </a:extLst>
          </p:cNvPr>
          <p:cNvSpPr txBox="1"/>
          <p:nvPr/>
        </p:nvSpPr>
        <p:spPr>
          <a:xfrm>
            <a:off x="1534268" y="4655820"/>
            <a:ext cx="656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venir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299594-464E-4FA4-B329-F5E7BF9CF87B}"/>
              </a:ext>
            </a:extLst>
          </p:cNvPr>
          <p:cNvSpPr txBox="1"/>
          <p:nvPr/>
        </p:nvSpPr>
        <p:spPr>
          <a:xfrm>
            <a:off x="1534268" y="5288280"/>
            <a:ext cx="482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ver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B4048F-D4D7-E4AA-D695-20B437A912FA}"/>
              </a:ext>
            </a:extLst>
          </p:cNvPr>
          <p:cNvSpPr txBox="1"/>
          <p:nvPr/>
        </p:nvSpPr>
        <p:spPr>
          <a:xfrm>
            <a:off x="5326380" y="5288280"/>
            <a:ext cx="183896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sz="2000" dirty="0"/>
              <a:t>영화</a:t>
            </a:r>
            <a:r>
              <a:rPr lang="ko-KR" altLang="es-CL" sz="2000" dirty="0">
                <a:highlight>
                  <a:srgbClr val="FFFF00"/>
                </a:highlight>
              </a:rPr>
              <a:t>를</a:t>
            </a:r>
            <a:r>
              <a:rPr lang="ko-KR" altLang="es-CL" sz="2000" dirty="0"/>
              <a:t> 봐요</a:t>
            </a:r>
            <a:endParaRPr lang="es-CL" altLang="ko-KR" sz="2000" dirty="0"/>
          </a:p>
          <a:p>
            <a:r>
              <a:rPr lang="es-CL" sz="2000" dirty="0" err="1"/>
              <a:t>King’s</a:t>
            </a:r>
            <a:r>
              <a:rPr lang="es-CL" sz="2000" dirty="0"/>
              <a:t> </a:t>
            </a:r>
            <a:r>
              <a:rPr lang="es-CL" sz="2000" dirty="0" err="1"/>
              <a:t>warden</a:t>
            </a:r>
            <a:endParaRPr lang="es-CL" sz="2000" dirty="0"/>
          </a:p>
          <a:p>
            <a:r>
              <a:rPr lang="ko-KR" altLang="es-CL" sz="2000" dirty="0"/>
              <a:t>왕과 사는 남자</a:t>
            </a:r>
            <a:endParaRPr lang="es-CL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_79_eo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D04877-DAE1-39CB-D701-811A2FB536C7}"/>
              </a:ext>
            </a:extLst>
          </p:cNvPr>
          <p:cNvSpPr txBox="1"/>
          <p:nvPr/>
        </p:nvSpPr>
        <p:spPr>
          <a:xfrm>
            <a:off x="1414272" y="2054352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Comer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1642EE-6B7B-D1F8-33DF-2782EDC3F72E}"/>
              </a:ext>
            </a:extLst>
          </p:cNvPr>
          <p:cNvSpPr txBox="1"/>
          <p:nvPr/>
        </p:nvSpPr>
        <p:spPr>
          <a:xfrm>
            <a:off x="5772912" y="1999488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빵</a:t>
            </a:r>
            <a:r>
              <a:rPr lang="ko-KR" altLang="es-CL" dirty="0">
                <a:highlight>
                  <a:srgbClr val="FFFF00"/>
                </a:highlight>
              </a:rPr>
              <a:t>을</a:t>
            </a:r>
            <a:r>
              <a:rPr lang="ko-KR" altLang="es-CL" dirty="0"/>
              <a:t> 먹어요</a:t>
            </a:r>
            <a:endParaRPr lang="es-C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3B281-B91C-F51E-3F04-FE7CE69E23C3}"/>
              </a:ext>
            </a:extLst>
          </p:cNvPr>
          <p:cNvSpPr txBox="1"/>
          <p:nvPr/>
        </p:nvSpPr>
        <p:spPr>
          <a:xfrm>
            <a:off x="1414272" y="2694432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Leer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6B1A46-1781-0170-D775-B3A41C280C33}"/>
              </a:ext>
            </a:extLst>
          </p:cNvPr>
          <p:cNvSpPr txBox="1"/>
          <p:nvPr/>
        </p:nvSpPr>
        <p:spPr>
          <a:xfrm>
            <a:off x="5663184" y="2663952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신문</a:t>
            </a:r>
            <a:r>
              <a:rPr lang="ko-KR" altLang="es-CL" dirty="0">
                <a:highlight>
                  <a:srgbClr val="FFFF00"/>
                </a:highlight>
              </a:rPr>
              <a:t>을</a:t>
            </a:r>
            <a:r>
              <a:rPr lang="ko-KR" altLang="es-CL" dirty="0"/>
              <a:t> 읽어요</a:t>
            </a:r>
            <a:endParaRPr lang="es-C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0DEE2B-4876-21EA-6743-326DBBD2256C}"/>
              </a:ext>
            </a:extLst>
          </p:cNvPr>
          <p:cNvSpPr txBox="1"/>
          <p:nvPr/>
        </p:nvSpPr>
        <p:spPr>
          <a:xfrm>
            <a:off x="7542995" y="1925288"/>
            <a:ext cx="196079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~</a:t>
            </a:r>
            <a:r>
              <a:rPr lang="ko-KR" altLang="es-CL" dirty="0"/>
              <a:t>세요</a:t>
            </a:r>
            <a:endParaRPr lang="es-CL" altLang="ko-KR" dirty="0"/>
          </a:p>
          <a:p>
            <a:r>
              <a:rPr lang="ko-KR" altLang="es-CL" dirty="0"/>
              <a:t>밥 먹었어</a:t>
            </a:r>
            <a:r>
              <a:rPr lang="es-CL" altLang="ko-KR" dirty="0"/>
              <a:t>?</a:t>
            </a:r>
          </a:p>
          <a:p>
            <a:r>
              <a:rPr lang="ko-KR" altLang="es-CL" dirty="0"/>
              <a:t>밥 먹었어요</a:t>
            </a:r>
            <a:r>
              <a:rPr lang="es-CL" altLang="ko-KR" dirty="0"/>
              <a:t>?</a:t>
            </a:r>
          </a:p>
          <a:p>
            <a:r>
              <a:rPr lang="ko-KR" altLang="es-CL" dirty="0"/>
              <a:t>밥 먹었습니까</a:t>
            </a:r>
            <a:r>
              <a:rPr lang="es-CL" altLang="ko-KR" dirty="0"/>
              <a:t>?</a:t>
            </a:r>
          </a:p>
          <a:p>
            <a:r>
              <a:rPr lang="ko-KR" altLang="es-CL" dirty="0"/>
              <a:t>진지 드셨습니까</a:t>
            </a:r>
            <a:r>
              <a:rPr lang="es-CL" altLang="ko-KR" dirty="0"/>
              <a:t>?</a:t>
            </a:r>
            <a:endParaRPr lang="es-C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1AC854-237F-C5E5-4177-144F72C20AEB}"/>
              </a:ext>
            </a:extLst>
          </p:cNvPr>
          <p:cNvSpPr txBox="1"/>
          <p:nvPr/>
        </p:nvSpPr>
        <p:spPr>
          <a:xfrm>
            <a:off x="1576876" y="3347752"/>
            <a:ext cx="765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enviar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B64C09-9E40-C1E8-82D6-BBD3F28B8BAE}"/>
              </a:ext>
            </a:extLst>
          </p:cNvPr>
          <p:cNvSpPr txBox="1"/>
          <p:nvPr/>
        </p:nvSpPr>
        <p:spPr>
          <a:xfrm>
            <a:off x="5644835" y="3320534"/>
            <a:ext cx="1622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선물</a:t>
            </a:r>
            <a:r>
              <a:rPr lang="ko-KR" altLang="es-CL" dirty="0">
                <a:highlight>
                  <a:srgbClr val="FFFF00"/>
                </a:highlight>
              </a:rPr>
              <a:t>을</a:t>
            </a:r>
            <a:r>
              <a:rPr lang="ko-KR" altLang="es-CL" dirty="0"/>
              <a:t> 보내요</a:t>
            </a:r>
            <a:endParaRPr lang="es-C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5D283E-C568-C985-C6B0-3C13AE2289C3}"/>
              </a:ext>
            </a:extLst>
          </p:cNvPr>
          <p:cNvSpPr txBox="1"/>
          <p:nvPr/>
        </p:nvSpPr>
        <p:spPr>
          <a:xfrm>
            <a:off x="1466410" y="3995714"/>
            <a:ext cx="884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pararse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495904-141F-992C-DB10-A517C74A700C}"/>
              </a:ext>
            </a:extLst>
          </p:cNvPr>
          <p:cNvSpPr txBox="1"/>
          <p:nvPr/>
        </p:nvSpPr>
        <p:spPr>
          <a:xfrm>
            <a:off x="5644835" y="3937278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똑바로 서요</a:t>
            </a:r>
            <a:endParaRPr lang="es-CL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D4006F-CFBB-4616-ED21-79221A6C65C7}"/>
              </a:ext>
            </a:extLst>
          </p:cNvPr>
          <p:cNvSpPr txBox="1"/>
          <p:nvPr/>
        </p:nvSpPr>
        <p:spPr>
          <a:xfrm>
            <a:off x="1517596" y="4625698"/>
            <a:ext cx="1048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aprender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9DF572-87CA-6AB8-F411-64E2BB1EF991}"/>
              </a:ext>
            </a:extLst>
          </p:cNvPr>
          <p:cNvSpPr txBox="1"/>
          <p:nvPr/>
        </p:nvSpPr>
        <p:spPr>
          <a:xfrm>
            <a:off x="5644835" y="4625698"/>
            <a:ext cx="185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한국어</a:t>
            </a:r>
            <a:r>
              <a:rPr lang="ko-KR" altLang="es-CL" dirty="0">
                <a:highlight>
                  <a:srgbClr val="FFFF00"/>
                </a:highlight>
              </a:rPr>
              <a:t>를</a:t>
            </a:r>
            <a:r>
              <a:rPr lang="ko-KR" altLang="es-CL" dirty="0"/>
              <a:t> 배워요</a:t>
            </a:r>
            <a:endParaRPr lang="es-C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F082CA-156F-E781-53E5-55A8C719878F}"/>
              </a:ext>
            </a:extLst>
          </p:cNvPr>
          <p:cNvSpPr txBox="1"/>
          <p:nvPr/>
        </p:nvSpPr>
        <p:spPr>
          <a:xfrm>
            <a:off x="1576876" y="5296996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beber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1A6E6D-FC5B-305A-91DD-CE3235867509}"/>
              </a:ext>
            </a:extLst>
          </p:cNvPr>
          <p:cNvSpPr txBox="1"/>
          <p:nvPr/>
        </p:nvSpPr>
        <p:spPr>
          <a:xfrm>
            <a:off x="5718048" y="5158496"/>
            <a:ext cx="3444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dirty="0"/>
              <a:t>맛있다</a:t>
            </a:r>
            <a:endParaRPr lang="es-CL" altLang="ko-KR" dirty="0"/>
          </a:p>
          <a:p>
            <a:r>
              <a:rPr lang="es-CL" dirty="0"/>
              <a:t>Sabor(haber/estar)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5890A0-C299-F3CB-5B34-E7B74AF4C039}"/>
              </a:ext>
            </a:extLst>
          </p:cNvPr>
          <p:cNvSpPr txBox="1"/>
          <p:nvPr/>
        </p:nvSpPr>
        <p:spPr>
          <a:xfrm>
            <a:off x="3592323" y="5798107"/>
            <a:ext cx="3444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dirty="0"/>
              <a:t>우유</a:t>
            </a:r>
            <a:r>
              <a:rPr lang="ko-KR" altLang="es-CL" dirty="0">
                <a:highlight>
                  <a:srgbClr val="FFFF00"/>
                </a:highlight>
              </a:rPr>
              <a:t>를</a:t>
            </a:r>
            <a:r>
              <a:rPr lang="ko-KR" altLang="es-CL" dirty="0"/>
              <a:t> 마셔요</a:t>
            </a:r>
            <a:endParaRPr lang="es-CL" altLang="ko-KR" dirty="0"/>
          </a:p>
          <a:p>
            <a:r>
              <a:rPr lang="ko-KR" altLang="es-CL" dirty="0"/>
              <a:t>맥주를 마셔요</a:t>
            </a:r>
            <a:endParaRPr lang="es-CL" altLang="ko-KR" dirty="0"/>
          </a:p>
          <a:p>
            <a:r>
              <a:rPr lang="ko-KR" altLang="es-CL" dirty="0"/>
              <a:t>이모 여기 맥주 주세요</a:t>
            </a:r>
            <a:endParaRPr lang="es-CL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_79_haeday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B6D7E3-E906-6D31-BF12-43366FE62B48}"/>
              </a:ext>
            </a:extLst>
          </p:cNvPr>
          <p:cNvSpPr txBox="1"/>
          <p:nvPr/>
        </p:nvSpPr>
        <p:spPr>
          <a:xfrm>
            <a:off x="982980" y="3429000"/>
            <a:ext cx="25362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공부</a:t>
            </a:r>
            <a:r>
              <a:rPr lang="ko-KR" altLang="es-CL" dirty="0">
                <a:highlight>
                  <a:srgbClr val="FFFF00"/>
                </a:highlight>
              </a:rPr>
              <a:t>를</a:t>
            </a:r>
            <a:r>
              <a:rPr lang="ko-KR" altLang="es-CL" dirty="0"/>
              <a:t> 해요 </a:t>
            </a:r>
            <a:r>
              <a:rPr lang="es-CL" altLang="ko-KR" dirty="0"/>
              <a:t>= </a:t>
            </a:r>
            <a:r>
              <a:rPr lang="ko-KR" altLang="es-CL" dirty="0"/>
              <a:t>공부해요</a:t>
            </a:r>
            <a:endParaRPr lang="es-CL" altLang="ko-KR" dirty="0"/>
          </a:p>
          <a:p>
            <a:r>
              <a:rPr lang="ko-KR" altLang="es-CL" dirty="0"/>
              <a:t>전화</a:t>
            </a:r>
            <a:r>
              <a:rPr lang="ko-KR" altLang="es-CL" dirty="0">
                <a:highlight>
                  <a:srgbClr val="FFFF00"/>
                </a:highlight>
              </a:rPr>
              <a:t>를</a:t>
            </a:r>
            <a:r>
              <a:rPr lang="ko-KR" altLang="es-CL" dirty="0"/>
              <a:t> 해요 </a:t>
            </a:r>
            <a:r>
              <a:rPr lang="es-CL" altLang="ko-KR" dirty="0"/>
              <a:t>= </a:t>
            </a:r>
            <a:r>
              <a:rPr lang="ko-KR" altLang="es-CL" dirty="0"/>
              <a:t>전화해요</a:t>
            </a:r>
            <a:endParaRPr lang="es-CL" altLang="ko-KR" dirty="0"/>
          </a:p>
          <a:p>
            <a:r>
              <a:rPr lang="ko-KR" altLang="es-CL" dirty="0"/>
              <a:t>일</a:t>
            </a:r>
            <a:r>
              <a:rPr lang="ko-KR" altLang="es-CL" dirty="0">
                <a:highlight>
                  <a:srgbClr val="FFFF00"/>
                </a:highlight>
              </a:rPr>
              <a:t>을</a:t>
            </a:r>
            <a:r>
              <a:rPr lang="ko-KR" altLang="es-CL" dirty="0"/>
              <a:t> 해요 </a:t>
            </a:r>
            <a:r>
              <a:rPr lang="es-CL" altLang="ko-KR" dirty="0"/>
              <a:t>= </a:t>
            </a:r>
            <a:r>
              <a:rPr lang="ko-KR" altLang="es-CL" dirty="0"/>
              <a:t>일해요</a:t>
            </a:r>
            <a:endParaRPr lang="es-CL" altLang="ko-KR" dirty="0"/>
          </a:p>
          <a:p>
            <a:endParaRPr lang="es-C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32587B-A11B-771C-1B79-CE2405C41094}"/>
              </a:ext>
            </a:extLst>
          </p:cNvPr>
          <p:cNvSpPr txBox="1"/>
          <p:nvPr/>
        </p:nvSpPr>
        <p:spPr>
          <a:xfrm>
            <a:off x="982980" y="4404360"/>
            <a:ext cx="25362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운동</a:t>
            </a:r>
            <a:r>
              <a:rPr lang="ko-KR" altLang="es-CL" dirty="0">
                <a:highlight>
                  <a:srgbClr val="FFFF00"/>
                </a:highlight>
              </a:rPr>
              <a:t>을</a:t>
            </a:r>
            <a:r>
              <a:rPr lang="ko-KR" altLang="es-CL" dirty="0"/>
              <a:t> 해요 </a:t>
            </a:r>
            <a:r>
              <a:rPr lang="es-CL" altLang="ko-KR" dirty="0"/>
              <a:t>= </a:t>
            </a:r>
            <a:r>
              <a:rPr lang="ko-KR" altLang="es-CL" dirty="0"/>
              <a:t>운동해요</a:t>
            </a:r>
            <a:endParaRPr lang="es-CL" altLang="ko-KR" dirty="0"/>
          </a:p>
          <a:p>
            <a:r>
              <a:rPr lang="es-CL" dirty="0"/>
              <a:t>Ejercicio </a:t>
            </a:r>
          </a:p>
          <a:p>
            <a:r>
              <a:rPr lang="ko-KR" altLang="es-CL" dirty="0"/>
              <a:t>청소를 해요 </a:t>
            </a:r>
            <a:r>
              <a:rPr lang="es-CL" altLang="ko-KR" dirty="0"/>
              <a:t>= </a:t>
            </a:r>
            <a:r>
              <a:rPr lang="ko-KR" altLang="es-CL" dirty="0"/>
              <a:t>청소해요</a:t>
            </a:r>
            <a:endParaRPr lang="es-CL" altLang="ko-KR" dirty="0"/>
          </a:p>
          <a:p>
            <a:r>
              <a:rPr lang="es-CL" dirty="0"/>
              <a:t>Limpiar, hacer el aseo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1A30E2-52F2-716D-4354-AB61708C1FB2}"/>
              </a:ext>
            </a:extLst>
          </p:cNvPr>
          <p:cNvSpPr txBox="1"/>
          <p:nvPr/>
        </p:nvSpPr>
        <p:spPr>
          <a:xfrm>
            <a:off x="7299960" y="1371600"/>
            <a:ext cx="2522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Vocal / Consonante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_79_con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F7DE39-07A8-F943-29CF-CE034A113F79}"/>
              </a:ext>
            </a:extLst>
          </p:cNvPr>
          <p:cNvSpPr txBox="1"/>
          <p:nvPr/>
        </p:nvSpPr>
        <p:spPr>
          <a:xfrm>
            <a:off x="3268980" y="2153920"/>
            <a:ext cx="167545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무엇</a:t>
            </a:r>
            <a:endParaRPr lang="es-CL" altLang="ko-KR" dirty="0"/>
          </a:p>
          <a:p>
            <a:r>
              <a:rPr lang="ko-KR" altLang="es-CL" dirty="0"/>
              <a:t>뭐 </a:t>
            </a:r>
            <a:r>
              <a:rPr lang="es-CL" altLang="ko-KR" dirty="0"/>
              <a:t>= que</a:t>
            </a:r>
          </a:p>
          <a:p>
            <a:r>
              <a:rPr lang="ko-KR" altLang="es-CL" dirty="0"/>
              <a:t>무엇을</a:t>
            </a:r>
            <a:endParaRPr lang="es-CL" altLang="ko-KR" dirty="0"/>
          </a:p>
          <a:p>
            <a:r>
              <a:rPr lang="ko-KR" altLang="es-CL" dirty="0"/>
              <a:t>뭐를</a:t>
            </a:r>
            <a:endParaRPr lang="es-CL" altLang="ko-KR" dirty="0"/>
          </a:p>
          <a:p>
            <a:r>
              <a:rPr lang="ko-KR" altLang="es-CL" dirty="0"/>
              <a:t>뭘</a:t>
            </a:r>
            <a:endParaRPr lang="es-CL" altLang="ko-KR" dirty="0"/>
          </a:p>
          <a:p>
            <a:r>
              <a:rPr lang="ko-KR" altLang="es-CL" dirty="0"/>
              <a:t>뭐 해요</a:t>
            </a:r>
            <a:r>
              <a:rPr lang="es-CL" altLang="ko-KR" dirty="0"/>
              <a:t>?</a:t>
            </a:r>
          </a:p>
          <a:p>
            <a:r>
              <a:rPr lang="es-CL" altLang="ko-KR" dirty="0"/>
              <a:t>Que haces? </a:t>
            </a:r>
          </a:p>
          <a:p>
            <a:r>
              <a:rPr lang="ko-KR" altLang="es-CL" dirty="0"/>
              <a:t>공부해요</a:t>
            </a:r>
            <a:endParaRPr lang="es-CL" altLang="ko-KR" dirty="0"/>
          </a:p>
          <a:p>
            <a:r>
              <a:rPr lang="ko-KR" altLang="es-CL" dirty="0"/>
              <a:t>일해요</a:t>
            </a:r>
            <a:endParaRPr lang="es-CL" altLang="ko-KR" dirty="0"/>
          </a:p>
          <a:p>
            <a:r>
              <a:rPr lang="ko-KR" altLang="es-CL" dirty="0"/>
              <a:t>영화봐요</a:t>
            </a:r>
            <a:endParaRPr lang="es-CL" altLang="ko-KR" dirty="0"/>
          </a:p>
          <a:p>
            <a:r>
              <a:rPr lang="ko-KR" altLang="es-CL" dirty="0"/>
              <a:t>저녁을 먹어요</a:t>
            </a:r>
            <a:endParaRPr lang="es-CL" altLang="ko-KR" dirty="0"/>
          </a:p>
          <a:p>
            <a:r>
              <a:rPr lang="ko-KR" altLang="es-CL" dirty="0"/>
              <a:t>밥 먹</a:t>
            </a:r>
            <a:r>
              <a:rPr lang="ko-KR" altLang="es-CL" dirty="0">
                <a:highlight>
                  <a:srgbClr val="FFFF00"/>
                </a:highlight>
              </a:rPr>
              <a:t>고</a:t>
            </a:r>
            <a:r>
              <a:rPr lang="ko-KR" altLang="es-CL" dirty="0"/>
              <a:t> 있어요</a:t>
            </a:r>
            <a:endParaRPr lang="es-CL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BFDC53-81AF-8FA8-5ED2-1BFCA0CE1756}"/>
              </a:ext>
            </a:extLst>
          </p:cNvPr>
          <p:cNvSpPr txBox="1"/>
          <p:nvPr/>
        </p:nvSpPr>
        <p:spPr>
          <a:xfrm>
            <a:off x="5142854" y="2514600"/>
            <a:ext cx="190629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altLang="ko-KR" dirty="0">
                <a:highlight>
                  <a:srgbClr val="FFFF00"/>
                </a:highlight>
              </a:rPr>
              <a:t>~</a:t>
            </a:r>
            <a:r>
              <a:rPr lang="ko-KR" altLang="es-CL" dirty="0">
                <a:highlight>
                  <a:srgbClr val="FFFF00"/>
                </a:highlight>
              </a:rPr>
              <a:t>고 있어요</a:t>
            </a:r>
            <a:endParaRPr lang="es-CL" altLang="ko-KR" dirty="0">
              <a:highlight>
                <a:srgbClr val="FFFF00"/>
              </a:highlight>
            </a:endParaRPr>
          </a:p>
          <a:p>
            <a:r>
              <a:rPr lang="es-CL" dirty="0" err="1"/>
              <a:t>Ing</a:t>
            </a:r>
            <a:r>
              <a:rPr lang="es-CL" dirty="0"/>
              <a:t>/gerundio</a:t>
            </a:r>
          </a:p>
          <a:p>
            <a:r>
              <a:rPr lang="es-CL" dirty="0"/>
              <a:t>Presente continuo</a:t>
            </a:r>
          </a:p>
          <a:p>
            <a:r>
              <a:rPr lang="es-CL" dirty="0" err="1"/>
              <a:t>Iendo</a:t>
            </a:r>
            <a:r>
              <a:rPr lang="es-CL" dirty="0"/>
              <a:t>/ando</a:t>
            </a:r>
          </a:p>
          <a:p>
            <a:r>
              <a:rPr lang="ko-KR" altLang="es-CL" dirty="0"/>
              <a:t>책을 읽</a:t>
            </a:r>
            <a:r>
              <a:rPr lang="ko-KR" altLang="es-CL" dirty="0">
                <a:highlight>
                  <a:srgbClr val="FFFF00"/>
                </a:highlight>
              </a:rPr>
              <a:t>고</a:t>
            </a:r>
            <a:r>
              <a:rPr lang="ko-KR" altLang="es-CL" dirty="0"/>
              <a:t> </a:t>
            </a:r>
            <a:r>
              <a:rPr lang="ko-KR" altLang="es-CL" dirty="0">
                <a:highlight>
                  <a:srgbClr val="FFFF00"/>
                </a:highlight>
              </a:rPr>
              <a:t>있어요</a:t>
            </a:r>
            <a:endParaRPr lang="es-CL" altLang="ko-KR" dirty="0">
              <a:highlight>
                <a:srgbClr val="FFFF00"/>
              </a:highlight>
            </a:endParaRPr>
          </a:p>
          <a:p>
            <a:r>
              <a:rPr lang="es-CL" dirty="0"/>
              <a:t>Leyendo un libro</a:t>
            </a:r>
          </a:p>
          <a:p>
            <a:r>
              <a:rPr lang="ko-KR" altLang="es-CL" dirty="0"/>
              <a:t>뭐예요</a:t>
            </a:r>
            <a:r>
              <a:rPr lang="es-CL" altLang="ko-KR" dirty="0"/>
              <a:t>?</a:t>
            </a:r>
            <a:br>
              <a:rPr lang="es-CL" altLang="ko-KR" dirty="0"/>
            </a:br>
            <a:r>
              <a:rPr lang="es-CL" altLang="ko-KR" dirty="0"/>
              <a:t>Que es?</a:t>
            </a:r>
            <a:endParaRPr lang="es-CL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6CC7C2-7A2D-25A8-AF2D-FB44F0189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7455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7C423E-1ED9-85B2-7ECC-75C0E01619DC}"/>
              </a:ext>
            </a:extLst>
          </p:cNvPr>
          <p:cNvSpPr txBox="1"/>
          <p:nvPr/>
        </p:nvSpPr>
        <p:spPr>
          <a:xfrm>
            <a:off x="472102" y="2537498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OSO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AD11C3-EEEE-840A-68D5-DC2EEE9F1429}"/>
              </a:ext>
            </a:extLst>
          </p:cNvPr>
          <p:cNvSpPr txBox="1"/>
          <p:nvPr/>
        </p:nvSpPr>
        <p:spPr>
          <a:xfrm>
            <a:off x="1067137" y="2537498"/>
            <a:ext cx="2576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Tres (conteo animales) 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88E2ED-C60D-7ADC-B4D8-1319E3AF4A27}"/>
              </a:ext>
            </a:extLst>
          </p:cNvPr>
          <p:cNvSpPr txBox="1"/>
          <p:nvPr/>
        </p:nvSpPr>
        <p:spPr>
          <a:xfrm>
            <a:off x="3726517" y="2499398"/>
            <a:ext cx="254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Uno Casa Lugar  esta/hay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E53106-95DC-4074-CB44-681D87A9FA28}"/>
              </a:ext>
            </a:extLst>
          </p:cNvPr>
          <p:cNvSpPr txBox="1"/>
          <p:nvPr/>
        </p:nvSpPr>
        <p:spPr>
          <a:xfrm>
            <a:off x="6713220" y="2537498"/>
            <a:ext cx="4134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Papa oso      mama oso                  bebe oso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34930B-AA5E-9F9A-5B20-55BEABC267D9}"/>
              </a:ext>
            </a:extLst>
          </p:cNvPr>
          <p:cNvSpPr txBox="1"/>
          <p:nvPr/>
        </p:nvSpPr>
        <p:spPr>
          <a:xfrm>
            <a:off x="769619" y="4168178"/>
            <a:ext cx="9942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Papa oso (P/T)                                    Gordo                                              mama oso (P/T)                        delgada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C28AAC-D49C-FDEF-D571-130087C1540F}"/>
              </a:ext>
            </a:extLst>
          </p:cNvPr>
          <p:cNvSpPr txBox="1"/>
          <p:nvPr/>
        </p:nvSpPr>
        <p:spPr>
          <a:xfrm>
            <a:off x="2618521" y="287011"/>
            <a:ext cx="16530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뚱뚱하다</a:t>
            </a:r>
            <a:endParaRPr lang="es-CL" altLang="ko-KR" dirty="0"/>
          </a:p>
          <a:p>
            <a:r>
              <a:rPr lang="ko-KR" altLang="es-CL" dirty="0"/>
              <a:t>뚱뚱해요</a:t>
            </a:r>
            <a:endParaRPr lang="es-CL" altLang="ko-KR" dirty="0"/>
          </a:p>
          <a:p>
            <a:r>
              <a:rPr lang="ko-KR" altLang="es-CL" dirty="0"/>
              <a:t>뚱뚱해</a:t>
            </a:r>
            <a:endParaRPr lang="es-CL" altLang="ko-KR" dirty="0"/>
          </a:p>
          <a:p>
            <a:r>
              <a:rPr lang="ko-KR" altLang="es-CL" dirty="0"/>
              <a:t>뚱뚱을 해요</a:t>
            </a:r>
            <a:r>
              <a:rPr lang="es-CL" altLang="ko-KR" dirty="0"/>
              <a:t>(X)</a:t>
            </a:r>
            <a:endParaRPr lang="es-C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1DEF50-A578-0B3F-8A2D-EF90EC7EB478}"/>
              </a:ext>
            </a:extLst>
          </p:cNvPr>
          <p:cNvSpPr txBox="1"/>
          <p:nvPr/>
        </p:nvSpPr>
        <p:spPr>
          <a:xfrm>
            <a:off x="960582" y="5957455"/>
            <a:ext cx="9883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Bebe oso  (P/T)                        mucho/muy  tierno                              sonido de subirse hombros   bien hace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618027-7A29-E553-425F-45C3BD9ED7C2}"/>
              </a:ext>
            </a:extLst>
          </p:cNvPr>
          <p:cNvSpPr txBox="1"/>
          <p:nvPr/>
        </p:nvSpPr>
        <p:spPr>
          <a:xfrm>
            <a:off x="7176470" y="574555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s-CL" dirty="0"/>
              <a:t>으쓱으쓱</a:t>
            </a:r>
            <a:endParaRPr lang="es-CL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B6F78E-A02C-0661-6579-626D7BF55BC1}"/>
              </a:ext>
            </a:extLst>
          </p:cNvPr>
          <p:cNvSpPr txBox="1"/>
          <p:nvPr/>
        </p:nvSpPr>
        <p:spPr>
          <a:xfrm>
            <a:off x="8021770" y="0"/>
            <a:ext cx="31034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s-CL" sz="3600" dirty="0"/>
              <a:t>의리 </a:t>
            </a:r>
            <a:r>
              <a:rPr lang="es-CL" altLang="ko-KR" sz="3600" dirty="0"/>
              <a:t>= </a:t>
            </a:r>
            <a:r>
              <a:rPr lang="es-CL" altLang="ko-KR" sz="3600" dirty="0" err="1"/>
              <a:t>Leatad</a:t>
            </a:r>
            <a:endParaRPr lang="es-CL" altLang="ko-KR" sz="3600" dirty="0"/>
          </a:p>
          <a:p>
            <a:r>
              <a:rPr lang="ko-KR" altLang="es-CL" sz="3600" dirty="0"/>
              <a:t>사자성어</a:t>
            </a:r>
            <a:endParaRPr lang="es-CL" altLang="ko-KR" sz="3600" dirty="0"/>
          </a:p>
          <a:p>
            <a:r>
              <a:rPr lang="ko-KR" altLang="es-CL" sz="3600" dirty="0"/>
              <a:t>폼생폼사</a:t>
            </a:r>
            <a:endParaRPr lang="es-CL" sz="3600" dirty="0"/>
          </a:p>
        </p:txBody>
      </p:sp>
    </p:spTree>
    <p:extLst>
      <p:ext uri="{BB962C8B-B14F-4D97-AF65-F5344CB8AC3E}">
        <p14:creationId xmlns:p14="http://schemas.microsoft.com/office/powerpoint/2010/main" val="6489923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_710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_710_e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_710_con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5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sleepy-zen-cray/mnt/outputs/deck_assets/logo_principal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743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3258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0" y="169164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aprendiste hoy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371600" y="2606040"/>
            <a:ext cx="9418320" cy="246888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45920" y="278892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Números coreanos puros 1-10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Horas en punto (한 시, 두 시…)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부터…까지 (desde…hasta)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Conector -고 para encadenar acciones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12 verbos de rutina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ㄷ irregular (듣다 → 들어요)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Podés narrar tu día entero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34924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TAREA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5715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2 min: tu rutina típica con al menos 7 verbos encadenados con -고. Discord #tarea-sesion-7.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709340-4C01-8DE5-5C12-0EEABF802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151" y="282995"/>
            <a:ext cx="8005867" cy="6136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5656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D2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12161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화이팅!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0" y="402336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vemos en la próxima sesión</a:t>
            </a:r>
            <a:endParaRPr lang="en-US" sz="1800" dirty="0"/>
          </a:p>
        </p:txBody>
      </p:sp>
      <p:pic>
        <p:nvPicPr>
          <p:cNvPr id="4" name="Image 0" descr="/sessions/sleepy-zen-cray/mnt/outputs/deck_assets/logo_principal_bl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48463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635508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ACADEMIA SEÚL · 김재희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1555</Words>
  <Application>Microsoft Office PowerPoint</Application>
  <PresentationFormat>Widescreen</PresentationFormat>
  <Paragraphs>386</Paragraphs>
  <Slides>36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Malgun Gothic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Academia Seúl · A1 · Sesión 7</dc:title>
  <dc:subject>PptxGenJS Presentation</dc:subject>
  <dc:creator>김재희 (Jay Kim)</dc:creator>
  <cp:lastModifiedBy>Jae Hee Kim</cp:lastModifiedBy>
  <cp:revision>127</cp:revision>
  <dcterms:created xsi:type="dcterms:W3CDTF">2026-06-02T01:22:05Z</dcterms:created>
  <dcterms:modified xsi:type="dcterms:W3CDTF">2026-07-20T01:36:26Z</dcterms:modified>
</cp:coreProperties>
</file>