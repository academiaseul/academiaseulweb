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92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868680"/>
            <a:ext cx="9814255" cy="4663440"/>
          </a:xfrm>
          <a:prstGeom prst="roundRect">
            <a:avLst>
              <a:gd name="adj" fmla="val 5882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18872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55448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188720" y="310896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Alfabeto Más Inteligente del Mundo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56616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filosóficos del Hunminjeongeum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nacimiento de las vocales coreanas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42976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8006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kern="0" spc="2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Chingu™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51206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cultura. Después el idioma.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585216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 ·  Jae Hee Kim  ·  김재희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635508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 a tu primer capítulo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querido estudiante. Mi nombre es Jae Hee Kim, y soy el fundador de Academia Seúl.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A"/>
                </a:solidFill>
              </a:rPr>
              <a:t>Antes de que comencemos, quiero pedirte algo: </a:t>
            </a:r>
            <a:r>
              <a:rPr lang="en-US" sz="1500" b="1" i="1" dirty="0">
                <a:solidFill>
                  <a:srgbClr val="4036ED"/>
                </a:solidFill>
              </a:rPr>
              <a:t>no abras este libro pensando que vas a aprender un alfabeto.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1E2A"/>
                </a:solidFill>
              </a:rPr>
              <a:t>Lo que vas a hacer es entrar en una manera distinta de mirar el mundo — la manera en que los coreanos mirábamos la naturaleza hace casi seiscientos años, cuando nuestro Rey decidió darnos un sistema de escritura propio.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4A4A55"/>
                </a:solidFill>
              </a:rPr>
              <a:t>En este capítulo no memorizaremos las letras: las vamos a deducir, igual que ellos. Cuando termines, no solo vas a saber pronunciar las vocales coreanas — vas a entender de dónde vienen, por qué tienen esa forma, y por qué los lingüistas modernos las consideran un milagro de diseño.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E6768"/>
                </a:solidFill>
              </a:rPr>
              <a:t>Bienvenido al Method Chingu™. Empecemos.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 · 1443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de un Rey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cómo Sejong el Grande se sentó frente a sus eruditos y cambió la historia.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0" b="1" dirty="0">
                <a:solidFill>
                  <a:srgbClr val="FE6768"/>
                </a:solidFill>
              </a:rPr>
              <a:t>"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188720" y="256032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no tenemos escritura propia, por eso usamos los caracteres chinos. Pero nuestra lengua es distinta de la china, y los caracteres chinos no la pueden representar. Movido por compasión, he creado veintiocho letras nuevas. Quiero que cualquier persona pueda aprenderlas con facilidad y usarlas cómodamente todos los días.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5212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SEJONG EL GRANDE · 세종대왕 · 1443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95360" y="2377440"/>
            <a:ext cx="3108960" cy="3474720"/>
          </a:xfrm>
          <a:prstGeom prst="roundRect">
            <a:avLst>
              <a:gd name="adj" fmla="val 8824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2468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王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59536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세종대왕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1397 — 1450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166360"/>
            <a:ext cx="274320" cy="27432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§1.2 · 1446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libro Hunminjeongeum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años de estudio, un solo libro, todo un alfabeto explicado.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114800" cy="3566160"/>
          </a:xfrm>
          <a:prstGeom prst="roundRect">
            <a:avLst>
              <a:gd name="adj" fmla="val 7692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훈민정음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Hunminjeongeum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sonidos correctos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enseñar al pueblo"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55321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0" y="23317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FE6768"/>
                </a:solidFill>
              </a:rPr>
              <a:t>"</a:t>
            </a:r>
            <a:endParaRPr lang="en-US" sz="8000" dirty="0"/>
          </a:p>
        </p:txBody>
      </p:sp>
      <p:sp>
        <p:nvSpPr>
          <p:cNvPr id="11" name="Text 8"/>
          <p:cNvSpPr/>
          <p:nvPr/>
        </p:nvSpPr>
        <p:spPr>
          <a:xfrm>
            <a:off x="5486400" y="260604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Rey no copió de nadie. Él descubrió, en los sonidos del habla, los principios mismos de la naturaleza, y a partir de esos principios diseñó las letras. Es tan simple que basta un día para aprenderlo.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4846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JEONG IN-JI · prefacio del Hunminjeongeum, 1446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5257800"/>
            <a:ext cx="6126480" cy="0"/>
          </a:xfrm>
          <a:prstGeom prst="line">
            <a:avLst/>
          </a:prstGeom>
          <a:noFill/>
          <a:ln w="12700">
            <a:solidFill>
              <a:srgbClr val="A79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53949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UNESCO reconoce el Hangul como uno de los sistemas de escritura más eficientes jamás diseñados. Desde 1989 entrega cada año el Premio Internacional de Alfabetización Rey Sejong.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la naturaleza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para entender la escritura primero hay que entender el mundo.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036ED"/>
                </a:solidFill>
              </a:rPr>
              <a:t>El principio fundamental
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E1E2A"/>
                </a:solidFill>
              </a:rPr>
              <a:t>«El principio de las letras es el mismo principio del habla. El habla es sonido humano. El humano forma parte de la naturaleza. Por lo tanto, </a:t>
            </a:r>
            <a:r>
              <a:rPr lang="en-US" sz="1300" b="1" i="1" dirty="0">
                <a:solidFill>
                  <a:srgbClr val="FE6768"/>
                </a:solidFill>
              </a:rPr>
              <a:t>para entender el principio de las letras basta con entender el principio de la naturaleza</a:t>
            </a:r>
            <a:r>
              <a:rPr lang="en-US" sz="1300" i="1" dirty="0">
                <a:solidFill>
                  <a:srgbClr val="1E1E2A"/>
                </a:solidFill>
              </a:rPr>
              <a:t>».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</a:rPr>
              <a:t>Si los tres círculos son uno dentro del otro, sus principios también lo son.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86000"/>
            <a:ext cx="4114800" cy="4114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§1.4 · EL PRIMER PRINCIPIO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y Noche · 낮과 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los opuestos en pareja — la chispa pedagógica del Hangul.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40680" cy="3657600"/>
          </a:xfrm>
          <a:prstGeom prst="roundRect">
            <a:avLst>
              <a:gd name="adj" fmla="val 625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26974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033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640080" y="4709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16636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Brillante · Alto · Cálido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lengua se retrae hacia adentro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2468880"/>
            <a:ext cx="5440680" cy="3657600"/>
          </a:xfrm>
          <a:prstGeom prst="roundRect">
            <a:avLst>
              <a:gd name="adj" fmla="val 625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269748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37033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</a:t>
            </a:r>
            <a:endParaRPr lang="en-US" sz="8000" dirty="0"/>
          </a:p>
        </p:txBody>
      </p:sp>
      <p:sp>
        <p:nvSpPr>
          <p:cNvPr id="13" name="Text 9"/>
          <p:cNvSpPr/>
          <p:nvPr/>
        </p:nvSpPr>
        <p:spPr>
          <a:xfrm>
            <a:off x="6126480" y="4709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26480" y="516636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Oscura · Baja · Fresca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lengua se queda en posición central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0" y="3931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E2A"/>
                </a:solidFill>
              </a:rPr>
              <a:t>↔</a:t>
            </a:r>
            <a:endParaRPr lang="en-US" sz="3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y noche en la naturaleza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fenómeno del día tiene su pareja exacta en la noche.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8" y="260604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F6F6F6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8" y="2743200"/>
            <a:ext cx="164592" cy="640080"/>
          </a:xfrm>
          <a:prstGeom prst="rect">
            <a:avLst/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768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448" y="3520440"/>
            <a:ext cx="164592" cy="640080"/>
          </a:xfrm>
          <a:prstGeom prst="rect">
            <a:avLst/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3768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Oscuridad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2768" y="260604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F6F6F6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4208" y="2743200"/>
            <a:ext cx="164592" cy="640080"/>
          </a:xfrm>
          <a:prstGeom prst="rect">
            <a:avLst/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8528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04208" y="3520440"/>
            <a:ext cx="164592" cy="640080"/>
          </a:xfrm>
          <a:prstGeom prst="rect">
            <a:avLst/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8528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Frescor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7528" y="260604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F6F6F6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8968" y="2743200"/>
            <a:ext cx="164592" cy="640080"/>
          </a:xfrm>
          <a:prstGeom prst="rect">
            <a:avLst/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288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que sube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98968" y="3520440"/>
            <a:ext cx="164592" cy="640080"/>
          </a:xfrm>
          <a:prstGeom prst="rect">
            <a:avLst/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3288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que baja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8008" y="452628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F6F6F6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448" y="4663440"/>
            <a:ext cx="164592" cy="640080"/>
          </a:xfrm>
          <a:prstGeom prst="rect">
            <a:avLst/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3768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que se eleva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448" y="5440680"/>
            <a:ext cx="164592" cy="640080"/>
          </a:xfrm>
          <a:prstGeom prst="rect">
            <a:avLst/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768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Rocío que cae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12768" y="452628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F6F6F6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4208" y="4663440"/>
            <a:ext cx="164592" cy="640080"/>
          </a:xfrm>
          <a:prstGeom prst="rect">
            <a:avLst/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8528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 abierta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04208" y="5440680"/>
            <a:ext cx="164592" cy="640080"/>
          </a:xfrm>
          <a:prstGeom prst="rect">
            <a:avLst/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8528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 cerrada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07528" y="4526280"/>
            <a:ext cx="3566160" cy="1691640"/>
          </a:xfrm>
          <a:prstGeom prst="roundRect">
            <a:avLst>
              <a:gd name="adj" fmla="val 8108"/>
            </a:avLst>
          </a:prstGeom>
          <a:solidFill>
            <a:srgbClr val="F6F6F6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8968" y="4663440"/>
            <a:ext cx="164592" cy="640080"/>
          </a:xfrm>
          <a:prstGeom prst="rect">
            <a:avLst/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73288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Globo que se expande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98968" y="5440680"/>
            <a:ext cx="164592" cy="640080"/>
          </a:xfrm>
          <a:prstGeom prst="rect">
            <a:avLst/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73288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Globo que se contrae</a:t>
            </a:r>
            <a:endParaRPr lang="en-US" sz="14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y noche en el cuerpo humano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humano es una pequeña naturaleza — repite las leyes del cosmos.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74320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7432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0868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A"/>
                </a:solidFill>
              </a:rPr>
              <a:t>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0868" y="43891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868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Acostarse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75508" y="274320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5508" y="27432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Exhalar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75508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A"/>
                </a:solidFill>
              </a:rPr>
              <a:t>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5508" y="43891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5508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Inhalar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0148" y="274320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0148" y="27432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los ojos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10148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A"/>
                </a:solidFill>
              </a:rPr>
              <a:t>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148" y="43891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0148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Cerrarlos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044788" y="274320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44788" y="27432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la mano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44788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2A"/>
                </a:solidFill>
              </a:rPr>
              <a:t>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44788" y="43891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4788" y="43891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el puño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cuerpo humano funciona en parejas (día/noche), y el habla nace del cuerpo humano, entonces los sonidos del habla también funcionan en parejas. Esa es la chispa.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sonido?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flauta al habla humana — el aire vibra dentro de una cámara hueca.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97480"/>
            <a:ext cx="94183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울림 소리 </a:t>
            </a:r>
            <a:r>
              <a:rPr lang="en-US" sz="1400" i="1" dirty="0">
                <a:solidFill>
                  <a:srgbClr val="4A4A55"/>
                </a:solidFill>
              </a:rPr>
              <a:t>(ullim sori) </a:t>
            </a:r>
            <a:r>
              <a:rPr lang="en-US" sz="1300" i="1" dirty="0">
                <a:solidFill>
                  <a:srgbClr val="1E1E2A"/>
                </a:solidFill>
              </a:rPr>
              <a:t>— "sonido de resonancia". El aire entra por la garganta (목구멍), recorre la boca, y sale por los labios (입술). Esa vibración sostenida es la base de todas las vocales.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posiciones de la lengua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boca, ábrela apenas, y empieza a observar.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606040"/>
            <a:ext cx="3520440" cy="3840480"/>
          </a:xfrm>
          <a:prstGeom prst="roundRect">
            <a:avLst>
              <a:gd name="adj" fmla="val 3896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88" y="274320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868" y="4663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안쪽 소리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0868" y="5120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· Profundo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0868" y="5532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retraída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la garganta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5628" y="2606040"/>
            <a:ext cx="3520440" cy="3840480"/>
          </a:xfrm>
          <a:prstGeom prst="roundRect">
            <a:avLst>
              <a:gd name="adj" fmla="val 3896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448" y="2743200"/>
            <a:ext cx="1828800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35628" y="4663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소리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335628" y="5120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· Neutro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335628" y="5532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en posición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0388" y="2606040"/>
            <a:ext cx="3520440" cy="3840480"/>
          </a:xfrm>
          <a:prstGeom prst="roundRect">
            <a:avLst>
              <a:gd name="adj" fmla="val 3896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208" y="2743200"/>
            <a:ext cx="1828800" cy="1828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0388" y="4663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바깥쪽 소리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130388" y="5120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· Claro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30388" y="5532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extendida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los dientes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Cielo · Tierra · Humano · 천지인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cosmología del Asia oriental aplicada a tres letras.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606040"/>
            <a:ext cx="3520440" cy="3657600"/>
          </a:xfrm>
          <a:prstGeom prst="roundRect">
            <a:avLst>
              <a:gd name="adj" fmla="val 4675"/>
            </a:avLst>
          </a:prstGeom>
          <a:solidFill>
            <a:srgbClr val="EDE8FF"/>
          </a:solidFill>
          <a:ln w="2540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9718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0868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CIELO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0868" y="4937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하늘 소리 — sonido del cielo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0868" y="5394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Profundo, oscuro, primero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5628" y="2606040"/>
            <a:ext cx="3520440" cy="3657600"/>
          </a:xfrm>
          <a:prstGeom prst="roundRect">
            <a:avLst>
              <a:gd name="adj" fmla="val 4675"/>
            </a:avLst>
          </a:prstGeom>
          <a:solidFill>
            <a:srgbClr val="FFE0E0"/>
          </a:solidFill>
          <a:ln w="25400">
            <a:solidFill>
              <a:srgbClr val="FE67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5628" y="29718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땅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335628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35628" y="4937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땅 소리 — sonido de la tierra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35628" y="5394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Neutro, ni profundo ni claro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0388" y="2606040"/>
            <a:ext cx="3520440" cy="3657600"/>
          </a:xfrm>
          <a:prstGeom prst="roundRect">
            <a:avLst>
              <a:gd name="adj" fmla="val 4675"/>
            </a:avLst>
          </a:prstGeom>
          <a:solidFill>
            <a:srgbClr val="EDE8FF"/>
          </a:solidFill>
          <a:ln w="25400">
            <a:solidFill>
              <a:srgbClr val="A7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0388" y="29718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130388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0388" y="4937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소리 — sonido del humano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0388" y="5394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Claro, brillante, último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vocales primordiales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punto, una raya horizontal, una raya vertical. Eso es todo lo que hace falta.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468880"/>
            <a:ext cx="3520440" cy="3840480"/>
          </a:xfrm>
          <a:prstGeom prst="roundRect">
            <a:avLst>
              <a:gd name="adj" fmla="val 5195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6974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40868" y="4297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0868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하늘 · CIELO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0868" y="5166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0868" y="5669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35628" y="2468880"/>
            <a:ext cx="3520440" cy="3840480"/>
          </a:xfrm>
          <a:prstGeom prst="roundRect">
            <a:avLst>
              <a:gd name="adj" fmla="val 5195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5628" y="26974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4335628" y="4297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horizontal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35628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땅 · TIERRA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5628" y="5166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35628" y="5669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[eu]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30388" y="2468880"/>
            <a:ext cx="3520440" cy="3840480"/>
          </a:xfrm>
          <a:prstGeom prst="roundRect">
            <a:avLst>
              <a:gd name="adj" fmla="val 5195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0388" y="26974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11000" dirty="0"/>
          </a:p>
        </p:txBody>
      </p:sp>
      <p:sp>
        <p:nvSpPr>
          <p:cNvPr id="19" name="Text 17"/>
          <p:cNvSpPr/>
          <p:nvPr/>
        </p:nvSpPr>
        <p:spPr>
          <a:xfrm>
            <a:off x="8130388" y="4297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vertical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0388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· HUMANO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0388" y="5166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0388" y="5669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[i]</a:t>
            </a:r>
            <a:endParaRPr lang="en-US" sz="2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§1.9 · CIERRE DE LABIOS · 입술 오무림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ㅗ y ㅜ — Cuando cielo y tierra se encuentran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(cielo) sobre la línea (tierra) → día.   El punto bajo la línea → noche.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40680" cy="3840480"/>
          </a:xfrm>
          <a:prstGeom prst="roundRect">
            <a:avLst>
              <a:gd name="adj" fmla="val 5952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+ ㅡ → 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17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864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5532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  ·  punto encima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2468880"/>
            <a:ext cx="5440680" cy="3840480"/>
          </a:xfrm>
          <a:prstGeom prst="roundRect">
            <a:avLst>
              <a:gd name="adj" fmla="val 5952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6517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 + · → ㅜ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17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486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5532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  ·  punto debajo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§1.9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similar a [o] de "oso"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오빠</a:t>
            </a:r>
            <a:r>
              <a:rPr lang="en-US" sz="1300" i="1" dirty="0">
                <a:solidFill>
                  <a:srgbClr val="4A4A55"/>
                </a:solidFill>
              </a:rPr>
              <a:t>   hermano mayor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</a:t>
            </a:r>
            <a:r>
              <a:rPr lang="en-US" sz="1300" i="1" dirty="0">
                <a:solidFill>
                  <a:srgbClr val="4A4A55"/>
                </a:solidFill>
              </a:rPr>
              <a:t>   nariz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§1.9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similar a [u] de "uno"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</a:t>
            </a:r>
            <a:r>
              <a:rPr lang="en-US" sz="1300" i="1" dirty="0">
                <a:solidFill>
                  <a:srgbClr val="4A4A55"/>
                </a:solidFill>
              </a:rPr>
              <a:t>   leche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</a:t>
            </a:r>
            <a:r>
              <a:rPr lang="en-US" sz="1300" i="1" dirty="0">
                <a:solidFill>
                  <a:srgbClr val="4A4A55"/>
                </a:solidFill>
              </a:rPr>
              <a:t>   zapatos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§1.10 · APERTURA DE LABIOS · 입술 벌림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ㅏ y ㅓ — Cuando el humano se suma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(cielo/tierra) al lado del humano ㅣ — afuera = día, adentro = noche.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40680" cy="3840480"/>
          </a:xfrm>
          <a:prstGeom prst="roundRect">
            <a:avLst>
              <a:gd name="adj" fmla="val 5952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 + · → 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17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864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5532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  ·  punto afuera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2468880"/>
            <a:ext cx="5440680" cy="3840480"/>
          </a:xfrm>
          <a:prstGeom prst="roundRect">
            <a:avLst>
              <a:gd name="adj" fmla="val 5952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6517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+ ㅣ → ㅓ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17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486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5532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  ·  punto adentro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§1.10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similar a [a] de "casa"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</a:t>
            </a:r>
            <a:r>
              <a:rPr lang="en-US" sz="1300" i="1" dirty="0">
                <a:solidFill>
                  <a:srgbClr val="4A4A55"/>
                </a:solidFill>
              </a:rPr>
              <a:t>   papá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</a:t>
            </a:r>
            <a:r>
              <a:rPr lang="en-US" sz="1300" i="1" dirty="0">
                <a:solidFill>
                  <a:srgbClr val="4A4A55"/>
                </a:solidFill>
              </a:rPr>
              <a:t>   caballo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§1.10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entre [e] y [o] sin redondear los labios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"eo"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r>
              <a:rPr lang="en-US" sz="1300" i="1" dirty="0">
                <a:solidFill>
                  <a:srgbClr val="4A4A55"/>
                </a:solidFill>
              </a:rPr>
              <a:t>   madre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r>
              <a:rPr lang="en-US" sz="1300" i="1" dirty="0">
                <a:solidFill>
                  <a:srgbClr val="4A4A55"/>
                </a:solidFill>
              </a:rPr>
              <a:t>   Seúl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vocales fundamentales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básica · Redondeo de labios · Apertura de labios.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81248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· 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24448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 · 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0848" y="3108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básica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81248" y="31089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1248" y="31089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324448" y="31089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4448" y="31089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9067648" y="31089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EDE8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67648" y="33832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9067648" y="5852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848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Redondeo · 오무림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81248" y="42062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1248" y="4206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324448" y="42062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448" y="4206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80848" y="5303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· 벌림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81248" y="53035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1248" y="5303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4400" dirty="0"/>
          </a:p>
        </p:txBody>
      </p:sp>
      <p:sp>
        <p:nvSpPr>
          <p:cNvPr id="23" name="Shape 21"/>
          <p:cNvSpPr/>
          <p:nvPr/>
        </p:nvSpPr>
        <p:spPr>
          <a:xfrm>
            <a:off x="6324448" y="53035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448" y="5303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4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Vocales con sonido humano inicial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humano (ㅣ) toma la palabra primero — antes de cada vocal añadimos un breve [i].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697480"/>
            <a:ext cx="2606040" cy="3383280"/>
          </a:xfrm>
          <a:prstGeom prst="roundRect">
            <a:avLst>
              <a:gd name="adj" fmla="val 631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 + 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0868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=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0868" y="3703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540868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0868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75508" y="2697480"/>
            <a:ext cx="2606040" cy="3383280"/>
          </a:xfrm>
          <a:prstGeom prst="roundRect">
            <a:avLst>
              <a:gd name="adj" fmla="val 6316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5508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 + 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75508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</a:rPr>
              <a:t>=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75508" y="3703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10000" dirty="0"/>
          </a:p>
        </p:txBody>
      </p:sp>
      <p:sp>
        <p:nvSpPr>
          <p:cNvPr id="15" name="Text 13"/>
          <p:cNvSpPr/>
          <p:nvPr/>
        </p:nvSpPr>
        <p:spPr>
          <a:xfrm>
            <a:off x="3375508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75508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0148" y="2697480"/>
            <a:ext cx="2606040" cy="3383280"/>
          </a:xfrm>
          <a:prstGeom prst="roundRect">
            <a:avLst>
              <a:gd name="adj" fmla="val 631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0148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 + 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0148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=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0148" y="3703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10000" dirty="0"/>
          </a:p>
        </p:txBody>
      </p:sp>
      <p:sp>
        <p:nvSpPr>
          <p:cNvPr id="21" name="Text 19"/>
          <p:cNvSpPr/>
          <p:nvPr/>
        </p:nvSpPr>
        <p:spPr>
          <a:xfrm>
            <a:off x="6210148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0148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44788" y="2697480"/>
            <a:ext cx="2606040" cy="3383280"/>
          </a:xfrm>
          <a:prstGeom prst="roundRect">
            <a:avLst>
              <a:gd name="adj" fmla="val 6316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4788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 + 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44788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</a:rPr>
              <a:t>=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44788" y="370332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10000" dirty="0"/>
          </a:p>
        </p:txBody>
      </p:sp>
      <p:sp>
        <p:nvSpPr>
          <p:cNvPr id="27" name="Text 25"/>
          <p:cNvSpPr/>
          <p:nvPr/>
        </p:nvSpPr>
        <p:spPr>
          <a:xfrm>
            <a:off x="9044788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44788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9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§1.12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similar a [yo] de "yodo"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</a:t>
            </a:r>
            <a:r>
              <a:rPr lang="en-US" sz="1300" i="1" dirty="0">
                <a:solidFill>
                  <a:srgbClr val="4A4A55"/>
                </a:solidFill>
              </a:rPr>
              <a:t>   cocina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</a:t>
            </a:r>
            <a:r>
              <a:rPr lang="en-US" sz="1300" i="1" dirty="0">
                <a:solidFill>
                  <a:srgbClr val="4A4A55"/>
                </a:solidFill>
              </a:rPr>
              <a:t>   aula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§1.12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similar a [yu] de "yuca"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"yu"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</a:t>
            </a:r>
            <a:r>
              <a:rPr lang="en-US" sz="1300" i="1" dirty="0">
                <a:solidFill>
                  <a:srgbClr val="4A4A55"/>
                </a:solidFill>
              </a:rPr>
              <a:t>   leche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</a:t>
            </a:r>
            <a:r>
              <a:rPr lang="en-US" sz="1300" i="1" dirty="0">
                <a:solidFill>
                  <a:srgbClr val="4A4A55"/>
                </a:solidFill>
              </a:rPr>
              <a:t>   vidrio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§1.12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similar a [ya] de "ya"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</a:t>
            </a:r>
            <a:r>
              <a:rPr lang="en-US" sz="1300" i="1" dirty="0">
                <a:solidFill>
                  <a:srgbClr val="4A4A55"/>
                </a:solidFill>
              </a:rPr>
              <a:t>   béisbol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</a:t>
            </a:r>
            <a:r>
              <a:rPr lang="en-US" sz="1300" i="1" dirty="0">
                <a:solidFill>
                  <a:srgbClr val="4A4A55"/>
                </a:solidFill>
              </a:rPr>
              <a:t>   historia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§1.12 · VOCAL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· 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una "y" seguida de ㅓ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8535" y="886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240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"yeo"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여자</a:t>
            </a:r>
            <a:r>
              <a:rPr lang="en-US" sz="1300" i="1" dirty="0">
                <a:solidFill>
                  <a:srgbClr val="4A4A55"/>
                </a:solidFill>
              </a:rPr>
              <a:t>   mujer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</a:t>
            </a:r>
            <a:r>
              <a:rPr lang="en-US" sz="1300" i="1" dirty="0">
                <a:solidFill>
                  <a:srgbClr val="4A4A55"/>
                </a:solidFill>
              </a:rPr>
              <a:t>   invierno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11 vocales fundamentales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vocales día (낮)  ·  cinco vocales noche (밤)  ·  una vocal de equilibrio.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0" cy="3840480"/>
          </a:xfrm>
          <a:prstGeom prst="roundRect">
            <a:avLst>
              <a:gd name="adj" fmla="val 4762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1664208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505456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3346704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4187952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hacia adentro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(·) brillante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95160" y="2468880"/>
            <a:ext cx="4572000" cy="3840480"/>
          </a:xfrm>
          <a:prstGeom prst="roundRect">
            <a:avLst>
              <a:gd name="adj" fmla="val 4762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6060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178040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6400" dirty="0"/>
          </a:p>
        </p:txBody>
      </p:sp>
      <p:sp>
        <p:nvSpPr>
          <p:cNvPr id="19" name="Text 15"/>
          <p:cNvSpPr/>
          <p:nvPr/>
        </p:nvSpPr>
        <p:spPr>
          <a:xfrm>
            <a:off x="8019288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6400" dirty="0"/>
          </a:p>
        </p:txBody>
      </p:sp>
      <p:sp>
        <p:nvSpPr>
          <p:cNvPr id="20" name="Text 16"/>
          <p:cNvSpPr/>
          <p:nvPr/>
        </p:nvSpPr>
        <p:spPr>
          <a:xfrm>
            <a:off x="8860536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6400" dirty="0"/>
          </a:p>
        </p:txBody>
      </p:sp>
      <p:sp>
        <p:nvSpPr>
          <p:cNvPr id="21" name="Text 17"/>
          <p:cNvSpPr/>
          <p:nvPr/>
        </p:nvSpPr>
        <p:spPr>
          <a:xfrm>
            <a:off x="9701784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6400" dirty="0"/>
          </a:p>
        </p:txBody>
      </p:sp>
      <p:sp>
        <p:nvSpPr>
          <p:cNvPr id="22" name="Text 18"/>
          <p:cNvSpPr/>
          <p:nvPr/>
        </p:nvSpPr>
        <p:spPr>
          <a:xfrm>
            <a:off x="10543032" y="3383280"/>
            <a:ext cx="841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6400" dirty="0"/>
          </a:p>
        </p:txBody>
      </p:sp>
      <p:sp>
        <p:nvSpPr>
          <p:cNvPr id="23" name="Text 19"/>
          <p:cNvSpPr/>
          <p:nvPr/>
        </p:nvSpPr>
        <p:spPr>
          <a:xfrm>
            <a:off x="69951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en posición central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99516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(ㅡ) profunda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349240" y="2468880"/>
            <a:ext cx="1508760" cy="3840480"/>
          </a:xfrm>
          <a:prstGeom prst="roundRect">
            <a:avLst>
              <a:gd name="adj" fmla="val 12121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651760"/>
            <a:ext cx="594360" cy="5943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49240" y="3291840"/>
            <a:ext cx="1508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13000" dirty="0"/>
          </a:p>
        </p:txBody>
      </p:sp>
      <p:sp>
        <p:nvSpPr>
          <p:cNvPr id="28" name="Text 23"/>
          <p:cNvSpPr/>
          <p:nvPr/>
        </p:nvSpPr>
        <p:spPr>
          <a:xfrm>
            <a:off x="5349240" y="5532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349240" y="5852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· 사람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Vocales combinadas con 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vocal humana ㅣ se suma al final — diez nuevas formas que nacen del equilibrio.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4000" y="2468880"/>
            <a:ext cx="269748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5440" y="2468880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139800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</a:rPr>
              <a:t>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59840" y="246888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962760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4A55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37080" y="25146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ㅢ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2237080" y="3749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6072" y="2468880"/>
            <a:ext cx="269748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7512" y="2468880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001872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21912" y="246888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24832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4A55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99152" y="25146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ㅚ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5099152" y="3749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8144" y="2468880"/>
            <a:ext cx="269748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9584" y="2468880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863944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</a:rPr>
              <a:t>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83984" y="246888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686904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4A55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61224" y="25146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ㅟ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7961224" y="3749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40216" y="2468880"/>
            <a:ext cx="269748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1656" y="2468880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9726016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46056" y="246888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10548976" y="246888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4A55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823296" y="25146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ㅐ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10823296" y="3749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4000" y="4361688"/>
            <a:ext cx="269748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5440" y="436168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1139800" y="436168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</a:rPr>
              <a:t>+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59840" y="4361688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1962760" y="436168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4A55"/>
                </a:solidFill>
              </a:rPr>
              <a:t>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37080" y="4407408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ㅔ</a:t>
            </a:r>
            <a:endParaRPr lang="en-US" sz="5000" dirty="0"/>
          </a:p>
        </p:txBody>
      </p:sp>
      <p:sp>
        <p:nvSpPr>
          <p:cNvPr id="39" name="Text 37"/>
          <p:cNvSpPr/>
          <p:nvPr/>
        </p:nvSpPr>
        <p:spPr>
          <a:xfrm>
            <a:off x="2237080" y="56418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16072" y="4361688"/>
            <a:ext cx="269748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7512" y="436168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4001872" y="436168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+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321912" y="4361688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4824832" y="436168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4A55"/>
                </a:solidFill>
              </a:rPr>
              <a:t>→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99152" y="4407408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ㅒ</a:t>
            </a:r>
            <a:endParaRPr lang="en-US" sz="5000" dirty="0"/>
          </a:p>
        </p:txBody>
      </p:sp>
      <p:sp>
        <p:nvSpPr>
          <p:cNvPr id="46" name="Text 44"/>
          <p:cNvSpPr/>
          <p:nvPr/>
        </p:nvSpPr>
        <p:spPr>
          <a:xfrm>
            <a:off x="5099152" y="56418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78144" y="4361688"/>
            <a:ext cx="269748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9584" y="4361688"/>
            <a:ext cx="640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3800" dirty="0"/>
          </a:p>
        </p:txBody>
      </p:sp>
      <p:sp>
        <p:nvSpPr>
          <p:cNvPr id="49" name="Text 47"/>
          <p:cNvSpPr/>
          <p:nvPr/>
        </p:nvSpPr>
        <p:spPr>
          <a:xfrm>
            <a:off x="6863944" y="436168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</a:rPr>
              <a:t>+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183984" y="4361688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800" dirty="0"/>
          </a:p>
        </p:txBody>
      </p:sp>
      <p:sp>
        <p:nvSpPr>
          <p:cNvPr id="51" name="Text 49"/>
          <p:cNvSpPr/>
          <p:nvPr/>
        </p:nvSpPr>
        <p:spPr>
          <a:xfrm>
            <a:off x="7686904" y="436168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4A55"/>
                </a:solidFill>
              </a:rPr>
              <a:t>→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961224" y="4407408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ㅖ</a:t>
            </a:r>
            <a:endParaRPr lang="en-US" sz="5000" dirty="0"/>
          </a:p>
        </p:txBody>
      </p:sp>
      <p:sp>
        <p:nvSpPr>
          <p:cNvPr id="53" name="Text 51"/>
          <p:cNvSpPr/>
          <p:nvPr/>
        </p:nvSpPr>
        <p:spPr>
          <a:xfrm>
            <a:off x="7961224" y="56418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</a:t>
            </a:r>
            <a:endParaRPr lang="en-US" sz="1200" dirty="0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Vocales compuestas avanzadas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últimas — combinando vocales compuestas entre sí.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606040"/>
            <a:ext cx="2606040" cy="3520440"/>
          </a:xfrm>
          <a:prstGeom prst="roundRect">
            <a:avLst>
              <a:gd name="adj" fmla="val 6316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 + ㅏ → 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0868" y="3291840"/>
            <a:ext cx="2606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ㅘ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540868" y="5212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0868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75508" y="2606040"/>
            <a:ext cx="2606040" cy="3520440"/>
          </a:xfrm>
          <a:prstGeom prst="roundRect">
            <a:avLst>
              <a:gd name="adj" fmla="val 6316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5508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 + ㅓ → 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75508" y="3291840"/>
            <a:ext cx="2606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ㅝ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3375508" y="5212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75508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0148" y="2606040"/>
            <a:ext cx="2606040" cy="3520440"/>
          </a:xfrm>
          <a:prstGeom prst="roundRect">
            <a:avLst>
              <a:gd name="adj" fmla="val 6316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0148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ㅘ + ㅣ → 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0148" y="3291840"/>
            <a:ext cx="2606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ㅙ</a:t>
            </a:r>
            <a:endParaRPr lang="en-US" sz="11000" dirty="0"/>
          </a:p>
        </p:txBody>
      </p:sp>
      <p:sp>
        <p:nvSpPr>
          <p:cNvPr id="18" name="Text 16"/>
          <p:cNvSpPr/>
          <p:nvPr/>
        </p:nvSpPr>
        <p:spPr>
          <a:xfrm>
            <a:off x="6210148" y="5212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0148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· DÍA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44788" y="2606040"/>
            <a:ext cx="2606040" cy="3520440"/>
          </a:xfrm>
          <a:prstGeom prst="roundRect">
            <a:avLst>
              <a:gd name="adj" fmla="val 6316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44788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ㅝ + ㅣ → ㅞ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44788" y="3291840"/>
            <a:ext cx="2606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ㅞ</a:t>
            </a:r>
            <a:endParaRPr lang="en-US" sz="11000" dirty="0"/>
          </a:p>
        </p:txBody>
      </p:sp>
      <p:sp>
        <p:nvSpPr>
          <p:cNvPr id="23" name="Text 21"/>
          <p:cNvSpPr/>
          <p:nvPr/>
        </p:nvSpPr>
        <p:spPr>
          <a:xfrm>
            <a:off x="9044788" y="5212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44788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· NOCHE</a:t>
            </a:r>
            <a:endParaRPr lang="en-US" sz="9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Síntesis: todo el sistema vocálico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fundamentales  +  10 combinadas con ㅣ  +  4 compuestas avanzadas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911535" cy="914400"/>
          </a:xfrm>
          <a:prstGeom prst="roundRect">
            <a:avLst>
              <a:gd name="adj" fmla="val 150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FUNDAMENTALES · DÍA (5)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468880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16947" y="2468880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650614" y="2468880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84281" y="2468880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917948" y="2468880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10911535" cy="914400"/>
          </a:xfrm>
          <a:prstGeom prst="roundRect">
            <a:avLst>
              <a:gd name="adj" fmla="val 15000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FUNDAMENTALES · NOCHE (5) + EQUILIBRIO (ㅣ)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474720"/>
            <a:ext cx="13613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44669" y="3474720"/>
            <a:ext cx="13613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06058" y="3474720"/>
            <a:ext cx="13613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467448" y="3474720"/>
            <a:ext cx="13613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28837" y="3474720"/>
            <a:ext cx="13613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190226" y="3474720"/>
            <a:ext cx="13613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10911535" cy="914400"/>
          </a:xfrm>
          <a:prstGeom prst="roundRect">
            <a:avLst>
              <a:gd name="adj" fmla="val 15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80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COMBINADAS CON ㅣ (10)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4480560"/>
            <a:ext cx="1166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ㅢ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50185" y="4480560"/>
            <a:ext cx="1166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ㅚ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717090" y="4480560"/>
            <a:ext cx="1166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ㅟ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83995" y="4480560"/>
            <a:ext cx="1166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ㅐ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050900" y="4480560"/>
            <a:ext cx="1166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ㅔ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217805" y="4480560"/>
            <a:ext cx="1166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ㅒ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0384710" y="4480560"/>
            <a:ext cx="1166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ㅖ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10911535" cy="914400"/>
          </a:xfrm>
          <a:prstGeom prst="roundRect">
            <a:avLst>
              <a:gd name="adj" fmla="val 150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486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COMPUESTAS AVANZADAS (4)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5486400"/>
            <a:ext cx="20420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ㅘ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425364" y="5486400"/>
            <a:ext cx="20420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ㅝ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467448" y="5486400"/>
            <a:ext cx="20420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ㅙ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509531" y="5486400"/>
            <a:ext cx="20420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ㅞ</a:t>
            </a:r>
            <a:endParaRPr lang="en-US" sz="32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clave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que vas a escuchar muchas veces en clase.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sz="1200" i="1" dirty="0">
                <a:solidFill>
                  <a:srgbClr val="FE6768"/>
                </a:solidFill>
              </a:rPr>
              <a:t>   hangul</a:t>
            </a:r>
            <a:r>
              <a:rPr lang="en-US" sz="1200" dirty="0">
                <a:solidFill>
                  <a:srgbClr val="4A4A55"/>
                </a:solidFill>
              </a:rPr>
              <a:t>   ·  el alfabeto coreano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24688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훈민정음</a:t>
            </a:r>
            <a:r>
              <a:rPr lang="en-US" sz="1200" i="1" dirty="0">
                <a:solidFill>
                  <a:srgbClr val="FE6768"/>
                </a:solidFill>
              </a:rPr>
              <a:t>   hunminjeongeum</a:t>
            </a:r>
            <a:r>
              <a:rPr lang="en-US" sz="1200" dirty="0">
                <a:solidFill>
                  <a:srgbClr val="4A4A55"/>
                </a:solidFill>
              </a:rPr>
              <a:t>   ·  sonidos correctos para el pueblo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세종대왕</a:t>
            </a:r>
            <a:r>
              <a:rPr lang="en-US" sz="1200" i="1" dirty="0">
                <a:solidFill>
                  <a:srgbClr val="FE6768"/>
                </a:solidFill>
              </a:rPr>
              <a:t>   sejong daewang</a:t>
            </a:r>
            <a:r>
              <a:rPr lang="en-US" sz="1200" dirty="0">
                <a:solidFill>
                  <a:srgbClr val="4A4A55"/>
                </a:solidFill>
              </a:rPr>
              <a:t>   ·  Rey Sejong el Grande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8529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</a:t>
            </a:r>
            <a:r>
              <a:rPr lang="en-US" sz="1200" i="1" dirty="0">
                <a:solidFill>
                  <a:srgbClr val="FE6768"/>
                </a:solidFill>
              </a:rPr>
              <a:t>   jayeon</a:t>
            </a:r>
            <a:r>
              <a:rPr lang="en-US" sz="1200" dirty="0">
                <a:solidFill>
                  <a:srgbClr val="4A4A55"/>
                </a:solidFill>
              </a:rPr>
              <a:t>   ·  naturaleza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369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r>
              <a:rPr lang="en-US" sz="1200" i="1" dirty="0">
                <a:solidFill>
                  <a:srgbClr val="FE6768"/>
                </a:solidFill>
              </a:rPr>
              <a:t>   saram</a:t>
            </a:r>
            <a:r>
              <a:rPr lang="en-US" sz="1200" dirty="0">
                <a:solidFill>
                  <a:srgbClr val="4A4A55"/>
                </a:solidFill>
              </a:rPr>
              <a:t>   ·  persona, ser humano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32369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/ 밤</a:t>
            </a:r>
            <a:r>
              <a:rPr lang="en-US" sz="1200" i="1" dirty="0">
                <a:solidFill>
                  <a:srgbClr val="FE6768"/>
                </a:solidFill>
              </a:rPr>
              <a:t>   nat / bam</a:t>
            </a:r>
            <a:r>
              <a:rPr lang="en-US" sz="1200" dirty="0">
                <a:solidFill>
                  <a:srgbClr val="4A4A55"/>
                </a:solidFill>
              </a:rPr>
              <a:t>   ·  día / noche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 / 땅</a:t>
            </a:r>
            <a:r>
              <a:rPr lang="en-US" sz="1200" i="1" dirty="0">
                <a:solidFill>
                  <a:srgbClr val="FE6768"/>
                </a:solidFill>
              </a:rPr>
              <a:t>   haneul / ttang</a:t>
            </a:r>
            <a:r>
              <a:rPr lang="en-US" sz="1200" dirty="0">
                <a:solidFill>
                  <a:srgbClr val="4A4A55"/>
                </a:solidFill>
              </a:rPr>
              <a:t>   ·  cielo / tierra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362102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천지인</a:t>
            </a:r>
            <a:r>
              <a:rPr lang="en-US" sz="1200" i="1" dirty="0">
                <a:solidFill>
                  <a:srgbClr val="FE6768"/>
                </a:solidFill>
              </a:rPr>
              <a:t>   cheonjiin</a:t>
            </a:r>
            <a:r>
              <a:rPr lang="en-US" sz="1200" dirty="0">
                <a:solidFill>
                  <a:srgbClr val="4A4A55"/>
                </a:solidFill>
              </a:rPr>
              <a:t>   ·  cielo-tierra-humano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울림 소리</a:t>
            </a:r>
            <a:r>
              <a:rPr lang="en-US" sz="1200" i="1" dirty="0">
                <a:solidFill>
                  <a:srgbClr val="FE6768"/>
                </a:solidFill>
              </a:rPr>
              <a:t>   ullim sori</a:t>
            </a:r>
            <a:r>
              <a:rPr lang="en-US" sz="1200" dirty="0">
                <a:solidFill>
                  <a:srgbClr val="4A4A55"/>
                </a:solidFill>
              </a:rPr>
              <a:t>   ·  sonido de resonancia, vocal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400507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목구멍 / 입술</a:t>
            </a:r>
            <a:r>
              <a:rPr lang="en-US" sz="1200" i="1" dirty="0">
                <a:solidFill>
                  <a:srgbClr val="FE6768"/>
                </a:solidFill>
              </a:rPr>
              <a:t>   mokgumeong / ipsul</a:t>
            </a:r>
            <a:r>
              <a:rPr lang="en-US" sz="1200" dirty="0">
                <a:solidFill>
                  <a:srgbClr val="4A4A55"/>
                </a:solidFill>
              </a:rPr>
              <a:t>   ·  garganta / labios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입술 오무림</a:t>
            </a:r>
            <a:r>
              <a:rPr lang="en-US" sz="1200" i="1" dirty="0">
                <a:solidFill>
                  <a:srgbClr val="FE6768"/>
                </a:solidFill>
              </a:rPr>
              <a:t>   ipsul omurim</a:t>
            </a:r>
            <a:r>
              <a:rPr lang="en-US" sz="1200" dirty="0">
                <a:solidFill>
                  <a:srgbClr val="4A4A55"/>
                </a:solidFill>
              </a:rPr>
              <a:t>   ·  redondeo de labios (ㅗ ㅜ)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3891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입술 벌림</a:t>
            </a:r>
            <a:r>
              <a:rPr lang="en-US" sz="1200" i="1" dirty="0">
                <a:solidFill>
                  <a:srgbClr val="FE6768"/>
                </a:solidFill>
              </a:rPr>
              <a:t>   ipsul beollim</a:t>
            </a:r>
            <a:r>
              <a:rPr lang="en-US" sz="1200" dirty="0">
                <a:solidFill>
                  <a:srgbClr val="4A4A55"/>
                </a:solidFill>
              </a:rPr>
              <a:t>   ·  apertura de labios (ㅏ ㅓ)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62895" cy="5029200"/>
          </a:xfrm>
          <a:prstGeom prst="roundRect">
            <a:avLst>
              <a:gd name="adj" fmla="val 5455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§1.17 · ADELANTO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las consonantes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자음 · 子音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62176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2176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941168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116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020160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016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099152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9152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178144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8144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7257136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7136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8336128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6128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9415120" y="3383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512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Sejong observó la forma exacta de la lengua, los dientes y los labios cuando producimos cada consonante,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dibujó cada letra como un mapa anatómico.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5486400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화이팅!  ·  ¡Tú puedes!</a:t>
            </a:r>
            <a:endParaRPr lang="en-US" sz="16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097280"/>
            <a:ext cx="9814255" cy="4663440"/>
          </a:xfrm>
          <a:prstGeom prst="roundRect">
            <a:avLst>
              <a:gd name="adj" fmla="val 5882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46304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자음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188720" y="33832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Consonantes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38862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anatómicos del cuerpo humano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4572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512064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kern="0" spc="2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Chingu™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585216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 ·  Jae Hee Kim  ·  김재희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635508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 al segundo capítulo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que ya conoces las vocales, es hora de aprender las consonantes coreanas.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En el capítulo anterior viste cómo las vocales nacen de la naturaleza: del cielo (·), la tierra (ㅡ) y el humano (ㅣ). En este capítulo descubrirás algo aún más asombroso: </a:t>
            </a:r>
            <a:r>
              <a:rPr lang="en-US" sz="1400" b="1" dirty="0">
                <a:solidFill>
                  <a:srgbClr val="4036ED"/>
                </a:solidFill>
              </a:rPr>
              <a:t>las consonantes coreanas son mapas anatómicos del cuerpo humano.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1E2A"/>
                </a:solidFill>
              </a:rPr>
              <a:t>Sejong el Grande observó con cuidado qué hace tu cuerpo cuando produces cada sonido — dónde toca tu lengua, cómo se cierran tus labios, cómo vibra tu garganta — y dibujó cada letra como un retrato de ese gesto.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</a:rPr>
              <a:t>Las 19 consonantes coreanas se organizan en cinco lugares de articulación: garganta, paladar, lengua, dientes y labios. </a:t>
            </a:r>
            <a:r>
              <a:rPr lang="en-US" sz="1400" b="1" i="1" dirty="0">
                <a:solidFill>
                  <a:srgbClr val="FE6768"/>
                </a:solidFill>
              </a:rPr>
              <a:t>Cada grupo tiene tres formas: básica, aspirada (con soplo) y doble (tensa).</a:t>
            </a: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E6768"/>
                </a:solidFill>
              </a:rPr>
              <a:t>Cuando termines este capítulo, verás cualquier letra coreana y sabrás qué parte de tu boca la produjo. ¡Empecemos!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nacieron las consonantes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Sejong miró el cuerpo humano y dibujó lo que vio.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FE6768"/>
                </a:solidFill>
              </a:rPr>
              <a:t>"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consonantes se diseñaron observando la forma exacta de la lengua, los dientes y los labios cuando producimos cada sonido. Cada letra es un mapa anatómico del cuerpo humano en el momento de hablar.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PRINCIPIO DEL HUNMINJEONGEUM, 1446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5166360"/>
            <a:ext cx="6858000" cy="0"/>
          </a:xfrm>
          <a:prstGeom prst="line">
            <a:avLst/>
          </a:prstGeom>
          <a:noFill/>
          <a:ln w="12700">
            <a:solidFill>
              <a:srgbClr val="A79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349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en el capítulo anterior con las vocales, las consonantes nacen de la observación del mundo real. Pero esta vez el "mundo" es tu propio cuerpo.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2377440"/>
            <a:ext cx="3108960" cy="3657600"/>
          </a:xfrm>
          <a:prstGeom prst="roundRect">
            <a:avLst>
              <a:gd name="adj" fmla="val 8824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身體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859536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 · CUERPO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Garganta · Paladar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· Dientes · Labios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440680"/>
            <a:ext cx="274320" cy="27432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lugares de articulación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garganta hasta los labios — un mapa de cinco zonas en tu boca.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0828" y="2606040"/>
            <a:ext cx="2240280" cy="3657600"/>
          </a:xfrm>
          <a:prstGeom prst="roundRect">
            <a:avLst>
              <a:gd name="adj" fmla="val 7347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0828" y="2880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후음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220828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GARGANTA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0828" y="4389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(glotis)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0828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 ㅎ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598268" y="2606040"/>
            <a:ext cx="2240280" cy="3657600"/>
          </a:xfrm>
          <a:prstGeom prst="roundRect">
            <a:avLst>
              <a:gd name="adj" fmla="val 7347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8268" y="2880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아음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2598268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PALADAR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98268" y="4389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(velo)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98268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ㅋ ㄲ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975708" y="2606040"/>
            <a:ext cx="2240280" cy="3657600"/>
          </a:xfrm>
          <a:prstGeom prst="roundRect">
            <a:avLst>
              <a:gd name="adj" fmla="val 7347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5708" y="2880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설음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4975708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75708" y="4389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(alveolo)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75708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ㄷ ㅌ ㄸ ㄹ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353148" y="2606040"/>
            <a:ext cx="2240280" cy="3657600"/>
          </a:xfrm>
          <a:prstGeom prst="roundRect">
            <a:avLst>
              <a:gd name="adj" fmla="val 7347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3148" y="2880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치음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53148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53148" y="4389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(sibilantes)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53148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 ㅈ ㅊ ㅆ ㅉ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730588" y="2606040"/>
            <a:ext cx="2240280" cy="3657600"/>
          </a:xfrm>
          <a:prstGeom prst="roundRect">
            <a:avLst>
              <a:gd name="adj" fmla="val 7347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0588" y="2880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순음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9730588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30588" y="4389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(bilabial)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30588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 ㅂ ㅍ ㅃ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profundidad (atrás) a la superficie (adelante) — cada zona tiene su grupo de letras.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§2.3 · CONSONANTES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Sonidos del paladar · 아음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de atrás de la lengua se levanta y toca el velo del paladar.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572000" cy="3657600"/>
          </a:xfrm>
          <a:prstGeom prst="roundRect">
            <a:avLst>
              <a:gd name="adj" fmla="val 625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아음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a-eum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02336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PALADAR (VELO)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lengua se eleva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 cielo de la boca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15" name="Shape 12"/>
          <p:cNvSpPr/>
          <p:nvPr/>
        </p:nvSpPr>
        <p:spPr>
          <a:xfrm>
            <a:off x="7662672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62672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662672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거센소리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62672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5000" dirty="0"/>
          </a:p>
        </p:txBody>
      </p:sp>
      <p:sp>
        <p:nvSpPr>
          <p:cNvPr id="19" name="Shape 16"/>
          <p:cNvSpPr/>
          <p:nvPr/>
        </p:nvSpPr>
        <p:spPr>
          <a:xfrm>
            <a:off x="9656064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56064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56064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쌍소리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56064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ㄲ</a:t>
            </a:r>
            <a:endParaRPr lang="en-US" sz="5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§2.3 · CONSONANTES · 아음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"g" suave entre vocales, "k" al inicio de palabra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 · PALADAR (VELO)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 / k"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trazo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r>
              <a:rPr lang="en-US" sz="1300" i="1" dirty="0">
                <a:solidFill>
                  <a:srgbClr val="4A4A55"/>
                </a:solidFill>
              </a:rPr>
              <a:t>   familia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고기</a:t>
            </a:r>
            <a:r>
              <a:rPr lang="en-US" sz="1300" i="1" dirty="0">
                <a:solidFill>
                  <a:srgbClr val="4A4A55"/>
                </a:solidFill>
              </a:rPr>
              <a:t>   carne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§2.3 · CONSONANTES · 아음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"k" aspirada — con un soplo de aire fuerte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 · PALADAR (VELO)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</a:t>
            </a:r>
            <a:r>
              <a:rPr lang="en-US" sz="1300" i="1" dirty="0">
                <a:solidFill>
                  <a:srgbClr val="4A4A55"/>
                </a:solidFill>
              </a:rPr>
              <a:t>   café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</a:t>
            </a:r>
            <a:r>
              <a:rPr lang="en-US" sz="1300" i="1" dirty="0">
                <a:solidFill>
                  <a:srgbClr val="4A4A55"/>
                </a:solidFill>
              </a:rPr>
              <a:t>   nariz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§2.3 · CONSONANTES · 아음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ㄲ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"k" tensa — sin soplo, los músculos apretados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 · PALADAR (VELO)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ㄲ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"kk"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까만</a:t>
            </a:r>
            <a:r>
              <a:rPr lang="en-US" sz="1300" i="1" dirty="0">
                <a:solidFill>
                  <a:srgbClr val="4A4A55"/>
                </a:solidFill>
              </a:rPr>
              <a:t>   negro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</a:t>
            </a:r>
            <a:r>
              <a:rPr lang="en-US" sz="1300" i="1" dirty="0">
                <a:solidFill>
                  <a:srgbClr val="4A4A55"/>
                </a:solidFill>
              </a:rPr>
              <a:t>   flor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§2.4 · CONSONANTES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Sonidos de la lengua · 설음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punta de la lengua toca los alvéolos (detrás de los dientes superiores).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572000" cy="3657600"/>
          </a:xfrm>
          <a:prstGeom prst="roundRect">
            <a:avLst>
              <a:gd name="adj" fmla="val 625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설음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seol-eum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02336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(ALVEOLAR)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punta de la lengua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atrás de los dientes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3566160"/>
            <a:ext cx="18288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5669280" y="4450080"/>
            <a:ext cx="18288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5669280" y="5334000"/>
            <a:ext cx="18288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3800" dirty="0"/>
          </a:p>
        </p:txBody>
      </p:sp>
      <p:sp>
        <p:nvSpPr>
          <p:cNvPr id="17" name="Shape 14"/>
          <p:cNvSpPr/>
          <p:nvPr/>
        </p:nvSpPr>
        <p:spPr>
          <a:xfrm>
            <a:off x="7662672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62672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거센소리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62672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5000" dirty="0"/>
          </a:p>
        </p:txBody>
      </p:sp>
      <p:sp>
        <p:nvSpPr>
          <p:cNvPr id="21" name="Shape 18"/>
          <p:cNvSpPr/>
          <p:nvPr/>
        </p:nvSpPr>
        <p:spPr>
          <a:xfrm>
            <a:off x="9656064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56064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56064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쌍소리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56064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ㄸ</a:t>
            </a:r>
            <a:endParaRPr lang="en-US" sz="5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§2.4 · CONSONANTES · 설음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"n" como en "no" — la lengua toca los alvéolos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 (ALVEOLAR)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trazo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r>
              <a:rPr lang="en-US" sz="1300" i="1" dirty="0">
                <a:solidFill>
                  <a:srgbClr val="4A4A55"/>
                </a:solidFill>
              </a:rPr>
              <a:t>   yo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누나</a:t>
            </a:r>
            <a:r>
              <a:rPr lang="en-US" sz="1300" i="1" dirty="0">
                <a:solidFill>
                  <a:srgbClr val="4A4A55"/>
                </a:solidFill>
              </a:rPr>
              <a:t>   hermana mayor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§2.4 · CONSONANTES · 설음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ㄷ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"d" entre vocales, "t" al inicio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 (ALVEOLAR)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 / t"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다리</a:t>
            </a:r>
            <a:r>
              <a:rPr lang="en-US" sz="1300" i="1" dirty="0">
                <a:solidFill>
                  <a:srgbClr val="4A4A55"/>
                </a:solidFill>
              </a:rPr>
              <a:t>   pierna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</a:t>
            </a:r>
            <a:r>
              <a:rPr lang="en-US" sz="1300" i="1" dirty="0">
                <a:solidFill>
                  <a:srgbClr val="4A4A55"/>
                </a:solidFill>
              </a:rPr>
              <a:t>   ciudad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§2.4 · CONSONANTES · 설음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"t" aspirada — con soplo de aire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 (ALVEOLAR)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타조</a:t>
            </a:r>
            <a:r>
              <a:rPr lang="en-US" sz="1300" i="1" dirty="0">
                <a:solidFill>
                  <a:srgbClr val="4A4A55"/>
                </a:solidFill>
              </a:rPr>
              <a:t>   avestruz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</a:t>
            </a:r>
            <a:r>
              <a:rPr lang="en-US" sz="1300" i="1" dirty="0">
                <a:solidFill>
                  <a:srgbClr val="4A4A55"/>
                </a:solidFill>
              </a:rPr>
              <a:t>   conejo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§2.4 · CONSONANTES · 설음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"t" tensa — sin soplo, apretada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 (ALVEOLAR)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ㄸ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"tt"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딸</a:t>
            </a:r>
            <a:r>
              <a:rPr lang="en-US" sz="1300" i="1" dirty="0">
                <a:solidFill>
                  <a:srgbClr val="4A4A55"/>
                </a:solidFill>
              </a:rPr>
              <a:t>   hija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땅</a:t>
            </a:r>
            <a:r>
              <a:rPr lang="en-US" sz="1300" i="1" dirty="0">
                <a:solidFill>
                  <a:srgbClr val="4A4A55"/>
                </a:solidFill>
              </a:rPr>
              <a:t>   tierra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§2.4 · CONSONANTES · 설음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"r" suave entre vocales, "l" al final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 (ALVEOLAR)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 / l"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</a:t>
            </a:r>
            <a:r>
              <a:rPr lang="en-US" sz="1300" i="1" dirty="0">
                <a:solidFill>
                  <a:srgbClr val="4A4A55"/>
                </a:solidFill>
              </a:rPr>
              <a:t>   ramen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r>
              <a:rPr lang="en-US" sz="1300" i="1" dirty="0">
                <a:solidFill>
                  <a:srgbClr val="4A4A55"/>
                </a:solidFill>
              </a:rPr>
              <a:t>   Seúl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§2.5 · CONSONANTES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Sonidos de los labios · 순음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labios se cierran y se abren para producir el sonido.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572000" cy="3657600"/>
          </a:xfrm>
          <a:prstGeom prst="roundRect">
            <a:avLst>
              <a:gd name="adj" fmla="val 625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순음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sun-eum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02336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LABIOS (BILABIAL)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labios se cierran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abren con el aire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35661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5669280" y="489204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5000" dirty="0"/>
          </a:p>
        </p:txBody>
      </p:sp>
      <p:sp>
        <p:nvSpPr>
          <p:cNvPr id="16" name="Shape 13"/>
          <p:cNvSpPr/>
          <p:nvPr/>
        </p:nvSpPr>
        <p:spPr>
          <a:xfrm>
            <a:off x="7662672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62672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62672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거센소리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62672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5000" dirty="0"/>
          </a:p>
        </p:txBody>
      </p:sp>
      <p:sp>
        <p:nvSpPr>
          <p:cNvPr id="20" name="Shape 17"/>
          <p:cNvSpPr/>
          <p:nvPr/>
        </p:nvSpPr>
        <p:spPr>
          <a:xfrm>
            <a:off x="9656064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56064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656064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쌍소리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56064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ㅃ</a:t>
            </a:r>
            <a:endParaRPr lang="en-US" sz="5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§2.5 · CONSONANTES · 순음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"m" como en "mamá" — labios cerrados, voz nasal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 (BILABIAL)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r>
              <a:rPr lang="en-US" sz="1300" i="1" dirty="0">
                <a:solidFill>
                  <a:srgbClr val="4A4A55"/>
                </a:solidFill>
              </a:rPr>
              <a:t>   mamá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r>
              <a:rPr lang="en-US" sz="1300" i="1" dirty="0">
                <a:solidFill>
                  <a:srgbClr val="4A4A55"/>
                </a:solidFill>
              </a:rPr>
              <a:t>   agua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§2.5 · CONSONANTES · 순음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"b" entre vocales, "p" al inicio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 (BILABIAL)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 / p"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바다</a:t>
            </a:r>
            <a:r>
              <a:rPr lang="en-US" sz="1300" i="1" dirty="0">
                <a:solidFill>
                  <a:srgbClr val="4A4A55"/>
                </a:solidFill>
              </a:rPr>
              <a:t>   mar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r>
              <a:rPr lang="en-US" sz="1300" i="1" dirty="0">
                <a:solidFill>
                  <a:srgbClr val="4A4A55"/>
                </a:solidFill>
              </a:rPr>
              <a:t>   lluvia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§2.5 · CONSONANTES · 순음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"p" aspirada — con un soplo de aire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 (BILABIAL)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</a:t>
            </a:r>
            <a:r>
              <a:rPr lang="en-US" sz="1300" i="1" dirty="0">
                <a:solidFill>
                  <a:srgbClr val="4A4A55"/>
                </a:solidFill>
              </a:rPr>
              <a:t>   cebollín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포도</a:t>
            </a:r>
            <a:r>
              <a:rPr lang="en-US" sz="1300" i="1" dirty="0">
                <a:solidFill>
                  <a:srgbClr val="4A4A55"/>
                </a:solidFill>
              </a:rPr>
              <a:t>   uva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§2.5 · CONSONANTES · 순음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"p" tensa — sin soplo, apretada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 (BILABIAL)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ㅃ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"pp"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</a:t>
            </a:r>
            <a:r>
              <a:rPr lang="en-US" sz="1300" i="1" dirty="0">
                <a:solidFill>
                  <a:srgbClr val="4A4A55"/>
                </a:solidFill>
              </a:rPr>
              <a:t>   papá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</a:t>
            </a:r>
            <a:r>
              <a:rPr lang="en-US" sz="1300" i="1" dirty="0">
                <a:solidFill>
                  <a:srgbClr val="4A4A55"/>
                </a:solidFill>
              </a:rPr>
              <a:t>   pan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§2.6 · CONSONANTES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Sonidos de los dientes · 치음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aire pasa entre los dientes produciendo un silbido o "ch" suave.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572000" cy="3657600"/>
          </a:xfrm>
          <a:prstGeom prst="roundRect">
            <a:avLst>
              <a:gd name="adj" fmla="val 625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치음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chi-eum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02336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DIENTES (SIBILANTE)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aire silba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dientes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35661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5669280" y="489204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5000" dirty="0"/>
          </a:p>
        </p:txBody>
      </p:sp>
      <p:sp>
        <p:nvSpPr>
          <p:cNvPr id="16" name="Shape 13"/>
          <p:cNvSpPr/>
          <p:nvPr/>
        </p:nvSpPr>
        <p:spPr>
          <a:xfrm>
            <a:off x="7662672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62672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62672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거센소리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62672" y="356616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5000" dirty="0"/>
          </a:p>
        </p:txBody>
      </p:sp>
      <p:sp>
        <p:nvSpPr>
          <p:cNvPr id="20" name="Shape 17"/>
          <p:cNvSpPr/>
          <p:nvPr/>
        </p:nvSpPr>
        <p:spPr>
          <a:xfrm>
            <a:off x="9656064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56064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656064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쌍소리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56064" y="35661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</a:t>
            </a:r>
            <a:endParaRPr lang="en-US" sz="5000" dirty="0"/>
          </a:p>
        </p:txBody>
      </p:sp>
      <p:sp>
        <p:nvSpPr>
          <p:cNvPr id="24" name="Text 21"/>
          <p:cNvSpPr/>
          <p:nvPr/>
        </p:nvSpPr>
        <p:spPr>
          <a:xfrm>
            <a:off x="9656064" y="489204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ㅉ</a:t>
            </a:r>
            <a:endParaRPr lang="en-US" sz="5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§2.6 · CONSONANTES · 치음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"s" como en "sopa", "sh" antes de 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 (SIBILANTE)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 / sh"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사랑</a:t>
            </a:r>
            <a:r>
              <a:rPr lang="en-US" sz="1300" i="1" dirty="0">
                <a:solidFill>
                  <a:srgbClr val="4A4A55"/>
                </a:solidFill>
              </a:rPr>
              <a:t>   amor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sz="1300" i="1" dirty="0">
                <a:solidFill>
                  <a:srgbClr val="4A4A55"/>
                </a:solidFill>
              </a:rPr>
              <a:t>   tiempo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§2.6 · CONSONANTES · 치음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"y" suave entre vocales, "ch" suave al inicio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 (SIBILANTE)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 / ch"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r>
              <a:rPr lang="en-US" sz="1300" i="1" dirty="0">
                <a:solidFill>
                  <a:srgbClr val="4A4A55"/>
                </a:solidFill>
              </a:rPr>
              <a:t>   casa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</a:t>
            </a:r>
            <a:r>
              <a:rPr lang="en-US" sz="1300" i="1" dirty="0">
                <a:solidFill>
                  <a:srgbClr val="4A4A55"/>
                </a:solidFill>
              </a:rPr>
              <a:t>   fin de semana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§2.6 · CONSONANTES · 치음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"ch" aspirada — con soplo fuerte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 (SIBILANTE)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</a:t>
            </a:r>
            <a:r>
              <a:rPr lang="en-US" sz="1300" i="1" dirty="0">
                <a:solidFill>
                  <a:srgbClr val="4A4A55"/>
                </a:solidFill>
              </a:rPr>
              <a:t>   té / coche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r>
              <a:rPr lang="en-US" sz="1300" i="1" dirty="0">
                <a:solidFill>
                  <a:srgbClr val="4A4A55"/>
                </a:solidFill>
              </a:rPr>
              <a:t>   libro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§2.6 · CONSONANTES · 치음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"s" tensa — más fuerte y apretada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 (SIBILANTE)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"ss"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쌀</a:t>
            </a:r>
            <a:r>
              <a:rPr lang="en-US" sz="1300" i="1" dirty="0">
                <a:solidFill>
                  <a:srgbClr val="4A4A55"/>
                </a:solidFill>
              </a:rPr>
              <a:t>   arroz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싸다</a:t>
            </a:r>
            <a:r>
              <a:rPr lang="en-US" sz="1300" i="1" dirty="0">
                <a:solidFill>
                  <a:srgbClr val="4A4A55"/>
                </a:solidFill>
              </a:rPr>
              <a:t>   barato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§2.6 · CONSONANTES · 치음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"ch" tensa — sin soplo, apretada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 (SIBILANTE)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ㅉ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"jj"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짜다</a:t>
            </a:r>
            <a:r>
              <a:rPr lang="en-US" sz="1300" i="1" dirty="0">
                <a:solidFill>
                  <a:srgbClr val="4A4A55"/>
                </a:solidFill>
              </a:rPr>
              <a:t>   salado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찌개</a:t>
            </a:r>
            <a:r>
              <a:rPr lang="en-US" sz="1300" i="1" dirty="0">
                <a:solidFill>
                  <a:srgbClr val="4A4A55"/>
                </a:solidFill>
              </a:rPr>
              <a:t>   guiso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§2.7 · CONSONANTES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Sonidos de la garganta · 후음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sonido nace en la glotis, en lo más profundo de la garganta.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572000" cy="3657600"/>
          </a:xfrm>
          <a:prstGeom prst="roundRect">
            <a:avLst>
              <a:gd name="adj" fmla="val 625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후음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hu-eum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02336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GARGANTA (GLOTAL)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aire sale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de la garganta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35661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5669280" y="489204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5000" dirty="0"/>
          </a:p>
        </p:txBody>
      </p:sp>
      <p:sp>
        <p:nvSpPr>
          <p:cNvPr id="16" name="Shape 13"/>
          <p:cNvSpPr/>
          <p:nvPr/>
        </p:nvSpPr>
        <p:spPr>
          <a:xfrm>
            <a:off x="7662672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62672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62672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거센소리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656064" y="26060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56064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56064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쌍소리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§2.7 · CONSONANTES · 후음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silenciosa al inicio, "ng" al final de sílaba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후음 · GARGANTA (GLOTAL)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"silenciosa / ng"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trazo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</a:t>
            </a:r>
            <a:r>
              <a:rPr lang="en-US" sz="1300" i="1" dirty="0">
                <a:solidFill>
                  <a:srgbClr val="4A4A55"/>
                </a:solidFill>
              </a:rPr>
              <a:t>   niño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r>
              <a:rPr lang="en-US" sz="1300" i="1" dirty="0">
                <a:solidFill>
                  <a:srgbClr val="4A4A55"/>
                </a:solidFill>
              </a:rPr>
              <a:t>   río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§2.7 · CONSONANTES · 후음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· ㅎ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"h" aspirada como en inglés "hat"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88375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후음 · GARGANTA (GLOTAL)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88375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3657600"/>
          </a:xfrm>
          <a:prstGeom prst="roundRect">
            <a:avLst>
              <a:gd name="adj" fmla="val 75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240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12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"h"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2560320" cy="2423160"/>
          </a:xfrm>
          <a:prstGeom prst="roundRect">
            <a:avLst>
              <a:gd name="adj" fmla="val 566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TRAZO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4251960"/>
            <a:ext cx="1600200" cy="160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5897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trazos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3840480"/>
            <a:ext cx="2743200" cy="2423160"/>
          </a:xfrm>
          <a:prstGeom prst="roundRect">
            <a:avLst>
              <a:gd name="adj" fmla="val 566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6840" y="4297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</a:t>
            </a:r>
            <a:r>
              <a:rPr lang="en-US" sz="1300" i="1" dirty="0">
                <a:solidFill>
                  <a:srgbClr val="4A4A55"/>
                </a:solidFill>
              </a:rPr>
              <a:t>   cielo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r>
              <a:rPr lang="en-US" sz="1300" i="1" dirty="0">
                <a:solidFill>
                  <a:srgbClr val="4A4A55"/>
                </a:solidFill>
              </a:rPr>
              <a:t>   escuela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19 consonantes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básicas / aspiradas  +  5 dobles  =  el sistema completo.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 · paladar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2468880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227978" y="2468880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889797" y="2468880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ㄲ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163251" y="32461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0342" y="32461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57433" y="32461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ㄸ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954524" y="324612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023360"/>
            <a:ext cx="19963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562524" y="4023360"/>
            <a:ext cx="19963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558888" y="4023360"/>
            <a:ext cx="19963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555251" y="4023360"/>
            <a:ext cx="19963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ㅃ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00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480060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163251" y="480060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760342" y="480060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357433" y="480060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954524" y="4800600"/>
            <a:ext cx="15970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ㅉ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640080" y="557784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77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후음 · garganta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557784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558888" y="557784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32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62895" cy="5029200"/>
          </a:xfrm>
          <a:prstGeom prst="roundRect">
            <a:avLst>
              <a:gd name="adj" fmla="val 5455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§2.9 · ADELANTO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la sílaba coreana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음절 · 音節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+ 글 = 한글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próximo capítulo aprenderás cómo las consonantes y vocales se unen en bloques silábicos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única en que se escribe el coreano.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54864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화이팅!  ·  ¡Tú puedes!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097280"/>
            <a:ext cx="9814255" cy="4663440"/>
          </a:xfrm>
          <a:prstGeom prst="roundRect">
            <a:avLst>
              <a:gd name="adj" fmla="val 5882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46304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음절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188720" y="33832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Sílaba Coreana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8404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letras solas se convierten en bloques de sentido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4434840"/>
            <a:ext cx="777240" cy="777240"/>
          </a:xfrm>
          <a:prstGeom prst="rect">
            <a:avLst/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4434840"/>
            <a:ext cx="3886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06340" y="4434840"/>
            <a:ext cx="3886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17720" y="4940046"/>
            <a:ext cx="77724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2210" dirty="0"/>
          </a:p>
        </p:txBody>
      </p:sp>
      <p:sp>
        <p:nvSpPr>
          <p:cNvPr id="11" name="Text 9"/>
          <p:cNvSpPr/>
          <p:nvPr/>
        </p:nvSpPr>
        <p:spPr>
          <a:xfrm>
            <a:off x="5440680" y="4526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</a:rPr>
              <a:t>+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852160" y="4434840"/>
            <a:ext cx="777240" cy="777240"/>
          </a:xfrm>
          <a:prstGeom prst="rect">
            <a:avLst/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4434840"/>
            <a:ext cx="777240" cy="25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52160" y="4687443"/>
            <a:ext cx="777240" cy="25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852160" y="4940046"/>
            <a:ext cx="77724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2210" dirty="0"/>
          </a:p>
        </p:txBody>
      </p:sp>
      <p:sp>
        <p:nvSpPr>
          <p:cNvPr id="16" name="Text 14"/>
          <p:cNvSpPr/>
          <p:nvPr/>
        </p:nvSpPr>
        <p:spPr>
          <a:xfrm>
            <a:off x="6675120" y="4526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</a:rPr>
              <a:t>=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86600" y="4434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endParaRPr lang="en-US" sz="4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5349240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585216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kern="0" spc="2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Chingu™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62636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 ·  Jae Hee Kim  ·  김재희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0" y="649224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· CAPÍTULO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vuelven palabras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 viste letras solas. Ahora vas a ver cómo se construyen las sílabas.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Una sílaba coreana </a:t>
            </a:r>
            <a:r>
              <a:rPr lang="en-US" sz="1400" b="1" i="1" dirty="0">
                <a:solidFill>
                  <a:srgbClr val="4036ED"/>
                </a:solidFill>
              </a:rPr>
              <a:t>no se escribe en línea, como en español.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En coreano, cada sílaba se agrupa en un </a:t>
            </a:r>
            <a:r>
              <a:rPr lang="en-US" sz="1400" b="1" dirty="0">
                <a:solidFill>
                  <a:srgbClr val="FE6768"/>
                </a:solidFill>
              </a:rPr>
              <a:t>bloque cuadrado</a:t>
            </a:r>
            <a:r>
              <a:rPr lang="en-US" sz="1400" dirty="0">
                <a:solidFill>
                  <a:srgbClr val="1E1E2A"/>
                </a:solidFill>
              </a:rPr>
              <a:t> — como una pequeña caja que contiene todas las letras del sonido. Esto hace que el coreano sea muy compacto: una palabra de tres sílabas ocupa tres cuadros.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En este capítulo vas a aprender cómo armar esos cuadros. La regla más importante es muy simple: </a:t>
            </a:r>
            <a:r>
              <a:rPr lang="en-US" sz="1400" b="1" i="1" dirty="0">
                <a:solidFill>
                  <a:srgbClr val="4036ED"/>
                </a:solidFill>
              </a:rPr>
              <a:t>la vocal decide el lugar de la consonante.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</a:rPr>
              <a:t>Si entiendes esto, ya puedes leer cualquier palabra coreana.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sílaba?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ya las conoces — solo cambia la forma en que se ven escritas.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· RA · ZÓN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sílabas, escritas en línea horizontal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· 국 · 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sílabas, cada una en un bloque cuadrado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2468880"/>
            <a:ext cx="4937760" cy="3840480"/>
          </a:xfrm>
          <a:prstGeom prst="roundRect">
            <a:avLst>
              <a:gd name="adj" fmla="val 4286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kern="0" spc="2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 ·  el idioma coreano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329184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291840"/>
            <a:ext cx="59436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726680" y="3291840"/>
            <a:ext cx="59436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132320" y="4064508"/>
            <a:ext cx="11887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060" dirty="0"/>
          </a:p>
        </p:txBody>
      </p:sp>
      <p:sp>
        <p:nvSpPr>
          <p:cNvPr id="17" name="Text 15"/>
          <p:cNvSpPr/>
          <p:nvPr/>
        </p:nvSpPr>
        <p:spPr>
          <a:xfrm>
            <a:off x="7132320" y="4526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· "han"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49640" y="329184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3291840"/>
            <a:ext cx="118872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49640" y="3678174"/>
            <a:ext cx="118872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549640" y="4064508"/>
            <a:ext cx="11887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060" dirty="0"/>
          </a:p>
        </p:txBody>
      </p:sp>
      <p:sp>
        <p:nvSpPr>
          <p:cNvPr id="22" name="Text 20"/>
          <p:cNvSpPr/>
          <p:nvPr/>
        </p:nvSpPr>
        <p:spPr>
          <a:xfrm>
            <a:off x="8549640" y="4526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 · "guk"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66960" y="329184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329184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0561320" y="329184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966960" y="4526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 · "eo"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= una sílaba = un sonido completo</a:t>
            </a:r>
            <a:endParaRPr lang="en-US" sz="1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sílaba es un cuadro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el cuadro, no las letras sueltas.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E2A"/>
                </a:solidFill>
              </a:rPr>
              <a:t>En español juntas letras una al lado de la otra.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En coreano, </a:t>
            </a:r>
            <a:r>
              <a:rPr lang="en-US" sz="1400" b="1" i="1" dirty="0">
                <a:solidFill>
                  <a:srgbClr val="4036ED"/>
                </a:solidFill>
              </a:rPr>
              <a:t>cada sílaba ocupa exactamente el mismo espacio: un cuadrado.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i="1" dirty="0">
                <a:solidFill>
                  <a:srgbClr val="4A4A55"/>
                </a:solidFill>
              </a:rPr>
              <a:t>Da igual si la sílaba tiene 2 letras o 4: el cuadrado mantiene siempre el mismo tamaño. Las letras se "acomodan" dentro.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E6768"/>
                </a:solidFill>
              </a:rPr>
              <a:t>Esta regla viene del antiguo principio de los sellos chinos: cada concepto = un sello cuadrado.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2468880"/>
            <a:ext cx="5669280" cy="3931920"/>
          </a:xfrm>
          <a:prstGeom prst="roundRect">
            <a:avLst>
              <a:gd name="adj" fmla="val 4186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kern="0" spc="2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tamaño, distintas piezas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36792" y="3291840"/>
            <a:ext cx="1143000" cy="1143000"/>
          </a:xfrm>
          <a:prstGeom prst="rect">
            <a:avLst/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3291840"/>
            <a:ext cx="57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908292" y="3291840"/>
            <a:ext cx="57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336792" y="4480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 · 2 letras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44384" y="3291840"/>
            <a:ext cx="1143000" cy="1143000"/>
          </a:xfrm>
          <a:prstGeom prst="rect">
            <a:avLst/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384" y="3291840"/>
            <a:ext cx="57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215884" y="3291840"/>
            <a:ext cx="57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644384" y="4480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· 2 letras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51976" y="3291840"/>
            <a:ext cx="1143000" cy="1143000"/>
          </a:xfrm>
          <a:prstGeom prst="rect">
            <a:avLst/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51976" y="3291840"/>
            <a:ext cx="571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523476" y="3291840"/>
            <a:ext cx="571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951976" y="403479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3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230" dirty="0"/>
          </a:p>
        </p:txBody>
      </p:sp>
      <p:sp>
        <p:nvSpPr>
          <p:cNvPr id="20" name="Text 18"/>
          <p:cNvSpPr/>
          <p:nvPr/>
        </p:nvSpPr>
        <p:spPr>
          <a:xfrm>
            <a:off x="8951976" y="4480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 · 3 letras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59568" y="3291840"/>
            <a:ext cx="1143000" cy="1143000"/>
          </a:xfrm>
          <a:prstGeom prst="rect">
            <a:avLst/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9568" y="3291840"/>
            <a:ext cx="1143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10259568" y="3663315"/>
            <a:ext cx="1143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10259568" y="403479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3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230" dirty="0"/>
          </a:p>
        </p:txBody>
      </p:sp>
      <p:sp>
        <p:nvSpPr>
          <p:cNvPr id="25" name="Text 23"/>
          <p:cNvSpPr/>
          <p:nvPr/>
        </p:nvSpPr>
        <p:spPr>
          <a:xfrm>
            <a:off x="10259568" y="4480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 · 3 letras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batchim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3252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batchim</a:t>
            </a:r>
            <a:endParaRPr lang="en-US" sz="10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patrones de sílaba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sílaba coreana sigue uno de estos cuatro moldes — sin excepción.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58088" y="3154680"/>
            <a:ext cx="137160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8088" y="315468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843888" y="315468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0868" y="4754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 ·  ka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8028" y="5257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vertical → al lado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550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550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92728" y="3154680"/>
            <a:ext cx="137160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2728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3992728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3375508" y="4754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 ·  ko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12668" y="5257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horizontal → debajo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014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014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+ 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27368" y="3154680"/>
            <a:ext cx="137160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7368" y="3154680"/>
            <a:ext cx="6858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513168" y="3154680"/>
            <a:ext cx="6858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827368" y="4046220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5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4250" dirty="0"/>
          </a:p>
        </p:txBody>
      </p:sp>
      <p:sp>
        <p:nvSpPr>
          <p:cNvPr id="25" name="Text 23"/>
          <p:cNvSpPr/>
          <p:nvPr/>
        </p:nvSpPr>
        <p:spPr>
          <a:xfrm>
            <a:off x="6210148" y="4754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 ·  kang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47308" y="5257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+ batchim al final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4478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4478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+ 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62008" y="3154680"/>
            <a:ext cx="137160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62008" y="3154680"/>
            <a:ext cx="13716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9662008" y="3600450"/>
            <a:ext cx="13716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9662008" y="4046220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4250" dirty="0"/>
          </a:p>
        </p:txBody>
      </p:sp>
      <p:sp>
        <p:nvSpPr>
          <p:cNvPr id="33" name="Text 31"/>
          <p:cNvSpPr/>
          <p:nvPr/>
        </p:nvSpPr>
        <p:spPr>
          <a:xfrm>
            <a:off x="9044788" y="4754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  ·  kong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81948" y="5257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+ batchim al final</a:t>
            </a:r>
            <a:endParaRPr lang="en-US" sz="11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 · LA REGLA DE ORO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vocal decide dónde va la consonante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la forma de la vocal — ella te dice el camino.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40680" cy="3840480"/>
          </a:xfrm>
          <a:prstGeom prst="roundRect">
            <a:avLst>
              <a:gd name="adj" fmla="val 5952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VOCALES VERTICALES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6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  ㅑ  ㅓ  ㅕ  ㅣ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consonante a la izquierda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74620" y="4114800"/>
            <a:ext cx="1371600" cy="1371600"/>
          </a:xfrm>
          <a:prstGeom prst="rect">
            <a:avLst/>
          </a:prstGeom>
          <a:solidFill>
            <a:srgbClr val="FE6768"/>
          </a:solidFill>
          <a:ln w="1905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4620" y="411480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360420" y="411480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 ·  ka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5440680" cy="3840480"/>
          </a:xfrm>
          <a:prstGeom prst="roundRect">
            <a:avLst>
              <a:gd name="adj" fmla="val 5952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6517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VOCALES HORIZONTALES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0632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600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  ㅛ  ㅜ  ㅠ  ㅡ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36576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consonante arriba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61020" y="4114800"/>
            <a:ext cx="1371600" cy="1371600"/>
          </a:xfrm>
          <a:prstGeom prst="rect">
            <a:avLst/>
          </a:prstGeom>
          <a:solidFill>
            <a:srgbClr val="4036ED"/>
          </a:solidFill>
          <a:ln w="1905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102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8161020" y="4800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6126480" y="56235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  ·  ko</a:t>
            </a:r>
            <a:endParaRPr lang="en-US" sz="1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Leyendo con vocales verticales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a la izquierda, vocal a la derecha. La fórmula más común.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911535" cy="3840480"/>
          </a:xfrm>
          <a:prstGeom prst="roundRect">
            <a:avLst>
              <a:gd name="adj" fmla="val 4762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ㄱ + vocales verticales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244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1879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5196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830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=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5244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244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52968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75244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552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0187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3504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138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=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3552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552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431276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353552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1860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8495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1812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8446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=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1860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1860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609584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531860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0168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6803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+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0120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6754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10168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0168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787892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5200" dirty="0"/>
          </a:p>
        </p:txBody>
      </p:sp>
      <p:sp>
        <p:nvSpPr>
          <p:cNvPr id="38" name="Text 36"/>
          <p:cNvSpPr/>
          <p:nvPr/>
        </p:nvSpPr>
        <p:spPr>
          <a:xfrm>
            <a:off x="710168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kyeo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8476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35111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58428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05062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6768"/>
                </a:solidFill>
              </a:rPr>
              <a:t>=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88476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476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9662008" y="38862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5200" dirty="0"/>
          </a:p>
        </p:txBody>
      </p:sp>
      <p:sp>
        <p:nvSpPr>
          <p:cNvPr id="46" name="Text 44"/>
          <p:cNvSpPr/>
          <p:nvPr/>
        </p:nvSpPr>
        <p:spPr>
          <a:xfrm>
            <a:off x="888476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160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§3.6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ㄴ ㄷ 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consonantes de la lengua, cinco vocales verticales.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냐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녀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댜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뎌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RIEUL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랴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려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ryeo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§3.7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ㅁ ㅂ 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consonantes de los labios, cinco vocales verticales.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먀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뱌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벼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byeo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PIEUP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퍄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펴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§3.8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ㅅ ㅈ 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consonantes de los dientes, cinco vocales verticales.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셔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쟈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져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jyeo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챠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쳐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§3.9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ㅋ ㅌ ㅎ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aspiradas y la garganta — completando las simples.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아음·설음·후음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KIEUK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캬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kyeo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탸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텨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tyeo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햐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혀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hyeo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Leyendo con vocales horizontales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arriba, vocal abajo. La forma se acomoda hacia abajo.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911535" cy="3840480"/>
          </a:xfrm>
          <a:prstGeom prst="roundRect">
            <a:avLst>
              <a:gd name="adj" fmla="val 4762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ㄱ + vocales horizontales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244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1879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5196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830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=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5244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2448" y="3886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1752448" y="4663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175244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552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0187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3504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138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=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3552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5528" y="3886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3535528" y="4663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353552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1860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8495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1812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8446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=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1860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18608" y="3886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5318608" y="4663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5000" dirty="0"/>
          </a:p>
        </p:txBody>
      </p:sp>
      <p:sp>
        <p:nvSpPr>
          <p:cNvPr id="30" name="Text 28"/>
          <p:cNvSpPr/>
          <p:nvPr/>
        </p:nvSpPr>
        <p:spPr>
          <a:xfrm>
            <a:off x="531860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0168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6803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+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0120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6754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10168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01688" y="3886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37" name="Text 35"/>
          <p:cNvSpPr/>
          <p:nvPr/>
        </p:nvSpPr>
        <p:spPr>
          <a:xfrm>
            <a:off x="7101688" y="4663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710168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8476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351112" y="3291840"/>
            <a:ext cx="23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584284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050628" y="32918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36ED"/>
                </a:solidFill>
              </a:rPr>
              <a:t>=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884768" y="3886200"/>
            <a:ext cx="1554480" cy="155448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4768" y="3886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45" name="Text 43"/>
          <p:cNvSpPr/>
          <p:nvPr/>
        </p:nvSpPr>
        <p:spPr>
          <a:xfrm>
            <a:off x="8884768" y="4663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5000" dirty="0"/>
          </a:p>
        </p:txBody>
      </p:sp>
      <p:sp>
        <p:nvSpPr>
          <p:cNvPr id="46" name="Text 44"/>
          <p:cNvSpPr/>
          <p:nvPr/>
        </p:nvSpPr>
        <p:spPr>
          <a:xfrm>
            <a:off x="8884768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</a:t>
            </a:r>
            <a:endParaRPr lang="en-US" sz="160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§3.11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ㄴ ㄷ 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tres consonantes, ahora con vocales horizontales.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뇨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됴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dyu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RIEUL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료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류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§3.12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ㅁ ㅂ 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labiales con vocales horizontales.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뮤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므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뵤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beu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PIEUP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퓨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pyu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§3.13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ㅅ ㅈ 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sibilantes con vocales horizontales.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죠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쥬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jyu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즈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쵸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츄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츠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cheu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§3.14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ㅋ ㅌ ㅎ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aspiradas + ㅎ con vocales horizontales.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아음·설음·후음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KIEUK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쿄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툐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tyu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§3.15 · UNA REGLA IMPORTANTE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ㅇ — la consonante muda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sílaba coreana DEBE empezar con una consonante. ¿Y si quieres empezar con vocal?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En coreano, </a:t>
            </a:r>
            <a:r>
              <a:rPr lang="en-US" sz="1400" b="1" i="1" dirty="0">
                <a:solidFill>
                  <a:srgbClr val="4036ED"/>
                </a:solidFill>
              </a:rPr>
              <a:t>una sílaba nunca puede empezar con una vocal sola.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1E2A"/>
                </a:solidFill>
              </a:rPr>
              <a:t>Pero, ¿qué pasa si quieres escribir el sonido [a] o [o]?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Solución: usas la consonante </a:t>
            </a:r>
            <a:r>
              <a:rPr lang="en-US" sz="1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 </a:t>
            </a:r>
            <a:r>
              <a:rPr lang="en-US" sz="1400" dirty="0">
                <a:solidFill>
                  <a:srgbClr val="1E1E2A"/>
                </a:solidFill>
              </a:rPr>
              <a:t>(ieung) como </a:t>
            </a:r>
            <a:r>
              <a:rPr lang="en-US" sz="1400" b="1" dirty="0">
                <a:solidFill>
                  <a:srgbClr val="FE6768"/>
                </a:solidFill>
              </a:rPr>
              <a:t>"silla vacía"</a:t>
            </a:r>
            <a:r>
              <a:rPr lang="en-US" sz="1400" dirty="0">
                <a:solidFill>
                  <a:srgbClr val="1E1E2A"/>
                </a:solidFill>
              </a:rPr>
              <a:t> al inicio. No se pronuncia — solo cumple la regla del cuadro.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</a:rPr>
              <a:t>Al final de sílaba (como batchim), ㅇ sí suena: como la "ng" de inglés.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2468880"/>
            <a:ext cx="5120640" cy="3840480"/>
          </a:xfrm>
          <a:prstGeom prst="roundRect">
            <a:avLst>
              <a:gd name="adj" fmla="val 4286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decir [a]: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310896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F6F6F6"/>
          </a:solidFill>
          <a:ln w="25400">
            <a:solidFill>
              <a:srgbClr val="FE6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246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85800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sola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310896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F6F6F6"/>
          </a:solidFill>
          <a:ln w="2540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3246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914400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ㅇ + ㅏ = "a"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5623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ㅇ es muda al inicio.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5989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"rellena" la silla.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Sílabas que empiezan con vocal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11 vocales fundamentales, todas con su silla vacía ㅇ.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47492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7492" y="2606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47492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8780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8780" y="2606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40878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0068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0068" y="2606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5570068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31356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1356" y="2606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731356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92644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2644" y="2606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892644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7492" y="4160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7492" y="4160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3247492" y="5257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08780" y="4160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8780" y="4160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4408780" y="5257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70068" y="4160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0068" y="4160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5570068" y="5257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31356" y="4160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1356" y="4160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6731356" y="5257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92644" y="4160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92644" y="4160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5000" dirty="0"/>
          </a:p>
        </p:txBody>
      </p:sp>
      <p:sp>
        <p:nvSpPr>
          <p:cNvPr id="34" name="Text 32"/>
          <p:cNvSpPr/>
          <p:nvPr/>
        </p:nvSpPr>
        <p:spPr>
          <a:xfrm>
            <a:off x="7892644" y="5257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horizontal: a, ya, eo, yeo, o, yo, u, yu, eu, i</a:t>
            </a:r>
            <a:endParaRPr lang="en-US" sz="12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primeras palabras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batchim — solo dos sílabas simples. Ya las puedes leer.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29588" y="2514600"/>
            <a:ext cx="278892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80464" y="26974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80464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4550" dirty="0"/>
          </a:p>
        </p:txBody>
      </p:sp>
      <p:sp>
        <p:nvSpPr>
          <p:cNvPr id="8" name="Text 6"/>
          <p:cNvSpPr/>
          <p:nvPr/>
        </p:nvSpPr>
        <p:spPr>
          <a:xfrm>
            <a:off x="2474824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4550" dirty="0"/>
          </a:p>
        </p:txBody>
      </p:sp>
      <p:sp>
        <p:nvSpPr>
          <p:cNvPr id="9" name="Shape 7"/>
          <p:cNvSpPr/>
          <p:nvPr/>
        </p:nvSpPr>
        <p:spPr>
          <a:xfrm>
            <a:off x="3178912" y="26974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8912" y="2697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4550" dirty="0"/>
          </a:p>
        </p:txBody>
      </p:sp>
      <p:sp>
        <p:nvSpPr>
          <p:cNvPr id="11" name="Text 9"/>
          <p:cNvSpPr/>
          <p:nvPr/>
        </p:nvSpPr>
        <p:spPr>
          <a:xfrm>
            <a:off x="3178912" y="3291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4550" dirty="0"/>
          </a:p>
        </p:txBody>
      </p:sp>
      <p:sp>
        <p:nvSpPr>
          <p:cNvPr id="12" name="Text 10"/>
          <p:cNvSpPr/>
          <p:nvPr/>
        </p:nvSpPr>
        <p:spPr>
          <a:xfrm>
            <a:off x="1880464" y="3977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가구  ·  mueble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1388" y="2514600"/>
            <a:ext cx="278892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2264" y="26974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2264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4550" dirty="0"/>
          </a:p>
        </p:txBody>
      </p:sp>
      <p:sp>
        <p:nvSpPr>
          <p:cNvPr id="16" name="Text 14"/>
          <p:cNvSpPr/>
          <p:nvPr/>
        </p:nvSpPr>
        <p:spPr>
          <a:xfrm>
            <a:off x="5446624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4550" dirty="0"/>
          </a:p>
        </p:txBody>
      </p:sp>
      <p:sp>
        <p:nvSpPr>
          <p:cNvPr id="17" name="Shape 15"/>
          <p:cNvSpPr/>
          <p:nvPr/>
        </p:nvSpPr>
        <p:spPr>
          <a:xfrm>
            <a:off x="6150712" y="26974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0712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4550" dirty="0"/>
          </a:p>
        </p:txBody>
      </p:sp>
      <p:sp>
        <p:nvSpPr>
          <p:cNvPr id="19" name="Text 17"/>
          <p:cNvSpPr/>
          <p:nvPr/>
        </p:nvSpPr>
        <p:spPr>
          <a:xfrm>
            <a:off x="6745072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4550" dirty="0"/>
          </a:p>
        </p:txBody>
      </p:sp>
      <p:sp>
        <p:nvSpPr>
          <p:cNvPr id="20" name="Text 18"/>
          <p:cNvSpPr/>
          <p:nvPr/>
        </p:nvSpPr>
        <p:spPr>
          <a:xfrm>
            <a:off x="4852264" y="3977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나라  ·  país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73188" y="2514600"/>
            <a:ext cx="278892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24064" y="26974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4064" y="2697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4550" dirty="0"/>
          </a:p>
        </p:txBody>
      </p:sp>
      <p:sp>
        <p:nvSpPr>
          <p:cNvPr id="24" name="Text 22"/>
          <p:cNvSpPr/>
          <p:nvPr/>
        </p:nvSpPr>
        <p:spPr>
          <a:xfrm>
            <a:off x="7824064" y="3291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4550" dirty="0"/>
          </a:p>
        </p:txBody>
      </p:sp>
      <p:sp>
        <p:nvSpPr>
          <p:cNvPr id="25" name="Shape 23"/>
          <p:cNvSpPr/>
          <p:nvPr/>
        </p:nvSpPr>
        <p:spPr>
          <a:xfrm>
            <a:off x="9122512" y="26974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2512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4550" dirty="0"/>
          </a:p>
        </p:txBody>
      </p:sp>
      <p:sp>
        <p:nvSpPr>
          <p:cNvPr id="27" name="Text 25"/>
          <p:cNvSpPr/>
          <p:nvPr/>
        </p:nvSpPr>
        <p:spPr>
          <a:xfrm>
            <a:off x="9716872" y="26974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4550" dirty="0"/>
          </a:p>
        </p:txBody>
      </p:sp>
      <p:sp>
        <p:nvSpPr>
          <p:cNvPr id="28" name="Text 26"/>
          <p:cNvSpPr/>
          <p:nvPr/>
        </p:nvSpPr>
        <p:spPr>
          <a:xfrm>
            <a:off x="7824064" y="3977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 ·  ciudad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729588" y="4572000"/>
            <a:ext cx="278892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80464" y="47548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0464" y="4754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4550" dirty="0"/>
          </a:p>
        </p:txBody>
      </p:sp>
      <p:sp>
        <p:nvSpPr>
          <p:cNvPr id="32" name="Text 30"/>
          <p:cNvSpPr/>
          <p:nvPr/>
        </p:nvSpPr>
        <p:spPr>
          <a:xfrm>
            <a:off x="1880464" y="5349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4550" dirty="0"/>
          </a:p>
        </p:txBody>
      </p:sp>
      <p:sp>
        <p:nvSpPr>
          <p:cNvPr id="33" name="Shape 31"/>
          <p:cNvSpPr/>
          <p:nvPr/>
        </p:nvSpPr>
        <p:spPr>
          <a:xfrm>
            <a:off x="3178912" y="47548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78912" y="4754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4550" dirty="0"/>
          </a:p>
        </p:txBody>
      </p:sp>
      <p:sp>
        <p:nvSpPr>
          <p:cNvPr id="35" name="Text 33"/>
          <p:cNvSpPr/>
          <p:nvPr/>
        </p:nvSpPr>
        <p:spPr>
          <a:xfrm>
            <a:off x="3178912" y="5349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4550" dirty="0"/>
          </a:p>
        </p:txBody>
      </p:sp>
      <p:sp>
        <p:nvSpPr>
          <p:cNvPr id="36" name="Text 34"/>
          <p:cNvSpPr/>
          <p:nvPr/>
        </p:nvSpPr>
        <p:spPr>
          <a:xfrm>
            <a:off x="1880464" y="6035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우유  ·  leche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01388" y="4572000"/>
            <a:ext cx="278892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2264" y="47548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2264" y="4754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4550" dirty="0"/>
          </a:p>
        </p:txBody>
      </p:sp>
      <p:sp>
        <p:nvSpPr>
          <p:cNvPr id="40" name="Text 38"/>
          <p:cNvSpPr/>
          <p:nvPr/>
        </p:nvSpPr>
        <p:spPr>
          <a:xfrm>
            <a:off x="4852264" y="5349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4550" dirty="0"/>
          </a:p>
        </p:txBody>
      </p:sp>
      <p:sp>
        <p:nvSpPr>
          <p:cNvPr id="41" name="Shape 39"/>
          <p:cNvSpPr/>
          <p:nvPr/>
        </p:nvSpPr>
        <p:spPr>
          <a:xfrm>
            <a:off x="6150712" y="47548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0712" y="4754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4550" dirty="0"/>
          </a:p>
        </p:txBody>
      </p:sp>
      <p:sp>
        <p:nvSpPr>
          <p:cNvPr id="43" name="Text 41"/>
          <p:cNvSpPr/>
          <p:nvPr/>
        </p:nvSpPr>
        <p:spPr>
          <a:xfrm>
            <a:off x="6745072" y="4754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4550" dirty="0"/>
          </a:p>
        </p:txBody>
      </p:sp>
      <p:sp>
        <p:nvSpPr>
          <p:cNvPr id="44" name="Text 42"/>
          <p:cNvSpPr/>
          <p:nvPr/>
        </p:nvSpPr>
        <p:spPr>
          <a:xfrm>
            <a:off x="4852264" y="6035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모자  ·  sombrero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73188" y="4572000"/>
            <a:ext cx="278892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24064" y="47548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24064" y="4754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4550" dirty="0"/>
          </a:p>
        </p:txBody>
      </p:sp>
      <p:sp>
        <p:nvSpPr>
          <p:cNvPr id="48" name="Text 46"/>
          <p:cNvSpPr/>
          <p:nvPr/>
        </p:nvSpPr>
        <p:spPr>
          <a:xfrm>
            <a:off x="8418424" y="4754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4550" dirty="0"/>
          </a:p>
        </p:txBody>
      </p:sp>
      <p:sp>
        <p:nvSpPr>
          <p:cNvPr id="49" name="Shape 47"/>
          <p:cNvSpPr/>
          <p:nvPr/>
        </p:nvSpPr>
        <p:spPr>
          <a:xfrm>
            <a:off x="9122512" y="4754880"/>
            <a:ext cx="1188720" cy="118872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2512" y="4754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4550" dirty="0"/>
          </a:p>
        </p:txBody>
      </p:sp>
      <p:sp>
        <p:nvSpPr>
          <p:cNvPr id="51" name="Text 49"/>
          <p:cNvSpPr/>
          <p:nvPr/>
        </p:nvSpPr>
        <p:spPr>
          <a:xfrm>
            <a:off x="9716872" y="4754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4550" dirty="0"/>
          </a:p>
        </p:txBody>
      </p:sp>
      <p:sp>
        <p:nvSpPr>
          <p:cNvPr id="52" name="Text 50"/>
          <p:cNvSpPr/>
          <p:nvPr/>
        </p:nvSpPr>
        <p:spPr>
          <a:xfrm>
            <a:off x="7824064" y="6035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커피  ·  café</a:t>
            </a:r>
            <a:endParaRPr lang="en-US" sz="130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la familia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más cercanas — practica en voz alta.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6628" y="2514600"/>
            <a:ext cx="3337560" cy="18288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4080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408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55128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3500" dirty="0"/>
          </a:p>
        </p:txBody>
      </p:sp>
      <p:sp>
        <p:nvSpPr>
          <p:cNvPr id="9" name="Shape 7"/>
          <p:cNvSpPr/>
          <p:nvPr/>
        </p:nvSpPr>
        <p:spPr>
          <a:xfrm>
            <a:off x="2118208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8208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2575408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3500" dirty="0"/>
          </a:p>
        </p:txBody>
      </p:sp>
      <p:sp>
        <p:nvSpPr>
          <p:cNvPr id="12" name="Shape 10"/>
          <p:cNvSpPr/>
          <p:nvPr/>
        </p:nvSpPr>
        <p:spPr>
          <a:xfrm>
            <a:off x="3142336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2336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3599536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1094080" y="37033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어머니  ·  madre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27068" y="2514600"/>
            <a:ext cx="3337560" cy="18288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4520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452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500" dirty="0"/>
          </a:p>
        </p:txBody>
      </p:sp>
      <p:sp>
        <p:nvSpPr>
          <p:cNvPr id="19" name="Text 17"/>
          <p:cNvSpPr/>
          <p:nvPr/>
        </p:nvSpPr>
        <p:spPr>
          <a:xfrm>
            <a:off x="5071720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500" dirty="0"/>
          </a:p>
        </p:txBody>
      </p:sp>
      <p:sp>
        <p:nvSpPr>
          <p:cNvPr id="20" name="Shape 18"/>
          <p:cNvSpPr/>
          <p:nvPr/>
        </p:nvSpPr>
        <p:spPr>
          <a:xfrm>
            <a:off x="5638648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8648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6095848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3500" dirty="0"/>
          </a:p>
        </p:txBody>
      </p:sp>
      <p:sp>
        <p:nvSpPr>
          <p:cNvPr id="23" name="Shape 21"/>
          <p:cNvSpPr/>
          <p:nvPr/>
        </p:nvSpPr>
        <p:spPr>
          <a:xfrm>
            <a:off x="6662776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62776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7119976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500" dirty="0"/>
          </a:p>
        </p:txBody>
      </p:sp>
      <p:sp>
        <p:nvSpPr>
          <p:cNvPr id="26" name="Text 24"/>
          <p:cNvSpPr/>
          <p:nvPr/>
        </p:nvSpPr>
        <p:spPr>
          <a:xfrm>
            <a:off x="4614520" y="37033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아버지  ·  padre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47508" y="2514600"/>
            <a:ext cx="3337560" cy="18288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7024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7024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500" dirty="0"/>
          </a:p>
        </p:txBody>
      </p:sp>
      <p:sp>
        <p:nvSpPr>
          <p:cNvPr id="30" name="Text 28"/>
          <p:cNvSpPr/>
          <p:nvPr/>
        </p:nvSpPr>
        <p:spPr>
          <a:xfrm>
            <a:off x="8647024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3500" dirty="0"/>
          </a:p>
        </p:txBody>
      </p:sp>
      <p:sp>
        <p:nvSpPr>
          <p:cNvPr id="31" name="Shape 29"/>
          <p:cNvSpPr/>
          <p:nvPr/>
        </p:nvSpPr>
        <p:spPr>
          <a:xfrm>
            <a:off x="9671152" y="26974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1152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500" dirty="0"/>
          </a:p>
        </p:txBody>
      </p:sp>
      <p:sp>
        <p:nvSpPr>
          <p:cNvPr id="33" name="Text 31"/>
          <p:cNvSpPr/>
          <p:nvPr/>
        </p:nvSpPr>
        <p:spPr>
          <a:xfrm>
            <a:off x="10128352" y="2697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500" dirty="0"/>
          </a:p>
        </p:txBody>
      </p:sp>
      <p:sp>
        <p:nvSpPr>
          <p:cNvPr id="34" name="Text 32"/>
          <p:cNvSpPr/>
          <p:nvPr/>
        </p:nvSpPr>
        <p:spPr>
          <a:xfrm>
            <a:off x="8647024" y="37033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누나  ·  hermana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6628" y="4572000"/>
            <a:ext cx="3337560" cy="18288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6144" y="47548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6144" y="4754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500" dirty="0"/>
          </a:p>
        </p:txBody>
      </p:sp>
      <p:sp>
        <p:nvSpPr>
          <p:cNvPr id="38" name="Text 36"/>
          <p:cNvSpPr/>
          <p:nvPr/>
        </p:nvSpPr>
        <p:spPr>
          <a:xfrm>
            <a:off x="1606144" y="5212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3500" dirty="0"/>
          </a:p>
        </p:txBody>
      </p:sp>
      <p:sp>
        <p:nvSpPr>
          <p:cNvPr id="39" name="Shape 37"/>
          <p:cNvSpPr/>
          <p:nvPr/>
        </p:nvSpPr>
        <p:spPr>
          <a:xfrm>
            <a:off x="2630272" y="47548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30272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ㅃ</a:t>
            </a:r>
            <a:endParaRPr lang="en-US" sz="3500" dirty="0"/>
          </a:p>
        </p:txBody>
      </p:sp>
      <p:sp>
        <p:nvSpPr>
          <p:cNvPr id="41" name="Text 39"/>
          <p:cNvSpPr/>
          <p:nvPr/>
        </p:nvSpPr>
        <p:spPr>
          <a:xfrm>
            <a:off x="3087472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500" dirty="0"/>
          </a:p>
        </p:txBody>
      </p:sp>
      <p:sp>
        <p:nvSpPr>
          <p:cNvPr id="42" name="Text 40"/>
          <p:cNvSpPr/>
          <p:nvPr/>
        </p:nvSpPr>
        <p:spPr>
          <a:xfrm>
            <a:off x="1606144" y="57607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오빠  ·  hermano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427068" y="4572000"/>
            <a:ext cx="3337560" cy="18288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6584" y="47548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6584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500" dirty="0"/>
          </a:p>
        </p:txBody>
      </p:sp>
      <p:sp>
        <p:nvSpPr>
          <p:cNvPr id="46" name="Text 44"/>
          <p:cNvSpPr/>
          <p:nvPr/>
        </p:nvSpPr>
        <p:spPr>
          <a:xfrm>
            <a:off x="5583784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500" dirty="0"/>
          </a:p>
        </p:txBody>
      </p:sp>
      <p:sp>
        <p:nvSpPr>
          <p:cNvPr id="47" name="Shape 45"/>
          <p:cNvSpPr/>
          <p:nvPr/>
        </p:nvSpPr>
        <p:spPr>
          <a:xfrm>
            <a:off x="6150712" y="47548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50712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3500" dirty="0"/>
          </a:p>
        </p:txBody>
      </p:sp>
      <p:sp>
        <p:nvSpPr>
          <p:cNvPr id="49" name="Text 47"/>
          <p:cNvSpPr/>
          <p:nvPr/>
        </p:nvSpPr>
        <p:spPr>
          <a:xfrm>
            <a:off x="6607912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500" dirty="0"/>
          </a:p>
        </p:txBody>
      </p:sp>
      <p:sp>
        <p:nvSpPr>
          <p:cNvPr id="50" name="Text 48"/>
          <p:cNvSpPr/>
          <p:nvPr/>
        </p:nvSpPr>
        <p:spPr>
          <a:xfrm>
            <a:off x="5126584" y="57607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아기  ·  bebé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947508" y="4572000"/>
            <a:ext cx="3337560" cy="1828800"/>
          </a:xfrm>
          <a:prstGeom prst="roundRect">
            <a:avLst>
              <a:gd name="adj" fmla="val 7500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47024" y="47548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47024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500" dirty="0"/>
          </a:p>
        </p:txBody>
      </p:sp>
      <p:sp>
        <p:nvSpPr>
          <p:cNvPr id="54" name="Text 52"/>
          <p:cNvSpPr/>
          <p:nvPr/>
        </p:nvSpPr>
        <p:spPr>
          <a:xfrm>
            <a:off x="9104224" y="4754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500" dirty="0"/>
          </a:p>
        </p:txBody>
      </p:sp>
      <p:sp>
        <p:nvSpPr>
          <p:cNvPr id="55" name="Shape 53"/>
          <p:cNvSpPr/>
          <p:nvPr/>
        </p:nvSpPr>
        <p:spPr>
          <a:xfrm>
            <a:off x="9671152" y="4754880"/>
            <a:ext cx="91440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71152" y="4754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3500" dirty="0"/>
          </a:p>
        </p:txBody>
      </p:sp>
      <p:sp>
        <p:nvSpPr>
          <p:cNvPr id="57" name="Text 55"/>
          <p:cNvSpPr/>
          <p:nvPr/>
        </p:nvSpPr>
        <p:spPr>
          <a:xfrm>
            <a:off x="9671152" y="5212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3500" dirty="0"/>
          </a:p>
        </p:txBody>
      </p:sp>
      <p:sp>
        <p:nvSpPr>
          <p:cNvPr id="58" name="Text 56"/>
          <p:cNvSpPr/>
          <p:nvPr/>
        </p:nvSpPr>
        <p:spPr>
          <a:xfrm>
            <a:off x="8647024" y="57607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이모  ·  tía</a:t>
            </a:r>
            <a:endParaRPr lang="en-US" sz="1300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Aspiradas y dobles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soplo de aire (aspirada) y la tensión (doble) cambian todo.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69768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30088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90408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69768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30088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거센소리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90408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쌍소리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40968" y="32461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2648" y="3246120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648" y="32461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5912968" y="3246120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12968" y="32461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473288" y="3246120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288" y="32461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40968" y="395935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52648" y="3959352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2648" y="39593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912968" y="3959352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2968" y="39593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8473288" y="3959352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3288" y="39593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340968" y="46725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52648" y="4672584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2648" y="467258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5912968" y="4672584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12968" y="467258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8473288" y="4672584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3288" y="467258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340968" y="53858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/ j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52648" y="5385816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2648" y="538581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5912968" y="5385816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12968" y="538581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8473288" y="5385816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3288" y="538581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짜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340968" y="60990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52648" y="609904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2648" y="60990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3200" dirty="0"/>
          </a:p>
        </p:txBody>
      </p:sp>
      <p:sp>
        <p:nvSpPr>
          <p:cNvPr id="42" name="Shape 40"/>
          <p:cNvSpPr/>
          <p:nvPr/>
        </p:nvSpPr>
        <p:spPr>
          <a:xfrm>
            <a:off x="5912968" y="609904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12968" y="60990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3200" dirty="0"/>
          </a:p>
        </p:txBody>
      </p:sp>
      <p:sp>
        <p:nvSpPr>
          <p:cNvPr id="44" name="Shape 42"/>
          <p:cNvSpPr/>
          <p:nvPr/>
        </p:nvSpPr>
        <p:spPr>
          <a:xfrm>
            <a:off x="8473288" y="609904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3288" y="60990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normal → más aire (aspirada) → sin aire pero tenso (doble)</a:t>
            </a:r>
            <a:endParaRPr lang="en-US" sz="120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Sílabas con vocales compuestas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14 vocales restantes — combinadas con ㅣ o entre sí.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81148" y="26060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1148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781148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05860" y="26060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586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90586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30572" y="26060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0572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얘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30572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55284" y="26060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5284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155284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79996" y="26060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9996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7279996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4708" y="26060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4708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404708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81148" y="41148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1148" y="4114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2781148" y="5166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05860" y="41148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05860" y="4114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3905860" y="5166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30572" y="41148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0572" y="4114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</a:t>
            </a:r>
            <a:endParaRPr lang="en-US" sz="4600" dirty="0"/>
          </a:p>
        </p:txBody>
      </p:sp>
      <p:sp>
        <p:nvSpPr>
          <p:cNvPr id="31" name="Text 29"/>
          <p:cNvSpPr/>
          <p:nvPr/>
        </p:nvSpPr>
        <p:spPr>
          <a:xfrm>
            <a:off x="5030572" y="5166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55284" y="41148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5284" y="4114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6155284" y="5166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279996" y="41148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9996" y="4114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7279996" y="5166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estas usan ㅇ como silla vacía al inicio.</a:t>
            </a:r>
            <a:endParaRPr lang="en-US" sz="12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con vocales compuestas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Léelas en voz alta — siente cómo dos vocales fluyen en una.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6628" y="2606040"/>
            <a:ext cx="333756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6628" y="27432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06628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eui-ja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6628" y="3977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7068" y="2606040"/>
            <a:ext cx="333756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7068" y="27432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27068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oe-guk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7068" y="3977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extranjero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47508" y="2606040"/>
            <a:ext cx="333756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7508" y="27432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과일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7947508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gwa-il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47508" y="3977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6628" y="4572000"/>
            <a:ext cx="333756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628" y="47091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906628" y="5623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6628" y="5943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27068" y="4572000"/>
            <a:ext cx="333756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7068" y="47091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4427068" y="5623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27068" y="5943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47508" y="4572000"/>
            <a:ext cx="333756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7508" y="47091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7947508" y="5623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47508" y="5943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3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los cuatro patrones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batchim, asegúrate de reconocer las formas de un vistazo.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12368" y="3200400"/>
            <a:ext cx="1463040" cy="146304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2368" y="3200400"/>
            <a:ext cx="73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843888" y="3200400"/>
            <a:ext cx="73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0868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8028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(vertical)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550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550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947008" y="3200400"/>
            <a:ext cx="1463040" cy="146304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7008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3947008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3375508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12668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(horizontal)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014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014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81648" y="3200400"/>
            <a:ext cx="1463040" cy="146304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1648" y="3200400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513168" y="3200400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781648" y="415137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5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4250" dirty="0"/>
          </a:p>
        </p:txBody>
      </p:sp>
      <p:sp>
        <p:nvSpPr>
          <p:cNvPr id="25" name="Text 23"/>
          <p:cNvSpPr/>
          <p:nvPr/>
        </p:nvSpPr>
        <p:spPr>
          <a:xfrm>
            <a:off x="6210148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47308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+ C (vertical)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44788" y="2468880"/>
            <a:ext cx="2606040" cy="3840480"/>
          </a:xfrm>
          <a:prstGeom prst="roundRect">
            <a:avLst>
              <a:gd name="adj" fmla="val 6316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4478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16288" y="3200400"/>
            <a:ext cx="1463040" cy="146304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16288" y="32004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9616288" y="36758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9616288" y="415137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5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4250" dirty="0"/>
          </a:p>
        </p:txBody>
      </p:sp>
      <p:sp>
        <p:nvSpPr>
          <p:cNvPr id="33" name="Text 31"/>
          <p:cNvSpPr/>
          <p:nvPr/>
        </p:nvSpPr>
        <p:spPr>
          <a:xfrm>
            <a:off x="9044788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81948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V + C (horizontal)</a:t>
            </a:r>
            <a:endParaRPr lang="en-US" sz="11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§3.23 · DESAFÍO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en voz alta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palabras coreanas de la vida diaria — sin traducción al inicio.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0264" y="2606040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0264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80264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9416" y="2606040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9416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39416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98568" y="2606040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8568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99856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57720" y="2606040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5772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3577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16872" y="2606040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6872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바다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716872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0264" y="4315968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264" y="44531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비누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280264" y="5321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39416" y="4315968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9416" y="44531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사자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2639416" y="5321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98568" y="4315968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8568" y="44531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998568" y="5321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57720" y="4315968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7720" y="44531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치마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7357720" y="5321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16872" y="4315968"/>
            <a:ext cx="2194560" cy="150876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6872" y="44531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9716872" y="5321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화이팅!  ·  ¡Tú puedes! Léelas tres veces.</a:t>
            </a:r>
            <a:endParaRPr lang="en-US" sz="13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dentro del bloque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escribes una sílaba, sigues el mismo orden que en español: arriba-abajo, izquierda-derecha.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4036ED"/>
                </a:solidFill>
              </a:rPr>
              <a:t>Reglas para escribir un bloque silábico: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</a:rPr>
              <a:t>1.  </a:t>
            </a:r>
            <a:r>
              <a:rPr lang="en-US" sz="1300" dirty="0">
                <a:solidFill>
                  <a:srgbClr val="1E1E2A"/>
                </a:solidFill>
              </a:rPr>
              <a:t>De arriba hacia abajo (consonante inicial primero, batchim al final).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</a:rPr>
              <a:t>2.  </a:t>
            </a:r>
            <a:r>
              <a:rPr lang="en-US" sz="1300" dirty="0">
                <a:solidFill>
                  <a:srgbClr val="1E1E2A"/>
                </a:solidFill>
              </a:rPr>
              <a:t>De izquierda a derecha (consonante antes que vocal cuando están al lado).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</a:rPr>
              <a:t>3.  </a:t>
            </a:r>
            <a:r>
              <a:rPr lang="en-US" sz="1300" dirty="0">
                <a:solidFill>
                  <a:srgbClr val="1E1E2A"/>
                </a:solidFill>
              </a:rPr>
              <a:t>Cada letra mantiene su propio orden de trazos (lo que ya aprendiste).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</a:rPr>
              <a:t>En la práctica: ojos en el bloque, mano va siguiendo de arriba-izquierda hacia abajo-derecha.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2468880"/>
            <a:ext cx="5120640" cy="3840480"/>
          </a:xfrm>
          <a:prstGeom prst="roundRect">
            <a:avLst>
              <a:gd name="adj" fmla="val 428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강 (kang)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3200400"/>
            <a:ext cx="137160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3200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72084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ㄱ inicial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92440" y="32004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66760" y="3200400"/>
            <a:ext cx="137160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200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6676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+ ㅏ vocal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38360" y="32004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012680" y="3200400"/>
            <a:ext cx="137160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2680" y="3200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001268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+ ㅇ batchim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de la clase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que vas a escuchar todos los días.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308" y="25146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2308" y="26517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32308" y="3611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haksaeng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308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5628" y="25146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5628" y="26517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335628" y="3611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seonsaengnim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35628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profesor/a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38948" y="25146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38948" y="26517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038948" y="3611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38948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308" y="45720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308" y="4709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2308" y="5669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hangugeo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308" y="5989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coreano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5628" y="45720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5628" y="4709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335628" y="5669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5628" y="5989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38948" y="4572000"/>
            <a:ext cx="3520440" cy="1783080"/>
          </a:xfrm>
          <a:prstGeom prst="roundRect">
            <a:avLst>
              <a:gd name="adj" fmla="val 7692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8948" y="4709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8038948" y="5669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yeonpil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38948" y="5989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lápiz</a:t>
            </a:r>
            <a:endParaRPr lang="en-US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oyes vs. lo que ves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pistas de aprendizaje — el ojo y el oído trabajan juntos.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3768" y="2468880"/>
            <a:ext cx="5029200" cy="3840480"/>
          </a:xfrm>
          <a:prstGeom prst="roundRect">
            <a:avLst>
              <a:gd name="adj" fmla="val 428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76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ㅂ ㅍ 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8088" y="3108960"/>
            <a:ext cx="1371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575408" y="3108960"/>
            <a:ext cx="4572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78328" y="3108960"/>
            <a:ext cx="26517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"ba"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58088" y="4145280"/>
            <a:ext cx="1371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2575408" y="4145280"/>
            <a:ext cx="4572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8328" y="4145280"/>
            <a:ext cx="26517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58088" y="5181600"/>
            <a:ext cx="1371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2575408" y="5181600"/>
            <a:ext cx="4572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78328" y="5181600"/>
            <a:ext cx="26517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"ppa"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78728" y="2468880"/>
            <a:ext cx="5029200" cy="3840480"/>
          </a:xfrm>
          <a:prstGeom prst="roundRect">
            <a:avLst>
              <a:gd name="adj" fmla="val 4286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872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ㅈ ㅊ 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53048" y="3108960"/>
            <a:ext cx="1371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970368" y="3108960"/>
            <a:ext cx="4572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73288" y="3108960"/>
            <a:ext cx="26517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"ja"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53048" y="4145280"/>
            <a:ext cx="1371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970368" y="4145280"/>
            <a:ext cx="4572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73288" y="4145280"/>
            <a:ext cx="26517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"cha"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53048" y="5181600"/>
            <a:ext cx="13716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짜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7970368" y="5181600"/>
            <a:ext cx="4572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73288" y="5181600"/>
            <a:ext cx="26517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"jja"</a:t>
            </a:r>
            <a:endParaRPr lang="en-US" sz="24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clave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que vas a escuchar en este capítulo.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음절</a:t>
            </a:r>
            <a:r>
              <a:rPr lang="en-US" sz="1200" i="1" dirty="0">
                <a:solidFill>
                  <a:srgbClr val="FE6768"/>
                </a:solidFill>
              </a:rPr>
              <a:t>   eum-jeol</a:t>
            </a:r>
            <a:r>
              <a:rPr lang="en-US" sz="1200" dirty="0">
                <a:solidFill>
                  <a:srgbClr val="4A4A55"/>
                </a:solidFill>
              </a:rPr>
              <a:t>   ·  sílaba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24688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r>
              <a:rPr lang="en-US" sz="1200" i="1" dirty="0">
                <a:solidFill>
                  <a:srgbClr val="FE6768"/>
                </a:solidFill>
              </a:rPr>
              <a:t>   geulja</a:t>
            </a:r>
            <a:r>
              <a:rPr lang="en-US" sz="1200" dirty="0">
                <a:solidFill>
                  <a:srgbClr val="4A4A55"/>
                </a:solidFill>
              </a:rPr>
              <a:t>   ·  letra, caracter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1200" i="1" dirty="0">
                <a:solidFill>
                  <a:srgbClr val="FE6768"/>
                </a:solidFill>
              </a:rPr>
              <a:t>   batchim</a:t>
            </a:r>
            <a:r>
              <a:rPr lang="en-US" sz="1200" dirty="0">
                <a:solidFill>
                  <a:srgbClr val="4A4A55"/>
                </a:solidFill>
              </a:rPr>
              <a:t>   ·  consonante final de sílaba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8529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모음</a:t>
            </a:r>
            <a:r>
              <a:rPr lang="en-US" sz="1200" i="1" dirty="0">
                <a:solidFill>
                  <a:srgbClr val="FE6768"/>
                </a:solidFill>
              </a:rPr>
              <a:t>   mo-eum</a:t>
            </a:r>
            <a:r>
              <a:rPr lang="en-US" sz="1200" dirty="0">
                <a:solidFill>
                  <a:srgbClr val="4A4A55"/>
                </a:solidFill>
              </a:rPr>
              <a:t>   ·  vocal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369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자음</a:t>
            </a:r>
            <a:r>
              <a:rPr lang="en-US" sz="1200" i="1" dirty="0">
                <a:solidFill>
                  <a:srgbClr val="FE6768"/>
                </a:solidFill>
              </a:rPr>
              <a:t>   ja-eum</a:t>
            </a:r>
            <a:r>
              <a:rPr lang="en-US" sz="1200" dirty="0">
                <a:solidFill>
                  <a:srgbClr val="4A4A55"/>
                </a:solidFill>
              </a:rPr>
              <a:t>   ·  consonante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32369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거센소리</a:t>
            </a:r>
            <a:r>
              <a:rPr lang="en-US" sz="1200" i="1" dirty="0">
                <a:solidFill>
                  <a:srgbClr val="FE6768"/>
                </a:solidFill>
              </a:rPr>
              <a:t>   geosen-sori</a:t>
            </a:r>
            <a:r>
              <a:rPr lang="en-US" sz="1200" dirty="0">
                <a:solidFill>
                  <a:srgbClr val="4A4A55"/>
                </a:solidFill>
              </a:rPr>
              <a:t>   ·  sonido aspirado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쌍소리</a:t>
            </a:r>
            <a:r>
              <a:rPr lang="en-US" sz="1200" i="1" dirty="0">
                <a:solidFill>
                  <a:srgbClr val="FE6768"/>
                </a:solidFill>
              </a:rPr>
              <a:t>   ssang-sori</a:t>
            </a:r>
            <a:r>
              <a:rPr lang="en-US" sz="1200" dirty="0">
                <a:solidFill>
                  <a:srgbClr val="4A4A55"/>
                </a:solidFill>
              </a:rPr>
              <a:t>   ·  sonido doble (tenso)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362102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</a:t>
            </a:r>
            <a:r>
              <a:rPr lang="en-US" sz="1200" i="1" dirty="0">
                <a:solidFill>
                  <a:srgbClr val="FE6768"/>
                </a:solidFill>
              </a:rPr>
              <a:t>   sori</a:t>
            </a:r>
            <a:r>
              <a:rPr lang="en-US" sz="1200" dirty="0">
                <a:solidFill>
                  <a:srgbClr val="4A4A55"/>
                </a:solidFill>
              </a:rPr>
              <a:t>   ·  sonido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</a:t>
            </a:r>
            <a:r>
              <a:rPr lang="en-US" sz="1200" i="1" dirty="0">
                <a:solidFill>
                  <a:srgbClr val="FE6768"/>
                </a:solidFill>
              </a:rPr>
              <a:t>   geul</a:t>
            </a:r>
            <a:r>
              <a:rPr lang="en-US" sz="1200" dirty="0">
                <a:solidFill>
                  <a:srgbClr val="4A4A55"/>
                </a:solidFill>
              </a:rPr>
              <a:t>   ·  escritura, letra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400507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이응</a:t>
            </a:r>
            <a:r>
              <a:rPr lang="en-US" sz="1200" i="1" dirty="0">
                <a:solidFill>
                  <a:srgbClr val="FE6768"/>
                </a:solidFill>
              </a:rPr>
              <a:t>   ieung</a:t>
            </a:r>
            <a:r>
              <a:rPr lang="en-US" sz="1200" dirty="0">
                <a:solidFill>
                  <a:srgbClr val="4A4A55"/>
                </a:solidFill>
              </a:rPr>
              <a:t>   ·  la consonante 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</a:t>
            </a:r>
            <a:r>
              <a:rPr lang="en-US" sz="1200" i="1" dirty="0">
                <a:solidFill>
                  <a:srgbClr val="FE6768"/>
                </a:solidFill>
              </a:rPr>
              <a:t>   sero</a:t>
            </a:r>
            <a:r>
              <a:rPr lang="en-US" sz="1200" dirty="0">
                <a:solidFill>
                  <a:srgbClr val="4A4A55"/>
                </a:solidFill>
              </a:rPr>
              <a:t>   ·  vertical (vocales verticales)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3891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</a:t>
            </a:r>
            <a:r>
              <a:rPr lang="en-US" sz="1200" i="1" dirty="0">
                <a:solidFill>
                  <a:srgbClr val="FE6768"/>
                </a:solidFill>
              </a:rPr>
              <a:t>   garo</a:t>
            </a:r>
            <a:r>
              <a:rPr lang="en-US" sz="1200" dirty="0">
                <a:solidFill>
                  <a:srgbClr val="4A4A55"/>
                </a:solidFill>
              </a:rPr>
              <a:t>   ·  horizontal (vocales horizontales)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62895" cy="5029200"/>
          </a:xfrm>
          <a:prstGeom prst="roundRect">
            <a:avLst>
              <a:gd name="adj" fmla="val 5455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§3.27 · ADELANTO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 batchim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  ·  支持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26968" y="338328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6968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626968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batchim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07128" y="338328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7128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907128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338328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7288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187288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67448" y="338328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7448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7467448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pequeña consonante al pie del bloque puede cambiar el sentido de la palabra.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próximo capítulo aprenderás todas sus reglas.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594360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화이팅!  ·  ¡Tú puedes!</a:t>
            </a:r>
            <a:endParaRPr lang="en-US" sz="16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914400"/>
            <a:ext cx="9814255" cy="5029200"/>
          </a:xfrm>
          <a:prstGeom prst="roundRect">
            <a:avLst>
              <a:gd name="adj" fmla="val 5455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188720" y="310896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 · La Consonante Final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56616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pieza final que sostiene la sílaba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4160520"/>
            <a:ext cx="822960" cy="822960"/>
          </a:xfrm>
          <a:prstGeom prst="rect">
            <a:avLst/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4160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26280" y="4160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0" y="4251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40680" y="4160520"/>
            <a:ext cx="822960" cy="822960"/>
          </a:xfrm>
          <a:prstGeom prst="rect">
            <a:avLst/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355080" y="4251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</a:rPr>
              <a:t>=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766560" y="4160520"/>
            <a:ext cx="822960" cy="822960"/>
          </a:xfrm>
          <a:prstGeom prst="rect">
            <a:avLst/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4160520"/>
            <a:ext cx="411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178040" y="4160520"/>
            <a:ext cx="411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4695444"/>
            <a:ext cx="822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2380" dirty="0"/>
          </a:p>
        </p:txBody>
      </p:sp>
      <p:sp>
        <p:nvSpPr>
          <p:cNvPr id="18" name="Text 16"/>
          <p:cNvSpPr/>
          <p:nvPr/>
        </p:nvSpPr>
        <p:spPr>
          <a:xfrm>
            <a:off x="1188720" y="512064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 +  ㅇ  =  강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534924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8720" y="576072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kern="0" spc="2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Chingu™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60350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 ·  Jae Hee Kim  ·  김재희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0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· CAPÍTULO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pieza del rompecabezas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leíste sílabas. Ahora vamos a darles peso, fuerza, terminación.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En el capítulo anterior aprendiste </a:t>
            </a:r>
            <a:r>
              <a:rPr lang="en-US" sz="1400" b="1" dirty="0">
                <a:solidFill>
                  <a:srgbClr val="4036ED"/>
                </a:solidFill>
              </a:rPr>
              <a:t>tres patrones de sílaba</a:t>
            </a:r>
            <a:r>
              <a:rPr lang="en-US" sz="1400" dirty="0">
                <a:solidFill>
                  <a:srgbClr val="1E1E2A"/>
                </a:solidFill>
              </a:rPr>
              <a:t>: C+V (가, 고). Pero el coreano tiene un cuarto tipo, mucho más común: </a:t>
            </a:r>
            <a:r>
              <a:rPr lang="en-US" sz="1400" b="1" dirty="0">
                <a:solidFill>
                  <a:srgbClr val="FE6768"/>
                </a:solidFill>
              </a:rPr>
              <a:t>C+V+C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Esa última consonante — la que va al pie del bloque — se llama </a:t>
            </a:r>
            <a:r>
              <a:rPr lang="en-US" sz="1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 (batchim)</a:t>
            </a:r>
            <a:r>
              <a:rPr lang="en-US" sz="1400" dirty="0">
                <a:solidFill>
                  <a:srgbClr val="1E1E2A"/>
                </a:solidFill>
              </a:rPr>
              <a:t>. La palabra significa "soporte", "el que sostiene desde abajo". Como un pedestal.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El batchim es lo que hace que el coreano suene como suena. </a:t>
            </a:r>
            <a:r>
              <a:rPr lang="en-US" sz="1400" b="1" i="1" dirty="0">
                <a:solidFill>
                  <a:srgbClr val="4036ED"/>
                </a:solidFill>
              </a:rPr>
              <a:t>Sin batchim, no podrías decir 한국 (Corea), 사람 (persona), ni 김치 (kimchi).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i="1" dirty="0">
                <a:solidFill>
                  <a:srgbClr val="4A4A55"/>
                </a:solidFill>
              </a:rPr>
              <a:t>Una sola regla nueva: en el batchim, las consonantes a veces cambian de sonido. Pero no son 27 reglas — solo 7. Y las vas a memorizar muy rápido.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E6768"/>
                </a:solidFill>
              </a:rPr>
              <a:t>Empezamos.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받침 — el soporte de la sílaba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palabra batchim significa "el que sostiene desde abajo".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E1E2A"/>
                </a:solidFill>
              </a:rPr>
              <a:t>En coreano, el bloque silábico funciona como un edificio. Tiene tres pisos: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036ED"/>
                </a:solidFill>
              </a:rPr>
              <a:t>1. Consonante inicial</a:t>
            </a:r>
            <a:r>
              <a:rPr lang="en-US" sz="1300" i="1" dirty="0">
                <a:solidFill>
                  <a:srgbClr val="4A4A55"/>
                </a:solidFill>
              </a:rPr>
              <a:t>  ·  el techo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036ED"/>
                </a:solidFill>
              </a:rPr>
              <a:t>2. Vocal</a:t>
            </a:r>
            <a:r>
              <a:rPr lang="en-US" sz="1300" i="1" dirty="0">
                <a:solidFill>
                  <a:srgbClr val="4A4A55"/>
                </a:solidFill>
              </a:rPr>
              <a:t>  ·  el cuerpo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E6768"/>
                </a:solidFill>
              </a:rPr>
              <a:t>3. Batchim</a:t>
            </a:r>
            <a:r>
              <a:rPr lang="en-US" sz="1300" i="1" dirty="0">
                <a:solidFill>
                  <a:srgbClr val="4A4A55"/>
                </a:solidFill>
              </a:rPr>
              <a:t>  ·  la base, el cimiento</a:t>
            </a:r>
            <a:endParaRPr lang="en-US" sz="1300" dirty="0"/>
          </a:p>
          <a:p>
            <a:pPr marL="0" indent="0">
              <a:buNone/>
            </a:pPr>
            <a:r>
              <a:rPr lang="en-US" sz="1200" b="1" i="1" dirty="0">
                <a:solidFill>
                  <a:srgbClr val="4036ED"/>
                </a:solidFill>
              </a:rPr>
              <a:t>El batchim cierra la sílaba, le da peso y la prepara para conectar con la siguiente.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468880"/>
            <a:ext cx="5212080" cy="3840480"/>
          </a:xfrm>
          <a:prstGeom prst="roundRect">
            <a:avLst>
              <a:gd name="adj" fmla="val 4286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606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강 (kang)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3108960"/>
            <a:ext cx="2560320" cy="2560320"/>
          </a:xfrm>
          <a:prstGeom prst="rect">
            <a:avLst/>
          </a:prstGeom>
          <a:solidFill>
            <a:srgbClr val="F6F6F6"/>
          </a:solidFill>
          <a:ln w="31750">
            <a:solidFill>
              <a:srgbClr val="403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3108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8961120" y="3108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7680960" y="43891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7680960" y="4389120"/>
            <a:ext cx="2560320" cy="0"/>
          </a:xfrm>
          <a:prstGeom prst="line">
            <a:avLst/>
          </a:prstGeom>
          <a:noFill/>
          <a:ln w="19050">
            <a:solidFill>
              <a:srgbClr val="FE676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5836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4036ED"/>
                </a:solidFill>
              </a:rPr>
              <a:t>inicial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3272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036ED"/>
                </a:solidFill>
              </a:rPr>
              <a:t>vocal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4773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5285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E6768"/>
                </a:solidFill>
              </a:rPr>
              <a:t>batchim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· LA REGLA MÁS IMPORTANTE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7 sonidos en el batchim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cualquier consonante puede ir abajo, en realidad solo se pronuncian 7 sonidos.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kern="0" spc="2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buena noticia: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letras posibles → solo 7 sonidos finales.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3708" y="3383280"/>
            <a:ext cx="1508760" cy="256032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22860">
            <a:solidFill>
              <a:srgbClr val="403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3708" y="3566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403708" y="4800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3708" y="5349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paladar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5148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49628" y="3383280"/>
            <a:ext cx="1508760" cy="256032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2286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9628" y="3566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2049628" y="4800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49628" y="5349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1068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95548" y="3383280"/>
            <a:ext cx="1508760" cy="256032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22860">
            <a:solidFill>
              <a:srgbClr val="A79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5548" y="3566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7000" dirty="0"/>
          </a:p>
        </p:txBody>
      </p:sp>
      <p:sp>
        <p:nvSpPr>
          <p:cNvPr id="19" name="Text 17"/>
          <p:cNvSpPr/>
          <p:nvPr/>
        </p:nvSpPr>
        <p:spPr>
          <a:xfrm>
            <a:off x="3695548" y="4800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95548" y="5349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86988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1468" y="3383280"/>
            <a:ext cx="1508760" cy="256032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22860">
            <a:solidFill>
              <a:srgbClr val="A79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1468" y="3566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7000" dirty="0"/>
          </a:p>
        </p:txBody>
      </p:sp>
      <p:sp>
        <p:nvSpPr>
          <p:cNvPr id="24" name="Text 22"/>
          <p:cNvSpPr/>
          <p:nvPr/>
        </p:nvSpPr>
        <p:spPr>
          <a:xfrm>
            <a:off x="5341468" y="4800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[l]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41468" y="5349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32908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87388" y="3383280"/>
            <a:ext cx="1508760" cy="256032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2286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7388" y="3566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7000" dirty="0"/>
          </a:p>
        </p:txBody>
      </p:sp>
      <p:sp>
        <p:nvSpPr>
          <p:cNvPr id="29" name="Text 27"/>
          <p:cNvSpPr/>
          <p:nvPr/>
        </p:nvSpPr>
        <p:spPr>
          <a:xfrm>
            <a:off x="6987388" y="4800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87388" y="5349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78828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33308" y="3383280"/>
            <a:ext cx="1508760" cy="256032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22860">
            <a:solidFill>
              <a:srgbClr val="FE67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3308" y="3566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7000" dirty="0"/>
          </a:p>
        </p:txBody>
      </p:sp>
      <p:sp>
        <p:nvSpPr>
          <p:cNvPr id="34" name="Text 32"/>
          <p:cNvSpPr/>
          <p:nvPr/>
        </p:nvSpPr>
        <p:spPr>
          <a:xfrm>
            <a:off x="8633308" y="4800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[p]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633308" y="5349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24748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79228" y="3383280"/>
            <a:ext cx="1508760" cy="256032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22860">
            <a:solidFill>
              <a:srgbClr val="403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79228" y="3566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7000" dirty="0"/>
          </a:p>
        </p:txBody>
      </p:sp>
      <p:sp>
        <p:nvSpPr>
          <p:cNvPr id="39" name="Text 37"/>
          <p:cNvSpPr/>
          <p:nvPr/>
        </p:nvSpPr>
        <p:spPr>
          <a:xfrm>
            <a:off x="10279228" y="4800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[ng]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279228" y="5349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garganta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70668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otras 20 letras les "prestamos" uno de estos 7 sonidos cuando aparecen al final.</a:t>
            </a:r>
            <a:endParaRPr lang="en-US" sz="120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 · SONIDO DEL PALADAR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[k]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de atrás de la lengua bloquea el aire en el paladar.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57600" cy="3657600"/>
          </a:xfrm>
          <a:prstGeom prst="roundRect">
            <a:avLst>
              <a:gd name="adj" fmla="val 625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 · PALADAR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aire queda atrapado en la parte de atrás. No se libera.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7040880" cy="1463040"/>
          </a:xfrm>
          <a:prstGeom prst="roundRect">
            <a:avLst>
              <a:gd name="adj" fmla="val 937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PRONUNCIAN ASÍ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198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056120" y="3108960"/>
            <a:ext cx="198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037320" y="3108960"/>
            <a:ext cx="198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ㄲ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4526280" y="4206240"/>
            <a:ext cx="7040880" cy="20574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PRÁCTICA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6344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5508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04672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3836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부엌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73836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bueok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3836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0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 · SONIDO DE LA LENGUA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[n]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punta de la lengua toca los alvéolos. El aire sale por la nariz.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57600" cy="3657600"/>
          </a:xfrm>
          <a:prstGeom prst="roundRect">
            <a:avLst>
              <a:gd name="adj" fmla="val 625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lengua se queda pegada y el aire sale por la nariz.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7040880" cy="1463040"/>
          </a:xfrm>
          <a:prstGeom prst="roundRect">
            <a:avLst>
              <a:gd name="adj" fmla="val 9375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PRONUNCIAN ASÍ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4526280" y="4206240"/>
            <a:ext cx="7040880" cy="20574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PRÁCTICA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5508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/ nieve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04672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73836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36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</a:t>
            </a:r>
            <a:endParaRPr lang="en-US" sz="10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§4.5 · SONIDO DE LA LENGUA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[t]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punta de la lengua bloquea el aire detrás de los dientes. ¡El que más letras agrupa!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57600" cy="3657600"/>
          </a:xfrm>
          <a:prstGeom prst="roundRect">
            <a:avLst>
              <a:gd name="adj" fmla="val 625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letras suenan igual: el aire se corta de golpe en los dientes.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7040880" cy="1463040"/>
          </a:xfrm>
          <a:prstGeom prst="roundRect">
            <a:avLst>
              <a:gd name="adj" fmla="val 9375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PRONUNCIAN ASÍ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99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065520" y="3108960"/>
            <a:ext cx="99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7056120" y="3108960"/>
            <a:ext cx="99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046720" y="3108960"/>
            <a:ext cx="99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9037320" y="3108960"/>
            <a:ext cx="99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10027920" y="3108960"/>
            <a:ext cx="99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5000" dirty="0"/>
          </a:p>
        </p:txBody>
      </p:sp>
      <p:sp>
        <p:nvSpPr>
          <p:cNvPr id="19" name="Shape 17"/>
          <p:cNvSpPr/>
          <p:nvPr/>
        </p:nvSpPr>
        <p:spPr>
          <a:xfrm>
            <a:off x="4526280" y="4206240"/>
            <a:ext cx="7040880" cy="20574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PRÁCTICA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6344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5508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04672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kkot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3836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밭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73836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3836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0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· SONIDO DE LA LENGUA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[l]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lengua sube y se queda apoyada en el paladar.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57600" cy="3657600"/>
          </a:xfrm>
          <a:prstGeom prst="roundRect">
            <a:avLst>
              <a:gd name="adj" fmla="val 6250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"l" del español. Suena más larga al final de sílaba.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7040880" cy="1463040"/>
          </a:xfrm>
          <a:prstGeom prst="roundRect">
            <a:avLst>
              <a:gd name="adj" fmla="val 9375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PRONUNCIAN ASÍ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4526280" y="4206240"/>
            <a:ext cx="7040880" cy="20574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PRÁCTICA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Seúl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5508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04672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73836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haneul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36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cielo</a:t>
            </a:r>
            <a:endParaRPr lang="en-US" sz="10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· SONIDO DE LOS LABIOS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[m]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labios se cierran. El aire sale por la nariz, igual que en español.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57600" cy="3657600"/>
          </a:xfrm>
          <a:prstGeom prst="roundRect">
            <a:avLst>
              <a:gd name="adj" fmla="val 625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labios juntos detienen el aire. Sale por la nariz.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7040880" cy="1463040"/>
          </a:xfrm>
          <a:prstGeom prst="roundRect">
            <a:avLst>
              <a:gd name="adj" fmla="val 9375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PRONUNCIAN ASÍ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4526280" y="4206240"/>
            <a:ext cx="7040880" cy="20574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PRÁCTICA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5508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eomma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04672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73836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kimchi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36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kimchi</a:t>
            </a:r>
            <a:endParaRPr lang="en-US" sz="10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§4.8 · SONIDO DE LOS LABIOS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[p]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labios se cierran y atrapan el aire. No se libera.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57600" cy="3657600"/>
          </a:xfrm>
          <a:prstGeom prst="roundRect">
            <a:avLst>
              <a:gd name="adj" fmla="val 6250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aire queda atrapado entre los labios. No "explota" como en español.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7040880" cy="1463040"/>
          </a:xfrm>
          <a:prstGeom prst="roundRect">
            <a:avLst>
              <a:gd name="adj" fmla="val 9375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PRONUNCIAN ASÍ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046720" y="3108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5000" dirty="0"/>
          </a:p>
        </p:txBody>
      </p:sp>
      <p:sp>
        <p:nvSpPr>
          <p:cNvPr id="15" name="Shape 13"/>
          <p:cNvSpPr/>
          <p:nvPr/>
        </p:nvSpPr>
        <p:spPr>
          <a:xfrm>
            <a:off x="4526280" y="4206240"/>
            <a:ext cx="7040880" cy="20574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PRÁCTICA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6344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 / comida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5508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04672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3836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잎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73836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3836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</a:t>
            </a:r>
            <a:endParaRPr lang="en-US" sz="10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§4.9 · SONIDO DE LA GARGANTA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[ng]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¡al final de sílaba ㅇ SÍ suena! Como la "ng" del inglés "song".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57600" cy="3657600"/>
          </a:xfrm>
          <a:prstGeom prst="roundRect">
            <a:avLst>
              <a:gd name="adj" fmla="val 625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[ng]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후음 · GARGANTA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aire sale por la nariz mientras la lengua se levanta atrás.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7040880" cy="1463040"/>
          </a:xfrm>
          <a:prstGeom prst="roundRect">
            <a:avLst>
              <a:gd name="adj" fmla="val 937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SE PRONUNCIAN ASÍ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4526280" y="4206240"/>
            <a:ext cx="7040880" cy="20574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PRÁCTICA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5508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04672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byeong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botella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4709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738360" y="5532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haksaeng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36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0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maestra · 27 letras → 7 sonidos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consonante puede ir al fondo. Estas son las equivalencias.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2468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QUE LO PRODUCEN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0" y="2468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1234440" cy="475488"/>
          </a:xfrm>
          <a:prstGeom prst="rect">
            <a:avLst/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9260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292608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 ㅋ  ㄲ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5520" y="29260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474720"/>
            <a:ext cx="1234440" cy="475488"/>
          </a:xfrm>
          <a:prstGeom prst="rect">
            <a:avLst/>
          </a:prstGeom>
          <a:solidFill>
            <a:srgbClr val="EDE8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4747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51760" y="34747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347472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75520" y="3474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71600" y="4023360"/>
            <a:ext cx="1234440" cy="475488"/>
          </a:xfrm>
          <a:prstGeom prst="rect">
            <a:avLst/>
          </a:prstGeom>
          <a:solidFill>
            <a:srgbClr val="EDE8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023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651760" y="4023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402336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 ㅅ  ㅈ  ㅊ  ㅌ  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75520" y="40233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71600" y="4572000"/>
            <a:ext cx="1234440" cy="475488"/>
          </a:xfrm>
          <a:prstGeom prst="rect">
            <a:avLst/>
          </a:prstGeom>
          <a:solidFill>
            <a:srgbClr val="EDE8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5720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651760" y="45720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[l]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31920" y="457200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75520" y="45720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71600" y="5120640"/>
            <a:ext cx="1234440" cy="475488"/>
          </a:xfrm>
          <a:prstGeom prst="rect">
            <a:avLst/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1206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651760" y="51206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31920" y="512064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75520" y="5120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71600" y="5669280"/>
            <a:ext cx="1234440" cy="475488"/>
          </a:xfrm>
          <a:prstGeom prst="rect">
            <a:avLst/>
          </a:prstGeom>
          <a:solidFill>
            <a:srgbClr val="FFE0E0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56692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2651760" y="56692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[p]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31920" y="566928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  ㅍ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875520" y="56692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6217920"/>
            <a:ext cx="1234440" cy="475488"/>
          </a:xfrm>
          <a:prstGeom prst="rect">
            <a:avLst/>
          </a:prstGeom>
          <a:solidFill>
            <a:srgbClr val="EDE8FF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6217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651760" y="6217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[ng]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931920" y="621792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875520" y="62179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§4.11 ·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todos los días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en voz alta. Presta atención al batchim.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308" y="251460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2308" y="26060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32308" y="3474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han·guk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2308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308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batchim: [n] [k]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5628" y="251460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5628" y="26060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335628" y="3474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hak·gyo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35628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35628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batchim: [k] 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38948" y="251460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38948" y="26060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038948" y="3474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sa·ram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38948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38948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batchim: — [m]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2308" y="461772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308" y="47091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32308" y="5577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kim·chi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308" y="5897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kimchi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308" y="6172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batchim: [m] 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35628" y="461772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5628" y="47091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335628" y="5577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seo·ul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35628" y="5897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Seúl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35628" y="6172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batchim: — [l]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38948" y="461772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38948" y="47091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8038948" y="5577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hak·saeng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38948" y="5897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38948" y="6172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batchim: [k] [ng]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§4.12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sonido [k] al final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importar qué consonante sea — ㄱ ㅋ ㄲ se pronuncian igual al final.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ㄱ · [k]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chaek-sang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hak-gyo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han-guk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부엌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sik-dang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eum-sik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yak-sok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afuera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낚시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nak-si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깎다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kkak-da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묶다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muk-da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닦다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dak-da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엮다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yeok-da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§4.13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sonido [t] al final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consonantes diferentes que suenan iguales: ㄷ ㅅ ㅈ ㅊ ㅌ ㅎ.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ㄷ · [t]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beo-seu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낫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ㅈㅊ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kkot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A79BFF"/>
          </a:solidFill>
          <a:ln w="12700">
            <a:solidFill>
              <a:srgbClr val="A79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ㅌㅎ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밭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kkeut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솥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히읗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hi-eut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§4.14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sonidos nasales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[n], [m], [ng] — los tres sonidos donde el aire sale por la nariz.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ㄴ ㅁ 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han-guk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eom-ma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sa-ram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kim-chi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i-reum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[ng]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byeong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hak-saeng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dong-saeng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§4.15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sonidos [l] y [p]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ㄹ siempre suena [l]. ㅂ ㅍ suenan [p] al final.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34095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ㄹ ㅂㅍ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381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1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381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690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690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4690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566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566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566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442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7318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18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7318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ha-neul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1948" y="2560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1948" y="2560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1948" y="3214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eol-gul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81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81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6381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4690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690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14690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566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566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566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442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442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6442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7318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18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67318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keop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81948" y="3703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1948" y="3703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9181948" y="4357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381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81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16381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[p]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4690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690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잎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314690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5566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566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65566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6442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442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616442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yeop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7318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7318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67318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1948" y="4846320"/>
            <a:ext cx="1371600" cy="1005840"/>
          </a:xfrm>
          <a:prstGeom prst="roundRect">
            <a:avLst>
              <a:gd name="adj" fmla="val 1090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1948" y="4846320"/>
            <a:ext cx="13716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무릎</a:t>
            </a:r>
            <a:endParaRPr lang="en-US" sz="3600" dirty="0"/>
          </a:p>
        </p:txBody>
      </p:sp>
      <p:sp>
        <p:nvSpPr>
          <p:cNvPr id="59" name="Text 57"/>
          <p:cNvSpPr/>
          <p:nvPr/>
        </p:nvSpPr>
        <p:spPr>
          <a:xfrm>
            <a:off x="9181948" y="550011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mu-reup</a:t>
            </a:r>
            <a:endParaRPr lang="en-US" sz="12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Batchim doble · 겹받침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el batchim tiene dos consonantes. Solo una se pronuncia.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En algunas palabras encontrarás </a:t>
            </a:r>
            <a:r>
              <a:rPr lang="en-US" sz="1400" b="1" dirty="0">
                <a:solidFill>
                  <a:srgbClr val="4036ED"/>
                </a:solidFill>
              </a:rPr>
              <a:t>dos consonantes en el batchim</a:t>
            </a:r>
            <a:r>
              <a:rPr lang="en-US" sz="1400" dirty="0">
                <a:solidFill>
                  <a:srgbClr val="1E1E2A"/>
                </a:solidFill>
              </a:rPr>
              <a:t> (겹받침). Por ejemplo: 닭, 값, 흙.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36ED"/>
                </a:solidFill>
              </a:rPr>
              <a:t>La regla es simple: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</a:rPr>
              <a:t>· </a:t>
            </a:r>
            <a:r>
              <a:rPr lang="en-US" sz="1300" dirty="0">
                <a:solidFill>
                  <a:srgbClr val="1E1E2A"/>
                </a:solidFill>
              </a:rPr>
              <a:t>En la mayoría, se pronuncia la </a:t>
            </a:r>
            <a:r>
              <a:rPr lang="en-US" sz="1300" b="1" dirty="0">
                <a:solidFill>
                  <a:srgbClr val="FE6768"/>
                </a:solidFill>
              </a:rPr>
              <a:t>primera consonante</a:t>
            </a:r>
            <a:r>
              <a:rPr lang="en-US" sz="1300" dirty="0">
                <a:solidFill>
                  <a:srgbClr val="1E1E2A"/>
                </a:solidFill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E6768"/>
                </a:solidFill>
              </a:rPr>
              <a:t>· </a:t>
            </a:r>
            <a:r>
              <a:rPr lang="en-US" sz="1300" dirty="0">
                <a:solidFill>
                  <a:srgbClr val="1E1E2A"/>
                </a:solidFill>
              </a:rPr>
              <a:t>En unos pocos casos (con ㄹ + algo), se pronuncia la </a:t>
            </a:r>
            <a:r>
              <a:rPr lang="en-US" sz="1300" b="1" dirty="0">
                <a:solidFill>
                  <a:srgbClr val="FE6768"/>
                </a:solidFill>
              </a:rPr>
              <a:t>segunda</a:t>
            </a:r>
            <a:r>
              <a:rPr lang="en-US" sz="1300" dirty="0">
                <a:solidFill>
                  <a:srgbClr val="1E1E2A"/>
                </a:solidFill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</a:rPr>
              <a:t>No te asustes — son pocas palabras y las irás aprendiendo de a poco.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2468880"/>
            <a:ext cx="5120640" cy="3840480"/>
          </a:xfrm>
          <a:prstGeom prst="roundRect">
            <a:avLst>
              <a:gd name="adj" fmla="val 4286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típicos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닭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863840" y="31546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[닥]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0" y="315468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gallina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3543300"/>
            <a:ext cx="2286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primera (ㄱ)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3977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3977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[갑]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0" y="397764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4366260"/>
            <a:ext cx="2286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primera (ㅂ)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4800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863840" y="4800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[여덜]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0" y="480060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5189220"/>
            <a:ext cx="2286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primera (ㄹ)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5623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읽다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863840" y="5623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[익다]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562356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6012180"/>
            <a:ext cx="2286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primera (ㄱ)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§4.17 · UNA REGLA MÁGICA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liaison · 연음법칙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siguiente sílaba empieza con ㅇ, el batchim "salta" y se pronuncia ahí.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Recuerda: </a:t>
            </a:r>
            <a:r>
              <a:rPr lang="en-US" sz="1400" b="1" dirty="0">
                <a:solidFill>
                  <a:srgbClr val="4036ED"/>
                </a:solidFill>
              </a:rPr>
              <a:t>ㅇ al inicio es muda</a:t>
            </a:r>
            <a:r>
              <a:rPr lang="en-US" sz="1400" dirty="0">
                <a:solidFill>
                  <a:srgbClr val="1E1E2A"/>
                </a:solidFill>
              </a:rPr>
              <a:t> (silla vacía). Entonces, cuando una sílaba con batchim va seguida de otra con ㅇ inicial, </a:t>
            </a:r>
            <a:r>
              <a:rPr lang="en-US" sz="1400" b="1" i="1" dirty="0">
                <a:solidFill>
                  <a:srgbClr val="FE6768"/>
                </a:solidFill>
              </a:rPr>
              <a:t>el batchim se "muda" a la silla vacía.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</a:rPr>
              <a:t>Esto hace que el coreano fluya y suene más natural.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2468880"/>
            <a:ext cx="5669280" cy="2286000"/>
          </a:xfrm>
          <a:prstGeom prst="roundRect">
            <a:avLst>
              <a:gd name="adj" fmla="val 72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한국어 (idioma coreano)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3108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ESCRITO:  한 · 국 · 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0" y="3657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 LEE:  한 · 구 · 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· gu · geo  (no "han-guk-eo")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10911535" cy="1554480"/>
          </a:xfrm>
          <a:prstGeom prst="roundRect">
            <a:avLst>
              <a:gd name="adj" fmla="val 8824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074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ejemplos: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09360" y="5440680"/>
            <a:ext cx="263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73004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[으막]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2636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9404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45804" y="5440680"/>
            <a:ext cx="263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09448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[지겁]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59404" y="5989320"/>
            <a:ext cx="2636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5848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꽃이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2247" y="5440680"/>
            <a:ext cx="263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5892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[꼬치]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95848" y="5989320"/>
            <a:ext cx="2636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32291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918691" y="5440680"/>
            <a:ext cx="263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82335" y="5440680"/>
            <a:ext cx="11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[한구거]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732291" y="5989320"/>
            <a:ext cx="2636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coreano</a:t>
            </a:r>
            <a:endParaRPr lang="en-US" sz="10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§4.18 ·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· ejercicios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primero como se escribe, después como suena. Mira el batchim "saltar".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6880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688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6880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688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[하권]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688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7512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7512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07512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7512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[으막]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07512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8144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8144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국어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8144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8144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[구거]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78144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48776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8776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48776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8776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[채기]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48776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libro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6880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880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68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6880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[지베]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6880" y="5806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7512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7512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밥을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407512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07512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[바블]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407512" y="5806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comida (obj.)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8144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8144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꽃을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78144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78144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[꼬츨]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178144" y="5806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flor (obj.)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48776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48776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옷이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94877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55"/>
                </a:solidFill>
              </a:rPr>
              <a:t>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48776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[오시]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948776" y="5806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ropa (suj.)</a:t>
            </a:r>
            <a:endParaRPr lang="en-US" sz="11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los sonidos se contagian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el batchim cambia para suavizar la unión con la siguiente sílaba.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1E2A"/>
                </a:solidFill>
              </a:rPr>
              <a:t>Cuando dos sílabas se encuentran, </a:t>
            </a:r>
            <a:r>
              <a:rPr lang="en-US" sz="1400" b="1" dirty="0">
                <a:solidFill>
                  <a:srgbClr val="4036ED"/>
                </a:solidFill>
              </a:rPr>
              <a:t>el sonido del batchim a veces se "ablanda"</a:t>
            </a:r>
            <a:r>
              <a:rPr lang="en-US" sz="1400" dirty="0">
                <a:solidFill>
                  <a:srgbClr val="1E1E2A"/>
                </a:solidFill>
              </a:rPr>
              <a:t> para hacer que la pronunciación sea más fluida.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036ED"/>
                </a:solidFill>
              </a:rPr>
              <a:t>Las dos reglas más comunes son: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E6768"/>
                </a:solidFill>
              </a:rPr>
              <a:t>1.  Nasalización</a:t>
            </a:r>
            <a:r>
              <a:rPr lang="en-US" sz="1300" dirty="0">
                <a:solidFill>
                  <a:srgbClr val="1E1E2A"/>
                </a:solidFill>
              </a:rPr>
              <a:t>: cuando ㄱ ㄷ ㅂ se topan con ㄴ ㅁ → se vuelven ㅇ ㄴ ㅁ.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E6768"/>
                </a:solidFill>
              </a:rPr>
              <a:t>2.  Aspiración con ㅎ</a:t>
            </a:r>
            <a:r>
              <a:rPr lang="en-US" sz="1300" dirty="0">
                <a:solidFill>
                  <a:srgbClr val="1E1E2A"/>
                </a:solidFill>
              </a:rPr>
              <a:t>: cuando ㄱ ㄷ ㅂ ㅈ se encuentran con ㅎ → se vuelven ㅋ ㅌ ㅍ ㅊ.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</a:rPr>
              <a:t>No es magia — es física: la boca toma el camino más fácil.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2468880"/>
            <a:ext cx="5120640" cy="1828800"/>
          </a:xfrm>
          <a:prstGeom prst="roundRect">
            <a:avLst>
              <a:gd name="adj" fmla="val 90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kern="0" spc="3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Nasalización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한국말  →  [한궁말]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"han-guk-mal"  →  "han-gung-mal"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3886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 coreana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4434840"/>
            <a:ext cx="5120640" cy="1828800"/>
          </a:xfrm>
          <a:prstGeom prst="roundRect">
            <a:avLst>
              <a:gd name="adj" fmla="val 90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Aspiración con 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축하  →  [추카]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"chuk-ha"  →  "chu-ka"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5852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felicitaciones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Nasalización · 비음화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consonantes "duras" se vuelven nasales cuando van antes de ㄴ o ㅁ.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6060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[k]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1E2A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26060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 [ng]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 ㄴ/ㅁ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[궁물]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94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[t]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43200" y="3794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1E2A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57600" y="379476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794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 [n]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794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 ㄴ/ㅁ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3794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믿는다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[민는다]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9834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983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 [p]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743200" y="4983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1E2A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657600" y="49834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4983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 [m]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86400" y="4983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 ㄴ/ㅁ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4983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68680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[임니다]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0" y="5440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soy/es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regla más frecuente en coreano hablado. La oirás todo el tiempo.</a:t>
            </a:r>
            <a:endParaRPr lang="en-US" sz="12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Aspiración con ㅎ · 격음화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ㅎ se encuentra con una consonante simple, la "infla" en aspirada.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+ 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0" y="2514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2A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0" y="251460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514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0" y="25146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[추카]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felicitaciones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29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 + ㅎ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26080" y="3429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2A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840480" y="342900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429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맏형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34290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8096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[마텽]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 mayor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43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 + ㅎ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926080" y="4343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2A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840480" y="434340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343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8640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입학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0" y="43434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[이팍]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96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525780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257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 + ㅎ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926080" y="5257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2A"/>
                </a:solidFill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3840480" y="525780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5257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86400" y="5257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맞히다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15200" y="52578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55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80960" y="5257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[마치다]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80960" y="5669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ㅎ "se mezcla" con la consonante anterior y la convierte en aspirada.</a:t>
            </a:r>
            <a:endParaRPr lang="en-US" sz="12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8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reglas comunes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reglas adicionales que escucharás todo el tiempo.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Tensificación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경음화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86200" y="2514600"/>
            <a:ext cx="7772400" cy="109728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26517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ㄱ ㄷ ㅂ, las consonantes simples se vuelven dobles.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080" y="3108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→ [학꾜] · escuela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Lateralización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유음화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86200" y="3703320"/>
            <a:ext cx="7772400" cy="109728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3840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ㄴ + ㄹ se transforma en doble ㄹㄹ.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4297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신라 → [실라] · Silla (reino)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Palatalización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구개음화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86200" y="4892040"/>
            <a:ext cx="7772400" cy="1097280"/>
          </a:xfrm>
          <a:prstGeom prst="roundRect">
            <a:avLst>
              <a:gd name="adj" fmla="val 10000"/>
            </a:avLst>
          </a:prstGeom>
          <a:solidFill>
            <a:srgbClr val="EDE8FF"/>
          </a:solidFill>
          <a:ln w="19050">
            <a:solidFill>
              <a:srgbClr val="A79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50292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ㄷ ㅌ + ㅣ → ㅈ ㅊ.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5486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→ [가치] · juntos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memorices las reglas — escucha y la oreja las aprenderá sola.</a:t>
            </a:r>
            <a:endParaRPr lang="en-US" sz="1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§4.23 · LECTURA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cortas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 texto coreano de verdad — saludos y presentaciones.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46888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748" y="25603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3748" y="3017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an-nyeong-ha-se-yo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3748" y="33101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 (formal)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0148" y="246888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3028" y="25603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학생이에요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93028" y="3017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jeo-neun hak-saeng-i-e-yo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93028" y="33101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estudiante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868" y="3822192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748" y="3913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공부해요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3748" y="437083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han-gug-eo-reul gong-bu-hae-yo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3748" y="46634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coreano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0148" y="3822192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3028" y="39136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만나서 반가워요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93028" y="437083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man-na-seo ban-ga-wo-yo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3028" y="46634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gusto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0868" y="5175504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748" y="526694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3748" y="572414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gam-sa-ham-ni-da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3748" y="60167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0148" y="5175504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3028" y="526694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가세요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93028" y="572414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an-nyeong-hi ga-se-yo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93028" y="60167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(al que se va)</a:t>
            </a:r>
            <a:endParaRPr lang="en-US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1 al 10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Numerales coreanos puros (하나, 둘, 셋...) — usados para contar objetos.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47492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7492" y="2651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7492" y="29260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47492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ha-na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8780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8780" y="2651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08780" y="29260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08780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0068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0068" y="2651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0068" y="29260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70068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31356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1356" y="2651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1356" y="29260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31356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92644" y="26060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92644" y="2651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92644" y="29260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892644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da-seot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7492" y="42976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7492" y="4343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7492" y="4617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247492" y="5394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yeo-seot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08780" y="42976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8780" y="4343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08780" y="4617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408780" y="5394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il-gop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0068" y="42976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0068" y="4343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0068" y="4617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5570068" y="5394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yeo-deol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31356" y="42976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31356" y="4343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31356" y="4617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6731356" y="5394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a-hop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92644" y="42976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92644" y="4343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92644" y="4617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7892644" y="5394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otra serie (sino-coreana: 일 이 삼...) que aprenderás más adelante para edades, dinero y horas.</a:t>
            </a:r>
            <a:endParaRPr lang="en-US" sz="110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de la semana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día lleva el nombre de un elemento natural — muy parecido al japonés y al chino.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3708" y="2606040"/>
            <a:ext cx="1508760" cy="3291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3708" y="2743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月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03708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370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wol-yo-il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370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3708" y="4892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49628" y="2606040"/>
            <a:ext cx="1508760" cy="3291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9628" y="2743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火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049628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4962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hwa-yo-il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4962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49628" y="4892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95548" y="2606040"/>
            <a:ext cx="1508760" cy="3291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5548" y="2743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水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695548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9554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su-yo-il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9554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95548" y="4892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1468" y="2606040"/>
            <a:ext cx="1508760" cy="3291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1468" y="2743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木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341468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목요일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146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mok-yo-il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146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1468" y="4892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madera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87388" y="2606040"/>
            <a:ext cx="1508760" cy="3291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7388" y="2743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金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987388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8738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geum-yo-il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8738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7388" y="4892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/ metal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33308" y="2606040"/>
            <a:ext cx="1508760" cy="3291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33308" y="2743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土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8633308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63330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to-yo-il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3330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33308" y="4892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tierra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279228" y="2606040"/>
            <a:ext cx="1508760" cy="3291840"/>
          </a:xfrm>
          <a:prstGeom prst="roundRect">
            <a:avLst>
              <a:gd name="adj" fmla="val 9091"/>
            </a:avLst>
          </a:prstGeom>
          <a:solidFill>
            <a:srgbClr val="EDE8FF"/>
          </a:solidFill>
          <a:ln w="19050">
            <a:solidFill>
              <a:srgbClr val="4036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79228" y="27432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日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10279228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279228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il-yo-il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7922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79228" y="4892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00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la cultura coreana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que ya conoces porque la cultura coreana ya conquistó el mundo.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448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448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09448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kim-chi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48" y="3794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kimchi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8368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8368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비빔밥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98368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bi-bim-bap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8368" y="3794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bibimbap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7288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7288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불고기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87288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bul-go-gi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87288" y="3794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bulgogi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6208" y="251460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6208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한복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976208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han-bok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76208" y="3794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 tradicional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9448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448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한류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09448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hal-lyu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448" y="5715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coreana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98368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8368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398368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deu-ra-ma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98368" y="5715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k-drama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7288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7288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187288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a-i-dol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7288" y="5715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ídolo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76208" y="4434840"/>
            <a:ext cx="2606040" cy="1691640"/>
          </a:xfrm>
          <a:prstGeom prst="roundRect">
            <a:avLst>
              <a:gd name="adj" fmla="val 8108"/>
            </a:avLst>
          </a:prstGeom>
          <a:solidFill>
            <a:srgbClr val="FFE0E0"/>
          </a:solidFill>
          <a:ln w="19050">
            <a:solidFill>
              <a:srgbClr val="FE67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76208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오빠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976208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op-pa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76208" y="5715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oppa</a:t>
            </a:r>
            <a:endParaRPr lang="en-US" sz="12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clave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técnicas del batchim y la pronunciación coreana.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1200" i="1" dirty="0">
                <a:solidFill>
                  <a:srgbClr val="FE6768"/>
                </a:solidFill>
              </a:rPr>
              <a:t>   batchim</a:t>
            </a:r>
            <a:r>
              <a:rPr lang="en-US" sz="1200" dirty="0">
                <a:solidFill>
                  <a:srgbClr val="4A4A55"/>
                </a:solidFill>
              </a:rPr>
              <a:t>   ·  consonante final de sílaba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24688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겹받침</a:t>
            </a:r>
            <a:r>
              <a:rPr lang="en-US" sz="1200" i="1" dirty="0">
                <a:solidFill>
                  <a:srgbClr val="FE6768"/>
                </a:solidFill>
              </a:rPr>
              <a:t>   gyeop-batchim</a:t>
            </a:r>
            <a:r>
              <a:rPr lang="en-US" sz="1200" dirty="0">
                <a:solidFill>
                  <a:srgbClr val="4A4A55"/>
                </a:solidFill>
              </a:rPr>
              <a:t>   ·  batchim doble (2 consonantes)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연음법칙</a:t>
            </a:r>
            <a:r>
              <a:rPr lang="en-US" sz="1200" i="1" dirty="0">
                <a:solidFill>
                  <a:srgbClr val="FE6768"/>
                </a:solidFill>
              </a:rPr>
              <a:t>   yeon-eum-beop-chik</a:t>
            </a:r>
            <a:r>
              <a:rPr lang="en-US" sz="1200" dirty="0">
                <a:solidFill>
                  <a:srgbClr val="4A4A55"/>
                </a:solidFill>
              </a:rPr>
              <a:t>   ·  regla de liaison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8529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비음화</a:t>
            </a:r>
            <a:r>
              <a:rPr lang="en-US" sz="1200" i="1" dirty="0">
                <a:solidFill>
                  <a:srgbClr val="FE6768"/>
                </a:solidFill>
              </a:rPr>
              <a:t>   bi-eum-hwa</a:t>
            </a:r>
            <a:r>
              <a:rPr lang="en-US" sz="1200" dirty="0">
                <a:solidFill>
                  <a:srgbClr val="4A4A55"/>
                </a:solidFill>
              </a:rPr>
              <a:t>   ·  nasalización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369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격음화</a:t>
            </a:r>
            <a:r>
              <a:rPr lang="en-US" sz="1200" i="1" dirty="0">
                <a:solidFill>
                  <a:srgbClr val="FE6768"/>
                </a:solidFill>
              </a:rPr>
              <a:t>   gyeok-eum-hwa</a:t>
            </a:r>
            <a:r>
              <a:rPr lang="en-US" sz="1200" dirty="0">
                <a:solidFill>
                  <a:srgbClr val="4A4A55"/>
                </a:solidFill>
              </a:rPr>
              <a:t>   ·  aspiración con 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32369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경음화</a:t>
            </a:r>
            <a:r>
              <a:rPr lang="en-US" sz="1200" i="1" dirty="0">
                <a:solidFill>
                  <a:srgbClr val="FE6768"/>
                </a:solidFill>
              </a:rPr>
              <a:t>   gyeong-eum-hwa</a:t>
            </a:r>
            <a:r>
              <a:rPr lang="en-US" sz="1200" dirty="0">
                <a:solidFill>
                  <a:srgbClr val="4A4A55"/>
                </a:solidFill>
              </a:rPr>
              <a:t>   ·  tensificación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유음화</a:t>
            </a:r>
            <a:r>
              <a:rPr lang="en-US" sz="1200" i="1" dirty="0">
                <a:solidFill>
                  <a:srgbClr val="FE6768"/>
                </a:solidFill>
              </a:rPr>
              <a:t>   yu-eum-hwa</a:t>
            </a:r>
            <a:r>
              <a:rPr lang="en-US" sz="1200" dirty="0">
                <a:solidFill>
                  <a:srgbClr val="4A4A55"/>
                </a:solidFill>
              </a:rPr>
              <a:t>   ·  lateralización (ㄴㄹ→ㄹㄹ)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362102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구개음화</a:t>
            </a:r>
            <a:r>
              <a:rPr lang="en-US" sz="1200" i="1" dirty="0">
                <a:solidFill>
                  <a:srgbClr val="FE6768"/>
                </a:solidFill>
              </a:rPr>
              <a:t>   gu-gae-eum-hwa</a:t>
            </a:r>
            <a:r>
              <a:rPr lang="en-US" sz="1200" dirty="0">
                <a:solidFill>
                  <a:srgbClr val="4A4A55"/>
                </a:solidFill>
              </a:rPr>
              <a:t>   ·  palatalización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음절</a:t>
            </a:r>
            <a:r>
              <a:rPr lang="en-US" sz="1200" i="1" dirty="0">
                <a:solidFill>
                  <a:srgbClr val="FE6768"/>
                </a:solidFill>
              </a:rPr>
              <a:t>   eum-jeol</a:t>
            </a:r>
            <a:r>
              <a:rPr lang="en-US" sz="1200" dirty="0">
                <a:solidFill>
                  <a:srgbClr val="4A4A55"/>
                </a:solidFill>
              </a:rPr>
              <a:t>   ·  sílaba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400507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</a:t>
            </a:r>
            <a:r>
              <a:rPr lang="en-US" sz="1200" i="1" dirty="0">
                <a:solidFill>
                  <a:srgbClr val="FE6768"/>
                </a:solidFill>
              </a:rPr>
              <a:t>   pyo-gi</a:t>
            </a:r>
            <a:r>
              <a:rPr lang="en-US" sz="1200" dirty="0">
                <a:solidFill>
                  <a:srgbClr val="4A4A55"/>
                </a:solidFill>
              </a:rPr>
              <a:t>   ·  cómo se escribe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발음</a:t>
            </a:r>
            <a:r>
              <a:rPr lang="en-US" sz="1200" i="1" dirty="0">
                <a:solidFill>
                  <a:srgbClr val="FE6768"/>
                </a:solidFill>
              </a:rPr>
              <a:t>   bal-eum</a:t>
            </a:r>
            <a:r>
              <a:rPr lang="en-US" sz="1200" dirty="0">
                <a:solidFill>
                  <a:srgbClr val="4A4A55"/>
                </a:solidFill>
              </a:rPr>
              <a:t>   ·  cómo se pronuncia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3891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소리값</a:t>
            </a:r>
            <a:r>
              <a:rPr lang="en-US" sz="1200" i="1" dirty="0">
                <a:solidFill>
                  <a:srgbClr val="FE6768"/>
                </a:solidFill>
              </a:rPr>
              <a:t>   so-ri-gap</a:t>
            </a:r>
            <a:r>
              <a:rPr lang="en-US" sz="1200" dirty="0">
                <a:solidFill>
                  <a:srgbClr val="4A4A55"/>
                </a:solidFill>
              </a:rPr>
              <a:t>   ·  valor sonoro de una letra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§4.28 ·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21 vocales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aprendiste en el capítulo 1, en una sola página.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911535" cy="960120"/>
          </a:xfrm>
          <a:prstGeom prst="roundRect">
            <a:avLst>
              <a:gd name="adj" fmla="val 14286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FUNDAMENTALES (11)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2110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ㅑ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18061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44011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69962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95912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ㅛ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921863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647813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373764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099714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825665" y="2468880"/>
            <a:ext cx="72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10911535" cy="960120"/>
          </a:xfrm>
          <a:prstGeom prst="roundRect">
            <a:avLst>
              <a:gd name="adj" fmla="val 14286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204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COMBINADAS (10)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11407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06939" y="3520440"/>
            <a:ext cx="11407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47719" y="3520440"/>
            <a:ext cx="11407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ㅔ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88498" y="3520440"/>
            <a:ext cx="11407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ㅖ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129277" y="3520440"/>
            <a:ext cx="11407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ㅚ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270057" y="3520440"/>
            <a:ext cx="11407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ㅟ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410836" y="3520440"/>
            <a:ext cx="11407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ㅢ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911535" cy="960120"/>
          </a:xfrm>
          <a:prstGeom prst="roundRect">
            <a:avLst>
              <a:gd name="adj" fmla="val 14286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COMPUESTAS (4)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1996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ㅘ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62524" y="4572000"/>
            <a:ext cx="1996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ㅝ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558888" y="4572000"/>
            <a:ext cx="1996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ㅙ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555251" y="4572000"/>
            <a:ext cx="19963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ㅞ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21 vocales coreanas — todas derivadas de · ㅡ ㅣ.</a:t>
            </a:r>
            <a:endParaRPr lang="en-US" sz="13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§4.29 ·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19 consonantes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consonantes organizadas por su lugar de articulación.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911535" cy="694944"/>
          </a:xfrm>
          <a:prstGeom prst="roundRect">
            <a:avLst>
              <a:gd name="adj" fmla="val 1578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아음 · paladar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2468880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163251" y="2468880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760342" y="2468880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ㄲ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0911535" cy="694944"/>
          </a:xfrm>
          <a:prstGeom prst="roundRect">
            <a:avLst>
              <a:gd name="adj" fmla="val 15789"/>
            </a:avLst>
          </a:prstGeom>
          <a:solidFill>
            <a:srgbClr val="EDE8FF"/>
          </a:solidFill>
          <a:ln w="15240">
            <a:solidFill>
              <a:srgbClr val="A79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3697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설음 · lengua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236976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63251" y="3236976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0342" y="3236976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ㅌ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57433" y="3236976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ㄸ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954524" y="3236976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40080" y="4005072"/>
            <a:ext cx="10911535" cy="694944"/>
          </a:xfrm>
          <a:prstGeom prst="roundRect">
            <a:avLst>
              <a:gd name="adj" fmla="val 1578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0507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순음 · labios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4005072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163251" y="4005072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60342" y="4005072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57433" y="4005072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ㅃ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40080" y="4773168"/>
            <a:ext cx="10911535" cy="694944"/>
          </a:xfrm>
          <a:prstGeom prst="roundRect">
            <a:avLst>
              <a:gd name="adj" fmla="val 15789"/>
            </a:avLst>
          </a:prstGeom>
          <a:solidFill>
            <a:srgbClr val="FFE0E0"/>
          </a:solidFill>
          <a:ln w="15240">
            <a:solidFill>
              <a:srgbClr val="FE67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77316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치음 · dientes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4773168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63251" y="4773168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ㅈ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760342" y="4773168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357433" y="4773168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954524" y="4773168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6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ㅉ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640080" y="5541264"/>
            <a:ext cx="10911535" cy="694944"/>
          </a:xfrm>
          <a:prstGeom prst="roundRect">
            <a:avLst>
              <a:gd name="adj" fmla="val 15789"/>
            </a:avLst>
          </a:prstGeom>
          <a:solidFill>
            <a:srgbClr val="EDE8FF"/>
          </a:solidFill>
          <a:ln w="15240">
            <a:solidFill>
              <a:srgbClr val="403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4126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후음 · garganta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66160" y="5541264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163251" y="5541264"/>
            <a:ext cx="159709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consonantes · 5 lugares · 3 tipos (básica · aspirada · doble).</a:t>
            </a:r>
            <a:endParaRPr lang="en-US" sz="13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8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alfabeto Hangul completo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letras + 4 patrones silábicos + 7 sonidos finales = todo el sistema.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448" y="2606040"/>
            <a:ext cx="3474720" cy="3474720"/>
          </a:xfrm>
          <a:prstGeom prst="roundRect">
            <a:avLst>
              <a:gd name="adj" fmla="val 5263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448" y="28346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609448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448" y="5212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모음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58488" y="2606040"/>
            <a:ext cx="3474720" cy="3474720"/>
          </a:xfrm>
          <a:prstGeom prst="roundRect">
            <a:avLst>
              <a:gd name="adj" fmla="val 5263"/>
            </a:avLst>
          </a:prstGeom>
          <a:solidFill>
            <a:srgbClr val="4036ED"/>
          </a:solidFill>
          <a:ln w="12700">
            <a:solidFill>
              <a:srgbClr val="403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8488" y="28346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4358488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58488" y="5212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자음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107528" y="2606040"/>
            <a:ext cx="3474720" cy="3474720"/>
          </a:xfrm>
          <a:prstGeom prst="roundRect">
            <a:avLst>
              <a:gd name="adj" fmla="val 5263"/>
            </a:avLst>
          </a:prstGeom>
          <a:solidFill>
            <a:srgbClr val="FE6768"/>
          </a:solidFill>
          <a:ln w="12700">
            <a:solidFill>
              <a:srgbClr val="FE67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7528" y="28346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0" dirty="0"/>
          </a:p>
        </p:txBody>
      </p:sp>
      <p:sp>
        <p:nvSpPr>
          <p:cNvPr id="15" name="Text 13"/>
          <p:cNvSpPr/>
          <p:nvPr/>
        </p:nvSpPr>
        <p:spPr>
          <a:xfrm>
            <a:off x="8107528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SONIDOS BATCHIM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07528" y="5212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6F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ahora todo eso vive dentro de tu cabeza.</a:t>
            </a:r>
            <a:endParaRPr lang="en-US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§4.31 · LO LOGRASTE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03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Felicitaciones, ahora sabes leer Hangul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600 años, un Rey soñó con que cualquier persona pudiera aprender a leer y escribir.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1153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i="1" dirty="0">
                <a:solidFill>
                  <a:srgbClr val="4036ED"/>
                </a:solidFill>
              </a:rPr>
              <a:t>Hoy, tú eres parte de ese sueño.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1E2A"/>
                </a:solidFill>
              </a:rPr>
              <a:t>En estos cuatro capítulos viste cómo Sejong miró la naturaleza, observó tu propio cuerpo, y diseñó un alfabeto donde cada letra cuenta una historia: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E6768"/>
                </a:solidFill>
              </a:rPr>
              <a:t>· las vocales son cielo, tierra y humano.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4036ED"/>
                </a:solidFill>
              </a:rPr>
              <a:t>· las consonantes son el mapa de tu boca.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79BFF"/>
                </a:solidFill>
              </a:rPr>
              <a:t>· las sílabas son cuadros perfectos.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E6768"/>
                </a:solidFill>
              </a:rPr>
              <a:t>· el batchim es el cimiento que sostiene la palabra.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1E2A"/>
                </a:solidFill>
              </a:rPr>
              <a:t>Lo que viene ahora es la parte fácil: usar el Hangul. Empiezan las palabras, las frases, las conversaciones. </a:t>
            </a:r>
            <a:r>
              <a:rPr lang="en-US" sz="1300" b="1" i="1" dirty="0">
                <a:solidFill>
                  <a:srgbClr val="4036ED"/>
                </a:solidFill>
              </a:rPr>
              <a:t>Pero el Hangul ya es tuyo.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280160"/>
            <a:ext cx="9814255" cy="4297680"/>
          </a:xfrm>
          <a:prstGeom prst="roundRect">
            <a:avLst>
              <a:gd name="adj" fmla="val 6383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82880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hwa-i-ting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"¡Tú puedes!"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4389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5029200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veas a alguien estudiar coreano, dile esto.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palabra que une a todos los estudiantes del mundo.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371600"/>
            <a:ext cx="9814255" cy="4114800"/>
          </a:xfrm>
          <a:prstGeom prst="roundRect">
            <a:avLst>
              <a:gd name="adj" fmla="val 6667"/>
            </a:avLst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82880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403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gam-sa-ham-ni-da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70332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estudiar conmigo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28" y="4434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516636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kern="0" spc="200" dirty="0">
                <a:solidFill>
                  <a:srgbClr val="FE6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Chingu™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553212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cultura. Después el idioma.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335" y="1828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METHOD CHINGU™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27729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03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6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SEÚL</a:t>
            </a:r>
            <a:endParaRPr lang="en-US" sz="1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4114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300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Chingu™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5349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cultura. Después el idioma.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60350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kern="0" spc="40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Hangul · 한글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63550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Jae Hee Kim · 김재희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9146</Words>
  <Application>Microsoft Macintosh PowerPoint</Application>
  <PresentationFormat>Widescreen</PresentationFormat>
  <Paragraphs>2925</Paragraphs>
  <Slides>126</Slides>
  <Notes>126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30" baseType="lpstr">
      <vt:lpstr>Malgun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Hangul A1 · Cap. 1</dc:title>
  <dc:subject>PptxGenJS Presentation</dc:subject>
  <dc:creator>PptxGenJS</dc:creator>
  <cp:lastModifiedBy>Microsoft Office User</cp:lastModifiedBy>
  <cp:revision>1</cp:revision>
  <dcterms:created xsi:type="dcterms:W3CDTF">2026-04-30T10:58:16Z</dcterms:created>
  <dcterms:modified xsi:type="dcterms:W3CDTF">2026-05-28T10:22:01Z</dcterms:modified>
</cp:coreProperties>
</file>