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73" r:id="rId3"/>
    <p:sldId id="280" r:id="rId4"/>
    <p:sldId id="281" r:id="rId5"/>
    <p:sldId id="282" r:id="rId6"/>
    <p:sldId id="257" r:id="rId7"/>
    <p:sldId id="258" r:id="rId8"/>
    <p:sldId id="259" r:id="rId9"/>
    <p:sldId id="260" r:id="rId10"/>
    <p:sldId id="274" r:id="rId11"/>
    <p:sldId id="275" r:id="rId12"/>
    <p:sldId id="283" r:id="rId13"/>
    <p:sldId id="261" r:id="rId14"/>
    <p:sldId id="262" r:id="rId15"/>
    <p:sldId id="276" r:id="rId16"/>
    <p:sldId id="277" r:id="rId17"/>
    <p:sldId id="278" r:id="rId18"/>
    <p:sldId id="284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9" r:id="rId27"/>
    <p:sldId id="270" r:id="rId28"/>
    <p:sldId id="285" r:id="rId29"/>
    <p:sldId id="271" r:id="rId30"/>
    <p:sldId id="272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8" d="100"/>
          <a:sy n="58" d="100"/>
        </p:scale>
        <p:origin x="4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60531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2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3657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60020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3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0" y="2194560"/>
            <a:ext cx="1216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</a:t>
            </a:r>
            <a:endParaRPr lang="en-US" sz="9000" dirty="0"/>
          </a:p>
        </p:txBody>
      </p:sp>
      <p:sp>
        <p:nvSpPr>
          <p:cNvPr id="5" name="Text 2"/>
          <p:cNvSpPr/>
          <p:nvPr/>
        </p:nvSpPr>
        <p:spPr>
          <a:xfrm>
            <a:off x="0" y="365760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Saludos y Autopresentación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914400" y="443484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a presentarte con nombre, país y profesión</a:t>
            </a:r>
            <a:endParaRPr lang="en-US" sz="1300" dirty="0"/>
          </a:p>
        </p:txBody>
      </p:sp>
      <p:pic>
        <p:nvPicPr>
          <p:cNvPr id="7" name="Image 1" descr="/sessions/sleepy-zen-cray/mnt/outputs/deck_assets/sello_linea_v1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5852160"/>
            <a:ext cx="822960" cy="822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0" y="626364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Profesora · Jay Kim · 김재희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E116F50-AFAF-ACAD-AAAE-DAE0758ADDB4}"/>
              </a:ext>
            </a:extLst>
          </p:cNvPr>
          <p:cNvSpPr txBox="1"/>
          <p:nvPr/>
        </p:nvSpPr>
        <p:spPr>
          <a:xfrm>
            <a:off x="1353591" y="743864"/>
            <a:ext cx="116570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2800" dirty="0"/>
              <a:t>가 </a:t>
            </a:r>
            <a:r>
              <a:rPr lang="es-CL" altLang="ko-KR" sz="2800" dirty="0" err="1"/>
              <a:t>ga</a:t>
            </a:r>
            <a:endParaRPr lang="es-CL" altLang="ko-KR" sz="2800" dirty="0"/>
          </a:p>
          <a:p>
            <a:r>
              <a:rPr lang="ko-KR" altLang="es-CL" sz="2800" dirty="0"/>
              <a:t>나 </a:t>
            </a:r>
            <a:r>
              <a:rPr lang="es-CL" altLang="ko-KR" sz="2800" dirty="0" err="1"/>
              <a:t>na</a:t>
            </a:r>
            <a:endParaRPr lang="es-CL" altLang="ko-KR" sz="2800" dirty="0"/>
          </a:p>
          <a:p>
            <a:r>
              <a:rPr lang="ko-KR" altLang="es-CL" sz="2800" dirty="0"/>
              <a:t>다 </a:t>
            </a:r>
            <a:r>
              <a:rPr lang="es-CL" altLang="ko-KR" sz="2800" dirty="0"/>
              <a:t>da</a:t>
            </a:r>
          </a:p>
          <a:p>
            <a:r>
              <a:rPr lang="ko-KR" altLang="es-CL" sz="2800" dirty="0"/>
              <a:t>라 </a:t>
            </a:r>
            <a:r>
              <a:rPr lang="es-CL" altLang="ko-KR" sz="2800" dirty="0" err="1"/>
              <a:t>ra</a:t>
            </a:r>
            <a:r>
              <a:rPr lang="es-CL" altLang="ko-KR" sz="2800" dirty="0"/>
              <a:t> </a:t>
            </a:r>
          </a:p>
          <a:p>
            <a:r>
              <a:rPr lang="ko-KR" altLang="es-CL" sz="2800" dirty="0"/>
              <a:t>마 </a:t>
            </a:r>
            <a:r>
              <a:rPr lang="es-CL" altLang="ko-KR" sz="2800" dirty="0" err="1"/>
              <a:t>ma</a:t>
            </a:r>
            <a:r>
              <a:rPr lang="es-CL" altLang="ko-KR" sz="2800" dirty="0"/>
              <a:t> </a:t>
            </a:r>
          </a:p>
          <a:p>
            <a:r>
              <a:rPr lang="ko-KR" altLang="es-CL" sz="2800" dirty="0"/>
              <a:t>바</a:t>
            </a:r>
            <a:r>
              <a:rPr lang="es-CL" altLang="ko-KR" sz="2800" dirty="0"/>
              <a:t> </a:t>
            </a:r>
            <a:r>
              <a:rPr lang="es-CL" altLang="ko-KR" sz="2800" dirty="0" err="1"/>
              <a:t>ba</a:t>
            </a:r>
            <a:endParaRPr lang="es-CL" altLang="ko-KR" sz="2800" dirty="0"/>
          </a:p>
          <a:p>
            <a:r>
              <a:rPr lang="ko-KR" altLang="es-CL" sz="2800" dirty="0"/>
              <a:t>사 </a:t>
            </a:r>
            <a:r>
              <a:rPr lang="es-CL" altLang="ko-KR" sz="2800" dirty="0" err="1"/>
              <a:t>sa</a:t>
            </a:r>
            <a:endParaRPr lang="es-CL" altLang="ko-KR" sz="2800" dirty="0"/>
          </a:p>
          <a:p>
            <a:endParaRPr lang="es-CL" altLang="ko-KR" sz="2800" dirty="0"/>
          </a:p>
          <a:p>
            <a:endParaRPr lang="es-CL" altLang="ko-KR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0289DA-46C2-292E-7FDA-E205C5F1E66A}"/>
              </a:ext>
            </a:extLst>
          </p:cNvPr>
          <p:cNvSpPr txBox="1"/>
          <p:nvPr/>
        </p:nvSpPr>
        <p:spPr>
          <a:xfrm>
            <a:off x="7222698" y="743864"/>
            <a:ext cx="1074333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2800" dirty="0"/>
              <a:t>아 </a:t>
            </a:r>
            <a:r>
              <a:rPr lang="es-CL" altLang="ko-KR" sz="2800" dirty="0"/>
              <a:t>a</a:t>
            </a:r>
          </a:p>
          <a:p>
            <a:r>
              <a:rPr lang="ko-KR" altLang="es-CL" sz="2800" dirty="0"/>
              <a:t>야 </a:t>
            </a:r>
            <a:r>
              <a:rPr lang="es-CL" altLang="ko-KR" sz="2800" dirty="0" err="1"/>
              <a:t>ia</a:t>
            </a:r>
            <a:endParaRPr lang="es-CL" altLang="ko-KR" sz="2800" dirty="0"/>
          </a:p>
          <a:p>
            <a:r>
              <a:rPr lang="ko-KR" altLang="es-CL" sz="2800" dirty="0"/>
              <a:t>어 </a:t>
            </a:r>
            <a:r>
              <a:rPr lang="es-CL" altLang="ko-KR" sz="2800" dirty="0" err="1"/>
              <a:t>eo</a:t>
            </a:r>
            <a:endParaRPr lang="es-CL" altLang="ko-KR" sz="2800" dirty="0"/>
          </a:p>
          <a:p>
            <a:r>
              <a:rPr lang="ko-KR" altLang="es-CL" sz="2800" dirty="0"/>
              <a:t>여 </a:t>
            </a:r>
            <a:r>
              <a:rPr lang="es-CL" altLang="ko-KR" sz="2800" dirty="0" err="1"/>
              <a:t>ieo</a:t>
            </a:r>
            <a:endParaRPr lang="es-CL" altLang="ko-KR" sz="2800" dirty="0"/>
          </a:p>
          <a:p>
            <a:r>
              <a:rPr lang="ko-KR" altLang="es-CL" sz="2800" dirty="0"/>
              <a:t>오 </a:t>
            </a:r>
            <a:r>
              <a:rPr lang="es-CL" altLang="ko-KR" sz="2800" dirty="0"/>
              <a:t>o</a:t>
            </a:r>
          </a:p>
          <a:p>
            <a:r>
              <a:rPr lang="ko-KR" altLang="es-CL" sz="2800" dirty="0"/>
              <a:t>요 </a:t>
            </a:r>
            <a:r>
              <a:rPr lang="es-CL" altLang="ko-KR" sz="2800" dirty="0" err="1"/>
              <a:t>io</a:t>
            </a:r>
            <a:endParaRPr lang="es-CL" altLang="ko-KR" sz="2800" dirty="0"/>
          </a:p>
          <a:p>
            <a:endParaRPr lang="es-CL" altLang="ko-KR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DFEC3E-D2EE-1D57-B6A0-E462B43FD0F2}"/>
              </a:ext>
            </a:extLst>
          </p:cNvPr>
          <p:cNvSpPr txBox="1"/>
          <p:nvPr/>
        </p:nvSpPr>
        <p:spPr>
          <a:xfrm>
            <a:off x="3158836" y="743864"/>
            <a:ext cx="1714822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s-CL" sz="2800" dirty="0"/>
              <a:t>아 </a:t>
            </a:r>
            <a:r>
              <a:rPr lang="es-CL" altLang="ko-KR" sz="2800" dirty="0"/>
              <a:t>a</a:t>
            </a:r>
          </a:p>
          <a:p>
            <a:r>
              <a:rPr lang="ko-KR" altLang="es-CL" sz="2800" dirty="0"/>
              <a:t>자 </a:t>
            </a:r>
            <a:r>
              <a:rPr lang="es-CL" altLang="ko-KR" sz="2800" dirty="0"/>
              <a:t>ya</a:t>
            </a:r>
          </a:p>
          <a:p>
            <a:r>
              <a:rPr lang="ko-KR" altLang="es-CL" sz="2800" dirty="0"/>
              <a:t>차 </a:t>
            </a:r>
            <a:r>
              <a:rPr lang="es-CL" altLang="ko-KR" sz="2800" dirty="0" err="1"/>
              <a:t>cha</a:t>
            </a:r>
            <a:endParaRPr lang="es-CL" altLang="ko-KR" sz="2800" dirty="0"/>
          </a:p>
          <a:p>
            <a:r>
              <a:rPr lang="ko-KR" altLang="es-CL" sz="2800" dirty="0"/>
              <a:t>카 </a:t>
            </a:r>
            <a:r>
              <a:rPr lang="es-CL" altLang="ko-KR" sz="2800" dirty="0" err="1"/>
              <a:t>ka</a:t>
            </a:r>
            <a:endParaRPr lang="es-CL" altLang="ko-KR" sz="2800" dirty="0"/>
          </a:p>
          <a:p>
            <a:r>
              <a:rPr lang="ko-KR" altLang="es-CL" sz="2800" dirty="0"/>
              <a:t>타 </a:t>
            </a:r>
            <a:r>
              <a:rPr lang="es-CL" altLang="ko-KR" sz="2800" dirty="0" err="1"/>
              <a:t>ta</a:t>
            </a:r>
            <a:endParaRPr lang="es-CL" altLang="ko-KR" sz="2800" dirty="0"/>
          </a:p>
          <a:p>
            <a:r>
              <a:rPr lang="ko-KR" altLang="es-CL" sz="2800" dirty="0"/>
              <a:t>파 </a:t>
            </a:r>
            <a:r>
              <a:rPr lang="es-CL" altLang="ko-KR" sz="2800" dirty="0" err="1"/>
              <a:t>pa</a:t>
            </a:r>
            <a:r>
              <a:rPr lang="es-CL" altLang="ko-KR" sz="2800" dirty="0"/>
              <a:t> </a:t>
            </a:r>
          </a:p>
          <a:p>
            <a:r>
              <a:rPr lang="ko-KR" altLang="es-CL" sz="2800" dirty="0"/>
              <a:t>하 </a:t>
            </a:r>
            <a:r>
              <a:rPr lang="es-CL" altLang="ko-KR" sz="2800" dirty="0"/>
              <a:t>ja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9E31C1-554C-B07D-499A-65EC4E0B636A}"/>
              </a:ext>
            </a:extLst>
          </p:cNvPr>
          <p:cNvSpPr txBox="1"/>
          <p:nvPr/>
        </p:nvSpPr>
        <p:spPr>
          <a:xfrm>
            <a:off x="8959273" y="743864"/>
            <a:ext cx="6096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s-CL" sz="2800" dirty="0"/>
              <a:t>우 </a:t>
            </a:r>
            <a:r>
              <a:rPr lang="es-CL" altLang="ko-KR" sz="2800" dirty="0"/>
              <a:t>u</a:t>
            </a:r>
          </a:p>
          <a:p>
            <a:r>
              <a:rPr lang="ko-KR" altLang="es-CL" sz="2800" dirty="0"/>
              <a:t>유 </a:t>
            </a:r>
            <a:r>
              <a:rPr lang="es-CL" altLang="ko-KR" sz="2800" dirty="0" err="1"/>
              <a:t>iu</a:t>
            </a:r>
            <a:endParaRPr lang="es-CL" altLang="ko-KR" sz="2800" dirty="0"/>
          </a:p>
          <a:p>
            <a:r>
              <a:rPr lang="ko-KR" altLang="es-CL" sz="2800" dirty="0"/>
              <a:t>으 </a:t>
            </a:r>
            <a:r>
              <a:rPr lang="es-CL" altLang="ko-KR" sz="2800" dirty="0" err="1"/>
              <a:t>eu</a:t>
            </a:r>
            <a:r>
              <a:rPr lang="es-CL" altLang="ko-KR" sz="2800" dirty="0"/>
              <a:t> </a:t>
            </a:r>
          </a:p>
          <a:p>
            <a:r>
              <a:rPr lang="ko-KR" altLang="es-CL" sz="2800" dirty="0"/>
              <a:t>이 </a:t>
            </a:r>
            <a:r>
              <a:rPr lang="es-CL" altLang="ko-KR" sz="2800" dirty="0"/>
              <a:t>i </a:t>
            </a:r>
          </a:p>
          <a:p>
            <a:r>
              <a:rPr lang="ko-KR" altLang="es-CL" sz="2800" dirty="0"/>
              <a:t>의 </a:t>
            </a:r>
            <a:r>
              <a:rPr lang="es-CL" altLang="ko-KR" sz="2800" dirty="0" err="1"/>
              <a:t>eui</a:t>
            </a:r>
            <a:endParaRPr lang="es-CL" altLang="ko-KR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C9E402-E903-6058-5952-39D792D955BB}"/>
              </a:ext>
            </a:extLst>
          </p:cNvPr>
          <p:cNvSpPr txBox="1"/>
          <p:nvPr/>
        </p:nvSpPr>
        <p:spPr>
          <a:xfrm>
            <a:off x="3459047" y="4981222"/>
            <a:ext cx="75273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/>
              <a:t>https://www.youtube.com/watch?v=E9ZzGUZdPAQ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B8619D-5995-D9A7-1DDD-49046776C094}"/>
              </a:ext>
            </a:extLst>
          </p:cNvPr>
          <p:cNvSpPr txBox="1"/>
          <p:nvPr/>
        </p:nvSpPr>
        <p:spPr>
          <a:xfrm>
            <a:off x="1809946" y="4279769"/>
            <a:ext cx="1508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s-CL" dirty="0"/>
              <a:t>ㄲ</a:t>
            </a:r>
            <a:endParaRPr lang="es-CL" altLang="ko-KR" dirty="0"/>
          </a:p>
          <a:p>
            <a:r>
              <a:rPr lang="ko-KR" altLang="es-CL" dirty="0"/>
              <a:t>ㄸ</a:t>
            </a:r>
            <a:endParaRPr lang="es-CL" altLang="ko-KR" dirty="0"/>
          </a:p>
          <a:p>
            <a:r>
              <a:rPr lang="ko-KR" altLang="es-CL" dirty="0"/>
              <a:t>ㅃ</a:t>
            </a:r>
            <a:br>
              <a:rPr lang="es-CL" altLang="ko-KR" dirty="0"/>
            </a:br>
            <a:r>
              <a:rPr lang="ko-KR" altLang="es-CL" dirty="0"/>
              <a:t>ㅆ</a:t>
            </a:r>
            <a:br>
              <a:rPr lang="es-CL" altLang="ko-KR" dirty="0"/>
            </a:br>
            <a:r>
              <a:rPr lang="ko-KR" altLang="es-CL" dirty="0"/>
              <a:t>ㅉ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957787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3493C0-C168-1D5F-E0A3-C5A6FB4F7ACF}"/>
              </a:ext>
            </a:extLst>
          </p:cNvPr>
          <p:cNvSpPr txBox="1"/>
          <p:nvPr/>
        </p:nvSpPr>
        <p:spPr>
          <a:xfrm>
            <a:off x="923637" y="646546"/>
            <a:ext cx="5206875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2400" dirty="0"/>
              <a:t>안녕하세요</a:t>
            </a:r>
            <a:endParaRPr lang="es-CL" altLang="ko-KR" sz="2400" dirty="0"/>
          </a:p>
          <a:p>
            <a:r>
              <a:rPr lang="es-CL" sz="2400" dirty="0"/>
              <a:t>[AN-NIONG-JA-SE-YO]</a:t>
            </a:r>
          </a:p>
          <a:p>
            <a:r>
              <a:rPr lang="es-CL" sz="2400" dirty="0"/>
              <a:t>Paz + hacer</a:t>
            </a:r>
          </a:p>
          <a:p>
            <a:r>
              <a:rPr lang="es-CL" sz="2400" dirty="0"/>
              <a:t>Buen día. Buenas tardes. Buenas noches</a:t>
            </a:r>
          </a:p>
          <a:p>
            <a:r>
              <a:rPr lang="ko-KR" altLang="es-CL" sz="2400" dirty="0"/>
              <a:t>안녕히 가세요</a:t>
            </a:r>
            <a:endParaRPr lang="es-CL" altLang="ko-KR" sz="2400" dirty="0"/>
          </a:p>
          <a:p>
            <a:r>
              <a:rPr lang="es-CL" sz="2400" dirty="0"/>
              <a:t>[AN-NIONG-JI GA-SE-YO]</a:t>
            </a:r>
          </a:p>
          <a:p>
            <a:r>
              <a:rPr lang="es-CL" sz="2400" dirty="0"/>
              <a:t>‘</a:t>
            </a:r>
            <a:r>
              <a:rPr lang="ko-KR" altLang="es-CL" sz="2400" dirty="0"/>
              <a:t>가</a:t>
            </a:r>
            <a:r>
              <a:rPr lang="ko-KR" altLang="es-CL" sz="2400" dirty="0">
                <a:highlight>
                  <a:srgbClr val="FFFF00"/>
                </a:highlight>
              </a:rPr>
              <a:t>다</a:t>
            </a:r>
            <a:r>
              <a:rPr lang="es-CL" altLang="ko-KR" sz="2400" dirty="0"/>
              <a:t>‘ [</a:t>
            </a:r>
            <a:r>
              <a:rPr lang="es-CL" altLang="ko-KR" sz="2400" dirty="0" err="1"/>
              <a:t>gada</a:t>
            </a:r>
            <a:r>
              <a:rPr lang="es-CL" altLang="ko-KR" sz="2400" dirty="0"/>
              <a:t>] = ir</a:t>
            </a:r>
          </a:p>
          <a:p>
            <a:r>
              <a:rPr lang="es-CL" sz="2400" dirty="0"/>
              <a:t>Que te vaya bien</a:t>
            </a:r>
          </a:p>
          <a:p>
            <a:r>
              <a:rPr lang="ko-KR" altLang="es-CL" sz="2400" dirty="0"/>
              <a:t>안녕히 계세요</a:t>
            </a:r>
            <a:endParaRPr lang="es-CL" altLang="ko-KR" sz="2400" dirty="0"/>
          </a:p>
          <a:p>
            <a:r>
              <a:rPr lang="es-CL" sz="2400" dirty="0"/>
              <a:t>[AN-NIONG-JI GE-SE-YO]</a:t>
            </a:r>
          </a:p>
          <a:p>
            <a:r>
              <a:rPr lang="es-CL" sz="2400" dirty="0"/>
              <a:t>Que se quede bien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1DA92F-F837-C268-CADD-E8938FAAC6B4}"/>
              </a:ext>
            </a:extLst>
          </p:cNvPr>
          <p:cNvSpPr txBox="1"/>
          <p:nvPr/>
        </p:nvSpPr>
        <p:spPr>
          <a:xfrm>
            <a:off x="7241309" y="618836"/>
            <a:ext cx="257634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2400" dirty="0"/>
              <a:t>안녕 </a:t>
            </a:r>
            <a:r>
              <a:rPr lang="es-CL" altLang="ko-KR" sz="2400" dirty="0"/>
              <a:t>= Hola y Chao</a:t>
            </a:r>
          </a:p>
          <a:p>
            <a:endParaRPr lang="es-CL" sz="2400" dirty="0"/>
          </a:p>
          <a:p>
            <a:r>
              <a:rPr lang="ko-KR" altLang="es-CL" sz="2400" dirty="0"/>
              <a:t>헬로우</a:t>
            </a:r>
            <a:r>
              <a:rPr lang="es-CL" altLang="ko-KR" sz="2400" dirty="0"/>
              <a:t>[</a:t>
            </a:r>
            <a:r>
              <a:rPr lang="es-CL" altLang="ko-KR" sz="2400" dirty="0" err="1"/>
              <a:t>hellow</a:t>
            </a:r>
            <a:r>
              <a:rPr lang="es-CL" altLang="ko-KR" sz="2400" dirty="0"/>
              <a:t>]</a:t>
            </a:r>
            <a:r>
              <a:rPr lang="ko-KR" altLang="es-CL" sz="2400" dirty="0"/>
              <a:t> </a:t>
            </a:r>
            <a:endParaRPr lang="es-CL" altLang="ko-KR" sz="2400" dirty="0"/>
          </a:p>
          <a:p>
            <a:r>
              <a:rPr lang="es-CL" altLang="ko-KR" sz="2400" dirty="0" err="1"/>
              <a:t>Hello</a:t>
            </a:r>
            <a:endParaRPr lang="es-CL" altLang="ko-KR" sz="2400" dirty="0"/>
          </a:p>
          <a:p>
            <a:r>
              <a:rPr lang="ko-KR" altLang="es-CL" sz="2400" dirty="0"/>
              <a:t>바이 </a:t>
            </a:r>
            <a:r>
              <a:rPr lang="es-CL" altLang="ko-KR" sz="2400" dirty="0"/>
              <a:t>[bai]</a:t>
            </a:r>
          </a:p>
          <a:p>
            <a:endParaRPr lang="es-CL" sz="2400" dirty="0"/>
          </a:p>
          <a:p>
            <a:r>
              <a:rPr lang="ko-KR" altLang="es-CL" sz="2400" dirty="0"/>
              <a:t>올라</a:t>
            </a:r>
            <a:endParaRPr lang="es-CL" altLang="ko-KR" sz="2400" dirty="0"/>
          </a:p>
          <a:p>
            <a:r>
              <a:rPr lang="ko-KR" altLang="es-CL" sz="2400" dirty="0"/>
              <a:t>차오</a:t>
            </a:r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305170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DABE33-8990-6DB4-39FD-2298D91EEE06}"/>
              </a:ext>
            </a:extLst>
          </p:cNvPr>
          <p:cNvSpPr txBox="1"/>
          <p:nvPr/>
        </p:nvSpPr>
        <p:spPr>
          <a:xfrm>
            <a:off x="794328" y="720436"/>
            <a:ext cx="3973845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2400" dirty="0"/>
              <a:t>안녕하세요</a:t>
            </a:r>
            <a:r>
              <a:rPr lang="es-CL" altLang="ko-KR" sz="2400" dirty="0"/>
              <a:t>?</a:t>
            </a:r>
          </a:p>
          <a:p>
            <a:endParaRPr lang="es-CL" sz="2400" dirty="0"/>
          </a:p>
          <a:p>
            <a:r>
              <a:rPr lang="ko-KR" altLang="es-CL" sz="2400" dirty="0"/>
              <a:t>이름이 뭐예요</a:t>
            </a:r>
            <a:r>
              <a:rPr lang="es-CL" altLang="ko-KR" sz="2400" dirty="0"/>
              <a:t>?</a:t>
            </a:r>
          </a:p>
          <a:p>
            <a:r>
              <a:rPr lang="es-CL" sz="2400" dirty="0"/>
              <a:t>[i-</a:t>
            </a:r>
            <a:r>
              <a:rPr lang="es-CL" sz="2400" dirty="0" err="1"/>
              <a:t>reum</a:t>
            </a:r>
            <a:r>
              <a:rPr lang="es-CL" sz="2400" dirty="0"/>
              <a:t>-i </a:t>
            </a:r>
            <a:r>
              <a:rPr lang="es-CL" sz="2400" dirty="0" err="1"/>
              <a:t>mo</a:t>
            </a:r>
            <a:r>
              <a:rPr lang="es-CL" sz="2400" dirty="0"/>
              <a:t>-ye-yo]</a:t>
            </a:r>
          </a:p>
          <a:p>
            <a:r>
              <a:rPr lang="es-CL" sz="2400" dirty="0"/>
              <a:t>Nombre PS </a:t>
            </a:r>
            <a:r>
              <a:rPr lang="es-CL" sz="2400" dirty="0" err="1"/>
              <a:t>Que,Cual</a:t>
            </a:r>
            <a:r>
              <a:rPr lang="es-CL" sz="2400" dirty="0"/>
              <a:t> Ser</a:t>
            </a:r>
          </a:p>
          <a:p>
            <a:endParaRPr lang="es-CL" sz="2400" dirty="0"/>
          </a:p>
          <a:p>
            <a:r>
              <a:rPr lang="ko-KR" altLang="es-CL" sz="2400" dirty="0"/>
              <a:t>저는 김재희예요</a:t>
            </a:r>
            <a:endParaRPr lang="es-CL" altLang="ko-KR" sz="2400" dirty="0"/>
          </a:p>
          <a:p>
            <a:r>
              <a:rPr lang="es-CL" sz="2400" dirty="0"/>
              <a:t>[YEO-NUEN KIM YEJI YEYO]</a:t>
            </a:r>
          </a:p>
          <a:p>
            <a:r>
              <a:rPr lang="es-CL" sz="2400" dirty="0"/>
              <a:t>Yo(PT) </a:t>
            </a:r>
            <a:r>
              <a:rPr lang="es-CL" sz="2400" dirty="0" err="1"/>
              <a:t>kimjaehee</a:t>
            </a:r>
            <a:r>
              <a:rPr lang="es-CL" sz="2400" dirty="0"/>
              <a:t> ser</a:t>
            </a:r>
          </a:p>
          <a:p>
            <a:endParaRPr lang="es-CL" sz="2400" dirty="0"/>
          </a:p>
          <a:p>
            <a:r>
              <a:rPr lang="ko-KR" altLang="es-CL" sz="2400" dirty="0"/>
              <a:t>제 이름은 김재희예요</a:t>
            </a:r>
            <a:endParaRPr lang="es-CL" altLang="ko-KR" sz="2400" dirty="0"/>
          </a:p>
          <a:p>
            <a:r>
              <a:rPr lang="es-CL" sz="2400" dirty="0"/>
              <a:t>[YE IREUMEUN KIM YEJI YEYO]</a:t>
            </a:r>
          </a:p>
          <a:p>
            <a:r>
              <a:rPr lang="es-CL" sz="2400" dirty="0"/>
              <a:t>Mi nombre PT </a:t>
            </a:r>
            <a:r>
              <a:rPr lang="es-CL" sz="2400" dirty="0" err="1"/>
              <a:t>kimjaehee</a:t>
            </a:r>
            <a:r>
              <a:rPr lang="es-CL" sz="2400" dirty="0"/>
              <a:t> ser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8B972A-B291-5F3A-5256-06B1A3819D51}"/>
              </a:ext>
            </a:extLst>
          </p:cNvPr>
          <p:cNvSpPr txBox="1"/>
          <p:nvPr/>
        </p:nvSpPr>
        <p:spPr>
          <a:xfrm>
            <a:off x="6096000" y="766618"/>
            <a:ext cx="37741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만나서 반갑습니다</a:t>
            </a:r>
            <a:r>
              <a:rPr lang="es-CL" altLang="ko-KR" dirty="0"/>
              <a:t>. </a:t>
            </a:r>
          </a:p>
          <a:p>
            <a:r>
              <a:rPr lang="es-CL" altLang="ko-KR" dirty="0"/>
              <a:t>[MAN-NA-SEO BAN-GAP-SEUM-NI-DA]</a:t>
            </a:r>
          </a:p>
          <a:p>
            <a:r>
              <a:rPr lang="es-CL" dirty="0"/>
              <a:t>Un gusto en </a:t>
            </a:r>
            <a:r>
              <a:rPr lang="es-CL" dirty="0" err="1"/>
              <a:t>concerte</a:t>
            </a:r>
            <a:endParaRPr lang="es-C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4917B0-189B-DC25-50D2-E47A14A67B22}"/>
              </a:ext>
            </a:extLst>
          </p:cNvPr>
          <p:cNvSpPr txBox="1"/>
          <p:nvPr/>
        </p:nvSpPr>
        <p:spPr>
          <a:xfrm>
            <a:off x="6446982" y="2253673"/>
            <a:ext cx="214193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안녕하세요</a:t>
            </a:r>
            <a:r>
              <a:rPr lang="es-CL" altLang="ko-KR" dirty="0"/>
              <a:t>?</a:t>
            </a:r>
          </a:p>
          <a:p>
            <a:r>
              <a:rPr lang="es-CL" dirty="0"/>
              <a:t>Buen </a:t>
            </a:r>
            <a:r>
              <a:rPr lang="es-CL" dirty="0" err="1"/>
              <a:t>dia</a:t>
            </a:r>
            <a:r>
              <a:rPr lang="es-CL" dirty="0"/>
              <a:t>?</a:t>
            </a:r>
          </a:p>
          <a:p>
            <a:r>
              <a:rPr lang="ko-KR" altLang="es-CL" dirty="0"/>
              <a:t>저는 기예르모예요</a:t>
            </a:r>
            <a:endParaRPr lang="es-CL" altLang="ko-KR" dirty="0"/>
          </a:p>
          <a:p>
            <a:endParaRPr lang="es-CL" dirty="0"/>
          </a:p>
          <a:p>
            <a:r>
              <a:rPr lang="ko-KR" altLang="es-CL" dirty="0"/>
              <a:t>만나서 반갑습니다</a:t>
            </a:r>
            <a:r>
              <a:rPr lang="es-CL" altLang="ko-KR" dirty="0"/>
              <a:t>.</a:t>
            </a:r>
            <a:endParaRPr lang="es-C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796199-CBF7-F779-30FC-EAC170B3FD28}"/>
              </a:ext>
            </a:extLst>
          </p:cNvPr>
          <p:cNvSpPr txBox="1"/>
          <p:nvPr/>
        </p:nvSpPr>
        <p:spPr>
          <a:xfrm>
            <a:off x="6382327" y="4027055"/>
            <a:ext cx="3220753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2800" dirty="0"/>
              <a:t>Alex Come Fruta</a:t>
            </a:r>
          </a:p>
          <a:p>
            <a:r>
              <a:rPr lang="es-CL" sz="2800" dirty="0"/>
              <a:t>Alex Fruta Come</a:t>
            </a:r>
          </a:p>
          <a:p>
            <a:r>
              <a:rPr lang="ko-KR" altLang="es-CL" sz="2800" dirty="0"/>
              <a:t>알렉스 포도 먹어요</a:t>
            </a:r>
            <a:endParaRPr lang="es-CL" sz="2800" dirty="0"/>
          </a:p>
          <a:p>
            <a:endParaRPr lang="es-CL" sz="2800" dirty="0"/>
          </a:p>
        </p:txBody>
      </p:sp>
    </p:spTree>
    <p:extLst>
      <p:ext uri="{BB962C8B-B14F-4D97-AF65-F5344CB8AC3E}">
        <p14:creationId xmlns:p14="http://schemas.microsoft.com/office/powerpoint/2010/main" val="592561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8879BD-C450-4132-B9EA-ED49795E518E}"/>
              </a:ext>
            </a:extLst>
          </p:cNvPr>
          <p:cNvSpPr txBox="1"/>
          <p:nvPr/>
        </p:nvSpPr>
        <p:spPr>
          <a:xfrm>
            <a:off x="655782" y="979054"/>
            <a:ext cx="4188583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altLang="ko-KR" sz="3200" dirty="0"/>
              <a:t>‘</a:t>
            </a:r>
            <a:r>
              <a:rPr lang="ko-KR" altLang="es-CL" sz="3200" dirty="0"/>
              <a:t>이다</a:t>
            </a:r>
            <a:r>
              <a:rPr lang="es-CL" altLang="ko-KR" sz="3200" dirty="0"/>
              <a:t>’ = ser</a:t>
            </a:r>
          </a:p>
          <a:p>
            <a:r>
              <a:rPr lang="es-CL" altLang="ko-KR" sz="3200" dirty="0"/>
              <a:t>[IDA]</a:t>
            </a:r>
          </a:p>
          <a:p>
            <a:r>
              <a:rPr lang="ko-KR" altLang="es-CL" sz="3200" dirty="0"/>
              <a:t>예요 </a:t>
            </a:r>
            <a:r>
              <a:rPr lang="es-CL" altLang="ko-KR" sz="3200" dirty="0"/>
              <a:t>= VOCAL </a:t>
            </a:r>
          </a:p>
          <a:p>
            <a:r>
              <a:rPr lang="es-CL" altLang="ko-KR" sz="3200" dirty="0"/>
              <a:t>YEYO</a:t>
            </a:r>
            <a:r>
              <a:rPr lang="ko-KR" altLang="es-CL" sz="3200" dirty="0"/>
              <a:t> </a:t>
            </a:r>
            <a:endParaRPr lang="es-CL" altLang="ko-KR" sz="3200" dirty="0"/>
          </a:p>
          <a:p>
            <a:r>
              <a:rPr lang="ko-KR" altLang="es-CL" sz="3200" dirty="0"/>
              <a:t>이에요</a:t>
            </a:r>
            <a:r>
              <a:rPr lang="es-CL" altLang="ko-KR" sz="3200" dirty="0"/>
              <a:t> = CONSONANTE</a:t>
            </a:r>
          </a:p>
          <a:p>
            <a:r>
              <a:rPr lang="es-CL" sz="3200" dirty="0"/>
              <a:t>IEYO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2F5378-EF73-0949-9786-59C7566C5C14}"/>
              </a:ext>
            </a:extLst>
          </p:cNvPr>
          <p:cNvSpPr txBox="1"/>
          <p:nvPr/>
        </p:nvSpPr>
        <p:spPr>
          <a:xfrm>
            <a:off x="6338244" y="1791854"/>
            <a:ext cx="2837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3200" dirty="0"/>
              <a:t>선생님이에요</a:t>
            </a:r>
            <a:r>
              <a:rPr lang="es-CL" altLang="ko-KR" sz="3200" dirty="0"/>
              <a:t>?</a:t>
            </a:r>
            <a:endParaRPr lang="es-CL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9D89BC-C1DB-80E8-8019-693111B9A28F}"/>
              </a:ext>
            </a:extLst>
          </p:cNvPr>
          <p:cNvSpPr txBox="1"/>
          <p:nvPr/>
        </p:nvSpPr>
        <p:spPr>
          <a:xfrm>
            <a:off x="6188364" y="979054"/>
            <a:ext cx="3137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예요 </a:t>
            </a:r>
            <a:r>
              <a:rPr lang="es-CL" altLang="ko-KR" dirty="0"/>
              <a:t>(v)               </a:t>
            </a:r>
            <a:r>
              <a:rPr lang="ko-KR" altLang="es-CL" dirty="0"/>
              <a:t>이에요</a:t>
            </a:r>
            <a:r>
              <a:rPr lang="es-CL" altLang="ko-KR" dirty="0"/>
              <a:t>© </a:t>
            </a:r>
            <a:r>
              <a:rPr lang="ko-KR" altLang="es-CL" dirty="0"/>
              <a:t>받침</a:t>
            </a:r>
            <a:endParaRPr lang="es-C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7A5ED5-908E-6BE1-E512-5D1345CCA76D}"/>
              </a:ext>
            </a:extLst>
          </p:cNvPr>
          <p:cNvSpPr txBox="1"/>
          <p:nvPr/>
        </p:nvSpPr>
        <p:spPr>
          <a:xfrm>
            <a:off x="6513735" y="2754745"/>
            <a:ext cx="233910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2400" dirty="0"/>
              <a:t>학생이에요</a:t>
            </a:r>
            <a:endParaRPr lang="es-CL" altLang="ko-KR" sz="2400" dirty="0"/>
          </a:p>
          <a:p>
            <a:endParaRPr lang="es-CL" sz="2400" dirty="0"/>
          </a:p>
          <a:p>
            <a:r>
              <a:rPr lang="ko-KR" altLang="es-CL" sz="2400" dirty="0"/>
              <a:t>마리아예요</a:t>
            </a:r>
            <a:endParaRPr lang="es-CL" altLang="ko-KR" sz="2400" dirty="0"/>
          </a:p>
          <a:p>
            <a:endParaRPr lang="es-CL" sz="2400" dirty="0"/>
          </a:p>
          <a:p>
            <a:r>
              <a:rPr lang="ko-KR" altLang="es-CL" sz="2400" dirty="0"/>
              <a:t>인헤보르그예요</a:t>
            </a:r>
            <a:endParaRPr lang="es-CL" altLang="ko-KR" sz="2400" dirty="0"/>
          </a:p>
          <a:p>
            <a:endParaRPr lang="es-CL" sz="2400" dirty="0"/>
          </a:p>
          <a:p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953748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BIENVENIDA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Bienvenida a la Sesión 3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Hola, querida estudiante. Después de 2 sesiones leyendo Hangul, hoy aprendemos a HABLAR.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del día: que al final de los 90 minutos puedas presentarte completamente en coreano — decir tu nombre, tu país, tu profesión, y saludar/despedirte como un nativo.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Gramática nueva: 은/는 (partícula de tema), 이에요/예요 (ser), 이/가 아니에요 (no ser).</a:t>
            </a:r>
            <a:endParaRPr lang="en-US" sz="1600" dirty="0"/>
          </a:p>
        </p:txBody>
      </p:sp>
      <p:pic>
        <p:nvPicPr>
          <p:cNvPr id="5" name="Image 0" descr="/sessions/sleepy-zen-cray/mnt/outputs/deck_assets/sello_relleno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274320"/>
            <a:ext cx="502920" cy="502920"/>
          </a:xfrm>
          <a:prstGeom prst="rect">
            <a:avLst/>
          </a:prstGeom>
        </p:spPr>
      </p:pic>
      <p:pic>
        <p:nvPicPr>
          <p:cNvPr id="6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3C726F-AEC6-E6DB-CDCC-388CC877A2FC}"/>
              </a:ext>
            </a:extLst>
          </p:cNvPr>
          <p:cNvSpPr txBox="1"/>
          <p:nvPr/>
        </p:nvSpPr>
        <p:spPr>
          <a:xfrm>
            <a:off x="1736436" y="5080000"/>
            <a:ext cx="1291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조사 </a:t>
            </a:r>
            <a:r>
              <a:rPr lang="es-CL" altLang="ko-KR" dirty="0"/>
              <a:t>= </a:t>
            </a:r>
            <a:r>
              <a:rPr lang="es-CL" altLang="ko-KR" dirty="0" err="1"/>
              <a:t>yosa</a:t>
            </a:r>
            <a:endParaRPr lang="es-CL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§3.1 · CULTURA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saludan los coreanos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Corea NO se dan la mano. NO se besan. Se INCLINAN.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profundidad de la inclinación cambia según: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QUIÉN saludás (jefe vs amigo)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SITUACIÓN (formal vs informal)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EDAD del otro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inclinación más común es de 15-30°. A un superior, hasta 45°. En entrevistas o ceremonias, hasta 90°.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jeol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Inclinación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EAA5DD-F487-780F-167A-E504B6886575}"/>
              </a:ext>
            </a:extLst>
          </p:cNvPr>
          <p:cNvSpPr txBox="1"/>
          <p:nvPr/>
        </p:nvSpPr>
        <p:spPr>
          <a:xfrm>
            <a:off x="5828145" y="91440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덕담</a:t>
            </a:r>
            <a:endParaRPr lang="es-CL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§3.2 · SALUDOS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Saludos por contexto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Hola (encontrar)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가세요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Adiós (al que se va)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계세요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Adiós (al que se queda)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(formal)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고마워요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(informal)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죄송합니다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Perdón (formal)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미안해요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Perdón (informal)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만나서 반갑습니다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 gusto</a:t>
            </a:r>
            <a:endParaRPr lang="en-US" sz="1200" dirty="0"/>
          </a:p>
        </p:txBody>
      </p:sp>
      <p:pic>
        <p:nvPicPr>
          <p:cNvPr id="28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9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BBBF99-10E3-B879-6CBA-468261333A8C}"/>
              </a:ext>
            </a:extLst>
          </p:cNvPr>
          <p:cNvSpPr txBox="1"/>
          <p:nvPr/>
        </p:nvSpPr>
        <p:spPr>
          <a:xfrm>
            <a:off x="9441613" y="2357366"/>
            <a:ext cx="2129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[GAM SA JAM NI DA]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25D6268-A04C-47E7-D20E-11258B10D4EF}"/>
              </a:ext>
            </a:extLst>
          </p:cNvPr>
          <p:cNvSpPr txBox="1"/>
          <p:nvPr/>
        </p:nvSpPr>
        <p:spPr>
          <a:xfrm>
            <a:off x="1144803" y="3769744"/>
            <a:ext cx="1550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[GOMAWOYO]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33E698-08BD-E096-0834-F4D76CCBB9BA}"/>
              </a:ext>
            </a:extLst>
          </p:cNvPr>
          <p:cNvSpPr txBox="1"/>
          <p:nvPr/>
        </p:nvSpPr>
        <p:spPr>
          <a:xfrm>
            <a:off x="3851058" y="3769744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YESONGJAMNIDA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67068F6-D775-05D2-01E8-5A6EECACF009}"/>
              </a:ext>
            </a:extLst>
          </p:cNvPr>
          <p:cNvSpPr txBox="1"/>
          <p:nvPr/>
        </p:nvSpPr>
        <p:spPr>
          <a:xfrm>
            <a:off x="7026779" y="3761815"/>
            <a:ext cx="1235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MIANHEYO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A7EB93-1C41-D64F-0D48-53FEB4BA387C}"/>
              </a:ext>
            </a:extLst>
          </p:cNvPr>
          <p:cNvSpPr txBox="1"/>
          <p:nvPr/>
        </p:nvSpPr>
        <p:spPr>
          <a:xfrm>
            <a:off x="8900561" y="3761815"/>
            <a:ext cx="3358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MANNASEON BANGAPSEUMNIDA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3F77BD6-BAD8-ED87-1494-9AD50CE326DE}"/>
              </a:ext>
            </a:extLst>
          </p:cNvPr>
          <p:cNvSpPr txBox="1"/>
          <p:nvPr/>
        </p:nvSpPr>
        <p:spPr>
          <a:xfrm>
            <a:off x="9488229" y="832609"/>
            <a:ext cx="10182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합니다</a:t>
            </a:r>
            <a:endParaRPr lang="es-CL" altLang="ko-KR" dirty="0"/>
          </a:p>
          <a:p>
            <a:r>
              <a:rPr lang="es-CL" dirty="0"/>
              <a:t>[</a:t>
            </a:r>
            <a:r>
              <a:rPr lang="ko-KR" altLang="es-CL" dirty="0"/>
              <a:t>함니다</a:t>
            </a:r>
            <a:r>
              <a:rPr lang="es-CL" altLang="ko-KR" dirty="0"/>
              <a:t>]</a:t>
            </a:r>
            <a:endParaRPr lang="es-CL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AA906D-18B7-4A3C-4593-5F9AB72508FE}"/>
              </a:ext>
            </a:extLst>
          </p:cNvPr>
          <p:cNvSpPr txBox="1"/>
          <p:nvPr/>
        </p:nvSpPr>
        <p:spPr>
          <a:xfrm>
            <a:off x="1600200" y="4838700"/>
            <a:ext cx="36999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고마워 </a:t>
            </a:r>
            <a:r>
              <a:rPr lang="es-CL" altLang="ko-KR" dirty="0"/>
              <a:t>(INFORMAL)</a:t>
            </a:r>
            <a:br>
              <a:rPr lang="es-CL" altLang="ko-KR" dirty="0"/>
            </a:br>
            <a:r>
              <a:rPr lang="ko-KR" altLang="es-CL" dirty="0"/>
              <a:t>고마워</a:t>
            </a:r>
            <a:r>
              <a:rPr lang="ko-KR" altLang="es-CL" dirty="0">
                <a:highlight>
                  <a:srgbClr val="FFFF00"/>
                </a:highlight>
              </a:rPr>
              <a:t>요</a:t>
            </a:r>
            <a:r>
              <a:rPr lang="ko-KR" altLang="es-CL" dirty="0"/>
              <a:t> </a:t>
            </a:r>
            <a:r>
              <a:rPr lang="es-CL" altLang="ko-KR" dirty="0"/>
              <a:t>(SEMI-FORMAL)</a:t>
            </a:r>
          </a:p>
          <a:p>
            <a:r>
              <a:rPr lang="ko-KR" altLang="es-CL" dirty="0"/>
              <a:t>고맙</a:t>
            </a:r>
            <a:r>
              <a:rPr lang="ko-KR" altLang="es-CL" dirty="0">
                <a:highlight>
                  <a:srgbClr val="FFFF00"/>
                </a:highlight>
              </a:rPr>
              <a:t>습니다</a:t>
            </a:r>
            <a:r>
              <a:rPr lang="ko-KR" altLang="es-CL" dirty="0"/>
              <a:t> </a:t>
            </a:r>
            <a:r>
              <a:rPr lang="es-CL" altLang="ko-KR" dirty="0"/>
              <a:t>(FORMAL PROFESIONAL)</a:t>
            </a:r>
            <a:endParaRPr lang="es-CL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§3.2 · SALUDOS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Saludos a la mesa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먹겠습니다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comer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먹었습니다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comer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맛있어요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rico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건배!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¡Salud!</a:t>
            </a:r>
            <a:endParaRPr lang="en-US" sz="1200" dirty="0"/>
          </a:p>
        </p:txBody>
      </p:sp>
      <p:pic>
        <p:nvPicPr>
          <p:cNvPr id="16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7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69ABBF-A4F2-548C-25F3-06BA28863740}"/>
              </a:ext>
            </a:extLst>
          </p:cNvPr>
          <p:cNvSpPr txBox="1"/>
          <p:nvPr/>
        </p:nvSpPr>
        <p:spPr>
          <a:xfrm>
            <a:off x="634599" y="2316218"/>
            <a:ext cx="2571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[YAL MUKGETSEUMNIDA]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809FE2-EBE2-E091-3106-CCECB7B7817C}"/>
              </a:ext>
            </a:extLst>
          </p:cNvPr>
          <p:cNvSpPr txBox="1"/>
          <p:nvPr/>
        </p:nvSpPr>
        <p:spPr>
          <a:xfrm>
            <a:off x="1257300" y="3246120"/>
            <a:ext cx="15756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먹다 </a:t>
            </a:r>
            <a:r>
              <a:rPr lang="es-CL" altLang="ko-KR" dirty="0"/>
              <a:t>= COMER</a:t>
            </a:r>
          </a:p>
          <a:p>
            <a:r>
              <a:rPr lang="ko-KR" altLang="es-CL" dirty="0"/>
              <a:t>잘 </a:t>
            </a:r>
            <a:r>
              <a:rPr lang="es-CL" altLang="ko-KR" dirty="0"/>
              <a:t>= BIEN</a:t>
            </a:r>
            <a:endParaRPr lang="es-CL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31A913-AE2B-5397-F993-4BB6A189A811}"/>
              </a:ext>
            </a:extLst>
          </p:cNvPr>
          <p:cNvSpPr txBox="1"/>
          <p:nvPr/>
        </p:nvSpPr>
        <p:spPr>
          <a:xfrm>
            <a:off x="3614316" y="2357366"/>
            <a:ext cx="2466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[YAL MUKUTSEUMNIDA]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3E7F11-2308-727C-FBA8-BAF785CA762D}"/>
              </a:ext>
            </a:extLst>
          </p:cNvPr>
          <p:cNvSpPr txBox="1"/>
          <p:nvPr/>
        </p:nvSpPr>
        <p:spPr>
          <a:xfrm>
            <a:off x="6817138" y="2357366"/>
            <a:ext cx="1654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[MAT ITSEOYIO]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916E8D-68F7-0BB6-B032-67CADD3F40AD}"/>
              </a:ext>
            </a:extLst>
          </p:cNvPr>
          <p:cNvSpPr txBox="1"/>
          <p:nvPr/>
        </p:nvSpPr>
        <p:spPr>
          <a:xfrm>
            <a:off x="6590973" y="3329493"/>
            <a:ext cx="24236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맛 </a:t>
            </a:r>
            <a:r>
              <a:rPr lang="es-CL" altLang="ko-KR" dirty="0"/>
              <a:t>= SABOR</a:t>
            </a:r>
          </a:p>
          <a:p>
            <a:r>
              <a:rPr lang="ko-KR" altLang="es-CL" dirty="0"/>
              <a:t>있다 </a:t>
            </a:r>
            <a:r>
              <a:rPr lang="es-CL" altLang="ko-KR" dirty="0"/>
              <a:t>= ESTAR/HABER</a:t>
            </a:r>
          </a:p>
          <a:p>
            <a:r>
              <a:rPr lang="ko-KR" altLang="es-CL" dirty="0"/>
              <a:t>있어요 </a:t>
            </a:r>
            <a:r>
              <a:rPr lang="es-CL" altLang="ko-KR" dirty="0"/>
              <a:t>(SEMI-FORMAL)</a:t>
            </a:r>
            <a:endParaRPr lang="es-CL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EE4CC4-AD9A-839F-A09F-C3AA37C835A2}"/>
              </a:ext>
            </a:extLst>
          </p:cNvPr>
          <p:cNvSpPr txBox="1"/>
          <p:nvPr/>
        </p:nvSpPr>
        <p:spPr>
          <a:xfrm>
            <a:off x="9977304" y="2316218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[GUN BE]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§3.3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조사 y por qué existe?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1097280"/>
          </a:xfrm>
          <a:prstGeom prst="roundRect">
            <a:avLst>
              <a:gd name="adj" fmla="val 8333"/>
            </a:avLst>
          </a:prstGeom>
          <a:solidFill>
            <a:srgbClr val="E8E5F8"/>
          </a:solidFill>
          <a:ln w="12700">
            <a:solidFill>
              <a:srgbClr val="C7C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조사 son partículas que se pegan al final de un sustantivo para decir qué función cumple en la oración: quién hace la acción, de qué hablamos, qué se recibe. En español eso lo hacen el orden de palabras, las preposiciones y las conjugaciones — en coreano, lo hacen ellas.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partículas (confuso) → con partículas (claro):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Juan María 책 주다 → ¿quién da? ¿quién recibe? (</a:t>
            </a:r>
            <a:r>
              <a:rPr lang="en-US" sz="18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confuso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Juan</a:t>
            </a:r>
            <a:r>
              <a:rPr lang="en-US" sz="1800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María</a:t>
            </a:r>
            <a:r>
              <a:rPr lang="en-US" sz="1800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책</a:t>
            </a:r>
            <a:r>
              <a:rPr lang="en-US" sz="1800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줘요. → Juan le da el libro a María (claro)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dirty="0"/>
              <a:t>Juan(P/S) Maria(a) </a:t>
            </a:r>
            <a:r>
              <a:rPr lang="en-US" dirty="0" err="1"/>
              <a:t>libro</a:t>
            </a:r>
            <a:r>
              <a:rPr lang="en-US" dirty="0"/>
              <a:t>(PO) </a:t>
            </a:r>
            <a:r>
              <a:rPr lang="en-US" dirty="0" err="1"/>
              <a:t>dar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r>
              <a:rPr lang="en-US" sz="1800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사람</a:t>
            </a:r>
            <a:r>
              <a:rPr lang="en-US" sz="1800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물어요. = 사람</a:t>
            </a:r>
            <a:r>
              <a:rPr lang="en-US" sz="1800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개</a:t>
            </a:r>
            <a:r>
              <a:rPr lang="en-US" sz="1800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물어요. → el perro muerde a la persona (en los dos casos)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/>
              <a:t>Perro(PS) persona(PO) </a:t>
            </a:r>
            <a:r>
              <a:rPr lang="en-US" sz="1800" dirty="0" err="1"/>
              <a:t>morder</a:t>
            </a:r>
            <a:r>
              <a:rPr lang="en-US" sz="1800" dirty="0"/>
              <a:t>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 orden puede cambiar. La partícula dice quién hace qué — no la posición.</a:t>
            </a:r>
            <a:endParaRPr lang="en-US" sz="1800" dirty="0"/>
          </a:p>
        </p:txBody>
      </p:sp>
      <p:pic>
        <p:nvPicPr>
          <p:cNvPr id="8" name="Image 0" descr="/sessions/sleepy-zen-cray/mnt/outputs/deck_assets/flor_01.png"/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11338560" y="5669280"/>
            <a:ext cx="640080" cy="640080"/>
          </a:xfrm>
          <a:prstGeom prst="rect">
            <a:avLst/>
          </a:prstGeom>
        </p:spPr>
      </p:pic>
      <p:pic>
        <p:nvPicPr>
          <p:cNvPr id="9" name="Image 1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2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§3.3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조사 responde una pregunta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이/가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¿Quién? (sujeto)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은/는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qué hablamos? (tema)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을/를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recibe? (objeto)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 dónde? ¿Cuándo?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ocurre? (lugar)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/ 한테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 quién? (destinatario)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와/과·하고·랑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¿Con quién? (compañía)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¿También? (agregar)</a:t>
            </a:r>
            <a:endParaRPr lang="en-US" sz="1200" dirty="0"/>
          </a:p>
        </p:txBody>
      </p:sp>
      <p:pic>
        <p:nvPicPr>
          <p:cNvPr id="28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9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4D6478-4E29-13C6-583E-FB7A62A97EEE}"/>
              </a:ext>
            </a:extLst>
          </p:cNvPr>
          <p:cNvSpPr txBox="1"/>
          <p:nvPr/>
        </p:nvSpPr>
        <p:spPr>
          <a:xfrm>
            <a:off x="1614707" y="2382012"/>
            <a:ext cx="611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I/GA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7456E6-69DE-59F4-11B9-C4C83A7F9353}"/>
              </a:ext>
            </a:extLst>
          </p:cNvPr>
          <p:cNvSpPr txBox="1"/>
          <p:nvPr/>
        </p:nvSpPr>
        <p:spPr>
          <a:xfrm>
            <a:off x="4161789" y="2370296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EUN/NEUN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BA2D1A-FF48-AA59-D684-7BF7CEB286B9}"/>
              </a:ext>
            </a:extLst>
          </p:cNvPr>
          <p:cNvSpPr txBox="1"/>
          <p:nvPr/>
        </p:nvSpPr>
        <p:spPr>
          <a:xfrm>
            <a:off x="7095489" y="235279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EUL/REUL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4357D5B-2036-AEB6-5C07-790E89DC8ECC}"/>
              </a:ext>
            </a:extLst>
          </p:cNvPr>
          <p:cNvSpPr txBox="1"/>
          <p:nvPr/>
        </p:nvSpPr>
        <p:spPr>
          <a:xfrm>
            <a:off x="10105389" y="2421374"/>
            <a:ext cx="944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E (A,EN)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F6EB23F-12E5-271F-073F-499CD62A8F5C}"/>
              </a:ext>
            </a:extLst>
          </p:cNvPr>
          <p:cNvSpPr txBox="1"/>
          <p:nvPr/>
        </p:nvSpPr>
        <p:spPr>
          <a:xfrm>
            <a:off x="1447962" y="3774686"/>
            <a:ext cx="1116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ESEO (EN)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A31EE2-FE22-BA4E-2C25-570502378671}"/>
              </a:ext>
            </a:extLst>
          </p:cNvPr>
          <p:cNvSpPr txBox="1"/>
          <p:nvPr/>
        </p:nvSpPr>
        <p:spPr>
          <a:xfrm>
            <a:off x="3910377" y="3757398"/>
            <a:ext cx="1598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EGE/ JANTE (A)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F740EB-A3AA-A371-E59A-81DE8B928769}"/>
              </a:ext>
            </a:extLst>
          </p:cNvPr>
          <p:cNvSpPr txBox="1"/>
          <p:nvPr/>
        </p:nvSpPr>
        <p:spPr>
          <a:xfrm>
            <a:off x="6653577" y="3792974"/>
            <a:ext cx="2375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WA/GWA JAGO / RANG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A0F67C-BE59-6298-3A40-58DBBF573B6F}"/>
              </a:ext>
            </a:extLst>
          </p:cNvPr>
          <p:cNvSpPr txBox="1"/>
          <p:nvPr/>
        </p:nvSpPr>
        <p:spPr>
          <a:xfrm>
            <a:off x="10337857" y="3792974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47F81A-7CBA-DA44-99F1-08E5075B6948}"/>
              </a:ext>
            </a:extLst>
          </p:cNvPr>
          <p:cNvSpPr txBox="1"/>
          <p:nvPr/>
        </p:nvSpPr>
        <p:spPr>
          <a:xfrm>
            <a:off x="1485900" y="1447800"/>
            <a:ext cx="3290709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3200" dirty="0"/>
              <a:t>이름</a:t>
            </a:r>
            <a:r>
              <a:rPr lang="ko-KR" altLang="es-CL" sz="3200" dirty="0">
                <a:highlight>
                  <a:srgbClr val="FFFF00"/>
                </a:highlight>
              </a:rPr>
              <a:t>이</a:t>
            </a:r>
            <a:r>
              <a:rPr lang="ko-KR" altLang="es-CL" sz="3200" dirty="0"/>
              <a:t>   뭐예요</a:t>
            </a:r>
            <a:r>
              <a:rPr lang="es-CL" altLang="ko-KR" sz="3200" dirty="0"/>
              <a:t>?</a:t>
            </a:r>
          </a:p>
          <a:p>
            <a:r>
              <a:rPr lang="es-CL" sz="3200" dirty="0"/>
              <a:t>Nombre PS Que es</a:t>
            </a:r>
          </a:p>
          <a:p>
            <a:r>
              <a:rPr lang="ko-KR" altLang="es-CL" sz="3200" dirty="0"/>
              <a:t>저</a:t>
            </a:r>
            <a:r>
              <a:rPr lang="ko-KR" altLang="es-CL" sz="3200" dirty="0">
                <a:highlight>
                  <a:srgbClr val="FFFF00"/>
                </a:highlight>
              </a:rPr>
              <a:t>는</a:t>
            </a:r>
            <a:r>
              <a:rPr lang="ko-KR" altLang="es-CL" sz="3200" dirty="0"/>
              <a:t> 하신타예요</a:t>
            </a:r>
            <a:endParaRPr lang="es-CL" altLang="ko-KR" sz="3200" dirty="0"/>
          </a:p>
          <a:p>
            <a:r>
              <a:rPr lang="es-CL" sz="3200" dirty="0"/>
              <a:t>Yo PT Jacinta soy</a:t>
            </a:r>
          </a:p>
        </p:txBody>
      </p:sp>
    </p:spTree>
    <p:extLst>
      <p:ext uri="{BB962C8B-B14F-4D97-AF65-F5344CB8AC3E}">
        <p14:creationId xmlns:p14="http://schemas.microsoft.com/office/powerpoint/2010/main" val="1564082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§3.3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은/는 · Partícula de TEMA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은/는 se pone después del NOMBRE de lo que vas a hablar. Es el TEMA de tu frase.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español no existe esta partícula — es una particularidad del coreano y del japonés.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simple: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 la palabra termina en 받침 (consonante final): + 은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 la palabra termina en vocal (sin 받침): + 는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/ 는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(eun / neun)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· TOPIC marker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7F8084-90DA-5F14-1424-B67AFAE7EFF7}"/>
              </a:ext>
            </a:extLst>
          </p:cNvPr>
          <p:cNvSpPr txBox="1"/>
          <p:nvPr/>
        </p:nvSpPr>
        <p:spPr>
          <a:xfrm>
            <a:off x="7795260" y="2156460"/>
            <a:ext cx="309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>
                <a:solidFill>
                  <a:schemeClr val="bg1"/>
                </a:solidFill>
              </a:rPr>
              <a:t>받침               </a:t>
            </a:r>
            <a:r>
              <a:rPr lang="es-CL" altLang="ko-KR" dirty="0">
                <a:solidFill>
                  <a:schemeClr val="bg1"/>
                </a:solidFill>
              </a:rPr>
              <a:t>/                    Vocal</a:t>
            </a:r>
            <a:endParaRPr lang="es-CL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§3.3 · DRILLING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Practicá con nombres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Repitan cada nombre con su partícula 은/는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04288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마리아는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3185160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 batchim)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53912" y="2194560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53912" y="2304288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마틴은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153912" y="3185160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 batchim ㄴ)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837432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947160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호세는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48640" y="4828032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 batchim)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53912" y="3837432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53912" y="3947160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카르멘은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153912" y="4828032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 batchim ㄴ)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480304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590032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김재희는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548640" y="6470904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 batchim)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53912" y="5480304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53912" y="5590032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디에고는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153912" y="6470904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 batchim)</a:t>
            </a:r>
            <a:endParaRPr lang="en-US" sz="1400" dirty="0"/>
          </a:p>
        </p:txBody>
      </p:sp>
      <p:pic>
        <p:nvPicPr>
          <p:cNvPr id="23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4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975806-DF62-BCDE-FE56-07EC319637CD}"/>
              </a:ext>
            </a:extLst>
          </p:cNvPr>
          <p:cNvSpPr txBox="1"/>
          <p:nvPr/>
        </p:nvSpPr>
        <p:spPr>
          <a:xfrm>
            <a:off x="3139440" y="1850874"/>
            <a:ext cx="10242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Vocal  </a:t>
            </a:r>
            <a:r>
              <a:rPr lang="ko-KR" altLang="es-CL" dirty="0"/>
              <a:t>는</a:t>
            </a:r>
            <a:endParaRPr lang="es-CL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C0F4634-EA24-B6A0-DBB8-4AFB2DDD02C1}"/>
              </a:ext>
            </a:extLst>
          </p:cNvPr>
          <p:cNvSpPr txBox="1"/>
          <p:nvPr/>
        </p:nvSpPr>
        <p:spPr>
          <a:xfrm>
            <a:off x="8229600" y="1666208"/>
            <a:ext cx="1981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받침 </a:t>
            </a:r>
            <a:r>
              <a:rPr lang="es-CL" altLang="ko-KR" dirty="0"/>
              <a:t>Cosonante </a:t>
            </a:r>
            <a:r>
              <a:rPr lang="ko-KR" altLang="es-CL" dirty="0"/>
              <a:t>은</a:t>
            </a:r>
            <a:endParaRPr lang="es-CL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§3.3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이/가 · Partícula de SUJETO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1638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이/가 marca quién hace la acción o de quién se predica algo. Responde "¿quién?" y suele introducir información NUEVA.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 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누구 </a:t>
            </a:r>
            <a:r>
              <a:rPr lang="es-CL" altLang="ko-KR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quien?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왔어요 </a:t>
            </a:r>
            <a:r>
              <a:rPr lang="es-CL" altLang="ko-KR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venir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왔어요</a:t>
            </a:r>
            <a:r>
              <a:rPr lang="es-CL" altLang="ko-KR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Quien vino? </a:t>
            </a:r>
            <a:endParaRPr lang="en-US" sz="1400" dirty="0">
              <a:solidFill>
                <a:srgbClr val="1A1A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</a:t>
            </a:r>
            <a:r>
              <a:rPr lang="en-US" sz="1400" dirty="0" err="1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이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왔어요 (el estudiante llegó) 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(PS)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venir</a:t>
            </a:r>
            <a:endParaRPr lang="en-US" sz="1400" dirty="0">
              <a:solidFill>
                <a:srgbClr val="1A1A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자요</a:t>
            </a:r>
            <a:r>
              <a:rPr lang="es-CL" altLang="ko-KR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자요 </a:t>
            </a:r>
            <a:r>
              <a:rPr lang="es-CL" altLang="ko-KR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dormir</a:t>
            </a:r>
            <a:endParaRPr lang="en-US" sz="1400" dirty="0">
              <a:solidFill>
                <a:srgbClr val="1A1A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고양이가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자요 (el gato duerme).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s-CL" sz="1400" dirty="0"/>
              <a:t>Gato(PS) duerme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simple: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 la palabra termina en 받침 (consonante final): + 이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 la palabra termina en vocal (sin 받침): + 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/ 가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 / ga)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Sujeto · SUBJECT marker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4A6784-C229-42B9-E230-27BEA475DBA6}"/>
              </a:ext>
            </a:extLst>
          </p:cNvPr>
          <p:cNvSpPr txBox="1"/>
          <p:nvPr/>
        </p:nvSpPr>
        <p:spPr>
          <a:xfrm>
            <a:off x="7680960" y="2186940"/>
            <a:ext cx="2791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 err="1"/>
              <a:t>Batchim</a:t>
            </a:r>
            <a:r>
              <a:rPr lang="es-CL" dirty="0"/>
              <a:t>               /         vocal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§3.3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은/는 vs 이/가 — el concepto más difícil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1097280"/>
          </a:xfrm>
          <a:prstGeom prst="roundRect">
            <a:avLst>
              <a:gd name="adj" fmla="val 8333"/>
            </a:avLst>
          </a:prstGeom>
          <a:solidFill>
            <a:srgbClr val="E8E5F8"/>
          </a:solidFill>
          <a:ln w="12700">
            <a:solidFill>
              <a:srgbClr val="C7C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español no existe esta diferencia — por eso es la duda más común del A1.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72440" y="2834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Compará: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2440" y="329184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</a:t>
            </a:r>
            <a:r>
              <a:rPr lang="en-US" sz="1800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>
                <a:solidFill>
                  <a:srgbClr val="1A1A2E"/>
                </a:solidFill>
                <a:highlight>
                  <a:srgbClr val="00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이에요. → tema, sin énfasis ("en cuanto a mí, soy estudiante")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 err="1"/>
              <a:t>Yo</a:t>
            </a:r>
            <a:r>
              <a:rPr lang="en-US" dirty="0" err="1"/>
              <a:t>PT</a:t>
            </a:r>
            <a:r>
              <a:rPr lang="en-US" dirty="0"/>
              <a:t>   </a:t>
            </a:r>
            <a:r>
              <a:rPr lang="en-US" dirty="0" err="1"/>
              <a:t>estudiante</a:t>
            </a:r>
            <a:r>
              <a:rPr lang="en-US" dirty="0"/>
              <a:t> soy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s-CL" sz="1800" dirty="0"/>
              <a:t>누가 학생이에요</a:t>
            </a:r>
            <a:r>
              <a:rPr lang="es-CL" altLang="ko-KR" sz="1800" dirty="0"/>
              <a:t>? 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</a:t>
            </a:r>
            <a:r>
              <a:rPr lang="en-US" sz="1800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학생이에요. → sujeto, con énfasis ("yo soy — y no otro")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 err="1"/>
              <a:t>MiPS</a:t>
            </a:r>
            <a:r>
              <a:rPr lang="en-US" sz="1800" dirty="0"/>
              <a:t> </a:t>
            </a:r>
            <a:r>
              <a:rPr lang="en-US" sz="1800" dirty="0" err="1"/>
              <a:t>esutdiante</a:t>
            </a:r>
            <a:r>
              <a:rPr lang="en-US" sz="1800" dirty="0"/>
              <a:t> soy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highlight>
                  <a:srgbClr val="00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고양이</a:t>
            </a:r>
            <a:r>
              <a:rPr lang="en-US" sz="1800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귀여워요. → ESE gato es el lindo (identificás uno)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고양이</a:t>
            </a:r>
            <a:r>
              <a:rPr lang="en-US" sz="1800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>
                <a:solidFill>
                  <a:srgbClr val="1A1A2E"/>
                </a:solidFill>
                <a:highlight>
                  <a:srgbClr val="00FF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귀여워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요. → los gatos, en general, son tiernos (hablás del tema)</a:t>
            </a:r>
            <a:endParaRPr lang="en-US" sz="1800" dirty="0"/>
          </a:p>
        </p:txBody>
      </p:sp>
      <p:pic>
        <p:nvPicPr>
          <p:cNvPr id="8" name="Image 0" descr="/sessions/sleepy-zen-cray/mnt/outputs/deck_assets/flor_01.png"/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11338560" y="5669280"/>
            <a:ext cx="640080" cy="640080"/>
          </a:xfrm>
          <a:prstGeom prst="rect">
            <a:avLst/>
          </a:prstGeom>
        </p:spPr>
      </p:pic>
      <p:pic>
        <p:nvPicPr>
          <p:cNvPr id="9" name="Image 1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2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§3.3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을/를 · Partícula de OBJETO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145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을/를 marca el objeto que recibe la acción del verbo: qué comés, qué ves, qué comprás.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simple: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Sustantivo con 받침 (consonante final): + 을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Sustantivo sin 받침 (vocal): + 를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en español solo marcamos objetos de persona ("veo A Juan"). En coreano se marca TODO objeto, sea persona o cosa.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/ 를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(eul / reul)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 · OBJECT marker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5D5830-9D9A-65F9-BE19-972547125E1E}"/>
              </a:ext>
            </a:extLst>
          </p:cNvPr>
          <p:cNvSpPr txBox="1"/>
          <p:nvPr/>
        </p:nvSpPr>
        <p:spPr>
          <a:xfrm>
            <a:off x="3699132" y="4564380"/>
            <a:ext cx="210730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과자</a:t>
            </a:r>
            <a:r>
              <a:rPr lang="ko-KR" altLang="es-CL" dirty="0">
                <a:highlight>
                  <a:srgbClr val="FFFF00"/>
                </a:highlight>
              </a:rPr>
              <a:t>를</a:t>
            </a:r>
            <a:r>
              <a:rPr lang="ko-KR" altLang="es-CL" dirty="0"/>
              <a:t> 먹어요</a:t>
            </a:r>
            <a:endParaRPr lang="es-CL" altLang="ko-KR" dirty="0"/>
          </a:p>
          <a:p>
            <a:r>
              <a:rPr lang="es-CL" altLang="ko-KR" dirty="0"/>
              <a:t>Galleta(PO) comer</a:t>
            </a:r>
          </a:p>
          <a:p>
            <a:r>
              <a:rPr lang="ko-KR" altLang="es-CL" dirty="0"/>
              <a:t>우유</a:t>
            </a:r>
            <a:r>
              <a:rPr lang="ko-KR" altLang="es-CL" dirty="0">
                <a:highlight>
                  <a:srgbClr val="FFFF00"/>
                </a:highlight>
              </a:rPr>
              <a:t>를</a:t>
            </a:r>
            <a:r>
              <a:rPr lang="ko-KR" altLang="es-CL" dirty="0"/>
              <a:t> 마셔요</a:t>
            </a:r>
            <a:endParaRPr lang="es-CL" altLang="ko-KR" dirty="0"/>
          </a:p>
          <a:p>
            <a:r>
              <a:rPr lang="es-CL" altLang="ko-KR" dirty="0"/>
              <a:t>Leche(PO) beber</a:t>
            </a:r>
          </a:p>
          <a:p>
            <a:r>
              <a:rPr lang="ko-KR" altLang="es-CL" dirty="0"/>
              <a:t>사과</a:t>
            </a:r>
            <a:r>
              <a:rPr lang="ko-KR" altLang="es-CL" dirty="0">
                <a:highlight>
                  <a:srgbClr val="FFFF00"/>
                </a:highlight>
              </a:rPr>
              <a:t>를</a:t>
            </a:r>
            <a:r>
              <a:rPr lang="ko-KR" altLang="es-CL" dirty="0"/>
              <a:t> 먹어요</a:t>
            </a:r>
            <a:endParaRPr lang="es-CL" altLang="ko-KR" dirty="0"/>
          </a:p>
          <a:p>
            <a:r>
              <a:rPr lang="es-CL" altLang="ko-KR" dirty="0"/>
              <a:t>Manzana(PO) comer</a:t>
            </a:r>
          </a:p>
          <a:p>
            <a:endParaRPr lang="es-C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D1AE7F-0562-8AB9-1323-A397DB93587C}"/>
              </a:ext>
            </a:extLst>
          </p:cNvPr>
          <p:cNvSpPr txBox="1"/>
          <p:nvPr/>
        </p:nvSpPr>
        <p:spPr>
          <a:xfrm>
            <a:off x="8526780" y="2346960"/>
            <a:ext cx="1620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>
                <a:solidFill>
                  <a:schemeClr val="bg1"/>
                </a:solidFill>
              </a:rPr>
              <a:t>받침 </a:t>
            </a:r>
            <a:r>
              <a:rPr lang="es-CL" altLang="ko-KR" dirty="0">
                <a:solidFill>
                  <a:schemeClr val="bg1"/>
                </a:solidFill>
              </a:rPr>
              <a:t>/ sin </a:t>
            </a:r>
            <a:r>
              <a:rPr lang="ko-KR" altLang="es-CL" dirty="0">
                <a:solidFill>
                  <a:schemeClr val="bg1"/>
                </a:solidFill>
              </a:rPr>
              <a:t>받침</a:t>
            </a:r>
            <a:endParaRPr lang="es-CL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97E377-0CF5-7020-285D-F36DCA3DAC99}"/>
              </a:ext>
            </a:extLst>
          </p:cNvPr>
          <p:cNvSpPr txBox="1"/>
          <p:nvPr/>
        </p:nvSpPr>
        <p:spPr>
          <a:xfrm flipH="1">
            <a:off x="3284220" y="1584961"/>
            <a:ext cx="59283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s-CL" dirty="0"/>
              <a:t>받침      </a:t>
            </a:r>
            <a:r>
              <a:rPr lang="es-CL" altLang="ko-KR" dirty="0"/>
              <a:t>/</a:t>
            </a:r>
            <a:r>
              <a:rPr lang="ko-KR" altLang="es-CL" dirty="0"/>
              <a:t>       </a:t>
            </a:r>
            <a:r>
              <a:rPr lang="es-CL" altLang="ko-KR" dirty="0"/>
              <a:t>Sin </a:t>
            </a:r>
            <a:r>
              <a:rPr lang="ko-KR" altLang="es-CL" dirty="0"/>
              <a:t>받침</a:t>
            </a:r>
            <a:endParaRPr lang="es-CL" altLang="ko-KR" dirty="0"/>
          </a:p>
          <a:p>
            <a:r>
              <a:rPr lang="ko-KR" altLang="es-CL" dirty="0"/>
              <a:t>은          </a:t>
            </a:r>
            <a:r>
              <a:rPr lang="es-CL" altLang="ko-KR" dirty="0"/>
              <a:t>/       </a:t>
            </a:r>
            <a:r>
              <a:rPr lang="ko-KR" altLang="es-CL" dirty="0"/>
              <a:t>는  </a:t>
            </a:r>
            <a:endParaRPr lang="es-CL" altLang="ko-KR" dirty="0"/>
          </a:p>
          <a:p>
            <a:r>
              <a:rPr lang="ko-KR" altLang="es-CL" dirty="0"/>
              <a:t>이          </a:t>
            </a:r>
            <a:r>
              <a:rPr lang="es-CL" altLang="ko-KR" dirty="0"/>
              <a:t>/       </a:t>
            </a:r>
            <a:r>
              <a:rPr lang="ko-KR" altLang="es-CL" dirty="0"/>
              <a:t>가</a:t>
            </a:r>
            <a:endParaRPr lang="es-CL" altLang="ko-KR" dirty="0"/>
          </a:p>
          <a:p>
            <a:r>
              <a:rPr lang="ko-KR" altLang="es-CL" dirty="0"/>
              <a:t>을         </a:t>
            </a:r>
            <a:r>
              <a:rPr lang="es-CL" altLang="ko-KR" dirty="0"/>
              <a:t>/        </a:t>
            </a:r>
            <a:r>
              <a:rPr lang="ko-KR" altLang="es-CL" dirty="0"/>
              <a:t>를</a:t>
            </a:r>
            <a:endParaRPr lang="es-C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3284CB-6923-ADED-34B7-99D47057FF85}"/>
              </a:ext>
            </a:extLst>
          </p:cNvPr>
          <p:cNvSpPr txBox="1"/>
          <p:nvPr/>
        </p:nvSpPr>
        <p:spPr>
          <a:xfrm>
            <a:off x="2400300" y="1884820"/>
            <a:ext cx="8240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Tema</a:t>
            </a:r>
          </a:p>
          <a:p>
            <a:r>
              <a:rPr lang="es-CL" dirty="0"/>
              <a:t>Sujeto</a:t>
            </a:r>
            <a:br>
              <a:rPr lang="es-CL" dirty="0"/>
            </a:br>
            <a:r>
              <a:rPr lang="es-CL" dirty="0"/>
              <a:t>Objeto</a:t>
            </a:r>
          </a:p>
        </p:txBody>
      </p:sp>
    </p:spTree>
    <p:extLst>
      <p:ext uri="{BB962C8B-B14F-4D97-AF65-F5344CB8AC3E}">
        <p14:creationId xmlns:p14="http://schemas.microsoft.com/office/powerpoint/2010/main" val="26093785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§3.4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이에요/예요 · SER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이에요/예요 = la cópula 'ser' en coreano informal-amable.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al FINAL del sustantivo.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simple: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 la palabra termina en 받침: + 이에요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 termina en vocal (sin 받침): + 예요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입니다 es más formal — la verás en A2.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이에요 / 예요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ieyo / yeyo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(ser, copula)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B2F041-4602-0C9E-9AF3-2ABCFC94C693}"/>
              </a:ext>
            </a:extLst>
          </p:cNvPr>
          <p:cNvSpPr txBox="1"/>
          <p:nvPr/>
        </p:nvSpPr>
        <p:spPr>
          <a:xfrm>
            <a:off x="7741920" y="2392680"/>
            <a:ext cx="3037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>
                <a:solidFill>
                  <a:schemeClr val="bg1"/>
                </a:solidFill>
              </a:rPr>
              <a:t>받침                       </a:t>
            </a:r>
            <a:r>
              <a:rPr lang="es-CL" altLang="ko-KR" dirty="0">
                <a:solidFill>
                  <a:schemeClr val="bg1"/>
                </a:solidFill>
              </a:rPr>
              <a:t>/           Vocal</a:t>
            </a:r>
            <a:endParaRPr lang="es-CL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E146F8-C114-6756-830A-08626B32FB95}"/>
              </a:ext>
            </a:extLst>
          </p:cNvPr>
          <p:cNvSpPr txBox="1"/>
          <p:nvPr/>
        </p:nvSpPr>
        <p:spPr>
          <a:xfrm>
            <a:off x="1065810" y="4937760"/>
            <a:ext cx="992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입니다</a:t>
            </a:r>
            <a:endParaRPr lang="es-CL" altLang="ko-KR" dirty="0"/>
          </a:p>
          <a:p>
            <a:r>
              <a:rPr lang="es-CL" altLang="ko-KR" dirty="0"/>
              <a:t>~</a:t>
            </a:r>
            <a:r>
              <a:rPr lang="ko-KR" altLang="es-CL" dirty="0"/>
              <a:t>ㅁ니다</a:t>
            </a:r>
            <a:endParaRPr lang="es-CL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F2E0FE-B5B9-3E96-0DB5-A818A4770E59}"/>
              </a:ext>
            </a:extLst>
          </p:cNvPr>
          <p:cNvSpPr txBox="1"/>
          <p:nvPr/>
        </p:nvSpPr>
        <p:spPr>
          <a:xfrm>
            <a:off x="4242608" y="2577346"/>
            <a:ext cx="208422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저</a:t>
            </a:r>
            <a:r>
              <a:rPr lang="ko-KR" altLang="es-CL" dirty="0">
                <a:highlight>
                  <a:srgbClr val="FFFF00"/>
                </a:highlight>
              </a:rPr>
              <a:t>는</a:t>
            </a:r>
            <a:r>
              <a:rPr lang="ko-KR" altLang="es-CL" dirty="0"/>
              <a:t> 재희예요</a:t>
            </a:r>
            <a:endParaRPr lang="es-CL" altLang="ko-KR" dirty="0"/>
          </a:p>
          <a:p>
            <a:r>
              <a:rPr lang="ko-KR" altLang="es-CL" dirty="0"/>
              <a:t>저</a:t>
            </a:r>
            <a:r>
              <a:rPr lang="ko-KR" altLang="es-CL" dirty="0">
                <a:highlight>
                  <a:srgbClr val="FFFF00"/>
                </a:highlight>
              </a:rPr>
              <a:t>는</a:t>
            </a:r>
            <a:r>
              <a:rPr lang="ko-KR" altLang="es-CL" dirty="0"/>
              <a:t> 재희입니다</a:t>
            </a:r>
            <a:endParaRPr lang="es-CL" altLang="ko-KR" dirty="0"/>
          </a:p>
          <a:p>
            <a:endParaRPr lang="es-CL" dirty="0"/>
          </a:p>
          <a:p>
            <a:r>
              <a:rPr lang="ko-KR" altLang="es-CL" dirty="0"/>
              <a:t>저</a:t>
            </a:r>
            <a:r>
              <a:rPr lang="ko-KR" altLang="es-CL" dirty="0">
                <a:highlight>
                  <a:srgbClr val="FFFF00"/>
                </a:highlight>
              </a:rPr>
              <a:t>는</a:t>
            </a:r>
            <a:r>
              <a:rPr lang="ko-KR" altLang="es-CL" dirty="0"/>
              <a:t> 마리아예요</a:t>
            </a:r>
            <a:endParaRPr lang="es-CL" altLang="ko-KR" dirty="0"/>
          </a:p>
          <a:p>
            <a:r>
              <a:rPr lang="ko-KR" altLang="es-CL" dirty="0"/>
              <a:t>저</a:t>
            </a:r>
            <a:r>
              <a:rPr lang="ko-KR" altLang="es-CL" dirty="0">
                <a:highlight>
                  <a:srgbClr val="FFFF00"/>
                </a:highlight>
              </a:rPr>
              <a:t>는</a:t>
            </a:r>
            <a:r>
              <a:rPr lang="ko-KR" altLang="es-CL" dirty="0"/>
              <a:t> 마리아입니다</a:t>
            </a:r>
            <a:endParaRPr lang="es-CL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§3.4 · ESTRUCTURA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저는 [nombre]이에요/예요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1097280"/>
          </a:xfrm>
          <a:prstGeom prst="roundRect">
            <a:avLst>
              <a:gd name="adj" fmla="val 8333"/>
            </a:avLst>
          </a:prstGeom>
          <a:solidFill>
            <a:srgbClr val="E8E5F8"/>
          </a:solidFill>
          <a:ln w="12700">
            <a:solidFill>
              <a:srgbClr val="C7C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la frase más útil del A1: '저는 [tu nombre]이에요/예요' = 'Soy [tu nombre]'.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김재희예요.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/>
              <a:t>[YEO-NUN KIM-YE-JI-YEYO]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마리아예요.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/>
              <a:t>[YEO-NUN MA-RI-A-YEYO]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마</a:t>
            </a:r>
            <a:r>
              <a:rPr lang="ko-KR" altLang="es-CL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</a:t>
            </a:r>
            <a:r>
              <a:rPr lang="en-US" sz="18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틴이에요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/>
              <a:t>[YEO-NUN MARTIN-IEYO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18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학생이에요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</a:rPr>
              <a:t>[YEO-NUN JAK-SENG-IEYO]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</p:txBody>
      </p:sp>
      <p:pic>
        <p:nvPicPr>
          <p:cNvPr id="8" name="Image 0" descr="/sessions/sleepy-zen-cray/mnt/outputs/deck_assets/flor_01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1338560" y="5669280"/>
            <a:ext cx="640080" cy="640080"/>
          </a:xfrm>
          <a:prstGeom prst="rect">
            <a:avLst/>
          </a:prstGeom>
        </p:spPr>
      </p:pic>
      <p:pic>
        <p:nvPicPr>
          <p:cNvPr id="9" name="Image 1" descr="/sessions/sleepy-zen-cray/mnt/outputs/deck_assets/logo_var2_az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2" descr="/sessions/sleepy-zen-cray/mnt/outputs/deck_assets/sello_linea_v1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583D52-CAE1-323D-C367-312C597133F6}"/>
              </a:ext>
            </a:extLst>
          </p:cNvPr>
          <p:cNvSpPr txBox="1"/>
          <p:nvPr/>
        </p:nvSpPr>
        <p:spPr>
          <a:xfrm>
            <a:off x="4267200" y="3148500"/>
            <a:ext cx="6096000" cy="783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의사예요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</a:rPr>
              <a:t>Yo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</a:rPr>
              <a:t> medico soy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§3.5 · PAÍSES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Países en coreano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멕시코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México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베네수엘라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Venezuela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콜롬비아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Colombia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아르헨티나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페루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Perú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스페인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España</a:t>
            </a:r>
            <a:endParaRPr lang="en-US" sz="1200" dirty="0"/>
          </a:p>
        </p:txBody>
      </p:sp>
      <p:pic>
        <p:nvPicPr>
          <p:cNvPr id="28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9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899853D-671C-CE04-B8C5-966D84A54159}"/>
              </a:ext>
            </a:extLst>
          </p:cNvPr>
          <p:cNvSpPr txBox="1"/>
          <p:nvPr/>
        </p:nvSpPr>
        <p:spPr>
          <a:xfrm>
            <a:off x="1348192" y="2357366"/>
            <a:ext cx="1144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[JAN GUK]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057B380-6908-3C89-3AFA-820FCADEED73}"/>
              </a:ext>
            </a:extLst>
          </p:cNvPr>
          <p:cNvSpPr txBox="1"/>
          <p:nvPr/>
        </p:nvSpPr>
        <p:spPr>
          <a:xfrm>
            <a:off x="4351745" y="2335768"/>
            <a:ext cx="861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[CHILE]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BEC576-3BEA-5E33-783D-D1AA9C45E29D}"/>
              </a:ext>
            </a:extLst>
          </p:cNvPr>
          <p:cNvSpPr txBox="1"/>
          <p:nvPr/>
        </p:nvSpPr>
        <p:spPr>
          <a:xfrm>
            <a:off x="6983657" y="2386798"/>
            <a:ext cx="1321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[MEK-SI-KO]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576BA97-6F22-7180-FBC6-029B11562A42}"/>
              </a:ext>
            </a:extLst>
          </p:cNvPr>
          <p:cNvSpPr txBox="1"/>
          <p:nvPr/>
        </p:nvSpPr>
        <p:spPr>
          <a:xfrm>
            <a:off x="9589406" y="238679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[BE-NE-SU-EL-LA]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D5A1FC-C88E-F85B-5FB4-6AF96B5E09CF}"/>
              </a:ext>
            </a:extLst>
          </p:cNvPr>
          <p:cNvSpPr txBox="1"/>
          <p:nvPr/>
        </p:nvSpPr>
        <p:spPr>
          <a:xfrm>
            <a:off x="1180062" y="3753838"/>
            <a:ext cx="1756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[COL-LOM-BI-A]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8C6B42-BA21-1EB1-BF36-9A69C45CBF7F}"/>
              </a:ext>
            </a:extLst>
          </p:cNvPr>
          <p:cNvSpPr txBox="1"/>
          <p:nvPr/>
        </p:nvSpPr>
        <p:spPr>
          <a:xfrm>
            <a:off x="3904273" y="3759059"/>
            <a:ext cx="26172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[A-REU-JEN-TI-NA]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03AE9D7-127B-96BC-62F7-662A558561A2}"/>
              </a:ext>
            </a:extLst>
          </p:cNvPr>
          <p:cNvSpPr txBox="1"/>
          <p:nvPr/>
        </p:nvSpPr>
        <p:spPr>
          <a:xfrm>
            <a:off x="7229847" y="3800594"/>
            <a:ext cx="82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[PERU]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4D0274-C8DD-24EA-6DF4-D7FDB50A2CDB}"/>
              </a:ext>
            </a:extLst>
          </p:cNvPr>
          <p:cNvSpPr txBox="1"/>
          <p:nvPr/>
        </p:nvSpPr>
        <p:spPr>
          <a:xfrm>
            <a:off x="9973047" y="3791188"/>
            <a:ext cx="126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[SEU-PE-IN]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§3.5 · ESTRUCTURA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저는 [país] 사람이에요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1097280"/>
          </a:xfrm>
          <a:prstGeom prst="roundRect">
            <a:avLst>
              <a:gd name="adj" fmla="val 8333"/>
            </a:avLst>
          </a:prstGeom>
          <a:solidFill>
            <a:srgbClr val="E8E5F8"/>
          </a:solidFill>
          <a:ln w="12700">
            <a:solidFill>
              <a:srgbClr val="C7C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decir tu nacionalidad: PAÍS + 사람 (persona) + 이에요/예요.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한국 </a:t>
            </a:r>
            <a:r>
              <a:rPr lang="en-US" sz="18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사람이에요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</a:rPr>
              <a:t>YO(PT) COREA PERSONA SER / SOY COREANO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칠레 사람이에요.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/>
              <a:t>YO(PT) CHILE PERSONA SER / YO SOY CHILENO/A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멕시코 사람이에요.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/>
              <a:t>YO(PT) MEXICO PERSON SER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베네수엘라 </a:t>
            </a:r>
            <a:r>
              <a:rPr lang="en-US" sz="18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사람이에요</a:t>
            </a: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</a:rPr>
              <a:t>YO(PT) VENEZUELA PERSONA SE</a:t>
            </a:r>
            <a:endParaRPr lang="en-US" sz="1800" dirty="0"/>
          </a:p>
        </p:txBody>
      </p:sp>
      <p:pic>
        <p:nvPicPr>
          <p:cNvPr id="8" name="Image 0" descr="/sessions/sleepy-zen-cray/mnt/outputs/deck_assets/flor_01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1338560" y="5669280"/>
            <a:ext cx="640080" cy="640080"/>
          </a:xfrm>
          <a:prstGeom prst="rect">
            <a:avLst/>
          </a:prstGeom>
        </p:spPr>
      </p:pic>
      <p:pic>
        <p:nvPicPr>
          <p:cNvPr id="9" name="Image 1" descr="/sessions/sleepy-zen-cray/mnt/outputs/deck_assets/logo_var2_az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2" descr="/sessions/sleepy-zen-cray/mnt/outputs/deck_assets/sello_linea_v1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§3.6 · PROFESIONES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Profesiones esenciales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Profesor/a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Médico/a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회사원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Oficinista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주부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de casa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요리사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Cocinero/a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기자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Periodista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디자이너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Diseñador/a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프로그래머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48640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Programador/a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410712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10712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410712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Abogado/a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72784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72784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간호사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272784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Enfermero/a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34856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34856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예술가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9134856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Artista</a:t>
            </a:r>
            <a:endParaRPr lang="en-US" sz="1200" dirty="0"/>
          </a:p>
        </p:txBody>
      </p:sp>
      <p:pic>
        <p:nvPicPr>
          <p:cNvPr id="40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41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F547B2F-585F-69DE-B769-BF6ED33AC32B}"/>
              </a:ext>
            </a:extLst>
          </p:cNvPr>
          <p:cNvSpPr txBox="1"/>
          <p:nvPr/>
        </p:nvSpPr>
        <p:spPr>
          <a:xfrm>
            <a:off x="1312926" y="2385798"/>
            <a:ext cx="1214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[JAK SENG]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F66E633-1AB1-33C4-1064-A88AFBCD53F5}"/>
              </a:ext>
            </a:extLst>
          </p:cNvPr>
          <p:cNvSpPr txBox="1"/>
          <p:nvPr/>
        </p:nvSpPr>
        <p:spPr>
          <a:xfrm>
            <a:off x="3906946" y="2386536"/>
            <a:ext cx="1899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[SEON-SENG-NIM]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6B3BF9-23B4-94E8-7FBC-AF2840FB01D0}"/>
              </a:ext>
            </a:extLst>
          </p:cNvPr>
          <p:cNvSpPr txBox="1"/>
          <p:nvPr/>
        </p:nvSpPr>
        <p:spPr>
          <a:xfrm>
            <a:off x="7168965" y="2328148"/>
            <a:ext cx="950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[EUI-SA]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3D15B3-9B15-8B22-2B67-8C605977B398}"/>
              </a:ext>
            </a:extLst>
          </p:cNvPr>
          <p:cNvSpPr txBox="1"/>
          <p:nvPr/>
        </p:nvSpPr>
        <p:spPr>
          <a:xfrm>
            <a:off x="9912165" y="2352794"/>
            <a:ext cx="1393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[JE-SA-WON]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759F4D2-0358-A5E0-951D-967A24848A63}"/>
              </a:ext>
            </a:extLst>
          </p:cNvPr>
          <p:cNvSpPr txBox="1"/>
          <p:nvPr/>
        </p:nvSpPr>
        <p:spPr>
          <a:xfrm>
            <a:off x="1456010" y="3759446"/>
            <a:ext cx="928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[YU-BU]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843E186-3C99-19B6-57C2-9B4A8248C386}"/>
              </a:ext>
            </a:extLst>
          </p:cNvPr>
          <p:cNvSpPr txBox="1"/>
          <p:nvPr/>
        </p:nvSpPr>
        <p:spPr>
          <a:xfrm>
            <a:off x="4210424" y="3788878"/>
            <a:ext cx="1143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[YO-RI-SA]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19E304A-ED24-5B9A-32AB-1A743EB2E74B}"/>
              </a:ext>
            </a:extLst>
          </p:cNvPr>
          <p:cNvSpPr txBox="1"/>
          <p:nvPr/>
        </p:nvSpPr>
        <p:spPr>
          <a:xfrm>
            <a:off x="7291819" y="3808690"/>
            <a:ext cx="82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[GI-YA]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EF28B8F-9C2B-51E3-276D-AEF1A8ACED79}"/>
              </a:ext>
            </a:extLst>
          </p:cNvPr>
          <p:cNvSpPr txBox="1"/>
          <p:nvPr/>
        </p:nvSpPr>
        <p:spPr>
          <a:xfrm>
            <a:off x="9872602" y="3770114"/>
            <a:ext cx="1433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[DI-YA-I-NEO]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F18B836-E0DF-61D0-7233-F1E217FF8D5A}"/>
              </a:ext>
            </a:extLst>
          </p:cNvPr>
          <p:cNvSpPr txBox="1"/>
          <p:nvPr/>
        </p:nvSpPr>
        <p:spPr>
          <a:xfrm>
            <a:off x="891540" y="5208508"/>
            <a:ext cx="2362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[PEU-RO-GEU-RE-MEO]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6D746F-5626-171E-8C0F-0E4F8F205C34}"/>
              </a:ext>
            </a:extLst>
          </p:cNvPr>
          <p:cNvSpPr txBox="1"/>
          <p:nvPr/>
        </p:nvSpPr>
        <p:spPr>
          <a:xfrm>
            <a:off x="4071285" y="5192006"/>
            <a:ext cx="1570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[BYEON-JO-SA]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1D58EAD-D53A-609A-55DF-C49671441EF7}"/>
              </a:ext>
            </a:extLst>
          </p:cNvPr>
          <p:cNvSpPr txBox="1"/>
          <p:nvPr/>
        </p:nvSpPr>
        <p:spPr>
          <a:xfrm>
            <a:off x="5486400" y="1143000"/>
            <a:ext cx="17077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사람 </a:t>
            </a:r>
            <a:r>
              <a:rPr lang="es-CL" altLang="ko-KR" dirty="0"/>
              <a:t>: PERSONA</a:t>
            </a:r>
          </a:p>
          <a:p>
            <a:r>
              <a:rPr lang="es-CL" dirty="0"/>
              <a:t>[SARAM]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BF1DE94-22A6-A94B-E435-CA5C43A1492A}"/>
              </a:ext>
            </a:extLst>
          </p:cNvPr>
          <p:cNvSpPr txBox="1"/>
          <p:nvPr/>
        </p:nvSpPr>
        <p:spPr>
          <a:xfrm>
            <a:off x="7058163" y="5167777"/>
            <a:ext cx="1358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[GAN-JO-SA]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CD72929-D216-1490-D633-E8C4D10C39DA}"/>
              </a:ext>
            </a:extLst>
          </p:cNvPr>
          <p:cNvSpPr txBox="1"/>
          <p:nvPr/>
        </p:nvSpPr>
        <p:spPr>
          <a:xfrm>
            <a:off x="9912165" y="5153644"/>
            <a:ext cx="1321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[YE-SUL-GA]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§3.7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이/가 아니에요 · NO SER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decir 'NO soy ___'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agregás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~이/가 아니에요.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(mismas que antes):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Sustantivo con 받침: + 이 아니에요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Sustantivo sin 받침: + 가 아니에요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ko-KR" altLang="es-CL" sz="1400" dirty="0"/>
              <a:t>학생</a:t>
            </a:r>
            <a:r>
              <a:rPr lang="ko-KR" altLang="es-CL" sz="1400" dirty="0">
                <a:highlight>
                  <a:srgbClr val="FFFF00"/>
                </a:highlight>
              </a:rPr>
              <a:t>이 아니에요</a:t>
            </a:r>
            <a:endParaRPr lang="es-CL" altLang="ko-KR" sz="1400" dirty="0">
              <a:highlight>
                <a:srgbClr val="FFFF00"/>
              </a:highlight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ko-KR" altLang="es-CL" sz="1400" dirty="0"/>
              <a:t>요리사</a:t>
            </a:r>
            <a:r>
              <a:rPr lang="ko-KR" altLang="es-CL" sz="1400" dirty="0">
                <a:highlight>
                  <a:srgbClr val="FFFF00"/>
                </a:highlight>
              </a:rPr>
              <a:t>가 아니에요</a:t>
            </a:r>
            <a:endParaRPr lang="en-US" sz="1400" dirty="0">
              <a:highlight>
                <a:srgbClr val="FFFF00"/>
              </a:highlight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IMPORTANTE: nunca olvides la 이/가 — es un error común.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이/가 아니에요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i/ga anieyo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ser)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§3.7 · EJEMPLOS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Practicá negación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1097280"/>
          </a:xfrm>
          <a:prstGeom prst="roundRect">
            <a:avLst>
              <a:gd name="adj" fmla="val 8333"/>
            </a:avLst>
          </a:prstGeom>
          <a:solidFill>
            <a:srgbClr val="E8E5F8"/>
          </a:solidFill>
          <a:ln w="12700">
            <a:solidFill>
              <a:srgbClr val="C7C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Estructura: [Sustantivo] + 이/가 + 아니에요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한국 사람이 아니에요.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학생이 아니에요.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의사가 아니에요.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변호사가 아니에요.</a:t>
            </a:r>
            <a:endParaRPr lang="en-US" sz="1800" dirty="0"/>
          </a:p>
        </p:txBody>
      </p:sp>
      <p:pic>
        <p:nvPicPr>
          <p:cNvPr id="8" name="Image 0" descr="/sessions/sleepy-zen-cray/mnt/outputs/deck_assets/flor_01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1338560" y="5669280"/>
            <a:ext cx="640080" cy="640080"/>
          </a:xfrm>
          <a:prstGeom prst="rect">
            <a:avLst/>
          </a:prstGeom>
        </p:spPr>
      </p:pic>
      <p:pic>
        <p:nvPicPr>
          <p:cNvPr id="9" name="Image 1" descr="/sessions/sleepy-zen-cray/mnt/outputs/deck_assets/logo_var2_az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2" descr="/sessions/sleepy-zen-cray/mnt/outputs/deck_assets/sello_linea_v1_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§3.3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ejemplo completo — y cuándo se omiten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1097280"/>
          </a:xfrm>
          <a:prstGeom prst="roundRect">
            <a:avLst>
              <a:gd name="adj" fmla="val 8333"/>
            </a:avLst>
          </a:prstGeom>
          <a:solidFill>
            <a:srgbClr val="E8E5F8"/>
          </a:solidFill>
          <a:ln w="12700">
            <a:solidFill>
              <a:srgbClr val="C7C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저는 친구와 카페에서 커피를 마셔요. → "En cuanto a mí, tomo café con un amigo en una cafetería." Varias partículas, una sola frase.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Desglosado: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 + 는 → tema, "en cuanto a mí" · 친구 + 와 → compañía, "con un amigo"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 + 에서 → lugar de la acción · 커피 + 를 → objeto, "café"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 먹었어? = 밥을 먹었어? → en el habla real se omiten seguido.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las traduzcas como preposiciones — pensá en la función que marcan.</a:t>
            </a:r>
            <a:endParaRPr lang="en-US" sz="1800" dirty="0"/>
          </a:p>
        </p:txBody>
      </p:sp>
      <p:pic>
        <p:nvPicPr>
          <p:cNvPr id="8" name="Image 0" descr="/sessions/sleepy-zen-cray/mnt/outputs/deck_assets/flor_01.png"/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11338560" y="5669280"/>
            <a:ext cx="640080" cy="640080"/>
          </a:xfrm>
          <a:prstGeom prst="rect">
            <a:avLst/>
          </a:prstGeom>
        </p:spPr>
      </p:pic>
      <p:pic>
        <p:nvPicPr>
          <p:cNvPr id="9" name="Image 1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2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84F289-EDE2-CC20-2CFF-F8DC14137AC7}"/>
              </a:ext>
            </a:extLst>
          </p:cNvPr>
          <p:cNvSpPr txBox="1"/>
          <p:nvPr/>
        </p:nvSpPr>
        <p:spPr>
          <a:xfrm>
            <a:off x="4259580" y="2488168"/>
            <a:ext cx="47638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s-CL" dirty="0"/>
              <a:t>저</a:t>
            </a:r>
            <a:r>
              <a:rPr lang="ko-KR" altLang="es-CL" dirty="0">
                <a:highlight>
                  <a:srgbClr val="FFFF00"/>
                </a:highlight>
              </a:rPr>
              <a:t>는</a:t>
            </a:r>
            <a:r>
              <a:rPr lang="ko-KR" altLang="es-CL" dirty="0"/>
              <a:t> 친구</a:t>
            </a:r>
            <a:r>
              <a:rPr lang="ko-KR" altLang="es-CL" dirty="0">
                <a:highlight>
                  <a:srgbClr val="FFFF00"/>
                </a:highlight>
              </a:rPr>
              <a:t>와</a:t>
            </a:r>
            <a:r>
              <a:rPr lang="ko-KR" altLang="es-CL" dirty="0"/>
              <a:t> 카페</a:t>
            </a:r>
            <a:r>
              <a:rPr lang="ko-KR" altLang="es-CL" dirty="0">
                <a:highlight>
                  <a:srgbClr val="FFFF00"/>
                </a:highlight>
              </a:rPr>
              <a:t>에서</a:t>
            </a:r>
            <a:r>
              <a:rPr lang="ko-KR" altLang="es-CL" dirty="0"/>
              <a:t> 커피</a:t>
            </a:r>
            <a:r>
              <a:rPr lang="ko-KR" altLang="es-CL" dirty="0">
                <a:highlight>
                  <a:srgbClr val="FFFF00"/>
                </a:highlight>
              </a:rPr>
              <a:t>를</a:t>
            </a:r>
            <a:r>
              <a:rPr lang="ko-KR" altLang="es-CL" dirty="0"/>
              <a:t> 마셔요</a:t>
            </a:r>
            <a:endParaRPr lang="es-CL" altLang="ko-KR" dirty="0"/>
          </a:p>
          <a:p>
            <a:pPr algn="ctr"/>
            <a:r>
              <a:rPr lang="es-CL" dirty="0"/>
              <a:t>YO(pt) AMIGO(</a:t>
            </a:r>
            <a:r>
              <a:rPr lang="es-CL" dirty="0" err="1"/>
              <a:t>y,con</a:t>
            </a:r>
            <a:r>
              <a:rPr lang="es-CL" dirty="0"/>
              <a:t>) </a:t>
            </a:r>
            <a:r>
              <a:rPr lang="es-CL" dirty="0" err="1"/>
              <a:t>cafeteria</a:t>
            </a:r>
            <a:r>
              <a:rPr lang="es-CL" dirty="0"/>
              <a:t>(en) </a:t>
            </a:r>
            <a:r>
              <a:rPr lang="es-CL" dirty="0" err="1"/>
              <a:t>cafe</a:t>
            </a:r>
            <a:r>
              <a:rPr lang="es-CL" dirty="0"/>
              <a:t> PO beber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§3.8 · DIÁLOGO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Conversación de presentación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4572000"/>
          </a:xfrm>
          <a:prstGeom prst="roundRect">
            <a:avLst>
              <a:gd name="adj" fmla="val 3000"/>
            </a:avLst>
          </a:prstGeom>
          <a:solidFill>
            <a:srgbClr val="E8E5F8"/>
          </a:solidFill>
          <a:ln w="12700">
            <a:solidFill>
              <a:srgbClr val="C7C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[AN-NIONG-JA-SE-YO]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¡Hola!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2697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안녕하세요! 저는 </a:t>
            </a:r>
            <a:r>
              <a:rPr lang="en-US" sz="20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김재희예요</a:t>
            </a: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[AN-NIONG-JA-SE-YO YEO-NEUN KIM-YE-JI-YE-YO]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108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Hola! Soy Kim Jae Hee.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3474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마리아예요. 만나서 </a:t>
            </a:r>
            <a:r>
              <a:rPr lang="en-US" sz="20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반갑습니다</a:t>
            </a: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[YEO-NUN- MA-RI-A-YE-YO. MAN-NA-SEO BAN-GAP-SEUM-NI-DA]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63040" y="3886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Soy María. Mucho gusto.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42519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4251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마리아 씨, 어느 나라 사람이에요?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63040" y="46634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María, ¿de qué país eres?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50292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칠레 사람이에요. 학생이에요.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54406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Soy de Chile. Soy estudiante.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8064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63040" y="58064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아, 반가워요!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463040" y="6217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¡Encantada!</a:t>
            </a:r>
            <a:endParaRPr lang="en-US" sz="1100" dirty="0"/>
          </a:p>
        </p:txBody>
      </p:sp>
      <p:pic>
        <p:nvPicPr>
          <p:cNvPr id="23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4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03  ·  INSA</a:t>
            </a:r>
            <a:endParaRPr lang="en-US" sz="8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D45E68-06E3-6151-4BFE-B09861F3149F}"/>
              </a:ext>
            </a:extLst>
          </p:cNvPr>
          <p:cNvSpPr txBox="1"/>
          <p:nvPr/>
        </p:nvSpPr>
        <p:spPr>
          <a:xfrm>
            <a:off x="7635240" y="4130040"/>
            <a:ext cx="273639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씨 </a:t>
            </a:r>
            <a:r>
              <a:rPr lang="es-CL" altLang="ko-KR" dirty="0"/>
              <a:t>= JOVEN/SENORITA</a:t>
            </a:r>
          </a:p>
          <a:p>
            <a:r>
              <a:rPr lang="ko-KR" altLang="es-CL" dirty="0"/>
              <a:t>어느</a:t>
            </a:r>
            <a:r>
              <a:rPr lang="es-CL" altLang="ko-KR" dirty="0"/>
              <a:t>[ONEUN]</a:t>
            </a:r>
            <a:r>
              <a:rPr lang="ko-KR" altLang="es-CL" dirty="0"/>
              <a:t> </a:t>
            </a:r>
            <a:r>
              <a:rPr lang="es-CL" altLang="ko-KR" dirty="0"/>
              <a:t>=  QUE CUAL</a:t>
            </a:r>
          </a:p>
          <a:p>
            <a:r>
              <a:rPr lang="ko-KR" altLang="es-CL" dirty="0"/>
              <a:t>어디</a:t>
            </a:r>
            <a:r>
              <a:rPr lang="es-CL" altLang="ko-KR" dirty="0"/>
              <a:t>[ODI]</a:t>
            </a:r>
            <a:r>
              <a:rPr lang="ko-KR" altLang="es-CL" dirty="0"/>
              <a:t> </a:t>
            </a:r>
            <a:r>
              <a:rPr lang="es-CL" altLang="ko-KR" dirty="0"/>
              <a:t>= DONDE</a:t>
            </a:r>
          </a:p>
          <a:p>
            <a:r>
              <a:rPr lang="ko-KR" altLang="es-CL" dirty="0"/>
              <a:t>누구</a:t>
            </a:r>
            <a:r>
              <a:rPr lang="es-CL" altLang="ko-KR" dirty="0"/>
              <a:t>[NUGU]</a:t>
            </a:r>
            <a:r>
              <a:rPr lang="ko-KR" altLang="es-CL" dirty="0"/>
              <a:t> </a:t>
            </a:r>
            <a:r>
              <a:rPr lang="es-CL" altLang="ko-KR" dirty="0"/>
              <a:t>= QUIEN</a:t>
            </a:r>
          </a:p>
          <a:p>
            <a:r>
              <a:rPr lang="ko-KR" altLang="es-CL" dirty="0"/>
              <a:t>나라</a:t>
            </a:r>
            <a:r>
              <a:rPr lang="es-CL" altLang="ko-KR" dirty="0"/>
              <a:t>[NARA]</a:t>
            </a:r>
            <a:r>
              <a:rPr lang="ko-KR" altLang="es-CL" dirty="0"/>
              <a:t> </a:t>
            </a:r>
            <a:r>
              <a:rPr lang="es-CL" altLang="ko-KR" dirty="0"/>
              <a:t>= PAIS</a:t>
            </a:r>
          </a:p>
          <a:p>
            <a:r>
              <a:rPr lang="ko-KR" altLang="es-CL" dirty="0"/>
              <a:t>사람</a:t>
            </a:r>
            <a:r>
              <a:rPr lang="es-CL" altLang="ko-KR" dirty="0"/>
              <a:t>[SARAM]</a:t>
            </a:r>
            <a:r>
              <a:rPr lang="ko-KR" altLang="es-CL" dirty="0"/>
              <a:t> </a:t>
            </a:r>
            <a:r>
              <a:rPr lang="es-CL" altLang="ko-KR" dirty="0"/>
              <a:t>= PERSONA</a:t>
            </a:r>
            <a:endParaRPr lang="es-CL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688899-7441-F6EB-2F3C-B27359C8FAD5}"/>
              </a:ext>
            </a:extLst>
          </p:cNvPr>
          <p:cNvSpPr txBox="1"/>
          <p:nvPr/>
        </p:nvSpPr>
        <p:spPr>
          <a:xfrm>
            <a:off x="2179320" y="889843"/>
            <a:ext cx="2925224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숙제</a:t>
            </a:r>
            <a:endParaRPr lang="es-CL" altLang="ko-KR" dirty="0"/>
          </a:p>
          <a:p>
            <a:r>
              <a:rPr lang="es-CL" altLang="ko-KR" dirty="0"/>
              <a:t>1. Vocabulario</a:t>
            </a:r>
          </a:p>
          <a:p>
            <a:r>
              <a:rPr lang="es-CL" dirty="0"/>
              <a:t>2. </a:t>
            </a:r>
            <a:r>
              <a:rPr lang="es-CL" dirty="0" err="1"/>
              <a:t>Presentacion</a:t>
            </a:r>
            <a:r>
              <a:rPr lang="es-CL" dirty="0"/>
              <a:t> </a:t>
            </a:r>
            <a:r>
              <a:rPr lang="ko-KR" altLang="es-CL" dirty="0"/>
              <a:t>자기소개</a:t>
            </a:r>
            <a:endParaRPr lang="es-CL" altLang="ko-KR" dirty="0"/>
          </a:p>
          <a:p>
            <a:endParaRPr lang="es-CL" dirty="0"/>
          </a:p>
          <a:p>
            <a:r>
              <a:rPr lang="ko-KR" altLang="es-CL" dirty="0"/>
              <a:t>안녕하세요</a:t>
            </a:r>
            <a:r>
              <a:rPr lang="es-CL" altLang="ko-KR" dirty="0"/>
              <a:t>.</a:t>
            </a:r>
          </a:p>
          <a:p>
            <a:r>
              <a:rPr lang="es-CL" dirty="0"/>
              <a:t>[AN-NIONG-JA-SE-YO]</a:t>
            </a:r>
          </a:p>
          <a:p>
            <a:r>
              <a:rPr lang="es-CL" dirty="0"/>
              <a:t>Buen día/hola</a:t>
            </a:r>
          </a:p>
          <a:p>
            <a:endParaRPr lang="es-CL" dirty="0"/>
          </a:p>
          <a:p>
            <a:r>
              <a:rPr lang="ko-KR" altLang="es-CL" dirty="0"/>
              <a:t>저는 마리아예요</a:t>
            </a:r>
            <a:endParaRPr lang="es-CL" altLang="ko-KR" dirty="0"/>
          </a:p>
          <a:p>
            <a:r>
              <a:rPr lang="es-CL" dirty="0"/>
              <a:t>[YEO-NEUN MA-RI-A-YE-YO]</a:t>
            </a:r>
          </a:p>
          <a:p>
            <a:r>
              <a:rPr lang="es-CL" dirty="0"/>
              <a:t>Yo soy maría</a:t>
            </a:r>
          </a:p>
          <a:p>
            <a:endParaRPr lang="es-CL" dirty="0"/>
          </a:p>
          <a:p>
            <a:r>
              <a:rPr lang="ko-KR" altLang="es-CL" dirty="0"/>
              <a:t>저는 학생이에요</a:t>
            </a:r>
            <a:endParaRPr lang="es-CL" altLang="ko-KR" dirty="0"/>
          </a:p>
          <a:p>
            <a:r>
              <a:rPr lang="es-CL" dirty="0"/>
              <a:t>[YEO-NEUN JAK-SENG-I-E-YO]</a:t>
            </a:r>
          </a:p>
          <a:p>
            <a:r>
              <a:rPr lang="es-CL" dirty="0"/>
              <a:t>Yo soy estudiante</a:t>
            </a:r>
          </a:p>
          <a:p>
            <a:endParaRPr lang="es-CL" dirty="0"/>
          </a:p>
          <a:p>
            <a:r>
              <a:rPr lang="ko-KR" altLang="es-CL" dirty="0"/>
              <a:t>반갑습니다</a:t>
            </a:r>
            <a:endParaRPr lang="es-CL" altLang="ko-KR" dirty="0"/>
          </a:p>
          <a:p>
            <a:r>
              <a:rPr lang="es-CL" dirty="0"/>
              <a:t>[BAN-GAP-SEUM-NI-DA]</a:t>
            </a:r>
          </a:p>
          <a:p>
            <a:r>
              <a:rPr lang="es-CL" dirty="0"/>
              <a:t>Mucho gusto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5E274-6196-5396-3EF0-E51F5591DBD7}"/>
              </a:ext>
            </a:extLst>
          </p:cNvPr>
          <p:cNvSpPr txBox="1"/>
          <p:nvPr/>
        </p:nvSpPr>
        <p:spPr>
          <a:xfrm>
            <a:off x="6416040" y="2293620"/>
            <a:ext cx="15343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altLang="ko-KR" dirty="0"/>
              <a:t>Vocal / </a:t>
            </a:r>
            <a:r>
              <a:rPr lang="ko-KR" altLang="es-CL" dirty="0"/>
              <a:t>받침</a:t>
            </a:r>
            <a:endParaRPr lang="es-CL" altLang="ko-KR" dirty="0"/>
          </a:p>
          <a:p>
            <a:r>
              <a:rPr lang="ko-KR" altLang="es-CL" dirty="0"/>
              <a:t>예요 </a:t>
            </a:r>
            <a:r>
              <a:rPr lang="es-CL" altLang="ko-KR" dirty="0"/>
              <a:t>/ </a:t>
            </a:r>
            <a:r>
              <a:rPr lang="ko-KR" altLang="es-CL" dirty="0"/>
              <a:t>이에요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3167937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5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743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3258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0" y="169164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aprendiste hoy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371600" y="2606040"/>
            <a:ext cx="9418320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2788920"/>
            <a:ext cx="88696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Saludos por contexto (5+ frases)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Partículas 조사: 이/가, 은/는, 을/를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Cópula 이에요/예요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8 países + 12 profesiones en coreano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Negación 이/가 아니에요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Presentarte completamente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34924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TAREA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14400" y="5715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 30 segundos presentándote: nombre + país + profesión + 만나서 반갑습니다. Subir al Discord canal #tarea-sesion-3.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D2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61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화이팅!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0" y="4023360"/>
            <a:ext cx="1216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vemos en la próxima sesión</a:t>
            </a:r>
            <a:endParaRPr lang="en-US" sz="1800" dirty="0"/>
          </a:p>
        </p:txBody>
      </p:sp>
      <p:pic>
        <p:nvPicPr>
          <p:cNvPr id="4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484632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63550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· 김재희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2496</Words>
  <Application>Microsoft Office PowerPoint</Application>
  <PresentationFormat>Widescreen</PresentationFormat>
  <Paragraphs>557</Paragraphs>
  <Slides>30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Malgun Gothic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Academia Seúl · A1 · Sesión 3</dc:title>
  <dc:subject>PptxGenJS Presentation</dc:subject>
  <dc:creator>김재희 (Jay Kim)</dc:creator>
  <cp:lastModifiedBy>Jae Hee Kim</cp:lastModifiedBy>
  <cp:revision>82</cp:revision>
  <dcterms:created xsi:type="dcterms:W3CDTF">2026-06-02T07:35:58Z</dcterms:created>
  <dcterms:modified xsi:type="dcterms:W3CDTF">2026-07-30T00:08:24Z</dcterms:modified>
</cp:coreProperties>
</file>