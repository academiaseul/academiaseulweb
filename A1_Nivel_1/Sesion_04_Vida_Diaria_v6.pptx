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62"/>
  </p:notesMasterIdLst>
  <p:sldIdLst>
    <p:sldId id="256" r:id="rId3"/>
    <p:sldId id="257" r:id="rId4"/>
    <p:sldId id="271" r:id="rId5"/>
    <p:sldId id="272" r:id="rId6"/>
    <p:sldId id="273" r:id="rId7"/>
    <p:sldId id="278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270" r:id="rId45"/>
    <p:sldId id="274" r:id="rId46"/>
    <p:sldId id="275" r:id="rId47"/>
    <p:sldId id="276" r:id="rId48"/>
    <p:sldId id="277" r:id="rId49"/>
    <p:sldId id="258" r:id="rId50"/>
    <p:sldId id="259" r:id="rId51"/>
    <p:sldId id="260" r:id="rId52"/>
    <p:sldId id="261" r:id="rId53"/>
    <p:sldId id="262" r:id="rId54"/>
    <p:sldId id="263" r:id="rId55"/>
    <p:sldId id="264" r:id="rId56"/>
    <p:sldId id="265" r:id="rId57"/>
    <p:sldId id="266" r:id="rId58"/>
    <p:sldId id="267" r:id="rId59"/>
    <p:sldId id="268" r:id="rId60"/>
    <p:sldId id="269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36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8538F-FC20-4175-A4CB-F01A8790E4B8}" type="datetimeFigureOut">
              <a:rPr lang="es-CL" smtClean="0"/>
              <a:t>29-07-2026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834C-5E72-49A7-8758-0E973B41318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878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0544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8538F-FC20-4175-A4CB-F01A8790E4B8}" type="datetimeFigureOut">
              <a:rPr lang="es-CL" smtClean="0"/>
              <a:t>29-07-2026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834C-5E72-49A7-8758-0E973B41318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149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48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5176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7334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7561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5147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671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7614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3932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6307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90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일상생활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Diaria + Verbos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de lo que hacés en tu día con 20 verbos esenciales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aprendemos a actuar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Sesión 3 aprendiste a SER. Hoy aprendés a HACER.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VERBOS son el corazón de cualquier idioma. En coreano, la regla de conjugación es REGULAR (con algunas excepciones) — más fácil que el español.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que al final de la sesión puedas describir tu día típico con al menos 8 verbos distintos.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VOCABULARIO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Pronombres personales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(informal)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(formal)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Ellos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VOCABULARIO +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Pronombres + partículas 조사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· 내가* · 나를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저는 · 제가* · 저를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너는 · 네가* · 너를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당신은 · 당신이 · 당신을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그는 · 그가 · 그를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그녀는 · 그녀가 · 그녀를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우리는 · 우리가 · 우리를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그들은 · 그들이 · 그들을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뭐예요? · ¿Qué es esto?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이거 es la forma hablada de 이것 (esto). Con la partícula 이/가 se contrae: 이것이 → 이게.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이게 뭐예요? → ¿Qué es esto?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그거는 사과예요. → Eso es una manzana.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이거 = cerca de mí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그거 = cerca de vos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niveles de distancia: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이(cerca de mí) · 그(cerca de vos) · 저(lejos de los dos) — 저거 = eso de allá.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뭐예요?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i-ge mwo-ye-yo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(¿qué es esto?)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4203700" y="2247900"/>
            <a:ext cx="7988300" cy="4152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이게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이거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이것이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= esto, este, esta</a:t>
            </a:r>
          </a:p>
          <a:p>
            <a:pPr marL="0" indent="0">
              <a:buNone/>
            </a:pP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 		 	(cerca a ti)</a:t>
            </a:r>
          </a:p>
          <a:p>
            <a:pPr marL="0" indent="0">
              <a:buNone/>
            </a:pP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저게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저거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저것이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= eso, ese, esa</a:t>
            </a:r>
          </a:p>
          <a:p>
            <a:pPr marL="0" indent="0">
              <a:buNone/>
            </a:pP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  			(cerca la otra persona)</a:t>
            </a:r>
          </a:p>
          <a:p>
            <a:pPr marL="0" indent="0">
              <a:buNone/>
            </a:pP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그게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그거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/ </a:t>
            </a:r>
            <a:r>
              <a:rPr lang="ko-KR" altLang="es-CL" dirty="0">
                <a:latin typeface="Haan Baekje M" pitchFamily="18" charset="-127"/>
                <a:ea typeface="Haan Baekje M" pitchFamily="18" charset="-127"/>
              </a:rPr>
              <a:t>그것이 </a:t>
            </a:r>
            <a:r>
              <a:rPr lang="es-CL" altLang="ko-KR" dirty="0">
                <a:latin typeface="Haan Baekje M" pitchFamily="18" charset="-127"/>
                <a:ea typeface="Haan Baekje M" pitchFamily="18" charset="-127"/>
              </a:rPr>
              <a:t>= aquel, aquellos,     				  aquellas</a:t>
            </a:r>
          </a:p>
          <a:p>
            <a:pPr marL="0" indent="0">
              <a:buNone/>
            </a:pPr>
            <a:r>
              <a:rPr lang="es-CL" dirty="0">
                <a:latin typeface="Haan Baekje M" pitchFamily="18" charset="-127"/>
                <a:ea typeface="Haan Baekje M" pitchFamily="18" charset="-127"/>
              </a:rPr>
              <a:t>			(Por ahí, Por allá)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65C87-A5C3-7CFD-F12D-D7A16C30B631}"/>
              </a:ext>
            </a:extLst>
          </p:cNvPr>
          <p:cNvSpPr txBox="1"/>
          <p:nvPr/>
        </p:nvSpPr>
        <p:spPr>
          <a:xfrm>
            <a:off x="4858327" y="877455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이게 뭐예요</a:t>
            </a:r>
            <a:r>
              <a:rPr lang="es-CL" altLang="ko-KR" dirty="0"/>
              <a:t>? Qué es esto?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62503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ching\Desktop\Korean Clases\이거는 그거는저거는\이거는 그거는 저거는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61161"/>
            <a:ext cx="7840276" cy="413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570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Users\ching\Desktop\Korean Clases\이거는 그거는저거는\이거는 뭐예요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61161"/>
            <a:ext cx="7772014" cy="409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743200" y="2286000"/>
            <a:ext cx="53001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2800" dirty="0">
                <a:solidFill>
                  <a:schemeClr val="bg1"/>
                </a:solidFill>
              </a:rPr>
              <a:t>이거는 뭐예요</a:t>
            </a:r>
            <a:r>
              <a:rPr lang="es-CL" altLang="ko-KR" sz="2800" dirty="0">
                <a:solidFill>
                  <a:schemeClr val="bg1"/>
                </a:solidFill>
              </a:rPr>
              <a:t>?</a:t>
            </a:r>
          </a:p>
          <a:p>
            <a:r>
              <a:rPr lang="es-CL" sz="2800" dirty="0">
                <a:solidFill>
                  <a:schemeClr val="bg1"/>
                </a:solidFill>
              </a:rPr>
              <a:t>Esto(PT) Que V(ser)</a:t>
            </a:r>
          </a:p>
          <a:p>
            <a:r>
              <a:rPr lang="ko-KR" altLang="es-CL" sz="2800" dirty="0">
                <a:solidFill>
                  <a:schemeClr val="bg1"/>
                </a:solidFill>
              </a:rPr>
              <a:t>그거는 사과예요</a:t>
            </a:r>
            <a:endParaRPr lang="es-CL" altLang="ko-KR" sz="2800" dirty="0">
              <a:solidFill>
                <a:schemeClr val="bg1"/>
              </a:solidFill>
            </a:endParaRPr>
          </a:p>
          <a:p>
            <a:r>
              <a:rPr lang="es-CL" sz="2800" dirty="0">
                <a:solidFill>
                  <a:schemeClr val="bg1"/>
                </a:solidFill>
              </a:rPr>
              <a:t>Eso(PT) Manzana V(ser)</a:t>
            </a:r>
          </a:p>
        </p:txBody>
      </p:sp>
    </p:spTree>
    <p:extLst>
      <p:ext uri="{BB962C8B-B14F-4D97-AF65-F5344CB8AC3E}">
        <p14:creationId xmlns:p14="http://schemas.microsoft.com/office/powerpoint/2010/main" val="2512969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Users\ching\Desktop\Korean Clases\이거는 그거는저거는\이거는 뭐예요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61161"/>
            <a:ext cx="7772014" cy="409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529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ching\Desktop\Korean Clases\이거는 그거는저거는\이거는 뭐예요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61161"/>
            <a:ext cx="7806836" cy="409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440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ching\Desktop\Korean Clases\이거는 그거는저거는\이거는 뭐예요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25601"/>
            <a:ext cx="7806836" cy="411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416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C:\Users\ching\Desktop\Korean Clases\이거는 그거는저거는\이거는 저거는 그거는 제목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65923"/>
            <a:ext cx="7806836" cy="411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390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 descr="C:\Users\ching\Desktop\Korean Clases\이거는 그거는저거는\이거는 저거는 명사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2" y="1665923"/>
            <a:ext cx="7806836" cy="409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74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C:\Users\ching\Desktop\Korean Clases\이거는 그거는저거는\이거는 말하는사람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304" y="1665923"/>
            <a:ext cx="7791595" cy="410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249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C:\Users\ching\Desktop\Korean Clases\이거는 그거는저거는\이거는 말하는사람 사과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304" y="1665923"/>
            <a:ext cx="7752747" cy="410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646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C:\Users\ching\Desktop\Korean Clases\이거는 그거는저거는\듣는사람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1660842"/>
            <a:ext cx="7800489" cy="410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71800" y="1981201"/>
            <a:ext cx="281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dirty="0">
                <a:solidFill>
                  <a:schemeClr val="bg1"/>
                </a:solidFill>
              </a:rPr>
              <a:t>이거는    뭐예요</a:t>
            </a:r>
            <a:r>
              <a:rPr lang="es-CL" altLang="ko-KR" dirty="0">
                <a:solidFill>
                  <a:schemeClr val="bg1"/>
                </a:solidFill>
              </a:rPr>
              <a:t>?</a:t>
            </a:r>
          </a:p>
          <a:p>
            <a:r>
              <a:rPr lang="ko-KR" altLang="es-CL" dirty="0">
                <a:solidFill>
                  <a:schemeClr val="bg1"/>
                </a:solidFill>
              </a:rPr>
              <a:t>저거는 </a:t>
            </a:r>
            <a:endParaRPr lang="es-CL" altLang="ko-KR" dirty="0">
              <a:solidFill>
                <a:schemeClr val="bg1"/>
              </a:solidFill>
            </a:endParaRPr>
          </a:p>
          <a:p>
            <a:r>
              <a:rPr lang="ko-KR" altLang="es-CL" dirty="0">
                <a:solidFill>
                  <a:schemeClr val="bg1"/>
                </a:solidFill>
              </a:rPr>
              <a:t>그거는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426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:\Users\ching\Desktop\Korean Clases\이거는 그거는저거는\듣는사람 그거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60842"/>
            <a:ext cx="7775398" cy="410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531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C:\Users\ching\Desktop\Korean Clases\이거는 그거는저거는\저거는 사과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50682"/>
            <a:ext cx="7820524" cy="411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559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C:\Users\ching\Desktop\Korean Clases\이거는 그거는저거는\저거는 사과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92318"/>
            <a:ext cx="7696200" cy="402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412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C:\Users\ching\Desktop\Korean Clases\이거는 그거는저거는\이거는 저거는 그거는 사과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903" y="1692318"/>
            <a:ext cx="7767155" cy="4098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74A000-5B62-4137-9B63-F9455B3764C4}"/>
              </a:ext>
            </a:extLst>
          </p:cNvPr>
          <p:cNvSpPr txBox="1"/>
          <p:nvPr/>
        </p:nvSpPr>
        <p:spPr>
          <a:xfrm>
            <a:off x="2507905" y="4718519"/>
            <a:ext cx="173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Esto</a:t>
            </a:r>
            <a:r>
              <a:rPr lang="en-US" dirty="0">
                <a:solidFill>
                  <a:schemeClr val="bg1"/>
                </a:solidFill>
              </a:rPr>
              <a:t> es manzana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24289-70CD-4170-BB05-800A8C05C1FF}"/>
              </a:ext>
            </a:extLst>
          </p:cNvPr>
          <p:cNvSpPr txBox="1"/>
          <p:nvPr/>
        </p:nvSpPr>
        <p:spPr>
          <a:xfrm>
            <a:off x="7875588" y="4718519"/>
            <a:ext cx="166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Eso</a:t>
            </a:r>
            <a:r>
              <a:rPr lang="en-US" dirty="0">
                <a:solidFill>
                  <a:schemeClr val="bg1"/>
                </a:solidFill>
              </a:rPr>
              <a:t> es manzana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9514D-6E76-4F57-B1C4-8E66A26A30C2}"/>
              </a:ext>
            </a:extLst>
          </p:cNvPr>
          <p:cNvSpPr txBox="1"/>
          <p:nvPr/>
        </p:nvSpPr>
        <p:spPr>
          <a:xfrm>
            <a:off x="5019598" y="5674445"/>
            <a:ext cx="206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Aquello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es manzana</a:t>
            </a:r>
          </a:p>
        </p:txBody>
      </p:sp>
    </p:spTree>
    <p:extLst>
      <p:ext uri="{BB962C8B-B14F-4D97-AF65-F5344CB8AC3E}">
        <p14:creationId xmlns:p14="http://schemas.microsoft.com/office/powerpoint/2010/main" val="730930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C:\Users\ching\Desktop\Korean Clases\이거는 그거는저거는\연습 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903" y="1654536"/>
            <a:ext cx="7767154" cy="409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492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C:\Users\ching\Desktop\Korean Clases\이거는 그거는저거는\딸기 연습 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653" y="1654536"/>
            <a:ext cx="7795747" cy="409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740325" y="2590801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2400" dirty="0">
                <a:solidFill>
                  <a:schemeClr val="bg1"/>
                </a:solidFill>
              </a:rPr>
              <a:t>딸기</a:t>
            </a:r>
            <a:endParaRPr lang="es-CL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156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C:\Users\ching\Desktop\Korean Clases\이거는 그거는저거는\딸기 연습 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133" y="1654536"/>
            <a:ext cx="7557104" cy="3984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112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C:\Users\ching\Desktop\Korean Clases\이거는 그거는저거는\딸기 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654536"/>
            <a:ext cx="7603713" cy="3984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0542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C:\Users\ching\Desktop\Korean Clases\이거는 그거는저거는\그거는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320" y="1671997"/>
            <a:ext cx="7523480" cy="3945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67400" y="3352801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dirty="0">
                <a:solidFill>
                  <a:schemeClr val="bg1"/>
                </a:solidFill>
              </a:rPr>
              <a:t>이게</a:t>
            </a:r>
            <a:r>
              <a:rPr lang="es-CL" altLang="ko-KR" dirty="0">
                <a:solidFill>
                  <a:schemeClr val="bg1"/>
                </a:solidFill>
              </a:rPr>
              <a:t>, </a:t>
            </a:r>
            <a:r>
              <a:rPr lang="ko-KR" altLang="es-CL" dirty="0">
                <a:solidFill>
                  <a:schemeClr val="bg1"/>
                </a:solidFill>
              </a:rPr>
              <a:t>이거</a:t>
            </a:r>
            <a:r>
              <a:rPr lang="es-CL" altLang="ko-KR" dirty="0">
                <a:solidFill>
                  <a:schemeClr val="bg1"/>
                </a:solidFill>
              </a:rPr>
              <a:t>, </a:t>
            </a:r>
            <a:r>
              <a:rPr lang="ko-KR" altLang="es-CL" dirty="0">
                <a:solidFill>
                  <a:schemeClr val="bg1"/>
                </a:solidFill>
              </a:rPr>
              <a:t>이것</a:t>
            </a:r>
            <a:endParaRPr lang="es-CL" altLang="ko-KR" dirty="0">
              <a:solidFill>
                <a:schemeClr val="bg1"/>
              </a:solidFill>
            </a:endParaRPr>
          </a:p>
          <a:p>
            <a:r>
              <a:rPr lang="ko-KR" altLang="es-CL" dirty="0">
                <a:solidFill>
                  <a:schemeClr val="bg1"/>
                </a:solidFill>
              </a:rPr>
              <a:t>이거는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267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C:\Users\ching\Desktop\Korean Clases\이거는 그거는저거는\저거는 가위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321" y="1638677"/>
            <a:ext cx="7607101" cy="397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BCD68C-6181-45A0-B9DC-A6372DCDDE18}"/>
              </a:ext>
            </a:extLst>
          </p:cNvPr>
          <p:cNvSpPr txBox="1"/>
          <p:nvPr/>
        </p:nvSpPr>
        <p:spPr>
          <a:xfrm>
            <a:off x="6109871" y="274320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가위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139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C:\Users\ching\Desktop\Korean Clases\이거는 그거는저거는\가위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321" y="1638677"/>
            <a:ext cx="7597977" cy="397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836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C:\Users\ching\Desktop\Korean Clases\이거는 그거는저거는\가위 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834" y="1638677"/>
            <a:ext cx="7533368" cy="392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450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C:\Users\ching\Desktop\Korean Clases\이거는 그거는저거는\가위 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835" y="1658998"/>
            <a:ext cx="7644564" cy="405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95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C:\Users\ching\Desktop\Korean Clases\이거는 그거는저거는\피짜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836" y="1643758"/>
            <a:ext cx="7677997" cy="3995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9B0E73-9CF3-4672-BE5A-5F0759C905CE}"/>
              </a:ext>
            </a:extLst>
          </p:cNvPr>
          <p:cNvSpPr txBox="1"/>
          <p:nvPr/>
        </p:nvSpPr>
        <p:spPr>
          <a:xfrm>
            <a:off x="6477001" y="364127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피자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2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C:\Users\ching\Desktop\Korean Clases\이거는 그거는저거는\피자 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643758"/>
            <a:ext cx="7876881" cy="414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>
            <a:normAutofit fontScale="90000"/>
          </a:bodyPr>
          <a:lstStyle/>
          <a:p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97582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C:\Users\ching\Desktop\Korean Clases\이거는 그거는저거는\피짜 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643758"/>
            <a:ext cx="7850943" cy="414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517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C:\Users\ching\Desktop\Korean Clases\이거는 그거는저거는\가위 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521" y="1643758"/>
            <a:ext cx="7743230" cy="407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711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C:\Users\ching\Desktop\Korean Clases\이거는 그거는저거는\저거는 피짜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1745358"/>
            <a:ext cx="7708715" cy="4045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978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C:\Users\ching\Desktop\Korean Clases\이거는 그거는저거는\연습 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641" y="1745357"/>
            <a:ext cx="7680443" cy="4045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800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C:\Users\ching\Desktop\Korean Clases\이거는 그거는저거는\이거는 연습 연필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745358"/>
            <a:ext cx="7564117" cy="396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86400" y="2617809"/>
            <a:ext cx="114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3200" dirty="0">
                <a:solidFill>
                  <a:schemeClr val="bg1"/>
                </a:solidFill>
              </a:rPr>
              <a:t>연필</a:t>
            </a:r>
            <a:endParaRPr lang="es-CL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1338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C:\Users\ching\Desktop\Korean Clases\이거는 그거는저거는\이거는 연습 연필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745356"/>
            <a:ext cx="7539137" cy="396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0478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C:\Users\ching\Desktop\Korean Clases\이거는 그거는저거는\이거는 연습 연필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60" y="1745357"/>
            <a:ext cx="7503577" cy="39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39000" y="4800600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Esto es un lápiz</a:t>
            </a:r>
          </a:p>
        </p:txBody>
      </p:sp>
    </p:spTree>
    <p:extLst>
      <p:ext uri="{BB962C8B-B14F-4D97-AF65-F5344CB8AC3E}">
        <p14:creationId xmlns:p14="http://schemas.microsoft.com/office/powerpoint/2010/main" val="34578569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C:\Users\ching\Desktop\Korean Clases\이거는 그거는저거는\이거는 무지개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60" y="1745357"/>
            <a:ext cx="7550885" cy="39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284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C:\Users\ching\Desktop\Korean Clases\이거는 그거는저거는\이거는 무지개 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60" y="1745355"/>
            <a:ext cx="7550885" cy="393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419100"/>
            <a:ext cx="10515600" cy="1325563"/>
          </a:xfrm>
        </p:spPr>
        <p:txBody>
          <a:bodyPr/>
          <a:lstStyle/>
          <a:p>
            <a:pPr algn="ctr"/>
            <a:r>
              <a:rPr lang="ko-KR" altLang="es-CL" dirty="0"/>
              <a:t>이게 뭐예요</a:t>
            </a:r>
            <a:r>
              <a:rPr lang="es-CL" altLang="ko-KR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29308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C:\Users\ching\Desktop\Korean Clases\이거는 그거는저거는\이거는 무지개 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59" y="1745355"/>
            <a:ext cx="7517152" cy="393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1641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 descr="C:\Users\ching\Desktop\Korean Clases\이거는 그거는저거는\이거는 저거는 그거는 요약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559" y="1676401"/>
            <a:ext cx="7517152" cy="393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68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CULTURA +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· "Nuestro", no "mi"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familia, país, escuela o casa, los coreanos casi siempre usan 우리 (nosotros) en vez de 내/제 (mi) — aunque seas hijo único.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엄마 (no "내 엄마") = mi mamá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나라 = mi país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학교 = mi escuela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집 = mi casa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una idea colectiva: tu familia, tu país y tu escuela se sienten compartidos con otros, no solo tuyos.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(nosotros · "our")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§4.8 · VOCABULARIO +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· La familia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coreano, algunas palabras de familia cambian según el GÉNERO de quien habla — algo que el español no tiene.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Hermano/a mayor: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형 (hyeong) = hermano mayor — lo dice un HOMBRE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오빠 (oppa) = hermano mayor — lo dice una MUJER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누나 (nuna) = hermana mayor — lo dice un HOMBRE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언니 (eonni) = hermana mayor — lo dice una MUJER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동생 (dongsaeng) = hermano/a MENOR — no cambia, sirve para los dos géneros.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ga-jok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(familia)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§4.8 · VOCABULARIO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de familia (가족)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형/오빠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Hno. mayor*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누나/언니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Hna. mayor*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Hno/a menor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할머니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Abuela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할아버지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Abuelo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§4.9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누구예요? · ¿Quién es?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 (nu-gu) = quién. Se usa con 예요/이에요 para personas — nunca con 뭐예요, que es solo para cosas.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 사람은 누구예요? → ¿Quién es esta persona?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 사람이 선생님이에요. → Aquella persona es el profesor.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 사람은 누구예요? → ¿Quién es esa persona?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우리 엄마예요. → Es mi mamá.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 + 예요 = 누구예요. Pero 누구 + 가 = 누가 (irregular, como ya viste en 이/가).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누구예요?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nu-gu-ye-yo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(¿quién es?)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§4.10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/ 아니요 · Acuerdo, no verdad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y 아니요 no son "sí" y "no": marcan ACUERDO o DESACUERDO con lo que dijo la otra persona.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clásico: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커피 안 좋아해요? → ¿No te gusta el café?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네, 안 좋아해요. → No, no me gusta. (acuerdo)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아니요, 좋아해요. → Sí, me gusta. (desacuerdo)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네, 맞아요. → Sí, es correcto.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¿Estoy de acuerdo con lo que dijo? Sí → 네. No → 아니요. No pienses en positivo/negativo.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/ 아니요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/ a-ni-yo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(acuerdo / desacuerdo)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-어요/아요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verbos coreanos terminan en -다 en forma de diccionario.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hablar en presente informal-amable: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Sacás el -다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Mirás la última vocal de la raíz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 es ㅏ o ㅗ → agregás 아요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Cualquier otra vocal → agregás 어요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하다 (hacer) → 해요 (caso especial)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-어요</a:t>
            </a:r>
            <a:endParaRPr lang="en-US" sz="8000" dirty="0"/>
          </a:p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-아요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-eoyo / -ayo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(presente informal)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EJEMPLOS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básicos conjugados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Mirá la vocal raíz y aplicá la regla: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(ir) → 가요  (raíz 가, vocal ㅏ → 아요, doble vocal se elimina)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(ver) → 봐요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 (comer) → 먹어요  (vocal ㅓ → 어요)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 → 공부해요  (caso especial 하다)</a:t>
            </a:r>
            <a:endParaRPr lang="en-US" sz="1800" dirty="0"/>
          </a:p>
        </p:txBody>
      </p:sp>
      <p:pic>
        <p:nvPicPr>
          <p:cNvPr id="8" name="Image 0" descr="/sessions/sleepy-zen-cray/mnt/outputs/deck_assets/flor_01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1338560" y="5669280"/>
            <a:ext cx="640080" cy="640080"/>
          </a:xfrm>
          <a:prstGeom prst="rect">
            <a:avLst/>
          </a:prstGeom>
        </p:spPr>
      </p:pic>
      <p:pic>
        <p:nvPicPr>
          <p:cNvPr id="9" name="Image 1" descr="/sessions/sleepy-zen-cray/mnt/outputs/deck_assets/logo_var2_az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2" descr="/sessions/sleepy-zen-cray/mnt/outputs/deck_assets/sello_linea_v1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 · VERBOS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verbos esenciales (parte 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→ 가요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venir → 와요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→ 봐요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→ 해요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 → 먹어요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 → 마셔요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 → 자요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→ 읽어요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→ 써요*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만나다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ver/conocer → 만나요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 · VERBOS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verbos esenciales (parte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→ 공부해요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→ 일해요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ejercicio → 운동해요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요리하다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cocinar → 요리해요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청소하다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→ 청소해요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→ 들어요*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→ 말해요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좋아하다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gustar → 좋아해요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vivir → 살아요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levantarse → 일어나요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 · DRILLING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Conjugación rápida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digo el diccionario, vos decís el presente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→ 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185160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가요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53912" y="2194560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2304288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 → ?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53912" y="3185160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먹어요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37432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47160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 → ?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4828032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공부해요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3912" y="3837432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3947160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→ ?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53912" y="4828032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봐요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480304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590032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마시다 → ?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6470904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마셔요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3912" y="5480304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5590032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자다 → ?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53912" y="6470904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자요</a:t>
            </a:r>
            <a:endParaRPr lang="en-US" sz="1400" dirty="0"/>
          </a:p>
        </p:txBody>
      </p:sp>
      <p:pic>
        <p:nvPicPr>
          <p:cNvPr id="23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4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§4.4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을/를 · Objeto directo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un OBJETO en la frase (lo que comés, lo que ves, lo que estudiás), va con la partícula 을/를.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받침 → 를 (커피를 마셔요)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 받침 → 을 (책을 읽어요)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 el objeto no lleva partícula. Por eso es fácil olvidarla.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/ 를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 / reul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(objeto directo)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§4.4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completas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마셔요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 café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읽어요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un libro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영화를 봐요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una película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한국어를 공부해요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coreano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음악을 들어요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Escucho música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음식을 먹어요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comida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§4.5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· Negación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decir 'NO hago ___', simplemente agregás 안 ANTES del verbo.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저는 커피를 안 마셔요 (No tomo café)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저는 영화를 안 봐요 (No veo películas)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 — verbos con 하다: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안 va ANTES de 하다, no antes del verbo completo: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공부 안 해요 (No estudio) ✅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일 안 해요 (No trabajo) 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(no, negación)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§4.6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 · También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 = 'también'. REEMPLAZA a 은/는 cuando querés expresar 'también yo' o 'también X'.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저도 학생이에요 (Yo también soy estudiante)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저도 커피를 마셔요 (Yo también tomo café)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마리아도 한국어를 공부해요 (María también estudia coreano)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digas '저는도' — es UNA o la OTRA, no las dos.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(también)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§4.7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día — ejemplo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8시에 일어나요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levanto a las 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마셔요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 café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9시에 일해요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 las 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12시에 점심을 먹어요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Almuerzo a las 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저녁에 드라마를 봐요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drama en la noche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11시에 자요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Duermo a las 11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ILSANGSAENGHWAL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5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Regla -어요/아요 dominada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20 verbos imprescindibles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Partícula de objeto 을/를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Negación con 안 (incluyendo verbos 하다)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도 = también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Podés describir tu día completo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de 1 minuto en coreano contando 5-7 cosas de tu día típico. Subir al Discord #tarea-sesion-4.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1860</Words>
  <Application>Microsoft Office PowerPoint</Application>
  <PresentationFormat>Widescreen</PresentationFormat>
  <Paragraphs>385</Paragraphs>
  <Slides>59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Haan Baekje M</vt:lpstr>
      <vt:lpstr>Malgun Gothic</vt:lpstr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이게 뭐예요?</vt:lpstr>
      <vt:lpstr>PowerPoint Presentation</vt:lpstr>
      <vt:lpstr>PowerPoint Presentation</vt:lpstr>
      <vt:lpstr>이게 뭐예요?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이게 뭐예요?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4</dc:title>
  <dc:subject>PptxGenJS Presentation</dc:subject>
  <dc:creator>김재희 (Jay Kim)</dc:creator>
  <cp:lastModifiedBy>Jae Hee Kim</cp:lastModifiedBy>
  <cp:revision>2</cp:revision>
  <dcterms:created xsi:type="dcterms:W3CDTF">2026-06-02T07:35:58Z</dcterms:created>
  <dcterms:modified xsi:type="dcterms:W3CDTF">2026-07-29T23:49:07Z</dcterms:modified>
</cp:coreProperties>
</file>