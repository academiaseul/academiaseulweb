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3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3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10515600" cy="3383280"/>
          </a:xfrm>
          <a:prstGeom prst="roundRect">
            <a:avLst>
              <a:gd name="adj" fmla="val 6000"/>
            </a:avLst>
          </a:prstGeom>
          <a:solidFill>
            <a:srgbClr val="362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A79BFF"/>
                </a:solidFill>
                <a:latin typeface="Arial"/>
                <a:ea typeface="Malgun Gothic"/>
                <a:cs typeface="Malgun Gothic"/>
              </a:rPr>
              <a:t>ACADEMIA SEÚL · MÉTODO CHINGU™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9875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Las partículas básicas
del coreano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886200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A79BFF"/>
                </a:solidFill>
                <a:latin typeface="Arial"/>
                <a:ea typeface="Malgun Gothic"/>
                <a:cs typeface="Malgun Gothic"/>
              </a:rPr>
              <a:t>이/가 · 은/는 · 을/를 · 와/과 · (이)랑 · 하고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572000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D9D4FF"/>
                </a:solidFill>
                <a:latin typeface="Arial"/>
                <a:ea typeface="Malgun Gothic"/>
                <a:cs typeface="Malgun Gothic"/>
              </a:rPr>
              <a:t>Nivel A1 · Primeras Palabras · guía de gramática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2057400"/>
            <a:ext cx="5120640" cy="1051560"/>
          </a:xfrm>
          <a:prstGeom prst="roundRect">
            <a:avLst>
              <a:gd name="adj" fmla="val 9000"/>
            </a:avLst>
          </a:prstGeom>
          <a:solidFill>
            <a:srgbClr val="FF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5120640" cy="1051560"/>
          </a:xfrm>
          <a:prstGeom prst="roundRect">
            <a:avLst>
              <a:gd name="adj" fmla="val 9000"/>
            </a:avLst>
          </a:prstGeom>
          <a:solidFill>
            <a:srgbClr val="EC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685800"/>
            <a:ext cx="914400" cy="914400"/>
          </a:xfrm>
          <a:prstGeom prst="ellipse">
            <a:avLst/>
          </a:prstGeom>
          <a:solidFill>
            <a:srgbClr val="403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658368"/>
            <a:ext cx="8229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Partícula</a:t>
            </a:r>
            <a:r>
              <a:rPr sz="3000" b="1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de </a:t>
            </a:r>
            <a:r>
              <a:rPr sz="30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SUJETO</a:t>
            </a:r>
            <a:r>
              <a:rPr sz="3000" b="1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 ·  </a:t>
            </a:r>
            <a:r>
              <a:rPr sz="30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이 / 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298448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dirty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Marca </a:t>
            </a:r>
            <a:r>
              <a:rPr sz="1600" b="0" dirty="0" err="1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quién</a:t>
            </a:r>
            <a:r>
              <a:rPr sz="1600" b="0" dirty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 o </a:t>
            </a:r>
            <a:r>
              <a:rPr sz="1600" b="0" dirty="0" err="1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qué</a:t>
            </a:r>
            <a:r>
              <a:rPr sz="1600" b="0" dirty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realiza</a:t>
            </a:r>
            <a:r>
              <a:rPr sz="1600" b="0" dirty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 la </a:t>
            </a:r>
            <a:r>
              <a:rPr sz="1600" b="0" dirty="0" err="1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acción</a:t>
            </a:r>
            <a:r>
              <a:rPr sz="1600" b="0" dirty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. También </a:t>
            </a:r>
            <a:r>
              <a:rPr sz="1600" b="0" dirty="0" err="1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enfatiza</a:t>
            </a:r>
            <a:r>
              <a:rPr sz="1600" b="0" dirty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 o introduce info </a:t>
            </a:r>
            <a:r>
              <a:rPr sz="1600" b="0" dirty="0" err="1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nueva</a:t>
            </a:r>
            <a:r>
              <a:rPr sz="1600" b="0" dirty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59846"/>
            <a:ext cx="457200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Termina </a:t>
            </a:r>
            <a:r>
              <a:rPr sz="1900" b="1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en</a:t>
            </a:r>
            <a:r>
              <a:rPr sz="1900" b="1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VOCAL  →  </a:t>
            </a:r>
            <a:r>
              <a:rPr sz="19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459846"/>
            <a:ext cx="457200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Termina </a:t>
            </a:r>
            <a:r>
              <a:rPr sz="1900" b="1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en</a:t>
            </a:r>
            <a:r>
              <a:rPr sz="1900" b="1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CONSONANTE  →  </a:t>
            </a:r>
            <a:r>
              <a:rPr sz="19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이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789370"/>
              </p:ext>
            </p:extLst>
          </p:nvPr>
        </p:nvGraphicFramePr>
        <p:xfrm>
          <a:off x="822960" y="3429000"/>
          <a:ext cx="10469879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1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Coreano</a:t>
                      </a:r>
                    </a:p>
                  </a:txBody>
                  <a:tcPr marL="128016" marR="73152" anchor="ctr">
                    <a:solidFill>
                      <a:srgbClr val="4036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Español</a:t>
                      </a:r>
                    </a:p>
                  </a:txBody>
                  <a:tcPr marL="128016" marR="73152" anchor="ctr">
                    <a:solidFill>
                      <a:srgbClr val="403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날씨</a:t>
                      </a:r>
                      <a:r>
                        <a:rPr sz="1500" b="1" dirty="0" err="1">
                          <a:solidFill>
                            <a:srgbClr val="4036ED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가</a:t>
                      </a:r>
                      <a:r>
                        <a:rPr sz="1500" b="1" dirty="0">
                          <a:solidFill>
                            <a:srgbClr val="4036ED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좋아요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.</a:t>
                      </a:r>
                    </a:p>
                  </a:txBody>
                  <a:tcPr marL="128016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El clima está bueno.</a:t>
                      </a:r>
                    </a:p>
                  </a:txBody>
                  <a:tcPr marL="128016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친구</a:t>
                      </a:r>
                      <a:r>
                        <a:rPr sz="1500" b="1" dirty="0" err="1">
                          <a:solidFill>
                            <a:srgbClr val="4036ED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가</a:t>
                      </a:r>
                      <a:r>
                        <a:rPr sz="1500" b="1" dirty="0">
                          <a:solidFill>
                            <a:srgbClr val="4036ED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와요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.</a:t>
                      </a:r>
                    </a:p>
                  </a:txBody>
                  <a:tcPr marL="128016" marR="73152" anchor="ctr">
                    <a:solidFill>
                      <a:srgbClr val="ECE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Viene un amigo.</a:t>
                      </a:r>
                    </a:p>
                  </a:txBody>
                  <a:tcPr marL="128016" marR="73152" anchor="ctr">
                    <a:solidFill>
                      <a:srgbClr val="EC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선생님</a:t>
                      </a:r>
                      <a:r>
                        <a:rPr sz="1500" b="1" dirty="0" err="1">
                          <a:solidFill>
                            <a:srgbClr val="4036ED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이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바빠요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.</a:t>
                      </a:r>
                    </a:p>
                  </a:txBody>
                  <a:tcPr marL="128016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El profesor está ocupado.</a:t>
                      </a:r>
                    </a:p>
                  </a:txBody>
                  <a:tcPr marL="128016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동생</a:t>
                      </a:r>
                      <a:r>
                        <a:rPr sz="1500" b="1" dirty="0" err="1">
                          <a:solidFill>
                            <a:srgbClr val="4036ED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이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자요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.</a:t>
                      </a:r>
                    </a:p>
                  </a:txBody>
                  <a:tcPr marL="128016" marR="73152" anchor="ctr">
                    <a:solidFill>
                      <a:srgbClr val="ECE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Mi </a:t>
                      </a:r>
                      <a:r>
                        <a:rPr sz="1500" b="0" dirty="0" err="1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hermano</a:t>
                      </a:r>
                      <a:r>
                        <a:rPr sz="1500" b="0" dirty="0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menor</a:t>
                      </a:r>
                      <a:r>
                        <a:rPr sz="1500" b="0" dirty="0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duerme</a:t>
                      </a:r>
                      <a:r>
                        <a:rPr sz="1500" b="0" dirty="0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.</a:t>
                      </a:r>
                    </a:p>
                  </a:txBody>
                  <a:tcPr marL="128016" marR="73152" anchor="ctr">
                    <a:solidFill>
                      <a:srgbClr val="EC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6355080"/>
            <a:ext cx="10469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dirty="0" err="1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Irregulares</a:t>
            </a:r>
            <a:r>
              <a:rPr sz="14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:  </a:t>
            </a:r>
            <a:r>
              <a:rPr sz="14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나+가→내가</a:t>
            </a:r>
            <a:r>
              <a:rPr sz="14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· </a:t>
            </a:r>
            <a:r>
              <a:rPr sz="14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저+가→제가</a:t>
            </a:r>
            <a:r>
              <a:rPr sz="14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· </a:t>
            </a:r>
            <a:r>
              <a:rPr sz="14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누구+가→누가</a:t>
            </a:r>
            <a:endParaRPr sz="1400" b="0" dirty="0">
              <a:solidFill>
                <a:srgbClr val="1E1B33"/>
              </a:solidFill>
              <a:latin typeface="Arial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2057400"/>
            <a:ext cx="5120640" cy="1051560"/>
          </a:xfrm>
          <a:prstGeom prst="roundRect">
            <a:avLst>
              <a:gd name="adj" fmla="val 9000"/>
            </a:avLst>
          </a:prstGeom>
          <a:solidFill>
            <a:srgbClr val="FF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5120640" cy="1051560"/>
          </a:xfrm>
          <a:prstGeom prst="roundRect">
            <a:avLst>
              <a:gd name="adj" fmla="val 9000"/>
            </a:avLst>
          </a:prstGeom>
          <a:solidFill>
            <a:srgbClr val="EC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685800"/>
            <a:ext cx="914400" cy="914400"/>
          </a:xfrm>
          <a:prstGeom prst="ellipse">
            <a:avLst/>
          </a:prstGeom>
          <a:solidFill>
            <a:srgbClr val="403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658368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Partícula</a:t>
            </a:r>
            <a:r>
              <a:rPr sz="2800" b="1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de </a:t>
            </a:r>
            <a:r>
              <a:rPr sz="28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TEMA y CONTRASTE  </a:t>
            </a:r>
            <a:r>
              <a:rPr sz="2800" b="1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·  은 / 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298448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Presenta el tema (“en cuanto a…”) o contrasta dos cosas.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59846"/>
            <a:ext cx="457200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900" b="1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Termina </a:t>
            </a:r>
            <a:r>
              <a:rPr sz="1900" b="1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en</a:t>
            </a:r>
            <a:r>
              <a:rPr sz="1900" b="1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VOCAL  → </a:t>
            </a:r>
            <a:r>
              <a:rPr sz="19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는</a:t>
            </a:r>
            <a:r>
              <a:rPr lang="es-CL" sz="19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 </a:t>
            </a:r>
            <a:endParaRPr sz="1900" b="1" dirty="0">
              <a:solidFill>
                <a:srgbClr val="4036ED"/>
              </a:solidFill>
              <a:latin typeface="Arial"/>
              <a:ea typeface="Malgun Gothic"/>
              <a:cs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46520" y="2459846"/>
            <a:ext cx="457200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Termina </a:t>
            </a:r>
            <a:r>
              <a:rPr sz="1900" b="1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en</a:t>
            </a:r>
            <a:r>
              <a:rPr sz="1900" b="1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CONSONANTE  →  </a:t>
            </a:r>
            <a:r>
              <a:rPr sz="19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은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145595"/>
              </p:ext>
            </p:extLst>
          </p:nvPr>
        </p:nvGraphicFramePr>
        <p:xfrm>
          <a:off x="822960" y="3429000"/>
          <a:ext cx="10469879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1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Coreano</a:t>
                      </a:r>
                    </a:p>
                  </a:txBody>
                  <a:tcPr marL="128016" marR="73152" anchor="ctr">
                    <a:solidFill>
                      <a:srgbClr val="4036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Español</a:t>
                      </a:r>
                    </a:p>
                  </a:txBody>
                  <a:tcPr marL="128016" marR="73152" anchor="ctr">
                    <a:solidFill>
                      <a:srgbClr val="403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저</a:t>
                      </a:r>
                      <a:r>
                        <a:rPr sz="1500" b="1" dirty="0" err="1">
                          <a:solidFill>
                            <a:srgbClr val="4036ED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는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학생이에요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.</a:t>
                      </a:r>
                    </a:p>
                  </a:txBody>
                  <a:tcPr marL="128016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Yo soy estudiante.</a:t>
                      </a:r>
                    </a:p>
                  </a:txBody>
                  <a:tcPr marL="128016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서울</a:t>
                      </a:r>
                      <a:r>
                        <a:rPr sz="1500" b="1" dirty="0" err="1">
                          <a:solidFill>
                            <a:srgbClr val="4036ED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은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한국에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있어요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.</a:t>
                      </a:r>
                    </a:p>
                  </a:txBody>
                  <a:tcPr marL="128016" marR="73152" anchor="ctr">
                    <a:solidFill>
                      <a:srgbClr val="ECE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Seúl está en Corea.</a:t>
                      </a:r>
                    </a:p>
                  </a:txBody>
                  <a:tcPr marL="128016" marR="73152" anchor="ctr">
                    <a:solidFill>
                      <a:srgbClr val="EC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형은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키</a:t>
                      </a:r>
                      <a:r>
                        <a:rPr sz="1500" b="1" dirty="0" err="1">
                          <a:solidFill>
                            <a:srgbClr val="4036ED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가</a:t>
                      </a:r>
                      <a:r>
                        <a:rPr sz="1500" b="0" dirty="0">
                          <a:solidFill>
                            <a:srgbClr val="4036ED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커요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. </a:t>
                      </a:r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그렇지만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동생</a:t>
                      </a:r>
                      <a:r>
                        <a:rPr sz="1500" b="1" dirty="0" err="1">
                          <a:solidFill>
                            <a:srgbClr val="4036ED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은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작아요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.</a:t>
                      </a:r>
                    </a:p>
                  </a:txBody>
                  <a:tcPr marL="128016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El mayor es alto; </a:t>
                      </a:r>
                      <a:r>
                        <a:rPr sz="1500" b="0" dirty="0" err="1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en</a:t>
                      </a:r>
                      <a:r>
                        <a:rPr sz="1500" b="0" dirty="0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cambio</a:t>
                      </a:r>
                      <a:r>
                        <a:rPr sz="1500" b="0" dirty="0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el </a:t>
                      </a:r>
                      <a:r>
                        <a:rPr sz="1500" b="0" dirty="0" err="1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menor</a:t>
                      </a:r>
                      <a:r>
                        <a:rPr sz="1500" b="0" dirty="0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es bajo.</a:t>
                      </a:r>
                    </a:p>
                  </a:txBody>
                  <a:tcPr marL="128016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5989320"/>
            <a:ext cx="10469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dirty="0" err="1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Contraste</a:t>
            </a:r>
            <a:r>
              <a:rPr sz="14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:  </a:t>
            </a:r>
            <a:r>
              <a:rPr sz="14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사과</a:t>
            </a:r>
            <a:r>
              <a:rPr sz="14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있어요</a:t>
            </a:r>
            <a:r>
              <a:rPr sz="14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? — </a:t>
            </a:r>
            <a:r>
              <a:rPr sz="14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아니요</a:t>
            </a:r>
            <a:r>
              <a:rPr sz="14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, </a:t>
            </a:r>
            <a:r>
              <a:rPr sz="14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배는</a:t>
            </a:r>
            <a:r>
              <a:rPr sz="14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있어요</a:t>
            </a:r>
            <a:r>
              <a:rPr sz="14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.  </a:t>
            </a:r>
            <a:r>
              <a:rPr sz="1400" b="0" dirty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(¿Hay manzanas? — No, </a:t>
            </a:r>
            <a:r>
              <a:rPr sz="1400" b="0" dirty="0" err="1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pero</a:t>
            </a:r>
            <a:r>
              <a:rPr sz="1400" b="0" dirty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peras</a:t>
            </a:r>
            <a:r>
              <a:rPr sz="1400" b="0" dirty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sí</a:t>
            </a:r>
            <a:r>
              <a:rPr sz="1400" b="0" dirty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120640" cy="4023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99160" y="1554480"/>
            <a:ext cx="5120640" cy="4023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이/가  vs  은/는</a:t>
            </a:r>
            <a:r>
              <a:rPr sz="3200" b="1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   — la duda eterna</a:t>
            </a:r>
          </a:p>
        </p:txBody>
      </p:sp>
      <p:sp>
        <p:nvSpPr>
          <p:cNvPr id="5" name="Oval 4"/>
          <p:cNvSpPr/>
          <p:nvPr/>
        </p:nvSpPr>
        <p:spPr>
          <a:xfrm>
            <a:off x="1143000" y="1828800"/>
            <a:ext cx="777240" cy="777240"/>
          </a:xfrm>
          <a:prstGeom prst="ellipse">
            <a:avLst/>
          </a:prstGeom>
          <a:solidFill>
            <a:srgbClr val="FE6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938528"/>
            <a:ext cx="347472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이 / 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88920"/>
            <a:ext cx="4480560" cy="1679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Señala</a:t>
            </a:r>
            <a:r>
              <a:rPr sz="15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500" b="1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quién</a:t>
            </a:r>
            <a:r>
              <a:rPr sz="15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hace</a:t>
            </a:r>
            <a:r>
              <a:rPr sz="15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algo, </a:t>
            </a:r>
            <a:r>
              <a:rPr sz="15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aporta</a:t>
            </a:r>
            <a:r>
              <a:rPr sz="15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500" b="1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info </a:t>
            </a:r>
            <a:r>
              <a:rPr sz="1500" b="1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nueva</a:t>
            </a:r>
            <a:r>
              <a:rPr sz="15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o </a:t>
            </a:r>
            <a:r>
              <a:rPr sz="15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enfatiza</a:t>
            </a:r>
            <a:r>
              <a:rPr sz="15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.
</a:t>
            </a:r>
            <a:r>
              <a:rPr sz="1500" b="1" dirty="0">
                <a:latin typeface="Arial"/>
                <a:ea typeface="Malgun Gothic"/>
                <a:cs typeface="Malgun Gothic"/>
              </a:rPr>
              <a:t>
</a:t>
            </a:r>
            <a:r>
              <a:rPr sz="1500" dirty="0" err="1">
                <a:latin typeface="Arial"/>
                <a:ea typeface="Malgun Gothic"/>
                <a:cs typeface="Malgun Gothic"/>
              </a:rPr>
              <a:t>누가</a:t>
            </a:r>
            <a:r>
              <a:rPr sz="1500" dirty="0">
                <a:latin typeface="Arial"/>
                <a:ea typeface="Malgun Gothic"/>
                <a:cs typeface="Malgun Gothic"/>
              </a:rPr>
              <a:t> </a:t>
            </a:r>
            <a:r>
              <a:rPr sz="1500" dirty="0" err="1">
                <a:latin typeface="Arial"/>
                <a:ea typeface="Malgun Gothic"/>
                <a:cs typeface="Malgun Gothic"/>
              </a:rPr>
              <a:t>선생님이에요</a:t>
            </a:r>
            <a:r>
              <a:rPr sz="1500" dirty="0">
                <a:latin typeface="Arial"/>
                <a:ea typeface="Malgun Gothic"/>
                <a:cs typeface="Malgun Gothic"/>
              </a:rPr>
              <a:t>?
</a:t>
            </a:r>
            <a:r>
              <a:rPr sz="1500" dirty="0" err="1">
                <a:latin typeface="Arial"/>
                <a:ea typeface="Malgun Gothic"/>
                <a:cs typeface="Malgun Gothic"/>
              </a:rPr>
              <a:t>제인</a:t>
            </a:r>
            <a:r>
              <a:rPr sz="1500" dirty="0">
                <a:latin typeface="Arial"/>
                <a:ea typeface="Malgun Gothic"/>
                <a:cs typeface="Malgun Gothic"/>
              </a:rPr>
              <a:t> </a:t>
            </a:r>
            <a:r>
              <a:rPr sz="1500" dirty="0" err="1">
                <a:latin typeface="Arial"/>
                <a:ea typeface="Malgun Gothic"/>
                <a:cs typeface="Malgun Gothic"/>
              </a:rPr>
              <a:t>씨</a:t>
            </a:r>
            <a:r>
              <a:rPr sz="1500" b="1" dirty="0" err="1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가</a:t>
            </a:r>
            <a:r>
              <a:rPr sz="1500" dirty="0">
                <a:latin typeface="Arial"/>
                <a:ea typeface="Malgun Gothic"/>
                <a:cs typeface="Malgun Gothic"/>
              </a:rPr>
              <a:t> </a:t>
            </a:r>
            <a:r>
              <a:rPr sz="1500" dirty="0" err="1">
                <a:latin typeface="Arial"/>
                <a:ea typeface="Malgun Gothic"/>
                <a:cs typeface="Malgun Gothic"/>
              </a:rPr>
              <a:t>선생님이에요</a:t>
            </a:r>
            <a:r>
              <a:rPr sz="1500" dirty="0">
                <a:latin typeface="Arial"/>
                <a:ea typeface="Malgun Gothic"/>
                <a:cs typeface="Malgun Gothic"/>
              </a:rPr>
              <a:t>.</a:t>
            </a:r>
            <a:r>
              <a:rPr sz="15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
</a:t>
            </a:r>
            <a:r>
              <a:rPr sz="1500" b="0" dirty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Pista: </a:t>
            </a:r>
            <a:r>
              <a:rPr sz="1500" b="0" dirty="0" err="1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respondes</a:t>
            </a:r>
            <a:r>
              <a:rPr sz="1500" b="0" dirty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 “¿</a:t>
            </a:r>
            <a:r>
              <a:rPr sz="1500" b="0" dirty="0" err="1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quién</a:t>
            </a:r>
            <a:r>
              <a:rPr sz="1500" b="0" dirty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?” o es algo nuevo.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1826661"/>
            <a:ext cx="777240" cy="777240"/>
          </a:xfrm>
          <a:prstGeom prst="ellipse">
            <a:avLst/>
          </a:prstGeom>
          <a:solidFill>
            <a:srgbClr val="403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s-CL" sz="2000" b="1" dirty="0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가</a:t>
            </a:r>
            <a:endParaRPr sz="2000" b="1" dirty="0">
              <a:solidFill>
                <a:srgbClr val="FFFFFF"/>
              </a:solidFill>
              <a:latin typeface="Arial"/>
              <a:ea typeface="Malgun Gothic"/>
              <a:cs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79" y="1938528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은 / 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88920"/>
            <a:ext cx="4480560" cy="1679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Presenta el </a:t>
            </a:r>
            <a:r>
              <a:rPr sz="1500" b="1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tema</a:t>
            </a:r>
            <a:r>
              <a:rPr sz="15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o </a:t>
            </a:r>
            <a:r>
              <a:rPr sz="1500" b="1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contrasta</a:t>
            </a:r>
            <a:r>
              <a:rPr sz="15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.
</a:t>
            </a:r>
            <a:r>
              <a:rPr sz="1500" dirty="0" err="1">
                <a:latin typeface="Arial"/>
                <a:ea typeface="Malgun Gothic"/>
                <a:cs typeface="Malgun Gothic"/>
              </a:rPr>
              <a:t>제인</a:t>
            </a:r>
            <a:r>
              <a:rPr sz="1500" dirty="0">
                <a:latin typeface="Arial"/>
                <a:ea typeface="Malgun Gothic"/>
                <a:cs typeface="Malgun Gothic"/>
              </a:rPr>
              <a:t> </a:t>
            </a:r>
            <a:r>
              <a:rPr sz="1500" dirty="0" err="1">
                <a:latin typeface="Arial"/>
                <a:ea typeface="Malgun Gothic"/>
                <a:cs typeface="Malgun Gothic"/>
              </a:rPr>
              <a:t>씨</a:t>
            </a:r>
            <a:r>
              <a:rPr sz="1500" b="1" dirty="0" err="1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는</a:t>
            </a:r>
            <a:r>
              <a:rPr sz="1500" dirty="0">
                <a:latin typeface="Arial"/>
                <a:ea typeface="Malgun Gothic"/>
                <a:cs typeface="Malgun Gothic"/>
              </a:rPr>
              <a:t> </a:t>
            </a:r>
            <a:r>
              <a:rPr sz="1500" dirty="0" err="1">
                <a:latin typeface="Arial"/>
                <a:ea typeface="Malgun Gothic"/>
                <a:cs typeface="Malgun Gothic"/>
              </a:rPr>
              <a:t>선생님이에요</a:t>
            </a:r>
            <a:r>
              <a:rPr sz="1500" dirty="0">
                <a:latin typeface="Arial"/>
                <a:ea typeface="Malgun Gothic"/>
                <a:cs typeface="Malgun Gothic"/>
              </a:rPr>
              <a:t>.
(</a:t>
            </a:r>
            <a:r>
              <a:rPr sz="1500" dirty="0" err="1">
                <a:latin typeface="Arial"/>
                <a:ea typeface="Malgun Gothic"/>
                <a:cs typeface="Malgun Gothic"/>
              </a:rPr>
              <a:t>그리고</a:t>
            </a:r>
            <a:r>
              <a:rPr sz="1500" dirty="0">
                <a:latin typeface="Arial"/>
                <a:ea typeface="Malgun Gothic"/>
                <a:cs typeface="Malgun Gothic"/>
              </a:rPr>
              <a:t> </a:t>
            </a:r>
            <a:r>
              <a:rPr sz="1500" dirty="0" err="1">
                <a:latin typeface="Arial"/>
                <a:ea typeface="Malgun Gothic"/>
                <a:cs typeface="Malgun Gothic"/>
              </a:rPr>
              <a:t>마크</a:t>
            </a:r>
            <a:r>
              <a:rPr sz="1500" dirty="0">
                <a:latin typeface="Arial"/>
                <a:ea typeface="Malgun Gothic"/>
                <a:cs typeface="Malgun Gothic"/>
              </a:rPr>
              <a:t> </a:t>
            </a:r>
            <a:r>
              <a:rPr sz="1500" dirty="0" err="1">
                <a:latin typeface="Arial"/>
                <a:ea typeface="Malgun Gothic"/>
                <a:cs typeface="Malgun Gothic"/>
              </a:rPr>
              <a:t>씨</a:t>
            </a:r>
            <a:r>
              <a:rPr sz="1500" b="1" dirty="0" err="1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는</a:t>
            </a:r>
            <a:r>
              <a:rPr sz="1500" dirty="0">
                <a:latin typeface="Arial"/>
                <a:ea typeface="Malgun Gothic"/>
                <a:cs typeface="Malgun Gothic"/>
              </a:rPr>
              <a:t> </a:t>
            </a:r>
            <a:r>
              <a:rPr sz="1500" dirty="0" err="1">
                <a:latin typeface="Arial"/>
                <a:ea typeface="Malgun Gothic"/>
                <a:cs typeface="Malgun Gothic"/>
              </a:rPr>
              <a:t>학생이에요</a:t>
            </a:r>
            <a:r>
              <a:rPr sz="1500" dirty="0">
                <a:latin typeface="Arial"/>
                <a:ea typeface="Malgun Gothic"/>
                <a:cs typeface="Malgun Gothic"/>
              </a:rPr>
              <a:t>.)</a:t>
            </a:r>
            <a:r>
              <a:rPr sz="15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
</a:t>
            </a:r>
            <a:r>
              <a:rPr sz="1500" b="0" dirty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Pista: “</a:t>
            </a:r>
            <a:r>
              <a:rPr sz="1500" b="0" dirty="0" err="1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en</a:t>
            </a:r>
            <a:r>
              <a:rPr sz="1500" b="0" dirty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cuanto</a:t>
            </a:r>
            <a:r>
              <a:rPr sz="1500" b="0" dirty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 a / </a:t>
            </a:r>
            <a:r>
              <a:rPr sz="1500" b="0" dirty="0" err="1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hablando</a:t>
            </a:r>
            <a:r>
              <a:rPr sz="1500" b="0" dirty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 de” o hay </a:t>
            </a:r>
            <a:r>
              <a:rPr sz="1500" b="0" dirty="0" err="1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comparación</a:t>
            </a:r>
            <a:r>
              <a:rPr sz="1500" b="0" dirty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515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dirty="0" err="1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Truco</a:t>
            </a:r>
            <a:r>
              <a:rPr sz="15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 de </a:t>
            </a:r>
            <a:r>
              <a:rPr sz="1500" b="1" dirty="0" err="1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clase</a:t>
            </a:r>
            <a:r>
              <a:rPr sz="15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:  </a:t>
            </a:r>
            <a:r>
              <a:rPr sz="15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si</a:t>
            </a:r>
            <a:r>
              <a:rPr sz="15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hay </a:t>
            </a:r>
            <a:r>
              <a:rPr sz="15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comparación</a:t>
            </a:r>
            <a:r>
              <a:rPr sz="15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→ 은/는.  Si </a:t>
            </a:r>
            <a:r>
              <a:rPr sz="15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respondes</a:t>
            </a:r>
            <a:r>
              <a:rPr sz="15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“¿</a:t>
            </a:r>
            <a:r>
              <a:rPr sz="15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quién</a:t>
            </a:r>
            <a:r>
              <a:rPr sz="15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?” → 이/가.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1899CD-0CA9-F00F-625F-03CC53C028F1}"/>
              </a:ext>
            </a:extLst>
          </p:cNvPr>
          <p:cNvSpPr/>
          <p:nvPr/>
        </p:nvSpPr>
        <p:spPr>
          <a:xfrm>
            <a:off x="6492240" y="1828800"/>
            <a:ext cx="777240" cy="777240"/>
          </a:xfrm>
          <a:prstGeom prst="ellipse">
            <a:avLst/>
          </a:prstGeom>
          <a:solidFill>
            <a:srgbClr val="403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2057400"/>
            <a:ext cx="5120640" cy="1051560"/>
          </a:xfrm>
          <a:prstGeom prst="roundRect">
            <a:avLst>
              <a:gd name="adj" fmla="val 9000"/>
            </a:avLst>
          </a:prstGeom>
          <a:solidFill>
            <a:srgbClr val="FF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5120640" cy="1051560"/>
          </a:xfrm>
          <a:prstGeom prst="roundRect">
            <a:avLst>
              <a:gd name="adj" fmla="val 9000"/>
            </a:avLst>
          </a:prstGeom>
          <a:solidFill>
            <a:srgbClr val="EC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685800"/>
            <a:ext cx="914400" cy="914400"/>
          </a:xfrm>
          <a:prstGeom prst="ellipse">
            <a:avLst/>
          </a:prstGeom>
          <a:solidFill>
            <a:srgbClr val="403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658368"/>
            <a:ext cx="82296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Partícula</a:t>
            </a:r>
            <a:r>
              <a:rPr sz="3000" b="1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de </a:t>
            </a:r>
            <a:r>
              <a:rPr sz="30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OBJETO</a:t>
            </a:r>
            <a:r>
              <a:rPr sz="3000" b="1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 ·  을 / 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298448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Marca el objeto que recibe la acción del verbo (qué comes, ves, compras…).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59846"/>
            <a:ext cx="457200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Termina </a:t>
            </a:r>
            <a:r>
              <a:rPr sz="1900" b="1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en</a:t>
            </a:r>
            <a:r>
              <a:rPr sz="1900" b="1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VOCAL  →  </a:t>
            </a:r>
            <a:r>
              <a:rPr sz="19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459846"/>
            <a:ext cx="457200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Termina </a:t>
            </a:r>
            <a:r>
              <a:rPr sz="1900" b="1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en</a:t>
            </a:r>
            <a:r>
              <a:rPr sz="1900" b="1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CONSONANTE  →  </a:t>
            </a:r>
            <a:r>
              <a:rPr sz="19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042593"/>
              </p:ext>
            </p:extLst>
          </p:nvPr>
        </p:nvGraphicFramePr>
        <p:xfrm>
          <a:off x="822960" y="3429000"/>
          <a:ext cx="10469879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1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Coreano</a:t>
                      </a:r>
                    </a:p>
                  </a:txBody>
                  <a:tcPr marL="128016" marR="73152" anchor="ctr">
                    <a:solidFill>
                      <a:srgbClr val="4036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Español</a:t>
                      </a:r>
                    </a:p>
                  </a:txBody>
                  <a:tcPr marL="128016" marR="73152" anchor="ctr">
                    <a:solidFill>
                      <a:srgbClr val="403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커피</a:t>
                      </a:r>
                      <a:r>
                        <a:rPr sz="1500" b="1" dirty="0" err="1">
                          <a:solidFill>
                            <a:srgbClr val="4036ED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를</a:t>
                      </a:r>
                      <a:r>
                        <a:rPr sz="1500" b="1" dirty="0">
                          <a:solidFill>
                            <a:srgbClr val="4036ED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마셔요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.</a:t>
                      </a:r>
                    </a:p>
                  </a:txBody>
                  <a:tcPr marL="128016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Bebo café.</a:t>
                      </a:r>
                    </a:p>
                  </a:txBody>
                  <a:tcPr marL="128016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영화</a:t>
                      </a:r>
                      <a:r>
                        <a:rPr sz="1500" b="1" dirty="0" err="1">
                          <a:solidFill>
                            <a:srgbClr val="4036ED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를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봐요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.</a:t>
                      </a:r>
                    </a:p>
                  </a:txBody>
                  <a:tcPr marL="128016" marR="73152" anchor="ctr">
                    <a:solidFill>
                      <a:srgbClr val="ECE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Veo una película.</a:t>
                      </a:r>
                    </a:p>
                  </a:txBody>
                  <a:tcPr marL="128016" marR="73152" anchor="ctr">
                    <a:solidFill>
                      <a:srgbClr val="EC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밥</a:t>
                      </a:r>
                      <a:r>
                        <a:rPr sz="1500" b="1" dirty="0" err="1">
                          <a:solidFill>
                            <a:srgbClr val="4036ED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을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먹어요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.</a:t>
                      </a:r>
                    </a:p>
                  </a:txBody>
                  <a:tcPr marL="128016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Como (arroz/comida).</a:t>
                      </a:r>
                    </a:p>
                  </a:txBody>
                  <a:tcPr marL="128016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음악</a:t>
                      </a:r>
                      <a:r>
                        <a:rPr sz="1500" b="1" dirty="0" err="1">
                          <a:solidFill>
                            <a:srgbClr val="4036ED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을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들어요</a:t>
                      </a:r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.</a:t>
                      </a:r>
                    </a:p>
                  </a:txBody>
                  <a:tcPr marL="128016" marR="73152" anchor="ctr">
                    <a:solidFill>
                      <a:srgbClr val="ECE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Escucho</a:t>
                      </a:r>
                      <a:r>
                        <a:rPr sz="1500" b="0" dirty="0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música</a:t>
                      </a:r>
                      <a:r>
                        <a:rPr sz="1500" b="0" dirty="0">
                          <a:solidFill>
                            <a:srgbClr val="6B6880"/>
                          </a:solidFill>
                          <a:latin typeface="Arial"/>
                          <a:ea typeface="Malgun Gothic"/>
                          <a:cs typeface="Malgun Gothic"/>
                        </a:rPr>
                        <a:t>.</a:t>
                      </a:r>
                    </a:p>
                  </a:txBody>
                  <a:tcPr marL="128016" marR="73152" anchor="ctr">
                    <a:solidFill>
                      <a:srgbClr val="EC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6355080"/>
            <a:ext cx="10469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E6768"/>
                </a:solidFill>
                <a:latin typeface="Arial"/>
                <a:ea typeface="Malgun Gothic"/>
                <a:cs typeface="Malgun Gothic"/>
              </a:rPr>
              <a:t>Ojo:  </a:t>
            </a:r>
            <a:r>
              <a:rPr sz="1400" b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N+하다 se junta → 공부를 하다 = 공부하다.  ·  무엇을 → 뭘 → 뭐 해요?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5806440"/>
            <a:ext cx="10469880" cy="731520"/>
          </a:xfrm>
          <a:prstGeom prst="roundRect">
            <a:avLst>
              <a:gd name="adj" fmla="val 20000"/>
            </a:avLst>
          </a:prstGeom>
          <a:solidFill>
            <a:srgbClr val="FF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685800"/>
            <a:ext cx="914400" cy="914400"/>
          </a:xfrm>
          <a:prstGeom prst="ellipse">
            <a:avLst/>
          </a:prstGeom>
          <a:solidFill>
            <a:srgbClr val="403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658368"/>
            <a:ext cx="91440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“Y” y “CON”  </a:t>
            </a:r>
            <a:r>
              <a:rPr sz="2700" b="1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·  와 / 과 · (이)랑 · </a:t>
            </a:r>
            <a:r>
              <a:rPr sz="2700" b="1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하고</a:t>
            </a:r>
            <a:endParaRPr sz="2700" b="1" dirty="0">
              <a:solidFill>
                <a:srgbClr val="1E1B33"/>
              </a:solidFill>
              <a:latin typeface="Arial"/>
              <a:ea typeface="Malgun Gothic"/>
              <a:cs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20240" y="1298448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B6880"/>
                </a:solidFill>
                <a:latin typeface="Arial"/>
                <a:ea typeface="Malgun Gothic"/>
                <a:cs typeface="Malgun Gothic"/>
              </a:rPr>
              <a:t>Unen sustantivos (“A y B”) o indican con quién haces algo. Cambia el registro.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77311"/>
              </p:ext>
            </p:extLst>
          </p:nvPr>
        </p:nvGraphicFramePr>
        <p:xfrm>
          <a:off x="822960" y="2011680"/>
          <a:ext cx="10469880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Partícula</a:t>
                      </a:r>
                    </a:p>
                  </a:txBody>
                  <a:tcPr marL="128016" anchor="ctr">
                    <a:solidFill>
                      <a:srgbClr val="403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Registro</a:t>
                      </a:r>
                    </a:p>
                  </a:txBody>
                  <a:tcPr marL="128016" anchor="ctr">
                    <a:solidFill>
                      <a:srgbClr val="403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Vocal</a:t>
                      </a:r>
                    </a:p>
                  </a:txBody>
                  <a:tcPr marL="128016" anchor="ctr">
                    <a:solidFill>
                      <a:srgbClr val="403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Consonante</a:t>
                      </a:r>
                    </a:p>
                  </a:txBody>
                  <a:tcPr marL="128016" anchor="ctr">
                    <a:solidFill>
                      <a:srgbClr val="403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와 / 과</a:t>
                      </a:r>
                    </a:p>
                  </a:txBody>
                  <a:tcPr marL="128016" anchor="ctr">
                    <a:solidFill>
                      <a:srgbClr val="EC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formal, </a:t>
                      </a:r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escrito</a:t>
                      </a:r>
                      <a:endParaRPr sz="1500" b="0" dirty="0">
                        <a:solidFill>
                          <a:srgbClr val="1E1B33"/>
                        </a:solidFill>
                        <a:latin typeface="Arial"/>
                        <a:ea typeface="Malgun Gothic"/>
                        <a:cs typeface="Malgun Gothic"/>
                      </a:endParaRPr>
                    </a:p>
                  </a:txBody>
                  <a:tcPr marL="128016" anchor="ctr">
                    <a:solidFill>
                      <a:srgbClr val="EC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와</a:t>
                      </a:r>
                    </a:p>
                  </a:txBody>
                  <a:tcPr marL="128016" anchor="ctr">
                    <a:solidFill>
                      <a:srgbClr val="EC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과</a:t>
                      </a:r>
                    </a:p>
                  </a:txBody>
                  <a:tcPr marL="128016" anchor="ctr">
                    <a:solidFill>
                      <a:srgbClr val="EC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(이)랑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coloquial, hablado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랑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이랑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1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하고</a:t>
                      </a:r>
                      <a:endParaRPr sz="1500" b="1" dirty="0">
                        <a:solidFill>
                          <a:srgbClr val="1E1B33"/>
                        </a:solidFill>
                        <a:latin typeface="Arial"/>
                        <a:ea typeface="Malgun Gothic"/>
                        <a:cs typeface="Malgun Gothic"/>
                      </a:endParaRPr>
                    </a:p>
                  </a:txBody>
                  <a:tcPr marL="128016" anchor="ctr">
                    <a:solidFill>
                      <a:srgbClr val="EC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neutro (ambos)</a:t>
                      </a:r>
                    </a:p>
                  </a:txBody>
                  <a:tcPr marL="128016" anchor="ctr">
                    <a:solidFill>
                      <a:srgbClr val="EC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하고</a:t>
                      </a:r>
                    </a:p>
                  </a:txBody>
                  <a:tcPr marL="128016" anchor="ctr">
                    <a:solidFill>
                      <a:srgbClr val="EC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하고</a:t>
                      </a:r>
                      <a:endParaRPr sz="1500" b="0" dirty="0">
                        <a:solidFill>
                          <a:srgbClr val="1E1B33"/>
                        </a:solidFill>
                        <a:latin typeface="Arial"/>
                        <a:ea typeface="Malgun Gothic"/>
                        <a:cs typeface="Malgun Gothic"/>
                      </a:endParaRPr>
                    </a:p>
                  </a:txBody>
                  <a:tcPr marL="128016" anchor="ctr">
                    <a:solidFill>
                      <a:srgbClr val="EC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572000"/>
            <a:ext cx="104698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 err="1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Ejemplos</a:t>
            </a:r>
            <a:r>
              <a:rPr sz="16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:  </a:t>
            </a:r>
            <a:r>
              <a:rPr sz="16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사과와</a:t>
            </a:r>
            <a:r>
              <a:rPr sz="16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배  ·  </a:t>
            </a:r>
            <a:r>
              <a:rPr sz="16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커피랑</a:t>
            </a:r>
            <a:r>
              <a:rPr sz="16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빵  ·  </a:t>
            </a:r>
            <a:r>
              <a:rPr sz="16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김밥하고</a:t>
            </a:r>
            <a:r>
              <a:rPr sz="16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라면</a:t>
            </a:r>
            <a:endParaRPr sz="1600" b="0" dirty="0">
              <a:solidFill>
                <a:srgbClr val="1E1B33"/>
              </a:solidFill>
              <a:latin typeface="Arial"/>
              <a:ea typeface="Malgun Gothic"/>
              <a:cs typeface="Malgun Gothi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104698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Con (</a:t>
            </a:r>
            <a:r>
              <a:rPr sz="1500" b="1" dirty="0" err="1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compañía</a:t>
            </a:r>
            <a:r>
              <a:rPr sz="15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):  </a:t>
            </a:r>
            <a:r>
              <a:rPr sz="15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친구하고</a:t>
            </a:r>
            <a:r>
              <a:rPr sz="15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같이</a:t>
            </a:r>
            <a:r>
              <a:rPr sz="15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영화를</a:t>
            </a:r>
            <a:r>
              <a:rPr sz="15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봐요</a:t>
            </a:r>
            <a:r>
              <a:rPr sz="15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= Veo </a:t>
            </a:r>
            <a:r>
              <a:rPr sz="15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una</a:t>
            </a:r>
            <a:r>
              <a:rPr sz="15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peli</a:t>
            </a:r>
            <a:r>
              <a:rPr sz="15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con un amigo.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064478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Regla:  </a:t>
            </a:r>
            <a:r>
              <a:rPr sz="14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no </a:t>
            </a:r>
            <a:r>
              <a:rPr sz="14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mezcles</a:t>
            </a:r>
            <a:r>
              <a:rPr sz="14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partículas</a:t>
            </a:r>
            <a:r>
              <a:rPr sz="14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en</a:t>
            </a:r>
            <a:r>
              <a:rPr sz="14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una</a:t>
            </a:r>
            <a:r>
              <a:rPr sz="14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lista</a:t>
            </a:r>
            <a:r>
              <a:rPr sz="14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.   </a:t>
            </a:r>
            <a:r>
              <a:rPr sz="14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BIEN:</a:t>
            </a:r>
            <a:r>
              <a:rPr sz="14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딸기와</a:t>
            </a:r>
            <a:r>
              <a:rPr sz="14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바나나와</a:t>
            </a:r>
            <a:r>
              <a:rPr sz="14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사과</a:t>
            </a:r>
            <a:r>
              <a:rPr sz="14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   </a:t>
            </a:r>
            <a:r>
              <a:rPr sz="1400" b="1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MAL:</a:t>
            </a:r>
            <a:r>
              <a:rPr sz="1400" b="0" dirty="0">
                <a:solidFill>
                  <a:srgbClr val="4036ED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딸기와</a:t>
            </a:r>
            <a:r>
              <a:rPr sz="14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바나나랑</a:t>
            </a:r>
            <a:r>
              <a:rPr sz="1400" b="0" dirty="0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 </a:t>
            </a:r>
            <a:r>
              <a:rPr sz="1400" b="0" dirty="0" err="1">
                <a:solidFill>
                  <a:srgbClr val="1E1B33"/>
                </a:solidFill>
                <a:latin typeface="Arial"/>
                <a:ea typeface="Malgun Gothic"/>
                <a:cs typeface="Malgun Gothic"/>
              </a:rPr>
              <a:t>사과</a:t>
            </a:r>
            <a:endParaRPr sz="1400" b="0" dirty="0">
              <a:solidFill>
                <a:srgbClr val="1E1B33"/>
              </a:solidFill>
              <a:latin typeface="Arial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3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rial"/>
                <a:ea typeface="Malgun Gothic"/>
                <a:cs typeface="Malgun Gothic"/>
              </a:rPr>
              <a:t>Resumen — para pizarra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0160" y="1554480"/>
          <a:ext cx="9601200" cy="352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Función</a:t>
                      </a:r>
                    </a:p>
                  </a:txBody>
                  <a:tcPr marL="146304" anchor="ctr">
                    <a:solidFill>
                      <a:srgbClr val="2A22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Partícula</a:t>
                      </a:r>
                    </a:p>
                  </a:txBody>
                  <a:tcPr marL="146304" anchor="ctr">
                    <a:solidFill>
                      <a:srgbClr val="2A22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Vocal</a:t>
                      </a:r>
                    </a:p>
                  </a:txBody>
                  <a:tcPr marL="146304" anchor="ctr">
                    <a:solidFill>
                      <a:srgbClr val="2A22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Malgun Gothic"/>
                          <a:cs typeface="Malgun Gothic"/>
                        </a:rPr>
                        <a:t>Consonante</a:t>
                      </a:r>
                    </a:p>
                  </a:txBody>
                  <a:tcPr marL="146304" anchor="ctr">
                    <a:solidFill>
                      <a:srgbClr val="2A2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Sujeto</a:t>
                      </a:r>
                    </a:p>
                  </a:txBody>
                  <a:tcPr marL="1463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이/가</a:t>
                      </a:r>
                    </a:p>
                  </a:txBody>
                  <a:tcPr marL="1463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가</a:t>
                      </a:r>
                    </a:p>
                  </a:txBody>
                  <a:tcPr marL="1463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이</a:t>
                      </a:r>
                    </a:p>
                  </a:txBody>
                  <a:tcPr marL="1463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Tema / contraste</a:t>
                      </a:r>
                    </a:p>
                  </a:txBody>
                  <a:tcPr marL="146304" anchor="ctr">
                    <a:solidFill>
                      <a:srgbClr val="EC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은/는</a:t>
                      </a:r>
                    </a:p>
                  </a:txBody>
                  <a:tcPr marL="146304" anchor="ctr">
                    <a:solidFill>
                      <a:srgbClr val="EC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는</a:t>
                      </a:r>
                    </a:p>
                  </a:txBody>
                  <a:tcPr marL="146304" anchor="ctr">
                    <a:solidFill>
                      <a:srgbClr val="EC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은</a:t>
                      </a:r>
                    </a:p>
                  </a:txBody>
                  <a:tcPr marL="146304" anchor="ctr">
                    <a:solidFill>
                      <a:srgbClr val="EC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Objeto</a:t>
                      </a:r>
                    </a:p>
                  </a:txBody>
                  <a:tcPr marL="1463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을/를</a:t>
                      </a:r>
                    </a:p>
                  </a:txBody>
                  <a:tcPr marL="1463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를</a:t>
                      </a:r>
                    </a:p>
                  </a:txBody>
                  <a:tcPr marL="1463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을</a:t>
                      </a:r>
                    </a:p>
                  </a:txBody>
                  <a:tcPr marL="1463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“Y”/“con” (formal)</a:t>
                      </a:r>
                    </a:p>
                  </a:txBody>
                  <a:tcPr marL="146304" anchor="ctr">
                    <a:solidFill>
                      <a:srgbClr val="EC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와/과</a:t>
                      </a:r>
                    </a:p>
                  </a:txBody>
                  <a:tcPr marL="146304" anchor="ctr">
                    <a:solidFill>
                      <a:srgbClr val="EC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와</a:t>
                      </a:r>
                    </a:p>
                  </a:txBody>
                  <a:tcPr marL="146304" anchor="ctr">
                    <a:solidFill>
                      <a:srgbClr val="EC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과</a:t>
                      </a:r>
                    </a:p>
                  </a:txBody>
                  <a:tcPr marL="146304" anchor="ctr">
                    <a:solidFill>
                      <a:srgbClr val="EC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“Y”/“con” (coloquial)</a:t>
                      </a:r>
                    </a:p>
                  </a:txBody>
                  <a:tcPr marL="1463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(이)랑</a:t>
                      </a:r>
                    </a:p>
                  </a:txBody>
                  <a:tcPr marL="1463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랑</a:t>
                      </a:r>
                    </a:p>
                  </a:txBody>
                  <a:tcPr marL="1463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이랑</a:t>
                      </a:r>
                    </a:p>
                  </a:txBody>
                  <a:tcPr marL="1463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“Y”/“con” (neutro)</a:t>
                      </a:r>
                    </a:p>
                  </a:txBody>
                  <a:tcPr marL="146304" anchor="ctr">
                    <a:solidFill>
                      <a:srgbClr val="EC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하고</a:t>
                      </a:r>
                    </a:p>
                  </a:txBody>
                  <a:tcPr marL="146304" anchor="ctr">
                    <a:solidFill>
                      <a:srgbClr val="EC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하고</a:t>
                      </a:r>
                    </a:p>
                  </a:txBody>
                  <a:tcPr marL="146304" anchor="ctr">
                    <a:solidFill>
                      <a:srgbClr val="EC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1B33"/>
                          </a:solidFill>
                          <a:latin typeface="Arial"/>
                          <a:ea typeface="Malgun Gothic"/>
                          <a:cs typeface="Malgun Gothic"/>
                        </a:rPr>
                        <a:t>하고</a:t>
                      </a:r>
                    </a:p>
                  </a:txBody>
                  <a:tcPr marL="146304" anchor="ctr">
                    <a:solidFill>
                      <a:srgbClr val="EC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80160" y="598932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A79BFF"/>
                </a:solidFill>
                <a:latin typeface="Arial"/>
                <a:ea typeface="Malgun Gothic"/>
                <a:cs typeface="Malgun Gothic"/>
              </a:rPr>
              <a:t>화이팅!   ·   Academia Seúl · Nivel A1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602</Words>
  <Application>Microsoft Office PowerPoint</Application>
  <PresentationFormat>Widescreen</PresentationFormat>
  <Paragraphs>111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Jae Hee Kim</cp:lastModifiedBy>
  <cp:revision>9</cp:revision>
  <dcterms:created xsi:type="dcterms:W3CDTF">2013-01-27T09:14:16Z</dcterms:created>
  <dcterms:modified xsi:type="dcterms:W3CDTF">2026-07-02T11:49:55Z</dcterms:modified>
  <cp:category/>
</cp:coreProperties>
</file>