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sldIdLst>
    <p:sldId id="278" r:id="rId2"/>
    <p:sldId id="342" r:id="rId3"/>
    <p:sldId id="340" r:id="rId4"/>
    <p:sldId id="343" r:id="rId5"/>
    <p:sldId id="344" r:id="rId6"/>
    <p:sldId id="279" r:id="rId7"/>
    <p:sldId id="271" r:id="rId8"/>
    <p:sldId id="272" r:id="rId9"/>
    <p:sldId id="273" r:id="rId10"/>
    <p:sldId id="341" r:id="rId11"/>
    <p:sldId id="301" r:id="rId12"/>
    <p:sldId id="315" r:id="rId13"/>
    <p:sldId id="319" r:id="rId14"/>
    <p:sldId id="323" r:id="rId15"/>
    <p:sldId id="329" r:id="rId16"/>
    <p:sldId id="332" r:id="rId17"/>
    <p:sldId id="270" r:id="rId18"/>
    <p:sldId id="274" r:id="rId19"/>
    <p:sldId id="275" r:id="rId20"/>
    <p:sldId id="276" r:id="rId21"/>
    <p:sldId id="277" r:id="rId22"/>
    <p:sldId id="289" r:id="rId23"/>
    <p:sldId id="338" r:id="rId24"/>
    <p:sldId id="280" r:id="rId25"/>
    <p:sldId id="281" r:id="rId2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135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5587-7030-43D3-8CB9-E0701624E15B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604B4-005C-4125-AB18-871978DCEA2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85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35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6441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048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6858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891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9269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774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2389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9253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63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7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4B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인물과 가족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y Familia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Pronombres, partículas, preguntas clave y vocabulario familiar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4EDC65-C2F5-53A9-BE78-3CD5C7631DA9}"/>
              </a:ext>
            </a:extLst>
          </p:cNvPr>
          <p:cNvSpPr txBox="1"/>
          <p:nvPr/>
        </p:nvSpPr>
        <p:spPr>
          <a:xfrm>
            <a:off x="2466109" y="794327"/>
            <a:ext cx="4269117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sz="2800" dirty="0"/>
              <a:t>Dictado</a:t>
            </a:r>
          </a:p>
          <a:p>
            <a:pPr marL="342900" indent="-342900">
              <a:buAutoNum type="arabicPeriod"/>
            </a:pPr>
            <a:r>
              <a:rPr lang="es-CL" sz="2800" dirty="0"/>
              <a:t>Pepino </a:t>
            </a:r>
            <a:r>
              <a:rPr lang="ko-KR" altLang="es-CL" sz="2800" dirty="0"/>
              <a:t>오이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Niño </a:t>
            </a:r>
            <a:r>
              <a:rPr lang="ko-KR" altLang="es-CL" sz="2800" dirty="0"/>
              <a:t>아이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Oso </a:t>
            </a:r>
            <a:r>
              <a:rPr lang="ko-KR" altLang="es-CL" sz="2800" dirty="0"/>
              <a:t>곰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Pan </a:t>
            </a:r>
            <a:r>
              <a:rPr lang="ko-KR" altLang="es-CL" sz="2800" dirty="0"/>
              <a:t>빵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Manzana </a:t>
            </a:r>
            <a:r>
              <a:rPr lang="ko-KR" altLang="es-CL" sz="2800" dirty="0"/>
              <a:t>사과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Conejo </a:t>
            </a:r>
            <a:r>
              <a:rPr lang="ko-KR" altLang="es-CL" sz="2800" dirty="0"/>
              <a:t>토끼 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Leche </a:t>
            </a:r>
            <a:r>
              <a:rPr lang="ko-KR" altLang="es-CL" sz="2800" dirty="0"/>
              <a:t>우유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Jugo </a:t>
            </a:r>
            <a:r>
              <a:rPr lang="ko-KR" altLang="es-CL" sz="2800" dirty="0"/>
              <a:t>주스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Gato </a:t>
            </a:r>
            <a:r>
              <a:rPr lang="ko-KR" altLang="es-CL" sz="2800" dirty="0"/>
              <a:t>고양이</a:t>
            </a:r>
            <a:endParaRPr lang="es-CL" sz="2800" dirty="0"/>
          </a:p>
          <a:p>
            <a:pPr marL="342900" indent="-342900">
              <a:buAutoNum type="arabicPeriod"/>
            </a:pPr>
            <a:r>
              <a:rPr lang="es-CL" sz="2800" dirty="0"/>
              <a:t>Profesor </a:t>
            </a:r>
            <a:r>
              <a:rPr lang="ko-KR" altLang="es-CL" sz="2800" dirty="0"/>
              <a:t>선생님</a:t>
            </a:r>
            <a:endParaRPr lang="es-ES" sz="2800" dirty="0"/>
          </a:p>
          <a:p>
            <a:endParaRPr lang="es-ES" sz="2800" dirty="0"/>
          </a:p>
          <a:p>
            <a:r>
              <a:rPr lang="es-ES" sz="2800" dirty="0"/>
              <a:t>Bonus: Kim Jae Hee </a:t>
            </a:r>
            <a:r>
              <a:rPr lang="ko-KR" altLang="es-CL" sz="2800" dirty="0"/>
              <a:t>김재희 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81524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E5C71D-DAB0-7920-0869-8728CFA8B24F}"/>
              </a:ext>
            </a:extLst>
          </p:cNvPr>
          <p:cNvSpPr txBox="1"/>
          <p:nvPr/>
        </p:nvSpPr>
        <p:spPr>
          <a:xfrm>
            <a:off x="886689" y="309526"/>
            <a:ext cx="920865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600" dirty="0"/>
              <a:t> Presentación</a:t>
            </a:r>
          </a:p>
          <a:p>
            <a:r>
              <a:rPr lang="es-CL" sz="3600" dirty="0" err="1"/>
              <a:t>안녕하세요</a:t>
            </a:r>
            <a:r>
              <a:rPr lang="es-CL" sz="3600" dirty="0"/>
              <a:t>.</a:t>
            </a:r>
          </a:p>
          <a:p>
            <a:r>
              <a:rPr lang="es-CL" sz="3600" dirty="0"/>
              <a:t>[</a:t>
            </a:r>
            <a:r>
              <a:rPr lang="es-CL" sz="3600" dirty="0" err="1"/>
              <a:t>an</a:t>
            </a:r>
            <a:r>
              <a:rPr lang="es-CL" sz="3600" dirty="0"/>
              <a:t> </a:t>
            </a:r>
            <a:r>
              <a:rPr lang="es-CL" sz="3600" dirty="0" err="1"/>
              <a:t>ñong</a:t>
            </a:r>
            <a:r>
              <a:rPr lang="es-CL" sz="3600" dirty="0"/>
              <a:t> ja se yo]</a:t>
            </a:r>
          </a:p>
          <a:p>
            <a:r>
              <a:rPr lang="es-CL" sz="3600" dirty="0" err="1"/>
              <a:t>저는</a:t>
            </a:r>
            <a:r>
              <a:rPr lang="es-CL" sz="3600" dirty="0"/>
              <a:t> </a:t>
            </a:r>
            <a:r>
              <a:rPr lang="es-CL" sz="3600" dirty="0" err="1"/>
              <a:t>김재희예요</a:t>
            </a:r>
            <a:r>
              <a:rPr lang="es-CL" sz="3600" dirty="0"/>
              <a:t>. / 제 </a:t>
            </a:r>
            <a:r>
              <a:rPr lang="es-CL" sz="3600" dirty="0" err="1"/>
              <a:t>이름은</a:t>
            </a:r>
            <a:r>
              <a:rPr lang="es-CL" sz="3600" dirty="0"/>
              <a:t> </a:t>
            </a:r>
            <a:r>
              <a:rPr lang="es-CL" sz="3600" dirty="0" err="1"/>
              <a:t>김재희예요</a:t>
            </a:r>
            <a:r>
              <a:rPr lang="es-CL" sz="3600" dirty="0"/>
              <a:t>.</a:t>
            </a:r>
          </a:p>
          <a:p>
            <a:r>
              <a:rPr lang="es-CL" sz="3600" dirty="0"/>
              <a:t>Yo(PT) nombre ser / Mi nombre(PT) nombre ser</a:t>
            </a:r>
          </a:p>
          <a:p>
            <a:r>
              <a:rPr lang="es-CL" sz="3600" dirty="0" err="1"/>
              <a:t>저는</a:t>
            </a:r>
            <a:r>
              <a:rPr lang="es-CL" sz="3600" dirty="0"/>
              <a:t> </a:t>
            </a:r>
            <a:r>
              <a:rPr lang="ko-KR" altLang="es-CL" sz="3600" dirty="0"/>
              <a:t>베네수엘라 사람이에요</a:t>
            </a:r>
            <a:r>
              <a:rPr lang="es-CL" sz="3600" dirty="0"/>
              <a:t>.</a:t>
            </a:r>
          </a:p>
          <a:p>
            <a:r>
              <a:rPr lang="ko-KR" altLang="es-CL" sz="3600" dirty="0"/>
              <a:t>디자이너예요</a:t>
            </a:r>
            <a:r>
              <a:rPr lang="es-CL" altLang="ko-KR" sz="3600" dirty="0"/>
              <a:t>.</a:t>
            </a:r>
          </a:p>
          <a:p>
            <a:endParaRPr lang="es-CL" sz="3600" dirty="0"/>
          </a:p>
          <a:p>
            <a:r>
              <a:rPr lang="ko-KR" altLang="es-CL" sz="3600" dirty="0"/>
              <a:t>나라  사람이에요</a:t>
            </a:r>
            <a:r>
              <a:rPr lang="es-CL" altLang="ko-KR" sz="3600" dirty="0"/>
              <a:t>. </a:t>
            </a:r>
          </a:p>
          <a:p>
            <a:r>
              <a:rPr lang="es-CL" altLang="ko-KR" sz="3600" dirty="0"/>
              <a:t>[</a:t>
            </a:r>
            <a:r>
              <a:rPr lang="es-CL" altLang="ko-KR" sz="3600" dirty="0" err="1"/>
              <a:t>Na-ra</a:t>
            </a:r>
            <a:r>
              <a:rPr lang="es-CL" altLang="ko-KR" sz="3600" dirty="0"/>
              <a:t> Saram-</a:t>
            </a:r>
          </a:p>
          <a:p>
            <a:r>
              <a:rPr lang="es-CL" sz="3600" dirty="0"/>
              <a:t>(</a:t>
            </a:r>
            <a:r>
              <a:rPr lang="es-CL" sz="3600" dirty="0" err="1"/>
              <a:t>Pais</a:t>
            </a:r>
            <a:r>
              <a:rPr lang="es-CL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298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24FE0-3B65-6BEA-F498-ECF2C0A04D5A}"/>
              </a:ext>
            </a:extLst>
          </p:cNvPr>
          <p:cNvSpPr txBox="1"/>
          <p:nvPr/>
        </p:nvSpPr>
        <p:spPr>
          <a:xfrm>
            <a:off x="1355412" y="713163"/>
            <a:ext cx="92086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s-CL" sz="3600" dirty="0"/>
              <a:t>변호사 </a:t>
            </a:r>
            <a:endParaRPr lang="es-CL" altLang="ko-KR" sz="3600" dirty="0"/>
          </a:p>
          <a:p>
            <a:endParaRPr lang="es-CL" altLang="ko-KR" sz="3600" dirty="0"/>
          </a:p>
          <a:p>
            <a:r>
              <a:rPr lang="es-CL" altLang="ko-KR" sz="3600" dirty="0"/>
              <a:t>‘</a:t>
            </a:r>
            <a:r>
              <a:rPr lang="ko-KR" altLang="es-CL" sz="3600" dirty="0"/>
              <a:t>이</a:t>
            </a:r>
            <a:r>
              <a:rPr lang="ko-KR" altLang="es-CL" sz="3600" dirty="0">
                <a:highlight>
                  <a:srgbClr val="FFFF00"/>
                </a:highlight>
              </a:rPr>
              <a:t>다</a:t>
            </a:r>
            <a:r>
              <a:rPr lang="es-CL" altLang="ko-KR" sz="3600" dirty="0"/>
              <a:t>’ = ser</a:t>
            </a:r>
          </a:p>
          <a:p>
            <a:r>
              <a:rPr lang="ko-KR" altLang="es-CL" sz="3600" dirty="0"/>
              <a:t>예요 </a:t>
            </a:r>
            <a:r>
              <a:rPr lang="es-CL" altLang="ko-KR" sz="3600" dirty="0"/>
              <a:t>= vocal</a:t>
            </a:r>
          </a:p>
          <a:p>
            <a:r>
              <a:rPr lang="ko-KR" altLang="es-CL" sz="3600" dirty="0"/>
              <a:t>이에요 </a:t>
            </a:r>
            <a:r>
              <a:rPr lang="es-CL" altLang="ko-KR" sz="3600" dirty="0"/>
              <a:t>= consonante/</a:t>
            </a:r>
            <a:r>
              <a:rPr lang="es-CL" altLang="ko-KR" sz="3600" dirty="0" err="1"/>
              <a:t>batchim</a:t>
            </a:r>
            <a:endParaRPr lang="es-CL" altLang="ko-KR" sz="3600" dirty="0"/>
          </a:p>
          <a:p>
            <a:r>
              <a:rPr lang="es-CL" altLang="ko-KR" sz="3600" dirty="0"/>
              <a:t>~</a:t>
            </a:r>
            <a:r>
              <a:rPr lang="ko-KR" altLang="es-CL" sz="3600" dirty="0"/>
              <a:t>이야</a:t>
            </a:r>
            <a:r>
              <a:rPr lang="es-CL" altLang="ko-KR" sz="3600" dirty="0"/>
              <a:t>/~</a:t>
            </a:r>
            <a:r>
              <a:rPr lang="ko-KR" altLang="es-CL" sz="3600" dirty="0"/>
              <a:t>야 </a:t>
            </a:r>
            <a:r>
              <a:rPr lang="es-CL" altLang="ko-KR" sz="3600" dirty="0"/>
              <a:t>= informal</a:t>
            </a:r>
          </a:p>
          <a:p>
            <a:r>
              <a:rPr lang="ko-KR" altLang="es-CL" sz="3600" dirty="0"/>
              <a:t>입니다 </a:t>
            </a:r>
            <a:r>
              <a:rPr lang="es-CL" altLang="ko-KR" sz="3600" dirty="0"/>
              <a:t>= profesional formal</a:t>
            </a:r>
          </a:p>
          <a:p>
            <a:r>
              <a:rPr lang="ko-KR" altLang="es-CL" sz="3600" dirty="0"/>
              <a:t>이시다 </a:t>
            </a:r>
            <a:r>
              <a:rPr lang="es-CL" altLang="ko-KR" sz="3600" dirty="0"/>
              <a:t>= formalísimo </a:t>
            </a:r>
          </a:p>
        </p:txBody>
      </p:sp>
    </p:spTree>
    <p:extLst>
      <p:ext uri="{BB962C8B-B14F-4D97-AF65-F5344CB8AC3E}">
        <p14:creationId xmlns:p14="http://schemas.microsoft.com/office/powerpoint/2010/main" val="200301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CF8E2C-746F-8258-82F5-01D254B23710}"/>
              </a:ext>
            </a:extLst>
          </p:cNvPr>
          <p:cNvSpPr txBox="1"/>
          <p:nvPr/>
        </p:nvSpPr>
        <p:spPr>
          <a:xfrm>
            <a:off x="1138595" y="889843"/>
            <a:ext cx="920865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600" dirty="0"/>
              <a:t>~</a:t>
            </a:r>
            <a:r>
              <a:rPr lang="ko-KR" altLang="es-CL" sz="3600" dirty="0"/>
              <a:t>요 </a:t>
            </a:r>
            <a:r>
              <a:rPr lang="es-CL" altLang="ko-KR" sz="3600" dirty="0"/>
              <a:t>= </a:t>
            </a:r>
            <a:r>
              <a:rPr lang="es-CL" altLang="ko-KR" sz="3600" dirty="0" err="1"/>
              <a:t>semi-formal</a:t>
            </a:r>
            <a:endParaRPr lang="es-CL" altLang="ko-KR" sz="3600" dirty="0"/>
          </a:p>
          <a:p>
            <a:r>
              <a:rPr lang="es-CL" altLang="ko-KR" sz="3600" dirty="0"/>
              <a:t>Cotidiano</a:t>
            </a:r>
          </a:p>
          <a:p>
            <a:endParaRPr lang="es-CL" altLang="ko-KR" sz="3600" dirty="0"/>
          </a:p>
          <a:p>
            <a:r>
              <a:rPr lang="ko-KR" altLang="es-CL" sz="3600" dirty="0"/>
              <a:t>디자이너예요</a:t>
            </a:r>
            <a:r>
              <a:rPr lang="es-CL" altLang="ko-KR" sz="3600" dirty="0"/>
              <a:t>= diseñador/a soy</a:t>
            </a:r>
          </a:p>
          <a:p>
            <a:r>
              <a:rPr lang="es-CL" altLang="ko-KR" sz="3600" dirty="0"/>
              <a:t>[</a:t>
            </a:r>
            <a:r>
              <a:rPr lang="es-CL" altLang="ko-KR" sz="3600" dirty="0" err="1"/>
              <a:t>di-ya-i-neo</a:t>
            </a:r>
            <a:r>
              <a:rPr lang="es-CL" altLang="ko-KR" sz="3600" dirty="0"/>
              <a:t> ye-</a:t>
            </a:r>
            <a:r>
              <a:rPr lang="es-CL" altLang="ko-KR" sz="3600" dirty="0" err="1"/>
              <a:t>io</a:t>
            </a:r>
            <a:r>
              <a:rPr lang="es-CL" altLang="ko-KR" sz="3600" dirty="0"/>
              <a:t>]</a:t>
            </a:r>
          </a:p>
          <a:p>
            <a:r>
              <a:rPr lang="ko-KR" altLang="es-CL" sz="3600" dirty="0"/>
              <a:t>학생이에요 </a:t>
            </a:r>
            <a:r>
              <a:rPr lang="es-CL" altLang="ko-KR" sz="3600" dirty="0"/>
              <a:t>= estudiante soy</a:t>
            </a:r>
          </a:p>
          <a:p>
            <a:r>
              <a:rPr lang="es-CL" altLang="ko-KR" sz="3600" dirty="0"/>
              <a:t>[ja-</a:t>
            </a:r>
            <a:r>
              <a:rPr lang="es-CL" altLang="ko-KR" sz="3600" dirty="0" err="1"/>
              <a:t>seng</a:t>
            </a:r>
            <a:r>
              <a:rPr lang="es-CL" altLang="ko-KR" sz="3600" dirty="0"/>
              <a:t> i-e-</a:t>
            </a:r>
            <a:r>
              <a:rPr lang="es-CL" altLang="ko-KR" sz="3600" dirty="0" err="1"/>
              <a:t>io</a:t>
            </a:r>
            <a:r>
              <a:rPr lang="es-CL" altLang="ko-KR" sz="3600" dirty="0"/>
              <a:t>]</a:t>
            </a:r>
          </a:p>
          <a:p>
            <a:r>
              <a:rPr lang="ko-KR" altLang="es-CL" sz="3600" dirty="0"/>
              <a:t>저는 </a:t>
            </a:r>
            <a:r>
              <a:rPr lang="es-CL" altLang="ko-KR" sz="3600" dirty="0"/>
              <a:t>_____</a:t>
            </a:r>
            <a:r>
              <a:rPr lang="ko-KR" altLang="es-CL" sz="3600" dirty="0"/>
              <a:t>예요</a:t>
            </a:r>
            <a:r>
              <a:rPr lang="es-CL" altLang="ko-KR" sz="3600" dirty="0"/>
              <a:t>/</a:t>
            </a:r>
            <a:r>
              <a:rPr lang="ko-KR" altLang="es-CL" sz="3600" dirty="0"/>
              <a:t>이에요</a:t>
            </a:r>
            <a:endParaRPr lang="es-CL" altLang="ko-KR" sz="3600" dirty="0"/>
          </a:p>
          <a:p>
            <a:r>
              <a:rPr lang="ko-KR" altLang="es-CL" sz="3600" dirty="0"/>
              <a:t>저는 선생님이에요</a:t>
            </a:r>
            <a:r>
              <a:rPr lang="es-CL" altLang="ko-K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009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hablamos de vos, de mí y de tu familia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Sesión 4 aprendiste a conjugar verbos. Hoy sumamos las piezas que arman una frase completa: quién habla y de quién hablás.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ver los PRONOMBRES, cómo se combinan con las PARTÍCULAS 은/는·이/가·을/를, cómo preguntar "¿qué es esto?" y "¿quién es?", el vocabulario de FAMILIA y la lógica de 네/아니요.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al final de la sesión puedas presentar a tu familia y responder preguntas básicas de sí/no en coreano.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§4B.1 · VOCABULARIO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Pronombres personales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(informal)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(formal)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59F2ED-7B48-4FAB-6413-34ADE9774E05}"/>
              </a:ext>
            </a:extLst>
          </p:cNvPr>
          <p:cNvSpPr txBox="1"/>
          <p:nvPr/>
        </p:nvSpPr>
        <p:spPr>
          <a:xfrm>
            <a:off x="3761694" y="4890254"/>
            <a:ext cx="27799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2800" dirty="0"/>
              <a:t>저는 재희입니다</a:t>
            </a:r>
            <a:endParaRPr lang="es-CL" altLang="ko-KR" sz="2800" dirty="0"/>
          </a:p>
          <a:p>
            <a:r>
              <a:rPr lang="ko-KR" altLang="es-CL" sz="2800" dirty="0"/>
              <a:t>나는 재희야 </a:t>
            </a:r>
            <a:endParaRPr lang="es-CL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§4B.2 · VOCABULARIO +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Pronombres + </a:t>
            </a:r>
            <a:r>
              <a:rPr lang="en-US" sz="2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partículas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s-CL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</a:t>
            </a:r>
            <a:r>
              <a:rPr lang="es-CL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s-CL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</a:t>
            </a:r>
            <a:r>
              <a:rPr lang="es-CL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s-CL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</a:t>
            </a:r>
            <a:r>
              <a:rPr lang="es-CL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s-CL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</a:t>
            </a:r>
            <a:r>
              <a:rPr lang="es-CL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s-CL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</a:t>
            </a:r>
            <a:r>
              <a:rPr lang="es-CL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s-CL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s-CL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· 내가* · 나를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· 제가* · 저를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너는 · 네가* · 너를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· 당신이 · 당신을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그는 · 그가 · 그를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그녀는 · 그녀가 · 그녀를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· 우리가 · 우리를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그들은 · 그들이 · 그들을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7121B1-BC4D-9A1A-484C-6B53B0C4CDF5}"/>
              </a:ext>
            </a:extLst>
          </p:cNvPr>
          <p:cNvSpPr txBox="1"/>
          <p:nvPr/>
        </p:nvSpPr>
        <p:spPr>
          <a:xfrm>
            <a:off x="2309091" y="4839855"/>
            <a:ext cx="258756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2800" dirty="0"/>
              <a:t>저</a:t>
            </a:r>
            <a:r>
              <a:rPr lang="ko-KR" altLang="es-CL" sz="2800" dirty="0">
                <a:highlight>
                  <a:srgbClr val="FFFF00"/>
                </a:highlight>
              </a:rPr>
              <a:t>는</a:t>
            </a:r>
            <a:r>
              <a:rPr lang="ko-KR" altLang="es-CL" sz="2800" dirty="0"/>
              <a:t> 재희예요</a:t>
            </a:r>
            <a:endParaRPr lang="es-CL" altLang="ko-KR" sz="2800" dirty="0"/>
          </a:p>
          <a:p>
            <a:r>
              <a:rPr lang="ko-KR" altLang="es-CL" sz="2800" dirty="0"/>
              <a:t>누가 재희예요</a:t>
            </a:r>
            <a:r>
              <a:rPr lang="es-CL" altLang="ko-KR" sz="2800" dirty="0"/>
              <a:t>?</a:t>
            </a:r>
          </a:p>
          <a:p>
            <a:r>
              <a:rPr lang="ko-KR" altLang="es-CL" sz="2800" dirty="0"/>
              <a:t>제</a:t>
            </a:r>
            <a:r>
              <a:rPr lang="ko-KR" altLang="es-CL" sz="2800" dirty="0">
                <a:highlight>
                  <a:srgbClr val="FFFF00"/>
                </a:highlight>
              </a:rPr>
              <a:t>가</a:t>
            </a:r>
            <a:r>
              <a:rPr lang="ko-KR" altLang="es-CL" sz="2800" dirty="0"/>
              <a:t> 재희예요</a:t>
            </a:r>
            <a:endParaRPr lang="es-CL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§4B.3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뭐예요? · ¿Qué es esto?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이거 es la forma hablada de 이것 (esto). Con la partícula 이/가 se contrae: 이것이 → 이게.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이게 뭐예요? → ¿Qué es esto?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그거는 사과예요. → Eso es una manzana.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이거 = cerca de mí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그거 = cerca de vos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niveles de distancia: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이(cerca de mí) · 그(cerca de vos) · 저(lejos de los dos) — 저거 = eso de allá.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i-ge mwo-ye-yo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(¿qué es esto?)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B8E8C1-2F0C-4911-8485-D20439AB226B}"/>
              </a:ext>
            </a:extLst>
          </p:cNvPr>
          <p:cNvSpPr txBox="1"/>
          <p:nvPr/>
        </p:nvSpPr>
        <p:spPr>
          <a:xfrm>
            <a:off x="6035040" y="517236"/>
            <a:ext cx="18742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이 </a:t>
            </a:r>
            <a:r>
              <a:rPr lang="es-CL" altLang="ko-KR" dirty="0"/>
              <a:t>cerca de mi</a:t>
            </a:r>
          </a:p>
          <a:p>
            <a:r>
              <a:rPr lang="ko-KR" altLang="es-CL" dirty="0"/>
              <a:t>그 </a:t>
            </a:r>
            <a:r>
              <a:rPr lang="es-CL" altLang="ko-KR" dirty="0"/>
              <a:t>cerca de ti</a:t>
            </a:r>
          </a:p>
          <a:p>
            <a:r>
              <a:rPr lang="ko-KR" altLang="es-CL" dirty="0"/>
              <a:t>저 </a:t>
            </a:r>
            <a:r>
              <a:rPr lang="es-CL" altLang="ko-KR" dirty="0"/>
              <a:t>lejos de ambos</a:t>
            </a:r>
            <a:endParaRPr lang="es-C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1D599D-0722-F3DE-88F3-3B510C9D7C3F}"/>
              </a:ext>
            </a:extLst>
          </p:cNvPr>
          <p:cNvSpPr txBox="1"/>
          <p:nvPr/>
        </p:nvSpPr>
        <p:spPr>
          <a:xfrm>
            <a:off x="8682182" y="640080"/>
            <a:ext cx="2118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분 </a:t>
            </a:r>
            <a:r>
              <a:rPr lang="es-CL" altLang="ko-KR" dirty="0"/>
              <a:t>= persona</a:t>
            </a:r>
          </a:p>
          <a:p>
            <a:r>
              <a:rPr lang="ko-KR" altLang="es-CL" dirty="0"/>
              <a:t>이 분 </a:t>
            </a:r>
            <a:r>
              <a:rPr lang="es-CL" altLang="ko-KR" dirty="0"/>
              <a:t>= esta persona</a:t>
            </a:r>
          </a:p>
          <a:p>
            <a:r>
              <a:rPr lang="ko-KR" altLang="es-CL" dirty="0"/>
              <a:t>대통령 </a:t>
            </a:r>
            <a:r>
              <a:rPr lang="es-CL" altLang="ko-KR" dirty="0"/>
              <a:t>= presidente</a:t>
            </a:r>
            <a:endParaRPr lang="es-C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FA7204-C132-AA24-B38E-23930BCDF9B5}"/>
              </a:ext>
            </a:extLst>
          </p:cNvPr>
          <p:cNvSpPr txBox="1"/>
          <p:nvPr/>
        </p:nvSpPr>
        <p:spPr>
          <a:xfrm>
            <a:off x="2050473" y="1105570"/>
            <a:ext cx="42883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4800" dirty="0"/>
              <a:t>이 </a:t>
            </a:r>
            <a:r>
              <a:rPr lang="es-CL" altLang="ko-KR" sz="4800" dirty="0"/>
              <a:t>(cerca ti)</a:t>
            </a:r>
          </a:p>
          <a:p>
            <a:r>
              <a:rPr lang="ko-KR" altLang="es-CL" sz="4800" dirty="0"/>
              <a:t>그 </a:t>
            </a:r>
            <a:r>
              <a:rPr lang="es-CL" altLang="ko-KR" sz="4800" dirty="0"/>
              <a:t>(lejos de ti)</a:t>
            </a:r>
          </a:p>
          <a:p>
            <a:r>
              <a:rPr lang="ko-KR" altLang="es-CL" sz="4800" dirty="0"/>
              <a:t>저 </a:t>
            </a:r>
            <a:r>
              <a:rPr lang="es-CL" altLang="ko-KR" sz="4800" dirty="0"/>
              <a:t>(lejos ambos)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5A0B0-BBFF-328F-7DCC-D909ABDBD16F}"/>
              </a:ext>
            </a:extLst>
          </p:cNvPr>
          <p:cNvSpPr txBox="1"/>
          <p:nvPr/>
        </p:nvSpPr>
        <p:spPr>
          <a:xfrm>
            <a:off x="7121236" y="1105570"/>
            <a:ext cx="423866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3200" dirty="0"/>
              <a:t>것 </a:t>
            </a:r>
            <a:r>
              <a:rPr lang="es-CL" altLang="ko-KR" sz="3200" dirty="0"/>
              <a:t>= cosa</a:t>
            </a:r>
          </a:p>
          <a:p>
            <a:r>
              <a:rPr lang="ko-KR" altLang="es-CL" sz="3200" dirty="0"/>
              <a:t>이 </a:t>
            </a:r>
            <a:r>
              <a:rPr lang="es-CL" altLang="ko-KR" sz="3200" dirty="0"/>
              <a:t>+ </a:t>
            </a:r>
            <a:r>
              <a:rPr lang="ko-KR" altLang="es-CL" sz="3200" dirty="0"/>
              <a:t>것 </a:t>
            </a:r>
            <a:r>
              <a:rPr lang="es-CL" altLang="ko-KR" sz="3200" dirty="0"/>
              <a:t>= </a:t>
            </a:r>
            <a:r>
              <a:rPr lang="ko-KR" altLang="es-CL" sz="3200" dirty="0"/>
              <a:t>이것 </a:t>
            </a:r>
            <a:r>
              <a:rPr lang="es-CL" altLang="ko-KR" sz="3200" dirty="0"/>
              <a:t>esto</a:t>
            </a:r>
          </a:p>
          <a:p>
            <a:r>
              <a:rPr lang="ko-KR" altLang="es-CL" sz="3200" dirty="0"/>
              <a:t>그 </a:t>
            </a:r>
            <a:r>
              <a:rPr lang="es-CL" altLang="ko-KR" sz="3200" dirty="0"/>
              <a:t>+ </a:t>
            </a:r>
            <a:r>
              <a:rPr lang="ko-KR" altLang="es-CL" sz="3200" dirty="0"/>
              <a:t>것 </a:t>
            </a:r>
            <a:r>
              <a:rPr lang="es-CL" altLang="ko-KR" sz="3200" dirty="0"/>
              <a:t>= </a:t>
            </a:r>
            <a:r>
              <a:rPr lang="ko-KR" altLang="es-CL" sz="3200" dirty="0"/>
              <a:t>그것 </a:t>
            </a:r>
            <a:r>
              <a:rPr lang="es-CL" altLang="ko-KR" sz="3200" dirty="0"/>
              <a:t>= eso</a:t>
            </a:r>
          </a:p>
          <a:p>
            <a:r>
              <a:rPr lang="ko-KR" altLang="es-CL" sz="3200" dirty="0"/>
              <a:t>저 </a:t>
            </a:r>
            <a:r>
              <a:rPr lang="es-CL" altLang="ko-KR" sz="3200" dirty="0"/>
              <a:t>+ </a:t>
            </a:r>
            <a:r>
              <a:rPr lang="ko-KR" altLang="es-CL" sz="3200" dirty="0"/>
              <a:t>것 </a:t>
            </a:r>
            <a:r>
              <a:rPr lang="es-CL" altLang="ko-KR" sz="3200" dirty="0"/>
              <a:t>= </a:t>
            </a:r>
            <a:r>
              <a:rPr lang="ko-KR" altLang="es-CL" sz="3200" dirty="0"/>
              <a:t>저것 </a:t>
            </a:r>
            <a:r>
              <a:rPr lang="es-CL" altLang="ko-KR" sz="3200" dirty="0"/>
              <a:t>= aquello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4189760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ching\Desktop\Korean Clases\이거는 그거는저거는\이거는 뭐예요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1161"/>
            <a:ext cx="7772014" cy="409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77309" y="1814946"/>
            <a:ext cx="53001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2800" dirty="0">
                <a:solidFill>
                  <a:schemeClr val="bg1"/>
                </a:solidFill>
              </a:rPr>
              <a:t>이거는 뭐예요</a:t>
            </a:r>
            <a:r>
              <a:rPr lang="es-CL" altLang="ko-KR" sz="2800" dirty="0">
                <a:solidFill>
                  <a:schemeClr val="bg1"/>
                </a:solidFill>
              </a:rPr>
              <a:t>? Que es esto?</a:t>
            </a:r>
          </a:p>
          <a:p>
            <a:r>
              <a:rPr lang="es-CL" altLang="ko-KR" sz="2800" dirty="0">
                <a:solidFill>
                  <a:schemeClr val="bg1"/>
                </a:solidFill>
              </a:rPr>
              <a:t>[i-geo-</a:t>
            </a:r>
            <a:r>
              <a:rPr lang="es-CL" altLang="ko-KR" sz="2800" dirty="0" err="1">
                <a:solidFill>
                  <a:schemeClr val="bg1"/>
                </a:solidFill>
              </a:rPr>
              <a:t>neun</a:t>
            </a:r>
            <a:r>
              <a:rPr lang="es-CL" altLang="ko-KR" sz="2800" dirty="0">
                <a:solidFill>
                  <a:schemeClr val="bg1"/>
                </a:solidFill>
              </a:rPr>
              <a:t> </a:t>
            </a:r>
            <a:r>
              <a:rPr lang="es-CL" altLang="ko-KR" sz="2800" dirty="0" err="1">
                <a:solidFill>
                  <a:schemeClr val="bg1"/>
                </a:solidFill>
              </a:rPr>
              <a:t>mo</a:t>
            </a:r>
            <a:r>
              <a:rPr lang="es-CL" altLang="ko-KR" sz="2800" dirty="0">
                <a:solidFill>
                  <a:schemeClr val="bg1"/>
                </a:solidFill>
              </a:rPr>
              <a:t>-ye-yo]</a:t>
            </a:r>
          </a:p>
          <a:p>
            <a:r>
              <a:rPr lang="es-CL" sz="2800" dirty="0">
                <a:solidFill>
                  <a:schemeClr val="bg1"/>
                </a:solidFill>
              </a:rPr>
              <a:t>Esto(PT) Que V(ser)</a:t>
            </a:r>
          </a:p>
          <a:p>
            <a:r>
              <a:rPr lang="ko-KR" altLang="es-CL" sz="2800" dirty="0">
                <a:solidFill>
                  <a:schemeClr val="bg1"/>
                </a:solidFill>
              </a:rPr>
              <a:t>그거는 사과예요 </a:t>
            </a:r>
            <a:r>
              <a:rPr lang="es-CL" altLang="ko-KR" sz="2800" dirty="0">
                <a:solidFill>
                  <a:schemeClr val="bg1"/>
                </a:solidFill>
              </a:rPr>
              <a:t>Eso es manzana</a:t>
            </a:r>
          </a:p>
          <a:p>
            <a:r>
              <a:rPr lang="es-CL" sz="2800" dirty="0">
                <a:solidFill>
                  <a:schemeClr val="bg1"/>
                </a:solidFill>
              </a:rPr>
              <a:t>Eso(PT) Manzana V(ser)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B13135-BFE0-E860-3AB2-3D5119D7007D}"/>
              </a:ext>
            </a:extLst>
          </p:cNvPr>
          <p:cNvSpPr txBox="1"/>
          <p:nvPr/>
        </p:nvSpPr>
        <p:spPr>
          <a:xfrm>
            <a:off x="2790023" y="4539153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[miso]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7750B-C024-0B4E-23C8-25C71CC10B1F}"/>
              </a:ext>
            </a:extLst>
          </p:cNvPr>
          <p:cNvSpPr txBox="1"/>
          <p:nvPr/>
        </p:nvSpPr>
        <p:spPr>
          <a:xfrm>
            <a:off x="2790023" y="5246997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[</a:t>
            </a:r>
            <a:r>
              <a:rPr lang="es-CL">
                <a:solidFill>
                  <a:schemeClr val="bg1"/>
                </a:solidFill>
              </a:rPr>
              <a:t>iong-yun]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969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C:\Users\ching\Desktop\Korean Clases\이거는 그거는저거는\딸기 연습 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53" y="1654536"/>
            <a:ext cx="7795747" cy="409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40325" y="2590801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2400" dirty="0">
                <a:solidFill>
                  <a:schemeClr val="bg1"/>
                </a:solidFill>
              </a:rPr>
              <a:t>딸기</a:t>
            </a:r>
            <a:endParaRPr lang="es-C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15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C:\Users\ching\Desktop\Korean Clases\이거는 그거는저거는\저거는 가위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21" y="1638677"/>
            <a:ext cx="7607101" cy="397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BCD68C-6181-45A0-B9DC-A6372DCDDE18}"/>
              </a:ext>
            </a:extLst>
          </p:cNvPr>
          <p:cNvSpPr txBox="1"/>
          <p:nvPr/>
        </p:nvSpPr>
        <p:spPr>
          <a:xfrm>
            <a:off x="6109871" y="27432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가위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139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C:\Users\ching\Desktop\Korean Clases\이거는 그거는저거는\피짜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36" y="1643758"/>
            <a:ext cx="7677997" cy="399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9B0E73-9CF3-4672-BE5A-5F0759C905CE}"/>
              </a:ext>
            </a:extLst>
          </p:cNvPr>
          <p:cNvSpPr txBox="1"/>
          <p:nvPr/>
        </p:nvSpPr>
        <p:spPr>
          <a:xfrm>
            <a:off x="6477001" y="364127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피자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2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C:\Users\ching\Desktop\Korean Clases\이거는 그거는저거는\이거는 연습 연필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504" y="775540"/>
            <a:ext cx="7564117" cy="396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12062" y="1684936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3200" dirty="0">
                <a:solidFill>
                  <a:schemeClr val="bg1"/>
                </a:solidFill>
              </a:rPr>
              <a:t>연필</a:t>
            </a:r>
            <a:endParaRPr lang="es-CL" sz="32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262ED-9C2D-BC72-127D-5C6EA2E9B132}"/>
              </a:ext>
            </a:extLst>
          </p:cNvPr>
          <p:cNvSpPr txBox="1"/>
          <p:nvPr/>
        </p:nvSpPr>
        <p:spPr>
          <a:xfrm>
            <a:off x="2927927" y="4904509"/>
            <a:ext cx="55261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2800" dirty="0"/>
              <a:t>그거는 한국어로 뭐예요</a:t>
            </a:r>
            <a:r>
              <a:rPr lang="es-CL" altLang="ko-KR" sz="2800" dirty="0"/>
              <a:t>?</a:t>
            </a:r>
          </a:p>
          <a:p>
            <a:r>
              <a:rPr lang="es-CL" sz="2800" dirty="0"/>
              <a:t>Eso(PT) Coreano(a, con, en) Que Ser </a:t>
            </a:r>
          </a:p>
        </p:txBody>
      </p:sp>
    </p:spTree>
    <p:extLst>
      <p:ext uri="{BB962C8B-B14F-4D97-AF65-F5344CB8AC3E}">
        <p14:creationId xmlns:p14="http://schemas.microsoft.com/office/powerpoint/2010/main" val="83313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C:\Users\ching\Desktop\Korean Clases\이거는 그거는저거는\이거는 무지개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60" y="1745357"/>
            <a:ext cx="7550885" cy="39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0AADF9-DBE6-4A89-E4DC-CC50D4ADE73E}"/>
              </a:ext>
            </a:extLst>
          </p:cNvPr>
          <p:cNvSpPr txBox="1"/>
          <p:nvPr/>
        </p:nvSpPr>
        <p:spPr>
          <a:xfrm>
            <a:off x="6927273" y="38515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>
                <a:solidFill>
                  <a:schemeClr val="bg1"/>
                </a:solidFill>
              </a:rPr>
              <a:t>무지개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284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§4B.4 · CULTURA +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· "Nuestro", no "mi"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familia, país, escuela o casa, los coreanos casi siempre usan 우리 (nosotros) en vez de 내/제 (mi) — aunque seas hijo único.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엄마 (no "내 엄마") = mi mama </a:t>
            </a: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아빠 </a:t>
            </a:r>
            <a:r>
              <a:rPr lang="es-CL" altLang="ko-KR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papa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나라 = mi país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학교 = mi escuela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집 = mi casa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una idea colectiva: tu familia, tu país y tu escuela se sienten compartidos con otros, no solo tuyos.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(nosotros · "our")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§4B.5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· La familia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coreano, algunas palabras de familia cambian según el GÉNERO de quien habla — algo que el español no tiene.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Hermano/a mayor: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형 (hyeong) = hermano mayor — lo dice un HOMBRE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오빠 (oppa) = hermano mayor — lo dice una MUJER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누나 (nuna) = hermana mayor — lo dice un HOMBRE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언니 (eonni) = hermana mayor — lo dice una MUJER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동생 (dongsaeng) = hermano/a MENOR — no cambia, sirve para los dos géneros.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ga-jok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(familia)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§4B.5 · VOCABULARIO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de familia (가족)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형/오빠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Hno. mayor*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누나/언니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Hna. mayor*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Hno/a menor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할머니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Abuela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할아버지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Abuelo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2639D6-7E39-C8D1-1E84-B8D6D20B53F0}"/>
              </a:ext>
            </a:extLst>
          </p:cNvPr>
          <p:cNvSpPr txBox="1"/>
          <p:nvPr/>
        </p:nvSpPr>
        <p:spPr>
          <a:xfrm>
            <a:off x="1481658" y="1417320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어머니</a:t>
            </a:r>
            <a:endParaRPr lang="es-CL" altLang="ko-KR" dirty="0"/>
          </a:p>
          <a:p>
            <a:r>
              <a:rPr lang="es-CL" dirty="0"/>
              <a:t>madre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828B93-01C6-0089-BFAA-282010929557}"/>
              </a:ext>
            </a:extLst>
          </p:cNvPr>
          <p:cNvSpPr txBox="1"/>
          <p:nvPr/>
        </p:nvSpPr>
        <p:spPr>
          <a:xfrm>
            <a:off x="4431094" y="1296769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아버지</a:t>
            </a:r>
            <a:endParaRPr lang="es-CL" altLang="ko-KR" dirty="0"/>
          </a:p>
          <a:p>
            <a:r>
              <a:rPr lang="es-CL" dirty="0"/>
              <a:t>padre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522FF0-AEF1-3344-58D7-37AE068CD184}"/>
              </a:ext>
            </a:extLst>
          </p:cNvPr>
          <p:cNvSpPr txBox="1"/>
          <p:nvPr/>
        </p:nvSpPr>
        <p:spPr>
          <a:xfrm>
            <a:off x="898251" y="4802909"/>
            <a:ext cx="26308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남자 </a:t>
            </a:r>
            <a:r>
              <a:rPr lang="es-CL" altLang="ko-KR" dirty="0"/>
              <a:t>= hombre</a:t>
            </a:r>
          </a:p>
          <a:p>
            <a:r>
              <a:rPr lang="ko-KR" altLang="es-CL" dirty="0"/>
              <a:t>여자 </a:t>
            </a:r>
            <a:r>
              <a:rPr lang="es-CL" altLang="ko-KR" dirty="0"/>
              <a:t>= mujer</a:t>
            </a:r>
          </a:p>
          <a:p>
            <a:r>
              <a:rPr lang="ko-KR" altLang="es-CL" dirty="0"/>
              <a:t>남동생 </a:t>
            </a:r>
            <a:r>
              <a:rPr lang="es-CL" altLang="ko-KR" dirty="0"/>
              <a:t>= hermano menor</a:t>
            </a:r>
          </a:p>
          <a:p>
            <a:r>
              <a:rPr lang="ko-KR" altLang="es-CL" dirty="0"/>
              <a:t>여동생 </a:t>
            </a:r>
            <a:r>
              <a:rPr lang="es-CL" altLang="ko-KR" dirty="0"/>
              <a:t>= hermana menor</a:t>
            </a:r>
            <a:endParaRPr lang="es-C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F2E6E-D264-D409-8C1F-FC8DEAC3814C}"/>
              </a:ext>
            </a:extLst>
          </p:cNvPr>
          <p:cNvSpPr txBox="1"/>
          <p:nvPr/>
        </p:nvSpPr>
        <p:spPr>
          <a:xfrm>
            <a:off x="3908514" y="4802907"/>
            <a:ext cx="192232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친구 </a:t>
            </a:r>
            <a:r>
              <a:rPr lang="es-CL" altLang="ko-KR" dirty="0"/>
              <a:t>= amigo</a:t>
            </a:r>
          </a:p>
          <a:p>
            <a:r>
              <a:rPr lang="ko-KR" altLang="es-CL" dirty="0"/>
              <a:t>남자친구 </a:t>
            </a:r>
            <a:r>
              <a:rPr lang="es-CL" altLang="ko-KR" dirty="0"/>
              <a:t>= pololo</a:t>
            </a:r>
          </a:p>
          <a:p>
            <a:r>
              <a:rPr lang="ko-KR" altLang="es-CL" dirty="0"/>
              <a:t>여자친구 </a:t>
            </a:r>
            <a:r>
              <a:rPr lang="es-CL" altLang="ko-KR" dirty="0"/>
              <a:t>= polola</a:t>
            </a:r>
          </a:p>
          <a:p>
            <a:r>
              <a:rPr lang="ko-KR" altLang="es-CL" dirty="0"/>
              <a:t>남사친구 </a:t>
            </a:r>
            <a:r>
              <a:rPr lang="es-CL" altLang="ko-KR" dirty="0"/>
              <a:t>= amigo</a:t>
            </a:r>
          </a:p>
          <a:p>
            <a:r>
              <a:rPr lang="ko-KR" altLang="es-CL" dirty="0"/>
              <a:t>여사친구 </a:t>
            </a:r>
            <a:r>
              <a:rPr lang="es-CL" altLang="ko-KR" dirty="0"/>
              <a:t>= amiga</a:t>
            </a:r>
            <a:endParaRPr lang="es-C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75DC07-7396-814D-6A40-6D556D6E7DC9}"/>
              </a:ext>
            </a:extLst>
          </p:cNvPr>
          <p:cNvSpPr txBox="1"/>
          <p:nvPr/>
        </p:nvSpPr>
        <p:spPr>
          <a:xfrm>
            <a:off x="6751782" y="228600"/>
            <a:ext cx="3101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우리 가족 </a:t>
            </a:r>
            <a:r>
              <a:rPr lang="es-CL" altLang="ko-KR" dirty="0"/>
              <a:t>= nuestra/mi familia</a:t>
            </a:r>
            <a:endParaRPr lang="es-C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45BE51-B01E-9C45-9D6B-D8098CB9532C}"/>
              </a:ext>
            </a:extLst>
          </p:cNvPr>
          <p:cNvSpPr txBox="1"/>
          <p:nvPr/>
        </p:nvSpPr>
        <p:spPr>
          <a:xfrm>
            <a:off x="6751782" y="765757"/>
            <a:ext cx="3101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우리 가족 </a:t>
            </a:r>
            <a:r>
              <a:rPr lang="es-CL" altLang="ko-KR" dirty="0"/>
              <a:t>= nuestra/mi familia</a:t>
            </a:r>
            <a:endParaRPr lang="es-CL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§4B.6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누구예요? · ¿Quién 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 (nu-gu) = quién. Se usa con 예요/이에요 para personas — nunca con 뭐예요, que es solo para cosas.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 사람은 누구예요? → ¿Quién es esta persona?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Este persona(PT)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quien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 es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이 사람은 이사마르예요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 사람이 선생님이에요. → Aquella persona es el profesor.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 사람은 누구예요? → ¿Quién es esa persona?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엄마예요. → Es mi mamá.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 + 예요 = 누구예요. Pero 누구 + 가 = 누가 (irregular, como ya viste en 이/가).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누구예요?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nu-gu-ye-yo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(¿quién es?)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§4B.7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/ 아니요 · Acuerdo, no verdad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y 아니요 no son "sí" y "no": marcan ACUERDO o DESACUERDO con lo que dijo la otra persona.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clásico: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커피 안 좋아해요? → ¿No te gusta el café?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네, 안 좋아해요. → No, no me gusta. (acuerdo)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아니요, 좋아해요. → Sí, me gusta. (desacuerdo)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네, 맞아요. → Sí, es correcto.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¿Estoy de acuerdo con lo que dijo? Sí → 네. No → 아니요. No pienses en positivo/negativo.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/ 아니요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/ a-ni-yo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(acuerdo / desacuerdo)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04B  ·  INMULGWAGAJOK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B509D-3E07-AA38-F864-549A107E8315}"/>
              </a:ext>
            </a:extLst>
          </p:cNvPr>
          <p:cNvSpPr txBox="1"/>
          <p:nvPr/>
        </p:nvSpPr>
        <p:spPr>
          <a:xfrm>
            <a:off x="6096000" y="365760"/>
            <a:ext cx="35894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좋아해요</a:t>
            </a:r>
            <a:r>
              <a:rPr lang="es-CL" altLang="ko-KR" dirty="0"/>
              <a:t>? = gustar</a:t>
            </a:r>
          </a:p>
          <a:p>
            <a:r>
              <a:rPr lang="ko-KR" altLang="es-CL" dirty="0"/>
              <a:t>커피를 좋아해요 </a:t>
            </a:r>
            <a:r>
              <a:rPr lang="es-CL" altLang="ko-KR" dirty="0"/>
              <a:t>= me gusta el café</a:t>
            </a:r>
          </a:p>
          <a:p>
            <a:r>
              <a:rPr lang="es-CL" dirty="0"/>
              <a:t>Cafe(PO) gustar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7B519-4D6F-BDF6-68C8-F3664BFE67DD}"/>
              </a:ext>
            </a:extLst>
          </p:cNvPr>
          <p:cNvSpPr txBox="1"/>
          <p:nvPr/>
        </p:nvSpPr>
        <p:spPr>
          <a:xfrm>
            <a:off x="9836727" y="365760"/>
            <a:ext cx="1802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안 좋아해요</a:t>
            </a:r>
            <a:endParaRPr lang="es-CL" altLang="ko-KR" dirty="0"/>
          </a:p>
          <a:p>
            <a:r>
              <a:rPr lang="es-CL" dirty="0"/>
              <a:t>No me gusta </a:t>
            </a:r>
            <a:r>
              <a:rPr lang="es-CL" dirty="0" err="1"/>
              <a:t>cafe</a:t>
            </a:r>
            <a:endParaRPr lang="es-CL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0587-9C2C-4386-9AAF-FB8AAD69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Conversación  </a:t>
            </a:r>
            <a:r>
              <a:rPr lang="ko-KR" altLang="es-CL" dirty="0"/>
              <a:t>네</a:t>
            </a:r>
            <a:endParaRPr lang="es-C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D152E-B1CE-4788-A868-8C625B720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68945"/>
            <a:ext cx="3964496" cy="3806923"/>
          </a:xfrm>
        </p:spPr>
        <p:txBody>
          <a:bodyPr>
            <a:normAutofit fontScale="92500" lnSpcReduction="10000"/>
          </a:bodyPr>
          <a:lstStyle/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A: ¿Sabes qué? Compré este libro ayer…</a:t>
            </a: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ko-KR" altLang="es-CL" dirty="0">
                <a:latin typeface="Arial" panose="020B0604020202020204" pitchFamily="34" charset="0"/>
                <a:cs typeface="Arial" panose="020B0604020202020204" pitchFamily="34" charset="0"/>
              </a:rPr>
              <a:t>네</a:t>
            </a:r>
            <a:r>
              <a:rPr lang="es-CL" altLang="ko-KR" dirty="0">
                <a:latin typeface="Arial" panose="020B0604020202020204" pitchFamily="34" charset="0"/>
                <a:cs typeface="Arial" panose="020B0604020202020204" pitchFamily="34" charset="0"/>
              </a:rPr>
              <a:t>. [</a:t>
            </a:r>
            <a:r>
              <a:rPr lang="es-CL" dirty="0" err="1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A: y me gusto mucho. </a:t>
            </a: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ko-KR" altLang="es-CL" dirty="0">
                <a:latin typeface="Arial" panose="020B0604020202020204" pitchFamily="34" charset="0"/>
                <a:cs typeface="Arial" panose="020B0604020202020204" pitchFamily="34" charset="0"/>
              </a:rPr>
              <a:t>네</a:t>
            </a:r>
            <a:r>
              <a:rPr lang="es-CL" altLang="ko-K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A: Pero es un poco caro. </a:t>
            </a: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ko-KR" altLang="es-CL" dirty="0">
                <a:latin typeface="Arial" panose="020B0604020202020204" pitchFamily="34" charset="0"/>
                <a:cs typeface="Arial" panose="020B0604020202020204" pitchFamily="34" charset="0"/>
              </a:rPr>
              <a:t>네</a:t>
            </a:r>
            <a:r>
              <a:rPr lang="es-CL" altLang="ko-K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A77253-ED02-4B25-911A-A471F4F1CAE8}"/>
              </a:ext>
            </a:extLst>
          </p:cNvPr>
          <p:cNvSpPr txBox="1"/>
          <p:nvPr/>
        </p:nvSpPr>
        <p:spPr>
          <a:xfrm>
            <a:off x="5845729" y="1914999"/>
            <a:ext cx="634627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A: ¿Sabes cuánto fue? </a:t>
            </a:r>
          </a:p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B: ¿Cuánto fue? </a:t>
            </a:r>
          </a:p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A: ¡Fueron 100 dólares! </a:t>
            </a:r>
          </a:p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ko-KR" altLang="es-CL" sz="2400" dirty="0">
                <a:latin typeface="Arial" panose="020B0604020202020204" pitchFamily="34" charset="0"/>
                <a:cs typeface="Arial" panose="020B0604020202020204" pitchFamily="34" charset="0"/>
              </a:rPr>
              <a:t>네</a:t>
            </a:r>
            <a:r>
              <a:rPr lang="es-CL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? [¿</a:t>
            </a:r>
            <a:r>
              <a:rPr lang="es-CL" sz="2400" dirty="0" err="1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?] </a:t>
            </a:r>
          </a:p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A: Entonces pagué el dinero con mi tarjeta de crédito. </a:t>
            </a:r>
          </a:p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ko-KR" altLang="es-CL" sz="2400" dirty="0">
                <a:latin typeface="Arial" panose="020B0604020202020204" pitchFamily="34" charset="0"/>
                <a:cs typeface="Arial" panose="020B0604020202020204" pitchFamily="34" charset="0"/>
              </a:rPr>
              <a:t>네 </a:t>
            </a:r>
            <a:r>
              <a:rPr lang="es-CL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..</a:t>
            </a:r>
            <a:endParaRPr lang="es-C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474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3FC-55C7-4B78-8D25-A9969165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s-CL" dirty="0"/>
              <a:t>네</a:t>
            </a:r>
            <a:r>
              <a:rPr lang="es-CL" altLang="ko-KR" dirty="0"/>
              <a:t>, </a:t>
            </a:r>
            <a:r>
              <a:rPr lang="ko-KR" altLang="es-CL" dirty="0"/>
              <a:t>빵이에요</a:t>
            </a:r>
            <a:endParaRPr lang="es-C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688F7-8F15-486F-8AD6-241B205CF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000"/>
            <a:ext cx="10820400" cy="1750000"/>
          </a:xfrm>
        </p:spPr>
        <p:txBody>
          <a:bodyPr>
            <a:normAutofit fontScale="92500" lnSpcReduction="10000"/>
          </a:bodyPr>
          <a:lstStyle/>
          <a:p>
            <a:r>
              <a:rPr lang="ko-KR" altLang="es-CL" dirty="0"/>
              <a:t>이게 빵이에요</a:t>
            </a:r>
            <a:r>
              <a:rPr lang="es-CL" altLang="ko-KR" dirty="0"/>
              <a:t>?</a:t>
            </a:r>
          </a:p>
          <a:p>
            <a:r>
              <a:rPr lang="ko-KR" altLang="es-CL" dirty="0"/>
              <a:t>네</a:t>
            </a:r>
            <a:r>
              <a:rPr lang="es-CL" altLang="ko-KR" dirty="0"/>
              <a:t>, </a:t>
            </a:r>
            <a:r>
              <a:rPr lang="ko-KR" altLang="es-CL" dirty="0"/>
              <a:t>빵이에요</a:t>
            </a:r>
            <a:endParaRPr lang="es-CL" altLang="ko-KR" dirty="0"/>
          </a:p>
          <a:p>
            <a:r>
              <a:rPr lang="ko-KR" altLang="es-CL" dirty="0"/>
              <a:t>이게 주스예요</a:t>
            </a:r>
            <a:r>
              <a:rPr lang="es-CL" altLang="ko-KR" dirty="0"/>
              <a:t>?</a:t>
            </a:r>
          </a:p>
          <a:p>
            <a:r>
              <a:rPr lang="ko-KR" altLang="es-CL" dirty="0"/>
              <a:t>아니요</a:t>
            </a:r>
            <a:r>
              <a:rPr lang="es-CL" altLang="ko-KR" dirty="0"/>
              <a:t>, </a:t>
            </a:r>
            <a:r>
              <a:rPr lang="ko-KR" altLang="es-CL" dirty="0"/>
              <a:t>우유예요</a:t>
            </a:r>
            <a:endParaRPr lang="es-CL" dirty="0"/>
          </a:p>
        </p:txBody>
      </p:sp>
      <p:pic>
        <p:nvPicPr>
          <p:cNvPr id="4" name="Icono 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00" y="3550000"/>
            <a:ext cx="1900000" cy="1900000"/>
          </a:xfrm>
          <a:prstGeom prst="rect">
            <a:avLst/>
          </a:prstGeom>
        </p:spPr>
      </p:pic>
      <p:sp>
        <p:nvSpPr>
          <p:cNvPr id="14" name="Etiqueta 빵"/>
          <p:cNvSpPr/>
          <p:nvPr/>
        </p:nvSpPr>
        <p:spPr>
          <a:xfrm>
            <a:off x="1623000" y="5500000"/>
            <a:ext cx="19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altLang="es-CL" sz="2400" b="1" dirty="0">
                <a:solidFill>
                  <a:srgbClr val="D9042B"/>
                </a:solidFill>
              </a:rPr>
              <a:t>빵</a:t>
            </a:r>
          </a:p>
        </p:txBody>
      </p:sp>
      <p:pic>
        <p:nvPicPr>
          <p:cNvPr id="5" name="Icono 주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000" y="3550000"/>
            <a:ext cx="1900000" cy="1900000"/>
          </a:xfrm>
          <a:prstGeom prst="rect">
            <a:avLst/>
          </a:prstGeom>
        </p:spPr>
      </p:pic>
      <p:sp>
        <p:nvSpPr>
          <p:cNvPr id="15" name="Etiqueta 주스"/>
          <p:cNvSpPr/>
          <p:nvPr/>
        </p:nvSpPr>
        <p:spPr>
          <a:xfrm>
            <a:off x="5146000" y="5500000"/>
            <a:ext cx="19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altLang="es-CL" sz="2400" b="1" dirty="0">
                <a:solidFill>
                  <a:srgbClr val="D9042B"/>
                </a:solidFill>
              </a:rPr>
              <a:t>주스</a:t>
            </a:r>
          </a:p>
        </p:txBody>
      </p:sp>
      <p:pic>
        <p:nvPicPr>
          <p:cNvPr id="6" name="Icono 우유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000" y="3550000"/>
            <a:ext cx="1900000" cy="1900000"/>
          </a:xfrm>
          <a:prstGeom prst="rect">
            <a:avLst/>
          </a:prstGeom>
        </p:spPr>
      </p:pic>
      <p:sp>
        <p:nvSpPr>
          <p:cNvPr id="16" name="Etiqueta 우유"/>
          <p:cNvSpPr/>
          <p:nvPr/>
        </p:nvSpPr>
        <p:spPr>
          <a:xfrm>
            <a:off x="8669000" y="5500000"/>
            <a:ext cx="19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ko-KR" altLang="es-CL" sz="2400" b="1" dirty="0">
                <a:solidFill>
                  <a:srgbClr val="D9042B"/>
                </a:solidFill>
              </a:rPr>
              <a:t>우유</a:t>
            </a:r>
          </a:p>
        </p:txBody>
      </p:sp>
    </p:spTree>
    <p:extLst>
      <p:ext uri="{BB962C8B-B14F-4D97-AF65-F5344CB8AC3E}">
        <p14:creationId xmlns:p14="http://schemas.microsoft.com/office/powerpoint/2010/main" val="1376156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Pronombres personales (나/저, 너, 당신, 그, 그녀, 우리, 그들)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Pronombres + partículas 은/는·이/가·을/를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이게 뭐예요? y 누구예요?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우리 en vez de "mi" con familia/país/escuela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Vocabulario de familia (가족) y términos según género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네/아니요 = acuerdo, no verdad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Grabá un audio de 1 minuto presentando a tu familia con 우리 (우리 엄마, 우리 아빠, etc). Subir al Discord #tarea-sesion-4b.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176</TotalTime>
  <Words>1543</Words>
  <Application>Microsoft Office PowerPoint</Application>
  <PresentationFormat>Widescreen</PresentationFormat>
  <Paragraphs>288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Malgun Gothic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Conversación  네</vt:lpstr>
      <vt:lpstr>네, 빵이에요</vt:lpstr>
      <vt:lpstr>PowerPoint Presentation</vt:lpstr>
      <vt:lpstr>PowerPoint Presentation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4</dc:title>
  <dc:subject>PptxGenJS Presentation</dc:subject>
  <dc:creator>김재희 (Jay Kim)</dc:creator>
  <cp:lastModifiedBy>Jae Hee Kim</cp:lastModifiedBy>
  <cp:revision>62</cp:revision>
  <dcterms:created xsi:type="dcterms:W3CDTF">2026-06-02T07:35:58Z</dcterms:created>
  <dcterms:modified xsi:type="dcterms:W3CDTF">2026-08-08T15:47:03Z</dcterms:modified>
</cp:coreProperties>
</file>