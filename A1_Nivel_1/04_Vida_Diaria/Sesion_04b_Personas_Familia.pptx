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</p:sldMasterIdLst>
  <p:sldIdLst>
    <p:sldId id="278" r:id="rId2"/>
    <p:sldId id="339" r:id="rId3"/>
    <p:sldId id="340" r:id="rId4"/>
    <p:sldId id="279" r:id="rId5"/>
    <p:sldId id="271" r:id="rId6"/>
    <p:sldId id="272" r:id="rId7"/>
    <p:sldId id="273" r:id="rId8"/>
    <p:sldId id="282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6" r:id="rId26"/>
    <p:sldId id="317" r:id="rId27"/>
    <p:sldId id="318" r:id="rId28"/>
    <p:sldId id="319" r:id="rId29"/>
    <p:sldId id="320" r:id="rId30"/>
    <p:sldId id="321" r:id="rId31"/>
    <p:sldId id="322" r:id="rId32"/>
    <p:sldId id="323" r:id="rId33"/>
    <p:sldId id="324" r:id="rId34"/>
    <p:sldId id="325" r:id="rId35"/>
    <p:sldId id="326" r:id="rId36"/>
    <p:sldId id="327" r:id="rId37"/>
    <p:sldId id="341" r:id="rId38"/>
    <p:sldId id="328" r:id="rId39"/>
    <p:sldId id="329" r:id="rId40"/>
    <p:sldId id="330" r:id="rId41"/>
    <p:sldId id="331" r:id="rId42"/>
    <p:sldId id="332" r:id="rId43"/>
    <p:sldId id="333" r:id="rId44"/>
    <p:sldId id="334" r:id="rId45"/>
    <p:sldId id="335" r:id="rId46"/>
    <p:sldId id="270" r:id="rId47"/>
    <p:sldId id="274" r:id="rId48"/>
    <p:sldId id="275" r:id="rId49"/>
    <p:sldId id="276" r:id="rId50"/>
    <p:sldId id="277" r:id="rId51"/>
    <p:sldId id="342" r:id="rId52"/>
    <p:sldId id="296" r:id="rId53"/>
    <p:sldId id="297" r:id="rId54"/>
    <p:sldId id="298" r:id="rId55"/>
    <p:sldId id="299" r:id="rId56"/>
    <p:sldId id="336" r:id="rId57"/>
    <p:sldId id="337" r:id="rId58"/>
    <p:sldId id="257" r:id="rId59"/>
    <p:sldId id="343" r:id="rId60"/>
    <p:sldId id="258" r:id="rId61"/>
    <p:sldId id="287" r:id="rId62"/>
    <p:sldId id="288" r:id="rId63"/>
    <p:sldId id="289" r:id="rId64"/>
    <p:sldId id="344" r:id="rId65"/>
    <p:sldId id="345" r:id="rId66"/>
    <p:sldId id="346" r:id="rId67"/>
    <p:sldId id="347" r:id="rId68"/>
    <p:sldId id="348" r:id="rId69"/>
    <p:sldId id="338" r:id="rId70"/>
    <p:sldId id="280" r:id="rId71"/>
    <p:sldId id="281" r:id="rId72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04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-984" y="-8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451351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6D5587-7030-43D3-8CB9-E0701624E15B}" type="datetimeFigureOut">
              <a:rPr lang="es-CL" smtClean="0"/>
              <a:t>29-07-2026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1604B4-005C-4125-AB18-871978DCEA22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7851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9358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64418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5048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268587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08917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92694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857742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23890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7/29/2026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292535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0638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7/29/2026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279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2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3657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60020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4B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0" y="219456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인물과 가족</a:t>
            </a:r>
            <a:endParaRPr lang="en-US" sz="9000" dirty="0"/>
          </a:p>
        </p:txBody>
      </p:sp>
      <p:sp>
        <p:nvSpPr>
          <p:cNvPr id="5" name="Text 2"/>
          <p:cNvSpPr/>
          <p:nvPr/>
        </p:nvSpPr>
        <p:spPr>
          <a:xfrm>
            <a:off x="0" y="365760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y Familia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14400" y="443484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Pronombres, partículas, preguntas clave y vocabulario familiar</a:t>
            </a:r>
            <a:endParaRPr lang="en-US" sz="1300" dirty="0"/>
          </a:p>
        </p:txBody>
      </p:sp>
      <p:pic>
        <p:nvPicPr>
          <p:cNvPr id="7" name="Image 1" descr="/sessions/sleepy-zen-cray/mnt/outputs/deck_assets/sello_linea_v1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852160"/>
            <a:ext cx="82296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0" y="626364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Profesora · Jay Kim · 김재희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6E535D-765E-C6E9-A501-ADFE3D465422}"/>
              </a:ext>
            </a:extLst>
          </p:cNvPr>
          <p:cNvSpPr txBox="1"/>
          <p:nvPr/>
        </p:nvSpPr>
        <p:spPr>
          <a:xfrm>
            <a:off x="942109" y="335845"/>
            <a:ext cx="1004916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s-CL" sz="3200" dirty="0"/>
              <a:t>Zapatos </a:t>
            </a:r>
            <a:r>
              <a:rPr lang="ko-KR" altLang="es-CL" sz="3200" dirty="0"/>
              <a:t>구두</a:t>
            </a:r>
            <a:endParaRPr lang="es-CL" sz="3200" dirty="0"/>
          </a:p>
          <a:p>
            <a:pPr marL="342900" indent="-342900">
              <a:buAutoNum type="arabicPeriod"/>
            </a:pPr>
            <a:r>
              <a:rPr lang="es-CL" sz="3200" dirty="0"/>
              <a:t>Colegio </a:t>
            </a:r>
            <a:r>
              <a:rPr lang="ko-KR" altLang="es-CL" sz="3200" dirty="0"/>
              <a:t>학교</a:t>
            </a:r>
            <a:endParaRPr lang="es-CL" sz="3200" dirty="0"/>
          </a:p>
          <a:p>
            <a:pPr marL="342900" indent="-342900">
              <a:buAutoNum type="arabicPeriod"/>
            </a:pPr>
            <a:r>
              <a:rPr lang="es-CL" sz="3200" dirty="0"/>
              <a:t>Uva </a:t>
            </a:r>
            <a:r>
              <a:rPr lang="ko-KR" altLang="es-CL" sz="3200" dirty="0"/>
              <a:t>포도</a:t>
            </a:r>
            <a:endParaRPr lang="es-CL" sz="3200" dirty="0"/>
          </a:p>
          <a:p>
            <a:pPr marL="342900" indent="-342900">
              <a:buAutoNum type="arabicPeriod"/>
            </a:pPr>
            <a:r>
              <a:rPr lang="es-CL" sz="3200" dirty="0"/>
              <a:t>Pan </a:t>
            </a:r>
            <a:r>
              <a:rPr lang="ko-KR" altLang="es-CL" sz="3200" dirty="0"/>
              <a:t>빵</a:t>
            </a:r>
            <a:endParaRPr lang="es-CL" sz="3200" dirty="0"/>
          </a:p>
          <a:p>
            <a:pPr marL="342900" indent="-342900">
              <a:buAutoNum type="arabicPeriod"/>
            </a:pPr>
            <a:r>
              <a:rPr lang="es-CL" sz="3200" dirty="0"/>
              <a:t>Manzana </a:t>
            </a:r>
            <a:r>
              <a:rPr lang="ko-KR" altLang="es-CL" sz="3200" dirty="0"/>
              <a:t>사과</a:t>
            </a:r>
            <a:endParaRPr lang="es-CL" sz="3200" dirty="0"/>
          </a:p>
          <a:p>
            <a:pPr marL="342900" indent="-342900">
              <a:buAutoNum type="arabicPeriod"/>
            </a:pPr>
            <a:r>
              <a:rPr lang="es-CL" sz="3200" dirty="0"/>
              <a:t>Oppa Hermano mayor </a:t>
            </a:r>
            <a:r>
              <a:rPr lang="ko-KR" altLang="es-CL" sz="3200" dirty="0"/>
              <a:t>오빠</a:t>
            </a:r>
            <a:endParaRPr lang="es-CL" sz="3200" dirty="0"/>
          </a:p>
          <a:p>
            <a:pPr marL="342900" indent="-342900">
              <a:buAutoNum type="arabicPeriod"/>
            </a:pPr>
            <a:r>
              <a:rPr lang="es-CL" sz="3200" dirty="0"/>
              <a:t>Papa </a:t>
            </a:r>
            <a:r>
              <a:rPr lang="ko-KR" altLang="es-CL" sz="3200" dirty="0"/>
              <a:t>아빠</a:t>
            </a:r>
            <a:endParaRPr lang="es-CL" sz="3200" dirty="0"/>
          </a:p>
          <a:p>
            <a:pPr marL="342900" indent="-342900">
              <a:buAutoNum type="arabicPeriod"/>
            </a:pPr>
            <a:r>
              <a:rPr lang="es-CL" sz="3200" dirty="0"/>
              <a:t>Estudiante </a:t>
            </a:r>
            <a:r>
              <a:rPr lang="ko-KR" altLang="es-CL" sz="3200" dirty="0"/>
              <a:t>학생</a:t>
            </a:r>
            <a:endParaRPr lang="es-CL" sz="3200" dirty="0"/>
          </a:p>
          <a:p>
            <a:pPr marL="342900" indent="-342900">
              <a:buAutoNum type="arabicPeriod"/>
            </a:pPr>
            <a:r>
              <a:rPr lang="es-CL" sz="3200" dirty="0"/>
              <a:t>Beso </a:t>
            </a:r>
            <a:r>
              <a:rPr lang="ko-KR" altLang="es-CL" sz="3200" dirty="0"/>
              <a:t>뽀뽀</a:t>
            </a:r>
            <a:endParaRPr lang="es-CL" sz="3200" dirty="0"/>
          </a:p>
          <a:p>
            <a:pPr marL="342900" indent="-342900">
              <a:buAutoNum type="arabicPeriod"/>
            </a:pPr>
            <a:r>
              <a:rPr lang="es-CL" sz="3200" dirty="0"/>
              <a:t>Profesor </a:t>
            </a:r>
            <a:r>
              <a:rPr lang="ko-KR" altLang="es-CL" sz="3200" dirty="0"/>
              <a:t>선생님</a:t>
            </a:r>
            <a:endParaRPr lang="es-CL" sz="3200" dirty="0"/>
          </a:p>
          <a:p>
            <a:r>
              <a:rPr lang="es-CL" sz="3200" dirty="0"/>
              <a:t>Bonus: nombre coreano </a:t>
            </a:r>
            <a:r>
              <a:rPr lang="ko-KR" altLang="es-CL" sz="3200" dirty="0"/>
              <a:t>김재희 </a:t>
            </a:r>
            <a:r>
              <a:rPr lang="es-CL" altLang="ko-KR" sz="3200" dirty="0"/>
              <a:t>/ </a:t>
            </a:r>
            <a:r>
              <a:rPr lang="ko-KR" altLang="es-CL" sz="3200" dirty="0"/>
              <a:t>율리엣 </a:t>
            </a:r>
            <a:r>
              <a:rPr lang="es-CL" altLang="ko-KR" sz="3200" dirty="0"/>
              <a:t>/ </a:t>
            </a:r>
            <a:r>
              <a:rPr lang="ko-KR" altLang="es-CL" sz="3200" dirty="0"/>
              <a:t>기예르모 </a:t>
            </a:r>
            <a:r>
              <a:rPr lang="es-CL" altLang="ko-KR" sz="3200" dirty="0"/>
              <a:t>/ </a:t>
            </a:r>
            <a:r>
              <a:rPr lang="ko-KR" altLang="es-CL" sz="3200" dirty="0"/>
              <a:t>인헤보르그 </a:t>
            </a:r>
            <a:r>
              <a:rPr lang="es-CL" altLang="ko-KR" sz="3200" dirty="0"/>
              <a:t>/ </a:t>
            </a:r>
            <a:r>
              <a:rPr lang="ko-KR" altLang="es-CL" sz="3200" dirty="0"/>
              <a:t>이사마르</a:t>
            </a:r>
            <a:endParaRPr lang="es-CL" sz="3200" dirty="0"/>
          </a:p>
        </p:txBody>
      </p:sp>
    </p:spTree>
    <p:extLst>
      <p:ext uri="{BB962C8B-B14F-4D97-AF65-F5344CB8AC3E}">
        <p14:creationId xmlns:p14="http://schemas.microsoft.com/office/powerpoint/2010/main" val="474585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1E5C71D-DAB0-7920-0869-8728CFA8B24F}"/>
              </a:ext>
            </a:extLst>
          </p:cNvPr>
          <p:cNvSpPr txBox="1"/>
          <p:nvPr/>
        </p:nvSpPr>
        <p:spPr>
          <a:xfrm>
            <a:off x="1219198" y="309526"/>
            <a:ext cx="9208655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3600" dirty="0" err="1"/>
              <a:t>안녕하세요</a:t>
            </a:r>
            <a:r>
              <a:rPr lang="es-CL" sz="3600" dirty="0"/>
              <a:t>.</a:t>
            </a:r>
          </a:p>
          <a:p>
            <a:r>
              <a:rPr lang="es-CL" sz="3600" dirty="0"/>
              <a:t>[</a:t>
            </a:r>
            <a:r>
              <a:rPr lang="es-CL" sz="3600" dirty="0" err="1"/>
              <a:t>an</a:t>
            </a:r>
            <a:r>
              <a:rPr lang="es-CL" sz="3600" dirty="0"/>
              <a:t> </a:t>
            </a:r>
            <a:r>
              <a:rPr lang="es-CL" sz="3600" dirty="0" err="1"/>
              <a:t>niong</a:t>
            </a:r>
            <a:r>
              <a:rPr lang="es-CL" sz="3600" dirty="0"/>
              <a:t> ja se yo]</a:t>
            </a:r>
          </a:p>
          <a:p>
            <a:r>
              <a:rPr lang="es-CL" sz="3600" dirty="0" err="1"/>
              <a:t>저는</a:t>
            </a:r>
            <a:r>
              <a:rPr lang="es-CL" sz="3600" dirty="0"/>
              <a:t> </a:t>
            </a:r>
            <a:r>
              <a:rPr lang="es-CL" sz="3600" dirty="0" err="1"/>
              <a:t>김재희예요</a:t>
            </a:r>
            <a:r>
              <a:rPr lang="es-CL" sz="3600" dirty="0"/>
              <a:t>. / 제 </a:t>
            </a:r>
            <a:r>
              <a:rPr lang="es-CL" sz="3600" dirty="0" err="1"/>
              <a:t>이름은</a:t>
            </a:r>
            <a:r>
              <a:rPr lang="es-CL" sz="3600" dirty="0"/>
              <a:t> </a:t>
            </a:r>
            <a:r>
              <a:rPr lang="es-CL" sz="3600" dirty="0" err="1"/>
              <a:t>김재희예요</a:t>
            </a:r>
            <a:r>
              <a:rPr lang="es-CL" sz="3600" dirty="0"/>
              <a:t>.</a:t>
            </a:r>
          </a:p>
          <a:p>
            <a:r>
              <a:rPr lang="es-CL" sz="3600" dirty="0"/>
              <a:t>Yo(PT) nombre ser / Mi nombre(PT) nombre ser</a:t>
            </a:r>
          </a:p>
          <a:p>
            <a:r>
              <a:rPr lang="es-CL" sz="3600" dirty="0" err="1"/>
              <a:t>저는</a:t>
            </a:r>
            <a:r>
              <a:rPr lang="es-CL" sz="3600" dirty="0"/>
              <a:t> </a:t>
            </a:r>
            <a:r>
              <a:rPr lang="es-CL" sz="3600" dirty="0" err="1"/>
              <a:t>한국</a:t>
            </a:r>
            <a:r>
              <a:rPr lang="es-CL" sz="3600" dirty="0"/>
              <a:t> </a:t>
            </a:r>
            <a:r>
              <a:rPr lang="es-CL" sz="3600" dirty="0" err="1"/>
              <a:t>사람이에요</a:t>
            </a:r>
            <a:r>
              <a:rPr lang="es-CL" sz="3600" dirty="0"/>
              <a:t>.</a:t>
            </a:r>
          </a:p>
          <a:p>
            <a:r>
              <a:rPr lang="es-CL" sz="3600" dirty="0"/>
              <a:t>Yo(PT) </a:t>
            </a:r>
            <a:r>
              <a:rPr lang="es-CL" sz="3600" dirty="0" err="1"/>
              <a:t>Korea</a:t>
            </a:r>
            <a:r>
              <a:rPr lang="es-CL" sz="3600" dirty="0"/>
              <a:t> Persona Ser</a:t>
            </a:r>
          </a:p>
          <a:p>
            <a:r>
              <a:rPr lang="es-CL" sz="3600" dirty="0" err="1"/>
              <a:t>저는</a:t>
            </a:r>
            <a:r>
              <a:rPr lang="es-CL" sz="3600" dirty="0"/>
              <a:t> </a:t>
            </a:r>
            <a:r>
              <a:rPr lang="es-CL" sz="3600" dirty="0" err="1"/>
              <a:t>선생님이에요</a:t>
            </a:r>
            <a:r>
              <a:rPr lang="es-CL" sz="3600" dirty="0"/>
              <a:t>.</a:t>
            </a:r>
          </a:p>
          <a:p>
            <a:r>
              <a:rPr lang="es-CL" sz="3600" dirty="0"/>
              <a:t>Yo(PT) profesor ser</a:t>
            </a:r>
          </a:p>
          <a:p>
            <a:r>
              <a:rPr lang="es-CL" sz="3600" dirty="0" err="1"/>
              <a:t>반갑습니다</a:t>
            </a:r>
            <a:r>
              <a:rPr lang="es-CL" sz="3600" dirty="0"/>
              <a:t>!</a:t>
            </a:r>
          </a:p>
          <a:p>
            <a:r>
              <a:rPr lang="es-CL" sz="3600" dirty="0"/>
              <a:t>Mucho gusto</a:t>
            </a:r>
          </a:p>
        </p:txBody>
      </p:sp>
    </p:spTree>
    <p:extLst>
      <p:ext uri="{BB962C8B-B14F-4D97-AF65-F5344CB8AC3E}">
        <p14:creationId xmlns:p14="http://schemas.microsoft.com/office/powerpoint/2010/main" val="862989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BIENVENIDA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hablamos de vos, de mí y de tu familia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Sesión 4 aprendiste a conjugar verbos. Hoy sumamos las piezas que arman una frase completa: quién habla y de quién hablás.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Vamos a ver los PRONOMBRES, cómo se combinan con las PARTÍCULAS 은/는·이/가·을/를, cómo preguntar "¿qué es esto?" y "¿quién es?", el vocabulario de FAMILIA y la lógica de 네/아니요.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que al final de la sesión puedas presentar a tu familia y responder preguntas básicas de sí/no en coreano.</a:t>
            </a:r>
            <a:endParaRPr lang="en-US" sz="1600" dirty="0"/>
          </a:p>
        </p:txBody>
      </p:sp>
      <p:pic>
        <p:nvPicPr>
          <p:cNvPr id="5" name="Image 0" descr="/sessions/sleepy-zen-cray/mnt/outputs/deck_assets/sello_relleno_v1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274320"/>
            <a:ext cx="502920" cy="502920"/>
          </a:xfrm>
          <a:prstGeom prst="rect">
            <a:avLst/>
          </a:prstGeom>
        </p:spPr>
      </p:pic>
      <p:pic>
        <p:nvPicPr>
          <p:cNvPr id="6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04B  ·  INMULGWAGAJOK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§4B.1 · VOCABULARIO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Pronombres personales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 (informal)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 (formal)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당신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Usted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그녀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그들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Ellos</a:t>
            </a:r>
            <a:endParaRPr lang="en-US" sz="1200" dirty="0"/>
          </a:p>
        </p:txBody>
      </p:sp>
      <p:pic>
        <p:nvPicPr>
          <p:cNvPr id="34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35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04B  ·  INMULGWAGAJOK</a:t>
            </a:r>
            <a:endParaRPr lang="en-US" sz="8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59F2ED-7B48-4FAB-6413-34ADE9774E05}"/>
              </a:ext>
            </a:extLst>
          </p:cNvPr>
          <p:cNvSpPr txBox="1"/>
          <p:nvPr/>
        </p:nvSpPr>
        <p:spPr>
          <a:xfrm>
            <a:off x="3761694" y="4890254"/>
            <a:ext cx="277992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2800" dirty="0"/>
              <a:t>저는 재희입니다</a:t>
            </a:r>
            <a:endParaRPr lang="es-CL" altLang="ko-KR" sz="2800" dirty="0"/>
          </a:p>
          <a:p>
            <a:r>
              <a:rPr lang="ko-KR" altLang="es-CL" sz="2800" dirty="0"/>
              <a:t>나는 재희야 </a:t>
            </a:r>
            <a:endParaRPr lang="es-CL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§4B.2 · VOCABULARIO +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Pronombres + </a:t>
            </a:r>
            <a:r>
              <a:rPr lang="en-US" sz="26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partículas</a:t>
            </a: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6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조사</a:t>
            </a: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ko-KR" altLang="es-CL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은</a:t>
            </a:r>
            <a:r>
              <a:rPr lang="es-CL" altLang="ko-KR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s-CL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는</a:t>
            </a:r>
            <a:r>
              <a:rPr lang="es-CL" altLang="ko-KR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s-CL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</a:t>
            </a:r>
            <a:r>
              <a:rPr lang="es-CL" altLang="ko-KR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s-CL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</a:t>
            </a:r>
            <a:r>
              <a:rPr lang="es-CL" altLang="ko-KR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s-CL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을</a:t>
            </a:r>
            <a:r>
              <a:rPr lang="es-CL" altLang="ko-KR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ko-KR" altLang="es-CL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를</a:t>
            </a:r>
            <a:r>
              <a:rPr lang="es-CL" altLang="ko-KR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· 내가* · 나를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저는 · 제가* · 저를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너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너는 · 네가* · 너를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당신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당신은 · 당신이 · 당신을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그는 · 그가 · 그를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그녀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그녀는 · 그녀가 · 그녀를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우리는 · 우리가 · 우리를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그들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그들은 · 그들이 · 그들을</a:t>
            </a:r>
            <a:endParaRPr lang="en-US" sz="1200" dirty="0"/>
          </a:p>
        </p:txBody>
      </p:sp>
      <p:pic>
        <p:nvPicPr>
          <p:cNvPr id="34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35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04B  ·  INMULGWAGAJOK</a:t>
            </a:r>
            <a:endParaRPr lang="en-US" sz="8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7121B1-BC4D-9A1A-484C-6B53B0C4CDF5}"/>
              </a:ext>
            </a:extLst>
          </p:cNvPr>
          <p:cNvSpPr txBox="1"/>
          <p:nvPr/>
        </p:nvSpPr>
        <p:spPr>
          <a:xfrm>
            <a:off x="2309091" y="4839855"/>
            <a:ext cx="258756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2800" dirty="0"/>
              <a:t>저</a:t>
            </a:r>
            <a:r>
              <a:rPr lang="ko-KR" altLang="es-CL" sz="2800" dirty="0">
                <a:highlight>
                  <a:srgbClr val="FFFF00"/>
                </a:highlight>
              </a:rPr>
              <a:t>는</a:t>
            </a:r>
            <a:r>
              <a:rPr lang="ko-KR" altLang="es-CL" sz="2800" dirty="0"/>
              <a:t> 재희예요</a:t>
            </a:r>
            <a:endParaRPr lang="es-CL" altLang="ko-KR" sz="2800" dirty="0"/>
          </a:p>
          <a:p>
            <a:r>
              <a:rPr lang="ko-KR" altLang="es-CL" sz="2800" dirty="0"/>
              <a:t>누가 재희예요</a:t>
            </a:r>
            <a:r>
              <a:rPr lang="es-CL" altLang="ko-KR" sz="2800" dirty="0"/>
              <a:t>?</a:t>
            </a:r>
          </a:p>
          <a:p>
            <a:r>
              <a:rPr lang="ko-KR" altLang="es-CL" sz="2800" dirty="0"/>
              <a:t>제</a:t>
            </a:r>
            <a:r>
              <a:rPr lang="ko-KR" altLang="es-CL" sz="2800" dirty="0">
                <a:highlight>
                  <a:srgbClr val="FFFF00"/>
                </a:highlight>
              </a:rPr>
              <a:t>가</a:t>
            </a:r>
            <a:r>
              <a:rPr lang="ko-KR" altLang="es-CL" sz="2800" dirty="0"/>
              <a:t> 재희예요</a:t>
            </a:r>
            <a:endParaRPr lang="es-CL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§4B.3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이게 뭐예요? · ¿Qué es esto?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이거 es la forma hablada de 이것 (esto). Con la partícula 이/가 se contrae: 이것이 → 이게.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이게 뭐예요? → ¿Qué es esto?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그거는 사과예요. → Eso es una manzana.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이거 = cerca de mí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그거 = cerca de vos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niveles de distancia: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이(cerca de mí) · 그(cerca de vos) · 저(lejos de los dos) — 저거 = eso de allá.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이게 뭐예요?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i-ge mwo-ye-yo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(¿qué es esto?)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04B  ·  INMULGWAGAJOK</a:t>
            </a:r>
            <a:endParaRPr lang="en-US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B8E8C1-2F0C-4911-8485-D20439AB226B}"/>
              </a:ext>
            </a:extLst>
          </p:cNvPr>
          <p:cNvSpPr txBox="1"/>
          <p:nvPr/>
        </p:nvSpPr>
        <p:spPr>
          <a:xfrm>
            <a:off x="6035040" y="517236"/>
            <a:ext cx="41549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이</a:t>
            </a:r>
            <a:endParaRPr lang="es-CL" altLang="ko-KR" dirty="0"/>
          </a:p>
          <a:p>
            <a:r>
              <a:rPr lang="ko-KR" altLang="es-CL" dirty="0"/>
              <a:t>그</a:t>
            </a:r>
            <a:endParaRPr lang="es-CL" altLang="ko-KR" dirty="0"/>
          </a:p>
          <a:p>
            <a:r>
              <a:rPr lang="ko-KR" altLang="es-CL" dirty="0"/>
              <a:t>저</a:t>
            </a:r>
            <a:endParaRPr lang="es-CL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4294967295"/>
          </p:nvPr>
        </p:nvSpPr>
        <p:spPr>
          <a:xfrm>
            <a:off x="2273300" y="1771650"/>
            <a:ext cx="9918700" cy="41529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s-CL" dirty="0">
                <a:latin typeface="Haan Baekje M" pitchFamily="18" charset="-127"/>
                <a:ea typeface="Haan Baekje M" pitchFamily="18" charset="-127"/>
              </a:rPr>
              <a:t>이게 </a:t>
            </a:r>
            <a:r>
              <a:rPr lang="es-CL" altLang="ko-KR" dirty="0">
                <a:latin typeface="Haan Baekje M" pitchFamily="18" charset="-127"/>
                <a:ea typeface="Haan Baekje M" pitchFamily="18" charset="-127"/>
              </a:rPr>
              <a:t>/ </a:t>
            </a:r>
            <a:r>
              <a:rPr lang="ko-KR" altLang="es-CL" dirty="0">
                <a:latin typeface="Haan Baekje M" pitchFamily="18" charset="-127"/>
                <a:ea typeface="Haan Baekje M" pitchFamily="18" charset="-127"/>
              </a:rPr>
              <a:t>이거 </a:t>
            </a:r>
            <a:r>
              <a:rPr lang="es-CL" altLang="ko-KR" dirty="0">
                <a:latin typeface="Haan Baekje M" pitchFamily="18" charset="-127"/>
                <a:ea typeface="Haan Baekje M" pitchFamily="18" charset="-127"/>
              </a:rPr>
              <a:t>/ </a:t>
            </a:r>
            <a:r>
              <a:rPr lang="ko-KR" altLang="es-CL" dirty="0">
                <a:latin typeface="Haan Baekje M" pitchFamily="18" charset="-127"/>
                <a:ea typeface="Haan Baekje M" pitchFamily="18" charset="-127"/>
              </a:rPr>
              <a:t>이것이 </a:t>
            </a:r>
            <a:r>
              <a:rPr lang="es-CL" altLang="ko-KR" dirty="0">
                <a:latin typeface="Haan Baekje M" pitchFamily="18" charset="-127"/>
                <a:ea typeface="Haan Baekje M" pitchFamily="18" charset="-127"/>
              </a:rPr>
              <a:t>= esto, este, esta</a:t>
            </a:r>
          </a:p>
          <a:p>
            <a:pPr marL="0" indent="0">
              <a:buNone/>
            </a:pPr>
            <a:r>
              <a:rPr lang="es-CL" altLang="ko-KR" dirty="0">
                <a:latin typeface="Haan Baekje M" pitchFamily="18" charset="-127"/>
                <a:ea typeface="Haan Baekje M" pitchFamily="18" charset="-127"/>
              </a:rPr>
              <a:t> 		 	(cerca a ti)</a:t>
            </a:r>
          </a:p>
          <a:p>
            <a:pPr marL="0" indent="0">
              <a:buNone/>
            </a:pPr>
            <a:r>
              <a:rPr lang="ko-KR" altLang="es-CL" dirty="0">
                <a:latin typeface="Haan Baekje M" pitchFamily="18" charset="-127"/>
                <a:ea typeface="Haan Baekje M" pitchFamily="18" charset="-127"/>
              </a:rPr>
              <a:t>저게 </a:t>
            </a:r>
            <a:r>
              <a:rPr lang="es-CL" altLang="ko-KR" dirty="0">
                <a:latin typeface="Haan Baekje M" pitchFamily="18" charset="-127"/>
                <a:ea typeface="Haan Baekje M" pitchFamily="18" charset="-127"/>
              </a:rPr>
              <a:t>/ </a:t>
            </a:r>
            <a:r>
              <a:rPr lang="ko-KR" altLang="es-CL" dirty="0">
                <a:latin typeface="Haan Baekje M" pitchFamily="18" charset="-127"/>
                <a:ea typeface="Haan Baekje M" pitchFamily="18" charset="-127"/>
              </a:rPr>
              <a:t>저거 </a:t>
            </a:r>
            <a:r>
              <a:rPr lang="es-CL" altLang="ko-KR" dirty="0">
                <a:latin typeface="Haan Baekje M" pitchFamily="18" charset="-127"/>
                <a:ea typeface="Haan Baekje M" pitchFamily="18" charset="-127"/>
              </a:rPr>
              <a:t>/ </a:t>
            </a:r>
            <a:r>
              <a:rPr lang="ko-KR" altLang="es-CL" dirty="0">
                <a:latin typeface="Haan Baekje M" pitchFamily="18" charset="-127"/>
                <a:ea typeface="Haan Baekje M" pitchFamily="18" charset="-127"/>
              </a:rPr>
              <a:t>저것이 </a:t>
            </a:r>
            <a:r>
              <a:rPr lang="es-CL" altLang="ko-KR" dirty="0">
                <a:latin typeface="Haan Baekje M" pitchFamily="18" charset="-127"/>
                <a:ea typeface="Haan Baekje M" pitchFamily="18" charset="-127"/>
              </a:rPr>
              <a:t>= eso, ese, esa</a:t>
            </a:r>
          </a:p>
          <a:p>
            <a:pPr marL="0" indent="0">
              <a:buNone/>
            </a:pPr>
            <a:r>
              <a:rPr lang="es-CL" altLang="ko-KR" dirty="0">
                <a:latin typeface="Haan Baekje M" pitchFamily="18" charset="-127"/>
                <a:ea typeface="Haan Baekje M" pitchFamily="18" charset="-127"/>
              </a:rPr>
              <a:t>  			(cerca la otra persona)</a:t>
            </a:r>
          </a:p>
          <a:p>
            <a:pPr marL="0" indent="0">
              <a:buNone/>
            </a:pPr>
            <a:r>
              <a:rPr lang="ko-KR" altLang="es-CL" dirty="0">
                <a:latin typeface="Haan Baekje M" pitchFamily="18" charset="-127"/>
                <a:ea typeface="Haan Baekje M" pitchFamily="18" charset="-127"/>
              </a:rPr>
              <a:t>그게 </a:t>
            </a:r>
            <a:r>
              <a:rPr lang="es-CL" altLang="ko-KR" dirty="0">
                <a:latin typeface="Haan Baekje M" pitchFamily="18" charset="-127"/>
                <a:ea typeface="Haan Baekje M" pitchFamily="18" charset="-127"/>
              </a:rPr>
              <a:t>/ </a:t>
            </a:r>
            <a:r>
              <a:rPr lang="ko-KR" altLang="es-CL" dirty="0">
                <a:latin typeface="Haan Baekje M" pitchFamily="18" charset="-127"/>
                <a:ea typeface="Haan Baekje M" pitchFamily="18" charset="-127"/>
              </a:rPr>
              <a:t>그거 </a:t>
            </a:r>
            <a:r>
              <a:rPr lang="es-CL" altLang="ko-KR" dirty="0">
                <a:latin typeface="Haan Baekje M" pitchFamily="18" charset="-127"/>
                <a:ea typeface="Haan Baekje M" pitchFamily="18" charset="-127"/>
              </a:rPr>
              <a:t>/ </a:t>
            </a:r>
            <a:r>
              <a:rPr lang="ko-KR" altLang="es-CL" dirty="0">
                <a:latin typeface="Haan Baekje M" pitchFamily="18" charset="-127"/>
                <a:ea typeface="Haan Baekje M" pitchFamily="18" charset="-127"/>
              </a:rPr>
              <a:t>그것이 </a:t>
            </a:r>
            <a:r>
              <a:rPr lang="es-CL" altLang="ko-KR" dirty="0">
                <a:latin typeface="Haan Baekje M" pitchFamily="18" charset="-127"/>
                <a:ea typeface="Haan Baekje M" pitchFamily="18" charset="-127"/>
              </a:rPr>
              <a:t>= aquel, aquellos,     				  aquellas</a:t>
            </a:r>
          </a:p>
          <a:p>
            <a:pPr marL="0" indent="0">
              <a:buNone/>
            </a:pPr>
            <a:r>
              <a:rPr lang="es-CL" dirty="0">
                <a:latin typeface="Haan Baekje M" pitchFamily="18" charset="-127"/>
                <a:ea typeface="Haan Baekje M" pitchFamily="18" charset="-127"/>
              </a:rPr>
              <a:t>			(Por ahí, Por allá)</a:t>
            </a:r>
          </a:p>
        </p:txBody>
      </p:sp>
    </p:spTree>
    <p:extLst>
      <p:ext uri="{BB962C8B-B14F-4D97-AF65-F5344CB8AC3E}">
        <p14:creationId xmlns:p14="http://schemas.microsoft.com/office/powerpoint/2010/main" val="3662503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 descr="C:\Users\ching\Desktop\Korean Clases\이거는 그거는저거는\이거는 그거는 저거는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661161"/>
            <a:ext cx="7840276" cy="413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9570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2" descr="C:\Users\ching\Desktop\Korean Clases\이거는 그거는저거는\이거는 뭐예요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062" y="1661161"/>
            <a:ext cx="7772014" cy="409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2743200" y="2286000"/>
            <a:ext cx="530010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s-CL" sz="2800" dirty="0">
                <a:solidFill>
                  <a:schemeClr val="bg1"/>
                </a:solidFill>
              </a:rPr>
              <a:t>이거는 뭐예요</a:t>
            </a:r>
            <a:r>
              <a:rPr lang="es-CL" altLang="ko-KR" sz="2800" dirty="0">
                <a:solidFill>
                  <a:schemeClr val="bg1"/>
                </a:solidFill>
              </a:rPr>
              <a:t>?</a:t>
            </a:r>
          </a:p>
          <a:p>
            <a:r>
              <a:rPr lang="es-CL" sz="2800" dirty="0">
                <a:solidFill>
                  <a:schemeClr val="bg1"/>
                </a:solidFill>
              </a:rPr>
              <a:t>Esto(PT) Que V(ser)</a:t>
            </a:r>
          </a:p>
          <a:p>
            <a:r>
              <a:rPr lang="ko-KR" altLang="es-CL" sz="2800" dirty="0">
                <a:solidFill>
                  <a:schemeClr val="bg1"/>
                </a:solidFill>
              </a:rPr>
              <a:t>그거는 사과예요</a:t>
            </a:r>
            <a:endParaRPr lang="es-CL" altLang="ko-KR" sz="2800" dirty="0">
              <a:solidFill>
                <a:schemeClr val="bg1"/>
              </a:solidFill>
            </a:endParaRPr>
          </a:p>
          <a:p>
            <a:r>
              <a:rPr lang="es-CL" sz="2800" dirty="0">
                <a:solidFill>
                  <a:schemeClr val="bg1"/>
                </a:solidFill>
              </a:rPr>
              <a:t>Eso(PT) Manzana V(ser)</a:t>
            </a:r>
          </a:p>
        </p:txBody>
      </p:sp>
    </p:spTree>
    <p:extLst>
      <p:ext uri="{BB962C8B-B14F-4D97-AF65-F5344CB8AC3E}">
        <p14:creationId xmlns:p14="http://schemas.microsoft.com/office/powerpoint/2010/main" val="25129698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2" descr="C:\Users\ching\Desktop\Korean Clases\이거는 그거는저거는\이거는 뭐예요1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062" y="1661161"/>
            <a:ext cx="7772014" cy="4097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529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 descr="C:\Users\ching\Desktop\Korean Clases\이거는 그거는저거는\이거는 뭐예요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062" y="1661161"/>
            <a:ext cx="7806836" cy="4097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04403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 descr="C:\Users\ching\Desktop\Korean Clases\이거는 그거는저거는\이거는 뭐예요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062" y="1625601"/>
            <a:ext cx="7806836" cy="41154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3416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 descr="C:\Users\ching\Desktop\Korean Clases\이거는 그거는저거는\이거는 저거는 그거는 제목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062" y="1665923"/>
            <a:ext cx="7806836" cy="411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493909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51" name="Picture 3" descr="C:\Users\ching\Desktop\Korean Clases\이거는 그거는저거는\이거는 저거는 명사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062" y="1665923"/>
            <a:ext cx="7806836" cy="4097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6496A9-02C0-B9B8-4ACE-ABC740C2F93A}"/>
              </a:ext>
            </a:extLst>
          </p:cNvPr>
          <p:cNvSpPr txBox="1"/>
          <p:nvPr/>
        </p:nvSpPr>
        <p:spPr>
          <a:xfrm>
            <a:off x="4509027" y="2623189"/>
            <a:ext cx="1586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>
                <a:solidFill>
                  <a:schemeClr val="bg1"/>
                </a:solidFill>
              </a:rPr>
              <a:t>Cerca hablante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3BE5F5-88E7-C673-E071-901363127E78}"/>
              </a:ext>
            </a:extLst>
          </p:cNvPr>
          <p:cNvSpPr txBox="1"/>
          <p:nvPr/>
        </p:nvSpPr>
        <p:spPr>
          <a:xfrm>
            <a:off x="4509026" y="3345128"/>
            <a:ext cx="1406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>
                <a:solidFill>
                  <a:schemeClr val="bg1"/>
                </a:solidFill>
              </a:rPr>
              <a:t>Cerca oyente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A7906D-0085-E5B6-7718-8003EF13FCDE}"/>
              </a:ext>
            </a:extLst>
          </p:cNvPr>
          <p:cNvSpPr txBox="1"/>
          <p:nvPr/>
        </p:nvSpPr>
        <p:spPr>
          <a:xfrm>
            <a:off x="4552852" y="418473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>
                <a:solidFill>
                  <a:schemeClr val="bg1"/>
                </a:solidFill>
              </a:rPr>
              <a:t>ambos</a:t>
            </a:r>
          </a:p>
        </p:txBody>
      </p:sp>
    </p:spTree>
    <p:extLst>
      <p:ext uri="{BB962C8B-B14F-4D97-AF65-F5344CB8AC3E}">
        <p14:creationId xmlns:p14="http://schemas.microsoft.com/office/powerpoint/2010/main" val="84748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4" name="Picture 2" descr="C:\Users\ching\Desktop\Korean Clases\이거는 그거는저거는\이거는 말하는사람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304" y="1665923"/>
            <a:ext cx="7791595" cy="4104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82492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698" name="Picture 2" descr="C:\Users\ching\Desktop\Korean Clases\이거는 그거는저거는\이거는 말하는사람 사과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304" y="1665923"/>
            <a:ext cx="7752747" cy="4104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4646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2" name="Picture 2" descr="C:\Users\ching\Desktop\Korean Clases\이거는 그거는저거는\듣는사람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1" y="1660842"/>
            <a:ext cx="7800489" cy="4109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2971800" y="1981201"/>
            <a:ext cx="281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s-CL" dirty="0">
                <a:solidFill>
                  <a:schemeClr val="bg1"/>
                </a:solidFill>
              </a:rPr>
              <a:t>이거는    뭐예요</a:t>
            </a:r>
            <a:r>
              <a:rPr lang="es-CL" altLang="ko-KR" dirty="0">
                <a:solidFill>
                  <a:schemeClr val="bg1"/>
                </a:solidFill>
              </a:rPr>
              <a:t>?</a:t>
            </a:r>
          </a:p>
          <a:p>
            <a:r>
              <a:rPr lang="ko-KR" altLang="es-CL" dirty="0">
                <a:solidFill>
                  <a:schemeClr val="bg1"/>
                </a:solidFill>
              </a:rPr>
              <a:t>저거는 </a:t>
            </a:r>
            <a:endParaRPr lang="es-CL" altLang="ko-KR" dirty="0">
              <a:solidFill>
                <a:schemeClr val="bg1"/>
              </a:solidFill>
            </a:endParaRPr>
          </a:p>
          <a:p>
            <a:r>
              <a:rPr lang="ko-KR" altLang="es-CL" dirty="0">
                <a:solidFill>
                  <a:schemeClr val="bg1"/>
                </a:solidFill>
              </a:rPr>
              <a:t>그거는</a:t>
            </a:r>
            <a:endParaRPr lang="es-CL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6426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46" name="Picture 2" descr="C:\Users\ching\Desktop\Korean Clases\이거는 그거는저거는\듣는사람 그거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1660842"/>
            <a:ext cx="7775398" cy="4109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25316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70" name="Picture 2" descr="C:\Users\ching\Desktop\Korean Clases\이거는 그거는저거는\저거는 사과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650682"/>
            <a:ext cx="7820524" cy="4119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55591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94" name="Picture 2" descr="C:\Users\ching\Desktop\Korean Clases\이거는 그거는저거는\저거는 사과1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692318"/>
            <a:ext cx="7696200" cy="4022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24125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18" name="Picture 2" descr="C:\Users\ching\Desktop\Korean Clases\이거는 그거는저거는\이거는 저거는 그거는 사과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903" y="1692318"/>
            <a:ext cx="7767155" cy="4098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4A000-5B62-4137-9B63-F9455B3764C4}"/>
              </a:ext>
            </a:extLst>
          </p:cNvPr>
          <p:cNvSpPr txBox="1"/>
          <p:nvPr/>
        </p:nvSpPr>
        <p:spPr>
          <a:xfrm>
            <a:off x="2507905" y="4718519"/>
            <a:ext cx="1738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Esto</a:t>
            </a:r>
            <a:r>
              <a:rPr lang="en-US" dirty="0">
                <a:solidFill>
                  <a:schemeClr val="bg1"/>
                </a:solidFill>
              </a:rPr>
              <a:t> es manzana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24289-70CD-4170-BB05-800A8C05C1FF}"/>
              </a:ext>
            </a:extLst>
          </p:cNvPr>
          <p:cNvSpPr txBox="1"/>
          <p:nvPr/>
        </p:nvSpPr>
        <p:spPr>
          <a:xfrm>
            <a:off x="7875588" y="4718519"/>
            <a:ext cx="1666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Eso</a:t>
            </a:r>
            <a:r>
              <a:rPr lang="en-US" dirty="0">
                <a:solidFill>
                  <a:schemeClr val="bg1"/>
                </a:solidFill>
              </a:rPr>
              <a:t> es manzana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C9514D-6E76-4F57-B1C4-8E66A26A30C2}"/>
              </a:ext>
            </a:extLst>
          </p:cNvPr>
          <p:cNvSpPr txBox="1"/>
          <p:nvPr/>
        </p:nvSpPr>
        <p:spPr>
          <a:xfrm>
            <a:off x="5019598" y="5674445"/>
            <a:ext cx="2062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  <a:highlight>
                  <a:srgbClr val="000000"/>
                </a:highlight>
              </a:rPr>
              <a:t>Aquello</a:t>
            </a:r>
            <a:r>
              <a:rPr lang="en-US" dirty="0">
                <a:solidFill>
                  <a:schemeClr val="bg1"/>
                </a:solidFill>
                <a:highlight>
                  <a:srgbClr val="000000"/>
                </a:highlight>
              </a:rPr>
              <a:t> es manzana</a:t>
            </a:r>
          </a:p>
        </p:txBody>
      </p:sp>
    </p:spTree>
    <p:extLst>
      <p:ext uri="{BB962C8B-B14F-4D97-AF65-F5344CB8AC3E}">
        <p14:creationId xmlns:p14="http://schemas.microsoft.com/office/powerpoint/2010/main" val="7309309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42" name="Picture 2" descr="C:\Users\ching\Desktop\Korean Clases\이거는 그거는저거는\연습 1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903" y="1654536"/>
            <a:ext cx="7767154" cy="4091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14927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6" name="Picture 2" descr="C:\Users\ching\Desktop\Korean Clases\이거는 그거는저거는\딸기 연습 1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9653" y="1654536"/>
            <a:ext cx="7795747" cy="4091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5740325" y="2590801"/>
            <a:ext cx="91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s-CL" sz="2400" dirty="0">
                <a:solidFill>
                  <a:schemeClr val="bg1"/>
                </a:solidFill>
              </a:rPr>
              <a:t>딸기</a:t>
            </a:r>
            <a:endParaRPr lang="es-CL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1560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90" name="Picture 2" descr="C:\Users\ching\Desktop\Korean Clases\이거는 그거는저거는\딸기 연습 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0133" y="1654536"/>
            <a:ext cx="7557104" cy="3984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91120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914" name="Picture 2" descr="C:\Users\ching\Desktop\Korean Clases\이거는 그거는저거는\딸기 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1" y="1654536"/>
            <a:ext cx="7603713" cy="3984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0542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38" name="Picture 2" descr="C:\Users\ching\Desktop\Korean Clases\이거는 그거는저거는\그거는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6320" y="1671997"/>
            <a:ext cx="7523480" cy="3945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32678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62" name="Picture 2" descr="C:\Users\ching\Desktop\Korean Clases\이거는 그거는저거는\저거는 가위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6321" y="1638677"/>
            <a:ext cx="7607101" cy="3978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BCD68C-6181-45A0-B9DC-A6372DCDDE18}"/>
              </a:ext>
            </a:extLst>
          </p:cNvPr>
          <p:cNvSpPr txBox="1"/>
          <p:nvPr/>
        </p:nvSpPr>
        <p:spPr>
          <a:xfrm>
            <a:off x="6109871" y="2743200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solidFill>
                  <a:schemeClr val="bg1"/>
                </a:solidFill>
              </a:rPr>
              <a:t>가위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71391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86" name="Picture 2" descr="C:\Users\ching\Desktop\Korean Clases\이거는 그거는저거는\가위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6321" y="1638677"/>
            <a:ext cx="7597977" cy="3978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48366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10" name="Picture 2" descr="C:\Users\ching\Desktop\Korean Clases\이거는 그거는저거는\가위 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5834" y="1638677"/>
            <a:ext cx="7533368" cy="3923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44507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034" name="Picture 2" descr="C:\Users\ching\Desktop\Korean Clases\이거는 그거는저거는\가위 4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5835" y="1658998"/>
            <a:ext cx="7644564" cy="4056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950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8" name="Picture 2" descr="C:\Users\ching\Desktop\Korean Clases\이거는 그거는저거는\피짜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5836" y="1643758"/>
            <a:ext cx="7677997" cy="3995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9B0E73-9CF3-4672-BE5A-5F0759C905CE}"/>
              </a:ext>
            </a:extLst>
          </p:cNvPr>
          <p:cNvSpPr txBox="1"/>
          <p:nvPr/>
        </p:nvSpPr>
        <p:spPr>
          <a:xfrm>
            <a:off x="6477001" y="3641279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피자</a:t>
            </a:r>
            <a:endParaRPr 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726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082" name="Picture 2" descr="C:\Users\ching\Desktop\Korean Clases\이거는 그거는저거는\피자 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1" y="1643758"/>
            <a:ext cx="7876881" cy="4147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/>
          <p:cNvSpPr>
            <a:spLocks noGrp="1"/>
          </p:cNvSpPr>
          <p:nvPr>
            <p:ph type="title" idx="4294967295"/>
          </p:nvPr>
        </p:nvSpPr>
        <p:spPr>
          <a:xfrm>
            <a:off x="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0975828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106" name="Picture 2" descr="C:\Users\ching\Desktop\Korean Clases\이거는 그거는저거는\피짜 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1" y="1643758"/>
            <a:ext cx="7850943" cy="4147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65172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30" name="Picture 2" descr="C:\Users\ching\Desktop\Korean Clases\이거는 그거는저거는\가위 5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8521" y="1643758"/>
            <a:ext cx="7743230" cy="4071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77110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154" name="Picture 2" descr="C:\Users\ching\Desktop\Korean Clases\이거는 그거는저거는\저거는 피짜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1" y="1745358"/>
            <a:ext cx="7708715" cy="4045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/>
          <p:cNvSpPr>
            <a:spLocks noGrp="1"/>
          </p:cNvSpPr>
          <p:nvPr>
            <p:ph type="title" idx="4294967295"/>
          </p:nvPr>
        </p:nvSpPr>
        <p:spPr>
          <a:xfrm>
            <a:off x="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Click to edit Master title style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69788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FA7204-C132-AA24-B38E-23930BCDF9B5}"/>
              </a:ext>
            </a:extLst>
          </p:cNvPr>
          <p:cNvSpPr txBox="1"/>
          <p:nvPr/>
        </p:nvSpPr>
        <p:spPr>
          <a:xfrm>
            <a:off x="2050473" y="1105570"/>
            <a:ext cx="428835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4800" dirty="0"/>
              <a:t>이 </a:t>
            </a:r>
            <a:r>
              <a:rPr lang="es-CL" altLang="ko-KR" sz="4800" dirty="0"/>
              <a:t>(cerca ti)</a:t>
            </a:r>
          </a:p>
          <a:p>
            <a:r>
              <a:rPr lang="ko-KR" altLang="es-CL" sz="4800" dirty="0"/>
              <a:t>그 </a:t>
            </a:r>
            <a:r>
              <a:rPr lang="es-CL" altLang="ko-KR" sz="4800" dirty="0"/>
              <a:t>(lejos de ti)</a:t>
            </a:r>
          </a:p>
          <a:p>
            <a:r>
              <a:rPr lang="ko-KR" altLang="es-CL" sz="4800" dirty="0"/>
              <a:t>저 </a:t>
            </a:r>
            <a:r>
              <a:rPr lang="es-CL" altLang="ko-KR" sz="4800" dirty="0"/>
              <a:t>(lejos ambos)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75A0B0-BBFF-328F-7DCC-D909ABDBD16F}"/>
              </a:ext>
            </a:extLst>
          </p:cNvPr>
          <p:cNvSpPr txBox="1"/>
          <p:nvPr/>
        </p:nvSpPr>
        <p:spPr>
          <a:xfrm>
            <a:off x="7121236" y="1105570"/>
            <a:ext cx="4238661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3200" dirty="0"/>
              <a:t>것 </a:t>
            </a:r>
            <a:r>
              <a:rPr lang="es-CL" altLang="ko-KR" sz="3200" dirty="0"/>
              <a:t>= cosa</a:t>
            </a:r>
          </a:p>
          <a:p>
            <a:r>
              <a:rPr lang="ko-KR" altLang="es-CL" sz="3200" dirty="0"/>
              <a:t>이 </a:t>
            </a:r>
            <a:r>
              <a:rPr lang="es-CL" altLang="ko-KR" sz="3200" dirty="0"/>
              <a:t>+ </a:t>
            </a:r>
            <a:r>
              <a:rPr lang="ko-KR" altLang="es-CL" sz="3200" dirty="0"/>
              <a:t>것 </a:t>
            </a:r>
            <a:r>
              <a:rPr lang="es-CL" altLang="ko-KR" sz="3200" dirty="0"/>
              <a:t>= </a:t>
            </a:r>
            <a:r>
              <a:rPr lang="ko-KR" altLang="es-CL" sz="3200" dirty="0"/>
              <a:t>그것 </a:t>
            </a:r>
            <a:r>
              <a:rPr lang="es-CL" altLang="ko-KR" sz="3200" dirty="0"/>
              <a:t>esto</a:t>
            </a:r>
          </a:p>
          <a:p>
            <a:r>
              <a:rPr lang="ko-KR" altLang="es-CL" sz="3200" dirty="0"/>
              <a:t>그 </a:t>
            </a:r>
            <a:r>
              <a:rPr lang="es-CL" altLang="ko-KR" sz="3200" dirty="0"/>
              <a:t>+ </a:t>
            </a:r>
            <a:r>
              <a:rPr lang="ko-KR" altLang="es-CL" sz="3200" dirty="0"/>
              <a:t>것 </a:t>
            </a:r>
            <a:r>
              <a:rPr lang="es-CL" altLang="ko-KR" sz="3200" dirty="0"/>
              <a:t>= </a:t>
            </a:r>
            <a:r>
              <a:rPr lang="ko-KR" altLang="es-CL" sz="3200" dirty="0"/>
              <a:t>그것 </a:t>
            </a:r>
            <a:r>
              <a:rPr lang="es-CL" altLang="ko-KR" sz="3200" dirty="0"/>
              <a:t>= eso</a:t>
            </a:r>
          </a:p>
          <a:p>
            <a:r>
              <a:rPr lang="ko-KR" altLang="es-CL" sz="3200" dirty="0"/>
              <a:t>저 </a:t>
            </a:r>
            <a:r>
              <a:rPr lang="es-CL" altLang="ko-KR" sz="3200" dirty="0"/>
              <a:t>+ </a:t>
            </a:r>
            <a:r>
              <a:rPr lang="ko-KR" altLang="es-CL" sz="3200" dirty="0"/>
              <a:t>것 </a:t>
            </a:r>
            <a:r>
              <a:rPr lang="es-CL" altLang="ko-KR" sz="3200" dirty="0"/>
              <a:t>= </a:t>
            </a:r>
            <a:r>
              <a:rPr lang="ko-KR" altLang="es-CL" sz="3200" dirty="0"/>
              <a:t>저것 </a:t>
            </a:r>
            <a:r>
              <a:rPr lang="es-CL" altLang="ko-KR" sz="3200" dirty="0"/>
              <a:t>= aquello</a:t>
            </a:r>
            <a:endParaRPr lang="es-CL" sz="3200" dirty="0"/>
          </a:p>
        </p:txBody>
      </p:sp>
    </p:spTree>
    <p:extLst>
      <p:ext uri="{BB962C8B-B14F-4D97-AF65-F5344CB8AC3E}">
        <p14:creationId xmlns:p14="http://schemas.microsoft.com/office/powerpoint/2010/main" val="41897603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78" name="Picture 2" descr="C:\Users\ching\Desktop\Korean Clases\이거는 그거는저거는\연습 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9641" y="1745357"/>
            <a:ext cx="7680443" cy="4045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98004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02" name="Picture 2" descr="C:\Users\ching\Desktop\Korean Clases\이거는 그거는저거는\이거는 연습 연필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1504" y="775540"/>
            <a:ext cx="7564117" cy="3969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5312062" y="1684936"/>
            <a:ext cx="1143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s-CL" sz="3200" dirty="0">
                <a:solidFill>
                  <a:schemeClr val="bg1"/>
                </a:solidFill>
              </a:rPr>
              <a:t>연필</a:t>
            </a:r>
            <a:endParaRPr lang="es-CL" sz="32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F262ED-9C2D-BC72-127D-5C6EA2E9B132}"/>
              </a:ext>
            </a:extLst>
          </p:cNvPr>
          <p:cNvSpPr txBox="1"/>
          <p:nvPr/>
        </p:nvSpPr>
        <p:spPr>
          <a:xfrm>
            <a:off x="2927927" y="4904509"/>
            <a:ext cx="552619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2800" dirty="0"/>
              <a:t>그거는 한국어로 뭐예요</a:t>
            </a:r>
            <a:r>
              <a:rPr lang="es-CL" altLang="ko-KR" sz="2800" dirty="0"/>
              <a:t>?</a:t>
            </a:r>
          </a:p>
          <a:p>
            <a:r>
              <a:rPr lang="es-CL" sz="2800" dirty="0"/>
              <a:t>Eso(PT) Coreano(a, con, en) Que Ser </a:t>
            </a:r>
          </a:p>
        </p:txBody>
      </p:sp>
    </p:spTree>
    <p:extLst>
      <p:ext uri="{BB962C8B-B14F-4D97-AF65-F5344CB8AC3E}">
        <p14:creationId xmlns:p14="http://schemas.microsoft.com/office/powerpoint/2010/main" val="8331338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26" name="Picture 2" descr="C:\Users\ching\Desktop\Korean Clases\이거는 그거는저거는\이거는 연습 연필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1" y="1745356"/>
            <a:ext cx="7539137" cy="3969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50478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50" name="Picture 2" descr="C:\Users\ching\Desktop\Korean Clases\이거는 그거는저거는\이거는 연습 연필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1560" y="1745357"/>
            <a:ext cx="7503577" cy="395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7239000" y="4800600"/>
            <a:ext cx="266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800" dirty="0">
                <a:solidFill>
                  <a:schemeClr val="bg1"/>
                </a:solidFill>
              </a:rPr>
              <a:t>Esto es un lápiz</a:t>
            </a:r>
          </a:p>
        </p:txBody>
      </p:sp>
    </p:spTree>
    <p:extLst>
      <p:ext uri="{BB962C8B-B14F-4D97-AF65-F5344CB8AC3E}">
        <p14:creationId xmlns:p14="http://schemas.microsoft.com/office/powerpoint/2010/main" val="34578569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274" name="Picture 2" descr="C:\Users\ching\Desktop\Korean Clases\이거는 그거는저거는\이거는 무지개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1560" y="1745357"/>
            <a:ext cx="7550885" cy="395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0AADF9-DBE6-4A89-E4DC-CC50D4ADE73E}"/>
              </a:ext>
            </a:extLst>
          </p:cNvPr>
          <p:cNvSpPr txBox="1"/>
          <p:nvPr/>
        </p:nvSpPr>
        <p:spPr>
          <a:xfrm>
            <a:off x="6927273" y="385156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>
                <a:solidFill>
                  <a:schemeClr val="bg1"/>
                </a:solidFill>
              </a:rPr>
              <a:t>무지개</a:t>
            </a:r>
            <a:endParaRPr lang="es-CL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2845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298" name="Picture 2" descr="C:\Users\ching\Desktop\Korean Clases\이거는 그거는저거는\이거는 무지개 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1560" y="1745355"/>
            <a:ext cx="7550885" cy="3937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/>
          <p:cNvSpPr>
            <a:spLocks noGrp="1"/>
          </p:cNvSpPr>
          <p:nvPr>
            <p:ph type="title" idx="4294967295"/>
          </p:nvPr>
        </p:nvSpPr>
        <p:spPr>
          <a:xfrm>
            <a:off x="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Click to edit Master title style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4293085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322" name="Picture 2" descr="C:\Users\ching\Desktop\Korean Clases\이거는 그거는저거는\이거는 무지개 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1559" y="1745355"/>
            <a:ext cx="7517152" cy="3937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41641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6" name="Picture 2" descr="C:\Users\ching\Desktop\Korean Clases\이거는 그거는저거는\이거는 저거는 그거는 요약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1559" y="1676401"/>
            <a:ext cx="7517152" cy="3933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09680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§4B.4 · CULTURA +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 · "Nuestro", no "mi"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familia, país, escuela o casa, los coreanos casi siempre usan 우리 (nosotros) en vez de 내/제 (mi) — aunque seas hijo único.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우리 엄마 (no "내 엄마") = mi mama </a:t>
            </a: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우리 아빠 </a:t>
            </a:r>
            <a:r>
              <a:rPr lang="es-CL" altLang="ko-KR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papa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우리 나라 = mi país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우리 학교 = mi escuela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우리 집 = mi casa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qué?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Refleja una idea colectiva: tu familia, tu país y tu escuela se sienten compartidos con otros, no solo tuyos.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(nosotros · "our")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04B  ·  INMULGWAGAJOK</a:t>
            </a:r>
            <a:endParaRPr lang="en-US" sz="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§4B.5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가족 · La familia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coreano, algunas palabras de familia cambian según el GÉNERO de quien habla — algo que el español no tiene.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Hermano/a mayor: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형 (hyeong) = hermano mayor — lo dice un HOMBRE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오빠 (oppa) = hermano mayor — lo dice una MUJER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누나 (nuna) = hermana mayor — lo dice un HOMBRE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언니 (eonni) = hermana mayor — lo dice una MUJER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Truco: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동생 (dongsaeng) = hermano/a MENOR — no cambia, sirve para los dos géneros.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ga-jok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(familia)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04B  ·  INMULGWAGAJOK</a:t>
            </a:r>
            <a:endParaRPr lang="en-US" sz="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§4B.5 · VOCABULARIO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de familia (가족)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엄마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Mamá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아빠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형/오빠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Hno. mayor*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누나/언니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Hna. mayor*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동생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Hno/a menor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할머니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Abuela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할아버지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Abuelo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가족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</a:t>
            </a:r>
            <a:endParaRPr lang="en-US" sz="1200" dirty="0"/>
          </a:p>
        </p:txBody>
      </p:sp>
      <p:pic>
        <p:nvPicPr>
          <p:cNvPr id="34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35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04B  ·  INMULGWAGAJOK</a:t>
            </a:r>
            <a:endParaRPr lang="en-US" sz="8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62639D6-7E39-C8D1-1E84-B8D6D20B53F0}"/>
              </a:ext>
            </a:extLst>
          </p:cNvPr>
          <p:cNvSpPr txBox="1"/>
          <p:nvPr/>
        </p:nvSpPr>
        <p:spPr>
          <a:xfrm>
            <a:off x="1481658" y="1417320"/>
            <a:ext cx="8771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어머니</a:t>
            </a:r>
            <a:endParaRPr lang="es-CL" altLang="ko-KR" dirty="0"/>
          </a:p>
          <a:p>
            <a:r>
              <a:rPr lang="es-CL" dirty="0"/>
              <a:t>madre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828B93-01C6-0089-BFAA-282010929557}"/>
              </a:ext>
            </a:extLst>
          </p:cNvPr>
          <p:cNvSpPr txBox="1"/>
          <p:nvPr/>
        </p:nvSpPr>
        <p:spPr>
          <a:xfrm>
            <a:off x="4431094" y="1296769"/>
            <a:ext cx="8771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아버지</a:t>
            </a:r>
            <a:endParaRPr lang="es-CL" altLang="ko-KR" dirty="0"/>
          </a:p>
          <a:p>
            <a:r>
              <a:rPr lang="es-CL" dirty="0"/>
              <a:t>padre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6522FF0-AEF1-3344-58D7-37AE068CD184}"/>
              </a:ext>
            </a:extLst>
          </p:cNvPr>
          <p:cNvSpPr txBox="1"/>
          <p:nvPr/>
        </p:nvSpPr>
        <p:spPr>
          <a:xfrm>
            <a:off x="898251" y="4802909"/>
            <a:ext cx="263084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남자 </a:t>
            </a:r>
            <a:r>
              <a:rPr lang="es-CL" altLang="ko-KR" dirty="0"/>
              <a:t>= hombre</a:t>
            </a:r>
          </a:p>
          <a:p>
            <a:r>
              <a:rPr lang="ko-KR" altLang="es-CL" dirty="0"/>
              <a:t>여자 </a:t>
            </a:r>
            <a:r>
              <a:rPr lang="es-CL" altLang="ko-KR" dirty="0"/>
              <a:t>= mujer</a:t>
            </a:r>
          </a:p>
          <a:p>
            <a:r>
              <a:rPr lang="ko-KR" altLang="es-CL" dirty="0"/>
              <a:t>남동생 </a:t>
            </a:r>
            <a:r>
              <a:rPr lang="es-CL" altLang="ko-KR" dirty="0"/>
              <a:t>= hermano menor</a:t>
            </a:r>
          </a:p>
          <a:p>
            <a:r>
              <a:rPr lang="ko-KR" altLang="es-CL" dirty="0"/>
              <a:t>여동생 </a:t>
            </a:r>
            <a:r>
              <a:rPr lang="es-CL" altLang="ko-KR" dirty="0"/>
              <a:t>= hermana menor</a:t>
            </a:r>
            <a:endParaRPr lang="es-CL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DF2E6E-D264-D409-8C1F-FC8DEAC3814C}"/>
              </a:ext>
            </a:extLst>
          </p:cNvPr>
          <p:cNvSpPr txBox="1"/>
          <p:nvPr/>
        </p:nvSpPr>
        <p:spPr>
          <a:xfrm>
            <a:off x="3908514" y="4802907"/>
            <a:ext cx="192232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친구 </a:t>
            </a:r>
            <a:r>
              <a:rPr lang="es-CL" altLang="ko-KR" dirty="0"/>
              <a:t>= amigo</a:t>
            </a:r>
          </a:p>
          <a:p>
            <a:r>
              <a:rPr lang="ko-KR" altLang="es-CL" dirty="0"/>
              <a:t>남자친구 </a:t>
            </a:r>
            <a:r>
              <a:rPr lang="es-CL" altLang="ko-KR" dirty="0"/>
              <a:t>= pololo</a:t>
            </a:r>
          </a:p>
          <a:p>
            <a:r>
              <a:rPr lang="ko-KR" altLang="es-CL" dirty="0"/>
              <a:t>여자친구 </a:t>
            </a:r>
            <a:r>
              <a:rPr lang="es-CL" altLang="ko-KR" dirty="0"/>
              <a:t>= polola</a:t>
            </a:r>
          </a:p>
          <a:p>
            <a:r>
              <a:rPr lang="ko-KR" altLang="es-CL" dirty="0"/>
              <a:t>남사친구 </a:t>
            </a:r>
            <a:r>
              <a:rPr lang="es-CL" altLang="ko-KR" dirty="0"/>
              <a:t>= amigo</a:t>
            </a:r>
          </a:p>
          <a:p>
            <a:r>
              <a:rPr lang="ko-KR" altLang="es-CL" dirty="0"/>
              <a:t>여사친구 </a:t>
            </a:r>
            <a:r>
              <a:rPr lang="es-CL" altLang="ko-KR" dirty="0"/>
              <a:t>= amiga</a:t>
            </a:r>
            <a:endParaRPr lang="es-CL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75DC07-7396-814D-6A40-6D556D6E7DC9}"/>
              </a:ext>
            </a:extLst>
          </p:cNvPr>
          <p:cNvSpPr txBox="1"/>
          <p:nvPr/>
        </p:nvSpPr>
        <p:spPr>
          <a:xfrm>
            <a:off x="6751782" y="228600"/>
            <a:ext cx="3101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우리 가족 </a:t>
            </a:r>
            <a:r>
              <a:rPr lang="es-CL" altLang="ko-KR" dirty="0"/>
              <a:t>= nuestra/mi familia</a:t>
            </a:r>
            <a:endParaRPr lang="es-CL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45BE51-B01E-9C45-9D6B-D8098CB9532C}"/>
              </a:ext>
            </a:extLst>
          </p:cNvPr>
          <p:cNvSpPr txBox="1"/>
          <p:nvPr/>
        </p:nvSpPr>
        <p:spPr>
          <a:xfrm>
            <a:off x="6751782" y="765757"/>
            <a:ext cx="3101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우리 가족 </a:t>
            </a:r>
            <a:r>
              <a:rPr lang="es-CL" altLang="ko-KR" dirty="0"/>
              <a:t>= nuestra/mi familia</a:t>
            </a:r>
            <a:endParaRPr lang="es-CL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§4B.6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누구예요? · ¿Quién es?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누구 (nu-gu) = quién. Se usa con 예요/이에요 para personas — nunca con 뭐예요, que es solo para cosas.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 사람은 누구예요? → ¿Quién es esta persona?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Este persona(PT)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quien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es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이 사람은 이사마르예요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저 사람이 선생님이에요. → Aquella persona es el profesor.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그 사람은 누구예요? → ¿Quién es esa persona?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우리 엄마예요. → Es mi mamá.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Truco: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누구 + 예요 = 누구예요. Pero 누구 + 가 = 누가 (irregular, como ya viste en 이/가).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누구예요?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nu-gu-ye-yo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(¿quién es?)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04B  ·  INMULGWAGAJOK</a:t>
            </a:r>
            <a:endParaRPr lang="en-US" sz="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§4B.7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/ 아니요 · Acuerdo, no verdad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 y 아니요 no son "sí" y "no": marcan ACUERDO o DESACUERDO con lo que dijo la otra persona.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clásico: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커피 안 좋아해요? → ¿No te gusta el café?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네, 안 좋아해요. → No, no me gusta. (acuerdo)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아니요, 좋아해요. → Sí, me gusta. (desacuerdo)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네, 맞아요. → Sí, es correcto.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Truco: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¿Estoy de acuerdo con lo que dijo? Sí → 네. No → 아니요. No pienses en positivo/negativo.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/ 아니요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/ a-ni-yo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(acuerdo / desacuerdo)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04B  ·  INMULGWAGAJOK</a:t>
            </a:r>
            <a:endParaRPr lang="en-US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4B509D-3E07-AA38-F864-549A107E8315}"/>
              </a:ext>
            </a:extLst>
          </p:cNvPr>
          <p:cNvSpPr txBox="1"/>
          <p:nvPr/>
        </p:nvSpPr>
        <p:spPr>
          <a:xfrm>
            <a:off x="6096000" y="365760"/>
            <a:ext cx="35894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좋아해요</a:t>
            </a:r>
            <a:r>
              <a:rPr lang="es-CL" altLang="ko-KR" dirty="0"/>
              <a:t>? = gustar</a:t>
            </a:r>
          </a:p>
          <a:p>
            <a:r>
              <a:rPr lang="ko-KR" altLang="es-CL" dirty="0"/>
              <a:t>커피를 좋아해요 </a:t>
            </a:r>
            <a:r>
              <a:rPr lang="es-CL" altLang="ko-KR" dirty="0"/>
              <a:t>= me gusta el café</a:t>
            </a:r>
          </a:p>
          <a:p>
            <a:r>
              <a:rPr lang="es-CL" dirty="0"/>
              <a:t>Cafe(PO) gustar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17B519-4D6F-BDF6-68C8-F3664BFE67DD}"/>
              </a:ext>
            </a:extLst>
          </p:cNvPr>
          <p:cNvSpPr txBox="1"/>
          <p:nvPr/>
        </p:nvSpPr>
        <p:spPr>
          <a:xfrm>
            <a:off x="9836727" y="365760"/>
            <a:ext cx="18020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안 좋아해요</a:t>
            </a:r>
            <a:endParaRPr lang="es-CL" altLang="ko-KR" dirty="0"/>
          </a:p>
          <a:p>
            <a:r>
              <a:rPr lang="es-CL" dirty="0"/>
              <a:t>No me gusta </a:t>
            </a:r>
            <a:r>
              <a:rPr lang="es-CL" dirty="0" err="1"/>
              <a:t>cafe</a:t>
            </a:r>
            <a:endParaRPr lang="es-CL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67102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0DBB0-4BFA-48F8-A403-D8ED88CEA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s-CL" dirty="0"/>
              <a:t>이 </a:t>
            </a:r>
            <a:r>
              <a:rPr lang="es-CL" altLang="ko-KR" dirty="0"/>
              <a:t>, </a:t>
            </a:r>
            <a:r>
              <a:rPr lang="ko-KR" altLang="es-CL" dirty="0"/>
              <a:t>그</a:t>
            </a:r>
            <a:r>
              <a:rPr lang="es-CL" altLang="ko-KR" dirty="0"/>
              <a:t>, </a:t>
            </a:r>
            <a:r>
              <a:rPr lang="ko-KR" altLang="es-CL" dirty="0"/>
              <a:t>저</a:t>
            </a:r>
            <a:endParaRPr lang="es-C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87AC0-E27D-4344-B1E1-7EFEAA1AF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6312" y="2556932"/>
            <a:ext cx="9601196" cy="3318936"/>
          </a:xfrm>
        </p:spPr>
        <p:txBody>
          <a:bodyPr>
            <a:normAutofit/>
          </a:bodyPr>
          <a:lstStyle/>
          <a:p>
            <a:r>
              <a:rPr lang="ko-KR" altLang="es-CL" dirty="0"/>
              <a:t>이것</a:t>
            </a:r>
            <a:r>
              <a:rPr lang="es-CL" altLang="ko-KR" dirty="0"/>
              <a:t>/</a:t>
            </a:r>
            <a:r>
              <a:rPr lang="ko-KR" altLang="es-CL" dirty="0"/>
              <a:t>이거는</a:t>
            </a:r>
            <a:r>
              <a:rPr lang="es-CL" altLang="ko-KR" dirty="0"/>
              <a:t>/</a:t>
            </a:r>
            <a:r>
              <a:rPr lang="ko-KR" altLang="es-CL" dirty="0"/>
              <a:t>이게 </a:t>
            </a:r>
            <a:r>
              <a:rPr lang="es-CL" altLang="ko-KR" dirty="0"/>
              <a:t>= Esto</a:t>
            </a:r>
          </a:p>
          <a:p>
            <a:r>
              <a:rPr lang="ko-KR" altLang="es-CL" dirty="0"/>
              <a:t>그것</a:t>
            </a:r>
            <a:r>
              <a:rPr lang="es-CL" altLang="ko-KR" dirty="0"/>
              <a:t>/</a:t>
            </a:r>
            <a:r>
              <a:rPr lang="ko-KR" altLang="es-CL" dirty="0"/>
              <a:t>그거는</a:t>
            </a:r>
            <a:r>
              <a:rPr lang="es-CL" altLang="ko-KR" dirty="0"/>
              <a:t>/</a:t>
            </a:r>
            <a:r>
              <a:rPr lang="ko-KR" altLang="es-CL" dirty="0"/>
              <a:t>그게 </a:t>
            </a:r>
            <a:r>
              <a:rPr lang="es-CL" altLang="ko-KR" dirty="0"/>
              <a:t>= Eso</a:t>
            </a:r>
          </a:p>
          <a:p>
            <a:r>
              <a:rPr lang="ko-KR" altLang="es-CL" dirty="0"/>
              <a:t>저것</a:t>
            </a:r>
            <a:r>
              <a:rPr lang="es-CL" altLang="ko-KR" dirty="0"/>
              <a:t>/</a:t>
            </a:r>
            <a:r>
              <a:rPr lang="ko-KR" altLang="es-CL" dirty="0"/>
              <a:t>저거는</a:t>
            </a:r>
            <a:r>
              <a:rPr lang="es-CL" altLang="ko-KR" dirty="0"/>
              <a:t>/</a:t>
            </a:r>
            <a:r>
              <a:rPr lang="ko-KR" altLang="es-CL" dirty="0"/>
              <a:t>저게 </a:t>
            </a:r>
            <a:r>
              <a:rPr lang="es-CL" altLang="ko-KR" dirty="0"/>
              <a:t>= Aquello</a:t>
            </a:r>
          </a:p>
          <a:p>
            <a:endParaRPr lang="es-CL" altLang="ko-KR" dirty="0"/>
          </a:p>
          <a:p>
            <a:endParaRPr lang="es-CL" dirty="0"/>
          </a:p>
          <a:p>
            <a:endParaRPr lang="es-C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0B2B8C-CEAD-4B02-AA49-F497F3E7ABDF}"/>
              </a:ext>
            </a:extLst>
          </p:cNvPr>
          <p:cNvSpPr txBox="1"/>
          <p:nvPr/>
        </p:nvSpPr>
        <p:spPr>
          <a:xfrm>
            <a:off x="6589552" y="2274838"/>
            <a:ext cx="611557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s-CL" dirty="0"/>
              <a:t>이게 뭐예요</a:t>
            </a:r>
            <a:r>
              <a:rPr lang="es-CL" altLang="ko-KR" dirty="0"/>
              <a:t>? Que es esto</a:t>
            </a:r>
          </a:p>
          <a:p>
            <a:pPr marL="0" indent="0">
              <a:buNone/>
            </a:pPr>
            <a:r>
              <a:rPr lang="es-CL" altLang="ko-KR" dirty="0"/>
              <a:t>Esto que ser</a:t>
            </a:r>
          </a:p>
          <a:p>
            <a:pPr marL="285750" indent="-285750">
              <a:buFontTx/>
              <a:buChar char="-"/>
            </a:pPr>
            <a:r>
              <a:rPr lang="ko-KR" altLang="es-CL" dirty="0"/>
              <a:t>이게 연필이에요 </a:t>
            </a:r>
            <a:r>
              <a:rPr lang="es-CL" altLang="ko-KR" dirty="0"/>
              <a:t>= Esto es un lápiz</a:t>
            </a:r>
          </a:p>
          <a:p>
            <a:r>
              <a:rPr lang="es-CL" altLang="ko-KR" dirty="0"/>
              <a:t>Esto </a:t>
            </a:r>
            <a:r>
              <a:rPr lang="es-CL" altLang="ko-KR" dirty="0" err="1"/>
              <a:t>lapiz</a:t>
            </a:r>
            <a:r>
              <a:rPr lang="es-CL" altLang="ko-KR" dirty="0"/>
              <a:t> ser</a:t>
            </a:r>
          </a:p>
          <a:p>
            <a:r>
              <a:rPr lang="ko-KR" altLang="es-CL" dirty="0"/>
              <a:t>저게 뭐예요</a:t>
            </a:r>
            <a:r>
              <a:rPr lang="es-CL" altLang="ko-KR" dirty="0"/>
              <a:t>? = Que es aquello?</a:t>
            </a:r>
          </a:p>
          <a:p>
            <a:r>
              <a:rPr lang="es-CL" altLang="ko-KR" dirty="0"/>
              <a:t>Aquello que ser</a:t>
            </a:r>
          </a:p>
          <a:p>
            <a:pPr marL="0" indent="0">
              <a:buNone/>
            </a:pPr>
            <a:r>
              <a:rPr lang="ko-KR" altLang="es-CL" dirty="0"/>
              <a:t>저게 시계예요 </a:t>
            </a:r>
            <a:r>
              <a:rPr lang="es-CL" altLang="ko-KR" dirty="0"/>
              <a:t>= Aquello es un reloj</a:t>
            </a:r>
          </a:p>
          <a:p>
            <a:pPr marL="0" indent="0">
              <a:buNone/>
            </a:pPr>
            <a:r>
              <a:rPr lang="es-CL" altLang="ko-KR" dirty="0"/>
              <a:t>Aquello reloj ser</a:t>
            </a:r>
          </a:p>
        </p:txBody>
      </p:sp>
    </p:spTree>
    <p:extLst>
      <p:ext uri="{BB962C8B-B14F-4D97-AF65-F5344CB8AC3E}">
        <p14:creationId xmlns:p14="http://schemas.microsoft.com/office/powerpoint/2010/main" val="107872431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0DBB0-4BFA-48F8-A403-D8ED88CEA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altLang="ko-KR" dirty="0"/>
              <a:t>Vocabulario</a:t>
            </a:r>
            <a:endParaRPr lang="es-C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87AC0-E27D-4344-B1E1-7EFEAA1AF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6312" y="2556932"/>
            <a:ext cx="9601196" cy="3318936"/>
          </a:xfrm>
        </p:spPr>
        <p:txBody>
          <a:bodyPr numCol="2">
            <a:normAutofit fontScale="62500" lnSpcReduction="20000"/>
          </a:bodyPr>
          <a:lstStyle/>
          <a:p>
            <a:r>
              <a:rPr lang="ko-KR" altLang="es-CL" sz="2900" dirty="0"/>
              <a:t>선생님 </a:t>
            </a:r>
            <a:r>
              <a:rPr lang="es-CL" altLang="ko-KR" sz="2900" dirty="0"/>
              <a:t>= Profesor</a:t>
            </a:r>
          </a:p>
          <a:p>
            <a:pPr marL="0" indent="0">
              <a:buNone/>
            </a:pPr>
            <a:r>
              <a:rPr lang="es-CL" altLang="ko-KR" sz="2900" dirty="0"/>
              <a:t>[</a:t>
            </a:r>
            <a:r>
              <a:rPr lang="es-CL" altLang="ko-KR" sz="2900" dirty="0" err="1"/>
              <a:t>Sun</a:t>
            </a:r>
            <a:r>
              <a:rPr lang="es-CL" altLang="ko-KR" sz="2900" dirty="0"/>
              <a:t> </a:t>
            </a:r>
            <a:r>
              <a:rPr lang="es-CL" altLang="ko-KR" sz="2900" dirty="0" err="1"/>
              <a:t>Seng</a:t>
            </a:r>
            <a:r>
              <a:rPr lang="es-CL" altLang="ko-KR" sz="2900" dirty="0"/>
              <a:t> Nim]</a:t>
            </a:r>
          </a:p>
          <a:p>
            <a:r>
              <a:rPr lang="ko-KR" altLang="es-CL" sz="2900" dirty="0"/>
              <a:t>책상 </a:t>
            </a:r>
            <a:r>
              <a:rPr lang="es-CL" altLang="ko-KR" sz="2900" dirty="0"/>
              <a:t>= Escritorio</a:t>
            </a:r>
          </a:p>
          <a:p>
            <a:pPr marL="0" indent="0">
              <a:buNone/>
            </a:pPr>
            <a:r>
              <a:rPr lang="es-CL" altLang="ko-KR" sz="2900" dirty="0"/>
              <a:t>[</a:t>
            </a:r>
            <a:r>
              <a:rPr lang="es-CL" altLang="ko-KR" sz="2900" dirty="0" err="1"/>
              <a:t>chek</a:t>
            </a:r>
            <a:r>
              <a:rPr lang="es-CL" altLang="ko-KR" sz="2900" dirty="0"/>
              <a:t> </a:t>
            </a:r>
            <a:r>
              <a:rPr lang="es-CL" altLang="ko-KR" sz="2900" dirty="0" err="1"/>
              <a:t>sang</a:t>
            </a:r>
            <a:r>
              <a:rPr lang="es-CL" altLang="ko-KR" sz="2900" dirty="0"/>
              <a:t>]</a:t>
            </a:r>
          </a:p>
          <a:p>
            <a:r>
              <a:rPr lang="ko-KR" altLang="es-CL" sz="2900" dirty="0"/>
              <a:t>의자 </a:t>
            </a:r>
            <a:r>
              <a:rPr lang="es-CL" altLang="ko-KR" sz="2900" dirty="0"/>
              <a:t>= Silla</a:t>
            </a:r>
          </a:p>
          <a:p>
            <a:pPr marL="0" indent="0">
              <a:buNone/>
            </a:pPr>
            <a:r>
              <a:rPr lang="es-CL" altLang="ko-KR" sz="2900" dirty="0"/>
              <a:t>[</a:t>
            </a:r>
            <a:r>
              <a:rPr lang="es-CL" altLang="ko-KR" sz="2900" dirty="0" err="1"/>
              <a:t>eui</a:t>
            </a:r>
            <a:r>
              <a:rPr lang="es-CL" altLang="ko-KR" sz="2900" dirty="0"/>
              <a:t> ja]</a:t>
            </a:r>
          </a:p>
          <a:p>
            <a:r>
              <a:rPr lang="ko-KR" altLang="es-CL" sz="2900" dirty="0"/>
              <a:t>칠판 </a:t>
            </a:r>
            <a:r>
              <a:rPr lang="es-CL" altLang="ko-KR" sz="2900" dirty="0"/>
              <a:t>= pizarra</a:t>
            </a:r>
          </a:p>
          <a:p>
            <a:pPr marL="0" indent="0">
              <a:buNone/>
            </a:pPr>
            <a:r>
              <a:rPr lang="es-CL" altLang="ko-KR" sz="2900" dirty="0"/>
              <a:t>[</a:t>
            </a:r>
            <a:r>
              <a:rPr lang="es-CL" altLang="ko-KR" sz="2900" dirty="0" err="1"/>
              <a:t>chil</a:t>
            </a:r>
            <a:r>
              <a:rPr lang="es-CL" altLang="ko-KR" sz="2900" dirty="0"/>
              <a:t> pan]</a:t>
            </a:r>
          </a:p>
          <a:p>
            <a:r>
              <a:rPr lang="ko-KR" altLang="es-CL" sz="2900" dirty="0"/>
              <a:t>시계 </a:t>
            </a:r>
            <a:r>
              <a:rPr lang="es-CL" altLang="ko-KR" sz="2900" dirty="0"/>
              <a:t>= Reloj</a:t>
            </a:r>
          </a:p>
          <a:p>
            <a:pPr marL="0" indent="0">
              <a:buNone/>
            </a:pPr>
            <a:r>
              <a:rPr lang="es-CL" altLang="ko-KR" sz="2900" dirty="0"/>
              <a:t>[si ge]</a:t>
            </a:r>
          </a:p>
          <a:p>
            <a:r>
              <a:rPr lang="ko-KR" altLang="es-CL" sz="2900" dirty="0"/>
              <a:t>지우개 </a:t>
            </a:r>
            <a:r>
              <a:rPr lang="es-CL" altLang="ko-KR" sz="2900" dirty="0"/>
              <a:t>= goma de borrador</a:t>
            </a:r>
          </a:p>
          <a:p>
            <a:pPr marL="0" indent="0">
              <a:buNone/>
            </a:pPr>
            <a:r>
              <a:rPr lang="es-CL" altLang="ko-KR" sz="2900" dirty="0"/>
              <a:t>[ji </a:t>
            </a:r>
            <a:r>
              <a:rPr lang="es-CL" altLang="ko-KR" sz="2900" dirty="0" err="1"/>
              <a:t>wu</a:t>
            </a:r>
            <a:r>
              <a:rPr lang="es-CL" altLang="ko-KR" sz="2900" dirty="0"/>
              <a:t> ge]</a:t>
            </a:r>
          </a:p>
          <a:p>
            <a:r>
              <a:rPr lang="ko-KR" altLang="es-CL" sz="2900" dirty="0"/>
              <a:t>책 </a:t>
            </a:r>
            <a:r>
              <a:rPr lang="es-CL" altLang="ko-KR" sz="2900" dirty="0"/>
              <a:t>= libro</a:t>
            </a:r>
          </a:p>
          <a:p>
            <a:pPr marL="0" indent="0">
              <a:buNone/>
            </a:pPr>
            <a:r>
              <a:rPr lang="es-CL" altLang="ko-KR" sz="2900" dirty="0"/>
              <a:t>[</a:t>
            </a:r>
            <a:r>
              <a:rPr lang="es-CL" altLang="ko-KR" sz="2900" dirty="0" err="1"/>
              <a:t>chek</a:t>
            </a:r>
            <a:r>
              <a:rPr lang="es-CL" altLang="ko-KR" sz="2900" dirty="0"/>
              <a:t>]</a:t>
            </a:r>
          </a:p>
          <a:p>
            <a:r>
              <a:rPr lang="ko-KR" altLang="es-CL" sz="2900" dirty="0"/>
              <a:t>공책 </a:t>
            </a:r>
            <a:r>
              <a:rPr lang="es-CL" altLang="ko-KR" sz="2900" dirty="0"/>
              <a:t>= cuaderno</a:t>
            </a:r>
          </a:p>
          <a:p>
            <a:pPr marL="0" indent="0">
              <a:buNone/>
            </a:pPr>
            <a:r>
              <a:rPr lang="es-CL" altLang="ko-KR" sz="2900" dirty="0"/>
              <a:t>[gong </a:t>
            </a:r>
            <a:r>
              <a:rPr lang="es-CL" altLang="ko-KR" sz="2900" dirty="0" err="1"/>
              <a:t>chek</a:t>
            </a:r>
            <a:r>
              <a:rPr lang="es-CL" altLang="ko-KR" sz="2900" dirty="0"/>
              <a:t>]</a:t>
            </a:r>
          </a:p>
          <a:p>
            <a:r>
              <a:rPr lang="ko-KR" altLang="es-CL" sz="2900" dirty="0"/>
              <a:t>연필 </a:t>
            </a:r>
            <a:r>
              <a:rPr lang="es-CL" altLang="ko-KR" sz="2900" dirty="0"/>
              <a:t>= </a:t>
            </a:r>
            <a:r>
              <a:rPr lang="es-CL" altLang="ko-KR" sz="2900" dirty="0" err="1"/>
              <a:t>lapiz</a:t>
            </a:r>
            <a:endParaRPr lang="es-CL" altLang="ko-KR" sz="2900" dirty="0"/>
          </a:p>
          <a:p>
            <a:pPr marL="0" indent="0">
              <a:buNone/>
            </a:pPr>
            <a:r>
              <a:rPr lang="es-CL" altLang="ko-KR" sz="2900" dirty="0"/>
              <a:t>[</a:t>
            </a:r>
            <a:r>
              <a:rPr lang="es-CL" altLang="ko-KR" sz="2900" dirty="0" err="1"/>
              <a:t>yion</a:t>
            </a:r>
            <a:r>
              <a:rPr lang="es-CL" altLang="ko-KR" sz="2900" dirty="0"/>
              <a:t> </a:t>
            </a:r>
            <a:r>
              <a:rPr lang="es-CL" altLang="ko-KR" sz="2900" dirty="0" err="1"/>
              <a:t>pil</a:t>
            </a:r>
            <a:r>
              <a:rPr lang="es-CL" altLang="ko-KR" sz="2900" dirty="0"/>
              <a:t>]</a:t>
            </a:r>
          </a:p>
          <a:p>
            <a:endParaRPr lang="es-CL" altLang="ko-KR" sz="1600" dirty="0"/>
          </a:p>
          <a:p>
            <a:endParaRPr lang="es-CL" sz="1600" dirty="0"/>
          </a:p>
          <a:p>
            <a:endParaRPr lang="es-CL" sz="1600" dirty="0"/>
          </a:p>
        </p:txBody>
      </p:sp>
    </p:spTree>
    <p:extLst>
      <p:ext uri="{BB962C8B-B14F-4D97-AF65-F5344CB8AC3E}">
        <p14:creationId xmlns:p14="http://schemas.microsoft.com/office/powerpoint/2010/main" val="24746606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0DBB0-4BFA-48F8-A403-D8ED88CEA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altLang="ko-KR" dirty="0"/>
              <a:t>Vocabulario</a:t>
            </a:r>
            <a:endParaRPr lang="es-C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87AC0-E27D-4344-B1E1-7EFEAA1AF7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6312" y="2556932"/>
            <a:ext cx="9601196" cy="3318936"/>
          </a:xfrm>
        </p:spPr>
        <p:txBody>
          <a:bodyPr numCol="2">
            <a:normAutofit fontScale="62500" lnSpcReduction="20000"/>
          </a:bodyPr>
          <a:lstStyle/>
          <a:p>
            <a:r>
              <a:rPr lang="ko-KR" altLang="es-CL" sz="2900" dirty="0"/>
              <a:t>선생님 </a:t>
            </a:r>
            <a:r>
              <a:rPr lang="es-CL" altLang="ko-KR" sz="2900" dirty="0"/>
              <a:t>= Profesor</a:t>
            </a:r>
          </a:p>
          <a:p>
            <a:pPr marL="0" indent="0">
              <a:buNone/>
            </a:pPr>
            <a:r>
              <a:rPr lang="es-CL" altLang="ko-KR" sz="2900" dirty="0"/>
              <a:t>[</a:t>
            </a:r>
            <a:r>
              <a:rPr lang="es-CL" altLang="ko-KR" sz="2900" dirty="0" err="1"/>
              <a:t>Sun</a:t>
            </a:r>
            <a:r>
              <a:rPr lang="es-CL" altLang="ko-KR" sz="2900" dirty="0"/>
              <a:t> </a:t>
            </a:r>
            <a:r>
              <a:rPr lang="es-CL" altLang="ko-KR" sz="2900" dirty="0" err="1"/>
              <a:t>Seng</a:t>
            </a:r>
            <a:r>
              <a:rPr lang="es-CL" altLang="ko-KR" sz="2900" dirty="0"/>
              <a:t> Nim]</a:t>
            </a:r>
          </a:p>
          <a:p>
            <a:r>
              <a:rPr lang="ko-KR" altLang="es-CL" sz="2900" dirty="0"/>
              <a:t>책상 </a:t>
            </a:r>
            <a:r>
              <a:rPr lang="es-CL" altLang="ko-KR" sz="2900" dirty="0"/>
              <a:t>= Escritorio</a:t>
            </a:r>
          </a:p>
          <a:p>
            <a:pPr marL="0" indent="0">
              <a:buNone/>
            </a:pPr>
            <a:r>
              <a:rPr lang="es-CL" altLang="ko-KR" sz="2900" dirty="0"/>
              <a:t>[</a:t>
            </a:r>
            <a:r>
              <a:rPr lang="es-CL" altLang="ko-KR" sz="2900" dirty="0" err="1"/>
              <a:t>chek</a:t>
            </a:r>
            <a:r>
              <a:rPr lang="es-CL" altLang="ko-KR" sz="2900" dirty="0"/>
              <a:t> </a:t>
            </a:r>
            <a:r>
              <a:rPr lang="es-CL" altLang="ko-KR" sz="2900" dirty="0" err="1"/>
              <a:t>sang</a:t>
            </a:r>
            <a:r>
              <a:rPr lang="es-CL" altLang="ko-KR" sz="2900" dirty="0"/>
              <a:t>]</a:t>
            </a:r>
          </a:p>
          <a:p>
            <a:r>
              <a:rPr lang="ko-KR" altLang="es-CL" sz="2900" dirty="0"/>
              <a:t>의자 </a:t>
            </a:r>
            <a:r>
              <a:rPr lang="es-CL" altLang="ko-KR" sz="2900" dirty="0"/>
              <a:t>= Silla</a:t>
            </a:r>
          </a:p>
          <a:p>
            <a:pPr marL="0" indent="0">
              <a:buNone/>
            </a:pPr>
            <a:r>
              <a:rPr lang="es-CL" altLang="ko-KR" sz="2900" dirty="0"/>
              <a:t>[</a:t>
            </a:r>
            <a:r>
              <a:rPr lang="es-CL" altLang="ko-KR" sz="2900" dirty="0" err="1"/>
              <a:t>eui</a:t>
            </a:r>
            <a:r>
              <a:rPr lang="es-CL" altLang="ko-KR" sz="2900" dirty="0"/>
              <a:t> ja]</a:t>
            </a:r>
          </a:p>
          <a:p>
            <a:r>
              <a:rPr lang="ko-KR" altLang="es-CL" sz="2900" dirty="0"/>
              <a:t>칠판 </a:t>
            </a:r>
            <a:r>
              <a:rPr lang="es-CL" altLang="ko-KR" sz="2900" dirty="0"/>
              <a:t>= pizarra</a:t>
            </a:r>
          </a:p>
          <a:p>
            <a:pPr marL="0" indent="0">
              <a:buNone/>
            </a:pPr>
            <a:r>
              <a:rPr lang="es-CL" altLang="ko-KR" sz="2900" dirty="0"/>
              <a:t>[</a:t>
            </a:r>
            <a:r>
              <a:rPr lang="es-CL" altLang="ko-KR" sz="2900" dirty="0" err="1"/>
              <a:t>chil</a:t>
            </a:r>
            <a:r>
              <a:rPr lang="es-CL" altLang="ko-KR" sz="2900" dirty="0"/>
              <a:t> pan]</a:t>
            </a:r>
          </a:p>
          <a:p>
            <a:r>
              <a:rPr lang="ko-KR" altLang="es-CL" sz="2900" dirty="0"/>
              <a:t>시계 </a:t>
            </a:r>
            <a:r>
              <a:rPr lang="es-CL" altLang="ko-KR" sz="2900" dirty="0"/>
              <a:t>= Reloj</a:t>
            </a:r>
          </a:p>
          <a:p>
            <a:pPr marL="0" indent="0">
              <a:buNone/>
            </a:pPr>
            <a:r>
              <a:rPr lang="es-CL" altLang="ko-KR" sz="2900" dirty="0"/>
              <a:t>[si ge]</a:t>
            </a:r>
          </a:p>
          <a:p>
            <a:r>
              <a:rPr lang="ko-KR" altLang="es-CL" sz="2900" dirty="0"/>
              <a:t>지우개 </a:t>
            </a:r>
            <a:r>
              <a:rPr lang="es-CL" altLang="ko-KR" sz="2900" dirty="0"/>
              <a:t>= goma de borrador</a:t>
            </a:r>
          </a:p>
          <a:p>
            <a:pPr marL="0" indent="0">
              <a:buNone/>
            </a:pPr>
            <a:r>
              <a:rPr lang="es-CL" altLang="ko-KR" sz="2900" dirty="0"/>
              <a:t>[ji </a:t>
            </a:r>
            <a:r>
              <a:rPr lang="es-CL" altLang="ko-KR" sz="2900" dirty="0" err="1"/>
              <a:t>wu</a:t>
            </a:r>
            <a:r>
              <a:rPr lang="es-CL" altLang="ko-KR" sz="2900" dirty="0"/>
              <a:t> ge]</a:t>
            </a:r>
          </a:p>
          <a:p>
            <a:r>
              <a:rPr lang="ko-KR" altLang="es-CL" sz="2900" dirty="0"/>
              <a:t>책 </a:t>
            </a:r>
            <a:r>
              <a:rPr lang="es-CL" altLang="ko-KR" sz="2900" dirty="0"/>
              <a:t>= libro</a:t>
            </a:r>
          </a:p>
          <a:p>
            <a:pPr marL="0" indent="0">
              <a:buNone/>
            </a:pPr>
            <a:r>
              <a:rPr lang="es-CL" altLang="ko-KR" sz="2900" dirty="0"/>
              <a:t>[</a:t>
            </a:r>
            <a:r>
              <a:rPr lang="es-CL" altLang="ko-KR" sz="2900" dirty="0" err="1"/>
              <a:t>chek</a:t>
            </a:r>
            <a:r>
              <a:rPr lang="es-CL" altLang="ko-KR" sz="2900" dirty="0"/>
              <a:t>]</a:t>
            </a:r>
          </a:p>
          <a:p>
            <a:r>
              <a:rPr lang="ko-KR" altLang="es-CL" sz="2900" dirty="0"/>
              <a:t>공책 </a:t>
            </a:r>
            <a:r>
              <a:rPr lang="es-CL" altLang="ko-KR" sz="2900" dirty="0"/>
              <a:t>= cuaderno</a:t>
            </a:r>
          </a:p>
          <a:p>
            <a:pPr marL="0" indent="0">
              <a:buNone/>
            </a:pPr>
            <a:r>
              <a:rPr lang="es-CL" altLang="ko-KR" sz="2900" dirty="0"/>
              <a:t>[gong </a:t>
            </a:r>
            <a:r>
              <a:rPr lang="es-CL" altLang="ko-KR" sz="2900" dirty="0" err="1"/>
              <a:t>chek</a:t>
            </a:r>
            <a:r>
              <a:rPr lang="es-CL" altLang="ko-KR" sz="2900" dirty="0"/>
              <a:t>]</a:t>
            </a:r>
          </a:p>
          <a:p>
            <a:r>
              <a:rPr lang="ko-KR" altLang="es-CL" sz="2900" dirty="0"/>
              <a:t>연필 </a:t>
            </a:r>
            <a:r>
              <a:rPr lang="es-CL" altLang="ko-KR" sz="2900" dirty="0"/>
              <a:t>= </a:t>
            </a:r>
            <a:r>
              <a:rPr lang="es-CL" altLang="ko-KR" sz="2900" dirty="0" err="1"/>
              <a:t>lapiz</a:t>
            </a:r>
            <a:endParaRPr lang="es-CL" altLang="ko-KR" sz="2900" dirty="0"/>
          </a:p>
          <a:p>
            <a:pPr marL="0" indent="0">
              <a:buNone/>
            </a:pPr>
            <a:r>
              <a:rPr lang="es-CL" altLang="ko-KR" sz="2900" dirty="0"/>
              <a:t>[</a:t>
            </a:r>
            <a:r>
              <a:rPr lang="es-CL" altLang="ko-KR" sz="2900" dirty="0" err="1"/>
              <a:t>yion</a:t>
            </a:r>
            <a:r>
              <a:rPr lang="es-CL" altLang="ko-KR" sz="2900" dirty="0"/>
              <a:t> </a:t>
            </a:r>
            <a:r>
              <a:rPr lang="es-CL" altLang="ko-KR" sz="2900" dirty="0" err="1"/>
              <a:t>pil</a:t>
            </a:r>
            <a:r>
              <a:rPr lang="es-CL" altLang="ko-KR" sz="2900" dirty="0"/>
              <a:t>]</a:t>
            </a:r>
          </a:p>
          <a:p>
            <a:endParaRPr lang="es-CL" altLang="ko-KR" sz="1600" dirty="0"/>
          </a:p>
          <a:p>
            <a:endParaRPr lang="es-CL" sz="1600" dirty="0"/>
          </a:p>
          <a:p>
            <a:endParaRPr lang="es-CL" sz="1600" dirty="0"/>
          </a:p>
        </p:txBody>
      </p:sp>
    </p:spTree>
    <p:extLst>
      <p:ext uri="{BB962C8B-B14F-4D97-AF65-F5344CB8AC3E}">
        <p14:creationId xmlns:p14="http://schemas.microsoft.com/office/powerpoint/2010/main" val="27011536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17490-EBA5-4C2B-AD72-AB4B9C411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Repaso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8586B-AB96-48A3-A06F-B44C7D0149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834" y="2018031"/>
            <a:ext cx="9601196" cy="3318936"/>
          </a:xfrm>
        </p:spPr>
        <p:txBody>
          <a:bodyPr>
            <a:normAutofit fontScale="77500" lnSpcReduction="20000"/>
          </a:bodyPr>
          <a:lstStyle/>
          <a:p>
            <a:r>
              <a:rPr lang="ko-KR" altLang="es-CL" dirty="0"/>
              <a:t>뭐예요</a:t>
            </a:r>
            <a:r>
              <a:rPr lang="es-CL" altLang="ko-KR" dirty="0"/>
              <a:t>?</a:t>
            </a:r>
          </a:p>
          <a:p>
            <a:r>
              <a:rPr lang="ko-KR" altLang="es-CL" dirty="0"/>
              <a:t>무엇 </a:t>
            </a:r>
            <a:r>
              <a:rPr lang="es-CL" altLang="ko-KR" dirty="0"/>
              <a:t>-&gt; </a:t>
            </a:r>
            <a:r>
              <a:rPr lang="ko-KR" altLang="es-CL" dirty="0"/>
              <a:t>뭐 </a:t>
            </a:r>
            <a:r>
              <a:rPr lang="es-CL" altLang="ko-KR" dirty="0"/>
              <a:t>[Mo]= Que (todo)</a:t>
            </a:r>
          </a:p>
          <a:p>
            <a:r>
              <a:rPr lang="ko-KR" altLang="es-CL" dirty="0"/>
              <a:t>무엇을 </a:t>
            </a:r>
            <a:r>
              <a:rPr lang="es-CL" altLang="ko-KR" dirty="0"/>
              <a:t>-&gt; </a:t>
            </a:r>
            <a:r>
              <a:rPr lang="ko-KR" altLang="es-CL" dirty="0"/>
              <a:t>뭐를 </a:t>
            </a:r>
            <a:r>
              <a:rPr lang="es-CL" altLang="ko-KR" dirty="0"/>
              <a:t>-&gt; </a:t>
            </a:r>
            <a:r>
              <a:rPr lang="ko-KR" altLang="es-CL" dirty="0"/>
              <a:t>뭘 </a:t>
            </a:r>
            <a:r>
              <a:rPr lang="es-CL" altLang="ko-KR" dirty="0"/>
              <a:t>[Mol] = Que (acción)</a:t>
            </a:r>
          </a:p>
          <a:p>
            <a:pPr marL="0" indent="0">
              <a:buNone/>
            </a:pPr>
            <a:endParaRPr lang="es-CL" altLang="ko-KR" dirty="0"/>
          </a:p>
          <a:p>
            <a:pPr marL="0" indent="0">
              <a:buNone/>
            </a:pPr>
            <a:r>
              <a:rPr lang="es-CL" altLang="ko-KR" dirty="0"/>
              <a:t>1) </a:t>
            </a:r>
            <a:r>
              <a:rPr lang="ko-KR" altLang="es-CL" dirty="0"/>
              <a:t>왈도는 선생님이에요 </a:t>
            </a:r>
            <a:r>
              <a:rPr lang="es-CL" altLang="ko-KR" dirty="0"/>
              <a:t>= Waldo es profesor</a:t>
            </a:r>
          </a:p>
          <a:p>
            <a:pPr marL="0" indent="0">
              <a:buNone/>
            </a:pPr>
            <a:r>
              <a:rPr lang="es-CL" altLang="ko-KR" dirty="0"/>
              <a:t>Waldo(partícula tema)</a:t>
            </a:r>
          </a:p>
          <a:p>
            <a:pPr marL="0" indent="0">
              <a:buNone/>
            </a:pPr>
            <a:r>
              <a:rPr lang="es-CL" altLang="ko-KR" dirty="0"/>
              <a:t>2) </a:t>
            </a:r>
            <a:r>
              <a:rPr lang="ko-KR" altLang="es-CL" dirty="0"/>
              <a:t>누가 선생님이에요</a:t>
            </a:r>
            <a:r>
              <a:rPr lang="es-CL" altLang="ko-KR" dirty="0"/>
              <a:t>? = Quien es el profesor?</a:t>
            </a:r>
          </a:p>
          <a:p>
            <a:pPr marL="0" indent="0">
              <a:buNone/>
            </a:pPr>
            <a:r>
              <a:rPr lang="ko-KR" altLang="es-CL" dirty="0"/>
              <a:t>왈도가 선생님이에요 </a:t>
            </a:r>
            <a:r>
              <a:rPr lang="es-CL" altLang="ko-KR" dirty="0"/>
              <a:t>= Waldo es profesor</a:t>
            </a:r>
          </a:p>
          <a:p>
            <a:pPr marL="0" indent="0">
              <a:buNone/>
            </a:pPr>
            <a:r>
              <a:rPr lang="es-CL" altLang="ko-KR" dirty="0"/>
              <a:t>Waldo(partícula tema)</a:t>
            </a:r>
          </a:p>
          <a:p>
            <a:endParaRPr lang="es-CL" altLang="ko-KR" dirty="0"/>
          </a:p>
          <a:p>
            <a:endParaRPr lang="es-CL" dirty="0"/>
          </a:p>
          <a:p>
            <a:endParaRPr lang="es-C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9E1B73-5A91-4D39-BB9B-C492563788E1}"/>
              </a:ext>
            </a:extLst>
          </p:cNvPr>
          <p:cNvSpPr txBox="1"/>
          <p:nvPr/>
        </p:nvSpPr>
        <p:spPr>
          <a:xfrm>
            <a:off x="6354617" y="1828038"/>
            <a:ext cx="436157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3. </a:t>
            </a:r>
            <a:r>
              <a:rPr lang="ko-KR" altLang="es-CL" dirty="0"/>
              <a:t>을</a:t>
            </a:r>
            <a:r>
              <a:rPr lang="es-CL" altLang="ko-KR" dirty="0"/>
              <a:t>/</a:t>
            </a:r>
            <a:r>
              <a:rPr lang="ko-KR" altLang="es-CL" dirty="0"/>
              <a:t>를 </a:t>
            </a:r>
            <a:r>
              <a:rPr lang="es-CL" altLang="ko-KR" dirty="0"/>
              <a:t>(acción)</a:t>
            </a:r>
          </a:p>
          <a:p>
            <a:r>
              <a:rPr lang="ko-KR" altLang="es-CL" dirty="0"/>
              <a:t>책을 읽어요</a:t>
            </a:r>
            <a:endParaRPr lang="es-CL" altLang="ko-KR" dirty="0"/>
          </a:p>
          <a:p>
            <a:r>
              <a:rPr lang="es-CL" altLang="ko-KR" dirty="0"/>
              <a:t>Libro P.O leer</a:t>
            </a:r>
          </a:p>
          <a:p>
            <a:r>
              <a:rPr lang="es-CL" altLang="ko-KR" dirty="0"/>
              <a:t>S (P.O) Verbo</a:t>
            </a:r>
          </a:p>
          <a:p>
            <a:r>
              <a:rPr lang="ko-KR" altLang="es-CL" dirty="0"/>
              <a:t>밥을 먹어요</a:t>
            </a:r>
            <a:endParaRPr lang="es-CL" altLang="ko-KR" dirty="0"/>
          </a:p>
          <a:p>
            <a:r>
              <a:rPr lang="es-CL" altLang="ko-KR" dirty="0"/>
              <a:t>Partícula objeto : Indicador indirecto del verbo</a:t>
            </a:r>
          </a:p>
          <a:p>
            <a:r>
              <a:rPr lang="es-CL" altLang="ko-KR" dirty="0"/>
              <a:t>El acción del verbo sobre el objeto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73546E-27FC-412F-AF07-080963FDC286}"/>
              </a:ext>
            </a:extLst>
          </p:cNvPr>
          <p:cNvSpPr txBox="1"/>
          <p:nvPr/>
        </p:nvSpPr>
        <p:spPr>
          <a:xfrm>
            <a:off x="6678102" y="4367470"/>
            <a:ext cx="6115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s-CL" dirty="0"/>
              <a:t>밥</a:t>
            </a:r>
            <a:r>
              <a:rPr lang="ko-KR" altLang="es-CL" dirty="0">
                <a:highlight>
                  <a:srgbClr val="FFFF00"/>
                </a:highlight>
              </a:rPr>
              <a:t>을</a:t>
            </a:r>
            <a:r>
              <a:rPr lang="ko-KR" altLang="es-CL" dirty="0"/>
              <a:t> 먹어요</a:t>
            </a:r>
            <a:endParaRPr lang="es-CL" altLang="ko-KR" dirty="0"/>
          </a:p>
          <a:p>
            <a:r>
              <a:rPr lang="es-CL" altLang="ko-KR" dirty="0"/>
              <a:t>Objeto P.O Verbo</a:t>
            </a:r>
          </a:p>
        </p:txBody>
      </p:sp>
    </p:spTree>
    <p:extLst>
      <p:ext uri="{BB962C8B-B14F-4D97-AF65-F5344CB8AC3E}">
        <p14:creationId xmlns:p14="http://schemas.microsoft.com/office/powerpoint/2010/main" val="389504812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17490-EBA5-4C2B-AD72-AB4B9C411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Repaso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8586B-AB96-48A3-A06F-B44C7D0149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2453" y="2602375"/>
            <a:ext cx="9601196" cy="3318936"/>
          </a:xfrm>
        </p:spPr>
        <p:txBody>
          <a:bodyPr>
            <a:normAutofit fontScale="92500" lnSpcReduction="10000"/>
          </a:bodyPr>
          <a:lstStyle/>
          <a:p>
            <a:r>
              <a:rPr lang="es-CL" altLang="ko-KR" sz="1800" dirty="0"/>
              <a:t>‘</a:t>
            </a:r>
            <a:r>
              <a:rPr lang="ko-KR" altLang="es-CL" sz="1800" dirty="0"/>
              <a:t>하다</a:t>
            </a:r>
            <a:r>
              <a:rPr lang="es-CL" altLang="ko-KR" sz="1800" dirty="0"/>
              <a:t>’ = hacer</a:t>
            </a:r>
          </a:p>
          <a:p>
            <a:pPr marL="0" indent="0">
              <a:buNone/>
            </a:pPr>
            <a:r>
              <a:rPr lang="ko-KR" altLang="es-CL" sz="1800" dirty="0"/>
              <a:t>허다</a:t>
            </a:r>
            <a:r>
              <a:rPr lang="es-CL" altLang="ko-KR" sz="1800" dirty="0"/>
              <a:t>+-</a:t>
            </a:r>
            <a:r>
              <a:rPr lang="ko-KR" altLang="es-CL" sz="1800" dirty="0"/>
              <a:t>ㅂ니다 </a:t>
            </a:r>
            <a:r>
              <a:rPr lang="es-CL" altLang="ko-KR" sz="1800" dirty="0"/>
              <a:t>: </a:t>
            </a:r>
            <a:r>
              <a:rPr lang="ko-KR" altLang="es-CL" sz="1800" dirty="0"/>
              <a:t>합니다 </a:t>
            </a:r>
            <a:r>
              <a:rPr lang="es-CL" altLang="ko-KR" sz="1800" dirty="0"/>
              <a:t>[</a:t>
            </a:r>
            <a:r>
              <a:rPr lang="ko-KR" altLang="es-CL" sz="1800" dirty="0"/>
              <a:t>함니다 </a:t>
            </a:r>
            <a:r>
              <a:rPr lang="es-CL" altLang="ko-KR" sz="1800" dirty="0"/>
              <a:t>/ </a:t>
            </a:r>
            <a:r>
              <a:rPr lang="es-CL" altLang="ko-KR" sz="1800" dirty="0" err="1"/>
              <a:t>ham</a:t>
            </a:r>
            <a:r>
              <a:rPr lang="es-CL" altLang="ko-KR" sz="1800" dirty="0"/>
              <a:t> ni da]</a:t>
            </a:r>
            <a:r>
              <a:rPr lang="ko-KR" altLang="es-CL" sz="1800" dirty="0"/>
              <a:t> </a:t>
            </a:r>
            <a:r>
              <a:rPr lang="es-CL" altLang="ko-KR" sz="1800" dirty="0"/>
              <a:t>= </a:t>
            </a:r>
            <a:r>
              <a:rPr lang="ko-KR" altLang="es-CL" sz="1800" dirty="0"/>
              <a:t>존댓말 </a:t>
            </a:r>
            <a:r>
              <a:rPr lang="es-CL" altLang="ko-KR" sz="1800" dirty="0"/>
              <a:t>(Respeto a mayores)</a:t>
            </a:r>
          </a:p>
          <a:p>
            <a:pPr marL="0" indent="0">
              <a:buNone/>
            </a:pPr>
            <a:r>
              <a:rPr lang="ko-KR" altLang="es-CL" sz="1800" dirty="0"/>
              <a:t>하다</a:t>
            </a:r>
            <a:r>
              <a:rPr lang="es-CL" altLang="ko-KR" sz="1800" dirty="0"/>
              <a:t>-&gt;</a:t>
            </a:r>
            <a:r>
              <a:rPr lang="ko-KR" altLang="es-CL" sz="1800" dirty="0"/>
              <a:t>해요 </a:t>
            </a:r>
            <a:r>
              <a:rPr lang="es-CL" altLang="ko-KR" sz="1800" dirty="0"/>
              <a:t>= </a:t>
            </a:r>
            <a:r>
              <a:rPr lang="ko-KR" altLang="es-CL" sz="1800" dirty="0"/>
              <a:t>높임말</a:t>
            </a:r>
            <a:r>
              <a:rPr lang="es-CL" altLang="ko-KR" sz="1800" dirty="0"/>
              <a:t>(hablar cordialmente)</a:t>
            </a:r>
          </a:p>
          <a:p>
            <a:pPr marL="0" indent="0">
              <a:buNone/>
            </a:pPr>
            <a:r>
              <a:rPr lang="ko-KR" altLang="es-CL" sz="1800" dirty="0"/>
              <a:t>하다</a:t>
            </a:r>
            <a:r>
              <a:rPr lang="es-CL" altLang="ko-KR" sz="1800" dirty="0"/>
              <a:t>-&gt;</a:t>
            </a:r>
            <a:r>
              <a:rPr lang="ko-KR" altLang="es-CL" sz="1800" dirty="0"/>
              <a:t>해 </a:t>
            </a:r>
            <a:r>
              <a:rPr lang="es-CL" altLang="ko-KR" sz="1800" dirty="0"/>
              <a:t>= </a:t>
            </a:r>
            <a:r>
              <a:rPr lang="ko-KR" altLang="es-CL" sz="1800" dirty="0"/>
              <a:t>반말 </a:t>
            </a:r>
            <a:r>
              <a:rPr lang="es-CL" altLang="ko-KR" sz="1800" dirty="0"/>
              <a:t>(informal)</a:t>
            </a:r>
          </a:p>
          <a:p>
            <a:pPr marL="0" indent="0">
              <a:buNone/>
            </a:pPr>
            <a:endParaRPr lang="es-CL" altLang="ko-KR" sz="1800" dirty="0"/>
          </a:p>
          <a:p>
            <a:pPr marL="0" indent="0">
              <a:buNone/>
            </a:pPr>
            <a:r>
              <a:rPr lang="es-CL" altLang="ko-KR" sz="1800" dirty="0"/>
              <a:t>Verbo + -</a:t>
            </a:r>
            <a:r>
              <a:rPr lang="ko-KR" altLang="es-CL" sz="1800" dirty="0"/>
              <a:t>ㄹ 거예요 </a:t>
            </a:r>
            <a:r>
              <a:rPr lang="es-CL" altLang="ko-KR" sz="1800" dirty="0"/>
              <a:t>= Futuro</a:t>
            </a:r>
          </a:p>
          <a:p>
            <a:pPr marL="0" indent="0">
              <a:buNone/>
            </a:pPr>
            <a:r>
              <a:rPr lang="es-CL" altLang="ko-KR" sz="1800" dirty="0"/>
              <a:t>‘</a:t>
            </a:r>
            <a:r>
              <a:rPr lang="ko-KR" altLang="es-CL" sz="1800" dirty="0"/>
              <a:t>공부하다</a:t>
            </a:r>
            <a:r>
              <a:rPr lang="es-CL" altLang="ko-KR" sz="1800" dirty="0"/>
              <a:t>’ + -</a:t>
            </a:r>
            <a:r>
              <a:rPr lang="ko-KR" altLang="es-CL" sz="1800" dirty="0"/>
              <a:t>ㄹ 거예요</a:t>
            </a:r>
            <a:endParaRPr lang="es-CL" altLang="ko-KR" sz="1800" dirty="0"/>
          </a:p>
          <a:p>
            <a:pPr marL="0" indent="0">
              <a:buNone/>
            </a:pPr>
            <a:r>
              <a:rPr lang="ko-KR" altLang="es-CL" sz="1800" dirty="0"/>
              <a:t>공부할 거예요</a:t>
            </a:r>
            <a:r>
              <a:rPr lang="es-CL" altLang="ko-KR" sz="1800" dirty="0"/>
              <a:t>= Estudiare</a:t>
            </a:r>
          </a:p>
          <a:p>
            <a:pPr marL="0" indent="0">
              <a:buNone/>
            </a:pPr>
            <a:r>
              <a:rPr lang="ko-KR" altLang="es-CL" sz="1800" dirty="0"/>
              <a:t>을 거예요</a:t>
            </a:r>
            <a:endParaRPr lang="es-CL" altLang="ko-KR" sz="1800" dirty="0"/>
          </a:p>
          <a:p>
            <a:pPr marL="0" indent="0">
              <a:buNone/>
            </a:pPr>
            <a:r>
              <a:rPr lang="ko-KR" altLang="es-CL" sz="1800" dirty="0"/>
              <a:t>를 거예요</a:t>
            </a:r>
            <a:r>
              <a:rPr lang="es-CL" altLang="ko-KR" sz="1800" dirty="0"/>
              <a:t> </a:t>
            </a:r>
          </a:p>
          <a:p>
            <a:pPr marL="0" indent="0">
              <a:buNone/>
            </a:pPr>
            <a:endParaRPr lang="es-CL" altLang="ko-KR" sz="1800" dirty="0"/>
          </a:p>
          <a:p>
            <a:endParaRPr lang="es-CL" sz="1800" dirty="0"/>
          </a:p>
          <a:p>
            <a:endParaRPr lang="es-CL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35CE1D-DA51-4A68-8E80-43291F8DB640}"/>
              </a:ext>
            </a:extLst>
          </p:cNvPr>
          <p:cNvSpPr txBox="1"/>
          <p:nvPr/>
        </p:nvSpPr>
        <p:spPr>
          <a:xfrm>
            <a:off x="6319706" y="3953175"/>
            <a:ext cx="611557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s-CL" altLang="ko-KR" sz="2800" dirty="0"/>
              <a:t>1) </a:t>
            </a:r>
            <a:r>
              <a:rPr lang="ko-KR" altLang="es-CL" sz="2800" dirty="0"/>
              <a:t>공부해요 </a:t>
            </a:r>
            <a:r>
              <a:rPr lang="es-CL" altLang="ko-KR" sz="2800" dirty="0"/>
              <a:t>= Estudiar</a:t>
            </a:r>
          </a:p>
          <a:p>
            <a:pPr marL="0" indent="0">
              <a:buNone/>
            </a:pPr>
            <a:r>
              <a:rPr lang="ko-KR" altLang="es-CL" sz="2800" dirty="0"/>
              <a:t>공부 </a:t>
            </a:r>
            <a:r>
              <a:rPr lang="es-CL" altLang="ko-KR" sz="2800" dirty="0"/>
              <a:t>+ </a:t>
            </a:r>
            <a:r>
              <a:rPr lang="ko-KR" altLang="es-CL" sz="2800" dirty="0"/>
              <a:t>해요 </a:t>
            </a:r>
            <a:endParaRPr lang="es-CL" altLang="ko-KR" sz="2800" dirty="0"/>
          </a:p>
          <a:p>
            <a:pPr marL="0" indent="0">
              <a:buNone/>
            </a:pPr>
            <a:r>
              <a:rPr lang="es-CL" altLang="ko-KR" sz="2800" dirty="0"/>
              <a:t>Estudio + Hacer</a:t>
            </a:r>
          </a:p>
          <a:p>
            <a:pPr marL="0" indent="0">
              <a:buNone/>
            </a:pPr>
            <a:r>
              <a:rPr lang="es-CL" altLang="ko-KR" sz="2800" dirty="0"/>
              <a:t>2) </a:t>
            </a:r>
            <a:r>
              <a:rPr lang="ko-KR" altLang="es-CL" sz="2800" dirty="0"/>
              <a:t>공부를 해요 </a:t>
            </a:r>
            <a:r>
              <a:rPr lang="es-CL" altLang="ko-KR" sz="2800" dirty="0"/>
              <a:t>= Estudiar</a:t>
            </a:r>
          </a:p>
        </p:txBody>
      </p:sp>
    </p:spTree>
    <p:extLst>
      <p:ext uri="{BB962C8B-B14F-4D97-AF65-F5344CB8AC3E}">
        <p14:creationId xmlns:p14="http://schemas.microsoft.com/office/powerpoint/2010/main" val="118754175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17490-EBA5-4C2B-AD72-AB4B9C411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Repaso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8586B-AB96-48A3-A06F-B44C7D0149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2453" y="2602375"/>
            <a:ext cx="9601196" cy="331893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CL" altLang="ko-KR" sz="1800" dirty="0"/>
              <a:t>‘</a:t>
            </a:r>
            <a:r>
              <a:rPr lang="ko-KR" altLang="es-CL" sz="1800" dirty="0"/>
              <a:t>하다</a:t>
            </a:r>
            <a:r>
              <a:rPr lang="es-CL" altLang="ko-KR" sz="1800" dirty="0"/>
              <a:t>‘  + </a:t>
            </a:r>
            <a:r>
              <a:rPr lang="ko-KR" altLang="es-CL" sz="1800" dirty="0"/>
              <a:t>요 </a:t>
            </a:r>
            <a:r>
              <a:rPr lang="es-CL" altLang="ko-KR" sz="1800" dirty="0"/>
              <a:t>= presente</a:t>
            </a:r>
          </a:p>
          <a:p>
            <a:pPr marL="0" indent="0">
              <a:buNone/>
            </a:pPr>
            <a:r>
              <a:rPr lang="es-CL" altLang="ko-KR" sz="1800" dirty="0"/>
              <a:t>~</a:t>
            </a:r>
            <a:r>
              <a:rPr lang="ko-KR" altLang="es-CL" sz="1800" dirty="0"/>
              <a:t>요 </a:t>
            </a:r>
            <a:r>
              <a:rPr lang="es-CL" altLang="ko-KR" sz="1800" dirty="0"/>
              <a:t>= cordialmente en presente</a:t>
            </a:r>
          </a:p>
          <a:p>
            <a:pPr marL="0" indent="0">
              <a:buNone/>
            </a:pPr>
            <a:r>
              <a:rPr lang="ko-KR" altLang="es-CL" sz="1800" dirty="0"/>
              <a:t>공부해요 </a:t>
            </a:r>
            <a:r>
              <a:rPr lang="es-CL" altLang="ko-KR" sz="1800" dirty="0"/>
              <a:t>= estudio, estudias, estudia, estudian, estudiamos</a:t>
            </a:r>
          </a:p>
          <a:p>
            <a:pPr marL="0" indent="0">
              <a:buNone/>
            </a:pPr>
            <a:endParaRPr lang="es-CL" altLang="ko-KR" sz="1800" dirty="0"/>
          </a:p>
          <a:p>
            <a:pPr marL="0" indent="0">
              <a:buNone/>
            </a:pPr>
            <a:r>
              <a:rPr lang="es-CL" altLang="ko-KR" sz="1800" dirty="0"/>
              <a:t>‘</a:t>
            </a:r>
            <a:r>
              <a:rPr lang="ko-KR" altLang="es-CL" sz="1800" dirty="0"/>
              <a:t>하다</a:t>
            </a:r>
            <a:r>
              <a:rPr lang="es-CL" altLang="ko-KR" sz="1800" dirty="0"/>
              <a:t>‘ + -</a:t>
            </a:r>
            <a:r>
              <a:rPr lang="ko-KR" altLang="es-CL" sz="1800" dirty="0"/>
              <a:t>ㅆ어요 </a:t>
            </a:r>
            <a:r>
              <a:rPr lang="es-CL" altLang="ko-KR" sz="1800" dirty="0"/>
              <a:t>= pasado</a:t>
            </a:r>
          </a:p>
          <a:p>
            <a:pPr marL="0" indent="0">
              <a:buNone/>
            </a:pPr>
            <a:r>
              <a:rPr lang="ko-KR" altLang="es-CL" sz="1800" dirty="0"/>
              <a:t>했어요 </a:t>
            </a:r>
            <a:r>
              <a:rPr lang="es-CL" altLang="ko-KR" sz="1800" dirty="0"/>
              <a:t>-&gt;</a:t>
            </a:r>
            <a:r>
              <a:rPr lang="ko-KR" altLang="es-CL" sz="1800" dirty="0"/>
              <a:t> </a:t>
            </a:r>
            <a:r>
              <a:rPr lang="es-CL" altLang="ko-KR" sz="1800" dirty="0"/>
              <a:t>[</a:t>
            </a:r>
            <a:r>
              <a:rPr lang="ko-KR" altLang="es-CL" sz="1800" dirty="0"/>
              <a:t>햇서요</a:t>
            </a:r>
            <a:r>
              <a:rPr lang="es-CL" altLang="ko-KR" sz="1800" dirty="0"/>
              <a:t>]</a:t>
            </a:r>
          </a:p>
          <a:p>
            <a:pPr marL="0" indent="0">
              <a:buNone/>
            </a:pPr>
            <a:r>
              <a:rPr lang="ko-KR" altLang="es-CL" sz="1800" dirty="0"/>
              <a:t>공부했어요</a:t>
            </a:r>
            <a:endParaRPr lang="es-CL" altLang="ko-KR" sz="1800" dirty="0"/>
          </a:p>
          <a:p>
            <a:pPr marL="0" indent="0">
              <a:buNone/>
            </a:pPr>
            <a:r>
              <a:rPr lang="ko-KR" altLang="es-CL" sz="1800" dirty="0"/>
              <a:t>았어요</a:t>
            </a:r>
            <a:endParaRPr lang="es-CL" altLang="ko-KR" sz="1800" dirty="0"/>
          </a:p>
          <a:p>
            <a:pPr marL="0" indent="0">
              <a:buNone/>
            </a:pPr>
            <a:r>
              <a:rPr lang="ko-KR" altLang="es-CL" sz="1800" dirty="0"/>
              <a:t>었어요</a:t>
            </a:r>
            <a:endParaRPr lang="es-CL" altLang="ko-KR" sz="1800" dirty="0"/>
          </a:p>
          <a:p>
            <a:endParaRPr lang="es-CL" sz="1800" dirty="0"/>
          </a:p>
          <a:p>
            <a:endParaRPr lang="es-CL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35CE1D-DA51-4A68-8E80-43291F8DB640}"/>
              </a:ext>
            </a:extLst>
          </p:cNvPr>
          <p:cNvSpPr txBox="1"/>
          <p:nvPr/>
        </p:nvSpPr>
        <p:spPr>
          <a:xfrm>
            <a:off x="6319706" y="3953175"/>
            <a:ext cx="611557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s-CL" altLang="ko-KR" sz="2800" dirty="0"/>
              <a:t>1) </a:t>
            </a:r>
            <a:r>
              <a:rPr lang="ko-KR" altLang="es-CL" sz="2800" dirty="0"/>
              <a:t>공부해요 </a:t>
            </a:r>
            <a:r>
              <a:rPr lang="es-CL" altLang="ko-KR" sz="2800" dirty="0"/>
              <a:t>= Estudiar</a:t>
            </a:r>
          </a:p>
          <a:p>
            <a:pPr marL="0" indent="0">
              <a:buNone/>
            </a:pPr>
            <a:r>
              <a:rPr lang="ko-KR" altLang="es-CL" sz="2800" dirty="0"/>
              <a:t>공부 </a:t>
            </a:r>
            <a:r>
              <a:rPr lang="es-CL" altLang="ko-KR" sz="2800" dirty="0"/>
              <a:t>+ </a:t>
            </a:r>
            <a:r>
              <a:rPr lang="ko-KR" altLang="es-CL" sz="2800" dirty="0"/>
              <a:t>해요 </a:t>
            </a:r>
            <a:endParaRPr lang="es-CL" altLang="ko-KR" sz="2800" dirty="0"/>
          </a:p>
          <a:p>
            <a:pPr marL="0" indent="0">
              <a:buNone/>
            </a:pPr>
            <a:r>
              <a:rPr lang="es-CL" altLang="ko-KR" sz="2800" dirty="0"/>
              <a:t>Estudio + Hacer</a:t>
            </a:r>
          </a:p>
          <a:p>
            <a:pPr marL="0" indent="0">
              <a:buNone/>
            </a:pPr>
            <a:r>
              <a:rPr lang="es-CL" altLang="ko-KR" sz="2800" dirty="0"/>
              <a:t>2) </a:t>
            </a:r>
            <a:r>
              <a:rPr lang="ko-KR" altLang="es-CL" sz="2800" dirty="0"/>
              <a:t>공부를 해요 </a:t>
            </a:r>
            <a:r>
              <a:rPr lang="es-CL" altLang="ko-KR" sz="2800" dirty="0"/>
              <a:t>= Estudiar</a:t>
            </a:r>
          </a:p>
        </p:txBody>
      </p:sp>
    </p:spTree>
    <p:extLst>
      <p:ext uri="{BB962C8B-B14F-4D97-AF65-F5344CB8AC3E}">
        <p14:creationId xmlns:p14="http://schemas.microsoft.com/office/powerpoint/2010/main" val="7035313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78C64-591D-4BB6-A5BE-9477626D5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s-CL" dirty="0"/>
              <a:t>네 </a:t>
            </a:r>
            <a:r>
              <a:rPr lang="es-CL" altLang="ko-KR" dirty="0"/>
              <a:t>/ </a:t>
            </a:r>
            <a:r>
              <a:rPr lang="ko-KR" altLang="es-CL" dirty="0"/>
              <a:t>아니요 </a:t>
            </a:r>
            <a:endParaRPr lang="es-C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40160-C003-4560-A341-36CE17F0D1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En coreano, </a:t>
            </a:r>
            <a:r>
              <a:rPr lang="ko-KR" altLang="es-CL" dirty="0"/>
              <a:t>네 </a:t>
            </a:r>
            <a:r>
              <a:rPr lang="es-CL" dirty="0"/>
              <a:t>significa “Sí” [</a:t>
            </a:r>
            <a:r>
              <a:rPr lang="es-CL" dirty="0" err="1"/>
              <a:t>ne</a:t>
            </a:r>
            <a:r>
              <a:rPr lang="es-CL" dirty="0"/>
              <a:t>] y </a:t>
            </a:r>
            <a:r>
              <a:rPr lang="ko-KR" altLang="es-CL" dirty="0"/>
              <a:t>아니요 </a:t>
            </a:r>
            <a:r>
              <a:rPr lang="es-CL" dirty="0"/>
              <a:t>significa “No” [</a:t>
            </a:r>
            <a:r>
              <a:rPr lang="es-CL" dirty="0" err="1"/>
              <a:t>aniyo</a:t>
            </a:r>
            <a:r>
              <a:rPr lang="es-CL" dirty="0"/>
              <a:t>] </a:t>
            </a:r>
          </a:p>
          <a:p>
            <a:r>
              <a:rPr lang="ko-KR" altLang="es-CL" dirty="0"/>
              <a:t>네</a:t>
            </a:r>
            <a:r>
              <a:rPr lang="es-CL" altLang="ko-KR" dirty="0"/>
              <a:t>. [</a:t>
            </a:r>
            <a:r>
              <a:rPr lang="es-CL" dirty="0" err="1"/>
              <a:t>ne</a:t>
            </a:r>
            <a:r>
              <a:rPr lang="es-CL" dirty="0"/>
              <a:t>] = Sí. </a:t>
            </a:r>
          </a:p>
          <a:p>
            <a:r>
              <a:rPr lang="ko-KR" altLang="es-CL" dirty="0"/>
              <a:t>아니요</a:t>
            </a:r>
            <a:r>
              <a:rPr lang="es-CL" altLang="ko-KR" dirty="0"/>
              <a:t>. [</a:t>
            </a:r>
            <a:r>
              <a:rPr lang="es-CL" dirty="0" err="1"/>
              <a:t>aniyo</a:t>
            </a:r>
            <a:r>
              <a:rPr lang="es-CL" dirty="0"/>
              <a:t>] = No</a:t>
            </a:r>
          </a:p>
          <a:p>
            <a:r>
              <a:rPr lang="es-CL" dirty="0"/>
              <a:t> Pero en coreano, cuando la gente dice "</a:t>
            </a:r>
            <a:r>
              <a:rPr lang="ko-KR" altLang="es-CL" dirty="0"/>
              <a:t>네</a:t>
            </a:r>
            <a:r>
              <a:rPr lang="es-CL" altLang="ko-KR" dirty="0"/>
              <a:t>", </a:t>
            </a:r>
            <a:r>
              <a:rPr lang="es-CL" dirty="0"/>
              <a:t>no es lo mismo que decir "Sí". en español. Lo mismo ocurre con “</a:t>
            </a:r>
            <a:r>
              <a:rPr lang="ko-KR" altLang="es-CL" dirty="0"/>
              <a:t>아니요” </a:t>
            </a:r>
            <a:r>
              <a:rPr lang="es-CL" dirty="0"/>
              <a:t>también. Esto se debe a que el coreano "</a:t>
            </a:r>
            <a:r>
              <a:rPr lang="ko-KR" altLang="es-CL" dirty="0"/>
              <a:t>네</a:t>
            </a:r>
            <a:r>
              <a:rPr lang="es-CL" altLang="ko-KR" dirty="0"/>
              <a:t>" </a:t>
            </a:r>
            <a:r>
              <a:rPr lang="es-CL" dirty="0"/>
              <a:t>expresa su "acuerdo" con lo que dijo la otra persona. Y "</a:t>
            </a:r>
            <a:r>
              <a:rPr lang="ko-KR" altLang="es-CL" dirty="0"/>
              <a:t>아니요</a:t>
            </a:r>
            <a:r>
              <a:rPr lang="es-CL" altLang="ko-KR" dirty="0"/>
              <a:t>" </a:t>
            </a:r>
            <a:r>
              <a:rPr lang="es-CL" dirty="0"/>
              <a:t>expresa su "desacuerdo" o "negación" a lo que dijo la otra persona</a:t>
            </a:r>
          </a:p>
        </p:txBody>
      </p:sp>
    </p:spTree>
    <p:extLst>
      <p:ext uri="{BB962C8B-B14F-4D97-AF65-F5344CB8AC3E}">
        <p14:creationId xmlns:p14="http://schemas.microsoft.com/office/powerpoint/2010/main" val="339649846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F2884-79C0-1827-C0C1-08C5166DF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E60CB-4D50-6CE6-C221-6CAE012B6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s-CL" dirty="0"/>
              <a:t>사과를 좋아해요</a:t>
            </a:r>
            <a:r>
              <a:rPr lang="es-CL" altLang="ko-KR" dirty="0"/>
              <a:t>? </a:t>
            </a:r>
          </a:p>
          <a:p>
            <a:pPr marL="0" indent="0">
              <a:buNone/>
            </a:pPr>
            <a:r>
              <a:rPr lang="es-CL" dirty="0"/>
              <a:t>Manzana(PO) gustar</a:t>
            </a:r>
          </a:p>
          <a:p>
            <a:pPr marL="0" indent="0">
              <a:buNone/>
            </a:pPr>
            <a:r>
              <a:rPr lang="ko-KR" altLang="es-CL" dirty="0"/>
              <a:t>네</a:t>
            </a:r>
            <a:r>
              <a:rPr lang="es-CL" altLang="ko-KR" dirty="0"/>
              <a:t>, </a:t>
            </a:r>
            <a:r>
              <a:rPr lang="ko-KR" altLang="es-CL" dirty="0"/>
              <a:t>사과를 좋아해요</a:t>
            </a:r>
            <a:endParaRPr lang="es-CL" altLang="ko-KR" dirty="0"/>
          </a:p>
          <a:p>
            <a:pPr marL="0" indent="0">
              <a:buNone/>
            </a:pPr>
            <a:r>
              <a:rPr lang="es-CL" dirty="0"/>
              <a:t>Si, manzana(PO) gustar</a:t>
            </a:r>
          </a:p>
          <a:p>
            <a:pPr marL="0" indent="0">
              <a:buNone/>
            </a:pPr>
            <a:r>
              <a:rPr lang="ko-KR" altLang="es-CL" dirty="0"/>
              <a:t>아니요</a:t>
            </a:r>
            <a:r>
              <a:rPr lang="es-CL" altLang="ko-KR" dirty="0"/>
              <a:t>, </a:t>
            </a:r>
            <a:r>
              <a:rPr lang="ko-KR" altLang="es-CL" dirty="0"/>
              <a:t>사과를 </a:t>
            </a:r>
            <a:r>
              <a:rPr lang="ko-KR" altLang="es-CL" dirty="0">
                <a:highlight>
                  <a:srgbClr val="FFFF00"/>
                </a:highlight>
              </a:rPr>
              <a:t>안</a:t>
            </a:r>
            <a:r>
              <a:rPr lang="ko-KR" altLang="es-CL" dirty="0"/>
              <a:t> 좋아해요</a:t>
            </a:r>
            <a:endParaRPr lang="es-CL" altLang="ko-KR" dirty="0"/>
          </a:p>
          <a:p>
            <a:pPr marL="0" indent="0">
              <a:buNone/>
            </a:pPr>
            <a:r>
              <a:rPr lang="es-CL" dirty="0"/>
              <a:t>No, </a:t>
            </a:r>
            <a:r>
              <a:rPr lang="es-CL" dirty="0" err="1"/>
              <a:t>manza</a:t>
            </a:r>
            <a:r>
              <a:rPr lang="es-CL" dirty="0"/>
              <a:t>(PO) no me gusta</a:t>
            </a:r>
          </a:p>
        </p:txBody>
      </p:sp>
    </p:spTree>
    <p:extLst>
      <p:ext uri="{BB962C8B-B14F-4D97-AF65-F5344CB8AC3E}">
        <p14:creationId xmlns:p14="http://schemas.microsoft.com/office/powerpoint/2010/main" val="18713691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FB9E7-CCD7-4187-97C1-10BA06180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s-CL" dirty="0"/>
              <a:t>네</a:t>
            </a:r>
            <a:r>
              <a:rPr lang="es-CL" altLang="ko-KR" dirty="0"/>
              <a:t>/</a:t>
            </a:r>
            <a:r>
              <a:rPr lang="ko-KR" altLang="es-CL" dirty="0"/>
              <a:t>아니요</a:t>
            </a:r>
            <a:endParaRPr lang="es-C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F7DA6F-F6E1-4CBB-9C2D-947B7AF78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s-CL" dirty="0"/>
              <a:t>사과를 안 좋아해요</a:t>
            </a:r>
            <a:r>
              <a:rPr lang="es-CL" altLang="ko-KR" dirty="0"/>
              <a:t>? </a:t>
            </a:r>
            <a:r>
              <a:rPr lang="es-CL" dirty="0"/>
              <a:t>No te gusta la manzana? </a:t>
            </a:r>
          </a:p>
          <a:p>
            <a:r>
              <a:rPr lang="ko-KR" altLang="es-CL" dirty="0"/>
              <a:t>네</a:t>
            </a:r>
            <a:r>
              <a:rPr lang="es-CL" altLang="ko-KR" dirty="0"/>
              <a:t>, </a:t>
            </a:r>
            <a:r>
              <a:rPr lang="ko-KR" altLang="es-CL" dirty="0"/>
              <a:t>안 좋아해요</a:t>
            </a:r>
            <a:r>
              <a:rPr lang="es-CL" altLang="ko-KR" dirty="0"/>
              <a:t>. </a:t>
            </a:r>
            <a:r>
              <a:rPr lang="es-CL" dirty="0"/>
              <a:t>Si, no me gusta </a:t>
            </a:r>
          </a:p>
          <a:p>
            <a:r>
              <a:rPr lang="ko-KR" altLang="es-CL" dirty="0"/>
              <a:t>아니요</a:t>
            </a:r>
            <a:r>
              <a:rPr lang="es-CL" altLang="ko-KR" dirty="0"/>
              <a:t>, </a:t>
            </a:r>
            <a:r>
              <a:rPr lang="ko-KR" altLang="es-CL" dirty="0"/>
              <a:t>좋아해요</a:t>
            </a:r>
            <a:r>
              <a:rPr lang="es-CL" altLang="ko-KR" dirty="0"/>
              <a:t>. No</a:t>
            </a:r>
            <a:r>
              <a:rPr lang="es-CL" dirty="0"/>
              <a:t>, me gusta </a:t>
            </a:r>
          </a:p>
          <a:p>
            <a:r>
              <a:rPr lang="es-CL" dirty="0"/>
              <a:t>Por ejemplo, </a:t>
            </a:r>
            <a:r>
              <a:rPr lang="ko-KR" altLang="es-CL" dirty="0"/>
              <a:t>좋아해요 </a:t>
            </a:r>
            <a:r>
              <a:rPr lang="es-CL" altLang="ko-KR" dirty="0"/>
              <a:t>= </a:t>
            </a:r>
            <a:r>
              <a:rPr lang="es-CL" dirty="0"/>
              <a:t>gustar </a:t>
            </a:r>
            <a:r>
              <a:rPr lang="ko-KR" altLang="es-CL" dirty="0"/>
              <a:t>안 좋아해요 </a:t>
            </a:r>
            <a:r>
              <a:rPr lang="es-CL" altLang="ko-KR" dirty="0"/>
              <a:t>= </a:t>
            </a:r>
            <a:r>
              <a:rPr lang="es-CL" dirty="0"/>
              <a:t>no gustar</a:t>
            </a:r>
          </a:p>
          <a:p>
            <a:pPr marL="0" indent="0">
              <a:buNone/>
            </a:pPr>
            <a:r>
              <a:rPr lang="es-CL" dirty="0"/>
              <a:t>si alguien te pregunta “No te gusta el café?” </a:t>
            </a:r>
          </a:p>
          <a:p>
            <a:pPr marL="0" indent="0">
              <a:buNone/>
            </a:pPr>
            <a:r>
              <a:rPr lang="es-CL" dirty="0"/>
              <a:t>(</a:t>
            </a:r>
            <a:r>
              <a:rPr lang="ko-KR" altLang="es-CL" dirty="0"/>
              <a:t>커피 안 좋아해요</a:t>
            </a:r>
            <a:r>
              <a:rPr lang="es-CL" altLang="ko-KR" dirty="0"/>
              <a:t>? [</a:t>
            </a:r>
            <a:r>
              <a:rPr lang="es-CL" dirty="0" err="1"/>
              <a:t>keo</a:t>
            </a:r>
            <a:r>
              <a:rPr lang="es-CL" dirty="0"/>
              <a:t>-pi </a:t>
            </a:r>
            <a:r>
              <a:rPr lang="es-CL" dirty="0" err="1"/>
              <a:t>an</a:t>
            </a:r>
            <a:r>
              <a:rPr lang="es-CL" dirty="0"/>
              <a:t> yo-a-je-</a:t>
            </a:r>
            <a:r>
              <a:rPr lang="es-CL" dirty="0" err="1"/>
              <a:t>io</a:t>
            </a:r>
            <a:r>
              <a:rPr lang="es-CL" dirty="0"/>
              <a:t>?]) </a:t>
            </a:r>
          </a:p>
          <a:p>
            <a:pPr marL="0" indent="0">
              <a:buNone/>
            </a:pPr>
            <a:r>
              <a:rPr lang="ko-KR" altLang="es-CL" dirty="0"/>
              <a:t>아니요</a:t>
            </a:r>
            <a:r>
              <a:rPr lang="es-CL" altLang="ko-KR" dirty="0"/>
              <a:t>, </a:t>
            </a:r>
            <a:r>
              <a:rPr lang="ko-KR" altLang="es-CL" dirty="0"/>
              <a:t>커피 좋아해요</a:t>
            </a:r>
            <a:r>
              <a:rPr lang="es-CL" altLang="ko-KR" dirty="0"/>
              <a:t>. Si, me gusta el </a:t>
            </a:r>
            <a:r>
              <a:rPr lang="es-CL" altLang="ko-KR" dirty="0" err="1"/>
              <a:t>cafe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05148246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0E625-116A-4D4C-A1C0-34A847562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s-CL" dirty="0"/>
              <a:t>네 </a:t>
            </a:r>
            <a:r>
              <a:rPr lang="es-CL" altLang="ko-KR" dirty="0"/>
              <a:t>/ </a:t>
            </a:r>
            <a:r>
              <a:rPr lang="ko-KR" altLang="es-CL" dirty="0"/>
              <a:t>아니요</a:t>
            </a:r>
            <a:endParaRPr lang="es-C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86AE4-195A-4D45-B811-713C614CA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s-CL" dirty="0"/>
              <a:t>네</a:t>
            </a:r>
            <a:r>
              <a:rPr lang="es-CL" altLang="ko-KR" dirty="0"/>
              <a:t>. [</a:t>
            </a:r>
            <a:r>
              <a:rPr lang="es-CL" dirty="0" err="1"/>
              <a:t>ne</a:t>
            </a:r>
            <a:r>
              <a:rPr lang="es-CL" dirty="0"/>
              <a:t>] = Eso es correcto. / Estoy de acuerdo. / Suena bien. / Lo que dijiste es correcto. </a:t>
            </a:r>
          </a:p>
          <a:p>
            <a:r>
              <a:rPr lang="es-CL" dirty="0"/>
              <a:t>  </a:t>
            </a:r>
          </a:p>
          <a:p>
            <a:r>
              <a:rPr lang="ko-KR" altLang="es-CL" dirty="0"/>
              <a:t>아니요</a:t>
            </a:r>
            <a:r>
              <a:rPr lang="es-CL" altLang="ko-KR" dirty="0"/>
              <a:t>. [</a:t>
            </a:r>
            <a:r>
              <a:rPr lang="es-CL" dirty="0" err="1"/>
              <a:t>aniyo</a:t>
            </a:r>
            <a:r>
              <a:rPr lang="es-CL" dirty="0"/>
              <a:t>] = Eso no es correcto. / No estoy de acuerdo. / Lo que dijiste no es correcto.</a:t>
            </a:r>
          </a:p>
          <a:p>
            <a:r>
              <a:rPr lang="es-CL" dirty="0"/>
              <a:t> Por lo tanto, cuando pregunte "¿No le gusta el café?" en coreano, si a la persona que responde no le gusta café, él / ella dirá "No" en español pero “</a:t>
            </a:r>
            <a:r>
              <a:rPr lang="ko-KR" altLang="es-CL" dirty="0"/>
              <a:t>네” </a:t>
            </a:r>
            <a:r>
              <a:rPr lang="es-CL" dirty="0"/>
              <a:t>en coreano. Y si a la persona le gusta el café, él / ella dirá "Sí". pero "</a:t>
            </a:r>
            <a:r>
              <a:rPr lang="ko-KR" altLang="es-CL" dirty="0"/>
              <a:t>아니요</a:t>
            </a:r>
            <a:r>
              <a:rPr lang="es-CL" altLang="ko-KR" dirty="0"/>
              <a:t>" </a:t>
            </a:r>
            <a:r>
              <a:rPr lang="es-CL" dirty="0"/>
              <a:t>en coreano. </a:t>
            </a:r>
          </a:p>
          <a:p>
            <a:r>
              <a:rPr lang="ko-KR" altLang="es-CL" dirty="0"/>
              <a:t>커피 좋아해요</a:t>
            </a:r>
            <a:r>
              <a:rPr lang="es-CL" altLang="ko-KR" dirty="0"/>
              <a:t>? [</a:t>
            </a:r>
            <a:r>
              <a:rPr lang="es-CL" dirty="0" err="1"/>
              <a:t>keo</a:t>
            </a:r>
            <a:r>
              <a:rPr lang="es-CL" dirty="0"/>
              <a:t>-pi yo-a-je-</a:t>
            </a:r>
            <a:r>
              <a:rPr lang="es-CL" dirty="0" err="1"/>
              <a:t>io</a:t>
            </a:r>
            <a:r>
              <a:rPr lang="es-CL" dirty="0"/>
              <a:t>?] = ¿Te gusta el café? </a:t>
            </a:r>
          </a:p>
          <a:p>
            <a:r>
              <a:rPr lang="ko-KR" altLang="es-CL" dirty="0"/>
              <a:t>네</a:t>
            </a:r>
            <a:r>
              <a:rPr lang="es-CL" altLang="ko-KR" dirty="0"/>
              <a:t>. </a:t>
            </a:r>
            <a:r>
              <a:rPr lang="ko-KR" altLang="es-CL" dirty="0"/>
              <a:t>좋아해요</a:t>
            </a:r>
            <a:r>
              <a:rPr lang="es-CL" altLang="ko-KR" dirty="0"/>
              <a:t>. [</a:t>
            </a:r>
            <a:r>
              <a:rPr lang="es-CL" dirty="0" err="1"/>
              <a:t>ne</a:t>
            </a:r>
            <a:r>
              <a:rPr lang="es-CL" dirty="0"/>
              <a:t> . yo-a-je-</a:t>
            </a:r>
            <a:r>
              <a:rPr lang="es-CL" dirty="0" err="1"/>
              <a:t>io</a:t>
            </a:r>
            <a:r>
              <a:rPr lang="es-CL" dirty="0"/>
              <a:t>] = Sí, me gusta el café.</a:t>
            </a:r>
          </a:p>
        </p:txBody>
      </p:sp>
    </p:spTree>
    <p:extLst>
      <p:ext uri="{BB962C8B-B14F-4D97-AF65-F5344CB8AC3E}">
        <p14:creationId xmlns:p14="http://schemas.microsoft.com/office/powerpoint/2010/main" val="323217953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B383A-C393-4903-8F3D-BFFF7E155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s-CL" sz="3200" dirty="0"/>
              <a:t>좋아해요 </a:t>
            </a:r>
            <a:r>
              <a:rPr lang="es-CL" altLang="ko-KR" sz="3200" dirty="0"/>
              <a:t>[</a:t>
            </a:r>
            <a:r>
              <a:rPr lang="ko-KR" altLang="es-CL" sz="3200" dirty="0"/>
              <a:t>조아해요</a:t>
            </a:r>
            <a:r>
              <a:rPr lang="es-CL" altLang="ko-KR" sz="3200" dirty="0"/>
              <a:t>]= gustar / </a:t>
            </a:r>
            <a:r>
              <a:rPr lang="ko-KR" altLang="es-CL" sz="3200" dirty="0"/>
              <a:t>안 좋아해요 </a:t>
            </a:r>
            <a:r>
              <a:rPr lang="es-CL" altLang="ko-KR" sz="3200" dirty="0"/>
              <a:t>(no)</a:t>
            </a:r>
            <a:br>
              <a:rPr lang="es-CL" altLang="ko-KR" sz="3200" dirty="0"/>
            </a:br>
            <a:r>
              <a:rPr lang="es-CL" altLang="ko-KR" sz="3200" dirty="0"/>
              <a:t>* </a:t>
            </a:r>
            <a:r>
              <a:rPr lang="ko-KR" altLang="es-CL" sz="3200" dirty="0"/>
              <a:t>ㅎ </a:t>
            </a:r>
            <a:r>
              <a:rPr lang="es-CL" altLang="ko-KR" sz="3200" dirty="0"/>
              <a:t>mudo de </a:t>
            </a:r>
            <a:r>
              <a:rPr lang="ko-KR" altLang="es-CL" sz="3200" dirty="0"/>
              <a:t>받침</a:t>
            </a:r>
            <a:endParaRPr lang="es-CL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2DAAF1-86A4-4FEA-A443-8294EE975C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altLang="ko-KR" dirty="0"/>
              <a:t> </a:t>
            </a:r>
            <a:r>
              <a:rPr lang="ko-KR" altLang="es-CL" dirty="0"/>
              <a:t>커피 좋아해요</a:t>
            </a:r>
            <a:r>
              <a:rPr lang="es-CL" altLang="ko-KR" dirty="0"/>
              <a:t>? [</a:t>
            </a:r>
            <a:r>
              <a:rPr lang="es-CL" dirty="0" err="1"/>
              <a:t>keo</a:t>
            </a:r>
            <a:r>
              <a:rPr lang="es-CL" dirty="0"/>
              <a:t>-pi yo-a-je-</a:t>
            </a:r>
            <a:r>
              <a:rPr lang="es-CL" dirty="0" err="1"/>
              <a:t>io</a:t>
            </a:r>
            <a:r>
              <a:rPr lang="es-CL" dirty="0"/>
              <a:t>?] = ¿Te gusta el café? </a:t>
            </a:r>
          </a:p>
          <a:p>
            <a:r>
              <a:rPr lang="ko-KR" altLang="es-CL" dirty="0"/>
              <a:t>아니요</a:t>
            </a:r>
            <a:r>
              <a:rPr lang="es-CL" altLang="ko-KR" dirty="0"/>
              <a:t>. </a:t>
            </a:r>
            <a:r>
              <a:rPr lang="ko-KR" altLang="es-CL" dirty="0"/>
              <a:t>안 좋아해요</a:t>
            </a:r>
            <a:r>
              <a:rPr lang="es-CL" altLang="ko-KR" dirty="0"/>
              <a:t>. [</a:t>
            </a:r>
            <a:r>
              <a:rPr lang="es-CL" dirty="0" err="1"/>
              <a:t>aniyo</a:t>
            </a:r>
            <a:r>
              <a:rPr lang="es-CL" dirty="0"/>
              <a:t>. </a:t>
            </a:r>
            <a:r>
              <a:rPr lang="es-CL" dirty="0" err="1"/>
              <a:t>an</a:t>
            </a:r>
            <a:r>
              <a:rPr lang="es-CL" dirty="0"/>
              <a:t> yo-a-je-</a:t>
            </a:r>
            <a:r>
              <a:rPr lang="es-CL" dirty="0" err="1"/>
              <a:t>io</a:t>
            </a:r>
            <a:r>
              <a:rPr lang="es-CL" dirty="0"/>
              <a:t>] = No, no me gusta el café</a:t>
            </a:r>
          </a:p>
          <a:p>
            <a:r>
              <a:rPr lang="ko-KR" altLang="es-CL" dirty="0"/>
              <a:t>커피 안 좋아해요</a:t>
            </a:r>
            <a:r>
              <a:rPr lang="es-CL" altLang="ko-KR" dirty="0"/>
              <a:t>? [</a:t>
            </a:r>
            <a:r>
              <a:rPr lang="es-CL" dirty="0" err="1"/>
              <a:t>keo</a:t>
            </a:r>
            <a:r>
              <a:rPr lang="es-CL" dirty="0"/>
              <a:t>-pi </a:t>
            </a:r>
            <a:r>
              <a:rPr lang="es-CL" dirty="0" err="1"/>
              <a:t>an</a:t>
            </a:r>
            <a:r>
              <a:rPr lang="es-CL" dirty="0"/>
              <a:t> yo-a-je-yo?] = ¿No te gusta el café? </a:t>
            </a:r>
          </a:p>
          <a:p>
            <a:r>
              <a:rPr lang="ko-KR" altLang="es-CL" dirty="0"/>
              <a:t>아니요</a:t>
            </a:r>
            <a:r>
              <a:rPr lang="es-CL" altLang="ko-KR" dirty="0"/>
              <a:t>. </a:t>
            </a:r>
            <a:r>
              <a:rPr lang="ko-KR" altLang="es-CL" dirty="0"/>
              <a:t>좋아해요</a:t>
            </a:r>
            <a:r>
              <a:rPr lang="es-CL" altLang="ko-KR" dirty="0"/>
              <a:t>. [</a:t>
            </a:r>
            <a:r>
              <a:rPr lang="es-CL" dirty="0" err="1"/>
              <a:t>aniyo</a:t>
            </a:r>
            <a:r>
              <a:rPr lang="es-CL" dirty="0"/>
              <a:t>. </a:t>
            </a:r>
            <a:r>
              <a:rPr lang="es-CL" dirty="0" err="1"/>
              <a:t>uo</a:t>
            </a:r>
            <a:r>
              <a:rPr lang="es-CL" dirty="0"/>
              <a:t>-a-je-</a:t>
            </a:r>
            <a:r>
              <a:rPr lang="es-CL" dirty="0" err="1"/>
              <a:t>io</a:t>
            </a:r>
            <a:r>
              <a:rPr lang="es-CL" dirty="0"/>
              <a:t>] = Sí, me gusta el café.</a:t>
            </a:r>
          </a:p>
          <a:p>
            <a:r>
              <a:rPr lang="ko-KR" altLang="es-CL" dirty="0"/>
              <a:t>커피 안 좋아해요</a:t>
            </a:r>
            <a:r>
              <a:rPr lang="es-CL" altLang="ko-KR" dirty="0"/>
              <a:t>? [</a:t>
            </a:r>
            <a:r>
              <a:rPr lang="es-CL" dirty="0" err="1"/>
              <a:t>keo</a:t>
            </a:r>
            <a:r>
              <a:rPr lang="es-CL" dirty="0"/>
              <a:t>-pi </a:t>
            </a:r>
            <a:r>
              <a:rPr lang="es-CL" dirty="0" err="1"/>
              <a:t>an</a:t>
            </a:r>
            <a:r>
              <a:rPr lang="es-CL" dirty="0"/>
              <a:t> yo-a-je-</a:t>
            </a:r>
            <a:r>
              <a:rPr lang="es-CL" dirty="0" err="1"/>
              <a:t>io</a:t>
            </a:r>
            <a:r>
              <a:rPr lang="es-CL" dirty="0"/>
              <a:t>?] = ¿No te gusta el café? </a:t>
            </a:r>
          </a:p>
          <a:p>
            <a:r>
              <a:rPr lang="ko-KR" altLang="es-CL" dirty="0"/>
              <a:t>네</a:t>
            </a:r>
            <a:r>
              <a:rPr lang="es-CL" altLang="ko-KR" dirty="0"/>
              <a:t>. </a:t>
            </a:r>
            <a:r>
              <a:rPr lang="ko-KR" altLang="es-CL" dirty="0"/>
              <a:t>안 좋아해요</a:t>
            </a:r>
            <a:r>
              <a:rPr lang="es-CL" altLang="ko-KR" dirty="0"/>
              <a:t>. [</a:t>
            </a:r>
            <a:r>
              <a:rPr lang="es-CL" dirty="0" err="1"/>
              <a:t>ne</a:t>
            </a:r>
            <a:r>
              <a:rPr lang="es-CL" dirty="0"/>
              <a:t>. </a:t>
            </a:r>
            <a:r>
              <a:rPr lang="es-CL" dirty="0" err="1"/>
              <a:t>an</a:t>
            </a:r>
            <a:r>
              <a:rPr lang="es-CL" dirty="0"/>
              <a:t> yo-a-je-</a:t>
            </a:r>
            <a:r>
              <a:rPr lang="es-CL" dirty="0" err="1"/>
              <a:t>io</a:t>
            </a:r>
            <a:r>
              <a:rPr lang="es-CL" dirty="0"/>
              <a:t>] = No, no me gusta el café.</a:t>
            </a:r>
          </a:p>
        </p:txBody>
      </p:sp>
    </p:spTree>
    <p:extLst>
      <p:ext uri="{BB962C8B-B14F-4D97-AF65-F5344CB8AC3E}">
        <p14:creationId xmlns:p14="http://schemas.microsoft.com/office/powerpoint/2010/main" val="26067442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70587-9C2C-4386-9AAF-FB8AAD69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Conversación  </a:t>
            </a:r>
            <a:r>
              <a:rPr lang="ko-KR" altLang="es-CL" dirty="0"/>
              <a:t>네</a:t>
            </a:r>
            <a:endParaRPr lang="es-C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D152E-B1CE-4788-A868-8C625B7205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068945"/>
            <a:ext cx="3964496" cy="3806923"/>
          </a:xfrm>
        </p:spPr>
        <p:txBody>
          <a:bodyPr>
            <a:normAutofit fontScale="92500" lnSpcReduction="10000"/>
          </a:bodyPr>
          <a:lstStyle/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A: ¿Sabes qué? Compré este libro ayer…</a:t>
            </a: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B: </a:t>
            </a:r>
            <a:r>
              <a:rPr lang="ko-KR" altLang="es-CL" dirty="0">
                <a:latin typeface="Arial" panose="020B0604020202020204" pitchFamily="34" charset="0"/>
                <a:cs typeface="Arial" panose="020B0604020202020204" pitchFamily="34" charset="0"/>
              </a:rPr>
              <a:t>네</a:t>
            </a:r>
            <a:r>
              <a:rPr lang="es-CL" altLang="ko-KR" dirty="0">
                <a:latin typeface="Arial" panose="020B0604020202020204" pitchFamily="34" charset="0"/>
                <a:cs typeface="Arial" panose="020B0604020202020204" pitchFamily="34" charset="0"/>
              </a:rPr>
              <a:t>. [</a:t>
            </a:r>
            <a:r>
              <a:rPr lang="es-CL" dirty="0" err="1">
                <a:latin typeface="Arial" panose="020B0604020202020204" pitchFamily="34" charset="0"/>
                <a:cs typeface="Arial" panose="020B0604020202020204" pitchFamily="34" charset="0"/>
              </a:rPr>
              <a:t>ne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] </a:t>
            </a: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A: y me gusto mucho. </a:t>
            </a: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B: </a:t>
            </a:r>
            <a:r>
              <a:rPr lang="ko-KR" altLang="es-CL" dirty="0">
                <a:latin typeface="Arial" panose="020B0604020202020204" pitchFamily="34" charset="0"/>
                <a:cs typeface="Arial" panose="020B0604020202020204" pitchFamily="34" charset="0"/>
              </a:rPr>
              <a:t>네</a:t>
            </a:r>
            <a:r>
              <a:rPr lang="es-CL" altLang="ko-KR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A: Pero es un poco caro. </a:t>
            </a: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B: </a:t>
            </a:r>
            <a:r>
              <a:rPr lang="ko-KR" altLang="es-CL" dirty="0">
                <a:latin typeface="Arial" panose="020B0604020202020204" pitchFamily="34" charset="0"/>
                <a:cs typeface="Arial" panose="020B0604020202020204" pitchFamily="34" charset="0"/>
              </a:rPr>
              <a:t>네</a:t>
            </a:r>
            <a:r>
              <a:rPr lang="es-CL" altLang="ko-KR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A77253-ED02-4B25-911A-A471F4F1CAE8}"/>
              </a:ext>
            </a:extLst>
          </p:cNvPr>
          <p:cNvSpPr txBox="1"/>
          <p:nvPr/>
        </p:nvSpPr>
        <p:spPr>
          <a:xfrm>
            <a:off x="5845729" y="1914999"/>
            <a:ext cx="634627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dirty="0">
                <a:latin typeface="Arial" panose="020B0604020202020204" pitchFamily="34" charset="0"/>
                <a:cs typeface="Arial" panose="020B0604020202020204" pitchFamily="34" charset="0"/>
              </a:rPr>
              <a:t>A: ¿Sabes cuánto fue? </a:t>
            </a:r>
          </a:p>
          <a:p>
            <a:r>
              <a:rPr lang="es-CL" sz="2400" dirty="0">
                <a:latin typeface="Arial" panose="020B0604020202020204" pitchFamily="34" charset="0"/>
                <a:cs typeface="Arial" panose="020B0604020202020204" pitchFamily="34" charset="0"/>
              </a:rPr>
              <a:t>B: ¿Cuánto fue? </a:t>
            </a:r>
          </a:p>
          <a:p>
            <a:r>
              <a:rPr lang="es-CL" sz="2400" dirty="0">
                <a:latin typeface="Arial" panose="020B0604020202020204" pitchFamily="34" charset="0"/>
                <a:cs typeface="Arial" panose="020B0604020202020204" pitchFamily="34" charset="0"/>
              </a:rPr>
              <a:t>A: ¡Fueron 100 dólares! </a:t>
            </a:r>
          </a:p>
          <a:p>
            <a:r>
              <a:rPr lang="es-CL" sz="2400" dirty="0">
                <a:latin typeface="Arial" panose="020B0604020202020204" pitchFamily="34" charset="0"/>
                <a:cs typeface="Arial" panose="020B0604020202020204" pitchFamily="34" charset="0"/>
              </a:rPr>
              <a:t>B: </a:t>
            </a:r>
            <a:r>
              <a:rPr lang="ko-KR" altLang="es-CL" sz="2400" dirty="0">
                <a:latin typeface="Arial" panose="020B0604020202020204" pitchFamily="34" charset="0"/>
                <a:cs typeface="Arial" panose="020B0604020202020204" pitchFamily="34" charset="0"/>
              </a:rPr>
              <a:t>네</a:t>
            </a:r>
            <a:r>
              <a:rPr lang="es-CL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? [¿</a:t>
            </a:r>
            <a:r>
              <a:rPr lang="es-CL" sz="2400" dirty="0" err="1">
                <a:latin typeface="Arial" panose="020B0604020202020204" pitchFamily="34" charset="0"/>
                <a:cs typeface="Arial" panose="020B0604020202020204" pitchFamily="34" charset="0"/>
              </a:rPr>
              <a:t>ne</a:t>
            </a:r>
            <a:r>
              <a:rPr lang="es-CL" sz="2400" dirty="0">
                <a:latin typeface="Arial" panose="020B0604020202020204" pitchFamily="34" charset="0"/>
                <a:cs typeface="Arial" panose="020B0604020202020204" pitchFamily="34" charset="0"/>
              </a:rPr>
              <a:t>?] </a:t>
            </a:r>
          </a:p>
          <a:p>
            <a:r>
              <a:rPr lang="es-CL" sz="2400" dirty="0">
                <a:latin typeface="Arial" panose="020B0604020202020204" pitchFamily="34" charset="0"/>
                <a:cs typeface="Arial" panose="020B0604020202020204" pitchFamily="34" charset="0"/>
              </a:rPr>
              <a:t>A: Entonces pagué el dinero con mi tarjeta de crédito. </a:t>
            </a:r>
          </a:p>
          <a:p>
            <a:r>
              <a:rPr lang="es-CL" sz="2400" dirty="0">
                <a:latin typeface="Arial" panose="020B0604020202020204" pitchFamily="34" charset="0"/>
                <a:cs typeface="Arial" panose="020B0604020202020204" pitchFamily="34" charset="0"/>
              </a:rPr>
              <a:t>B: </a:t>
            </a:r>
            <a:r>
              <a:rPr lang="ko-KR" altLang="es-CL" sz="2400" dirty="0">
                <a:latin typeface="Arial" panose="020B0604020202020204" pitchFamily="34" charset="0"/>
                <a:cs typeface="Arial" panose="020B0604020202020204" pitchFamily="34" charset="0"/>
              </a:rPr>
              <a:t>네 </a:t>
            </a:r>
            <a:r>
              <a:rPr lang="es-CL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..</a:t>
            </a:r>
            <a:endParaRPr lang="es-CL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14748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C:\Users\ching\Desktop\Korean Clases\100 Cultural Symbosl\태극기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376" y="371764"/>
            <a:ext cx="11461248" cy="591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9388513-1745-4583-902B-E83CBDAA470E}"/>
              </a:ext>
            </a:extLst>
          </p:cNvPr>
          <p:cNvSpPr txBox="1"/>
          <p:nvPr/>
        </p:nvSpPr>
        <p:spPr>
          <a:xfrm>
            <a:off x="2286001" y="1339850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태극기를 휘날리며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2728429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:\Users\ching\Desktop\Korean Clases\100 Cultural Symbosl\무궁화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6600" y="593724"/>
            <a:ext cx="5715000" cy="5883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FAEC06-66FA-4B15-A174-755F47771418}"/>
              </a:ext>
            </a:extLst>
          </p:cNvPr>
          <p:cNvSpPr txBox="1"/>
          <p:nvPr/>
        </p:nvSpPr>
        <p:spPr>
          <a:xfrm>
            <a:off x="3886201" y="7620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/>
              <a:t>무궁화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85062945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C:\Users\ching\Desktop\Korean Clases\100 Cultural Symbosl\독도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252" y="1295400"/>
            <a:ext cx="8771635" cy="4473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694112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C:\Users\ching\Desktop\Korean Clases\100 Cultural Symbosl\한우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864" y="0"/>
            <a:ext cx="11400272" cy="5658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193553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C:\Users\ching\Desktop\Korean Clases\100 Cultural Symbosl\진돗개 첫우기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1219200"/>
            <a:ext cx="8762999" cy="4435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D742317-B4D0-4D21-9581-B08A6684020F}"/>
              </a:ext>
            </a:extLst>
          </p:cNvPr>
          <p:cNvSpPr txBox="1"/>
          <p:nvPr/>
        </p:nvSpPr>
        <p:spPr>
          <a:xfrm>
            <a:off x="2590801" y="1981201"/>
            <a:ext cx="8771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진돗개</a:t>
            </a:r>
            <a:endParaRPr lang="es-CL" altLang="ko-KR" dirty="0"/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87255437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C23FC-55C7-4B78-8D25-A9969165C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s-CL" dirty="0"/>
              <a:t>네</a:t>
            </a:r>
            <a:r>
              <a:rPr lang="es-CL" altLang="ko-KR" dirty="0"/>
              <a:t>, </a:t>
            </a:r>
            <a:r>
              <a:rPr lang="ko-KR" altLang="es-CL" dirty="0"/>
              <a:t>빵이에요</a:t>
            </a:r>
            <a:endParaRPr lang="es-C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688F7-8F15-486F-8AD6-241B205CF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s-CL" dirty="0"/>
              <a:t>이게 빵이에요</a:t>
            </a:r>
            <a:r>
              <a:rPr lang="es-CL" altLang="ko-KR" dirty="0"/>
              <a:t>?</a:t>
            </a:r>
          </a:p>
          <a:p>
            <a:r>
              <a:rPr lang="ko-KR" altLang="es-CL" dirty="0"/>
              <a:t>네</a:t>
            </a:r>
            <a:r>
              <a:rPr lang="es-CL" altLang="ko-KR" dirty="0"/>
              <a:t>, </a:t>
            </a:r>
            <a:r>
              <a:rPr lang="ko-KR" altLang="es-CL" dirty="0"/>
              <a:t>빵이에요</a:t>
            </a:r>
            <a:endParaRPr lang="es-CL" altLang="ko-KR" dirty="0"/>
          </a:p>
          <a:p>
            <a:r>
              <a:rPr lang="ko-KR" altLang="es-CL" dirty="0"/>
              <a:t>이게 주스예요</a:t>
            </a:r>
            <a:r>
              <a:rPr lang="es-CL" altLang="ko-KR" dirty="0"/>
              <a:t>?</a:t>
            </a:r>
          </a:p>
          <a:p>
            <a:r>
              <a:rPr lang="ko-KR" altLang="es-CL" dirty="0"/>
              <a:t>아니요</a:t>
            </a:r>
            <a:r>
              <a:rPr lang="es-CL" altLang="ko-KR" dirty="0"/>
              <a:t>, </a:t>
            </a:r>
            <a:r>
              <a:rPr lang="ko-KR" altLang="es-CL" dirty="0"/>
              <a:t>우유예요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37615601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5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743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3258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0" y="169164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aprendiste hoy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371600" y="2606040"/>
            <a:ext cx="9418320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2788920"/>
            <a:ext cx="88696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Pronombres personales (나/저, 너, 당신, 그, 그녀, 우리, 그들)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Pronombres + partículas 은/는·이/가·을/를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이게 뭐예요? y 누구예요?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우리 en vez de "mi" con familia/país/escuela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Vocabulario de familia (가족) y términos según género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네/아니요 = acuerdo, no verdad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34924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TAREA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14400" y="5715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Grabá un audio de 1 minuto presentando a tu familia con 우리 (우리 엄마, 우리 아빠, etc). Subir al Discord #tarea-sesion-4b.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D2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61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화이팅!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0" y="4023360"/>
            <a:ext cx="1216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vemos en la próxima sesión</a:t>
            </a:r>
            <a:endParaRPr lang="en-US" sz="1800" dirty="0"/>
          </a:p>
        </p:txBody>
      </p:sp>
      <p:pic>
        <p:nvPicPr>
          <p:cNvPr id="4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84632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63550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· 김재희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98</TotalTime>
  <Words>2515</Words>
  <Application>Microsoft Office PowerPoint</Application>
  <PresentationFormat>Widescreen</PresentationFormat>
  <Paragraphs>417</Paragraphs>
  <Slides>71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7" baseType="lpstr">
      <vt:lpstr>Haan Baekje M</vt:lpstr>
      <vt:lpstr>Malgun Gothic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Click to edit Master title style</vt:lpstr>
      <vt:lpstr>PowerPoint Presentation</vt:lpstr>
      <vt:lpstr>PowerPoint Presentation</vt:lpstr>
      <vt:lpstr>Click to edit Master title style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Click to edit Master title style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이 , 그, 저</vt:lpstr>
      <vt:lpstr>Vocabulario</vt:lpstr>
      <vt:lpstr>Vocabulario</vt:lpstr>
      <vt:lpstr>Repaso</vt:lpstr>
      <vt:lpstr>Repaso</vt:lpstr>
      <vt:lpstr>Repaso</vt:lpstr>
      <vt:lpstr>네 / 아니요 </vt:lpstr>
      <vt:lpstr>PowerPoint Presentation</vt:lpstr>
      <vt:lpstr>네/아니요</vt:lpstr>
      <vt:lpstr>네 / 아니요</vt:lpstr>
      <vt:lpstr>좋아해요 [조아해요]= gustar / 안 좋아해요 (no) * ㅎ mudo de 받침</vt:lpstr>
      <vt:lpstr>Conversación  네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네, 빵이에요</vt:lpstr>
      <vt:lpstr>PowerPoint Presentation</vt:lpstr>
      <vt:lpstr>PowerPoint Presentation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Academia Seúl · A1 · Sesión 4</dc:title>
  <dc:subject>PptxGenJS Presentation</dc:subject>
  <dc:creator>김재희 (Jay Kim)</dc:creator>
  <cp:lastModifiedBy>Jae Hee Kim</cp:lastModifiedBy>
  <cp:revision>48</cp:revision>
  <dcterms:created xsi:type="dcterms:W3CDTF">2026-06-02T07:35:58Z</dcterms:created>
  <dcterms:modified xsi:type="dcterms:W3CDTF">2026-07-30T01:34:54Z</dcterms:modified>
</cp:coreProperties>
</file>