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58"/>
  </p:notesMasterIdLst>
  <p:sldIdLst>
    <p:sldId id="256" r:id="rId3"/>
    <p:sldId id="257" r:id="rId4"/>
    <p:sldId id="271" r:id="rId5"/>
    <p:sldId id="272" r:id="rId6"/>
    <p:sldId id="273" r:id="rId7"/>
    <p:sldId id="274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  <p:sldId id="324" r:id="rId33"/>
    <p:sldId id="325" r:id="rId34"/>
    <p:sldId id="326" r:id="rId35"/>
    <p:sldId id="327" r:id="rId36"/>
    <p:sldId id="328" r:id="rId37"/>
    <p:sldId id="329" r:id="rId38"/>
    <p:sldId id="330" r:id="rId39"/>
    <p:sldId id="331" r:id="rId40"/>
    <p:sldId id="332" r:id="rId41"/>
    <p:sldId id="333" r:id="rId42"/>
    <p:sldId id="334" r:id="rId43"/>
    <p:sldId id="335" r:id="rId44"/>
    <p:sldId id="270" r:id="rId45"/>
    <p:sldId id="258" r:id="rId46"/>
    <p:sldId id="259" r:id="rId47"/>
    <p:sldId id="260" r:id="rId48"/>
    <p:sldId id="261" r:id="rId49"/>
    <p:sldId id="262" r:id="rId50"/>
    <p:sldId id="263" r:id="rId51"/>
    <p:sldId id="264" r:id="rId52"/>
    <p:sldId id="265" r:id="rId53"/>
    <p:sldId id="266" r:id="rId54"/>
    <p:sldId id="267" r:id="rId55"/>
    <p:sldId id="268" r:id="rId56"/>
    <p:sldId id="269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380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8538F-FC20-4175-A4CB-F01A8790E4B8}" type="datetimeFigureOut">
              <a:rPr lang="es-CL" smtClean="0"/>
              <a:t>29-07-2026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2834C-5E72-49A7-8758-0E973B41318B}" type="slidenum">
              <a:rPr lang="es-CL" smtClean="0"/>
              <a:t>‹#›</a:t>
            </a:fld>
            <a:endParaRPr lang="es-CL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563446" y="1392217"/>
            <a:ext cx="9038813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65787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3078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80703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8538F-FC20-4175-A4CB-F01A8790E4B8}" type="datetimeFigureOut">
              <a:rPr lang="es-CL" smtClean="0"/>
              <a:t>29-07-2026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2834C-5E72-49A7-8758-0E973B41318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7740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21571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28064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61085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0748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32547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41072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110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95317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91647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048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64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00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2194560"/>
            <a:ext cx="1216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일상생활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Diaria + Verbos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Hablar de lo que hacés en tu día con 20 verbos esenciales</a:t>
            </a:r>
            <a:endParaRPr lang="en-US" sz="1300" dirty="0"/>
          </a:p>
        </p:txBody>
      </p:sp>
      <p:pic>
        <p:nvPicPr>
          <p:cNvPr id="7" name="Image 1" descr="/sessions/sleepy-zen-cray/mnt/outputs/deck_assets/sello_linea_v1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585216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62636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 · Jay Kim · 김재희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aprendemos a actuar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Sesión 3 aprendiste a SER. Hoy aprendés a HACER.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VERBOS son el corazón de cualquier idioma. En coreano, la regla de conjugación es REGULAR (con algunas excepciones) — más fácil que el español.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que al final de la sesión puedas describir tu día típico con al menos 8 verbos distintos.</a:t>
            </a:r>
            <a:endParaRPr lang="en-US" sz="1600" dirty="0"/>
          </a:p>
        </p:txBody>
      </p:sp>
      <p:pic>
        <p:nvPicPr>
          <p:cNvPr id="5" name="Image 0" descr="/sessions/sleepy-zen-cray/mnt/outputs/deck_assets/sello_relleno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274320"/>
            <a:ext cx="502920" cy="502920"/>
          </a:xfrm>
          <a:prstGeom prst="rect">
            <a:avLst/>
          </a:prstGeom>
        </p:spPr>
      </p:pic>
      <p:pic>
        <p:nvPicPr>
          <p:cNvPr id="6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· VOCABULARIO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Pronombres personales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(informal)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(formal)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그녀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그들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Ellos</a:t>
            </a:r>
            <a:endParaRPr lang="en-US" sz="1200" dirty="0"/>
          </a:p>
        </p:txBody>
      </p:sp>
      <p:pic>
        <p:nvPicPr>
          <p:cNvPr id="34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5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· VOCABULARIO +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Pronombres + partículas 조사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나는 · 내가* · 나를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저는 · 제가* · 저를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너는 · 네가* · 너를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당신은 · 당신이 · 당신을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그는 · 그가 · 그를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그녀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그녀는 · 그녀가 · 그녀를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우리는 · 우리가 · 우리를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그들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그들은 · 그들이 · 그들을</a:t>
            </a:r>
            <a:endParaRPr lang="en-US" sz="1200" dirty="0"/>
          </a:p>
        </p:txBody>
      </p:sp>
      <p:pic>
        <p:nvPicPr>
          <p:cNvPr id="34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5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이게 뭐예요? · ¿Qué es esto?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이거 es la forma hablada de 이것 (esto). Con la partícula 이/가 se contrae: 이것이 → 이게.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이게 뭐예요? → ¿Qué es esto?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그거는 사과예요. → Eso es una manzana.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이거 = cerca de mí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그거 = cerca de vos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niveles de distancia: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이(cerca de mí) · 그(cerca de vos) · 저(lejos de los dos) — 저거 = eso de allá.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뭐예요?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i-ge mwo-ye-yo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(¿qué es esto?)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23248" y="2248348"/>
            <a:ext cx="7987553" cy="41524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s-CL" dirty="0">
                <a:latin typeface="Haan Baekje M" pitchFamily="18" charset="-127"/>
                <a:ea typeface="Haan Baekje M" pitchFamily="18" charset="-127"/>
              </a:rPr>
              <a:t>이게 </a:t>
            </a: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/ </a:t>
            </a:r>
            <a:r>
              <a:rPr lang="ko-KR" altLang="es-CL" dirty="0">
                <a:latin typeface="Haan Baekje M" pitchFamily="18" charset="-127"/>
                <a:ea typeface="Haan Baekje M" pitchFamily="18" charset="-127"/>
              </a:rPr>
              <a:t>이거 </a:t>
            </a: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/ </a:t>
            </a:r>
            <a:r>
              <a:rPr lang="ko-KR" altLang="es-CL" dirty="0">
                <a:latin typeface="Haan Baekje M" pitchFamily="18" charset="-127"/>
                <a:ea typeface="Haan Baekje M" pitchFamily="18" charset="-127"/>
              </a:rPr>
              <a:t>이것이 </a:t>
            </a: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= esto, este, esta</a:t>
            </a:r>
          </a:p>
          <a:p>
            <a:pPr marL="0" indent="0">
              <a:buNone/>
            </a:pP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 		 	(cerca a ti)</a:t>
            </a:r>
          </a:p>
          <a:p>
            <a:pPr marL="0" indent="0">
              <a:buNone/>
            </a:pPr>
            <a:r>
              <a:rPr lang="ko-KR" altLang="es-CL" dirty="0">
                <a:latin typeface="Haan Baekje M" pitchFamily="18" charset="-127"/>
                <a:ea typeface="Haan Baekje M" pitchFamily="18" charset="-127"/>
              </a:rPr>
              <a:t>저게 </a:t>
            </a: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/ </a:t>
            </a:r>
            <a:r>
              <a:rPr lang="ko-KR" altLang="es-CL" dirty="0">
                <a:latin typeface="Haan Baekje M" pitchFamily="18" charset="-127"/>
                <a:ea typeface="Haan Baekje M" pitchFamily="18" charset="-127"/>
              </a:rPr>
              <a:t>저거 </a:t>
            </a: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/ </a:t>
            </a:r>
            <a:r>
              <a:rPr lang="ko-KR" altLang="es-CL" dirty="0">
                <a:latin typeface="Haan Baekje M" pitchFamily="18" charset="-127"/>
                <a:ea typeface="Haan Baekje M" pitchFamily="18" charset="-127"/>
              </a:rPr>
              <a:t>저것이 </a:t>
            </a: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= eso, ese, esa</a:t>
            </a:r>
          </a:p>
          <a:p>
            <a:pPr marL="0" indent="0">
              <a:buNone/>
            </a:pP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  			(cerca la otra persona)</a:t>
            </a:r>
          </a:p>
          <a:p>
            <a:pPr marL="0" indent="0">
              <a:buNone/>
            </a:pPr>
            <a:r>
              <a:rPr lang="ko-KR" altLang="es-CL" dirty="0">
                <a:latin typeface="Haan Baekje M" pitchFamily="18" charset="-127"/>
                <a:ea typeface="Haan Baekje M" pitchFamily="18" charset="-127"/>
              </a:rPr>
              <a:t>그게 </a:t>
            </a: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/ </a:t>
            </a:r>
            <a:r>
              <a:rPr lang="ko-KR" altLang="es-CL" dirty="0">
                <a:latin typeface="Haan Baekje M" pitchFamily="18" charset="-127"/>
                <a:ea typeface="Haan Baekje M" pitchFamily="18" charset="-127"/>
              </a:rPr>
              <a:t>그거 </a:t>
            </a: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/ </a:t>
            </a:r>
            <a:r>
              <a:rPr lang="ko-KR" altLang="es-CL" dirty="0">
                <a:latin typeface="Haan Baekje M" pitchFamily="18" charset="-127"/>
                <a:ea typeface="Haan Baekje M" pitchFamily="18" charset="-127"/>
              </a:rPr>
              <a:t>그것이 </a:t>
            </a: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= aquel, aquellos,     				  aquellas</a:t>
            </a:r>
          </a:p>
          <a:p>
            <a:pPr marL="0" indent="0">
              <a:buNone/>
            </a:pPr>
            <a:r>
              <a:rPr lang="es-CL" dirty="0">
                <a:latin typeface="Haan Baekje M" pitchFamily="18" charset="-127"/>
                <a:ea typeface="Haan Baekje M" pitchFamily="18" charset="-127"/>
              </a:rPr>
              <a:t>			(Por ahí, Por allá)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F65C87-A5C3-7CFD-F12D-D7A16C30B631}"/>
              </a:ext>
            </a:extLst>
          </p:cNvPr>
          <p:cNvSpPr txBox="1"/>
          <p:nvPr/>
        </p:nvSpPr>
        <p:spPr>
          <a:xfrm>
            <a:off x="4858327" y="877455"/>
            <a:ext cx="276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이게 뭐예요</a:t>
            </a:r>
            <a:r>
              <a:rPr lang="es-CL" altLang="ko-KR" dirty="0"/>
              <a:t>? Qué es esto?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62503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C:\Users\ching\Desktop\Korean Clases\이거는 그거는저거는\이거는 그거는 저거는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61161"/>
            <a:ext cx="7840276" cy="413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79570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C:\Users\ching\Desktop\Korean Clases\이거는 그거는저거는\이거는 뭐예요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062" y="1661161"/>
            <a:ext cx="7772014" cy="409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  <p:sp>
        <p:nvSpPr>
          <p:cNvPr id="5" name="TextBox 4"/>
          <p:cNvSpPr txBox="1"/>
          <p:nvPr/>
        </p:nvSpPr>
        <p:spPr>
          <a:xfrm>
            <a:off x="2743200" y="2286000"/>
            <a:ext cx="53001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sz="2800" dirty="0">
                <a:solidFill>
                  <a:schemeClr val="bg1"/>
                </a:solidFill>
              </a:rPr>
              <a:t>이거는 뭐예요</a:t>
            </a:r>
            <a:r>
              <a:rPr lang="es-CL" altLang="ko-KR" sz="2800" dirty="0">
                <a:solidFill>
                  <a:schemeClr val="bg1"/>
                </a:solidFill>
              </a:rPr>
              <a:t>?</a:t>
            </a:r>
          </a:p>
          <a:p>
            <a:r>
              <a:rPr lang="es-CL" sz="2800" dirty="0">
                <a:solidFill>
                  <a:schemeClr val="bg1"/>
                </a:solidFill>
              </a:rPr>
              <a:t>Esto(PT) Que V(ser)</a:t>
            </a:r>
          </a:p>
          <a:p>
            <a:r>
              <a:rPr lang="ko-KR" altLang="es-CL" sz="2800" dirty="0">
                <a:solidFill>
                  <a:schemeClr val="bg1"/>
                </a:solidFill>
              </a:rPr>
              <a:t>그거는 사과예요</a:t>
            </a:r>
            <a:endParaRPr lang="es-CL" altLang="ko-KR" sz="2800" dirty="0">
              <a:solidFill>
                <a:schemeClr val="bg1"/>
              </a:solidFill>
            </a:endParaRPr>
          </a:p>
          <a:p>
            <a:r>
              <a:rPr lang="es-CL" sz="2800" dirty="0">
                <a:solidFill>
                  <a:schemeClr val="bg1"/>
                </a:solidFill>
              </a:rPr>
              <a:t>Eso(PT) Manzana V(ser)</a:t>
            </a:r>
          </a:p>
        </p:txBody>
      </p:sp>
    </p:spTree>
    <p:extLst>
      <p:ext uri="{BB962C8B-B14F-4D97-AF65-F5344CB8AC3E}">
        <p14:creationId xmlns:p14="http://schemas.microsoft.com/office/powerpoint/2010/main" val="2512969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C:\Users\ching\Desktop\Korean Clases\이거는 그거는저거는\이거는 뭐예요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062" y="1661161"/>
            <a:ext cx="7772014" cy="409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79529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C:\Users\ching\Desktop\Korean Clases\이거는 그거는저거는\이거는 뭐예요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062" y="1661161"/>
            <a:ext cx="7806836" cy="409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50440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C:\Users\ching\Desktop\Korean Clases\이거는 그거는저거는\이거는 뭐예요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062" y="1625601"/>
            <a:ext cx="7806836" cy="411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13416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C:\Users\ching\Desktop\Korean Clases\이거는 그거는저거는\이거는 저거는 그거는 제목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062" y="1665923"/>
            <a:ext cx="7806836" cy="4111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49390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1" name="Picture 3" descr="C:\Users\ching\Desktop\Korean Clases\이거는 그거는저거는\이거는 저거는 명사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062" y="1665923"/>
            <a:ext cx="7806836" cy="409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474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C:\Users\ching\Desktop\Korean Clases\이거는 그거는저거는\이거는 말하는사람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304" y="1665923"/>
            <a:ext cx="7791595" cy="410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228249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C:\Users\ching\Desktop\Korean Clases\이거는 그거는저거는\이거는 말하는사람 사과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304" y="1665923"/>
            <a:ext cx="7752747" cy="410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64646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C:\Users\ching\Desktop\Korean Clases\이거는 그거는저거는\듣는사람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1" y="1660842"/>
            <a:ext cx="7800489" cy="410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  <p:sp>
        <p:nvSpPr>
          <p:cNvPr id="2" name="TextBox 1"/>
          <p:cNvSpPr txBox="1"/>
          <p:nvPr/>
        </p:nvSpPr>
        <p:spPr>
          <a:xfrm>
            <a:off x="2971800" y="1981201"/>
            <a:ext cx="2819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dirty="0">
                <a:solidFill>
                  <a:schemeClr val="bg1"/>
                </a:solidFill>
              </a:rPr>
              <a:t>이거는    뭐예요</a:t>
            </a:r>
            <a:r>
              <a:rPr lang="es-CL" altLang="ko-KR" dirty="0">
                <a:solidFill>
                  <a:schemeClr val="bg1"/>
                </a:solidFill>
              </a:rPr>
              <a:t>?</a:t>
            </a:r>
          </a:p>
          <a:p>
            <a:r>
              <a:rPr lang="ko-KR" altLang="es-CL" dirty="0">
                <a:solidFill>
                  <a:schemeClr val="bg1"/>
                </a:solidFill>
              </a:rPr>
              <a:t>저거는 </a:t>
            </a:r>
            <a:endParaRPr lang="es-CL" altLang="ko-KR" dirty="0">
              <a:solidFill>
                <a:schemeClr val="bg1"/>
              </a:solidFill>
            </a:endParaRPr>
          </a:p>
          <a:p>
            <a:r>
              <a:rPr lang="ko-KR" altLang="es-CL" dirty="0">
                <a:solidFill>
                  <a:schemeClr val="bg1"/>
                </a:solidFill>
              </a:rPr>
              <a:t>그거는</a:t>
            </a:r>
            <a:endParaRPr lang="es-C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426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ching\Desktop\Korean Clases\이거는 그거는저거는\듣는사람 그거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60842"/>
            <a:ext cx="7775398" cy="410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62531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C:\Users\ching\Desktop\Korean Clases\이거는 그거는저거는\저거는 사과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50682"/>
            <a:ext cx="7820524" cy="411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95559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C:\Users\ching\Desktop\Korean Clases\이거는 그거는저거는\저거는 사과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92318"/>
            <a:ext cx="7696200" cy="402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12412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C:\Users\ching\Desktop\Korean Clases\이거는 그거는저거는\이거는 저거는 그거는 사과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903" y="1692318"/>
            <a:ext cx="7767155" cy="4098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74A000-5B62-4137-9B63-F9455B3764C4}"/>
              </a:ext>
            </a:extLst>
          </p:cNvPr>
          <p:cNvSpPr txBox="1"/>
          <p:nvPr/>
        </p:nvSpPr>
        <p:spPr>
          <a:xfrm>
            <a:off x="2507905" y="4718519"/>
            <a:ext cx="1738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Esto</a:t>
            </a:r>
            <a:r>
              <a:rPr lang="en-US" dirty="0">
                <a:solidFill>
                  <a:schemeClr val="bg1"/>
                </a:solidFill>
              </a:rPr>
              <a:t> es manzana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24289-70CD-4170-BB05-800A8C05C1FF}"/>
              </a:ext>
            </a:extLst>
          </p:cNvPr>
          <p:cNvSpPr txBox="1"/>
          <p:nvPr/>
        </p:nvSpPr>
        <p:spPr>
          <a:xfrm>
            <a:off x="7875588" y="4718519"/>
            <a:ext cx="1666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Eso</a:t>
            </a:r>
            <a:r>
              <a:rPr lang="en-US" dirty="0">
                <a:solidFill>
                  <a:schemeClr val="bg1"/>
                </a:solidFill>
              </a:rPr>
              <a:t> es manzana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C9514D-6E76-4F57-B1C4-8E66A26A30C2}"/>
              </a:ext>
            </a:extLst>
          </p:cNvPr>
          <p:cNvSpPr txBox="1"/>
          <p:nvPr/>
        </p:nvSpPr>
        <p:spPr>
          <a:xfrm>
            <a:off x="5019598" y="5674445"/>
            <a:ext cx="2062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Aquello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es manzana</a:t>
            </a:r>
          </a:p>
        </p:txBody>
      </p:sp>
    </p:spTree>
    <p:extLst>
      <p:ext uri="{BB962C8B-B14F-4D97-AF65-F5344CB8AC3E}">
        <p14:creationId xmlns:p14="http://schemas.microsoft.com/office/powerpoint/2010/main" val="730930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C:\Users\ching\Desktop\Korean Clases\이거는 그거는저거는\연습 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903" y="1654536"/>
            <a:ext cx="7767154" cy="409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51492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C:\Users\ching\Desktop\Korean Clases\이거는 그거는저거는\딸기 연습 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653" y="1654536"/>
            <a:ext cx="7795747" cy="409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  <p:sp>
        <p:nvSpPr>
          <p:cNvPr id="2" name="TextBox 1"/>
          <p:cNvSpPr txBox="1"/>
          <p:nvPr/>
        </p:nvSpPr>
        <p:spPr>
          <a:xfrm>
            <a:off x="5740325" y="2590801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sz="2400" dirty="0">
                <a:solidFill>
                  <a:schemeClr val="bg1"/>
                </a:solidFill>
              </a:rPr>
              <a:t>딸기</a:t>
            </a:r>
            <a:endParaRPr lang="es-CL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156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  <p:pic>
        <p:nvPicPr>
          <p:cNvPr id="37890" name="Picture 2" descr="C:\Users\ching\Desktop\Korean Clases\이거는 그거는저거는\딸기 연습 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133" y="1654536"/>
            <a:ext cx="7557104" cy="3984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1120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C:\Users\ching\Desktop\Korean Clases\이거는 그거는저거는\딸기 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1654536"/>
            <a:ext cx="7603713" cy="3984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40542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  <p:pic>
        <p:nvPicPr>
          <p:cNvPr id="39938" name="Picture 2" descr="C:\Users\ching\Desktop\Korean Clases\이거는 그거는저거는\그거는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320" y="1671997"/>
            <a:ext cx="7523480" cy="3945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867400" y="3352801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dirty="0">
                <a:solidFill>
                  <a:schemeClr val="bg1"/>
                </a:solidFill>
              </a:rPr>
              <a:t>이게</a:t>
            </a:r>
            <a:r>
              <a:rPr lang="es-CL" altLang="ko-KR" dirty="0">
                <a:solidFill>
                  <a:schemeClr val="bg1"/>
                </a:solidFill>
              </a:rPr>
              <a:t>, </a:t>
            </a:r>
            <a:r>
              <a:rPr lang="ko-KR" altLang="es-CL" dirty="0">
                <a:solidFill>
                  <a:schemeClr val="bg1"/>
                </a:solidFill>
              </a:rPr>
              <a:t>이거</a:t>
            </a:r>
            <a:r>
              <a:rPr lang="es-CL" altLang="ko-KR" dirty="0">
                <a:solidFill>
                  <a:schemeClr val="bg1"/>
                </a:solidFill>
              </a:rPr>
              <a:t>, </a:t>
            </a:r>
            <a:r>
              <a:rPr lang="ko-KR" altLang="es-CL" dirty="0">
                <a:solidFill>
                  <a:schemeClr val="bg1"/>
                </a:solidFill>
              </a:rPr>
              <a:t>이것</a:t>
            </a:r>
            <a:endParaRPr lang="es-CL" altLang="ko-KR" dirty="0">
              <a:solidFill>
                <a:schemeClr val="bg1"/>
              </a:solidFill>
            </a:endParaRPr>
          </a:p>
          <a:p>
            <a:r>
              <a:rPr lang="ko-KR" altLang="es-CL" dirty="0">
                <a:solidFill>
                  <a:schemeClr val="bg1"/>
                </a:solidFill>
              </a:rPr>
              <a:t>이거는</a:t>
            </a:r>
            <a:endParaRPr lang="es-C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267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C:\Users\ching\Desktop\Korean Clases\이거는 그거는저거는\저거는 가위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321" y="1638677"/>
            <a:ext cx="7607101" cy="397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CD68C-6181-45A0-B9DC-A6372DCDDE18}"/>
              </a:ext>
            </a:extLst>
          </p:cNvPr>
          <p:cNvSpPr txBox="1"/>
          <p:nvPr/>
        </p:nvSpPr>
        <p:spPr>
          <a:xfrm>
            <a:off x="6109871" y="274320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가위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139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C:\Users\ching\Desktop\Korean Clases\이거는 그거는저거는\가위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321" y="1638677"/>
            <a:ext cx="7597977" cy="397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048366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C:\Users\ching\Desktop\Korean Clases\이거는 그거는저거는\가위 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834" y="1638677"/>
            <a:ext cx="7533368" cy="392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24450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C:\Users\ching\Desktop\Korean Clases\이거는 그거는저거는\가위 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835" y="1658998"/>
            <a:ext cx="7644564" cy="4056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  <p:sp>
        <p:nvSpPr>
          <p:cNvPr id="2" name="TextBox 1"/>
          <p:cNvSpPr txBox="1"/>
          <p:nvPr/>
        </p:nvSpPr>
        <p:spPr>
          <a:xfrm>
            <a:off x="8382000" y="76200"/>
            <a:ext cx="4495800" cy="1582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sz="3200" dirty="0"/>
              <a:t>한국말 </a:t>
            </a:r>
            <a:r>
              <a:rPr lang="es-CL" altLang="ko-KR" sz="3200" dirty="0"/>
              <a:t>= lenguaje </a:t>
            </a:r>
          </a:p>
          <a:p>
            <a:r>
              <a:rPr lang="ko-KR" altLang="es-CL" sz="3200" dirty="0"/>
              <a:t>한국어 </a:t>
            </a:r>
            <a:r>
              <a:rPr lang="es-CL" altLang="ko-KR" sz="3200" dirty="0"/>
              <a:t>= idioma</a:t>
            </a:r>
          </a:p>
          <a:p>
            <a:r>
              <a:rPr lang="ko-KR" altLang="es-CL" sz="3200" dirty="0"/>
              <a:t>한글 </a:t>
            </a:r>
            <a:r>
              <a:rPr lang="es-CL" altLang="ko-KR" sz="3200" dirty="0"/>
              <a:t>= alfabeto</a:t>
            </a:r>
            <a:endParaRPr lang="es-CL" sz="3200" dirty="0"/>
          </a:p>
        </p:txBody>
      </p:sp>
    </p:spTree>
    <p:extLst>
      <p:ext uri="{BB962C8B-B14F-4D97-AF65-F5344CB8AC3E}">
        <p14:creationId xmlns:p14="http://schemas.microsoft.com/office/powerpoint/2010/main" val="2002950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 descr="C:\Users\ching\Desktop\Korean Clases\이거는 그거는저거는\피짜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836" y="1643758"/>
            <a:ext cx="7677997" cy="3995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9B0E73-9CF3-4672-BE5A-5F0759C905CE}"/>
              </a:ext>
            </a:extLst>
          </p:cNvPr>
          <p:cNvSpPr txBox="1"/>
          <p:nvPr/>
        </p:nvSpPr>
        <p:spPr>
          <a:xfrm>
            <a:off x="6477001" y="364127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피자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26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C:\Users\ching\Desktop\Korean Clases\이거는 그거는저거는\피자 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643758"/>
            <a:ext cx="7876881" cy="414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097582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 descr="C:\Users\ching\Desktop\Korean Clases\이거는 그거는저거는\피짜 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643758"/>
            <a:ext cx="7850943" cy="414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565172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C:\Users\ching\Desktop\Korean Clases\이거는 그거는저거는\가위 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521" y="1643758"/>
            <a:ext cx="7743230" cy="407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177110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C:\Users\ching\Desktop\Korean Clases\이거는 그거는저거는\저거는 피짜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1" y="1745358"/>
            <a:ext cx="7708715" cy="4045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9788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 descr="C:\Users\ching\Desktop\Korean Clases\이거는 그거는저거는\연습 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641" y="1745357"/>
            <a:ext cx="7680443" cy="4045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998004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 descr="C:\Users\ching\Desktop\Korean Clases\이거는 그거는저거는\이거는 연습 연필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1745358"/>
            <a:ext cx="7564117" cy="3969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  <p:sp>
        <p:nvSpPr>
          <p:cNvPr id="2" name="TextBox 1"/>
          <p:cNvSpPr txBox="1"/>
          <p:nvPr/>
        </p:nvSpPr>
        <p:spPr>
          <a:xfrm>
            <a:off x="5486400" y="2617809"/>
            <a:ext cx="114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sz="3200" dirty="0">
                <a:solidFill>
                  <a:schemeClr val="bg1"/>
                </a:solidFill>
              </a:rPr>
              <a:t>연필</a:t>
            </a:r>
            <a:endParaRPr lang="es-CL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1338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 descr="C:\Users\ching\Desktop\Korean Clases\이거는 그거는저거는\이거는 연습 연필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1745356"/>
            <a:ext cx="7539137" cy="3969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450478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 descr="C:\Users\ching\Desktop\Korean Clases\이거는 그거는저거는\이거는 연습 연필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560" y="1745357"/>
            <a:ext cx="7503577" cy="395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  <p:sp>
        <p:nvSpPr>
          <p:cNvPr id="2" name="TextBox 1"/>
          <p:cNvSpPr txBox="1"/>
          <p:nvPr/>
        </p:nvSpPr>
        <p:spPr>
          <a:xfrm>
            <a:off x="7239000" y="4800600"/>
            <a:ext cx="266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Esto es un lápiz</a:t>
            </a:r>
          </a:p>
        </p:txBody>
      </p:sp>
    </p:spTree>
    <p:extLst>
      <p:ext uri="{BB962C8B-B14F-4D97-AF65-F5344CB8AC3E}">
        <p14:creationId xmlns:p14="http://schemas.microsoft.com/office/powerpoint/2010/main" val="34578569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 descr="C:\Users\ching\Desktop\Korean Clases\이거는 그거는저거는\이거는 무지개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560" y="1745357"/>
            <a:ext cx="7550885" cy="395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692845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 descr="C:\Users\ching\Desktop\Korean Clases\이거는 그거는저거는\이거는 무지개 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560" y="1745355"/>
            <a:ext cx="7550885" cy="3937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419792"/>
            <a:ext cx="10515600" cy="1325563"/>
          </a:xfrm>
        </p:spPr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293085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 descr="C:\Users\ching\Desktop\Korean Clases\이거는 그거는저거는\이거는 무지개 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559" y="1745355"/>
            <a:ext cx="7517152" cy="3937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341641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 descr="C:\Users\ching\Desktop\Korean Clases\이거는 그거는저거는\이거는 저거는 그거는 요약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559" y="1676401"/>
            <a:ext cx="7517152" cy="393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709680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· CULTURA +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· "Nuestro", no "mi"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familia, país, escuela o casa, los coreanos casi siempre usan 우리 (nosotros) en vez de 내/제 (mi) — aunque seas hijo único.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우리 엄마 (no "내 엄마") = mi mamá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우리 나라 = mi país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우리 학교 = mi escuela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우리 집 = mi casa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 una idea colectiva: tu familia, tu país y tu escuela se sienten compartidos con otros, no solo tuyos.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(nosotros · "our")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-어요/아요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verbos coreanos terminan en -다 en forma de diccionario.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hablar en presente informal-amable: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Sacás el -다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Mirás la última vocal de la raíz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 es ㅏ o ㅗ → agregás 아요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Cualquier otra vocal → agregás 어요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하다 (hacer) → 해요 (caso especial)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-어요</a:t>
            </a:r>
            <a:endParaRPr lang="en-US" sz="8000" dirty="0"/>
          </a:p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-아요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-eoyo / -ayo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(presente informal)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· EJEMPLOS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básicos conjugados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E8E5F8"/>
          </a:solidFill>
          <a:ln w="12700">
            <a:solidFill>
              <a:srgbClr val="C7C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Mirá la vocal raíz y aplicá la regla: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 (ir) → 가요  (raíz 가, vocal ㅏ → 아요, doble vocal se elimina)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(ver) → 봐요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먹다 (comer) → 먹어요  (vocal ㅓ → 어요)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공부하다 → 공부해요  (caso especial 하다)</a:t>
            </a:r>
            <a:endParaRPr lang="en-US" sz="1800" dirty="0"/>
          </a:p>
        </p:txBody>
      </p:sp>
      <p:pic>
        <p:nvPicPr>
          <p:cNvPr id="8" name="Image 0" descr="/sessions/sleepy-zen-cray/mnt/outputs/deck_assets/flor_01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1338560" y="5669280"/>
            <a:ext cx="640080" cy="640080"/>
          </a:xfrm>
          <a:prstGeom prst="rect">
            <a:avLst/>
          </a:prstGeom>
        </p:spPr>
      </p:pic>
      <p:pic>
        <p:nvPicPr>
          <p:cNvPr id="9" name="Image 1" descr="/sessions/sleepy-zen-cray/mnt/outputs/deck_assets/logo_var2_azu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2" descr="/sessions/sleepy-zen-cray/mnt/outputs/deck_assets/sello_linea_v1_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 · VERBOS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verbos esenciales (parte 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→ 가요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venir → 와요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→ 봐요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→ 해요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먹다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 → 먹어요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마시다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 → 마셔요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자다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dormir → 자요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읽다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→ 읽어요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쓰다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→ 써요*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10712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만나다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10712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ver/conocer → 만나요</a:t>
            </a:r>
            <a:endParaRPr lang="en-US" sz="1200" dirty="0"/>
          </a:p>
        </p:txBody>
      </p:sp>
      <p:pic>
        <p:nvPicPr>
          <p:cNvPr id="34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5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 · VERBOS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verbos esenciales (parte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공부하다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estudiar → 공부해요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→ 일해요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운동하다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ejercicio → 운동해요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요리하다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cocinar → 요리해요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청소하다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→ 청소해요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→ 들어요*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말하다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hablar → 말해요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좋아하다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gustar → 좋아해요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살다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vivir → 살아요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10712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일어나다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10712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levantarse → 일어나요</a:t>
            </a:r>
            <a:endParaRPr lang="en-US" sz="1200" dirty="0"/>
          </a:p>
        </p:txBody>
      </p:sp>
      <p:pic>
        <p:nvPicPr>
          <p:cNvPr id="34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5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 · DRILLING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Conjugación rápida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digo el diccionario, vos decís el presente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0728" y="1645920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0728" y="1755648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 → 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90728" y="2636520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esperá: 가요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6000" y="1645920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0" y="1755648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먹다 → ?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096000" y="2636520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esperá: 먹어요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0728" y="3288792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728" y="3398520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공부하다 → ?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90728" y="4279392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esperá: 공부해요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3288792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0" y="3398520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→ ?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96000" y="4279392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esperá: 봐요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0728" y="4931664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728" y="5041392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마시다 → ?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90728" y="5922264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esperá: 마셔요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6000" y="4931664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6000" y="5041392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자다 → ?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096000" y="5922264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esperá: 자요</a:t>
            </a:r>
            <a:endParaRPr lang="en-US" sz="1400" dirty="0"/>
          </a:p>
        </p:txBody>
      </p:sp>
      <p:pic>
        <p:nvPicPr>
          <p:cNvPr id="23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4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848" y="5806440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56488" y="5943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257288" y="5943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§4.4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을/를 · Objeto directo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hay un OBJETO en la frase (lo que comés, lo que ves, lo que estudiás), va con la partícula 을/를.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받침 → 를 (커피를 마셔요)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 받침 → 을 (책을 읽어요)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español el objeto no lleva partícula. Por eso es fácil olvidarla.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/ 를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 / reul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(objeto directo)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§4.4 · LECTURA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 completas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커피를 마셔요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 café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책을 읽어요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un libro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영화를 봐요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01584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una película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한국어를 공부해요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coreano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음악을 들어요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Escucho música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음식을 먹어요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comida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§4.5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 · Negación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decir 'NO hago ___', simplemente agregás 안 ANTES del verbo.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저는 커피를 안 마셔요 (No tomo café)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저는 영화를 안 봐요 (No veo películas)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EXCEPCIÓN — verbos con 하다: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안 va ANTES de 하다, no antes del verbo completo: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공부 안 해요 (No estudio) ✅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일 안 해요 (No trabajo) ✅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(no, negación)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§4.6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 · También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 = 'también'. REEMPLAZA a 은/는 cuando querés expresar 'también yo' o 'también X'.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저도 학생이에요 (Yo también soy estudiante)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저도 커피를 마셔요 (Yo también tomo café)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마리아도 한국어를 공부해요 (María también estudia coreano)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digas '저는도' — es UNA o la OTRA, no las dos.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(también)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§4.7 · LECTURA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día — ejemplo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8시에 일어나요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levanto a las 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커피를 마셔요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 café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9시에 일해요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01584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a las 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12시에 점심을 먹어요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Almuerzo a las 12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저녁에 드라마를 봐요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drama en la noche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11시에 자요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Duermo a las 11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5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3258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0" y="169164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hoy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2606040"/>
            <a:ext cx="941832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278892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Regla -어요/아요 dominada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20 verbos imprescindibles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Partícula de objeto 을/를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Negación con 안 (incluyendo verbos 하다)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도 = también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Podés describir tu día completo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349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TAREA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de 1 minuto en coreano contando 5-7 cosas de tu día típico. Subir al Discord #tarea-sesion-4.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D2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61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화이팅!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en la próxima sesión</a:t>
            </a:r>
            <a:endParaRPr lang="en-US" sz="1800" dirty="0"/>
          </a:p>
        </p:txBody>
      </p:sp>
      <p:pic>
        <p:nvPicPr>
          <p:cNvPr id="4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4846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63550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· 김재희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1529</Words>
  <Application>Microsoft Office PowerPoint</Application>
  <PresentationFormat>Widescreen</PresentationFormat>
  <Paragraphs>350</Paragraphs>
  <Slides>55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Haan Baekje M</vt:lpstr>
      <vt:lpstr>Malgun Gothic</vt:lpstr>
      <vt:lpstr>Arial</vt:lpstr>
      <vt:lpstr>Calibri</vt:lpstr>
      <vt:lpstr>Calibri Light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이게 뭐예요?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Seúl · A1 · Sesión 4</dc:title>
  <dc:subject>PptxGenJS Presentation</dc:subject>
  <dc:creator>김재희 (Jay Kim)</dc:creator>
  <cp:lastModifiedBy>Jae Hee Kim</cp:lastModifiedBy>
  <cp:revision>11</cp:revision>
  <dcterms:created xsi:type="dcterms:W3CDTF">2026-06-02T07:35:58Z</dcterms:created>
  <dcterms:modified xsi:type="dcterms:W3CDTF">2026-07-29T23:29:50Z</dcterms:modified>
</cp:coreProperties>
</file>