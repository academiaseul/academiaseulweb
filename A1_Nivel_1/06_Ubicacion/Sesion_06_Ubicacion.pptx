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70" r:id="rId12"/>
    <p:sldId id="265" r:id="rId13"/>
    <p:sldId id="266" r:id="rId14"/>
    <p:sldId id="267" r:id="rId15"/>
    <p:sldId id="268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34" y="-11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0639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2957" y="29718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0020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19456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위치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0" y="365760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y Existencia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Decir dónde están las cosas y describir tu espacio</a:t>
            </a:r>
            <a:endParaRPr lang="en-US" sz="1300" dirty="0"/>
          </a:p>
        </p:txBody>
      </p:sp>
      <p:pic>
        <p:nvPicPr>
          <p:cNvPr id="7" name="Image 1" descr="/sessions/sleepy-zen-cray/mnt/outputs/deck_assets/sello_linea_v1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585216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626364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 · Jay Kim · 김재희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 a Sesión 6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números y fechas, hoy aprendemos a UBICAR cosas en el espacio.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está el baño? ¿Dónde está el café? ¿Tenés tiempo? Frases que vas a usar TODOS los días.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Gramática nueva: 있다/없다 (haber/no haber), 에 (en + lugar estático), 에서 (en + acción), y palabras de posición (위, 아래, 앞, 뒤, 옆).</a:t>
            </a:r>
            <a:endParaRPr lang="en-US" sz="1600" dirty="0"/>
          </a:p>
        </p:txBody>
      </p:sp>
      <p:pic>
        <p:nvPicPr>
          <p:cNvPr id="5" name="Image 0" descr="/sessions/sleepy-zen-cray/mnt/outputs/deck_assets/sello_relleno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274320"/>
            <a:ext cx="502920" cy="502920"/>
          </a:xfrm>
          <a:prstGeom prst="rect">
            <a:avLst/>
          </a:prstGeom>
        </p:spPr>
      </p:pic>
      <p:pic>
        <p:nvPicPr>
          <p:cNvPr id="6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§6.1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있다 / 없다 · HAY o NO HAY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59080" y="178308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있다 = HAY / EXISTE / TENGO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없다 = NO HAY / NO EXISTE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Conjugación: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있다 → 있어요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없다 → 없어요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la partícula que va con 있다/없다 es 이/가 (sujeto), NO 은/는 ni 을/를.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uno de los verbos más usados del coreano.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86600" y="187452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86600" y="260604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7086600" y="43434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isseoyo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086600" y="498348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(hay / tengo)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635240" y="65379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00D698-6181-3323-B22C-340CB4AFAE4B}"/>
              </a:ext>
            </a:extLst>
          </p:cNvPr>
          <p:cNvSpPr txBox="1"/>
          <p:nvPr/>
        </p:nvSpPr>
        <p:spPr>
          <a:xfrm>
            <a:off x="5916642" y="716339"/>
            <a:ext cx="3559116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‘</a:t>
            </a:r>
            <a:r>
              <a:rPr lang="ko-KR" altLang="es-CL" dirty="0"/>
              <a:t>있다</a:t>
            </a:r>
            <a:r>
              <a:rPr lang="es-CL" altLang="ko-KR" dirty="0"/>
              <a:t>‘ = haber, estar</a:t>
            </a:r>
          </a:p>
          <a:p>
            <a:r>
              <a:rPr lang="es-CL" dirty="0"/>
              <a:t>~</a:t>
            </a:r>
            <a:r>
              <a:rPr lang="ko-KR" altLang="es-CL" dirty="0"/>
              <a:t>아요</a:t>
            </a:r>
            <a:r>
              <a:rPr lang="es-CL" altLang="ko-KR" dirty="0"/>
              <a:t>/</a:t>
            </a:r>
            <a:r>
              <a:rPr lang="ko-KR" altLang="es-CL" dirty="0"/>
              <a:t>어요 </a:t>
            </a:r>
            <a:r>
              <a:rPr lang="es-CL" altLang="ko-KR" dirty="0"/>
              <a:t>(presente)</a:t>
            </a:r>
            <a:endParaRPr lang="es-CL" dirty="0"/>
          </a:p>
          <a:p>
            <a:r>
              <a:rPr lang="es-CL" dirty="0"/>
              <a:t>‘</a:t>
            </a:r>
            <a:r>
              <a:rPr lang="ko-KR" altLang="es-CL" dirty="0"/>
              <a:t>있어요</a:t>
            </a:r>
            <a:r>
              <a:rPr lang="es-CL" altLang="ko-KR" dirty="0"/>
              <a:t>’ = formal</a:t>
            </a:r>
          </a:p>
          <a:p>
            <a:r>
              <a:rPr lang="es-CL" dirty="0"/>
              <a:t>‘</a:t>
            </a:r>
            <a:r>
              <a:rPr lang="ko-KR" altLang="es-CL" dirty="0"/>
              <a:t>있어</a:t>
            </a:r>
            <a:r>
              <a:rPr lang="es-CL" altLang="ko-KR" dirty="0"/>
              <a:t>’ = informal</a:t>
            </a:r>
          </a:p>
          <a:p>
            <a:r>
              <a:rPr lang="es-CL" dirty="0"/>
              <a:t>‘</a:t>
            </a:r>
            <a:r>
              <a:rPr lang="ko-KR" altLang="es-CL" dirty="0"/>
              <a:t>있습니다</a:t>
            </a:r>
            <a:r>
              <a:rPr lang="es-CL" altLang="ko-KR" dirty="0"/>
              <a:t>’[</a:t>
            </a:r>
            <a:r>
              <a:rPr lang="ko-KR" altLang="es-CL" dirty="0"/>
              <a:t>잇슴니다</a:t>
            </a:r>
            <a:r>
              <a:rPr lang="es-CL" altLang="ko-KR" dirty="0"/>
              <a:t>] = profesional</a:t>
            </a:r>
          </a:p>
          <a:p>
            <a:endParaRPr lang="es-CL" altLang="ko-KR" dirty="0"/>
          </a:p>
          <a:p>
            <a:r>
              <a:rPr lang="ko-KR" altLang="es-CL" dirty="0"/>
              <a:t>존댓말</a:t>
            </a:r>
            <a:endParaRPr lang="es-CL" altLang="ko-KR" dirty="0"/>
          </a:p>
          <a:p>
            <a:r>
              <a:rPr lang="es-CL" altLang="ko-KR" dirty="0"/>
              <a:t>‘</a:t>
            </a:r>
            <a:r>
              <a:rPr lang="ko-KR" altLang="es-CL" dirty="0"/>
              <a:t>있다</a:t>
            </a:r>
            <a:r>
              <a:rPr lang="es-CL" altLang="ko-KR" dirty="0"/>
              <a:t>’ -&gt; </a:t>
            </a:r>
            <a:r>
              <a:rPr lang="ko-KR" altLang="es-CL" dirty="0"/>
              <a:t>있으시다</a:t>
            </a:r>
            <a:endParaRPr lang="es-CL" altLang="ko-KR" dirty="0"/>
          </a:p>
          <a:p>
            <a:r>
              <a:rPr lang="es-CL" altLang="ko-KR" dirty="0"/>
              <a:t>~</a:t>
            </a:r>
            <a:r>
              <a:rPr lang="ko-KR" altLang="es-CL" dirty="0"/>
              <a:t>세요</a:t>
            </a:r>
            <a:r>
              <a:rPr lang="es-CL" altLang="ko-KR" dirty="0"/>
              <a:t>(presente mayor)</a:t>
            </a:r>
          </a:p>
          <a:p>
            <a:r>
              <a:rPr lang="ko-KR" altLang="es-CL" dirty="0"/>
              <a:t>있으세요</a:t>
            </a:r>
            <a:r>
              <a:rPr lang="es-CL" altLang="ko-KR" dirty="0"/>
              <a:t>?</a:t>
            </a:r>
          </a:p>
          <a:p>
            <a:r>
              <a:rPr lang="ko-KR" altLang="es-CL" dirty="0"/>
              <a:t>있으십니까</a:t>
            </a:r>
            <a:endParaRPr lang="es-CL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>
            <a:extLst>
              <a:ext uri="{FF2B5EF4-FFF2-40B4-BE49-F238E27FC236}">
                <a16:creationId xmlns:a16="http://schemas.microsoft.com/office/drawing/2014/main" id="{A7966D7B-667E-D7B5-F302-F69E903D0A29}"/>
              </a:ext>
            </a:extLst>
          </p:cNvPr>
          <p:cNvSpPr/>
          <p:nvPr/>
        </p:nvSpPr>
        <p:spPr>
          <a:xfrm>
            <a:off x="259080" y="178308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있다 = HAY / EXISTE / TENGO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없다 = NO HAY / NO EXISTE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Conjugación: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있다 → 있어요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없다 → 없어요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la partícula que va con 있다/없다 es 이/가 (sujeto), NO 은/는 ni 을/를.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uno de los verbos más usados del coreano.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90F70-A17D-FA55-F1D3-017C7BEC7F7D}"/>
              </a:ext>
            </a:extLst>
          </p:cNvPr>
          <p:cNvSpPr txBox="1"/>
          <p:nvPr/>
        </p:nvSpPr>
        <p:spPr>
          <a:xfrm>
            <a:off x="6202680" y="2507099"/>
            <a:ext cx="3559116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‘</a:t>
            </a:r>
            <a:r>
              <a:rPr lang="ko-KR" altLang="es-CL" dirty="0"/>
              <a:t>없다</a:t>
            </a:r>
            <a:r>
              <a:rPr lang="es-CL" altLang="ko-KR" dirty="0"/>
              <a:t>‘ = no haber, no estar</a:t>
            </a:r>
          </a:p>
          <a:p>
            <a:r>
              <a:rPr lang="es-CL" dirty="0"/>
              <a:t>~</a:t>
            </a:r>
            <a:r>
              <a:rPr lang="ko-KR" altLang="es-CL" dirty="0"/>
              <a:t>아요</a:t>
            </a:r>
            <a:r>
              <a:rPr lang="es-CL" altLang="ko-KR" dirty="0"/>
              <a:t>/</a:t>
            </a:r>
            <a:r>
              <a:rPr lang="ko-KR" altLang="es-CL" dirty="0"/>
              <a:t>어요 </a:t>
            </a:r>
            <a:r>
              <a:rPr lang="es-CL" altLang="ko-KR" dirty="0"/>
              <a:t>(presente)</a:t>
            </a:r>
            <a:endParaRPr lang="es-CL" dirty="0"/>
          </a:p>
          <a:p>
            <a:r>
              <a:rPr lang="es-CL" dirty="0"/>
              <a:t>‘</a:t>
            </a:r>
            <a:r>
              <a:rPr lang="ko-KR" altLang="es-CL" dirty="0"/>
              <a:t>없어요</a:t>
            </a:r>
            <a:r>
              <a:rPr lang="es-CL" altLang="ko-KR" dirty="0"/>
              <a:t>’ = formal</a:t>
            </a:r>
          </a:p>
          <a:p>
            <a:r>
              <a:rPr lang="es-CL" dirty="0"/>
              <a:t>‘</a:t>
            </a:r>
            <a:r>
              <a:rPr lang="ko-KR" altLang="es-CL" dirty="0"/>
              <a:t>없어</a:t>
            </a:r>
            <a:r>
              <a:rPr lang="es-CL" altLang="ko-KR" dirty="0"/>
              <a:t>’ = informal</a:t>
            </a:r>
          </a:p>
          <a:p>
            <a:r>
              <a:rPr lang="es-CL" dirty="0"/>
              <a:t>‘</a:t>
            </a:r>
            <a:r>
              <a:rPr lang="ko-KR" altLang="es-CL" dirty="0"/>
              <a:t>없습니다</a:t>
            </a:r>
            <a:r>
              <a:rPr lang="es-CL" altLang="ko-KR" dirty="0"/>
              <a:t>’[</a:t>
            </a:r>
            <a:r>
              <a:rPr lang="ko-KR" altLang="es-CL" dirty="0"/>
              <a:t>없슴니다</a:t>
            </a:r>
            <a:r>
              <a:rPr lang="es-CL" altLang="ko-KR" dirty="0"/>
              <a:t>] = profesional</a:t>
            </a:r>
          </a:p>
          <a:p>
            <a:endParaRPr lang="es-CL" altLang="ko-KR" dirty="0"/>
          </a:p>
          <a:p>
            <a:r>
              <a:rPr lang="ko-KR" altLang="es-CL" dirty="0"/>
              <a:t>존댓말</a:t>
            </a:r>
            <a:endParaRPr lang="es-CL" altLang="ko-KR" dirty="0"/>
          </a:p>
          <a:p>
            <a:r>
              <a:rPr lang="es-CL" altLang="ko-KR" dirty="0"/>
              <a:t>‘</a:t>
            </a:r>
            <a:r>
              <a:rPr lang="ko-KR" altLang="es-CL" dirty="0"/>
              <a:t>없다</a:t>
            </a:r>
            <a:r>
              <a:rPr lang="es-CL" altLang="ko-KR" dirty="0"/>
              <a:t>’ -&gt; </a:t>
            </a:r>
            <a:r>
              <a:rPr lang="ko-KR" altLang="es-CL" dirty="0"/>
              <a:t>없으시다</a:t>
            </a:r>
            <a:endParaRPr lang="es-CL" altLang="ko-KR" dirty="0"/>
          </a:p>
          <a:p>
            <a:r>
              <a:rPr lang="es-CL" altLang="ko-KR" dirty="0"/>
              <a:t>~</a:t>
            </a:r>
            <a:r>
              <a:rPr lang="ko-KR" altLang="es-CL" dirty="0"/>
              <a:t>세요</a:t>
            </a:r>
            <a:r>
              <a:rPr lang="es-CL" altLang="ko-KR" dirty="0"/>
              <a:t>(presente mayor)</a:t>
            </a:r>
          </a:p>
          <a:p>
            <a:r>
              <a:rPr lang="ko-KR" altLang="es-CL" dirty="0"/>
              <a:t>없으세요</a:t>
            </a:r>
            <a:r>
              <a:rPr lang="es-CL" altLang="ko-KR" dirty="0"/>
              <a:t>?</a:t>
            </a:r>
          </a:p>
          <a:p>
            <a:r>
              <a:rPr lang="ko-KR" altLang="es-CL" dirty="0"/>
              <a:t>없으십니까</a:t>
            </a:r>
            <a:endParaRPr lang="es-CL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5A0699-0D25-FD08-63F8-5CC86CF11795}"/>
              </a:ext>
            </a:extLst>
          </p:cNvPr>
          <p:cNvSpPr txBox="1"/>
          <p:nvPr/>
        </p:nvSpPr>
        <p:spPr>
          <a:xfrm>
            <a:off x="6202680" y="1211580"/>
            <a:ext cx="23244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은</a:t>
            </a:r>
            <a:r>
              <a:rPr lang="es-CL" altLang="ko-KR" dirty="0"/>
              <a:t>/</a:t>
            </a:r>
            <a:r>
              <a:rPr lang="ko-KR" altLang="es-CL" dirty="0"/>
              <a:t>는 </a:t>
            </a:r>
            <a:r>
              <a:rPr lang="es-CL" altLang="ko-KR" dirty="0" err="1"/>
              <a:t>particula</a:t>
            </a:r>
            <a:r>
              <a:rPr lang="es-CL" altLang="ko-KR" dirty="0"/>
              <a:t> tema</a:t>
            </a:r>
          </a:p>
          <a:p>
            <a:r>
              <a:rPr lang="ko-KR" altLang="es-CL" dirty="0"/>
              <a:t>이</a:t>
            </a:r>
            <a:r>
              <a:rPr lang="es-CL" altLang="ko-KR" dirty="0"/>
              <a:t>/</a:t>
            </a:r>
            <a:r>
              <a:rPr lang="ko-KR" altLang="es-CL" dirty="0"/>
              <a:t>가 </a:t>
            </a:r>
            <a:r>
              <a:rPr lang="es-CL" altLang="ko-KR" dirty="0" err="1"/>
              <a:t>particula</a:t>
            </a:r>
            <a:r>
              <a:rPr lang="es-CL" altLang="ko-KR" dirty="0"/>
              <a:t> sujeto</a:t>
            </a:r>
          </a:p>
          <a:p>
            <a:r>
              <a:rPr lang="ko-KR" altLang="es-CL" dirty="0"/>
              <a:t>을</a:t>
            </a:r>
            <a:r>
              <a:rPr lang="es-CL" altLang="ko-KR" dirty="0"/>
              <a:t>/</a:t>
            </a:r>
            <a:r>
              <a:rPr lang="ko-KR" altLang="es-CL" dirty="0"/>
              <a:t>를 </a:t>
            </a:r>
            <a:r>
              <a:rPr lang="es-CL" altLang="ko-KR" dirty="0" err="1"/>
              <a:t>particula</a:t>
            </a:r>
            <a:r>
              <a:rPr lang="es-CL" altLang="ko-KR" dirty="0"/>
              <a:t> objeto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748324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§6.2 · FRASES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29801" y="8001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básica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93002" y="182118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r>
              <a:rPr lang="en-US" sz="2600" b="1" dirty="0">
                <a:solidFill>
                  <a:srgbClr val="FFFFFF"/>
                </a:solidFill>
                <a:highlight>
                  <a:srgbClr val="0000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있어요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Hay/tengo libro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시간이 없어요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25112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tengo tiempo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01584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친구가 있어요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101584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Tengo amigos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돈이 없어요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tengo dinero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남자친구 있어요?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25112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¿Tenés novio?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1584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여자친구 없어요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101584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tengo novia</a:t>
            </a:r>
            <a:endParaRPr lang="en-US" sz="1200" dirty="0"/>
          </a:p>
        </p:txBody>
      </p:sp>
      <p:pic>
        <p:nvPicPr>
          <p:cNvPr id="22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3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913D32-406C-26D4-1FAE-5A4D61A908AA}"/>
              </a:ext>
            </a:extLst>
          </p:cNvPr>
          <p:cNvSpPr txBox="1"/>
          <p:nvPr/>
        </p:nvSpPr>
        <p:spPr>
          <a:xfrm>
            <a:off x="1485900" y="2796778"/>
            <a:ext cx="16718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Libro(P/S) estar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6FB8CC-0620-3C2D-98B5-51FCC92C8BA7}"/>
              </a:ext>
            </a:extLst>
          </p:cNvPr>
          <p:cNvSpPr txBox="1"/>
          <p:nvPr/>
        </p:nvSpPr>
        <p:spPr>
          <a:xfrm>
            <a:off x="2988392" y="744164"/>
            <a:ext cx="232441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은</a:t>
            </a:r>
            <a:r>
              <a:rPr lang="es-CL" altLang="ko-KR" dirty="0"/>
              <a:t>/</a:t>
            </a:r>
            <a:r>
              <a:rPr lang="ko-KR" altLang="es-CL" dirty="0"/>
              <a:t>는 </a:t>
            </a:r>
            <a:r>
              <a:rPr lang="es-CL" altLang="ko-KR" dirty="0" err="1"/>
              <a:t>particula</a:t>
            </a:r>
            <a:r>
              <a:rPr lang="es-CL" altLang="ko-KR" dirty="0"/>
              <a:t> tema</a:t>
            </a:r>
          </a:p>
          <a:p>
            <a:r>
              <a:rPr lang="ko-KR" altLang="es-CL" dirty="0">
                <a:highlight>
                  <a:srgbClr val="FFFF00"/>
                </a:highlight>
              </a:rPr>
              <a:t>이</a:t>
            </a:r>
            <a:r>
              <a:rPr lang="es-CL" altLang="ko-KR" dirty="0">
                <a:highlight>
                  <a:srgbClr val="FFFF00"/>
                </a:highlight>
              </a:rPr>
              <a:t>/</a:t>
            </a:r>
            <a:r>
              <a:rPr lang="ko-KR" altLang="es-CL" dirty="0">
                <a:highlight>
                  <a:srgbClr val="FFFF00"/>
                </a:highlight>
              </a:rPr>
              <a:t>가 </a:t>
            </a:r>
            <a:r>
              <a:rPr lang="es-CL" altLang="ko-KR" dirty="0" err="1">
                <a:highlight>
                  <a:srgbClr val="FFFF00"/>
                </a:highlight>
              </a:rPr>
              <a:t>particula</a:t>
            </a:r>
            <a:r>
              <a:rPr lang="es-CL" altLang="ko-KR" dirty="0">
                <a:highlight>
                  <a:srgbClr val="FFFF00"/>
                </a:highlight>
              </a:rPr>
              <a:t> sujeto</a:t>
            </a:r>
          </a:p>
          <a:p>
            <a:r>
              <a:rPr lang="ko-KR" altLang="es-CL" dirty="0"/>
              <a:t>을</a:t>
            </a:r>
            <a:r>
              <a:rPr lang="es-CL" altLang="ko-KR" dirty="0"/>
              <a:t>/</a:t>
            </a:r>
            <a:r>
              <a:rPr lang="ko-KR" altLang="es-CL" dirty="0"/>
              <a:t>를 </a:t>
            </a:r>
            <a:r>
              <a:rPr lang="es-CL" altLang="ko-KR" dirty="0" err="1"/>
              <a:t>particula</a:t>
            </a:r>
            <a:r>
              <a:rPr lang="es-CL" altLang="ko-KR" dirty="0"/>
              <a:t> objeto</a:t>
            </a:r>
            <a:endParaRPr lang="es-CL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6DC9C9-EF02-20E8-2BFF-89F30591ECB0}"/>
              </a:ext>
            </a:extLst>
          </p:cNvPr>
          <p:cNvSpPr txBox="1"/>
          <p:nvPr/>
        </p:nvSpPr>
        <p:spPr>
          <a:xfrm>
            <a:off x="4973320" y="2825988"/>
            <a:ext cx="1336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Tiempo(P/S)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995CCE-432E-B7D0-81B5-B2630A97C5C8}"/>
              </a:ext>
            </a:extLst>
          </p:cNvPr>
          <p:cNvSpPr txBox="1"/>
          <p:nvPr/>
        </p:nvSpPr>
        <p:spPr>
          <a:xfrm>
            <a:off x="6253480" y="2813772"/>
            <a:ext cx="975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No estar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22F8703-E061-9637-AF13-6934C663892A}"/>
              </a:ext>
            </a:extLst>
          </p:cNvPr>
          <p:cNvSpPr txBox="1"/>
          <p:nvPr/>
        </p:nvSpPr>
        <p:spPr>
          <a:xfrm>
            <a:off x="8935107" y="2796778"/>
            <a:ext cx="17476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>
                <a:solidFill>
                  <a:schemeClr val="bg1"/>
                </a:solidFill>
              </a:rPr>
              <a:t>Amigo(P/S) estar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DA157D3-A4B1-0051-10F2-CFA44874F1C4}"/>
              </a:ext>
            </a:extLst>
          </p:cNvPr>
          <p:cNvSpPr txBox="1"/>
          <p:nvPr/>
        </p:nvSpPr>
        <p:spPr>
          <a:xfrm>
            <a:off x="1386840" y="5240012"/>
            <a:ext cx="2128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Dinero(P/S) no estar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DD0290-534C-D509-4635-819EE6EE896B}"/>
              </a:ext>
            </a:extLst>
          </p:cNvPr>
          <p:cNvSpPr txBox="1"/>
          <p:nvPr/>
        </p:nvSpPr>
        <p:spPr>
          <a:xfrm>
            <a:off x="5336600" y="967216"/>
            <a:ext cx="4869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Siempre se utiliza partícula sujeto para</a:t>
            </a:r>
            <a:r>
              <a:rPr lang="ko-KR" altLang="es-CL" dirty="0"/>
              <a:t> 있다</a:t>
            </a:r>
            <a:r>
              <a:rPr lang="es-CL" altLang="ko-KR" dirty="0"/>
              <a:t>/</a:t>
            </a:r>
            <a:r>
              <a:rPr lang="ko-KR" altLang="es-CL" dirty="0"/>
              <a:t>없다</a:t>
            </a:r>
            <a:endParaRPr lang="es-CL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9FB795-05A2-35DB-024C-06588706C053}"/>
              </a:ext>
            </a:extLst>
          </p:cNvPr>
          <p:cNvSpPr txBox="1"/>
          <p:nvPr/>
        </p:nvSpPr>
        <p:spPr>
          <a:xfrm>
            <a:off x="5487752" y="5203428"/>
            <a:ext cx="1437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Pololo tener?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0C539E-6FDA-2085-9818-BB2747887FF4}"/>
              </a:ext>
            </a:extLst>
          </p:cNvPr>
          <p:cNvSpPr txBox="1"/>
          <p:nvPr/>
        </p:nvSpPr>
        <p:spPr>
          <a:xfrm>
            <a:off x="9245256" y="5219438"/>
            <a:ext cx="1437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/>
              <a:t>Pololo tener?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8576AEE-82C8-9D3B-3F05-E4BDF6F3F251}"/>
              </a:ext>
            </a:extLst>
          </p:cNvPr>
          <p:cNvSpPr txBox="1"/>
          <p:nvPr/>
        </p:nvSpPr>
        <p:spPr>
          <a:xfrm>
            <a:off x="4870704" y="4332208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남사친구 </a:t>
            </a:r>
            <a:r>
              <a:rPr lang="es-CL" altLang="ko-KR" dirty="0"/>
              <a:t>amigo</a:t>
            </a:r>
            <a:endParaRPr lang="es-CL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§6.3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~에 있다 · ESTAR 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es la partícula de UBICACIÓN ESTÁTICA. Indica DÓNDE está algo (sin movimiento).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Estructura: [Cosa] + 은/는 + [Lugar] + 에 + 있어요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는 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집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에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있어요 (Estoy en casa)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Yo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(P/T) casa(a,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)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estar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haber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,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tener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책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은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책상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에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있어요 (El libro está en el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/>
              <a:t>Libro(p/t) mesa(a, </a:t>
            </a:r>
            <a:r>
              <a:rPr lang="en-US" sz="1400" dirty="0" err="1"/>
              <a:t>en</a:t>
            </a:r>
            <a:r>
              <a:rPr lang="en-US" sz="1400" dirty="0"/>
              <a:t>) </a:t>
            </a:r>
            <a:r>
              <a:rPr lang="en-US" sz="1400" dirty="0" err="1"/>
              <a:t>esta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카페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가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학교 옆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에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있어요 (El café está al lado de la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escuela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Café(P/S) colegio a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lado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(a ,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)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esta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partícula 에 también se usa con verbos de movimiento (가다, 오다) para indicar destino.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</a:t>
            </a: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(en, ubicación)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31066F-8595-C71F-0751-BBE47ED7CA97}"/>
              </a:ext>
            </a:extLst>
          </p:cNvPr>
          <p:cNvSpPr txBox="1"/>
          <p:nvPr/>
        </p:nvSpPr>
        <p:spPr>
          <a:xfrm>
            <a:off x="4422086" y="2634347"/>
            <a:ext cx="276870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수업이 저녁 </a:t>
            </a:r>
            <a:r>
              <a:rPr lang="es-CL" altLang="ko-KR" dirty="0"/>
              <a:t>8</a:t>
            </a:r>
            <a:r>
              <a:rPr lang="ko-KR" altLang="es-CL" dirty="0"/>
              <a:t>시에 있어요</a:t>
            </a:r>
            <a:endParaRPr lang="es-CL" altLang="ko-KR" dirty="0"/>
          </a:p>
          <a:p>
            <a:r>
              <a:rPr lang="ko-KR" altLang="es-CL" dirty="0"/>
              <a:t>오전 </a:t>
            </a:r>
            <a:r>
              <a:rPr lang="es-CL" altLang="ko-KR" dirty="0"/>
              <a:t>8</a:t>
            </a:r>
            <a:r>
              <a:rPr lang="ko-KR" altLang="es-CL" dirty="0"/>
              <a:t>시에 있어요</a:t>
            </a:r>
            <a:endParaRPr lang="es-CL" altLang="ko-KR" dirty="0"/>
          </a:p>
          <a:p>
            <a:r>
              <a:rPr lang="ko-KR" altLang="es-CL" dirty="0"/>
              <a:t>오후</a:t>
            </a:r>
            <a:endParaRPr lang="es-CL" altLang="ko-KR" dirty="0"/>
          </a:p>
          <a:p>
            <a:r>
              <a:rPr lang="ko-KR" altLang="es-CL" dirty="0"/>
              <a:t>아침</a:t>
            </a:r>
            <a:endParaRPr lang="es-CL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§6.4 · LUGARES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Lugares cotidianos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Escuela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Cafe</a:t>
            </a:r>
            <a:r>
              <a:rPr lang="es-CL" sz="12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tería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영화관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548640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10712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10712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</a:t>
            </a:r>
            <a:endParaRPr lang="en-US" sz="4400" dirty="0"/>
          </a:p>
        </p:txBody>
      </p:sp>
      <p:sp>
        <p:nvSpPr>
          <p:cNvPr id="33" name="Text 31"/>
          <p:cNvSpPr/>
          <p:nvPr/>
        </p:nvSpPr>
        <p:spPr>
          <a:xfrm>
            <a:off x="3410712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72784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72784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endParaRPr lang="en-US" sz="4400" dirty="0"/>
          </a:p>
        </p:txBody>
      </p:sp>
      <p:sp>
        <p:nvSpPr>
          <p:cNvPr id="36" name="Text 34"/>
          <p:cNvSpPr/>
          <p:nvPr/>
        </p:nvSpPr>
        <p:spPr>
          <a:xfrm>
            <a:off x="6272784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34856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34856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</a:t>
            </a:r>
            <a:endParaRPr lang="en-US" sz="4400" dirty="0"/>
          </a:p>
        </p:txBody>
      </p:sp>
      <p:sp>
        <p:nvSpPr>
          <p:cNvPr id="39" name="Text 37"/>
          <p:cNvSpPr/>
          <p:nvPr/>
        </p:nvSpPr>
        <p:spPr>
          <a:xfrm>
            <a:off x="9134856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200" dirty="0"/>
          </a:p>
        </p:txBody>
      </p:sp>
      <p:pic>
        <p:nvPicPr>
          <p:cNvPr id="40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41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A644E2-822D-F158-1D5F-3A752A1727DD}"/>
              </a:ext>
            </a:extLst>
          </p:cNvPr>
          <p:cNvSpPr txBox="1"/>
          <p:nvPr/>
        </p:nvSpPr>
        <p:spPr>
          <a:xfrm>
            <a:off x="9819640" y="3841480"/>
            <a:ext cx="1554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L" dirty="0" err="1"/>
              <a:t>Yiong</a:t>
            </a:r>
            <a:r>
              <a:rPr lang="es-CL" dirty="0"/>
              <a:t> jua guan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§6.5 · POSICIONES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de posición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513671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Estructura: [Referencia] + [Posición] + 에 + 있어요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8 posiciones esenciales: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위 (encima de)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아래 / 밑 (debajo de)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앞 (adelante de)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뒤 (atrás de)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옆 (al lado de)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안 (dentro de)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밖 (fuera de)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사이 (entre)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 olvides el 에 después de la posición.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/ 아래</a:t>
            </a:r>
            <a:endParaRPr lang="en-US" sz="4500" dirty="0"/>
          </a:p>
          <a:p>
            <a:pPr marL="0" indent="0" algn="ctr">
              <a:buNone/>
            </a:pPr>
            <a:r>
              <a:rPr lang="en-US" sz="4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/ 뒤 / 옆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(posiciones)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Posiciones espaciales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0D4A7D-0465-96AC-7C57-0AD636B9CC01}"/>
              </a:ext>
            </a:extLst>
          </p:cNvPr>
          <p:cNvSpPr txBox="1"/>
          <p:nvPr/>
        </p:nvSpPr>
        <p:spPr>
          <a:xfrm>
            <a:off x="5829817" y="772329"/>
            <a:ext cx="569162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3000" dirty="0"/>
              <a:t>어디 </a:t>
            </a:r>
            <a:r>
              <a:rPr lang="es-CL" altLang="ko-KR" sz="3000" dirty="0"/>
              <a:t>= donde?</a:t>
            </a:r>
          </a:p>
          <a:p>
            <a:r>
              <a:rPr lang="ko-KR" altLang="es-CL" sz="3000" dirty="0"/>
              <a:t>어디예요</a:t>
            </a:r>
            <a:r>
              <a:rPr lang="es-CL" altLang="ko-KR" sz="3000" dirty="0"/>
              <a:t>? = donde es donde esta?</a:t>
            </a:r>
            <a:endParaRPr lang="es-CL" sz="3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8C14CD-DC7C-8370-9A25-50F4F1064937}"/>
              </a:ext>
            </a:extLst>
          </p:cNvPr>
          <p:cNvSpPr txBox="1"/>
          <p:nvPr/>
        </p:nvSpPr>
        <p:spPr>
          <a:xfrm>
            <a:off x="3076259" y="2176700"/>
            <a:ext cx="3387722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dirty="0"/>
              <a:t>어디</a:t>
            </a:r>
            <a:r>
              <a:rPr lang="ko-KR" altLang="es-CL" dirty="0">
                <a:highlight>
                  <a:srgbClr val="FFFF00"/>
                </a:highlight>
              </a:rPr>
              <a:t>에</a:t>
            </a:r>
            <a:r>
              <a:rPr lang="ko-KR" altLang="es-CL" dirty="0"/>
              <a:t> 있어요</a:t>
            </a:r>
            <a:r>
              <a:rPr lang="es-CL" altLang="ko-KR" dirty="0"/>
              <a:t>?</a:t>
            </a:r>
          </a:p>
          <a:p>
            <a:r>
              <a:rPr lang="es-CL" dirty="0"/>
              <a:t>Donde(</a:t>
            </a:r>
            <a:r>
              <a:rPr lang="es-CL" dirty="0" err="1"/>
              <a:t>a,en</a:t>
            </a:r>
            <a:r>
              <a:rPr lang="es-CL" dirty="0"/>
              <a:t>) </a:t>
            </a:r>
            <a:r>
              <a:rPr lang="es-CL" dirty="0" err="1"/>
              <a:t>esta,haber</a:t>
            </a:r>
            <a:r>
              <a:rPr lang="es-CL" dirty="0"/>
              <a:t>, tener</a:t>
            </a:r>
          </a:p>
          <a:p>
            <a:r>
              <a:rPr lang="ko-KR" altLang="es-CL" dirty="0"/>
              <a:t>위</a:t>
            </a:r>
            <a:r>
              <a:rPr lang="ko-KR" altLang="es-CL" dirty="0">
                <a:highlight>
                  <a:srgbClr val="FFFF00"/>
                </a:highlight>
              </a:rPr>
              <a:t>에</a:t>
            </a:r>
            <a:r>
              <a:rPr lang="ko-KR" altLang="es-CL" dirty="0"/>
              <a:t> 있어요</a:t>
            </a:r>
            <a:endParaRPr lang="es-CL" altLang="ko-KR" dirty="0"/>
          </a:p>
          <a:p>
            <a:r>
              <a:rPr lang="ko-KR" altLang="es-CL" dirty="0"/>
              <a:t>아래</a:t>
            </a:r>
            <a:r>
              <a:rPr lang="ko-KR" altLang="es-CL" dirty="0">
                <a:highlight>
                  <a:srgbClr val="FFFF00"/>
                </a:highlight>
              </a:rPr>
              <a:t>에</a:t>
            </a:r>
            <a:r>
              <a:rPr lang="ko-KR" altLang="es-CL" dirty="0"/>
              <a:t> 있어요</a:t>
            </a:r>
            <a:endParaRPr lang="es-CL" altLang="ko-KR" dirty="0"/>
          </a:p>
          <a:p>
            <a:endParaRPr lang="es-CL" dirty="0"/>
          </a:p>
          <a:p>
            <a:r>
              <a:rPr lang="ko-KR" altLang="es-CL" dirty="0"/>
              <a:t>학교</a:t>
            </a:r>
            <a:r>
              <a:rPr lang="ko-KR" altLang="es-CL" dirty="0">
                <a:highlight>
                  <a:srgbClr val="FFFF00"/>
                </a:highlight>
              </a:rPr>
              <a:t>가</a:t>
            </a:r>
            <a:r>
              <a:rPr lang="ko-KR" altLang="es-CL" dirty="0"/>
              <a:t> 앞</a:t>
            </a:r>
            <a:r>
              <a:rPr lang="ko-KR" altLang="es-CL" dirty="0">
                <a:highlight>
                  <a:srgbClr val="FFFF00"/>
                </a:highlight>
              </a:rPr>
              <a:t>에</a:t>
            </a:r>
            <a:r>
              <a:rPr lang="ko-KR" altLang="es-CL" dirty="0"/>
              <a:t> 있어요</a:t>
            </a:r>
            <a:endParaRPr lang="es-CL" altLang="ko-KR" dirty="0"/>
          </a:p>
          <a:p>
            <a:r>
              <a:rPr lang="es-CL" dirty="0"/>
              <a:t>Colegio(P/S) adelante de(en) estar</a:t>
            </a:r>
          </a:p>
          <a:p>
            <a:endParaRPr lang="es-CL" dirty="0"/>
          </a:p>
          <a:p>
            <a:r>
              <a:rPr lang="ko-KR" altLang="es-CL" dirty="0"/>
              <a:t>나무</a:t>
            </a:r>
            <a:r>
              <a:rPr lang="ko-KR" altLang="es-CL" dirty="0">
                <a:highlight>
                  <a:srgbClr val="FFFF00"/>
                </a:highlight>
              </a:rPr>
              <a:t>가</a:t>
            </a:r>
            <a:r>
              <a:rPr lang="ko-KR" altLang="es-CL" dirty="0"/>
              <a:t> 밖에 있어요</a:t>
            </a:r>
            <a:endParaRPr lang="es-CL" altLang="ko-KR" dirty="0"/>
          </a:p>
          <a:p>
            <a:r>
              <a:rPr lang="es-CL" dirty="0" err="1"/>
              <a:t>Arbol</a:t>
            </a:r>
            <a:r>
              <a:rPr lang="es-CL" dirty="0"/>
              <a:t>(P/S)</a:t>
            </a:r>
            <a:r>
              <a:rPr lang="ko-KR" altLang="es-CL" dirty="0"/>
              <a:t> </a:t>
            </a:r>
            <a:r>
              <a:rPr lang="es-CL" altLang="ko-KR" dirty="0"/>
              <a:t>afuera(en) estar</a:t>
            </a:r>
          </a:p>
          <a:p>
            <a:endParaRPr lang="es-CL" dirty="0"/>
          </a:p>
          <a:p>
            <a:r>
              <a:rPr lang="ko-KR" altLang="es-CL" dirty="0"/>
              <a:t>고양이</a:t>
            </a:r>
            <a:r>
              <a:rPr lang="ko-KR" altLang="es-CL" dirty="0">
                <a:highlight>
                  <a:srgbClr val="FFFF00"/>
                </a:highlight>
              </a:rPr>
              <a:t>가</a:t>
            </a:r>
            <a:r>
              <a:rPr lang="ko-KR" altLang="es-CL" dirty="0"/>
              <a:t> 책상 아래</a:t>
            </a:r>
            <a:r>
              <a:rPr lang="ko-KR" altLang="es-CL" dirty="0">
                <a:highlight>
                  <a:srgbClr val="FFFF00"/>
                </a:highlight>
              </a:rPr>
              <a:t>에</a:t>
            </a:r>
            <a:r>
              <a:rPr lang="ko-KR" altLang="es-CL" dirty="0"/>
              <a:t> 있어요</a:t>
            </a:r>
            <a:endParaRPr lang="es-CL" altLang="ko-KR" dirty="0"/>
          </a:p>
          <a:p>
            <a:r>
              <a:rPr lang="es-CL" dirty="0"/>
              <a:t>Gato(P/S) mesa debajo(en) esta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§6.5 · LECTURA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Ubicaciones reales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</a:t>
            </a:r>
            <a:r>
              <a:rPr lang="en-US" sz="3600" b="1" dirty="0">
                <a:solidFill>
                  <a:srgbClr val="FFFFFF"/>
                </a:solidFill>
                <a:highlight>
                  <a:srgbClr val="0000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책</a:t>
            </a:r>
            <a:r>
              <a:rPr lang="en-US" sz="3600" b="1" dirty="0">
                <a:solidFill>
                  <a:srgbClr val="FFFFFF"/>
                </a:solidFill>
                <a:highlight>
                  <a:srgbClr val="0000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있어요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libro sobre la mesa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</a:t>
            </a:r>
            <a:r>
              <a:rPr lang="en-US" sz="3600" b="1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3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600" b="1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</a:t>
            </a:r>
            <a:r>
              <a:rPr lang="en-US" sz="3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3600" b="1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</a:t>
            </a:r>
            <a:r>
              <a:rPr lang="en-US" sz="3600" b="1" dirty="0" err="1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3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있어요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325112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mochila está bajo la silla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01584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r>
              <a:rPr lang="en-US" sz="3200" b="1" dirty="0">
                <a:solidFill>
                  <a:srgbClr val="FFFFFF"/>
                </a:solidFill>
                <a:highlight>
                  <a:srgbClr val="0000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학교 옆</a:t>
            </a:r>
            <a:r>
              <a:rPr lang="en-US" sz="3200" b="1" dirty="0">
                <a:solidFill>
                  <a:srgbClr val="FFFFFF"/>
                </a:solidFill>
                <a:highlight>
                  <a:srgbClr val="0000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있어요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01584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Café al lado de escuela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고양이</a:t>
            </a:r>
            <a:r>
              <a:rPr lang="en-US" sz="3600" b="1" dirty="0">
                <a:solidFill>
                  <a:srgbClr val="FFFFFF"/>
                </a:solidFill>
                <a:highlight>
                  <a:srgbClr val="0000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</a:t>
            </a: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침대 위</a:t>
            </a:r>
            <a:r>
              <a:rPr lang="en-US" sz="3600" b="1" dirty="0">
                <a:solidFill>
                  <a:srgbClr val="FFFFFF"/>
                </a:solidFill>
                <a:highlight>
                  <a:srgbClr val="0000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있어요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548640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Gato sobre la cama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44805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r>
              <a:rPr lang="en-US" sz="4400" b="1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병원 앞</a:t>
            </a:r>
            <a:r>
              <a:rPr lang="en-US" sz="4400" b="1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4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있어요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325112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frente al hospital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1584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r>
              <a:rPr lang="en-US" sz="4000" b="1" dirty="0">
                <a:solidFill>
                  <a:srgbClr val="FFFFFF"/>
                </a:solidFill>
                <a:highlight>
                  <a:srgbClr val="0000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집 뒤</a:t>
            </a:r>
            <a:r>
              <a:rPr lang="en-US" sz="4000" b="1" dirty="0">
                <a:solidFill>
                  <a:srgbClr val="FFFFFF"/>
                </a:solidFill>
                <a:highlight>
                  <a:srgbClr val="0000FF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있어요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101584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 detrás de casa</a:t>
            </a:r>
            <a:endParaRPr lang="en-US" sz="1200" dirty="0"/>
          </a:p>
        </p:txBody>
      </p:sp>
      <p:pic>
        <p:nvPicPr>
          <p:cNvPr id="22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3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14D12C-04E8-C35D-DDCB-AEA9386FE0CC}"/>
              </a:ext>
            </a:extLst>
          </p:cNvPr>
          <p:cNvSpPr txBox="1"/>
          <p:nvPr/>
        </p:nvSpPr>
        <p:spPr>
          <a:xfrm>
            <a:off x="3308168" y="40350"/>
            <a:ext cx="721505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s-CL" sz="2800" dirty="0"/>
              <a:t>가방</a:t>
            </a:r>
            <a:r>
              <a:rPr lang="ko-KR" altLang="es-CL" sz="2800" dirty="0">
                <a:highlight>
                  <a:srgbClr val="FFFF00"/>
                </a:highlight>
              </a:rPr>
              <a:t>이 </a:t>
            </a:r>
            <a:r>
              <a:rPr lang="ko-KR" altLang="es-CL" sz="2800" dirty="0"/>
              <a:t>어디</a:t>
            </a:r>
            <a:r>
              <a:rPr lang="ko-KR" altLang="es-CL" sz="2800" dirty="0">
                <a:highlight>
                  <a:srgbClr val="FFFF00"/>
                </a:highlight>
              </a:rPr>
              <a:t>에</a:t>
            </a:r>
            <a:r>
              <a:rPr lang="ko-KR" altLang="es-CL" sz="2800" dirty="0"/>
              <a:t> 있어요</a:t>
            </a:r>
            <a:r>
              <a:rPr lang="es-CL" altLang="ko-KR" sz="2800" dirty="0"/>
              <a:t>? Donde esta la mochila?</a:t>
            </a:r>
          </a:p>
          <a:p>
            <a:r>
              <a:rPr lang="es-CL" sz="2800" dirty="0"/>
              <a:t>Mochila(P/S) donde(en) estar?</a:t>
            </a:r>
          </a:p>
          <a:p>
            <a:r>
              <a:rPr lang="ko-KR" altLang="es-CL" sz="2800" dirty="0"/>
              <a:t>뭐</a:t>
            </a:r>
            <a:r>
              <a:rPr lang="ko-KR" altLang="es-CL" sz="2800" dirty="0">
                <a:highlight>
                  <a:srgbClr val="FFFF00"/>
                </a:highlight>
              </a:rPr>
              <a:t>가</a:t>
            </a:r>
            <a:r>
              <a:rPr lang="ko-KR" altLang="es-CL" sz="2800" dirty="0"/>
              <a:t> 의자 아래</a:t>
            </a:r>
            <a:r>
              <a:rPr lang="ko-KR" altLang="es-CL" sz="2800" dirty="0">
                <a:highlight>
                  <a:srgbClr val="FFFF00"/>
                </a:highlight>
              </a:rPr>
              <a:t>에</a:t>
            </a:r>
            <a:r>
              <a:rPr lang="ko-KR" altLang="es-CL" sz="2800" dirty="0"/>
              <a:t> 있어요</a:t>
            </a:r>
            <a:r>
              <a:rPr lang="es-CL" altLang="ko-KR" sz="2800" dirty="0"/>
              <a:t>?</a:t>
            </a:r>
          </a:p>
          <a:p>
            <a:r>
              <a:rPr lang="es-CL" sz="2800" dirty="0"/>
              <a:t>Que(P/S) silla debajo(en) estar?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§6.6 · GRAMÁTICA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vs 에서 · La gran confusión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65480" y="130302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diferencia que más confunde: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 = ESTAR (estático)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저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는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집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에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있어요 (Estoy EN casa)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저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는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학교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에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가요 (Voy A la escuela)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 = HACER (dinámico, donde ocurre la acción)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저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는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집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에서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공부해요 (Estudio EN casa)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Yo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(P/T) casa(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en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)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estudiar</a:t>
            </a:r>
            <a:endParaRPr lang="en-US" sz="1400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은행</a:t>
            </a:r>
            <a:r>
              <a:rPr lang="ko-KR" altLang="es-CL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cs typeface="Calibri" pitchFamily="34" charset="-120"/>
              </a:rPr>
              <a:t>에서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돈</a:t>
            </a:r>
            <a:r>
              <a:rPr lang="ko-KR" altLang="es-CL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cs typeface="Calibri" pitchFamily="34" charset="-120"/>
              </a:rPr>
              <a:t>을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꺼내요</a:t>
            </a:r>
            <a:endParaRPr lang="es-CL" altLang="ko-KR" sz="1400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Banco(en) dinero(p/o) sacar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저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는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카페</a:t>
            </a: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에서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커피</a:t>
            </a:r>
            <a:r>
              <a:rPr lang="en-US" sz="1400" dirty="0" err="1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를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마셔요</a:t>
            </a:r>
            <a:endParaRPr lang="en-US" sz="1400" dirty="0">
              <a:solidFill>
                <a:srgbClr val="1A1A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Yo(P/T)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CL" altLang="ko-KR" sz="14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cafeteria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(en)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café(P/O)</a:t>
            </a:r>
            <a:r>
              <a:rPr lang="ko-KR" altLang="es-CL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s-CL" altLang="ko-KR" sz="14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bebo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mental: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• 있다 / 가다 / 오다 </a:t>
            </a: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 에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Cualquier acción (먹다, 마시다, 일하다) → con 에서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vs 에서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(en vs en+acción)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Estático vs Dinámico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E6BEB1-63C6-5E41-4EC5-EBD719B2B46A}"/>
              </a:ext>
            </a:extLst>
          </p:cNvPr>
          <p:cNvSpPr txBox="1"/>
          <p:nvPr/>
        </p:nvSpPr>
        <p:spPr>
          <a:xfrm>
            <a:off x="1206500" y="452996"/>
            <a:ext cx="6096000" cy="4322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mental:</a:t>
            </a:r>
            <a:endParaRPr lang="en-US" sz="1800" dirty="0"/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에 </a:t>
            </a:r>
            <a:r>
              <a:rPr lang="es-CL" altLang="ko-KR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en-US" sz="1800" dirty="0" err="1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있다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800" dirty="0" err="1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가다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800" dirty="0" err="1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오다</a:t>
            </a:r>
            <a:r>
              <a:rPr lang="en-US" sz="1800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Estar / </a:t>
            </a:r>
            <a:r>
              <a:rPr lang="en-US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Ir</a:t>
            </a:r>
            <a:r>
              <a:rPr lang="en-US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/ </a:t>
            </a:r>
            <a:r>
              <a:rPr lang="en-US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Venir</a:t>
            </a:r>
            <a:endParaRPr lang="en-US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Estar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en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un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lugar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= </a:t>
            </a:r>
            <a:r>
              <a:rPr lang="ko-KR" alt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에 </a:t>
            </a:r>
            <a:r>
              <a:rPr lang="es-CL" altLang="ko-KR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(en)</a:t>
            </a:r>
          </a:p>
          <a:p>
            <a:pPr>
              <a:lnSpc>
                <a:spcPct val="140000"/>
              </a:lnSpc>
            </a:pPr>
            <a:r>
              <a:rPr lang="ko-KR" alt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집</a:t>
            </a:r>
            <a:r>
              <a:rPr lang="ko-KR" altLang="es-CL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cs typeface="Calibri" pitchFamily="34" charset="-120"/>
              </a:rPr>
              <a:t>에</a:t>
            </a:r>
            <a:r>
              <a:rPr lang="ko-KR" alt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있어요</a:t>
            </a:r>
            <a:endParaRPr lang="es-CL" altLang="ko-KR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40000"/>
              </a:lnSpc>
            </a:pPr>
            <a:r>
              <a:rPr lang="es-CL" sz="18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Casa(en) estar</a:t>
            </a:r>
            <a:endParaRPr lang="en-US" sz="1800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Va / </a:t>
            </a:r>
            <a:r>
              <a:rPr lang="en-US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viene</a:t>
            </a:r>
            <a:r>
              <a:rPr lang="en-US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a un </a:t>
            </a:r>
            <a:r>
              <a:rPr lang="en-US" dirty="0" err="1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lugar</a:t>
            </a:r>
            <a:r>
              <a:rPr lang="en-US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= </a:t>
            </a:r>
            <a:r>
              <a:rPr lang="ko-KR" alt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에 </a:t>
            </a:r>
            <a:r>
              <a:rPr lang="es-CL" altLang="ko-KR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(a)</a:t>
            </a: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sz="18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집에 가요</a:t>
            </a:r>
            <a:endParaRPr lang="es-CL" altLang="ko-KR" sz="1800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s-CL" altLang="ko-KR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Casa(a) voy</a:t>
            </a:r>
            <a:endParaRPr lang="es-CL" altLang="ko-KR" sz="1800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ko-KR" alt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집에 와요</a:t>
            </a:r>
            <a:endParaRPr lang="es-CL" altLang="ko-KR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s-CL" sz="1800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Casa(a</a:t>
            </a:r>
            <a:r>
              <a:rPr 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) vengo</a:t>
            </a: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E411A1-AB5F-4A02-1D95-CC410BCB654A}"/>
              </a:ext>
            </a:extLst>
          </p:cNvPr>
          <p:cNvSpPr txBox="1"/>
          <p:nvPr/>
        </p:nvSpPr>
        <p:spPr>
          <a:xfrm>
            <a:off x="5669280" y="790694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에서</a:t>
            </a:r>
            <a:r>
              <a:rPr lang="en-US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먹다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마시다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800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일하다</a:t>
            </a: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endParaRPr lang="en-US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ko-KR" alt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에서 </a:t>
            </a:r>
            <a:r>
              <a:rPr lang="es-CL" altLang="ko-KR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+ verbo (acción en un lugar)</a:t>
            </a:r>
          </a:p>
          <a:p>
            <a:r>
              <a:rPr lang="ko-KR" alt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학교</a:t>
            </a:r>
            <a:r>
              <a:rPr lang="ko-KR" altLang="es-CL" dirty="0">
                <a:solidFill>
                  <a:srgbClr val="1A1A2E"/>
                </a:solidFill>
                <a:highlight>
                  <a:srgbClr val="FFFF00"/>
                </a:highlight>
                <a:latin typeface="Calibri" pitchFamily="34" charset="0"/>
                <a:cs typeface="Calibri" pitchFamily="34" charset="-120"/>
              </a:rPr>
              <a:t>에서</a:t>
            </a:r>
            <a:r>
              <a:rPr lang="ko-KR" alt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 공부해요</a:t>
            </a:r>
            <a:endParaRPr lang="es-CL" altLang="ko-KR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s-CL" dirty="0">
                <a:solidFill>
                  <a:srgbClr val="1A1A2E"/>
                </a:solidFill>
                <a:latin typeface="Calibri" pitchFamily="34" charset="0"/>
                <a:cs typeface="Calibri" pitchFamily="34" charset="-120"/>
              </a:rPr>
              <a:t>Colegio(en) estudiar</a:t>
            </a:r>
          </a:p>
          <a:p>
            <a:endParaRPr lang="es-CL" dirty="0">
              <a:solidFill>
                <a:srgbClr val="1A1A2E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ko-KR" altLang="es-CL" dirty="0"/>
              <a:t>공원</a:t>
            </a:r>
            <a:r>
              <a:rPr lang="ko-KR" altLang="es-CL" dirty="0">
                <a:highlight>
                  <a:srgbClr val="FFFF00"/>
                </a:highlight>
              </a:rPr>
              <a:t>에서</a:t>
            </a:r>
            <a:r>
              <a:rPr lang="ko-KR" altLang="es-CL" dirty="0"/>
              <a:t> 축구해요</a:t>
            </a:r>
            <a:endParaRPr lang="es-CL" altLang="ko-KR" dirty="0"/>
          </a:p>
          <a:p>
            <a:r>
              <a:rPr lang="es-CL" dirty="0"/>
              <a:t>Plaza(en) futbol hacer</a:t>
            </a:r>
          </a:p>
          <a:p>
            <a:endParaRPr lang="es-CL" dirty="0"/>
          </a:p>
          <a:p>
            <a:r>
              <a:rPr lang="ko-KR" altLang="es-CL" dirty="0"/>
              <a:t>식당</a:t>
            </a:r>
            <a:r>
              <a:rPr lang="ko-KR" altLang="es-CL" dirty="0">
                <a:highlight>
                  <a:srgbClr val="FFFF00"/>
                </a:highlight>
              </a:rPr>
              <a:t>에서</a:t>
            </a:r>
            <a:r>
              <a:rPr lang="ko-KR" altLang="es-CL" dirty="0"/>
              <a:t> 밥</a:t>
            </a:r>
            <a:r>
              <a:rPr lang="ko-KR" altLang="es-CL" dirty="0">
                <a:highlight>
                  <a:srgbClr val="FFFF00"/>
                </a:highlight>
              </a:rPr>
              <a:t>을</a:t>
            </a:r>
            <a:r>
              <a:rPr lang="ko-KR" altLang="es-CL" dirty="0"/>
              <a:t> 먹어요</a:t>
            </a:r>
            <a:endParaRPr lang="es-CL" altLang="ko-KR" dirty="0"/>
          </a:p>
          <a:p>
            <a:r>
              <a:rPr lang="es-CL" dirty="0" err="1"/>
              <a:t>Restaraunte</a:t>
            </a:r>
            <a:r>
              <a:rPr lang="es-CL" dirty="0"/>
              <a:t>(en) comida(P/O) comer</a:t>
            </a:r>
          </a:p>
        </p:txBody>
      </p:sp>
    </p:spTree>
    <p:extLst>
      <p:ext uri="{BB962C8B-B14F-4D97-AF65-F5344CB8AC3E}">
        <p14:creationId xmlns:p14="http://schemas.microsoft.com/office/powerpoint/2010/main" val="2060387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§6.7 · MUEBLES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Vocabulario de muebles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텔레비전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Televisión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책장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Estantería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</a:t>
            </a:r>
          </a:p>
          <a:p>
            <a:pPr marL="0" indent="0" algn="ctr">
              <a:buNone/>
            </a:pPr>
            <a:r>
              <a:rPr lang="ko-KR" altLang="es-CL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곰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Puerta</a:t>
            </a:r>
            <a:endParaRPr lang="en-US" sz="1200" dirty="0"/>
          </a:p>
        </p:txBody>
      </p:sp>
      <p:pic>
        <p:nvPicPr>
          <p:cNvPr id="28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9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1" name="Text 27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§6.8 · DIÁLOGO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Preguntar dónde está algo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71500" y="1737360"/>
            <a:ext cx="10972800" cy="4572000"/>
          </a:xfrm>
          <a:prstGeom prst="roundRect">
            <a:avLst>
              <a:gd name="adj" fmla="val 3000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화장실</a:t>
            </a:r>
            <a:r>
              <a:rPr lang="en-US" sz="20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어디</a:t>
            </a:r>
            <a:r>
              <a:rPr lang="en-US" sz="20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[</a:t>
            </a:r>
            <a:r>
              <a:rPr lang="ko-KR" altLang="es-CL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화장시리</a:t>
            </a:r>
            <a:r>
              <a:rPr lang="es-CL" altLang="ko-KR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]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está el baño?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저기 카페 옆</a:t>
            </a:r>
            <a:r>
              <a:rPr lang="en-US" sz="2000" dirty="0">
                <a:solidFill>
                  <a:srgbClr val="1A1A2E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Alla cafeteria al </a:t>
            </a:r>
            <a:r>
              <a:rPr lang="en-US" sz="20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lado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(</a:t>
            </a:r>
            <a:r>
              <a:rPr lang="en-US" sz="20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en</a:t>
            </a: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) </a:t>
            </a:r>
            <a:r>
              <a:rPr lang="en-US" sz="2000" dirty="0" err="1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</a:rPr>
              <a:t>estar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108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Allá, al lado del café.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감사합니다!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3886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251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천만에요.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4663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nada.</a:t>
            </a:r>
            <a:endParaRPr lang="en-US" sz="1100" dirty="0"/>
          </a:p>
        </p:txBody>
      </p:sp>
      <p:pic>
        <p:nvPicPr>
          <p:cNvPr id="17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8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06  ·  WICHI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5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743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3258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0" y="169164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aprendiste hoy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71600" y="2606040"/>
            <a:ext cx="94183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27889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있다/없다 (haber/no haber)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Partícula 에 para ubicación estática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8 palabras de posición (위, 아래, 앞, 뒤, 옆, 안, 밖, 사이)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Diferencia 에 vs 에서 (estático vs dinámico)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12 lugares + 8 muebles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Podés describir tu cuarto completo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TAREA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de tu cuarto + audio de 1 min en coreano describiendo 5 objetos con su posición. Subir al Discord.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화이팅!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0" y="4023360"/>
            <a:ext cx="1216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vemos en la próxima sesión</a:t>
            </a:r>
            <a:endParaRPr lang="en-US" sz="1800" dirty="0"/>
          </a:p>
        </p:txBody>
      </p:sp>
      <p:pic>
        <p:nvPicPr>
          <p:cNvPr id="4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484632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· 김재희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1477</Words>
  <Application>Microsoft Office PowerPoint</Application>
  <PresentationFormat>Widescreen</PresentationFormat>
  <Paragraphs>313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Malgun Gothic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Seúl · A1 · Sesión 6</dc:title>
  <dc:subject>PptxGenJS Presentation</dc:subject>
  <dc:creator>김재희 (Jay Kim)</dc:creator>
  <cp:lastModifiedBy>Jae Hee Kim</cp:lastModifiedBy>
  <cp:revision>24</cp:revision>
  <dcterms:created xsi:type="dcterms:W3CDTF">2026-06-02T01:22:05Z</dcterms:created>
  <dcterms:modified xsi:type="dcterms:W3CDTF">2026-06-17T02:07:25Z</dcterms:modified>
</cp:coreProperties>
</file>