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3" id="{89EE70B3-DFD8-A8CA-2418-546C42F8D55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05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21:00–21:01 (1 min). Inicia la grabación en la nube. Saluda a cada uno por su nombre al entrar («안녕하세요, ___ 씨!»). Mientras llegan, en el chat y en 한글: «요즘 뭐 해요?» (요즘 = estos días) → 일해요, 공부해요, 운동해요… · también vale «지금 뭐 해요?» → «한국어 공부해요!». Anuncia: «Hoy, lección 2 del libro: cómo decir “하나 Y Mateo”, dos personas que hacen algo juntas.» Recuerda que la hoja de la clase 3 ya está en el grupo de WhatsApp. Referencia: 한국어 2, lección 2, págs. 16–25 (guía del profesor, págs. 18–27).
Fuente: Portada de la plantilla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21:01–21:04 (3 min). Antes del quiz (20 s): agradece las tareas que llegaron y di el error más común, sin nombres (cada una ya la corregiste por WhatsApp). Quiz de la lección 1 (누가). Pregunta por nombre a uno distinto en cada ítem; los demás responden en el chat. La respuesta aparece con clic. En la 2 y la 3: «¿termina en 받침? → 이; en vocal → 가» (씨 termina en vocal: 하나 씨가). En la 5, si leen [일어나요], modela [이러나요]: la ㄹ se muda a la sílaba siguiente. Si vas atrasado, solo la 1, la 2 y la 4. Ajusta los ítems si en la clase 2 usaste otros ejemplos. Referencia: 한국어 2, lección 1, págs. 6–15.
Fuente: Nueva (repaso de la lección 1)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21:04–21:05 (1 min). «La clase pasada preguntamos 누가: una persona. Hoy, dos personas que hacen algo juntas. En coreano esa “y” es 하고.» Di dos veces «하나 씨하고 마테오 씨» y que lo repitan. No expliques más: primero lo van a oír en la escena. Referencia: 한국어 2, lección 2, pág. 16 (학습 목표 en la guía, pág. 18).
Fuente: Nueva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21:05–21:07 (2 min). Conversación sobre la imagen (그림 활동). Pregunta: «여기는 어디예요?» → 공원! «누구예요?»: señalan y nombran a 하나, 발렌티나, 도윤, 서아, 마테오 y 콩이. «뭐 해요?»: que digan lo que puedan (자요! 사진!). Acepta palabras sueltas y no corrijas todavía. Dato cultural (20 s): 한강 es el río de Seúl; en sus parques la gente arrienda bicicletas (las públicas se llaman 따릉이), hace picnic y saca muchas fotos. Si tienes una foto tuya del 한강, muéstrala aquí. También se escribe 한강공원, junto, como en los letreros (여의도한강공원). Referencia: 한국어 2, lección 2, pág. 16 (그림 활동 de la guía, pág. 18).
Imagen: incluida (dibujo de la casa).
Fuente: Nueva (escena original; cumple la función del 본문 de la lección 2)
Lámina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21:07–21:09 (2 min). Lee cada frase o pon el audio. Coro dos veces y luego un alumno por frase, señalando la imagen. No expliques 하고 todavía: solo pregunta «¿qué palabra se repite?» → 하고. Que noten que Mateo está solo: ahí no hay 하고. Referencia: 한국어 2, lección 2, pág. 16 (읽기 활동 de la guía, pág. 18).
Imagen: incluida (dibujo de la casa).
Fuente: Nueva (frases originales)
Lámina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21:09–21:10 (1 min). Es el gesto de los programas de la tele coreana: O = brazos en círculo sobre la cabeza (동그라미), X = brazos cruzados (엑스). Son 3 frases. Lees la frase, todos responden con el gesto en cámara y la respuesta sale con clic. En cada X, pide a uno la frase correcta: «도윤 씨하고 서아는 뭘 해요?» → 그네를 타요. Idea de la guía, pág. 24 (O×게임), con frases originales.
Imagen: incluida (dibujo de la casa).
Fuente: Idea de la guía, pág. 24 (O×게임)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21:10–21:12 (2 min). Cada palabra: audio → coro dos veces → un alumno. 사진 ya la conocen de Básico 1 (repaso). 찍어요: ㅉ tensa y sin aire, [찌거요]. 타요: ㅌ con aire (mano frente a la boca: se mueve). 그네: ㅡ con los labios estirados. Para 하고 haz lo que sugiere la guía: tapa una mitad de la imagen y muestra solo 아빠 → «아빠»; solo 엄마 → «엄마»; los dos → «아빠하고 엄마». Referencia: 한국어 2, lección 2, pág. 17 (guía, pág. 19).
Imagen: incluida (dibujo de la casa).
Fuente: Nueva (vocabulario meta de la lección 2) + idea de la guía, pág. 19 (tapar una cara para presentar 하고)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21:12–21:14 (2 min). Audio y coro. La clave: «En español decimos “andar EN bici” y “sacar UNA foto”. En coreano: 자전거를 타요, 사진을 찍어요, con 을/를, como en Básico 1.» Haz un gesto para cada frase (pedalear, columpiarte, sacar una foto, selfie, agarrarte del pasamanos del metro) y que el grupo diga la frase al ver el gesto. Los 3 extra (셀카, 버스, 지하철) van marcados; 지하철역 ya lo conocen. Si alguien dice 버스에 타요: también existe («subirse al bus»), pero por ahora usamos 을/를. Referencia: 한국어 2, lección 2, págs. 17–18 (guía, págs. 19–20).
Imagen: incluida (dibujo de la casa).
Fuente: Nueva (frases meta de la lección 2 + 3 extra)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21:14–21:15 (1 min). Un alumno por palabra lee primero; después modelas tú: 찍어요 [찌거요] (la ㄱ pasa a la sílaba siguiente) · 사진을 [사지늘] · 자전거를 (ㅓ abierta, no «go») · 할아버지 [하라버지] · 지하철을 [지하처를] · 셀카 (ㅋ con aire). No corrijas sílaba por sílaba: di tú la palabra bien y que la repitan.
Fuente: Nueva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21:15–21:16 (1 min). Paso 1, escuchar: audio dos veces. Paso 2, repetir: coro y después dos alumnos. Recién entonces explica (20 s): «하고 es la “y” entre dos personas o cosas. Va pegada a la palabra de antes: 하나 씨하고, 아빠하고. Los adultos llevan 씨, como en la clase 2. Y el 는 va una sola vez, al final del grupo.» Referencia: 한국어 2, lección 2, pág. 18 (guía, pág. 20).
Imagen: incluida (dibujo de la casa).
Fuente: Nueva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21:16–21:17 (1 min). «Buena noticia: 하고 se escribe siempre igual. Da igual si la palabra termina en 받침.» Lee tú dos filas (una, la de 책) y el grupo lee las otras en coro. Sirve también para cosas: 커피하고 빵 (café y pan). Se escribe igual, pero ojo al leer: 책하고 se pronuncia [채카고] (ㄱ + ㅎ = ㅋ); que el grupo lea esa fila después de oírte. Con 선생님하고 o 동생하고, en el habla rápida la ㅎ casi no se oye. Referencia: 한국어 2, lección 2, pág. 19 (guía, pág. 21: 하고 va entre las dos personas).
Fuente: Nueva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21:17–21:18 (1 min). «En español todo es “y”. En coreano: entre dos palabras (personas, cosas), 하고; entre dos frases, 그리고, que ya conocen de Básico 1.» Error típico: 아빠 그리고 엄마. Prueba rápida: «¿café y pan?» → 커피하고 빵. «Ando en bici. Y saco fotos.» → 자전거를 타요. 그리고 사진을 찍어요.
Fuente: Nueva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21:18–21:19 (1 min). Señala las tres columnas: quiénes + 은/는 (de quién hablas), qué + 을/를, y el verbo al final. «El 은/는 va una vez, al final del grupo: 마테오 씨하고 저는.» 저 termina en vocal → 저는. Con 자요 no hay «qué». Lean las 5 en coro. Referencia: 한국어 2, lección 2, pág. 18.
Fuente: Nueva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21:19–21:20 (1 min). Uno por uno: (1) el 는 no va en la primera palabra; (2) 저 termina en vocal → 저는; (3) al escribir, 하고 va pegado, sin espacio. «Hablando no se nota el espacio; escribiendo, sí.»
Fuente: Nueva
Lámina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21:20–21:21 (1 min). Audio y coro. 뭘 = 뭐를 (Básico 1). Pregunta tú y que respondan: «도윤 씨하고 서아는 뭘 해요?» → 그네를 타요. «하나 씨하고 발렌티나 씨는 뭘 해요?» → 자전거를 타요. «마테오 씨는 뭘 해요?» → 사진을 찍어요. En coreano, la respuesta más natural no repite los nombres; la frase completa (도윤 씨하고 서아는 그네를 타요) también está bien. Después, un alumno le pregunta a otro, por nombre. Referencia: 한국어 2, lección 2, pág. 21 (이야기해요; guía, pág. 23).
Imagen: incluida (dibujo de la casa).
Fuente: Nueva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21:21–21:23 (2 min). Llama a cada alumno por su nombre; dice la frase completa; clic para la respuesta y el grupo la repite. Ojo con 동생은 (받침 → 은) y con 저는. Los adultos llevan 씨, como en la clase 2: 하나 씨하고 마테오 씨 (서아 y 콩이, sin 씨). Si alguien se traba, dale el primer trozo: «하나 씨하고 마테오 씨는…». Referencia: 한국어 2, lección 2, págs. 19–20 (연습해요; guía, págs. 21–22).
Imagen: incluida (dibujo de la casa).
Fuente: Nueva (tipo 연습해요)
Lámina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21:23–21:25 (2 min). Lee la frase; responden con el gesto O/X; clic; un alumno dice la frase corregida y el grupo la repite. Son los errores típicos de hispanohablantes: «y» = 그리고, el 는 repetido, 저은, «en bici» = 에서 y «sacar foto» = 해요. Si vas atrasado, solo la 1, la 3 y la 4.
Fuente: Nueva
Lámina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21:25–21:27 (2 min). Paso 4, sobre ti. Un minuto para escribir; eliges 3 frases del chat y sus autores las leen en voz alta. Si hay un error, di la frase bien, sin explicar, y que el autor la repita. 좋아해요 con 을/를 viene de Básico 1 (S8). Si alguien escribe sobre su pareja o sus hijos, perfecto: la estructura es la misma.
Fuente: Nueva
Lámina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21:27–21:30 (3 min). Antes de leer (20 s): «Mateo nos muestra una foto de su familia. Lean las preguntas.» Si no recuerdan 형: hermano mayor (lo dice un hombre). Lee el guion dos veces: la primera lento y la segunda a velocidad normal. GUION (original): «안녕하세요! 저는 마테오예요. 이거 우리 가족 사진이에요. 아빠하고 형은 자전거를 타요. 엄마하고 할머니는 그네를 타요. 하하! 동생하고 강아지는 자요. 그리고 저는… 사진을 찍어요!» Responden en el chat y revelas con clic. En la 2 y la 4 (preguntas con 누가) basta con los nombres; si responden con frase completa, es con 이/가, como la clase pasada: 엄마하고 할머니가 타요. Referencia: 한국어 2, lección 2, pág. 22 (tipo 들어 봐요; guía, pág. 24). Guion propio, no el del libro.
Imagen: incluida (dibujo de la casa).
Fuente: Nueva (tipo 들어 봐요; guion original)
Lámina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21:30–21:33 (3 min). Ronda 1 (1 min 30 s): dices «1-A, ___ 씨!» → el alumno: «하나 씨하고 마테오 씨는 자전거를 타요.» Él elige otra combinación y el nombre del siguiente. Ritmo: 5 segundos por frase. Las combinaciones locas valen (3-C: 콩이하고 고양이는 그네를 타요) y dan risa. Ronda 2 (1 min 30 s): pregunta y respuesta. A pregunta con un número: «할머니하고 서아는 뭘 해요?»; B responde con la letra que quiera: «우유를 마셔요!»; después B pregunta al siguiente. Corrige diciendo la frase bien, sin parar la cadena. Ojo: 5 → 동생하고 저는; 6 → 학생은. En la ronda 2, la fila 5 no se pregunta con 저: se dice «___ 씨하고 동생은 뭘 해요?» (el nombre del compañero) → B: «책을 읽어요.» «동생하고 저는 뭘 해요?» significa «¿qué hacemos mi hermano y yo?»: no tiene sentido como pregunta a otro. Idea de la guía, pág. 20 (문장 만들기 놀이, 활동지 2-3), sin tarjetas.
Fuente: Idea de la guía, pág. 20 (문장 만들기 놀이)
Lámina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21:33–21:34 (1 min). Explica Mi galería y modela L22 con un alumno. Las salas no ven tu pantalla: las instrucciones están en la hoja del alumno («Para la sala»), que se mandó el martes 3. Respaldo: pega en el chat las consignas de las dos salas y pide que abran la hoja antes de entrar (el chat de la sala principal no se ve dentro de las salas). Abre las salas a las 21:35 en parejas (si son impares, un trío: A le pregunta a B, B a C y C a A), con cierre automático a los 20 min y cuenta regresiva de 30 s. De 21:35 a 21:42, Mi galería. Visita cada sala 1–2 min y anota errores para L25. A las 21:42, mensaje a todas las salas: «같이 해요! OX 게임». Referencia: 한국어 2, lección 2, pág. 21 (이야기해요; guía, pág. 23) e idea de la guía, pág. 25 (그림 소개하기).
Imagen: incluida (dibujo de la casa).
Fuente: Nueva (tipo 이야기해요) + idea de la guía, pág. 25 (그림 소개하기)
Lámina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21:33–21:34 (1 min, junto con L21). Modela con un alumno o con una foto tuya: tú eres B («우리 ___하고 ___이에요. ___하고 ___은/는 ___을/를 ___.»). Recuerda: 이에요 tras 받침 (동생이에요) y 예요 tras vocal (고양이예요, 엄마예요). Con 누구예요? se pregunta igual por una persona o por dos.
Fuente: Nueva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21:34–21:35 (1 min), en la sala principal: tu ejemplo de 3 frases con 하고 (una falsa), con tus datos reales; el grupo marca con el gesto la que cree falsa (X) y las otras con O (ya lo practicaron en L6 y L17); explica el punto y abre las salas a las 21:35. En las salas: 21:42–21:52 (10 min). Idea de la guía, pág. 24 (O×게임), adaptada: las frases son sobre su vida real. 딩동댕 y 땡 son los sonidos de acierto y error de los concursos coreanos. Si A dijo una frase con 저, B pide la repetición con el nombre de A: «___ 씨하고 ___은/는 뭘 해요?» (p. ej., ___ 씨하고 동생은 뭘 해요?). En un trío: 2 rondas cada uno; A habla, B y C responden y suma quien acierte. Al visitar las salas, juega una ronda tú también. A las 21:52, mensaje a las salas: «자유 시간! Minuto libre».
Imagen: incluida (dibujo de la casa).
Fuente: Idea de la guía, pág. 24 (O×게임), adaptada a Zoom
Lámina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21:52–21:55 (3 min). Mensaje a las salas a las 21:52: «자유 시간! 1 minuto cada uno». Pasa por la sala más lenta. Con 30 s de cuenta regresiva, todos vuelven a la sala principal a las 21:55.
Fuente: Nueva
Lámina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21:55–21:56 (1 min). Cambia (en el chat o de viva voz) por los 2 o 3 errores reales que anotaste, sin nombres. El grupo repite en coro la forma correcta. Si en las salas no salieron estos, usa los de la lámina.
Fuente: Nueva
Lámina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21:56–21:58 (2 min). Audio, coro dos veces. Después, cada alumno dice la tercera cambiando 친구 por alguien de su vida (우리 엄마하고 저는…, 우리 강아지하고 저는…).
Fuente: Nueva
Lámina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21:58–21:59 (1 min). La hoja ya está en el grupo (se mandó el martes 3). La tarea va por privado, igual que en la clase 2: hay fotos de la familia. Quien no quiera mostrar una foto real dibuja o usa a los personajes. Referencia: 한국어 2, lección 2, pág. 25 (써 봐요; guía, pág. 27).
Fuente: Nueva (tipo 써 봐요)
Lámina 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21:59–22:00 (1 min). «La próxima clase abre con un quiz cortito de 하고, y aprendemos a preguntar “¿cuándo?”: 언제.» (KO) «오늘 정말 잘했어요! 화이팅!» Luego, con una leve inclinación: «감사합니다!» → el grupo: «감사합니다!». A las 22:00, «Finalizar reunión para todos». Después, el mensaje al grupo de WhatsApp (está en el plan).
Fuente: Nueva
Lámina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2 (A1.2) · Semana 3 · Jay Kim (김재희)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2 (A1.2) · Semana 3 · Jay Kim (김재희)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2 (A1.2) · Semana 3 · Jay Kim (김재희)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openxmlformats.org/officeDocument/2006/relationships/image" Target="../media/image5.png"/><Relationship Id="rId18" Type="http://schemas.openxmlformats.org/officeDocument/2006/relationships/image" Target="../media/image9.png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notesSlide" Target="../notesSlides/notesSlide5.xml"/><Relationship Id="rId17" Type="http://schemas.openxmlformats.org/officeDocument/2006/relationships/image" Target="../media/image8.png"/><Relationship Id="rId2" Type="http://schemas.openxmlformats.org/officeDocument/2006/relationships/audio" Target="../media/media1.mp3"/><Relationship Id="rId16" Type="http://schemas.openxmlformats.org/officeDocument/2006/relationships/image" Target="../media/image7.png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slideLayout" Target="../slideLayouts/slideLayout3.xml"/><Relationship Id="rId5" Type="http://schemas.microsoft.com/office/2007/relationships/media" Target="../media/media3.mp3"/><Relationship Id="rId15" Type="http://schemas.openxmlformats.org/officeDocument/2006/relationships/image" Target="../media/image6.png"/><Relationship Id="rId10" Type="http://schemas.openxmlformats.org/officeDocument/2006/relationships/audio" Target="../media/media5.mp3"/><Relationship Id="rId4" Type="http://schemas.openxmlformats.org/officeDocument/2006/relationships/audio" Target="../media/media2.mp3"/><Relationship Id="rId9" Type="http://schemas.microsoft.com/office/2007/relationships/media" Target="../media/media5.mp3"/><Relationship Id="rId1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audio" Target="../media/media9.mp3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13.png"/><Relationship Id="rId3" Type="http://schemas.microsoft.com/office/2007/relationships/media" Target="../media/media7.mp3"/><Relationship Id="rId21" Type="http://schemas.openxmlformats.org/officeDocument/2006/relationships/image" Target="../media/image16.png"/><Relationship Id="rId7" Type="http://schemas.microsoft.com/office/2007/relationships/media" Target="../media/media9.mp3"/><Relationship Id="rId12" Type="http://schemas.openxmlformats.org/officeDocument/2006/relationships/audio" Target="../media/media11.mp3"/><Relationship Id="rId17" Type="http://schemas.openxmlformats.org/officeDocument/2006/relationships/image" Target="../media/image12.png"/><Relationship Id="rId2" Type="http://schemas.openxmlformats.org/officeDocument/2006/relationships/audio" Target="../media/media6.mp3"/><Relationship Id="rId16" Type="http://schemas.openxmlformats.org/officeDocument/2006/relationships/image" Target="../media/image4.png"/><Relationship Id="rId20" Type="http://schemas.openxmlformats.org/officeDocument/2006/relationships/image" Target="../media/image15.png"/><Relationship Id="rId1" Type="http://schemas.microsoft.com/office/2007/relationships/media" Target="../media/media6.mp3"/><Relationship Id="rId6" Type="http://schemas.openxmlformats.org/officeDocument/2006/relationships/audio" Target="../media/media8.mp3"/><Relationship Id="rId11" Type="http://schemas.microsoft.com/office/2007/relationships/media" Target="../media/media11.mp3"/><Relationship Id="rId5" Type="http://schemas.microsoft.com/office/2007/relationships/media" Target="../media/media8.mp3"/><Relationship Id="rId15" Type="http://schemas.openxmlformats.org/officeDocument/2006/relationships/image" Target="../media/image11.png"/><Relationship Id="rId10" Type="http://schemas.openxmlformats.org/officeDocument/2006/relationships/audio" Target="../media/media10.mp3"/><Relationship Id="rId19" Type="http://schemas.openxmlformats.org/officeDocument/2006/relationships/image" Target="../media/image14.png"/><Relationship Id="rId4" Type="http://schemas.openxmlformats.org/officeDocument/2006/relationships/audio" Target="../media/media7.mp3"/><Relationship Id="rId9" Type="http://schemas.microsoft.com/office/2007/relationships/media" Target="../media/media10.mp3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audio" Target="../media/media15.mp3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18.png"/><Relationship Id="rId3" Type="http://schemas.microsoft.com/office/2007/relationships/media" Target="../media/media13.mp3"/><Relationship Id="rId21" Type="http://schemas.openxmlformats.org/officeDocument/2006/relationships/image" Target="../media/image21.png"/><Relationship Id="rId7" Type="http://schemas.microsoft.com/office/2007/relationships/media" Target="../media/media15.mp3"/><Relationship Id="rId12" Type="http://schemas.openxmlformats.org/officeDocument/2006/relationships/audio" Target="../media/media17.mp3"/><Relationship Id="rId17" Type="http://schemas.openxmlformats.org/officeDocument/2006/relationships/image" Target="../media/image17.png"/><Relationship Id="rId2" Type="http://schemas.openxmlformats.org/officeDocument/2006/relationships/audio" Target="../media/media12.mp3"/><Relationship Id="rId16" Type="http://schemas.openxmlformats.org/officeDocument/2006/relationships/image" Target="../media/image4.png"/><Relationship Id="rId20" Type="http://schemas.openxmlformats.org/officeDocument/2006/relationships/image" Target="../media/image20.png"/><Relationship Id="rId1" Type="http://schemas.microsoft.com/office/2007/relationships/media" Target="../media/media12.mp3"/><Relationship Id="rId6" Type="http://schemas.openxmlformats.org/officeDocument/2006/relationships/audio" Target="../media/media14.mp3"/><Relationship Id="rId11" Type="http://schemas.microsoft.com/office/2007/relationships/media" Target="../media/media17.mp3"/><Relationship Id="rId5" Type="http://schemas.microsoft.com/office/2007/relationships/media" Target="../media/media14.mp3"/><Relationship Id="rId15" Type="http://schemas.openxmlformats.org/officeDocument/2006/relationships/image" Target="../media/image14.png"/><Relationship Id="rId10" Type="http://schemas.openxmlformats.org/officeDocument/2006/relationships/audio" Target="../media/media16.mp3"/><Relationship Id="rId19" Type="http://schemas.openxmlformats.org/officeDocument/2006/relationships/image" Target="../media/image19.png"/><Relationship Id="rId4" Type="http://schemas.openxmlformats.org/officeDocument/2006/relationships/audio" Target="../media/media13.mp3"/><Relationship Id="rId9" Type="http://schemas.microsoft.com/office/2007/relationships/media" Target="../media/media16.mp3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audio" Target="../media/media22.mp3"/><Relationship Id="rId3" Type="http://schemas.microsoft.com/office/2007/relationships/media" Target="../media/media20.mp3"/><Relationship Id="rId7" Type="http://schemas.microsoft.com/office/2007/relationships/media" Target="../media/media22.mp3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6" Type="http://schemas.openxmlformats.org/officeDocument/2006/relationships/audio" Target="../media/media21.mp3"/><Relationship Id="rId11" Type="http://schemas.openxmlformats.org/officeDocument/2006/relationships/image" Target="../media/image4.png"/><Relationship Id="rId5" Type="http://schemas.microsoft.com/office/2007/relationships/media" Target="../media/media21.mp3"/><Relationship Id="rId10" Type="http://schemas.openxmlformats.org/officeDocument/2006/relationships/notesSlide" Target="../notesSlides/notesSlide22.xml"/><Relationship Id="rId4" Type="http://schemas.openxmlformats.org/officeDocument/2006/relationships/audio" Target="../media/media20.mp3"/><Relationship Id="rId9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3" Type="http://schemas.microsoft.com/office/2007/relationships/media" Target="../media/media18.mp3"/><Relationship Id="rId7" Type="http://schemas.openxmlformats.org/officeDocument/2006/relationships/slideLayout" Target="../slideLayouts/slideLayout3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audio" Target="../media/media23.mp3"/><Relationship Id="rId5" Type="http://schemas.microsoft.com/office/2007/relationships/media" Target="../media/media23.mp3"/><Relationship Id="rId4" Type="http://schemas.openxmlformats.org/officeDocument/2006/relationships/audio" Target="../media/media18.mp3"/><Relationship Id="rId9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55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아빠하고 엄마는 자전거를 타요</a:t>
            </a:r>
            <a:endParaRPr lang="en-US" sz="55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Básico 2 · Clase 3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Básico 2 (A1.2) · Lección 2 del libro 한국어 </a:t>
            </a:r>
            <a:r>
              <a:rPr lang="en-US" sz="1900" dirty="0">
                <a:solidFill>
                  <a:srgbClr val="E8B84B"/>
                </a:solidFill>
              </a:rPr>
              <a:t>2 · «y» entre dos personas: N</a:t>
            </a: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r>
              <a:rPr lang="en-US" sz="1900" dirty="0">
                <a:solidFill>
                  <a:srgbClr val="E8B84B"/>
                </a:solidFill>
              </a:rPr>
              <a:t>N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오늘도 화이팅</a:t>
            </a:r>
            <a:r>
              <a:rPr lang="en-US" sz="1900" dirty="0">
                <a:solidFill>
                  <a:srgbClr val="E8B84B"/>
                </a:solidFill>
              </a:rPr>
              <a:t>!</a:t>
            </a:r>
            <a:endParaRPr lang="en-US" sz="2200" dirty="0"/>
          </a:p>
          <a:p>
            <a:pPr marL="0" indent="0" eaLnBrk="1">
              <a:buNone/>
            </a:pPr>
            <a:r>
              <a:rPr lang="en-US" sz="1900" dirty="0">
                <a:solidFill>
                  <a:srgbClr val="E8B84B"/>
                </a:solidFill>
              </a:rPr>
              <a:t>Miércoles 4 de noviembre de 2026 · 21:00 (hora de Chile)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Jay Kim · 김재희 선생님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퀴즈  </a:t>
            </a:r>
            <a:r>
              <a:rPr lang="en-US" sz="3000" b="1" dirty="0">
                <a:solidFill>
                  <a:srgbClr val="003478"/>
                </a:solidFill>
              </a:rPr>
              <a:t>Quiz de la clase 2</a:t>
            </a:r>
            <a:r>
              <a:rPr lang="en-US" sz="1500" b="1" i="1" dirty="0">
                <a:solidFill>
                  <a:srgbClr val="8A8DA0"/>
                </a:solidFill>
              </a:rPr>
              <a:t>   Class 2 quiz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Lección 1 · 누가 </a:t>
            </a:r>
            <a:r>
              <a:rPr lang="en-US" sz="1800" i="1" dirty="0">
                <a:solidFill>
                  <a:srgbClr val="4236F6"/>
                </a:solidFill>
              </a:rPr>
              <a:t>+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· Responde en voz alta o en el chat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¿Cómo se dice «¿Quién canta?»?</a:t>
            </a:r>
            <a:endParaRPr lang="en-US" sz="2400" dirty="0"/>
          </a:p>
        </p:txBody>
      </p:sp>
      <p:sp>
        <p:nvSpPr>
          <p:cNvPr id="7" name="rev_0_caja"/>
          <p:cNvSpPr/>
          <p:nvPr/>
        </p:nvSpPr>
        <p:spPr>
          <a:xfrm>
            <a:off x="7498080" y="2002536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0_txt"/>
          <p:cNvSpPr txBox="1"/>
          <p:nvPr/>
        </p:nvSpPr>
        <p:spPr>
          <a:xfrm>
            <a:off x="7589520" y="2002536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노래해요</a:t>
            </a: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수영해요</a:t>
            </a:r>
            <a:r>
              <a:rPr lang="en-US" sz="2400" dirty="0">
                <a:solidFill>
                  <a:srgbClr val="14142B"/>
                </a:solidFill>
              </a:rPr>
              <a:t>. (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2400" dirty="0">
                <a:solidFill>
                  <a:srgbClr val="14142B"/>
                </a:solidFill>
              </a:rPr>
              <a:t>o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</p:txBody>
      </p:sp>
      <p:sp>
        <p:nvSpPr>
          <p:cNvPr id="12" name="rev_1_caja"/>
          <p:cNvSpPr/>
          <p:nvPr/>
        </p:nvSpPr>
        <p:spPr>
          <a:xfrm>
            <a:off x="7498080" y="2869387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_txt"/>
          <p:cNvSpPr txBox="1"/>
          <p:nvPr/>
        </p:nvSpPr>
        <p:spPr>
          <a:xfrm>
            <a:off x="7589520" y="2869387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씨가 수영해요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전화해요</a:t>
            </a:r>
            <a:r>
              <a:rPr lang="en-US" sz="2400" dirty="0">
                <a:solidFill>
                  <a:srgbClr val="14142B"/>
                </a:solidFill>
              </a:rPr>
              <a:t>. (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2400" dirty="0">
                <a:solidFill>
                  <a:srgbClr val="14142B"/>
                </a:solidFill>
              </a:rPr>
              <a:t>o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</p:txBody>
      </p:sp>
      <p:sp>
        <p:nvSpPr>
          <p:cNvPr id="17" name="rev_2_caja"/>
          <p:cNvSpPr/>
          <p:nvPr/>
        </p:nvSpPr>
        <p:spPr>
          <a:xfrm>
            <a:off x="7498080" y="3736238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_txt"/>
          <p:cNvSpPr txBox="1"/>
          <p:nvPr/>
        </p:nvSpPr>
        <p:spPr>
          <a:xfrm>
            <a:off x="7589520" y="3736238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선생님이 전화해요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공부해요</a:t>
            </a:r>
            <a:r>
              <a:rPr lang="en-US" sz="2400" dirty="0">
                <a:solidFill>
                  <a:srgbClr val="14142B"/>
                </a:solidFill>
              </a:rPr>
              <a:t>? (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</p:txBody>
      </p:sp>
      <p:sp>
        <p:nvSpPr>
          <p:cNvPr id="22" name="rev_3_caja"/>
          <p:cNvSpPr/>
          <p:nvPr/>
        </p:nvSpPr>
        <p:spPr>
          <a:xfrm>
            <a:off x="7498080" y="4603090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_txt"/>
          <p:cNvSpPr txBox="1"/>
          <p:nvPr/>
        </p:nvSpPr>
        <p:spPr>
          <a:xfrm>
            <a:off x="7589520" y="4603090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 씨가 공부해요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Lee en voz alta: 일어나요</a:t>
            </a:r>
            <a:endParaRPr lang="en-US" sz="2400" dirty="0"/>
          </a:p>
        </p:txBody>
      </p:sp>
      <p:sp>
        <p:nvSpPr>
          <p:cNvPr id="27" name="rev_4_caja"/>
          <p:cNvSpPr/>
          <p:nvPr/>
        </p:nvSpPr>
        <p:spPr>
          <a:xfrm>
            <a:off x="7498080" y="5469941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4_txt"/>
          <p:cNvSpPr txBox="1"/>
          <p:nvPr/>
        </p:nvSpPr>
        <p:spPr>
          <a:xfrm>
            <a:off x="7589520" y="5469941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[이러나요</a:t>
            </a:r>
            <a:r>
              <a:rPr lang="en-US" sz="2200" b="1" dirty="0">
                <a:solidFill>
                  <a:srgbClr val="FFFFFF"/>
                </a:solidFill>
              </a:rPr>
              <a:t>]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De una persona a dos</a:t>
            </a:r>
            <a:r>
              <a:rPr lang="en-US" sz="1500" b="1" i="1" dirty="0">
                <a:solidFill>
                  <a:srgbClr val="8A8DA0"/>
                </a:solidFill>
              </a:rPr>
              <a:t>   From one person to two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Hoy: 하고 </a:t>
            </a:r>
            <a:r>
              <a:rPr lang="en-US" sz="1800" i="1" dirty="0">
                <a:solidFill>
                  <a:srgbClr val="4236F6"/>
                </a:solidFill>
              </a:rPr>
              <a:t>= y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La clase pasada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수영해요</a:t>
            </a:r>
            <a:r>
              <a:rPr lang="en-US" sz="5000" b="1" dirty="0">
                <a:solidFill>
                  <a:srgbClr val="4236F6"/>
                </a:solidFill>
              </a:rPr>
              <a:t>?</a:t>
            </a:r>
            <a:endParaRPr lang="en-US" sz="50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씨가 수영해요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Una persona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Hoy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씨하고 마테오 씨</a:t>
            </a:r>
            <a:endParaRPr lang="en-US" sz="35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2000" dirty="0">
                <a:solidFill>
                  <a:srgbClr val="14142B"/>
                </a:solidFill>
              </a:rPr>
              <a:t>y Mateo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Dos personas juntas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여기는 어디예요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Un día en el parque</a:t>
            </a:r>
            <a:r>
              <a:rPr lang="en-US" sz="1500" b="1" i="1" dirty="0">
                <a:solidFill>
                  <a:srgbClr val="8A8DA0"/>
                </a:solidFill>
              </a:rPr>
              <a:t>   A day at the park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9dbc17ce311162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여기는 한강</a:t>
            </a:r>
            <a:endParaRPr lang="en-US" sz="5700" dirty="0"/>
          </a:p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공원이에요</a:t>
            </a:r>
            <a:r>
              <a:rPr lang="en-US" sz="5700" b="1" dirty="0">
                <a:solidFill>
                  <a:srgbClr val="4236F6"/>
                </a:solidFill>
              </a:rPr>
              <a:t>.</a:t>
            </a:r>
            <a:endParaRPr lang="en-US" sz="57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Este es el parque del río Han.</a:t>
            </a:r>
            <a:endParaRPr lang="en-US" sz="24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903720" y="4160520"/>
            <a:ext cx="384048" cy="384048"/>
          </a:xfrm>
          <a:prstGeom prst="rect">
            <a:avLst/>
          </a:prstGeom>
        </p:spPr>
      </p:pic>
      <p:sp>
        <p:nvSpPr>
          <p:cNvPr id="8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Mira la imagen: ¿quiénes son? ¿qué hacen?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듣고 따라 하세요  </a:t>
            </a:r>
            <a:r>
              <a:rPr lang="en-US" sz="3000" b="1" dirty="0">
                <a:solidFill>
                  <a:srgbClr val="003478"/>
                </a:solidFill>
              </a:rPr>
              <a:t>¿Qué hacen?</a:t>
            </a:r>
            <a:r>
              <a:rPr lang="en-US" sz="1500" b="1" i="1" dirty="0">
                <a:solidFill>
                  <a:srgbClr val="8A8DA0"/>
                </a:solidFill>
              </a:rPr>
              <a:t>   What are they doing?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Escucha y repite: ¿qué palabra se repite?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32378d4efb08c2e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여기는 한강 공원이에요</a:t>
            </a:r>
            <a:r>
              <a:rPr lang="en-US" sz="1600" b="1" dirty="0">
                <a:solidFill>
                  <a:srgbClr val="4236F6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Este es el parque del río Han.</a:t>
            </a:r>
            <a:endParaRPr lang="en-US" sz="14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a36b46ac0e902fe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씨는 사진을 찍어요</a:t>
            </a:r>
            <a:r>
              <a:rPr lang="en-US" sz="1600" b="1" dirty="0">
                <a:solidFill>
                  <a:srgbClr val="4236F6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4322064" y="338602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[마테오 씨는 사지늘 찌거요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395216" y="366034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Mateo saca fotos.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5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6" name="dibujo_2" descr="C:\Users\Chingu\AppData\Local\Temp\claude\C--Users-Chingu-Desktop-ACADEMIASEULWEB\d4111e1b-5523-44ea-97b2-b1a1d9545b9e\scratchpad\decks\cache\img_3168189183d827b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씨하고 서아는 그네를 타요</a:t>
            </a:r>
            <a:r>
              <a:rPr lang="en-US" sz="1600" b="1" dirty="0">
                <a:solidFill>
                  <a:srgbClr val="4236F6"/>
                </a:solidFill>
              </a:rPr>
              <a:t>.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8168640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</a:t>
            </a:r>
            <a:r>
              <a:rPr lang="en-US" sz="1600" dirty="0">
                <a:solidFill>
                  <a:srgbClr val="5C5F6B"/>
                </a:solidFill>
              </a:rPr>
              <a:t>y </a:t>
            </a: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 </a:t>
            </a:r>
            <a:r>
              <a:rPr lang="en-US" sz="1600" dirty="0">
                <a:solidFill>
                  <a:srgbClr val="5C5F6B"/>
                </a:solidFill>
              </a:rPr>
              <a:t>se columpian.</a:t>
            </a:r>
            <a:endParaRPr lang="en-US" sz="1600" dirty="0"/>
          </a:p>
        </p:txBody>
      </p:sp>
      <p:pic>
        <p:nvPicPr>
          <p:cNvPr id="19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0" name="card_3"/>
          <p:cNvSpPr/>
          <p:nvPr/>
        </p:nvSpPr>
        <p:spPr>
          <a:xfrm>
            <a:off x="2435352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1" name="dibujo_3" descr="C:\Users\Chingu\AppData\Local\Temp\claude\C--Users-Chingu-Desktop-ACADEMIASEULWEB\d4111e1b-5523-44ea-97b2-b1a1d9545b9e\scratchpad\decks\cache\img_e9166edad714963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9474" y="4247388"/>
            <a:ext cx="976579" cy="976579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2435352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씨하고 발렌티나 씨는 자전거를 타요</a:t>
            </a:r>
            <a:r>
              <a:rPr lang="en-US" sz="1600" b="1" dirty="0">
                <a:solidFill>
                  <a:srgbClr val="4236F6"/>
                </a:solidFill>
              </a:rPr>
              <a:t>.</a:t>
            </a:r>
            <a:endParaRPr lang="en-US" sz="1600" dirty="0"/>
          </a:p>
        </p:txBody>
      </p:sp>
      <p:sp>
        <p:nvSpPr>
          <p:cNvPr id="23" name="Text 14"/>
          <p:cNvSpPr txBox="1"/>
          <p:nvPr/>
        </p:nvSpPr>
        <p:spPr>
          <a:xfrm>
            <a:off x="2508504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1400" dirty="0">
                <a:solidFill>
                  <a:srgbClr val="5C5F6B"/>
                </a:solidFill>
              </a:rPr>
              <a:t>y Valentina andan en bicicleta.</a:t>
            </a:r>
            <a:endParaRPr lang="en-US" sz="1400" dirty="0"/>
          </a:p>
        </p:txBody>
      </p:sp>
      <p:pic>
        <p:nvPicPr>
          <p:cNvPr id="24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5577840" y="4210812"/>
            <a:ext cx="310896" cy="310896"/>
          </a:xfrm>
          <a:prstGeom prst="rect">
            <a:avLst/>
          </a:prstGeom>
        </p:spPr>
      </p:pic>
      <p:sp>
        <p:nvSpPr>
          <p:cNvPr id="25" name="card_4"/>
          <p:cNvSpPr/>
          <p:nvPr/>
        </p:nvSpPr>
        <p:spPr>
          <a:xfrm>
            <a:off x="6208776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dibujo_4" descr="C:\Users\Chingu\AppData\Local\Temp\claude\C--Users-Chingu-Desktop-ACADEMIASEULWEB\d4111e1b-5523-44ea-97b2-b1a1d9545b9e\scratchpad\decks\cache\img_189cbec6b36d2e3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2898" y="4247388"/>
            <a:ext cx="976579" cy="976579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208776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콩이는</a:t>
            </a:r>
            <a:r>
              <a:rPr lang="en-US" sz="1600" b="1" dirty="0">
                <a:solidFill>
                  <a:srgbClr val="4236F6"/>
                </a:solidFill>
              </a:rPr>
              <a:t>…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자요</a:t>
            </a:r>
            <a:r>
              <a:rPr lang="en-US" sz="1600" b="1" dirty="0">
                <a:solidFill>
                  <a:srgbClr val="4236F6"/>
                </a:solidFill>
              </a:rPr>
              <a:t>!</a:t>
            </a:r>
            <a:endParaRPr lang="en-US" sz="1600" dirty="0"/>
          </a:p>
        </p:txBody>
      </p:sp>
      <p:sp>
        <p:nvSpPr>
          <p:cNvPr id="28" name="Text 17"/>
          <p:cNvSpPr txBox="1"/>
          <p:nvPr/>
        </p:nvSpPr>
        <p:spPr>
          <a:xfrm>
            <a:off x="6281928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콩이</a:t>
            </a:r>
            <a:r>
              <a:rPr lang="en-US" sz="1600" dirty="0">
                <a:solidFill>
                  <a:srgbClr val="5C5F6B"/>
                </a:solidFill>
              </a:rPr>
              <a:t>… ¡duerme!</a:t>
            </a:r>
            <a:endParaRPr lang="en-US" sz="1600" dirty="0"/>
          </a:p>
        </p:txBody>
      </p:sp>
      <p:pic>
        <p:nvPicPr>
          <p:cNvPr id="29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9351264" y="4210812"/>
            <a:ext cx="310896" cy="310896"/>
          </a:xfrm>
          <a:prstGeom prst="rect">
            <a:avLst/>
          </a:prstGeom>
        </p:spPr>
      </p:pic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OX 퀴즈  </a:t>
            </a:r>
            <a:r>
              <a:rPr lang="en-US" sz="3000" b="1" dirty="0">
                <a:solidFill>
                  <a:srgbClr val="003478"/>
                </a:solidFill>
              </a:rPr>
              <a:t>¿O o X?</a:t>
            </a:r>
            <a:r>
              <a:rPr lang="en-US" sz="1500" b="1" i="1" dirty="0">
                <a:solidFill>
                  <a:srgbClr val="8A8DA0"/>
                </a:solidFill>
              </a:rPr>
              <a:t>   True or false?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514f4959b4bf4d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Brazos en círculo = O · brazos cruzados = X · Mira la escena y responde con los brazos</a:t>
            </a:r>
            <a:endParaRPr lang="en-US" sz="1800" dirty="0"/>
          </a:p>
        </p:txBody>
      </p:sp>
      <p:sp>
        <p:nvSpPr>
          <p:cNvPr id="5" name="num_0"/>
          <p:cNvSpPr/>
          <p:nvPr/>
        </p:nvSpPr>
        <p:spPr>
          <a:xfrm>
            <a:off x="548640" y="257495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574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369210"/>
            <a:ext cx="27355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씨하고 발렌티나 씨는 자전거를 타요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8" name="rev_5_caja"/>
          <p:cNvSpPr/>
          <p:nvPr/>
        </p:nvSpPr>
        <p:spPr>
          <a:xfrm>
            <a:off x="4152839" y="2405786"/>
            <a:ext cx="332695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9" name="rev_5_txt"/>
          <p:cNvSpPr txBox="1"/>
          <p:nvPr/>
        </p:nvSpPr>
        <p:spPr>
          <a:xfrm>
            <a:off x="4244279" y="2405786"/>
            <a:ext cx="314407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num_1"/>
          <p:cNvSpPr/>
          <p:nvPr/>
        </p:nvSpPr>
        <p:spPr>
          <a:xfrm>
            <a:off x="548640" y="357164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5716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3365906"/>
            <a:ext cx="27355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씨하고 서아는 사진을 찍어요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</p:txBody>
      </p:sp>
      <p:sp>
        <p:nvSpPr>
          <p:cNvPr id="13" name="rev_6_caja"/>
          <p:cNvSpPr/>
          <p:nvPr/>
        </p:nvSpPr>
        <p:spPr>
          <a:xfrm>
            <a:off x="4152839" y="3402482"/>
            <a:ext cx="332695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4" name="rev_6_txt"/>
          <p:cNvSpPr txBox="1"/>
          <p:nvPr/>
        </p:nvSpPr>
        <p:spPr>
          <a:xfrm>
            <a:off x="4244279" y="3402482"/>
            <a:ext cx="314407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· 그네를 타요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5" name="num_2"/>
          <p:cNvSpPr/>
          <p:nvPr/>
        </p:nvSpPr>
        <p:spPr>
          <a:xfrm>
            <a:off x="548640" y="456834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568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4362602"/>
            <a:ext cx="27355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콩이는 자전거를 타요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8" name="rev_7_caja"/>
          <p:cNvSpPr/>
          <p:nvPr/>
        </p:nvSpPr>
        <p:spPr>
          <a:xfrm>
            <a:off x="4152839" y="4399178"/>
            <a:ext cx="332695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9" name="rev_7_txt"/>
          <p:cNvSpPr txBox="1"/>
          <p:nvPr/>
        </p:nvSpPr>
        <p:spPr>
          <a:xfrm>
            <a:off x="4244279" y="4399178"/>
            <a:ext cx="314407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· 자요</a:t>
            </a: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 </a:t>
            </a:r>
            <a:r>
              <a:rPr lang="en-US" sz="3000" b="1" dirty="0">
                <a:solidFill>
                  <a:srgbClr val="003478"/>
                </a:solidFill>
              </a:rPr>
              <a:t>Palabras nuevas</a:t>
            </a:r>
            <a:r>
              <a:rPr lang="en-US" sz="1500" b="1" i="1" dirty="0">
                <a:solidFill>
                  <a:srgbClr val="8A8DA0"/>
                </a:solidFill>
              </a:rPr>
              <a:t>   New words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Escucha · repite · mira la imagen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5b359c9b6a5cf6b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foto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13253966338cb36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자전거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4395216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bicicleta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img_46bfc36c6b25480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그네</a:t>
            </a:r>
            <a:endParaRPr lang="en-US" sz="2500" dirty="0"/>
          </a:p>
        </p:txBody>
      </p:sp>
      <p:sp>
        <p:nvSpPr>
          <p:cNvPr id="17" name="Text 10"/>
          <p:cNvSpPr txBox="1"/>
          <p:nvPr/>
        </p:nvSpPr>
        <p:spPr>
          <a:xfrm>
            <a:off x="8168640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columpio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548640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img_20dd55266f990c2b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32762" y="4247388"/>
            <a:ext cx="976579" cy="976579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48640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찍어요</a:t>
            </a:r>
            <a:endParaRPr lang="en-US" sz="2500" dirty="0"/>
          </a:p>
        </p:txBody>
      </p:sp>
      <p:sp>
        <p:nvSpPr>
          <p:cNvPr id="22" name="Text 13"/>
          <p:cNvSpPr txBox="1"/>
          <p:nvPr/>
        </p:nvSpPr>
        <p:spPr>
          <a:xfrm>
            <a:off x="548640" y="564916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[찌거요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621792" y="592348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saca (fotos) · 찍다</a:t>
            </a:r>
            <a:endParaRPr lang="en-US" sz="1600" dirty="0"/>
          </a:p>
        </p:txBody>
      </p:sp>
      <p:pic>
        <p:nvPicPr>
          <p:cNvPr id="29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4210812"/>
            <a:ext cx="310896" cy="310896"/>
          </a:xfrm>
          <a:prstGeom prst="rect">
            <a:avLst/>
          </a:prstGeom>
        </p:spPr>
      </p:pic>
      <p:sp>
        <p:nvSpPr>
          <p:cNvPr id="25" name="card_4"/>
          <p:cNvSpPr/>
          <p:nvPr/>
        </p:nvSpPr>
        <p:spPr>
          <a:xfrm>
            <a:off x="4322064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dibujo_4" descr="C:\Users\Chingu\AppData\Local\Temp\claude\C--Users-Chingu-Desktop-ACADEMIASEULWEB\d4111e1b-5523-44ea-97b2-b1a1d9545b9e\scratchpad\decks\cache\img_4a9cdb1d6415966b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06186" y="4247388"/>
            <a:ext cx="976579" cy="976579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4322064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타요</a:t>
            </a:r>
            <a:endParaRPr lang="en-US" sz="2500" dirty="0"/>
          </a:p>
        </p:txBody>
      </p:sp>
      <p:sp>
        <p:nvSpPr>
          <p:cNvPr id="28" name="Text 17"/>
          <p:cNvSpPr txBox="1"/>
          <p:nvPr/>
        </p:nvSpPr>
        <p:spPr>
          <a:xfrm>
            <a:off x="4395216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anda en, va en, se sube a · 타다</a:t>
            </a:r>
            <a:endParaRPr lang="en-US" sz="1400" dirty="0"/>
          </a:p>
        </p:txBody>
      </p:sp>
      <p:pic>
        <p:nvPicPr>
          <p:cNvPr id="34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4210812"/>
            <a:ext cx="310896" cy="310896"/>
          </a:xfrm>
          <a:prstGeom prst="rect">
            <a:avLst/>
          </a:prstGeom>
        </p:spPr>
      </p:pic>
      <p:sp>
        <p:nvSpPr>
          <p:cNvPr id="30" name="card_5"/>
          <p:cNvSpPr/>
          <p:nvPr/>
        </p:nvSpPr>
        <p:spPr>
          <a:xfrm>
            <a:off x="8095488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1" name="dibujo_5" descr="C:\Users\Chingu\AppData\Local\Temp\claude\C--Users-Chingu-Desktop-ACADEMIASEULWEB\d4111e1b-5523-44ea-97b2-b1a1d9545b9e\scratchpad\decks\cache\img_c177a0b6c5b02087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79610" y="4247388"/>
            <a:ext cx="976579" cy="976579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095488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</a:t>
            </a:r>
            <a:endParaRPr lang="en-US" sz="2500" dirty="0"/>
          </a:p>
        </p:txBody>
      </p:sp>
      <p:sp>
        <p:nvSpPr>
          <p:cNvPr id="33" name="Text 20"/>
          <p:cNvSpPr txBox="1"/>
          <p:nvPr/>
        </p:nvSpPr>
        <p:spPr>
          <a:xfrm>
            <a:off x="8168640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y (entre dos personas o cosas)</a:t>
            </a:r>
            <a:endParaRPr lang="en-US" sz="1400" dirty="0"/>
          </a:p>
        </p:txBody>
      </p:sp>
      <p:pic>
        <p:nvPicPr>
          <p:cNvPr id="24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 </a:t>
            </a:r>
            <a:r>
              <a:rPr lang="ko-KR" altLang="en-US" sz="26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Frases con 타요 </a:t>
            </a:r>
            <a:r>
              <a:rPr lang="en-US" sz="2600" b="1" dirty="0">
                <a:solidFill>
                  <a:srgbClr val="003478"/>
                </a:solidFill>
              </a:rPr>
              <a:t>y </a:t>
            </a:r>
            <a:r>
              <a:rPr lang="ko-KR" altLang="en-US" sz="26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찍어요</a:t>
            </a:r>
            <a:r>
              <a:rPr lang="ko-KR" altLang="en-US" sz="1500" b="1" i="1" dirty="0">
                <a:solidFill>
                  <a:srgbClr val="8A8DA0"/>
                </a:solidFill>
              </a:rPr>
              <a:t>   Phrases with 타요 and 찍어요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Las 3 de abajo son extra: útiles para tu vida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e7afb3d35a97781b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사진을 찍어요</a:t>
            </a:r>
            <a:r>
              <a:rPr lang="en-US" sz="2500" b="1" dirty="0">
                <a:solidFill>
                  <a:srgbClr val="4236F6"/>
                </a:solidFill>
              </a:rPr>
              <a:t>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602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[사지늘 찌거요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366034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Saco una foto.</a:t>
            </a:r>
            <a:endParaRPr lang="en-US" sz="1600" dirty="0"/>
          </a:p>
        </p:txBody>
      </p:sp>
      <p:pic>
        <p:nvPicPr>
          <p:cNvPr id="9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10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1" name="dibujo_1" descr="C:\Users\Chingu\AppData\Local\Temp\claude\C--Users-Chingu-Desktop-ACADEMIASEULWEB\d4111e1b-5523-44ea-97b2-b1a1d9545b9e\scratchpad\decks\cache\img_0cb11e70341f254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자전거를 타요</a:t>
            </a:r>
            <a:r>
              <a:rPr lang="en-US" sz="2500" b="1" dirty="0">
                <a:solidFill>
                  <a:srgbClr val="4236F6"/>
                </a:solidFill>
              </a:rPr>
              <a:t>.</a:t>
            </a:r>
            <a:endParaRPr lang="en-US" sz="2500" dirty="0"/>
          </a:p>
        </p:txBody>
      </p:sp>
      <p:sp>
        <p:nvSpPr>
          <p:cNvPr id="13" name="Text 8"/>
          <p:cNvSpPr txBox="1"/>
          <p:nvPr/>
        </p:nvSpPr>
        <p:spPr>
          <a:xfrm>
            <a:off x="4395216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Ando en bicicleta.</a:t>
            </a:r>
            <a:endParaRPr lang="en-US" sz="1600" dirty="0"/>
          </a:p>
        </p:txBody>
      </p:sp>
      <p:pic>
        <p:nvPicPr>
          <p:cNvPr id="14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5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6" name="dibujo_2" descr="C:\Users\Chingu\AppData\Local\Temp\claude\C--Users-Chingu-Desktop-ACADEMIASEULWEB\d4111e1b-5523-44ea-97b2-b1a1d9545b9e\scratchpad\decks\cache\img_494018454be2c6e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그네를 타요</a:t>
            </a:r>
            <a:r>
              <a:rPr lang="en-US" sz="2500" b="1" dirty="0">
                <a:solidFill>
                  <a:srgbClr val="4236F6"/>
                </a:solidFill>
              </a:rPr>
              <a:t>.</a:t>
            </a:r>
            <a:endParaRPr lang="en-US" sz="2500" dirty="0"/>
          </a:p>
        </p:txBody>
      </p:sp>
      <p:sp>
        <p:nvSpPr>
          <p:cNvPr id="18" name="Text 11"/>
          <p:cNvSpPr txBox="1"/>
          <p:nvPr/>
        </p:nvSpPr>
        <p:spPr>
          <a:xfrm>
            <a:off x="8168640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Me columpio.</a:t>
            </a:r>
            <a:endParaRPr lang="en-US" sz="1600" dirty="0"/>
          </a:p>
        </p:txBody>
      </p:sp>
      <p:pic>
        <p:nvPicPr>
          <p:cNvPr id="19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0" name="card_3"/>
          <p:cNvSpPr/>
          <p:nvPr/>
        </p:nvSpPr>
        <p:spPr>
          <a:xfrm>
            <a:off x="548640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1" name="dibujo_3" descr="C:\Users\Chingu\AppData\Local\Temp\claude\C--Users-Chingu-Desktop-ACADEMIASEULWEB\d4111e1b-5523-44ea-97b2-b1a1d9545b9e\scratchpad\decks\cache\img_0147e269dc7049f5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32762" y="4247388"/>
            <a:ext cx="976579" cy="976579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48640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셀카를 찍어요</a:t>
            </a:r>
            <a:r>
              <a:rPr lang="en-US" sz="2500" b="1" dirty="0">
                <a:solidFill>
                  <a:srgbClr val="4236F6"/>
                </a:solidFill>
              </a:rPr>
              <a:t>.</a:t>
            </a:r>
            <a:endParaRPr lang="en-US" sz="2500" dirty="0"/>
          </a:p>
        </p:txBody>
      </p:sp>
      <p:sp>
        <p:nvSpPr>
          <p:cNvPr id="23" name="Text 14"/>
          <p:cNvSpPr txBox="1"/>
          <p:nvPr/>
        </p:nvSpPr>
        <p:spPr>
          <a:xfrm>
            <a:off x="621792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500" dirty="0">
                <a:solidFill>
                  <a:srgbClr val="5C5F6B"/>
                </a:solidFill>
              </a:rPr>
              <a:t>extra · Me saco una selfie.</a:t>
            </a:r>
            <a:endParaRPr lang="en-US" sz="1500" dirty="0"/>
          </a:p>
        </p:txBody>
      </p:sp>
      <p:pic>
        <p:nvPicPr>
          <p:cNvPr id="29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4210812"/>
            <a:ext cx="310896" cy="310896"/>
          </a:xfrm>
          <a:prstGeom prst="rect">
            <a:avLst/>
          </a:prstGeom>
        </p:spPr>
      </p:pic>
      <p:sp>
        <p:nvSpPr>
          <p:cNvPr id="25" name="card_4"/>
          <p:cNvSpPr/>
          <p:nvPr/>
        </p:nvSpPr>
        <p:spPr>
          <a:xfrm>
            <a:off x="4322064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dibujo_4" descr="C:\Users\Chingu\AppData\Local\Temp\claude\C--Users-Chingu-Desktop-ACADEMIASEULWEB\d4111e1b-5523-44ea-97b2-b1a1d9545b9e\scratchpad\decks\cache\img_66004001c8f7327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06186" y="4247388"/>
            <a:ext cx="976579" cy="976579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4322064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버스를 타요</a:t>
            </a:r>
            <a:r>
              <a:rPr lang="en-US" sz="2500" b="1" dirty="0">
                <a:solidFill>
                  <a:srgbClr val="4236F6"/>
                </a:solidFill>
              </a:rPr>
              <a:t>.</a:t>
            </a:r>
            <a:endParaRPr lang="en-US" sz="2500" dirty="0"/>
          </a:p>
        </p:txBody>
      </p:sp>
      <p:sp>
        <p:nvSpPr>
          <p:cNvPr id="28" name="Text 17"/>
          <p:cNvSpPr txBox="1"/>
          <p:nvPr/>
        </p:nvSpPr>
        <p:spPr>
          <a:xfrm>
            <a:off x="4395216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extra · Tomo el bus.</a:t>
            </a:r>
            <a:endParaRPr lang="en-US" sz="1600" dirty="0"/>
          </a:p>
        </p:txBody>
      </p:sp>
      <p:pic>
        <p:nvPicPr>
          <p:cNvPr id="35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4210812"/>
            <a:ext cx="310896" cy="310896"/>
          </a:xfrm>
          <a:prstGeom prst="rect">
            <a:avLst/>
          </a:prstGeom>
        </p:spPr>
      </p:pic>
      <p:sp>
        <p:nvSpPr>
          <p:cNvPr id="30" name="card_5"/>
          <p:cNvSpPr/>
          <p:nvPr/>
        </p:nvSpPr>
        <p:spPr>
          <a:xfrm>
            <a:off x="8095488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1" name="dibujo_5" descr="C:\Users\Chingu\AppData\Local\Temp\claude\C--Users-Chingu-Desktop-ACADEMIASEULWEB\d4111e1b-5523-44ea-97b2-b1a1d9545b9e\scratchpad\decks\cache\img_4e27dc1de17580c5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79610" y="4247388"/>
            <a:ext cx="976579" cy="976579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095488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지하철을 타요</a:t>
            </a:r>
            <a:r>
              <a:rPr lang="en-US" sz="2500" b="1" dirty="0">
                <a:solidFill>
                  <a:srgbClr val="4236F6"/>
                </a:solidFill>
              </a:rPr>
              <a:t>.</a:t>
            </a:r>
            <a:endParaRPr lang="en-US" sz="2500" dirty="0"/>
          </a:p>
        </p:txBody>
      </p:sp>
      <p:sp>
        <p:nvSpPr>
          <p:cNvPr id="33" name="Text 20"/>
          <p:cNvSpPr txBox="1"/>
          <p:nvPr/>
        </p:nvSpPr>
        <p:spPr>
          <a:xfrm>
            <a:off x="8095488" y="564916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[지하처를 타요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34" name="Text 21"/>
          <p:cNvSpPr txBox="1"/>
          <p:nvPr/>
        </p:nvSpPr>
        <p:spPr>
          <a:xfrm>
            <a:off x="8168640" y="592348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extra · Tomo el metro.</a:t>
            </a:r>
            <a:endParaRPr lang="en-US" sz="1600" dirty="0"/>
          </a:p>
        </p:txBody>
      </p:sp>
      <p:pic>
        <p:nvPicPr>
          <p:cNvPr id="24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봐요  </a:t>
            </a:r>
            <a:r>
              <a:rPr lang="en-US" sz="3000" b="1" dirty="0">
                <a:solidFill>
                  <a:srgbClr val="003478"/>
                </a:solidFill>
              </a:rPr>
              <a:t>Lean en voz alta</a:t>
            </a:r>
            <a:r>
              <a:rPr lang="en-US" sz="1500" b="1" i="1" dirty="0">
                <a:solidFill>
                  <a:srgbClr val="8A8DA0"/>
                </a:solidFill>
              </a:rPr>
              <a:t>   Read aloud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Primero ustedes, después Jay</a:t>
            </a:r>
            <a:endParaRPr lang="en-US" sz="1800" dirty="0"/>
          </a:p>
        </p:txBody>
      </p:sp>
      <p:sp>
        <p:nvSpPr>
          <p:cNvPr id="4" name="tile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354482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찍어요</a:t>
            </a:r>
            <a:endParaRPr lang="en-US" sz="6100" dirty="0"/>
          </a:p>
        </p:txBody>
      </p:sp>
      <p:sp>
        <p:nvSpPr>
          <p:cNvPr id="6" name="tile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22064" y="1947672"/>
            <a:ext cx="354482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사진을</a:t>
            </a:r>
            <a:endParaRPr lang="en-US" sz="6100" dirty="0"/>
          </a:p>
        </p:txBody>
      </p:sp>
      <p:sp>
        <p:nvSpPr>
          <p:cNvPr id="8" name="tile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95488" y="1947672"/>
            <a:ext cx="354482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자전거를</a:t>
            </a:r>
            <a:endParaRPr lang="en-US" sz="6100" dirty="0"/>
          </a:p>
        </p:txBody>
      </p:sp>
      <p:sp>
        <p:nvSpPr>
          <p:cNvPr id="10" name="tile_3"/>
          <p:cNvSpPr/>
          <p:nvPr/>
        </p:nvSpPr>
        <p:spPr>
          <a:xfrm>
            <a:off x="548640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210812"/>
            <a:ext cx="354482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할아버지</a:t>
            </a:r>
            <a:endParaRPr lang="en-US" sz="6100" dirty="0"/>
          </a:p>
        </p:txBody>
      </p:sp>
      <p:sp>
        <p:nvSpPr>
          <p:cNvPr id="12" name="tile_4"/>
          <p:cNvSpPr/>
          <p:nvPr/>
        </p:nvSpPr>
        <p:spPr>
          <a:xfrm>
            <a:off x="4322064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22064" y="4210812"/>
            <a:ext cx="354482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지하철을</a:t>
            </a:r>
            <a:endParaRPr lang="en-US" sz="6100" dirty="0"/>
          </a:p>
        </p:txBody>
      </p:sp>
      <p:sp>
        <p:nvSpPr>
          <p:cNvPr id="14" name="tile_5"/>
          <p:cNvSpPr/>
          <p:nvPr/>
        </p:nvSpPr>
        <p:spPr>
          <a:xfrm>
            <a:off x="8095488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95488" y="4210812"/>
            <a:ext cx="354482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셀카</a:t>
            </a:r>
            <a:endParaRPr lang="en-US" sz="6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N하고 </a:t>
            </a:r>
            <a:r>
              <a:rPr lang="en-US" sz="3000" b="1" dirty="0">
                <a:solidFill>
                  <a:srgbClr val="4236F6"/>
                </a:solidFill>
              </a:rPr>
              <a:t>N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r>
              <a:rPr lang="en-US" sz="3000" b="1" dirty="0">
                <a:solidFill>
                  <a:srgbClr val="003478"/>
                </a:solidFill>
              </a:rPr>
              <a:t>= y</a:t>
            </a:r>
            <a:r>
              <a:rPr lang="ko-KR" altLang="en-US" sz="1500" b="1" i="1" dirty="0">
                <a:solidFill>
                  <a:srgbClr val="8A8DA0"/>
                </a:solidFill>
              </a:rPr>
              <a:t>   하고 = and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944bead4e867639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씨하고 발렌티나</a:t>
            </a:r>
            <a:endParaRPr lang="en-US" sz="4800" dirty="0"/>
          </a:p>
          <a:p>
            <a:pPr marL="0" indent="0" algn="ctr" eaLnBrk="1">
              <a:buNone/>
            </a:pPr>
            <a:r>
              <a:rPr lang="ko-KR" altLang="en-US" sz="4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씨는 자전거를 타요</a:t>
            </a:r>
            <a:r>
              <a:rPr lang="en-US" sz="4800" b="1" dirty="0">
                <a:solidFill>
                  <a:srgbClr val="4236F6"/>
                </a:solidFill>
              </a:rPr>
              <a:t>.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2400" dirty="0">
                <a:solidFill>
                  <a:srgbClr val="5C5F6B"/>
                </a:solidFill>
              </a:rPr>
              <a:t>y Valentina andan en bicicleta.</a:t>
            </a:r>
            <a:endParaRPr lang="en-US" sz="24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903720" y="4160520"/>
            <a:ext cx="384048" cy="384048"/>
          </a:xfrm>
          <a:prstGeom prst="rect">
            <a:avLst/>
          </a:prstGeom>
        </p:spPr>
      </p:pic>
      <p:sp>
        <p:nvSpPr>
          <p:cNvPr id="8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Escucha · repite · después Jay explica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r>
              <a:rPr lang="en-US" sz="3000" b="1" dirty="0">
                <a:solidFill>
                  <a:srgbClr val="003478"/>
                </a:solidFill>
              </a:rPr>
              <a:t>se escribe siempre igual</a:t>
            </a:r>
            <a:r>
              <a:rPr lang="ko-KR" altLang="en-US" sz="1500" b="1" i="1" dirty="0">
                <a:solidFill>
                  <a:srgbClr val="8A8DA0"/>
                </a:solidFill>
              </a:rPr>
              <a:t>   하고 is always spelled the same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 받침 </a:t>
            </a:r>
            <a:r>
              <a:rPr lang="en-US" sz="1800" i="1" dirty="0">
                <a:solidFill>
                  <a:srgbClr val="4236F6"/>
                </a:solidFill>
              </a:rPr>
              <a:t>o sin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</a:t>
            </a:r>
            <a:r>
              <a:rPr lang="en-US" sz="1800" i="1" dirty="0">
                <a:solidFill>
                  <a:srgbClr val="4236F6"/>
                </a:solidFill>
              </a:rPr>
              <a:t>, siempre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r>
              <a:rPr lang="en-US" sz="1800" i="1" dirty="0">
                <a:solidFill>
                  <a:srgbClr val="4236F6"/>
                </a:solidFill>
              </a:rPr>
              <a:t>· personas o cosas</a:t>
            </a:r>
            <a:endParaRPr lang="en-US" sz="1800" dirty="0"/>
          </a:p>
        </p:txBody>
      </p:sp>
      <p:graphicFrame>
        <p:nvGraphicFramePr>
          <p:cNvPr id="12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282997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Palabra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¿Termina en 받침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하고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아빠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아빠하고 엄마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동생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Sí (ㅇ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동생하고 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선생님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Sí (ㅁ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선생님하고 학생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강아지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강아지하고 고양이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커피하고 빵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Sí (ㄱ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책하고 연필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채카고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¿하고 </a:t>
            </a:r>
            <a:r>
              <a:rPr lang="en-US" sz="3000" b="1" dirty="0">
                <a:solidFill>
                  <a:srgbClr val="003478"/>
                </a:solidFill>
              </a:rPr>
              <a:t>o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r>
              <a:rPr lang="ko-KR" altLang="en-US" sz="1500" b="1" i="1" dirty="0">
                <a:solidFill>
                  <a:srgbClr val="8A8DA0"/>
                </a:solidFill>
              </a:rPr>
              <a:t>   하고 or 그리고?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 español las dos son «y»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r>
              <a:rPr lang="en-US" sz="2000" b="1" dirty="0">
                <a:solidFill>
                  <a:srgbClr val="003478"/>
                </a:solidFill>
              </a:rPr>
              <a:t>· entre dos palabras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아빠하고 엄마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커피하고 빵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Pegado, sin espacio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r>
              <a:rPr lang="en-US" sz="2000" b="1" dirty="0">
                <a:solidFill>
                  <a:srgbClr val="003478"/>
                </a:solidFill>
              </a:rPr>
              <a:t>· entre dos frases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자전거를 타요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사진을 찍어요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Al inicio de la 2.ª frase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La frase completa</a:t>
            </a:r>
            <a:r>
              <a:rPr lang="en-US" sz="1500" b="1" i="1" dirty="0">
                <a:solidFill>
                  <a:srgbClr val="8A8DA0"/>
                </a:solidFill>
              </a:rPr>
              <a:t>   The whole sentence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1800" i="1" dirty="0">
                <a:solidFill>
                  <a:srgbClr val="4236F6"/>
                </a:solidFill>
              </a:rPr>
              <a:t>y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1800" i="1" dirty="0">
                <a:solidFill>
                  <a:srgbClr val="4236F6"/>
                </a:solidFill>
              </a:rPr>
              <a:t>van una sola vez</a:t>
            </a:r>
            <a:endParaRPr lang="en-US" sz="1800" dirty="0"/>
          </a:p>
        </p:txBody>
      </p:sp>
      <p:graphicFrame>
        <p:nvGraphicFramePr>
          <p:cNvPr id="14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284776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¿Quiénes? + 은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/</a:t>
                      </a: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¿Qué? + 을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/</a:t>
                      </a: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Verbo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 씨하고 발렌티나 씨는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자전거를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도윤 씨하고 서아는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그네를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마테오 씨하고 저는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찍어요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엄마하고 아빠는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마셔요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강아지하고 고양이는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Así sí · así no</a:t>
            </a:r>
            <a:r>
              <a:rPr lang="en-US" sz="1500" b="1" i="1" dirty="0">
                <a:solidFill>
                  <a:srgbClr val="8A8DA0"/>
                </a:solidFill>
              </a:rPr>
              <a:t>   Right · wrong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Los 3 errores más comunes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Así sí</a:t>
            </a:r>
            <a:endParaRPr lang="en-US" sz="2000" dirty="0"/>
          </a:p>
        </p:txBody>
      </p:sp>
      <p:sp>
        <p:nvSpPr>
          <p:cNvPr id="6" name="lista"/>
          <p:cNvSpPr txBox="1"/>
          <p:nvPr/>
        </p:nvSpPr>
        <p:spPr>
          <a:xfrm>
            <a:off x="731520" y="2651760"/>
            <a:ext cx="5020056" cy="338328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아빠하고 엄마는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동생하고 저는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커피하고 빵</a:t>
            </a:r>
            <a:endParaRPr lang="en-US" sz="2000" dirty="0"/>
          </a:p>
        </p:txBody>
      </p:sp>
      <p:sp>
        <p:nvSpPr>
          <p:cNvPr id="7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Así no</a:t>
            </a:r>
            <a:endParaRPr lang="en-US" sz="2000" dirty="0"/>
          </a:p>
        </p:txBody>
      </p:sp>
      <p:sp>
        <p:nvSpPr>
          <p:cNvPr id="9" name="lista"/>
          <p:cNvSpPr txBox="1"/>
          <p:nvPr/>
        </p:nvSpPr>
        <p:spPr>
          <a:xfrm>
            <a:off x="6437376" y="2651760"/>
            <a:ext cx="5020056" cy="338328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아빠는하고 엄마는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동생하고 저은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하고 빵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뭘 해요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¿Qué hacen?</a:t>
            </a:r>
            <a:r>
              <a:rPr lang="en-US" sz="1500" b="1" i="1" dirty="0">
                <a:solidFill>
                  <a:srgbClr val="8A8DA0"/>
                </a:solidFill>
              </a:rPr>
              <a:t>   What are they doing?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6c60a12fc6f6ad6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씨하고</a:t>
            </a:r>
            <a:endParaRPr lang="en-US" sz="5700" dirty="0"/>
          </a:p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서아는 뭘 해요</a:t>
            </a:r>
            <a:r>
              <a:rPr lang="en-US" sz="5700" b="1" dirty="0">
                <a:solidFill>
                  <a:srgbClr val="4236F6"/>
                </a:solidFill>
              </a:rPr>
              <a:t>?</a:t>
            </a:r>
            <a:endParaRPr lang="en-US" sz="57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¿Qué hacen 도윤 </a:t>
            </a:r>
            <a:r>
              <a:rPr lang="en-US" sz="2400" dirty="0">
                <a:solidFill>
                  <a:srgbClr val="5C5F6B"/>
                </a:solidFill>
              </a:rPr>
              <a:t>y </a:t>
            </a:r>
            <a:r>
              <a:rPr lang="ko-KR" altLang="en-US" sz="2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</a:t>
            </a:r>
            <a:r>
              <a:rPr lang="en-US" sz="2400" dirty="0">
                <a:solidFill>
                  <a:srgbClr val="5C5F6B"/>
                </a:solidFill>
              </a:rPr>
              <a:t>?</a:t>
            </a:r>
            <a:endParaRPr lang="en-US" sz="24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903720" y="4160520"/>
            <a:ext cx="384048" cy="384048"/>
          </a:xfrm>
          <a:prstGeom prst="rect">
            <a:avLst/>
          </a:prstGeom>
        </p:spPr>
      </p:pic>
      <p:sp>
        <p:nvSpPr>
          <p:cNvPr id="8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Respuesta corta: 그네를 타요</a:t>
            </a:r>
            <a:r>
              <a:rPr lang="en-US" sz="1800" dirty="0">
                <a:solidFill>
                  <a:srgbClr val="14142B"/>
                </a:solidFill>
              </a:rPr>
              <a:t>. (la frase completa también está bien)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연습해요  </a:t>
            </a:r>
            <a:r>
              <a:rPr lang="en-US" sz="3000" b="1" dirty="0">
                <a:solidFill>
                  <a:srgbClr val="003478"/>
                </a:solidFill>
              </a:rPr>
              <a:t>Arma la frase</a:t>
            </a:r>
            <a:r>
              <a:rPr lang="en-US" sz="1500" b="1" i="1" dirty="0">
                <a:solidFill>
                  <a:srgbClr val="8A8DA0"/>
                </a:solidFill>
              </a:rPr>
              <a:t>   Build the sentence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Quiénes + 하고 </a:t>
            </a:r>
            <a:r>
              <a:rPr lang="en-US" sz="1800" i="1" dirty="0">
                <a:solidFill>
                  <a:srgbClr val="4236F6"/>
                </a:solidFill>
              </a:rPr>
              <a:t>+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1800" i="1" dirty="0">
                <a:solidFill>
                  <a:srgbClr val="4236F6"/>
                </a:solidFill>
              </a:rPr>
              <a:t>· qué +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1800" i="1" dirty="0">
                <a:solidFill>
                  <a:srgbClr val="4236F6"/>
                </a:solidFill>
              </a:rPr>
              <a:t>· verbo · Di la frase completa (Jay te llama por tu nombre)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b6c124eb34f560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649" y="2057400"/>
            <a:ext cx="691286" cy="691286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79440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 </a:t>
            </a:r>
            <a:r>
              <a:rPr lang="en-US" sz="1900" dirty="0">
                <a:solidFill>
                  <a:srgbClr val="14142B"/>
                </a:solidFill>
              </a:rPr>
              <a:t>+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 </a:t>
            </a:r>
            <a:r>
              <a:rPr lang="en-US" sz="1900" dirty="0">
                <a:solidFill>
                  <a:srgbClr val="14142B"/>
                </a:solidFill>
              </a:rPr>
              <a:t>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 </a:t>
            </a:r>
            <a:r>
              <a:rPr lang="en-US" sz="1900" dirty="0">
                <a:solidFill>
                  <a:srgbClr val="14142B"/>
                </a:solidFill>
              </a:rPr>
              <a:t>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타요</a:t>
            </a:r>
            <a:endParaRPr lang="en-US" sz="1900" dirty="0"/>
          </a:p>
        </p:txBody>
      </p:sp>
      <p:sp>
        <p:nvSpPr>
          <p:cNvPr id="9" name="rev_8_caja"/>
          <p:cNvSpPr/>
          <p:nvPr/>
        </p:nvSpPr>
        <p:spPr>
          <a:xfrm>
            <a:off x="658368" y="3443630"/>
            <a:ext cx="3355848" cy="442570"/>
          </a:xfrm>
          <a:prstGeom prst="roundRect">
            <a:avLst>
              <a:gd name="adj" fmla="val 24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8_txt"/>
          <p:cNvSpPr txBox="1"/>
          <p:nvPr/>
        </p:nvSpPr>
        <p:spPr>
          <a:xfrm>
            <a:off x="685800" y="3443630"/>
            <a:ext cx="330098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씨하고 마테오 씨는 버스를 타요</a:t>
            </a:r>
            <a:r>
              <a:rPr lang="en-US" sz="1200" b="1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11" name="card_1"/>
          <p:cNvSpPr/>
          <p:nvPr/>
        </p:nvSpPr>
        <p:spPr>
          <a:xfrm>
            <a:off x="4306824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01655fdfbc56a9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833" y="2057400"/>
            <a:ext cx="691286" cy="691286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4398264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98264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398264" y="279440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 </a:t>
            </a:r>
            <a:r>
              <a:rPr lang="en-US" sz="1900" dirty="0">
                <a:solidFill>
                  <a:srgbClr val="14142B"/>
                </a:solidFill>
              </a:rPr>
              <a:t>+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 </a:t>
            </a:r>
            <a:r>
              <a:rPr lang="en-US" sz="1900" dirty="0">
                <a:solidFill>
                  <a:srgbClr val="14142B"/>
                </a:solidFill>
              </a:rPr>
              <a:t>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자요</a:t>
            </a:r>
            <a:endParaRPr lang="en-US" sz="1900" dirty="0"/>
          </a:p>
        </p:txBody>
      </p:sp>
      <p:sp>
        <p:nvSpPr>
          <p:cNvPr id="16" name="rev_9_caja"/>
          <p:cNvSpPr/>
          <p:nvPr/>
        </p:nvSpPr>
        <p:spPr>
          <a:xfrm>
            <a:off x="4416552" y="3443630"/>
            <a:ext cx="3355848" cy="442570"/>
          </a:xfrm>
          <a:prstGeom prst="roundRect">
            <a:avLst>
              <a:gd name="adj" fmla="val 24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9_txt"/>
          <p:cNvSpPr txBox="1"/>
          <p:nvPr/>
        </p:nvSpPr>
        <p:spPr>
          <a:xfrm>
            <a:off x="4443984" y="3443630"/>
            <a:ext cx="330098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강아지하고 고양이는 자요</a:t>
            </a:r>
            <a:r>
              <a:rPr lang="en-US" sz="1200" b="1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18" name="card_2"/>
          <p:cNvSpPr/>
          <p:nvPr/>
        </p:nvSpPr>
        <p:spPr>
          <a:xfrm>
            <a:off x="8065008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41646431fd6ef6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7017" y="2057400"/>
            <a:ext cx="691286" cy="691286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8156448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15644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156448" y="279440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할머니 </a:t>
            </a:r>
            <a:r>
              <a:rPr lang="en-US" sz="1900" dirty="0">
                <a:solidFill>
                  <a:srgbClr val="14142B"/>
                </a:solidFill>
              </a:rPr>
              <a:t>+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 </a:t>
            </a:r>
            <a:r>
              <a:rPr lang="en-US" sz="1900" dirty="0">
                <a:solidFill>
                  <a:srgbClr val="14142B"/>
                </a:solidFill>
              </a:rPr>
              <a:t>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라면 </a:t>
            </a:r>
            <a:r>
              <a:rPr lang="en-US" sz="1900" dirty="0">
                <a:solidFill>
                  <a:srgbClr val="14142B"/>
                </a:solidFill>
              </a:rPr>
              <a:t>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먹어요</a:t>
            </a:r>
            <a:endParaRPr lang="en-US" sz="1900" dirty="0"/>
          </a:p>
        </p:txBody>
      </p:sp>
      <p:sp>
        <p:nvSpPr>
          <p:cNvPr id="23" name="rev_10_caja"/>
          <p:cNvSpPr/>
          <p:nvPr/>
        </p:nvSpPr>
        <p:spPr>
          <a:xfrm>
            <a:off x="8174736" y="3443630"/>
            <a:ext cx="3355848" cy="442570"/>
          </a:xfrm>
          <a:prstGeom prst="roundRect">
            <a:avLst>
              <a:gd name="adj" fmla="val 24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10_txt"/>
          <p:cNvSpPr txBox="1"/>
          <p:nvPr/>
        </p:nvSpPr>
        <p:spPr>
          <a:xfrm>
            <a:off x="8202168" y="3443630"/>
            <a:ext cx="330098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할머니하고 서아는 라면을 먹어요</a:t>
            </a:r>
            <a:r>
              <a:rPr lang="en-US" sz="1200" b="1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25" name="card_3"/>
          <p:cNvSpPr/>
          <p:nvPr/>
        </p:nvSpPr>
        <p:spPr>
          <a:xfrm>
            <a:off x="548640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7724e6172179ac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649" y="4251960"/>
            <a:ext cx="691286" cy="691286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640080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008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498896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 </a:t>
            </a:r>
            <a:r>
              <a:rPr lang="en-US" sz="1900" dirty="0">
                <a:solidFill>
                  <a:srgbClr val="14142B"/>
                </a:solidFill>
              </a:rPr>
              <a:t>+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 씨 </a:t>
            </a:r>
            <a:r>
              <a:rPr lang="en-US" sz="1900" dirty="0">
                <a:solidFill>
                  <a:srgbClr val="14142B"/>
                </a:solidFill>
              </a:rPr>
              <a:t>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</a:t>
            </a:r>
            <a:r>
              <a:rPr lang="en-US" sz="1900" dirty="0">
                <a:solidFill>
                  <a:srgbClr val="14142B"/>
                </a:solidFill>
              </a:rPr>
              <a:t>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마셔요</a:t>
            </a:r>
            <a:endParaRPr lang="en-US" sz="1900" dirty="0"/>
          </a:p>
        </p:txBody>
      </p:sp>
      <p:sp>
        <p:nvSpPr>
          <p:cNvPr id="30" name="rev_11_caja"/>
          <p:cNvSpPr/>
          <p:nvPr/>
        </p:nvSpPr>
        <p:spPr>
          <a:xfrm>
            <a:off x="658368" y="5638190"/>
            <a:ext cx="3355848" cy="442570"/>
          </a:xfrm>
          <a:prstGeom prst="roundRect">
            <a:avLst>
              <a:gd name="adj" fmla="val 24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11_txt"/>
          <p:cNvSpPr txBox="1"/>
          <p:nvPr/>
        </p:nvSpPr>
        <p:spPr>
          <a:xfrm>
            <a:off x="685800" y="5638190"/>
            <a:ext cx="330098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씨하고 발렌티나 씨는 커피를 마셔요</a:t>
            </a:r>
            <a:r>
              <a:rPr lang="en-US" sz="1200" b="1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32" name="card_4"/>
          <p:cNvSpPr/>
          <p:nvPr/>
        </p:nvSpPr>
        <p:spPr>
          <a:xfrm>
            <a:off x="4306824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3" name="item_img_4" descr="C:\Users\Chingu\AppData\Local\Temp\claude\C--Users-Chingu-Desktop-ACADEMIASEULWEB\d4111e1b-5523-44ea-97b2-b1a1d9545b9e\scratchpad\decks\cache\img_5869aa78681d40f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8833" y="4251960"/>
            <a:ext cx="691286" cy="691286"/>
          </a:xfrm>
          <a:prstGeom prst="rect">
            <a:avLst/>
          </a:prstGeom>
        </p:spPr>
      </p:pic>
      <p:sp>
        <p:nvSpPr>
          <p:cNvPr id="34" name="num_4"/>
          <p:cNvSpPr/>
          <p:nvPr/>
        </p:nvSpPr>
        <p:spPr>
          <a:xfrm>
            <a:off x="4398264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4398264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4398264" y="498896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 </a:t>
            </a:r>
            <a:r>
              <a:rPr lang="en-US" sz="1900" dirty="0">
                <a:solidFill>
                  <a:srgbClr val="14142B"/>
                </a:solidFill>
              </a:rPr>
              <a:t>+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 </a:t>
            </a:r>
            <a:r>
              <a:rPr lang="en-US" sz="1900" dirty="0">
                <a:solidFill>
                  <a:srgbClr val="14142B"/>
                </a:solidFill>
              </a:rPr>
              <a:t>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 </a:t>
            </a:r>
            <a:r>
              <a:rPr lang="en-US" sz="1900" dirty="0">
                <a:solidFill>
                  <a:srgbClr val="14142B"/>
                </a:solidFill>
              </a:rPr>
              <a:t>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봐요</a:t>
            </a:r>
            <a:endParaRPr lang="en-US" sz="1900" dirty="0"/>
          </a:p>
        </p:txBody>
      </p:sp>
      <p:sp>
        <p:nvSpPr>
          <p:cNvPr id="37" name="rev_12_caja"/>
          <p:cNvSpPr/>
          <p:nvPr/>
        </p:nvSpPr>
        <p:spPr>
          <a:xfrm>
            <a:off x="4416552" y="5638190"/>
            <a:ext cx="3355848" cy="442570"/>
          </a:xfrm>
          <a:prstGeom prst="roundRect">
            <a:avLst>
              <a:gd name="adj" fmla="val 24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8" name="rev_12_txt"/>
          <p:cNvSpPr txBox="1"/>
          <p:nvPr/>
        </p:nvSpPr>
        <p:spPr>
          <a:xfrm>
            <a:off x="4443984" y="5638190"/>
            <a:ext cx="330098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아빠하고 동생은 영화를 봐요</a:t>
            </a:r>
            <a:r>
              <a:rPr lang="en-US" sz="1200" b="1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39" name="card_5"/>
          <p:cNvSpPr/>
          <p:nvPr/>
        </p:nvSpPr>
        <p:spPr>
          <a:xfrm>
            <a:off x="8065008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0" name="item_img_5" descr="C:\Users\Chingu\AppData\Local\Temp\claude\C--Users-Chingu-Desktop-ACADEMIASEULWEB\d4111e1b-5523-44ea-97b2-b1a1d9545b9e\scratchpad\decks\cache\img_7f937c8d014377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7017" y="4251960"/>
            <a:ext cx="691286" cy="691286"/>
          </a:xfrm>
          <a:prstGeom prst="rect">
            <a:avLst/>
          </a:prstGeom>
        </p:spPr>
      </p:pic>
      <p:sp>
        <p:nvSpPr>
          <p:cNvPr id="41" name="num_5"/>
          <p:cNvSpPr/>
          <p:nvPr/>
        </p:nvSpPr>
        <p:spPr>
          <a:xfrm>
            <a:off x="8156448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815644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8156448" y="498896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</a:t>
            </a:r>
            <a:r>
              <a:rPr lang="en-US" sz="1900" dirty="0">
                <a:solidFill>
                  <a:srgbClr val="14142B"/>
                </a:solidFill>
              </a:rPr>
              <a:t>+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 </a:t>
            </a:r>
            <a:r>
              <a:rPr lang="en-US" sz="1900" dirty="0">
                <a:solidFill>
                  <a:srgbClr val="14142B"/>
                </a:solidFill>
              </a:rPr>
              <a:t>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셀카 </a:t>
            </a:r>
            <a:r>
              <a:rPr lang="en-US" sz="1900" dirty="0">
                <a:solidFill>
                  <a:srgbClr val="14142B"/>
                </a:solidFill>
              </a:rPr>
              <a:t>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찍어요</a:t>
            </a:r>
            <a:endParaRPr lang="en-US" sz="1900" dirty="0"/>
          </a:p>
        </p:txBody>
      </p:sp>
      <p:sp>
        <p:nvSpPr>
          <p:cNvPr id="44" name="rev_13_caja"/>
          <p:cNvSpPr/>
          <p:nvPr/>
        </p:nvSpPr>
        <p:spPr>
          <a:xfrm>
            <a:off x="8174736" y="5638190"/>
            <a:ext cx="3355848" cy="442570"/>
          </a:xfrm>
          <a:prstGeom prst="roundRect">
            <a:avLst>
              <a:gd name="adj" fmla="val 24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45" name="rev_13_txt"/>
          <p:cNvSpPr txBox="1"/>
          <p:nvPr/>
        </p:nvSpPr>
        <p:spPr>
          <a:xfrm>
            <a:off x="8202168" y="5638190"/>
            <a:ext cx="330098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친구하고 저는 셀카를 찍어요</a:t>
            </a:r>
            <a:r>
              <a:rPr lang="en-US" sz="1200" b="1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  <p:bldP spid="38" grpId="0" animBg="1"/>
      <p:bldP spid="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연습해요  </a:t>
            </a:r>
            <a:r>
              <a:rPr lang="en-US" sz="3000" b="1" dirty="0">
                <a:solidFill>
                  <a:srgbClr val="003478"/>
                </a:solidFill>
              </a:rPr>
              <a:t>¿Está bien?</a:t>
            </a:r>
            <a:r>
              <a:rPr lang="en-US" sz="1500" b="1" i="1" dirty="0">
                <a:solidFill>
                  <a:srgbClr val="8A8DA0"/>
                </a:solidFill>
              </a:rPr>
              <a:t>   Is it right?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O = bien · X = corrígela · O o X con los brazos; si es X, ¿cómo se dice?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1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 그리고 엄마는 커피를 마셔요</a:t>
            </a:r>
            <a:r>
              <a:rPr lang="en-US" sz="2100" dirty="0">
                <a:solidFill>
                  <a:srgbClr val="14142B"/>
                </a:solidFill>
              </a:rPr>
              <a:t>.</a:t>
            </a:r>
            <a:endParaRPr lang="en-US" sz="2100" dirty="0"/>
          </a:p>
        </p:txBody>
      </p:sp>
      <p:sp>
        <p:nvSpPr>
          <p:cNvPr id="7" name="rev_14_caja"/>
          <p:cNvSpPr/>
          <p:nvPr/>
        </p:nvSpPr>
        <p:spPr>
          <a:xfrm>
            <a:off x="6702552" y="200253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4_txt"/>
          <p:cNvSpPr txBox="1"/>
          <p:nvPr/>
        </p:nvSpPr>
        <p:spPr>
          <a:xfrm>
            <a:off x="6793992" y="200253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· 아빠하고 엄마는 커피를 마셔요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  <a:endParaRPr lang="en-US" sz="20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씨는하고 마테오 씨는 수영해요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12" name="rev_15_caja"/>
          <p:cNvSpPr/>
          <p:nvPr/>
        </p:nvSpPr>
        <p:spPr>
          <a:xfrm>
            <a:off x="6702552" y="2724912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5_txt"/>
          <p:cNvSpPr txBox="1"/>
          <p:nvPr/>
        </p:nvSpPr>
        <p:spPr>
          <a:xfrm>
            <a:off x="6793992" y="272491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· 하나 씨하고 마테오 씨는 수영해요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동생하고 저은 그림을 그려요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7" name="rev_16_caja"/>
          <p:cNvSpPr/>
          <p:nvPr/>
        </p:nvSpPr>
        <p:spPr>
          <a:xfrm>
            <a:off x="6702552" y="3447288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6_txt"/>
          <p:cNvSpPr txBox="1"/>
          <p:nvPr/>
        </p:nvSpPr>
        <p:spPr>
          <a:xfrm>
            <a:off x="6793992" y="3447288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· 동생하고 저는 그림을 그려요</a:t>
            </a:r>
            <a:r>
              <a:rPr lang="en-US" sz="2100" b="1" dirty="0">
                <a:solidFill>
                  <a:srgbClr val="FFFFFF"/>
                </a:solidFill>
              </a:rPr>
              <a:t>.</a:t>
            </a:r>
            <a:endParaRPr lang="en-US" sz="21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씨하고 서아는 자전거에서 타요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22" name="rev_17_caja"/>
          <p:cNvSpPr/>
          <p:nvPr/>
        </p:nvSpPr>
        <p:spPr>
          <a:xfrm>
            <a:off x="6702552" y="4169664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17_txt"/>
          <p:cNvSpPr txBox="1"/>
          <p:nvPr/>
        </p:nvSpPr>
        <p:spPr>
          <a:xfrm>
            <a:off x="6793992" y="4169664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· 도윤 씨하고 서아는 자전거를 타요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 씨는 사진을 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27" name="rev_18_caja"/>
          <p:cNvSpPr/>
          <p:nvPr/>
        </p:nvSpPr>
        <p:spPr>
          <a:xfrm>
            <a:off x="6702552" y="4892040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18_txt"/>
          <p:cNvSpPr txBox="1"/>
          <p:nvPr/>
        </p:nvSpPr>
        <p:spPr>
          <a:xfrm>
            <a:off x="6793992" y="4892040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· 발렌티나 씨는 사진을 찍어요</a:t>
            </a:r>
            <a:r>
              <a:rPr lang="en-US" sz="2100" b="1" dirty="0">
                <a:solidFill>
                  <a:srgbClr val="FFFFFF"/>
                </a:solidFill>
              </a:rPr>
              <a:t>.</a:t>
            </a:r>
            <a:endParaRPr lang="en-US" sz="21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씨하고 친구는 지하철을 타요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32" name="rev_19_caja"/>
          <p:cNvSpPr/>
          <p:nvPr/>
        </p:nvSpPr>
        <p:spPr>
          <a:xfrm>
            <a:off x="6702552" y="561441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19_txt"/>
          <p:cNvSpPr txBox="1"/>
          <p:nvPr/>
        </p:nvSpPr>
        <p:spPr>
          <a:xfrm>
            <a:off x="6793992" y="561441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O · ¡Está bien!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Ahora tú</a:t>
            </a:r>
            <a:r>
              <a:rPr lang="en-US" sz="1500" b="1" i="1" dirty="0">
                <a:solidFill>
                  <a:srgbClr val="8A8DA0"/>
                </a:solidFill>
              </a:rPr>
              <a:t>   Your turn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Una frase real de tu vida, en el chat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Escribe en el chat (1 min) y después la lees en voz alta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___하고 저는 </a:t>
            </a:r>
            <a:r>
              <a:rPr lang="en-US" sz="2200" dirty="0">
                <a:solidFill>
                  <a:srgbClr val="14142B"/>
                </a:solidFill>
              </a:rPr>
              <a:t>___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2200" dirty="0">
                <a:solidFill>
                  <a:srgbClr val="14142B"/>
                </a:solidFill>
              </a:rPr>
              <a:t>/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좋아해요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</a:t>
            </a:r>
            <a:r>
              <a:rPr lang="en-US" sz="2200" dirty="0">
                <a:solidFill>
                  <a:srgbClr val="14142B"/>
                </a:solidFill>
              </a:rPr>
              <a:t>___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r>
              <a:rPr lang="en-US" sz="2200" dirty="0">
                <a:solidFill>
                  <a:srgbClr val="14142B"/>
                </a:solidFill>
              </a:rPr>
              <a:t>___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2200" dirty="0">
                <a:solidFill>
                  <a:srgbClr val="14142B"/>
                </a:solidFill>
              </a:rPr>
              <a:t>/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2200" dirty="0">
                <a:solidFill>
                  <a:srgbClr val="14142B"/>
                </a:solidFill>
              </a:rPr>
              <a:t>___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2200" dirty="0">
                <a:solidFill>
                  <a:srgbClr val="14142B"/>
                </a:solidFill>
              </a:rPr>
              <a:t>/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2200" dirty="0">
                <a:solidFill>
                  <a:srgbClr val="14142B"/>
                </a:solidFill>
              </a:rPr>
              <a:t>___.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r>
              <a:rPr lang="en-US" sz="2200" dirty="0">
                <a:solidFill>
                  <a:srgbClr val="14142B"/>
                </a:solidFill>
              </a:rPr>
              <a:t>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엄마하고 저는 커피를 좋아해요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r>
              <a:rPr lang="en-US" sz="2200" dirty="0">
                <a:solidFill>
                  <a:srgbClr val="14142B"/>
                </a:solidFill>
              </a:rPr>
              <a:t>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강아지하고 고양이는 지금 자요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¿Te falta una palabra? Escríbela en español y Jay te la pasa a 한글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여러분은요</a:t>
            </a:r>
            <a:r>
              <a:rPr lang="en-US" sz="4100" b="1" dirty="0">
                <a:solidFill>
                  <a:srgbClr val="4236F6"/>
                </a:solidFill>
              </a:rPr>
              <a:t>?</a:t>
            </a:r>
            <a:endParaRPr lang="en-US" sz="4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 봐요  </a:t>
            </a:r>
            <a:r>
              <a:rPr lang="en-US" sz="2600" b="1" dirty="0">
                <a:solidFill>
                  <a:srgbClr val="003478"/>
                </a:solidFill>
              </a:rPr>
              <a:t>Escucha: la foto de Mateo</a:t>
            </a:r>
            <a:r>
              <a:rPr lang="en-US" sz="1500" b="1" i="1" dirty="0">
                <a:solidFill>
                  <a:srgbClr val="8A8DA0"/>
                </a:solidFill>
              </a:rPr>
              <a:t>   Listen: Mateo's photo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df7921ca2f76b2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Jay lee 2 veces · lee antes las preguntas · 형 </a:t>
            </a:r>
            <a:r>
              <a:rPr lang="en-US" sz="1800" i="1" dirty="0">
                <a:solidFill>
                  <a:srgbClr val="4236F6"/>
                </a:solidFill>
              </a:rPr>
              <a:t>= hermano mayor (lo dice un hombre) · Escucha y responde en el chat</a:t>
            </a:r>
            <a:endParaRPr lang="en-US" sz="1800" dirty="0"/>
          </a:p>
        </p:txBody>
      </p:sp>
      <p:sp>
        <p:nvSpPr>
          <p:cNvPr id="5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65960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아빠하고 형은 뭘 해요</a:t>
            </a:r>
            <a:r>
              <a:rPr lang="en-US" sz="2300" dirty="0">
                <a:solidFill>
                  <a:srgbClr val="14142B"/>
                </a:solidFill>
              </a:rPr>
              <a:t>?</a:t>
            </a:r>
            <a:endParaRPr lang="en-US" sz="2300" dirty="0"/>
          </a:p>
        </p:txBody>
      </p:sp>
      <p:sp>
        <p:nvSpPr>
          <p:cNvPr id="8" name="rev_20_caja"/>
          <p:cNvSpPr/>
          <p:nvPr/>
        </p:nvSpPr>
        <p:spPr>
          <a:xfrm>
            <a:off x="4152839" y="2002536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9" name="rev_20_txt"/>
          <p:cNvSpPr txBox="1"/>
          <p:nvPr/>
        </p:nvSpPr>
        <p:spPr>
          <a:xfrm>
            <a:off x="4244279" y="2002536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자전거를 타요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0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832811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그네를 타요</a:t>
            </a:r>
            <a:r>
              <a:rPr lang="en-US" sz="2300" dirty="0">
                <a:solidFill>
                  <a:srgbClr val="14142B"/>
                </a:solidFill>
              </a:rPr>
              <a:t>?</a:t>
            </a:r>
            <a:endParaRPr lang="en-US" sz="2300" dirty="0"/>
          </a:p>
        </p:txBody>
      </p:sp>
      <p:sp>
        <p:nvSpPr>
          <p:cNvPr id="13" name="rev_21_caja"/>
          <p:cNvSpPr/>
          <p:nvPr/>
        </p:nvSpPr>
        <p:spPr>
          <a:xfrm>
            <a:off x="4152839" y="2869387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4" name="rev_21_txt"/>
          <p:cNvSpPr txBox="1"/>
          <p:nvPr/>
        </p:nvSpPr>
        <p:spPr>
          <a:xfrm>
            <a:off x="4244279" y="2869387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엄마하고 할머니</a:t>
            </a:r>
            <a:r>
              <a:rPr lang="en-US" sz="1700" b="1" dirty="0">
                <a:solidFill>
                  <a:srgbClr val="FFFFFF"/>
                </a:solidFill>
              </a:rPr>
              <a:t>(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타요</a:t>
            </a:r>
            <a:r>
              <a:rPr lang="en-US" sz="1700" b="1" dirty="0">
                <a:solidFill>
                  <a:srgbClr val="FFFFFF"/>
                </a:solidFill>
              </a:rPr>
              <a:t>).</a:t>
            </a:r>
            <a:endParaRPr lang="en-US" sz="1700" dirty="0"/>
          </a:p>
        </p:txBody>
      </p:sp>
      <p:sp>
        <p:nvSpPr>
          <p:cNvPr id="15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699662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동생하고 강아지는 뭘 해요</a:t>
            </a:r>
            <a:r>
              <a:rPr lang="en-US" sz="2300" dirty="0">
                <a:solidFill>
                  <a:srgbClr val="14142B"/>
                </a:solidFill>
              </a:rPr>
              <a:t>?</a:t>
            </a:r>
            <a:endParaRPr lang="en-US" sz="2300" dirty="0"/>
          </a:p>
        </p:txBody>
      </p:sp>
      <p:sp>
        <p:nvSpPr>
          <p:cNvPr id="18" name="rev_22_caja"/>
          <p:cNvSpPr/>
          <p:nvPr/>
        </p:nvSpPr>
        <p:spPr>
          <a:xfrm>
            <a:off x="4152839" y="3736238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9" name="rev_22_txt"/>
          <p:cNvSpPr txBox="1"/>
          <p:nvPr/>
        </p:nvSpPr>
        <p:spPr>
          <a:xfrm>
            <a:off x="4244279" y="3736238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0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4566514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사진을 찍어요</a:t>
            </a:r>
            <a:r>
              <a:rPr lang="en-US" sz="2300" dirty="0">
                <a:solidFill>
                  <a:srgbClr val="14142B"/>
                </a:solidFill>
              </a:rPr>
              <a:t>?</a:t>
            </a:r>
            <a:endParaRPr lang="en-US" sz="2300" dirty="0"/>
          </a:p>
        </p:txBody>
      </p:sp>
      <p:sp>
        <p:nvSpPr>
          <p:cNvPr id="23" name="rev_23_caja"/>
          <p:cNvSpPr/>
          <p:nvPr/>
        </p:nvSpPr>
        <p:spPr>
          <a:xfrm>
            <a:off x="4152839" y="4603090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23_txt"/>
          <p:cNvSpPr txBox="1"/>
          <p:nvPr/>
        </p:nvSpPr>
        <p:spPr>
          <a:xfrm>
            <a:off x="4244279" y="4603090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</a:t>
            </a:r>
            <a:r>
              <a:rPr lang="en-US" sz="2100" b="1" dirty="0">
                <a:solidFill>
                  <a:srgbClr val="FFFFFF"/>
                </a:solidFill>
              </a:rPr>
              <a:t>(</a:t>
            </a: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찍어요</a:t>
            </a:r>
            <a:r>
              <a:rPr lang="en-US" sz="2100" b="1" dirty="0">
                <a:solidFill>
                  <a:srgbClr val="FFFFFF"/>
                </a:solidFill>
              </a:rPr>
              <a:t>).</a:t>
            </a:r>
            <a:endParaRPr lang="en-US" sz="2100" dirty="0"/>
          </a:p>
        </p:txBody>
      </p:sp>
      <p:sp>
        <p:nvSpPr>
          <p:cNvPr id="25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188720" y="5433365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엄마는 자전거를 타요</a:t>
            </a:r>
            <a:r>
              <a:rPr lang="en-US" sz="2300" dirty="0">
                <a:solidFill>
                  <a:srgbClr val="14142B"/>
                </a:solidFill>
              </a:rPr>
              <a:t>?</a:t>
            </a:r>
            <a:endParaRPr lang="en-US" sz="2300" dirty="0"/>
          </a:p>
        </p:txBody>
      </p:sp>
      <p:sp>
        <p:nvSpPr>
          <p:cNvPr id="28" name="rev_24_caja"/>
          <p:cNvSpPr/>
          <p:nvPr/>
        </p:nvSpPr>
        <p:spPr>
          <a:xfrm>
            <a:off x="4152839" y="5469941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9" name="rev_24_txt"/>
          <p:cNvSpPr txBox="1"/>
          <p:nvPr/>
        </p:nvSpPr>
        <p:spPr>
          <a:xfrm>
            <a:off x="4244279" y="5469941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그네를 타요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9" grpId="0" animBg="1"/>
      <p:bldP spid="24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빨리빨리</a:t>
            </a:r>
            <a:r>
              <a:rPr lang="en-US" sz="3000" b="1" dirty="0">
                <a:solidFill>
                  <a:srgbClr val="4236F6"/>
                </a:solidFill>
              </a:rPr>
              <a:t>!  </a:t>
            </a:r>
            <a:r>
              <a:rPr lang="en-US" sz="3000" b="1" dirty="0">
                <a:solidFill>
                  <a:srgbClr val="003478"/>
                </a:solidFill>
              </a:rPr>
              <a:t>Drill en cadena</a:t>
            </a:r>
            <a:r>
              <a:rPr lang="en-US" sz="1500" b="1" i="1" dirty="0">
                <a:solidFill>
                  <a:srgbClr val="8A8DA0"/>
                </a:solidFill>
              </a:rPr>
              <a:t>   Chain drill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Número + letra → la frase · después, pregunta y respuesta</a:t>
            </a:r>
            <a:endParaRPr lang="en-US" sz="1800" dirty="0"/>
          </a:p>
        </p:txBody>
      </p:sp>
      <p:graphicFrame>
        <p:nvGraphicFramePr>
          <p:cNvPr id="21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496457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¿Quiénes?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Letra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¿Qué hacen?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 씨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마테오 씨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자전거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엄마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아빠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찍어요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콩이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고양이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할머니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우유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마셔요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동생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선생님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F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지하철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  </a:t>
            </a:r>
            <a:r>
              <a:rPr lang="en-US" sz="3000" b="1" dirty="0">
                <a:solidFill>
                  <a:srgbClr val="003478"/>
                </a:solidFill>
              </a:rPr>
              <a:t>Salas 1: Mi galería</a:t>
            </a:r>
            <a:r>
              <a:rPr lang="en-US" sz="1500" b="1" i="1" dirty="0">
                <a:solidFill>
                  <a:srgbClr val="8A8DA0"/>
                </a:solidFill>
              </a:rPr>
              <a:t>   Breakout 1: My photo gallery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7 minutos · en parejas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Abre en tu celular una foto con 2 personas o animales de tu vida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¿Prefieres no mostrar fotos? Usa la tabla de juego de la hoja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누구예요</a:t>
            </a:r>
            <a:r>
              <a:rPr lang="en-US" sz="2200" dirty="0">
                <a:solidFill>
                  <a:srgbClr val="14142B"/>
                </a:solidFill>
              </a:rPr>
              <a:t>? → B: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</a:t>
            </a:r>
            <a:r>
              <a:rPr lang="en-US" sz="2200" dirty="0">
                <a:solidFill>
                  <a:srgbClr val="14142B"/>
                </a:solidFill>
              </a:rPr>
              <a:t>___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r>
              <a:rPr lang="en-US" sz="2200" dirty="0">
                <a:solidFill>
                  <a:srgbClr val="14142B"/>
                </a:solidFill>
              </a:rPr>
              <a:t>___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</a:t>
            </a:r>
            <a:r>
              <a:rPr lang="en-US" sz="2200" dirty="0">
                <a:solidFill>
                  <a:srgbClr val="14142B"/>
                </a:solidFill>
              </a:rPr>
              <a:t>/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___하고 </a:t>
            </a:r>
            <a:r>
              <a:rPr lang="en-US" sz="2200" dirty="0">
                <a:solidFill>
                  <a:srgbClr val="14142B"/>
                </a:solidFill>
              </a:rPr>
              <a:t>___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2200" dirty="0">
                <a:solidFill>
                  <a:srgbClr val="14142B"/>
                </a:solidFill>
              </a:rPr>
              <a:t>/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뭘 해요</a:t>
            </a:r>
            <a:r>
              <a:rPr lang="en-US" sz="2200" dirty="0">
                <a:solidFill>
                  <a:srgbClr val="14142B"/>
                </a:solidFill>
              </a:rPr>
              <a:t>? → B: ___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2200" dirty="0">
                <a:solidFill>
                  <a:srgbClr val="14142B"/>
                </a:solidFill>
              </a:rPr>
              <a:t>/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2200" dirty="0">
                <a:solidFill>
                  <a:srgbClr val="14142B"/>
                </a:solidFill>
              </a:rPr>
              <a:t>___.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2 fotos cada uno y cambian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Solo coreano · el chat es para «¿cómo se dice…?»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6ef1b321af864d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  </a:t>
            </a:r>
            <a:r>
              <a:rPr lang="en-US" sz="3000" b="1" dirty="0">
                <a:solidFill>
                  <a:srgbClr val="003478"/>
                </a:solidFill>
              </a:rPr>
              <a:t>Modelo para la sala</a:t>
            </a:r>
            <a:r>
              <a:rPr lang="en-US" sz="1500" b="1" i="1" dirty="0">
                <a:solidFill>
                  <a:srgbClr val="8A8DA0"/>
                </a:solidFill>
              </a:rPr>
              <a:t>   Model dialogue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A pregunta · B muestra su foto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499970"/>
            <a:ext cx="2601468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누구예요</a:t>
            </a:r>
            <a:r>
              <a:rPr lang="en-US" sz="2000" b="1" dirty="0">
                <a:solidFill>
                  <a:srgbClr val="4236F6"/>
                </a:solidFill>
              </a:rPr>
              <a:t>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961181"/>
            <a:ext cx="2455164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A · ¿Quiénes son?</a:t>
            </a:r>
            <a:endParaRPr lang="en-US" sz="1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747772" y="1947672"/>
            <a:ext cx="310896" cy="310896"/>
          </a:xfrm>
          <a:prstGeom prst="rect">
            <a:avLst/>
          </a:prstGeom>
        </p:spPr>
      </p:pic>
      <p:sp>
        <p:nvSpPr>
          <p:cNvPr id="8" name="card_1"/>
          <p:cNvSpPr/>
          <p:nvPr/>
        </p:nvSpPr>
        <p:spPr>
          <a:xfrm>
            <a:off x="3378708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378708" y="2499970"/>
            <a:ext cx="2601468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동생하고 강아지예요</a:t>
            </a:r>
            <a:r>
              <a:rPr lang="en-US" sz="1600" b="1" dirty="0">
                <a:solidFill>
                  <a:srgbClr val="4236F6"/>
                </a:solidFill>
              </a:rPr>
              <a:t>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451860" y="3961181"/>
            <a:ext cx="2455164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B · Son mi hermana menor y mi perro.</a:t>
            </a:r>
            <a:endParaRPr lang="en-US" sz="1600" dirty="0"/>
          </a:p>
        </p:txBody>
      </p:sp>
      <p:pic>
        <p:nvPicPr>
          <p:cNvPr id="11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577840" y="1947672"/>
            <a:ext cx="310896" cy="310896"/>
          </a:xfrm>
          <a:prstGeom prst="rect">
            <a:avLst/>
          </a:prstGeom>
        </p:spPr>
      </p:pic>
      <p:sp>
        <p:nvSpPr>
          <p:cNvPr id="12" name="card_2"/>
          <p:cNvSpPr/>
          <p:nvPr/>
        </p:nvSpPr>
        <p:spPr>
          <a:xfrm>
            <a:off x="6208776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208776" y="2499970"/>
            <a:ext cx="2601468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동생하고 강아지는 뭘 해요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281928" y="3961181"/>
            <a:ext cx="2455164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A · ¿Qué hacen tu hermana y el perro?</a:t>
            </a:r>
            <a:endParaRPr lang="en-US" sz="1600" dirty="0"/>
          </a:p>
        </p:txBody>
      </p:sp>
      <p:pic>
        <p:nvPicPr>
          <p:cNvPr id="15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407908" y="1947672"/>
            <a:ext cx="310896" cy="310896"/>
          </a:xfrm>
          <a:prstGeom prst="rect">
            <a:avLst/>
          </a:prstGeom>
        </p:spPr>
      </p:pic>
      <p:sp>
        <p:nvSpPr>
          <p:cNvPr id="16" name="card_3"/>
          <p:cNvSpPr/>
          <p:nvPr/>
        </p:nvSpPr>
        <p:spPr>
          <a:xfrm>
            <a:off x="9038844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9038844" y="2499970"/>
            <a:ext cx="2601468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텔레비전을 봐요</a:t>
            </a:r>
            <a:r>
              <a:rPr lang="en-US" sz="2000" b="1" dirty="0">
                <a:solidFill>
                  <a:srgbClr val="4236F6"/>
                </a:solidFill>
              </a:rPr>
              <a:t>.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9111996" y="3961181"/>
            <a:ext cx="2455164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B · Ven televisión.</a:t>
            </a:r>
            <a:endParaRPr lang="en-US" sz="1600" dirty="0"/>
          </a:p>
        </p:txBody>
      </p:sp>
      <p:pic>
        <p:nvPicPr>
          <p:cNvPr id="19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해요  </a:t>
            </a:r>
            <a:r>
              <a:rPr lang="en-US" sz="2200" b="1" dirty="0">
                <a:solidFill>
                  <a:srgbClr val="003478"/>
                </a:solidFill>
              </a:rPr>
              <a:t>Salas 2: OX, ¿verdad o mentira?</a:t>
            </a:r>
            <a:r>
              <a:rPr lang="en-US" sz="1500" b="1" i="1" dirty="0">
                <a:solidFill>
                  <a:srgbClr val="8A8DA0"/>
                </a:solidFill>
              </a:rPr>
              <a:t>   Breakout 2: true or false?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10 minutos · 2 rondas cada uno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dice 3 frases de su vida con 하고</a:t>
            </a:r>
            <a:r>
              <a:rPr lang="en-US" sz="2000" dirty="0">
                <a:solidFill>
                  <a:srgbClr val="14142B"/>
                </a:solidFill>
              </a:rPr>
              <a:t>: 2 verdaderas y 1 mentira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puede pedir 1 repetición: ___하고 </a:t>
            </a:r>
            <a:r>
              <a:rPr lang="en-US" sz="2000" dirty="0">
                <a:solidFill>
                  <a:srgbClr val="14142B"/>
                </a:solidFill>
              </a:rPr>
              <a:t>___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2000" dirty="0">
                <a:solidFill>
                  <a:srgbClr val="14142B"/>
                </a:solidFill>
              </a:rPr>
              <a:t>/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뭘 해요</a:t>
            </a:r>
            <a:r>
              <a:rPr lang="en-US" sz="2000" dirty="0">
                <a:solidFill>
                  <a:srgbClr val="14142B"/>
                </a:solidFill>
              </a:rPr>
              <a:t>?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B escucha las 3 frases y marca X en UNA sola (la mentira); en las otras, 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B encuentra la mentira: 1 punto para B · si no, 1 punto para 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B acierta, A: 딩동댕</a:t>
            </a:r>
            <a:r>
              <a:rPr lang="en-US" sz="2000" dirty="0">
                <a:solidFill>
                  <a:srgbClr val="14142B"/>
                </a:solidFill>
              </a:rPr>
              <a:t>! · si falla, A: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땡</a:t>
            </a:r>
            <a:r>
              <a:rPr lang="en-US" sz="2000" dirty="0">
                <a:solidFill>
                  <a:srgbClr val="14142B"/>
                </a:solidFill>
              </a:rPr>
              <a:t>! · después A dice la verdad: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</a:t>
            </a:r>
            <a:r>
              <a:rPr lang="en-US" sz="2000" dirty="0">
                <a:solidFill>
                  <a:srgbClr val="14142B"/>
                </a:solidFill>
              </a:rPr>
              <a:t>___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r>
              <a:rPr lang="en-US" sz="2000" dirty="0">
                <a:solidFill>
                  <a:srgbClr val="14142B"/>
                </a:solidFill>
              </a:rPr>
              <a:t>___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2000" dirty="0">
                <a:solidFill>
                  <a:srgbClr val="14142B"/>
                </a:solidFill>
              </a:rPr>
              <a:t>/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2000" dirty="0">
                <a:solidFill>
                  <a:srgbClr val="14142B"/>
                </a:solidFill>
              </a:rPr>
              <a:t>___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2000" dirty="0">
                <a:solidFill>
                  <a:srgbClr val="14142B"/>
                </a:solidFill>
              </a:rPr>
              <a:t>/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2000" dirty="0">
                <a:solidFill>
                  <a:srgbClr val="14142B"/>
                </a:solidFill>
              </a:rPr>
              <a:t>___.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Cambian de rol · 2 rondas cada uno (una 3.ª si sobra tiempo)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484209b0c35f8e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시간  </a:t>
            </a:r>
            <a:r>
              <a:rPr lang="en-US" sz="3000" b="1" dirty="0">
                <a:solidFill>
                  <a:srgbClr val="003478"/>
                </a:solidFill>
              </a:rPr>
              <a:t>Minuto libre</a:t>
            </a:r>
            <a:r>
              <a:rPr lang="en-US" sz="1500" b="1" i="1" dirty="0">
                <a:solidFill>
                  <a:srgbClr val="8A8DA0"/>
                </a:solidFill>
              </a:rPr>
              <a:t>   Free minute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3 minutos · sin guion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Cada uno habla 1 minuto de su familia o de sus amigos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2400" dirty="0">
                <a:solidFill>
                  <a:srgbClr val="14142B"/>
                </a:solidFill>
              </a:rPr>
              <a:t>…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otro escucha y hace 1 pregunta: ___하고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뭘 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A las 21:55 las salas se cierran solas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</a:t>
            </a:r>
            <a:endParaRPr lang="en-US" sz="8600" dirty="0"/>
          </a:p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8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말해요  </a:t>
            </a:r>
            <a:r>
              <a:rPr lang="en-US" sz="3000" b="1" dirty="0">
                <a:solidFill>
                  <a:srgbClr val="003478"/>
                </a:solidFill>
              </a:rPr>
              <a:t>Errores del día</a:t>
            </a:r>
            <a:r>
              <a:rPr lang="en-US" sz="1500" b="1" i="1" dirty="0">
                <a:solidFill>
                  <a:srgbClr val="8A8DA0"/>
                </a:solidFill>
              </a:rPr>
              <a:t>   Today's mistakes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Los anotó Jay en las salas · sin nombres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 그리고 엄마 </a:t>
            </a:r>
            <a:r>
              <a:rPr lang="en-US" sz="2800" dirty="0">
                <a:solidFill>
                  <a:srgbClr val="14142B"/>
                </a:solidFill>
              </a:rPr>
              <a:t>→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아빠하고 엄마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저은 </a:t>
            </a:r>
            <a:r>
              <a:rPr lang="en-US" sz="2800" dirty="0">
                <a:solidFill>
                  <a:srgbClr val="14142B"/>
                </a:solidFill>
              </a:rPr>
              <a:t>→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자전거에서 타요 </a:t>
            </a:r>
            <a:r>
              <a:rPr lang="en-US" sz="2800" dirty="0">
                <a:solidFill>
                  <a:srgbClr val="14142B"/>
                </a:solidFill>
              </a:rPr>
              <a:t>→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자전거를 타요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사진을 해요 </a:t>
            </a:r>
            <a:r>
              <a:rPr lang="en-US" sz="2800" dirty="0">
                <a:solidFill>
                  <a:srgbClr val="14142B"/>
                </a:solidFill>
              </a:rPr>
              <a:t>→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사진을 찍어요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endParaRPr lang="en-US" sz="7700" dirty="0"/>
          </a:p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말해요</a:t>
            </a:r>
            <a:endParaRPr lang="en-US" sz="7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문장  </a:t>
            </a:r>
            <a:r>
              <a:rPr lang="en-US" sz="3000" b="1" dirty="0">
                <a:solidFill>
                  <a:srgbClr val="003478"/>
                </a:solidFill>
              </a:rPr>
              <a:t>3 frases clave</a:t>
            </a:r>
            <a:r>
              <a:rPr lang="en-US" sz="1500" b="1" i="1" dirty="0">
                <a:solidFill>
                  <a:srgbClr val="8A8DA0"/>
                </a:solidFill>
              </a:rPr>
              <a:t>   3 key sentences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 coro, dos veces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씨하고 발렌티나</a:t>
            </a:r>
            <a:endParaRPr lang="en-US" sz="2400" dirty="0"/>
          </a:p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씨는 자전거를 타요</a:t>
            </a:r>
            <a:r>
              <a:rPr lang="en-US" sz="2400" b="1" dirty="0">
                <a:solidFill>
                  <a:srgbClr val="4236F6"/>
                </a:solidFill>
              </a:rPr>
              <a:t>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961181"/>
            <a:ext cx="3398520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1600" dirty="0">
                <a:solidFill>
                  <a:srgbClr val="5C5F6B"/>
                </a:solidFill>
              </a:rPr>
              <a:t>y Valentina andan en bicicleta.</a:t>
            </a:r>
            <a:endParaRPr lang="en-US" sz="1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8" name="card_1"/>
          <p:cNvSpPr/>
          <p:nvPr/>
        </p:nvSpPr>
        <p:spPr>
          <a:xfrm>
            <a:off x="4322064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322064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씨하고 서아는 뭘 해요</a:t>
            </a:r>
            <a:r>
              <a:rPr lang="en-US" sz="1800" b="1" dirty="0">
                <a:solidFill>
                  <a:srgbClr val="4236F6"/>
                </a:solidFill>
              </a:rPr>
              <a:t>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395216" y="3961181"/>
            <a:ext cx="3398520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¿Qué hacen 도윤 </a:t>
            </a:r>
            <a:r>
              <a:rPr lang="en-US" sz="1600" dirty="0">
                <a:solidFill>
                  <a:srgbClr val="5C5F6B"/>
                </a:solidFill>
              </a:rPr>
              <a:t>y </a:t>
            </a: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</a:t>
            </a:r>
            <a:r>
              <a:rPr lang="en-US" sz="1600" dirty="0">
                <a:solidFill>
                  <a:srgbClr val="5C5F6B"/>
                </a:solidFill>
              </a:rPr>
              <a:t>?</a:t>
            </a:r>
            <a:endParaRPr lang="en-US" sz="1600" dirty="0"/>
          </a:p>
        </p:txBody>
      </p:sp>
      <p:pic>
        <p:nvPicPr>
          <p:cNvPr id="11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2" name="card_2"/>
          <p:cNvSpPr/>
          <p:nvPr/>
        </p:nvSpPr>
        <p:spPr>
          <a:xfrm>
            <a:off x="8095488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095488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친구하고 저는 사진을 찍어요</a:t>
            </a:r>
            <a:r>
              <a:rPr lang="en-US" sz="1700" b="1" dirty="0">
                <a:solidFill>
                  <a:srgbClr val="4236F6"/>
                </a:solidFill>
              </a:rPr>
              <a:t>.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095488" y="3961181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[친구하고 저는 사지늘 찌거요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168640" y="4235501"/>
            <a:ext cx="3398520" cy="1863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Mi amigo y yo sacamos fotos.</a:t>
            </a:r>
            <a:endParaRPr lang="en-US" sz="1600" dirty="0"/>
          </a:p>
        </p:txBody>
      </p:sp>
      <p:pic>
        <p:nvPicPr>
          <p:cNvPr id="16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 봐요  </a:t>
            </a:r>
            <a:r>
              <a:rPr lang="en-US" sz="3000" b="1" dirty="0">
                <a:solidFill>
                  <a:srgbClr val="003478"/>
                </a:solidFill>
              </a:rPr>
              <a:t>Tarea</a:t>
            </a:r>
            <a:r>
              <a:rPr lang="en-US" sz="1500" b="1" i="1" dirty="0">
                <a:solidFill>
                  <a:srgbClr val="8A8DA0"/>
                </a:solidFill>
              </a:rPr>
              <a:t>   Homework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Hoja del alumno · clase 3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Ejercicios 1, 2 y 3 de la hoja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 봐요</a:t>
            </a:r>
            <a:r>
              <a:rPr lang="en-US" sz="2200" dirty="0">
                <a:solidFill>
                  <a:srgbClr val="14142B"/>
                </a:solidFill>
              </a:rPr>
              <a:t>: pregunta y respuesta para 4 escenas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 foto: 3 frases con 하고 </a:t>
            </a:r>
            <a:r>
              <a:rPr lang="en-US" sz="2200" dirty="0">
                <a:solidFill>
                  <a:srgbClr val="14142B"/>
                </a:solidFill>
              </a:rPr>
              <a:t>(foto o dibujo)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Mándasela a Jay por privado (WhatsApp) antes del lunes 9 de noviembre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Opcional: un audio leyendo tus 3 frases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 봐요</a:t>
            </a:r>
            <a:endParaRPr lang="en-US" sz="7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3000" b="1" dirty="0">
                <a:solidFill>
                  <a:srgbClr val="FFFFFF"/>
                </a:solidFill>
              </a:rPr>
              <a:t>!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3000" b="1" dirty="0">
                <a:solidFill>
                  <a:srgbClr val="FFFFFF"/>
                </a:solidFill>
              </a:rPr>
              <a:t>!  ¡Gracias! ¡Ánimo!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800" dirty="0">
                <a:solidFill>
                  <a:srgbClr val="FFFFFF"/>
                </a:solidFill>
              </a:rPr>
              <a:t>Clase 4 · miércoles 11 de noviembre · 21:00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clase 4 abre con un quiz cortito de 하고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Lección 3: 언제</a:t>
            </a:r>
            <a:r>
              <a:rPr lang="en-US" sz="1800" dirty="0">
                <a:solidFill>
                  <a:srgbClr val="FFFFFF"/>
                </a:solidFill>
              </a:rPr>
              <a:t>? (¿cuándo?)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잘했어요</a:t>
            </a:r>
            <a:r>
              <a:rPr lang="en-US" sz="18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</a:t>
            </a:r>
            <a:r>
              <a:rPr lang="en-US" sz="1800" dirty="0">
                <a:solidFill>
                  <a:srgbClr val="FFFFFF"/>
                </a:solidFill>
              </a:rPr>
              <a:t>· </a:t>
            </a:r>
            <a:r>
              <a:rPr lang="ko-KR" alt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5334</Words>
  <Application>Microsoft Office PowerPoint</Application>
  <PresentationFormat>Widescreen</PresentationFormat>
  <Paragraphs>419</Paragraphs>
  <Slides>28</Slides>
  <Notes>28</Notes>
  <HiddenSlides>0</HiddenSlides>
  <MMClips>27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Malgun Gothic</vt:lpstr>
      <vt:lpstr>Arial</vt:lpstr>
      <vt:lpstr>Academia Seul</vt:lpstr>
      <vt:lpstr>Básico 2 · Clase 3</vt:lpstr>
      <vt:lpstr>복습 퀴즈  Quiz de la clase 2   Class 2 quiz</vt:lpstr>
      <vt:lpstr>De una persona a dos   From one person to two</vt:lpstr>
      <vt:lpstr>여기는 어디예요?  Un día en el parque   A day at the park</vt:lpstr>
      <vt:lpstr>듣고 따라 하세요  ¿Qué hacen?   What are they doing?</vt:lpstr>
      <vt:lpstr>OX 퀴즈  ¿O o X?   True or false?</vt:lpstr>
      <vt:lpstr>배워 봐요  Palabras nuevas   New words</vt:lpstr>
      <vt:lpstr>배워 봐요  Frases con 타요 y 찍어요   Phrases with 타요 and 찍어요</vt:lpstr>
      <vt:lpstr>읽어 봐요  Lean en voz alta   Read aloud</vt:lpstr>
      <vt:lpstr>N하고 N  하고 = y   하고 = and</vt:lpstr>
      <vt:lpstr>하고 se escribe siempre igual   하고 is always spelled the same</vt:lpstr>
      <vt:lpstr>¿하고 o 그리고?   하고 or 그리고?</vt:lpstr>
      <vt:lpstr>La frase completa   The whole sentence</vt:lpstr>
      <vt:lpstr>Así sí · así no   Right · wrong</vt:lpstr>
      <vt:lpstr>뭘 해요?  ¿Qué hacen?   What are they doing?</vt:lpstr>
      <vt:lpstr>연습해요  Arma la frase   Build the sentence</vt:lpstr>
      <vt:lpstr>연습해요  ¿Está bien?   Is it right?</vt:lpstr>
      <vt:lpstr>여러분은요?  Ahora tú   Your turn</vt:lpstr>
      <vt:lpstr>들어 봐요  Escucha: la foto de Mateo   Listen: Mateo's photo</vt:lpstr>
      <vt:lpstr>빨리빨리!  Drill en cadena   Chain drill</vt:lpstr>
      <vt:lpstr>이야기해요  Salas 1: Mi galería   Breakout 1: My photo gallery</vt:lpstr>
      <vt:lpstr>이야기해요  Modelo para la sala   Model dialogue</vt:lpstr>
      <vt:lpstr>같이 해요  Salas 2: OX, ¿verdad o mentira?   Breakout 2: true or false?</vt:lpstr>
      <vt:lpstr>자유 시간  Minuto libre   Free minute</vt:lpstr>
      <vt:lpstr>이렇게 말해요  Errores del día   Today's mistakes</vt:lpstr>
      <vt:lpstr>오늘의 문장  3 frases clave   3 key sentences</vt:lpstr>
      <vt:lpstr>써 봐요  Tarea   Homework</vt:lpstr>
      <vt:lpstr>감사합니다! 화이팅!  ¡Gracias! ¡Ánimo!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2 (A1.2) · Semana 3 · 아빠하고 엄마는 자전거를 타요 · Papá y mamá andan en bicicleta</dc:title>
  <dc:subject>PptxGenJS Presentation</dc:subject>
  <dc:creator>Academia Seúl</dc:creator>
  <cp:lastModifiedBy>Jae Hee Kim</cp:lastModifiedBy>
  <cp:revision>2</cp:revision>
  <dcterms:created xsi:type="dcterms:W3CDTF">2026-10-22T12:13:45Z</dcterms:created>
  <dcterms:modified xsi:type="dcterms:W3CDTF">2026-10-22T12:14:31Z</dcterms:modified>
</cp:coreProperties>
</file>