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mana 4" id="{DBC7AC0B-85D9-E10A-9B4E-2D08FA070207}">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713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 (unos segundos, junto con L2). Inicia la grabación en la nube. «¡Bienvenidos a la clase 4! Hoy, lección 3 del libro: 언제, ‘cuándo’. Al final de la clase van a contar cuándo hacen cada cosa de su día: en la mañana, en la noche, hoy, mañana.» Pasa a L2 mientras llega la gente. Referencia: 한국어 2, lección 3, pág. 26 (título de la lección).
Fuente: Portada de la plantilla
Lámina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21:00–21:02 (2 min). Pega en el chat el link de la hoja de la clase 4 (la van a usar en las salas). Saluda a cada uno por su nombre («안녕하세요, ___ 씨!»). Pide en el chat una frase sobre su día con 오늘; lee 2–3 en voz alta y reacciona corto («와, 좋아요!» · «화이팅!»). No corrijas todavía: si alguien escribe 오늘에, anótalo (sin nombre) para mostrarlo en L12. Si alguien usa 내일, felicítalo: es una palabra de hoy. Referencia: 한국어 2, lecciones 1–2 (verbos de las clases 2 y 3).
Fuente: Nueva
Lámina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21:02–21:05 (3 min). Antes del quiz (20 s): agradece las tareas que llegaron y di el error más común, sin nombres (cada una ya la corregiste por WhatsApp). Quiz oral de la clase 3: preguntas, esperas 5 segundos, responden en coro o en el chat y revelas con clic. En la 4 recuerda 누가 → 이/가 (clase 2): 서아 termina en vocal → 서아가. En la 5, si alguien dice «도윤 씨하고 하나 씨가», también está bien: dilo. Anota quién duda con 하고. Si vas atrasado, solo 1, 2 y 5. Referencia: 한국어 2, lección 2, págs. 16–25, y lección 1, págs. 6–15.
Imagen: incluida (dibujo de la casa).
Fuente: Nueva
Lámina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21:05–21:06 (1 min). Muestra la imagen. Valentina vive en Seúl, pero estas semanas está de visita donde su familia, en Santiago; 하나 está en Seúl. Pregunta en español: «¿Qué hora es en Santiago? ¿Y en Seúl?». Hay 12 horas de diferencia: nuestro miércoles 21:00 es el jueves 9:00 en Seúl. Pon el audio dos veces señalando cada mitad de la imagen; el grupo repite. «산티아고 = 저녁, 서울 = 아침: ya tienen dos palabras de hoy.» Referencia: tema de la escena de apertura de 한국어 2, lección 3, pág. 26; la escena es nueva.
Imagen: incluida (dibujo de la casa).
Fuente: Nueva (escena original con el mismo tema que la apertura del libro)
Lámina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21:06–21:09 (3 min). Antes del audio, el saludo de la videollamada lo dices tú en vivo («하나 씨, 안녕하세요!» / «안녕하세요, 발렌티나 씨!»). (1) Clic a clic: escuchan cada línea y el grupo repite en coro, sin explicar nada todavía. (2) Tú lees las líneas de Valentina y el grupo las de 하나; luego al revés. (3) Dos voluntarios leen los papeles. Señala 아침에 y 저녁에 (con 에) y 내일 (sin 에): «En 10 minutos les cuento por qué uno lleva 에 y el otro no». Y si alguien pregunta: «수영을 해요 = 수영해요, el de la clase 2: es lo mismo». 아침에 suena [아치메]: la ㅁ se pega a la 에. Si preguntan por «공부 화이팅»: ‘¡ánimo con el estudio!’, se dice mucho. Referencia: secuencia de lectura de la guía (el profesor lee, los alumnos repiten, luego papeles en parejas), 한국어 2, guía del profesor, pág. 28; diálogo nuevo.
Imagen pendiente: Opcional, en PowerPoint: si quieres la videollamada en miniatura arriba, copia la imagen de la lámina 4 (L4_slide.svg), achícala a unos 2" de ancho y pégala sobre las tarjetas; el generador no tiene un lugar «arriba» y, a la derecha o dentro de cada tarjeta, achica demasiado las frases del diálogo. Para resaltar 아침에, 저녁에 y 내일 en azul, selecciona esas palabras en las tarjetas y cámbiales el color a #4236F6 (las frases ya salen en azul: si quieres contraste, deja el resto en navy #003478).
Fuente: Nueva (lectura en 3 pasos: idea de la guía, pág. 28)
Lámina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21:09–21:10 (1 min). Pregunta en coreano, responden en coro y revelas. Si contestan solo «아침에!», acéptalo y dales la forma corta cortés: «아침에요.» Después pide una vez la frase completa. La 4 repasa 이에요 de Básico 1. Referencia: preguntas sobre la imagen de apertura, 한국어 2, lección 3, pág. 26, y guía del profesor, pág. 28 (그림 활동).
Fuente: Nueva (preguntas sobre la escena: idea de la guía, pág. 28)
Lámina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21:10–21:12 (2 min). Cada palabra: clic → audio → el grupo repite dos veces. Luego tapa los textos («¡Sin mirar!»; si lo dices en coreano, como frase de clase: «보지 마세요!») y señala las imágenes al azar: ellos dicen la palabra. Repite hasta que salgan sin pensar. 오늘 ya la conocen de Básico 1. 저녁: la ㅓ es una «o» abierta, con la boca más abierta que en 오. 아침 y 저녁 también son comidas: lo vemos en L14. Referencia: 한국어 2, lección 3, pág. 27 (배워 봐요); proceso de la guía del profesor, pág. 29 (tapar la palabra y señalar la imagen).
Imagen: incluida (dibujo de la casa).
Fuente: Idea de la guía, pág. 29
Lámina 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21:12–21:13 (1 min). «En español ‘mañana’ son dos cosas. En coreano son dos palabras: 아침 es la parte del día y 내일 es el día siguiente.» Pregunta rápida en español y responden en coreano: «Mañana voy a la oficina» → 내일 · «Tomo café en la mañana» → 아침에. Cierra con 내일 아침에: «primero el día, después la parte del día, igual que en español». Referencia: vocabulario de 한국어 2, lección 3, pág. 27 (la comparación es nueva, pensada para hispanohablantes).
Imagen: incluida (dibujo de la casa).
Fuente: Nueva
Lámina 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21:13–21:14 (1 min). Audio y repetición, sin detenerte. «No están en el libro, pero las van a necesitar para hablar de su vida: 점심, 밤 y 주말.» Diferencia práctica: 저녁 es después del trabajo y la hora de cenar (más o menos de 18:00 a 21:00); 밤 es más tarde, cuando ya toca dormir. «¿Nuestra clase a las 21:00? Se dice de las dos maneras.» 매일 y 지금 son de Básico 1. Referencia: no están en 한국어 2, lección 3 (extra de la casa, máximo 3 por clase).
Imagen: incluida (dibujo de la casa).
Fuente: Nueva (extra para adultos)
Lámina 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21:14–21:15 (1 min). «Cuando la palabra termina en consonante, esa consonante se pega a la 에: 아침에 suena [아치메].» Ellos leen primero, tú confirmas y repiten. 주말에 [주마레]: la ㄹ entre vocales es una r suave, como en ‘pero’. 수영을 y 운동을: la ㅇ final (el sonido ng) nunca se mueve. Referencia: 한국어 2, lección 3, pág. 28 (아침에 y 저녁에 en las frases modelo).
Fuente: Nueva
Lámina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21:15–21:17 (2 min). Pasos 1–2: audio y el grupo repite tres veces (el tono más alto va en 언제; imiten el audio). Paso 3: tú cambias la actividad y ellos repiten: 언제 운동해요? → 언제 요리해요? → 언제 커피를 마셔요? Paso 4: «___ 씨, 언제 운동해요?» a dos alumnos; acepta cualquier respuesta y reformúlala bien en coreano, sin explicar. Explicación en una frase: «언제 es ‘cuándo’ y va justo antes de la actividad; para responder, cambias 언제 por el momento». Referencia: 한국어 2, lección 3, págs. 26 y 28 (patrón 언제 N을/를 해요?); proceso de la guía del profesor, pág. 30.
Imagen: incluida (dibujo de la casa).
Fuente: Idea de la guía, pág. 30
Lámina 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21:17–21:19 (2 min). La regla en dos frases: «Con las partes del día (아침, 점심, 저녁, 밤) y con 주말 se agrega 에: es el mismo 에 de 회사에 가요, ahora para el tiempo. 오늘, 내일, 지금 y 매일 van solas, igual que en español decimos ‘hoy trabajo’ y no ‘en hoy trabajo’.» Si en L2 alguien escribió 오늘에, muéstralo ahora sin decir quién: «¡Muy común! Pero 오늘 va sola». Luego el grupo lee en coro las frases de las columnas 1 y 2 y, en la columna 3, dice «✗!». (La frase propia llega después de practicar: L20 y salas.) Referencia: 한국어 2, lección 3, págs. 28–30 (아침에 / 저녁에 frente a 오늘 / 내일).
Fuente: Nueva
Lámina 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21:19–21:20 (1 min). Lee cada pareja de pregunta y respuesta; el grupo repite la respuesta. «El orden es el mismo de la pregunta: solo cambias 언제 por el momento.» Presenta a los personajes en 10 segundos: 도윤 es cocinero y trabaja en la tarde-noche; 마테오 juega fútbol los fines de semana; 콩이 es el perrito de 도윤 (sin 씨: es un perro). Referencia: 한국어 2, lección 3, pág. 28 (pregunta y respuesta con la misma estructura).
Imagen: incluida (dibujo de la casa).
Fuente: Nueva
Lámina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21:20–21:21 (1 min). (1) «수영해요 y 수영을 해요 significan lo mismo; el libro usa la forma con 을/를 y ustedes pueden usar cualquiera.» (2) «아침, 점심 y 저녁 son el momento y también la comida. 아침을 먹어요 ya es ‘desayuno’: no hace falta 아침에. 아침에 아침을 먹어요 es correcto, pero redundante; lo normal es 아침을 먹어요 (conversando, 아침 먹어요).» Si vas atrasado, salta esta lámina: está en la hoja. Referencia: 한국어 2, lección 3, págs. 28–29 (수영을 해요, 운동을 해요).
Imagen: incluida (dibujo de la casa).
Fuente: Nueva
Lámina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21:21–21:23 (2 min). Ítem por ítem, cada uno a un alumno distinto (por nombre), y después el grupo en coro. Las trampas son la 3 y la 4: si alguien dice 오늘에, pregunta «¿오늘 lleva 에?» y deja que se corrija solo. Referencia: 한국어 2, lección 3, pág. 29 (연습해요: completar el momento del día); proceso de la guía del profesor, pág. 31 (primero oral, después escrito).
Imagen: incluida (dibujo de la casa).
Fuente: Idea de la guía, pág. 31
Lámina 15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21:23–21:24 (1 min). Rápido: responden en el chat «O» (lleva 에) o «X» (nada) y revelas. Resume: «Partes del día y 주말 → 에. 오늘, 내일, 매일 y 지금 → nada.» Referencia: 한국어 2, lección 3, págs. 28–29.
Fuente: Nueva
Lámina 16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21:24–21:25 (1 min). Lee tú la respuesta en voz alta; ellos dicen la pregunta y revelas. «Para preguntar, cambia el momento con su 에 por 언제: 저녁에 전화해요 → 언제 전화해요? 언제 nunca lleva 에 (언제에 ✗).» También vale poner el objeto o el lugar antes: 커피를 언제 마셔요? · 공원에 언제 가요? Si vas atrasado, solo 1 y 3. Referencia: 한국어 2, lección 3, pág. 30 (이야기해요: pregunta y respuesta).
Fuente: Nueva
Lámina 17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21:25–21:28 (3 min). Guion (lo lees tú, a velocidad normal, dos veces; la segunda, con una pausa después de cada frase): 가) 서아는 저녁에 노래해요. 나) 콩이는 아침에 공원에 가요. 다) 마테오 씨는 내일 자전거를 타요. 라) 발렌티나 씨는 오늘 한국어를 공부해요. 마) 도윤 씨는 주말에 사진을 찍어요. 바) 하나 씨는 점심에 커피를 마셔요. Escriben en el chat «가 저녁에», etc.; quien no tenga teclado responde en voz alta. Revela ítem por ítem y pide que repitan la frase completa en coro. Referencia: 한국어 2, lección 3, pág. 31 (들어 봐요: unir actividad y momento) y guía del profesor, pág. 33 (el profesor lee dos veces y se revisa juntos); guion nuevo.
Imagen: incluida (dibujo de la casa).
Fuente: Idea de la guía, pág. 33 (el profesor lee y se une actividad con momento); guion nuevo
Lámina 18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21:28–21:29 (1 min). Lee cada frase una vez, natural (sin exagerar la ㄴ ni la ㅁ); responden 1 (내일) o 2 (매일) en el chat, o en voz alta, y revelas. Truco: «con la ㅁ se cierran los labios; con la ㄴ, no: mírenme la boca». Si sobra tiempo, ellos dicen una y tú adivinas. Referencia: 내일, de 한국어 2, lección 3, pág. 27, y 매일, de Básico 1; ejercicio nuevo.
Fuente: Nueva
Lámina 19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21:29–21:32 (3 min). Empieza tú con el alumno más seguro. Cada uno responde y pregunta al siguiente por su nombre, en el orden de la galería de Zoom. Ritmo: unos 10 segundos por persona; dos vueltas cortas. Corrige solo el 에 (오늘에 → 오늘) diciendo la frase bien, sin explicar. Segunda vuelta, respuesta doble: «아침에 커피를 마셔요. 그리고 저녁에 운동해요.» Referencia: 한국어 2, lección 3, pág. 33 (아침에 뭘 해요? / 저녁에 뭘 해요?) y guía del profesor, pág. 35.
Fuente: Nueva (formato de drill de la casa)
Lámina 20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21:32–21:35 (antes de abrir las salas; L21 a L24 en 3 minutos en total). Modela con un alumno: «___ 씨, 언제 커피를 마셔요?» → responde → tú lo dices en voz alta: «___ 씨는 아침에 커피를 마셔요». «안 해요» es frase fija, como 안 좋아해요 de Básico 1; con 마셔요 se dice «안 마셔요!». Abre salas de 2 (si son impares, una de 3) por 19 minutos, con la cuenta regresiva de 60 segundos. A las 21:43, «Transmitir mensaje»: «Parte 2: 같이 해요 — cadena de memoria (tema: 내일 뭘 해요?)». Referencia: 한국어 2, lección 3, pág. 30 (이야기해요) y guía del profesor, pág. 32 (tarjetas de actividad y de momento, en parejas).
Fuente: Idea de la guía, pág. 32 (hablar con tarjetas en parejas)
Lámina 21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2 de las salas (21:43–21:51; se explica a las 21:32–21:35 junto con L21). En parejas la cadena crece por turnos: cada uno repite todo lo dicho, en orden, y agrega una frase. Lo propio va con 저는; lo del compañero, con su nombre + 씨는. Si la sala es de 3, rotan A → B → C. Pasa por las salas (30–60 segundos en cada una) y escucha el 에. Récord esperable: 6–8 frases. Referencia: 한국어 2, lección 3, pág. 32 (같이 해요: 오늘 뭘 해요?) y guía del profesor, pág. 34 (juego en círculo y variantes 내일 / 아침에 / 저녁에 뭘 해요?).
Imagen: incluida (dibujo de la casa).
Fuente: Idea de la guía, pág. 34
Lámina 22</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Muéstrala antes de abrir las salas (21:32–21:35, con L21–L22). Léela con un alumno que hace de Mateo. «Lo de uno: 저는. Lo del compañero: su nombre + 씨는.» 일해요 [일해요]; en el habla rápida, casi [이래요]. Referencia: formato del juego de 한국어 2, lección 3, pág. 32; ejemplo nuevo.
Imagen: incluida (dibujo de la casa).
Fuente: Nueva (formato de juego de la guía, pág. 34)
Lámina 23</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 3 de las salas (21:51–21:54). «Transmitir mensaje» a las 21:51: «Parte 3: minuto libre — 주말에 뭘 해요?». Las salas se cierran a las 21:54 y la cuenta regresiva de 60 segundos los trae de vuelta a las 21:55. Referencia: 한국어 2, lección 3, págs. 32–33, y guía del profesor, pág. 34 (이렇게 해 보세요: 내일 / 아침에 / 저녁에 뭘 해요?).
Fuente: Nueva
Lámina 24</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21:55–21:56 (1 min). Dos alumnos cuentan un dato de su pareja con su nombre («___ 씨는 주말에 자전거를 타요»). La sala con el récord de la cadena lo dice de memoria y el grupo aplaude («박수!»). Corrige solo reformulando. Referencia: 한국어 2, lección 3, pág. 33 (아침에 / 저녁에 뭘 해요?).
Fuente: Nueva
Lámina 25</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21:56–21:57 (1 min). Audio y coro, dos veces. Pregunta: «¿Por qué la 2 lleva 에 y la 3 no?» y deja que respondan ellos. Referencia: 한국어 2, lección 3, págs. 26–28.
Fuente: Nueva
Lámina 26</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21:57–21:58 (1 min). Lee los 5 típicos y agrega 1 o 2 que escuchaste hoy, sin nombres (escríbelos en la última línea con el anotador de Zoom). Tono: «son errores de gente que está hablando, ¡bien!». Referencia: 한국어 2, lección 3.
Fuente: Nueva
Lámina 27</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21:58–21:59 (1 min). «La tarea está en la hoja de la clase 4. Lo más importante es el 써 봐요: su semana de verdad en 5 frases. Mándenmelo por privado (WhatsApp) antes del lunes 16 de noviembre y les respondo con un audio.» Referencia: 한국어 2, lección 3, págs. 34–35 (써 봐요).
Fuente: Nueva (tipo de actividad 써 봐요 del libro)
Lámina 28</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21:59–22:00 (30 s). «La clase 5 abre con un quiz cortito de 언제. Y vemos las lecciones 4 y 5: tener y no ser.» (KO) «오늘 정말 잘했어요! 화이팅!» Luego, con una leve inclinación: «감사합니다!» → el grupo: «감사합니다!». A las 22:00: «Finalizar reunión para todos». Referencia: 한국어 2, lecciones 4 y 5, págs. 36–55 (clase 5).
Fuente: Nueva
Lámina 29</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_PORTADA">
    <p:bg>
      <p:bgPr>
        <a:solidFill>
          <a:srgbClr val="003478"/>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640080" y="548640"/>
            <a:ext cx="822960" cy="822960"/>
          </a:xfrm>
          <a:prstGeom prst="rect">
            <a:avLst/>
          </a:prstGeom>
        </p:spPr>
      </p:pic>
      <p:sp>
        <p:nvSpPr>
          <p:cNvPr id="3" name="Text 0"/>
          <p:cNvSpPr txBox="1"/>
          <p:nvPr/>
        </p:nvSpPr>
        <p:spPr>
          <a:xfrm>
            <a:off x="1600200" y="713232"/>
            <a:ext cx="5486400" cy="457200"/>
          </a:xfrm>
          <a:prstGeom prst="rect">
            <a:avLst/>
          </a:prstGeom>
          <a:noFill/>
          <a:ln/>
        </p:spPr>
        <p:txBody>
          <a:bodyPr wrap="square" lIns="0" tIns="0" rIns="0" bIns="0" rtlCol="0" anchor="ctr"/>
          <a:lstStyle/>
          <a:p>
            <a:pPr marL="0" indent="0">
              <a:buNone/>
            </a:pPr>
            <a:r>
              <a:rPr lang="en-US" sz="1400" b="1" kern="0" spc="600" dirty="0">
                <a:solidFill>
                  <a:srgbClr val="FFFFFF"/>
                </a:solidFill>
              </a:rPr>
              <a:t>ACADEMIA SEÚL</a:t>
            </a:r>
            <a:endParaRPr lang="en-US" sz="1400" dirty="0"/>
          </a:p>
        </p:txBody>
      </p:sp>
      <p:sp>
        <p:nvSpPr>
          <p:cNvPr id="4" name="Text 1"/>
          <p:cNvSpPr>
            <a:spLocks noGrp="1"/>
          </p:cNvSpPr>
          <p:nvPr>
            <p:ph type="title" idx="102" hasCustomPrompt="1"/>
          </p:nvPr>
        </p:nvSpPr>
        <p:spPr>
          <a:xfrm>
            <a:off x="640080" y="3063240"/>
            <a:ext cx="10881360" cy="914400"/>
          </a:xfrm>
          <a:prstGeom prst="rect">
            <a:avLst/>
          </a:prstGeom>
          <a:noFill/>
          <a:ln/>
        </p:spPr>
        <p:txBody>
          <a:bodyPr wrap="square" rtlCol="0"/>
          <a:lstStyle>
            <a:lvl1pPr marL="0" indent="0">
              <a:buNone/>
              <a:defRPr lang="en-US" sz="4400" b="1" dirty="0">
                <a:solidFill>
                  <a:srgbClr val="FFFFFF"/>
                </a:solidFill>
              </a:defRPr>
            </a:lvl1pPr>
          </a:lstStyle>
          <a:p>
            <a:pPr marL="0" indent="0">
              <a:buNone/>
            </a:pPr>
            <a:endParaRPr lang="en-US" sz="4400" dirty="0"/>
          </a:p>
        </p:txBody>
      </p:sp>
      <p:sp>
        <p:nvSpPr>
          <p:cNvPr id="5" name="Text 1"/>
          <p:cNvSpPr>
            <a:spLocks noGrp="1"/>
          </p:cNvSpPr>
          <p:nvPr>
            <p:ph type="body" idx="103" hasCustomPrompt="1"/>
          </p:nvPr>
        </p:nvSpPr>
        <p:spPr>
          <a:xfrm>
            <a:off x="640080" y="4160520"/>
            <a:ext cx="10881360" cy="1828800"/>
          </a:xfrm>
          <a:prstGeom prst="rect">
            <a:avLst/>
          </a:prstGeom>
          <a:noFill/>
          <a:ln/>
        </p:spPr>
        <p:txBody>
          <a:bodyPr wrap="square" rtlCol="0"/>
          <a:lstStyle>
            <a:lvl1pPr marL="0" indent="0">
              <a:buNone/>
              <a:defRPr lang="en-US" sz="2200" dirty="0">
                <a:solidFill>
                  <a:srgbClr val="E8B84B"/>
                </a:solidFill>
              </a:defRPr>
            </a:lvl1pPr>
          </a:lstStyle>
          <a:p>
            <a:pPr marL="0" indent="0">
              <a:buNone/>
            </a:pPr>
            <a:endParaRPr lang="en-US" sz="2200" dirty="0"/>
          </a:p>
        </p:txBody>
      </p:sp>
      <p:sp>
        <p:nvSpPr>
          <p:cNvPr id="6" name="Text 1"/>
          <p:cNvSpPr txBox="1"/>
          <p:nvPr/>
        </p:nvSpPr>
        <p:spPr>
          <a:xfrm>
            <a:off x="640080" y="6172200"/>
            <a:ext cx="10881360" cy="365760"/>
          </a:xfrm>
          <a:prstGeom prst="rect">
            <a:avLst/>
          </a:prstGeom>
          <a:noFill/>
          <a:ln/>
        </p:spPr>
        <p:txBody>
          <a:bodyPr wrap="square" lIns="0" tIns="0" rIns="0" bIns="0" rtlCol="0" anchor="ctr"/>
          <a:lstStyle/>
          <a:p>
            <a:pPr marL="0" indent="0">
              <a:buNone/>
            </a:pPr>
            <a:r>
              <a:rPr lang="en-US" sz="1200" dirty="0">
                <a:solidFill>
                  <a:srgbClr val="B9C3DA"/>
                </a:solidFill>
              </a:rPr>
              <a:t>Básico 2 (A1.2) · Semana 4 · Jay Kim (김재희) · Academia Seúl</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_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rtlCol="0"/>
          <a:lstStyle>
            <a:lvl1pPr marL="0" indent="0">
              <a:buNone/>
              <a:defRPr lang="en-US" sz="3000" b="1" dirty="0">
                <a:solidFill>
                  <a:srgbClr val="003478"/>
                </a:solidFill>
              </a:defRPr>
            </a:lvl1pPr>
          </a:lstStyle>
          <a:p>
            <a:pPr marL="0" indent="0">
              <a:buNone/>
            </a:pPr>
            <a:endParaRPr lang="en-US" sz="3000" dirty="0"/>
          </a:p>
        </p:txBody>
      </p:sp>
      <p:pic>
        <p:nvPicPr>
          <p:cNvPr id="3" name="Image 0" descr="C:/Users/Chingu/Desktop/ACADEMIASEULWEB/public/email/sello-azul.png"/>
          <p:cNvPicPr>
            <a:picLocks noChangeAspect="1"/>
          </p:cNvPicPr>
          <p:nvPr/>
        </p:nvPicPr>
        <p:blipFill>
          <a:blip r:embed="rId2"/>
          <a:stretch>
            <a:fillRect/>
          </a:stretch>
        </p:blipFill>
        <p:spPr>
          <a:xfrm>
            <a:off x="11201400" y="411480"/>
            <a:ext cx="502920" cy="502920"/>
          </a:xfrm>
          <a:prstGeom prst="rect">
            <a:avLst/>
          </a:prstGeom>
        </p:spPr>
      </p:pic>
      <p:sp>
        <p:nvSpPr>
          <p:cNvPr id="4" name="Text 0"/>
          <p:cNvSpPr txBox="1"/>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rgbClr val="8A8DA0"/>
                </a:solidFill>
              </a:rPr>
              <a:t>Básico 2 (A1.2) · Semana 4 · Jay Kim (김재희) · Academia Seúl</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S_CIERRE">
    <p:bg>
      <p:bgPr>
        <a:solidFill>
          <a:srgbClr val="4236F6"/>
        </a:solidFill>
        <a:effectLst/>
      </p:bgPr>
    </p:bg>
    <p:spTree>
      <p:nvGrpSpPr>
        <p:cNvPr id="1" name=""/>
        <p:cNvGrpSpPr/>
        <p:nvPr/>
      </p:nvGrpSpPr>
      <p:grpSpPr>
        <a:xfrm>
          <a:off x="0" y="0"/>
          <a:ext cx="0" cy="0"/>
          <a:chOff x="0" y="0"/>
          <a:chExt cx="0" cy="0"/>
        </a:xfrm>
      </p:grpSpPr>
      <p:pic>
        <p:nvPicPr>
          <p:cNvPr id="2" name="Image 0" descr="C:/Users/Chingu/Desktop/ACADEMIASEULWEB/public/email/sello-blanco.png"/>
          <p:cNvPicPr>
            <a:picLocks noChangeAspect="1"/>
          </p:cNvPicPr>
          <p:nvPr/>
        </p:nvPicPr>
        <p:blipFill>
          <a:blip r:embed="rId2"/>
          <a:stretch>
            <a:fillRect/>
          </a:stretch>
        </p:blipFill>
        <p:spPr>
          <a:xfrm>
            <a:off x="5641848" y="502920"/>
            <a:ext cx="914400" cy="914400"/>
          </a:xfrm>
          <a:prstGeom prst="rect">
            <a:avLst/>
          </a:prstGeom>
        </p:spPr>
      </p:pic>
      <p:sp>
        <p:nvSpPr>
          <p:cNvPr id="3" name="Text 0"/>
          <p:cNvSpPr>
            <a:spLocks noGrp="1"/>
          </p:cNvSpPr>
          <p:nvPr>
            <p:ph type="title" idx="101" hasCustomPrompt="1"/>
          </p:nvPr>
        </p:nvSpPr>
        <p:spPr>
          <a:xfrm>
            <a:off x="731520" y="1691640"/>
            <a:ext cx="10725912" cy="1097280"/>
          </a:xfrm>
          <a:prstGeom prst="rect">
            <a:avLst/>
          </a:prstGeom>
          <a:noFill/>
          <a:ln/>
        </p:spPr>
        <p:txBody>
          <a:bodyPr wrap="square" rtlCol="0"/>
          <a:lstStyle>
            <a:lvl1pPr marL="0" indent="0" algn="ctr">
              <a:buNone/>
              <a:defRPr lang="en-US" sz="4000" b="1" dirty="0">
                <a:solidFill>
                  <a:srgbClr val="FFFFFF"/>
                </a:solidFill>
              </a:defRPr>
            </a:lvl1pPr>
          </a:lstStyle>
          <a:p>
            <a:pPr marL="0" indent="0" algn="ctr">
              <a:buNone/>
            </a:pPr>
            <a:endParaRPr lang="en-US" sz="4000" dirty="0"/>
          </a:p>
        </p:txBody>
      </p:sp>
      <p:sp>
        <p:nvSpPr>
          <p:cNvPr id="4" name="Text 0"/>
          <p:cNvSpPr>
            <a:spLocks noGrp="1"/>
          </p:cNvSpPr>
          <p:nvPr>
            <p:ph type="body" idx="102" hasCustomPrompt="1"/>
          </p:nvPr>
        </p:nvSpPr>
        <p:spPr>
          <a:xfrm>
            <a:off x="1463040" y="2971800"/>
            <a:ext cx="9262872" cy="2926080"/>
          </a:xfrm>
          <a:prstGeom prst="rect">
            <a:avLst/>
          </a:prstGeom>
          <a:noFill/>
          <a:ln/>
        </p:spPr>
        <p:txBody>
          <a:bodyPr wrap="square" rtlCol="0"/>
          <a:lstStyle>
            <a:lvl1pPr marL="0" indent="0">
              <a:buNone/>
              <a:defRPr lang="en-US" sz="2200" dirty="0">
                <a:solidFill>
                  <a:srgbClr val="FFFFFF"/>
                </a:solidFill>
              </a:defRPr>
            </a:lvl1pPr>
          </a:lstStyle>
          <a:p>
            <a:pPr marL="0" indent="0">
              <a:buNone/>
            </a:pPr>
            <a:endParaRPr lang="en-US" sz="2200" dirty="0"/>
          </a:p>
        </p:txBody>
      </p:sp>
      <p:sp>
        <p:nvSpPr>
          <p:cNvPr id="5" name="Text 0"/>
          <p:cNvSpPr txBox="1"/>
          <p:nvPr/>
        </p:nvSpPr>
        <p:spPr>
          <a:xfrm>
            <a:off x="731520" y="6263640"/>
            <a:ext cx="10725912" cy="320040"/>
          </a:xfrm>
          <a:prstGeom prst="rect">
            <a:avLst/>
          </a:prstGeom>
          <a:noFill/>
          <a:ln/>
        </p:spPr>
        <p:txBody>
          <a:bodyPr wrap="square" lIns="0" tIns="0" rIns="0" bIns="0" rtlCol="0" anchor="ctr"/>
          <a:lstStyle/>
          <a:p>
            <a:pPr marL="0" indent="0" algn="ctr">
              <a:buNone/>
            </a:pPr>
            <a:r>
              <a:rPr lang="en-US" sz="1100" dirty="0">
                <a:solidFill>
                  <a:srgbClr val="D9D7F7"/>
                </a:solidFill>
              </a:rPr>
              <a:t>Básico 2 (A1.2) · Semana 4 · Jay Kim (김재희) · Academia Seúl</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8DA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0"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0"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0"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0"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0"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0" latinLnBrk="0" hangingPunct="1">
        <a:defRPr sz="1800" kern="1200">
          <a:solidFill>
            <a:schemeClr val="tx1"/>
          </a:solidFill>
          <a:latin typeface="+mn-lt"/>
          <a:ea typeface="+mn-ea"/>
          <a:cs typeface="+mn-cs"/>
        </a:defRPr>
      </a:lvl1pPr>
      <a:lvl2pPr marL="457200" algn="l" defTabSz="914400" rtl="0" eaLnBrk="0" latinLnBrk="0" hangingPunct="1">
        <a:defRPr sz="1800" kern="1200">
          <a:solidFill>
            <a:schemeClr val="tx1"/>
          </a:solidFill>
          <a:latin typeface="+mn-lt"/>
          <a:ea typeface="+mn-ea"/>
          <a:cs typeface="+mn-cs"/>
        </a:defRPr>
      </a:lvl2pPr>
      <a:lvl3pPr marL="914400" algn="l" defTabSz="914400" rtl="0" eaLnBrk="0" latinLnBrk="0" hangingPunct="1">
        <a:defRPr sz="1800" kern="1200">
          <a:solidFill>
            <a:schemeClr val="tx1"/>
          </a:solidFill>
          <a:latin typeface="+mn-lt"/>
          <a:ea typeface="+mn-ea"/>
          <a:cs typeface="+mn-cs"/>
        </a:defRPr>
      </a:lvl3pPr>
      <a:lvl4pPr marL="1371600" algn="l" defTabSz="914400" rtl="0" eaLnBrk="0" latinLnBrk="0" hangingPunct="1">
        <a:defRPr sz="1800" kern="1200">
          <a:solidFill>
            <a:schemeClr val="tx1"/>
          </a:solidFill>
          <a:latin typeface="+mn-lt"/>
          <a:ea typeface="+mn-ea"/>
          <a:cs typeface="+mn-cs"/>
        </a:defRPr>
      </a:lvl4pPr>
      <a:lvl5pPr marL="1828800" algn="l" defTabSz="914400" rtl="0" eaLnBrk="0" latinLnBrk="0" hangingPunct="1">
        <a:defRPr sz="1800" kern="1200">
          <a:solidFill>
            <a:schemeClr val="tx1"/>
          </a:solidFill>
          <a:latin typeface="+mn-lt"/>
          <a:ea typeface="+mn-ea"/>
          <a:cs typeface="+mn-cs"/>
        </a:defRPr>
      </a:lvl5pPr>
      <a:lvl6pPr marL="2286000" algn="l" defTabSz="914400" rtl="0" eaLnBrk="0" latinLnBrk="0" hangingPunct="1">
        <a:defRPr sz="1800" kern="1200">
          <a:solidFill>
            <a:schemeClr val="tx1"/>
          </a:solidFill>
          <a:latin typeface="+mn-lt"/>
          <a:ea typeface="+mn-ea"/>
          <a:cs typeface="+mn-cs"/>
        </a:defRPr>
      </a:lvl6pPr>
      <a:lvl7pPr marL="2743200" algn="l" defTabSz="914400" rtl="0" eaLnBrk="0" latinLnBrk="0" hangingPunct="1">
        <a:defRPr sz="1800" kern="1200">
          <a:solidFill>
            <a:schemeClr val="tx1"/>
          </a:solidFill>
          <a:latin typeface="+mn-lt"/>
          <a:ea typeface="+mn-ea"/>
          <a:cs typeface="+mn-cs"/>
        </a:defRPr>
      </a:lvl7pPr>
      <a:lvl8pPr marL="3200400" algn="l" defTabSz="914400" rtl="0" eaLnBrk="0" latinLnBrk="0" hangingPunct="1">
        <a:defRPr sz="1800" kern="1200">
          <a:solidFill>
            <a:schemeClr val="tx1"/>
          </a:solidFill>
          <a:latin typeface="+mn-lt"/>
          <a:ea typeface="+mn-ea"/>
          <a:cs typeface="+mn-cs"/>
        </a:defRPr>
      </a:lvl8pPr>
      <a:lvl9pPr marL="3657600" algn="l" defTabSz="914400" rtl="0" eaLnBrk="0"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audio" Target="../media/media5.mp3"/><Relationship Id="rId13" Type="http://schemas.openxmlformats.org/officeDocument/2006/relationships/slideLayout" Target="../slideLayouts/slideLayout3.xml"/><Relationship Id="rId3" Type="http://schemas.microsoft.com/office/2007/relationships/media" Target="../media/media3.mp3"/><Relationship Id="rId7" Type="http://schemas.microsoft.com/office/2007/relationships/media" Target="../media/media5.mp3"/><Relationship Id="rId12" Type="http://schemas.openxmlformats.org/officeDocument/2006/relationships/audio" Target="../media/media7.mp3"/><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audio" Target="../media/media4.mp3"/><Relationship Id="rId11" Type="http://schemas.microsoft.com/office/2007/relationships/media" Target="../media/media7.mp3"/><Relationship Id="rId5" Type="http://schemas.microsoft.com/office/2007/relationships/media" Target="../media/media4.mp3"/><Relationship Id="rId15" Type="http://schemas.openxmlformats.org/officeDocument/2006/relationships/image" Target="../media/image9.png"/><Relationship Id="rId10" Type="http://schemas.openxmlformats.org/officeDocument/2006/relationships/audio" Target="../media/media6.mp3"/><Relationship Id="rId4" Type="http://schemas.openxmlformats.org/officeDocument/2006/relationships/audio" Target="../media/media3.mp3"/><Relationship Id="rId9" Type="http://schemas.microsoft.com/office/2007/relationships/media" Target="../media/media6.mp3"/><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audio" Target="../media/media11.mp3"/><Relationship Id="rId13" Type="http://schemas.openxmlformats.org/officeDocument/2006/relationships/image" Target="../media/image10.png"/><Relationship Id="rId18" Type="http://schemas.openxmlformats.org/officeDocument/2006/relationships/image" Target="../media/image14.png"/><Relationship Id="rId3" Type="http://schemas.microsoft.com/office/2007/relationships/media" Target="../media/media9.mp3"/><Relationship Id="rId7" Type="http://schemas.microsoft.com/office/2007/relationships/media" Target="../media/media11.mp3"/><Relationship Id="rId12" Type="http://schemas.openxmlformats.org/officeDocument/2006/relationships/notesSlide" Target="../notesSlides/notesSlide7.xml"/><Relationship Id="rId17" Type="http://schemas.openxmlformats.org/officeDocument/2006/relationships/image" Target="../media/image13.png"/><Relationship Id="rId2" Type="http://schemas.openxmlformats.org/officeDocument/2006/relationships/audio" Target="../media/media8.mp3"/><Relationship Id="rId16" Type="http://schemas.openxmlformats.org/officeDocument/2006/relationships/image" Target="../media/image12.png"/><Relationship Id="rId1" Type="http://schemas.microsoft.com/office/2007/relationships/media" Target="../media/media8.mp3"/><Relationship Id="rId6" Type="http://schemas.openxmlformats.org/officeDocument/2006/relationships/audio" Target="../media/media10.mp3"/><Relationship Id="rId11" Type="http://schemas.openxmlformats.org/officeDocument/2006/relationships/slideLayout" Target="../slideLayouts/slideLayout3.xml"/><Relationship Id="rId5" Type="http://schemas.microsoft.com/office/2007/relationships/media" Target="../media/media10.mp3"/><Relationship Id="rId15" Type="http://schemas.openxmlformats.org/officeDocument/2006/relationships/image" Target="../media/image11.png"/><Relationship Id="rId10" Type="http://schemas.openxmlformats.org/officeDocument/2006/relationships/audio" Target="../media/media12.mp3"/><Relationship Id="rId4" Type="http://schemas.openxmlformats.org/officeDocument/2006/relationships/audio" Target="../media/media9.mp3"/><Relationship Id="rId9" Type="http://schemas.microsoft.com/office/2007/relationships/media" Target="../media/media12.mp3"/><Relationship Id="rId1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audio" Target="../media/media16.mp3"/><Relationship Id="rId13" Type="http://schemas.openxmlformats.org/officeDocument/2006/relationships/image" Target="../media/image18.png"/><Relationship Id="rId18" Type="http://schemas.openxmlformats.org/officeDocument/2006/relationships/image" Target="../media/image22.png"/><Relationship Id="rId3" Type="http://schemas.microsoft.com/office/2007/relationships/media" Target="../media/media14.mp3"/><Relationship Id="rId7" Type="http://schemas.microsoft.com/office/2007/relationships/media" Target="../media/media16.mp3"/><Relationship Id="rId12" Type="http://schemas.openxmlformats.org/officeDocument/2006/relationships/notesSlide" Target="../notesSlides/notesSlide9.xml"/><Relationship Id="rId17" Type="http://schemas.openxmlformats.org/officeDocument/2006/relationships/image" Target="../media/image21.png"/><Relationship Id="rId2" Type="http://schemas.openxmlformats.org/officeDocument/2006/relationships/audio" Target="../media/media13.mp3"/><Relationship Id="rId16" Type="http://schemas.openxmlformats.org/officeDocument/2006/relationships/image" Target="../media/image20.png"/><Relationship Id="rId1" Type="http://schemas.microsoft.com/office/2007/relationships/media" Target="../media/media13.mp3"/><Relationship Id="rId6" Type="http://schemas.openxmlformats.org/officeDocument/2006/relationships/audio" Target="../media/media15.mp3"/><Relationship Id="rId11" Type="http://schemas.openxmlformats.org/officeDocument/2006/relationships/slideLayout" Target="../slideLayouts/slideLayout3.xml"/><Relationship Id="rId5" Type="http://schemas.microsoft.com/office/2007/relationships/media" Target="../media/media15.mp3"/><Relationship Id="rId15" Type="http://schemas.openxmlformats.org/officeDocument/2006/relationships/image" Target="../media/image19.png"/><Relationship Id="rId10" Type="http://schemas.openxmlformats.org/officeDocument/2006/relationships/audio" Target="../media/media17.mp3"/><Relationship Id="rId4" Type="http://schemas.openxmlformats.org/officeDocument/2006/relationships/audio" Target="../media/media14.mp3"/><Relationship Id="rId9" Type="http://schemas.microsoft.com/office/2007/relationships/media" Target="../media/media17.mp3"/><Relationship Id="rId1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9.png"/><Relationship Id="rId5" Type="http://schemas.openxmlformats.org/officeDocument/2006/relationships/image" Target="../media/image2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3" Type="http://schemas.microsoft.com/office/2007/relationships/media" Target="../media/media21.mp3"/><Relationship Id="rId7"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audio" Target="../media/media22.mp3"/><Relationship Id="rId5" Type="http://schemas.microsoft.com/office/2007/relationships/media" Target="../media/media22.mp3"/><Relationship Id="rId10" Type="http://schemas.openxmlformats.org/officeDocument/2006/relationships/image" Target="../media/image9.png"/><Relationship Id="rId4" Type="http://schemas.openxmlformats.org/officeDocument/2006/relationships/audio" Target="../media/media21.mp3"/><Relationship Id="rId9"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3" Type="http://schemas.microsoft.com/office/2007/relationships/media" Target="../media/media25.mp3"/><Relationship Id="rId7"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audio" Target="../media/media26.mp3"/><Relationship Id="rId5" Type="http://schemas.microsoft.com/office/2007/relationships/media" Target="../media/media26.mp3"/><Relationship Id="rId4" Type="http://schemas.openxmlformats.org/officeDocument/2006/relationships/audio" Target="../media/media25.mp3"/><Relationship Id="rId9"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ulo_ko"/>
          <p:cNvSpPr txBox="1"/>
          <p:nvPr/>
        </p:nvSpPr>
        <p:spPr>
          <a:xfrm>
            <a:off x="640080" y="1691640"/>
            <a:ext cx="10881360" cy="1280160"/>
          </a:xfrm>
          <a:prstGeom prst="rect">
            <a:avLst/>
          </a:prstGeom>
          <a:noFill/>
          <a:ln/>
        </p:spPr>
        <p:txBody>
          <a:bodyPr wrap="square" lIns="0" tIns="0" rIns="0" bIns="0" rtlCol="0" anchor="b">
            <a:normAutofit/>
          </a:bodyPr>
          <a:lstStyle/>
          <a:p>
            <a:pPr marL="0" indent="0" eaLnBrk="1">
              <a:buNone/>
            </a:pPr>
            <a:r>
              <a:rPr lang="ko-KR" altLang="en-US" sz="6600" b="1" dirty="0">
                <a:solidFill>
                  <a:srgbClr val="E8B84B"/>
                </a:solidFill>
                <a:latin typeface="Malgun Gothic" pitchFamily="34" charset="0"/>
                <a:ea typeface="Malgun Gothic" pitchFamily="34" charset="-122"/>
                <a:cs typeface="Malgun Gothic" pitchFamily="34" charset="-120"/>
              </a:rPr>
              <a:t>언제 수영을 해요</a:t>
            </a:r>
            <a:r>
              <a:rPr lang="en-US" sz="6600" b="1" dirty="0">
                <a:solidFill>
                  <a:srgbClr val="E8B84B"/>
                </a:solidFill>
              </a:rPr>
              <a:t>?</a:t>
            </a:r>
            <a:endParaRPr lang="en-US" sz="6600" dirty="0"/>
          </a:p>
        </p:txBody>
      </p:sp>
      <p:sp>
        <p:nvSpPr>
          <p:cNvPr id="3" name="Text 1"/>
          <p:cNvSpPr>
            <a:spLocks noGrp="1"/>
          </p:cNvSpPr>
          <p:nvPr>
            <p:ph type="title" idx="102" hasCustomPrompt="1"/>
          </p:nvPr>
        </p:nvSpPr>
        <p:spPr>
          <a:xfrm>
            <a:off x="640080" y="3063240"/>
            <a:ext cx="10881360" cy="914400"/>
          </a:xfrm>
          <a:prstGeom prst="rect">
            <a:avLst/>
          </a:prstGeom>
          <a:noFill/>
          <a:ln/>
        </p:spPr>
        <p:txBody>
          <a:bodyPr wrap="square" lIns="0" tIns="0" rIns="0" bIns="0" rtlCol="0" anchor="t"/>
          <a:lstStyle/>
          <a:p>
            <a:pPr marL="0" indent="0" algn="l" eaLnBrk="1">
              <a:buNone/>
            </a:pPr>
            <a:r>
              <a:rPr lang="en-US" sz="4400" b="1" dirty="0">
                <a:solidFill>
                  <a:srgbClr val="FFFFFF"/>
                </a:solidFill>
              </a:rPr>
              <a:t>Básico 2 · Clase 4</a:t>
            </a:r>
            <a:endParaRPr lang="en-US" sz="4400" dirty="0"/>
          </a:p>
        </p:txBody>
      </p:sp>
      <p:sp>
        <p:nvSpPr>
          <p:cNvPr id="4" name="Text 1"/>
          <p:cNvSpPr>
            <a:spLocks noGrp="1"/>
          </p:cNvSpPr>
          <p:nvPr>
            <p:ph type="body" idx="103" hasCustomPrompt="1"/>
          </p:nvPr>
        </p:nvSpPr>
        <p:spPr>
          <a:xfrm>
            <a:off x="640080" y="4160520"/>
            <a:ext cx="10881360" cy="1828800"/>
          </a:xfrm>
          <a:prstGeom prst="rect">
            <a:avLst/>
          </a:prstGeom>
          <a:noFill/>
          <a:ln/>
        </p:spPr>
        <p:txBody>
          <a:bodyPr wrap="square" lIns="0" tIns="0" rIns="0" bIns="0" rtlCol="0" anchor="t">
            <a:normAutofit/>
          </a:bodyPr>
          <a:lstStyle/>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Básico 2 (A1.2) · Lección 3 de 한국어 </a:t>
            </a:r>
            <a:r>
              <a:rPr lang="en-US" sz="1900" dirty="0">
                <a:solidFill>
                  <a:srgbClr val="E8B84B"/>
                </a:solidFill>
              </a:rPr>
              <a:t>2 · ¿Cuándo? </a:t>
            </a:r>
            <a:r>
              <a:rPr lang="ko-KR" altLang="en-US" sz="1900" dirty="0">
                <a:solidFill>
                  <a:srgbClr val="E8B84B"/>
                </a:solidFill>
                <a:latin typeface="Malgun Gothic" pitchFamily="34" charset="0"/>
                <a:ea typeface="Malgun Gothic" pitchFamily="34" charset="-122"/>
                <a:cs typeface="Malgun Gothic" pitchFamily="34" charset="-120"/>
              </a:rPr>
              <a:t>아침 </a:t>
            </a:r>
            <a:r>
              <a:rPr lang="en-US" sz="1900" dirty="0">
                <a:solidFill>
                  <a:srgbClr val="E8B84B"/>
                </a:solidFill>
              </a:rPr>
              <a:t>· </a:t>
            </a:r>
            <a:r>
              <a:rPr lang="ko-KR" altLang="en-US" sz="1900" dirty="0">
                <a:solidFill>
                  <a:srgbClr val="E8B84B"/>
                </a:solidFill>
                <a:latin typeface="Malgun Gothic" pitchFamily="34" charset="0"/>
                <a:ea typeface="Malgun Gothic" pitchFamily="34" charset="-122"/>
                <a:cs typeface="Malgun Gothic" pitchFamily="34" charset="-120"/>
              </a:rPr>
              <a:t>저녁 </a:t>
            </a:r>
            <a:r>
              <a:rPr lang="en-US" sz="1900" dirty="0">
                <a:solidFill>
                  <a:srgbClr val="E8B84B"/>
                </a:solidFill>
              </a:rPr>
              <a:t>· </a:t>
            </a:r>
            <a:r>
              <a:rPr lang="ko-KR" altLang="en-US" sz="1900" dirty="0">
                <a:solidFill>
                  <a:srgbClr val="E8B84B"/>
                </a:solidFill>
                <a:latin typeface="Malgun Gothic" pitchFamily="34" charset="0"/>
                <a:ea typeface="Malgun Gothic" pitchFamily="34" charset="-122"/>
                <a:cs typeface="Malgun Gothic" pitchFamily="34" charset="-120"/>
              </a:rPr>
              <a:t>오늘 </a:t>
            </a:r>
            <a:r>
              <a:rPr lang="en-US" sz="1900" dirty="0">
                <a:solidFill>
                  <a:srgbClr val="E8B84B"/>
                </a:solidFill>
              </a:rPr>
              <a:t>· </a:t>
            </a:r>
            <a:r>
              <a:rPr lang="ko-KR" altLang="en-US" sz="1900" dirty="0">
                <a:solidFill>
                  <a:srgbClr val="E8B84B"/>
                </a:solidFill>
                <a:latin typeface="Malgun Gothic" pitchFamily="34" charset="0"/>
                <a:ea typeface="Malgun Gothic" pitchFamily="34" charset="-122"/>
                <a:cs typeface="Malgun Gothic" pitchFamily="34" charset="-120"/>
              </a:rPr>
              <a:t>내일</a:t>
            </a:r>
            <a:endParaRPr lang="en-US" sz="2200" dirty="0"/>
          </a:p>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오늘의 질문</a:t>
            </a:r>
            <a:r>
              <a:rPr lang="en-US" sz="1900" dirty="0">
                <a:solidFill>
                  <a:srgbClr val="E8B84B"/>
                </a:solidFill>
              </a:rPr>
              <a:t>: </a:t>
            </a:r>
            <a:r>
              <a:rPr lang="ko-KR" altLang="en-US" sz="1900" dirty="0">
                <a:solidFill>
                  <a:srgbClr val="E8B84B"/>
                </a:solidFill>
                <a:latin typeface="Malgun Gothic" pitchFamily="34" charset="0"/>
                <a:ea typeface="Malgun Gothic" pitchFamily="34" charset="-122"/>
                <a:cs typeface="Malgun Gothic" pitchFamily="34" charset="-120"/>
              </a:rPr>
              <a:t>언제</a:t>
            </a:r>
            <a:r>
              <a:rPr lang="en-US" sz="1900" dirty="0">
                <a:solidFill>
                  <a:srgbClr val="E8B84B"/>
                </a:solidFill>
              </a:rPr>
              <a:t>?</a:t>
            </a:r>
            <a:endParaRPr lang="en-US" sz="2200" dirty="0"/>
          </a:p>
          <a:p>
            <a:pPr marL="0" indent="0" eaLnBrk="1">
              <a:buNone/>
            </a:pPr>
            <a:r>
              <a:rPr lang="en-US" sz="1900" dirty="0">
                <a:solidFill>
                  <a:srgbClr val="E8B84B"/>
                </a:solidFill>
              </a:rPr>
              <a:t>Miércoles 11 de noviembre de 2026 · 21:00 (hora de Chile)</a:t>
            </a:r>
            <a:endParaRPr lang="en-US" sz="2200" dirty="0"/>
          </a:p>
          <a:p>
            <a:pPr marL="0" indent="0" eaLnBrk="1">
              <a:buNone/>
            </a:pPr>
            <a:r>
              <a:rPr lang="ko-KR" altLang="en-US" sz="1900" dirty="0">
                <a:solidFill>
                  <a:srgbClr val="E8B84B"/>
                </a:solidFill>
                <a:latin typeface="Malgun Gothic" pitchFamily="34" charset="0"/>
                <a:ea typeface="Malgun Gothic" pitchFamily="34" charset="-122"/>
                <a:cs typeface="Malgun Gothic" pitchFamily="34" charset="-120"/>
              </a:rPr>
              <a:t>Jay Kim · 김재희 선생님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오늘 뭘 해요</a:t>
            </a:r>
            <a:r>
              <a:rPr lang="en-US" sz="3000" b="1" dirty="0">
                <a:solidFill>
                  <a:srgbClr val="4236F6"/>
                </a:solidFill>
              </a:rPr>
              <a:t>?  </a:t>
            </a:r>
            <a:r>
              <a:rPr lang="en-US" sz="3000" b="1" dirty="0">
                <a:solidFill>
                  <a:srgbClr val="003478"/>
                </a:solidFill>
              </a:rPr>
              <a:t>Mientras llegan</a:t>
            </a:r>
            <a:r>
              <a:rPr lang="en-US" sz="1500" b="1" i="1" dirty="0">
                <a:solidFill>
                  <a:srgbClr val="8A8DA0"/>
                </a:solidFill>
              </a:rPr>
              <a:t>   While everyone joins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En el chat, en 한글</a:t>
            </a:r>
            <a:r>
              <a:rPr lang="en-US" sz="1800" i="1" dirty="0">
                <a:solidFill>
                  <a:srgbClr val="4236F6"/>
                </a:solidFill>
              </a:rPr>
              <a:t>: una frase sobre tu día</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Cámara encendida y tu nombre real en Zoom</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En el chat: 오늘 뭘 해요</a:t>
            </a:r>
            <a:r>
              <a:rPr lang="en-US" sz="2200" dirty="0">
                <a:solidFill>
                  <a:srgbClr val="14142B"/>
                </a:solidFill>
              </a:rPr>
              <a:t>? → una frase sobre tu día</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Ejemplo: 오늘 일해요</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그리고 지금 한국어를 공부해요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Clase 2: 운동해요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수영해요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공부해요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전화해요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Clase 3: 자전거를 타요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사진을 찍어요</a:t>
            </a:r>
            <a:endParaRPr lang="en-US" sz="2200" dirty="0"/>
          </a:p>
          <a:p>
            <a:pPr marL="228600" indent="-228600" eaLnBrk="1">
              <a:spcAft>
                <a:spcPts val="800"/>
              </a:spcAft>
              <a:buSzPct val="100000"/>
              <a:buChar char="•"/>
            </a:pPr>
            <a:r>
              <a:rPr lang="en-US" sz="2200" dirty="0">
                <a:solidFill>
                  <a:srgbClr val="14142B"/>
                </a:solidFill>
              </a:rPr>
              <a:t>¿Sin teclado coreano? Escríbelo como puedas: lo arreglamos juntos</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000" b="1" dirty="0">
                <a:solidFill>
                  <a:srgbClr val="4236F6"/>
                </a:solidFill>
                <a:latin typeface="Malgun Gothic" pitchFamily="34" charset="0"/>
                <a:ea typeface="Malgun Gothic" pitchFamily="34" charset="-122"/>
                <a:cs typeface="Malgun Gothic" pitchFamily="34" charset="-120"/>
              </a:rPr>
              <a:t>오늘 뭘</a:t>
            </a:r>
            <a:endParaRPr lang="en-US" sz="7000" dirty="0"/>
          </a:p>
          <a:p>
            <a:pPr marL="0" indent="0" algn="ctr" eaLnBrk="1">
              <a:buNone/>
            </a:pPr>
            <a:r>
              <a:rPr lang="ko-KR" altLang="en-US" sz="7000" b="1" dirty="0">
                <a:solidFill>
                  <a:srgbClr val="4236F6"/>
                </a:solidFill>
                <a:latin typeface="Malgun Gothic" pitchFamily="34" charset="0"/>
                <a:ea typeface="Malgun Gothic" pitchFamily="34" charset="-122"/>
                <a:cs typeface="Malgun Gothic" pitchFamily="34" charset="-120"/>
              </a:rPr>
              <a:t>해요</a:t>
            </a:r>
            <a:r>
              <a:rPr lang="en-US" sz="7000" b="1" dirty="0">
                <a:solidFill>
                  <a:srgbClr val="4236F6"/>
                </a:solidFill>
              </a:rPr>
              <a:t>?</a:t>
            </a:r>
            <a:endParaRPr lang="en-US" sz="7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복습 퀴즈  </a:t>
            </a:r>
            <a:r>
              <a:rPr lang="en-US" sz="3000" b="1" dirty="0">
                <a:solidFill>
                  <a:srgbClr val="003478"/>
                </a:solidFill>
              </a:rPr>
              <a:t>Quiz de la clase 3</a:t>
            </a:r>
            <a:r>
              <a:rPr lang="en-US" sz="1500" b="1" i="1" dirty="0">
                <a:solidFill>
                  <a:srgbClr val="8A8DA0"/>
                </a:solidFill>
              </a:rPr>
              <a:t>   Class 3 quiz</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하고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타요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찍어요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누가 </a:t>
            </a:r>
            <a:r>
              <a:rPr lang="en-US" sz="1800" i="1" dirty="0">
                <a:solidFill>
                  <a:srgbClr val="4236F6"/>
                </a:solidFill>
              </a:rPr>
              <a:t>· Responde en coro o en el chat; la respuesta aparece con clic</a:t>
            </a:r>
            <a:endParaRPr lang="en-US" sz="1800" dirty="0"/>
          </a:p>
        </p:txBody>
      </p:sp>
      <p:sp>
        <p:nvSpPr>
          <p:cNvPr id="4" name="card_0"/>
          <p:cNvSpPr/>
          <p:nvPr/>
        </p:nvSpPr>
        <p:spPr>
          <a:xfrm>
            <a:off x="548640"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item_img_0" descr="C:\Users\Chingu\AppData\Local\Temp\claude\C--Users-Chingu-Desktop-ACADEMIASEULWEB\d4111e1b-5523-44ea-97b2-b1a1d9545b9e\scratchpad\decks\cache\img_9670d51714e0f7fe.png"/>
          <p:cNvPicPr>
            <a:picLocks noChangeAspect="1"/>
          </p:cNvPicPr>
          <p:nvPr/>
        </p:nvPicPr>
        <p:blipFill>
          <a:blip r:embed="rId3"/>
          <a:stretch>
            <a:fillRect/>
          </a:stretch>
        </p:blipFill>
        <p:spPr>
          <a:xfrm>
            <a:off x="670255" y="2057400"/>
            <a:ext cx="1828800" cy="1828800"/>
          </a:xfrm>
          <a:prstGeom prst="rect">
            <a:avLst/>
          </a:prstGeom>
        </p:spPr>
      </p:pic>
      <p:sp>
        <p:nvSpPr>
          <p:cNvPr id="6" name="num_0"/>
          <p:cNvSpPr/>
          <p:nvPr/>
        </p:nvSpPr>
        <p:spPr>
          <a:xfrm>
            <a:off x="640080" y="2057400"/>
            <a:ext cx="420624" cy="420624"/>
          </a:xfrm>
          <a:prstGeom prst="ellipse">
            <a:avLst/>
          </a:prstGeom>
          <a:solidFill>
            <a:srgbClr val="003478"/>
          </a:solidFill>
          <a:ln w="19050">
            <a:solidFill>
              <a:srgbClr val="FFFFFF"/>
            </a:solidFill>
            <a:prstDash val="solid"/>
          </a:ln>
        </p:spPr>
      </p:sp>
      <p:sp>
        <p:nvSpPr>
          <p:cNvPr id="7" name="Text 4"/>
          <p:cNvSpPr txBox="1"/>
          <p:nvPr/>
        </p:nvSpPr>
        <p:spPr>
          <a:xfrm>
            <a:off x="64008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1</a:t>
            </a:r>
            <a:endParaRPr lang="en-US" sz="1500" dirty="0"/>
          </a:p>
        </p:txBody>
      </p:sp>
      <p:sp>
        <p:nvSpPr>
          <p:cNvPr id="8" name="Text 5"/>
          <p:cNvSpPr txBox="1"/>
          <p:nvPr/>
        </p:nvSpPr>
        <p:spPr>
          <a:xfrm>
            <a:off x="640080" y="3931920"/>
            <a:ext cx="1889150" cy="1234440"/>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자전거를 </a:t>
            </a:r>
            <a:r>
              <a:rPr lang="en-US" sz="1900" dirty="0">
                <a:solidFill>
                  <a:srgbClr val="14142B"/>
                </a:solidFill>
              </a:rPr>
              <a:t>___.</a:t>
            </a:r>
            <a:endParaRPr lang="en-US" sz="1900" dirty="0"/>
          </a:p>
        </p:txBody>
      </p:sp>
      <p:sp>
        <p:nvSpPr>
          <p:cNvPr id="9" name="rev_0_caja"/>
          <p:cNvSpPr/>
          <p:nvPr/>
        </p:nvSpPr>
        <p:spPr>
          <a:xfrm>
            <a:off x="658368" y="5212080"/>
            <a:ext cx="1852574" cy="868680"/>
          </a:xfrm>
          <a:prstGeom prst="roundRect">
            <a:avLst>
              <a:gd name="adj" fmla="val 12632"/>
            </a:avLst>
          </a:prstGeom>
          <a:solidFill>
            <a:srgbClr val="4236F6"/>
          </a:solidFill>
          <a:ln w="12700">
            <a:solidFill>
              <a:srgbClr val="4236F6"/>
            </a:solidFill>
            <a:prstDash val="solid"/>
          </a:ln>
        </p:spPr>
      </p:sp>
      <p:sp>
        <p:nvSpPr>
          <p:cNvPr id="10" name="rev_0_txt"/>
          <p:cNvSpPr txBox="1"/>
          <p:nvPr/>
        </p:nvSpPr>
        <p:spPr>
          <a:xfrm>
            <a:off x="685800" y="5212080"/>
            <a:ext cx="1797710" cy="868680"/>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타요 </a:t>
            </a:r>
            <a:r>
              <a:rPr lang="en-US" sz="1700" b="1" dirty="0">
                <a:solidFill>
                  <a:srgbClr val="FFFFFF"/>
                </a:solidFill>
              </a:rPr>
              <a:t>→ </a:t>
            </a:r>
            <a:r>
              <a:rPr lang="ko-KR" altLang="en-US" sz="1700" b="1" dirty="0">
                <a:solidFill>
                  <a:srgbClr val="FFFFFF"/>
                </a:solidFill>
                <a:latin typeface="Malgun Gothic" pitchFamily="34" charset="0"/>
                <a:ea typeface="Malgun Gothic" pitchFamily="34" charset="-122"/>
                <a:cs typeface="Malgun Gothic" pitchFamily="34" charset="-120"/>
              </a:rPr>
              <a:t>자전거를 타요</a:t>
            </a:r>
            <a:r>
              <a:rPr lang="en-US" sz="1700" b="1" dirty="0">
                <a:solidFill>
                  <a:srgbClr val="FFFFFF"/>
                </a:solidFill>
              </a:rPr>
              <a:t>.</a:t>
            </a:r>
            <a:endParaRPr lang="en-US" sz="1700" dirty="0"/>
          </a:p>
        </p:txBody>
      </p:sp>
      <p:sp>
        <p:nvSpPr>
          <p:cNvPr id="11" name="card_1"/>
          <p:cNvSpPr/>
          <p:nvPr/>
        </p:nvSpPr>
        <p:spPr>
          <a:xfrm>
            <a:off x="2803550"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2" name="item_img_1" descr="C:\Users\Chingu\AppData\Local\Temp\claude\C--Users-Chingu-Desktop-ACADEMIASEULWEB\d4111e1b-5523-44ea-97b2-b1a1d9545b9e\scratchpad\decks\cache\img_5b359c9b6a5cf6bc.png"/>
          <p:cNvPicPr>
            <a:picLocks noChangeAspect="1"/>
          </p:cNvPicPr>
          <p:nvPr/>
        </p:nvPicPr>
        <p:blipFill>
          <a:blip r:embed="rId4"/>
          <a:stretch>
            <a:fillRect/>
          </a:stretch>
        </p:blipFill>
        <p:spPr>
          <a:xfrm>
            <a:off x="2925166" y="2057400"/>
            <a:ext cx="1828800" cy="1828800"/>
          </a:xfrm>
          <a:prstGeom prst="rect">
            <a:avLst/>
          </a:prstGeom>
        </p:spPr>
      </p:pic>
      <p:sp>
        <p:nvSpPr>
          <p:cNvPr id="13" name="num_1"/>
          <p:cNvSpPr/>
          <p:nvPr/>
        </p:nvSpPr>
        <p:spPr>
          <a:xfrm>
            <a:off x="2894990" y="2057400"/>
            <a:ext cx="420624" cy="420624"/>
          </a:xfrm>
          <a:prstGeom prst="ellipse">
            <a:avLst/>
          </a:prstGeom>
          <a:solidFill>
            <a:srgbClr val="003478"/>
          </a:solidFill>
          <a:ln w="19050">
            <a:solidFill>
              <a:srgbClr val="FFFFFF"/>
            </a:solidFill>
            <a:prstDash val="solid"/>
          </a:ln>
        </p:spPr>
      </p:sp>
      <p:sp>
        <p:nvSpPr>
          <p:cNvPr id="14" name="Text 10"/>
          <p:cNvSpPr txBox="1"/>
          <p:nvPr/>
        </p:nvSpPr>
        <p:spPr>
          <a:xfrm>
            <a:off x="289499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2</a:t>
            </a:r>
            <a:endParaRPr lang="en-US" sz="1500" dirty="0"/>
          </a:p>
        </p:txBody>
      </p:sp>
      <p:sp>
        <p:nvSpPr>
          <p:cNvPr id="15" name="Text 11"/>
          <p:cNvSpPr txBox="1"/>
          <p:nvPr/>
        </p:nvSpPr>
        <p:spPr>
          <a:xfrm>
            <a:off x="2894990" y="3931920"/>
            <a:ext cx="1889150" cy="1234440"/>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사진을 </a:t>
            </a:r>
            <a:r>
              <a:rPr lang="en-US" sz="1900" dirty="0">
                <a:solidFill>
                  <a:srgbClr val="14142B"/>
                </a:solidFill>
              </a:rPr>
              <a:t>___.</a:t>
            </a:r>
            <a:endParaRPr lang="en-US" sz="1900" dirty="0"/>
          </a:p>
        </p:txBody>
      </p:sp>
      <p:sp>
        <p:nvSpPr>
          <p:cNvPr id="16" name="rev_1_caja"/>
          <p:cNvSpPr/>
          <p:nvPr/>
        </p:nvSpPr>
        <p:spPr>
          <a:xfrm>
            <a:off x="2913278" y="5212080"/>
            <a:ext cx="1852574" cy="868680"/>
          </a:xfrm>
          <a:prstGeom prst="roundRect">
            <a:avLst>
              <a:gd name="adj" fmla="val 12632"/>
            </a:avLst>
          </a:prstGeom>
          <a:solidFill>
            <a:srgbClr val="4236F6"/>
          </a:solidFill>
          <a:ln w="12700">
            <a:solidFill>
              <a:srgbClr val="4236F6"/>
            </a:solidFill>
            <a:prstDash val="solid"/>
          </a:ln>
        </p:spPr>
      </p:sp>
      <p:sp>
        <p:nvSpPr>
          <p:cNvPr id="17" name="rev_1_txt"/>
          <p:cNvSpPr txBox="1"/>
          <p:nvPr/>
        </p:nvSpPr>
        <p:spPr>
          <a:xfrm>
            <a:off x="2940710" y="5212080"/>
            <a:ext cx="1797710" cy="868680"/>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찍어요 </a:t>
            </a:r>
            <a:r>
              <a:rPr lang="en-US" sz="1700" b="1" dirty="0">
                <a:solidFill>
                  <a:srgbClr val="FFFFFF"/>
                </a:solidFill>
              </a:rPr>
              <a:t>→ </a:t>
            </a:r>
            <a:r>
              <a:rPr lang="ko-KR" altLang="en-US" sz="1700" b="1" dirty="0">
                <a:solidFill>
                  <a:srgbClr val="FFFFFF"/>
                </a:solidFill>
                <a:latin typeface="Malgun Gothic" pitchFamily="34" charset="0"/>
                <a:ea typeface="Malgun Gothic" pitchFamily="34" charset="-122"/>
                <a:cs typeface="Malgun Gothic" pitchFamily="34" charset="-120"/>
              </a:rPr>
              <a:t>사진을 찍어요</a:t>
            </a:r>
            <a:r>
              <a:rPr lang="en-US" sz="1700" b="1" dirty="0">
                <a:solidFill>
                  <a:srgbClr val="FFFFFF"/>
                </a:solidFill>
              </a:rPr>
              <a:t>.</a:t>
            </a:r>
            <a:endParaRPr lang="en-US" sz="1700" dirty="0"/>
          </a:p>
        </p:txBody>
      </p:sp>
      <p:sp>
        <p:nvSpPr>
          <p:cNvPr id="18" name="card_2"/>
          <p:cNvSpPr/>
          <p:nvPr/>
        </p:nvSpPr>
        <p:spPr>
          <a:xfrm>
            <a:off x="5058461"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item_img_2" descr="C:\Users\Chingu\AppData\Local\Temp\claude\C--Users-Chingu-Desktop-ACADEMIASEULWEB\d4111e1b-5523-44ea-97b2-b1a1d9545b9e\scratchpad\decks\cache\img_dce259ec7c285080.png"/>
          <p:cNvPicPr>
            <a:picLocks noChangeAspect="1"/>
          </p:cNvPicPr>
          <p:nvPr/>
        </p:nvPicPr>
        <p:blipFill>
          <a:blip r:embed="rId5"/>
          <a:stretch>
            <a:fillRect/>
          </a:stretch>
        </p:blipFill>
        <p:spPr>
          <a:xfrm>
            <a:off x="5180076" y="2057400"/>
            <a:ext cx="1828800" cy="1828800"/>
          </a:xfrm>
          <a:prstGeom prst="rect">
            <a:avLst/>
          </a:prstGeom>
        </p:spPr>
      </p:pic>
      <p:sp>
        <p:nvSpPr>
          <p:cNvPr id="20" name="num_2"/>
          <p:cNvSpPr/>
          <p:nvPr/>
        </p:nvSpPr>
        <p:spPr>
          <a:xfrm>
            <a:off x="5149901" y="2057400"/>
            <a:ext cx="420624" cy="420624"/>
          </a:xfrm>
          <a:prstGeom prst="ellipse">
            <a:avLst/>
          </a:prstGeom>
          <a:solidFill>
            <a:srgbClr val="003478"/>
          </a:solidFill>
          <a:ln w="19050">
            <a:solidFill>
              <a:srgbClr val="FFFFFF"/>
            </a:solidFill>
            <a:prstDash val="solid"/>
          </a:ln>
        </p:spPr>
      </p:sp>
      <p:sp>
        <p:nvSpPr>
          <p:cNvPr id="21" name="Text 16"/>
          <p:cNvSpPr txBox="1"/>
          <p:nvPr/>
        </p:nvSpPr>
        <p:spPr>
          <a:xfrm>
            <a:off x="5149901"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3</a:t>
            </a:r>
            <a:endParaRPr lang="en-US" sz="1500" dirty="0"/>
          </a:p>
        </p:txBody>
      </p:sp>
      <p:sp>
        <p:nvSpPr>
          <p:cNvPr id="22" name="Text 17"/>
          <p:cNvSpPr txBox="1"/>
          <p:nvPr/>
        </p:nvSpPr>
        <p:spPr>
          <a:xfrm>
            <a:off x="5149901" y="3931920"/>
            <a:ext cx="1889150" cy="1234440"/>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café y pan: 커피</a:t>
            </a:r>
            <a:r>
              <a:rPr lang="en-US" sz="1900" dirty="0">
                <a:solidFill>
                  <a:srgbClr val="14142B"/>
                </a:solidFill>
              </a:rPr>
              <a:t>___ </a:t>
            </a:r>
            <a:r>
              <a:rPr lang="ko-KR" altLang="en-US" sz="1900" dirty="0">
                <a:solidFill>
                  <a:srgbClr val="14142B"/>
                </a:solidFill>
                <a:latin typeface="Malgun Gothic" pitchFamily="34" charset="0"/>
                <a:ea typeface="Malgun Gothic" pitchFamily="34" charset="-122"/>
                <a:cs typeface="Malgun Gothic" pitchFamily="34" charset="-120"/>
              </a:rPr>
              <a:t>빵</a:t>
            </a:r>
            <a:endParaRPr lang="en-US" sz="1900" dirty="0"/>
          </a:p>
        </p:txBody>
      </p:sp>
      <p:sp>
        <p:nvSpPr>
          <p:cNvPr id="23" name="rev_2_caja"/>
          <p:cNvSpPr/>
          <p:nvPr/>
        </p:nvSpPr>
        <p:spPr>
          <a:xfrm>
            <a:off x="5168189" y="5212080"/>
            <a:ext cx="1852574" cy="868680"/>
          </a:xfrm>
          <a:prstGeom prst="roundRect">
            <a:avLst>
              <a:gd name="adj" fmla="val 12632"/>
            </a:avLst>
          </a:prstGeom>
          <a:solidFill>
            <a:srgbClr val="4236F6"/>
          </a:solidFill>
          <a:ln w="12700">
            <a:solidFill>
              <a:srgbClr val="4236F6"/>
            </a:solidFill>
            <a:prstDash val="solid"/>
          </a:ln>
        </p:spPr>
      </p:sp>
      <p:sp>
        <p:nvSpPr>
          <p:cNvPr id="24" name="rev_2_txt"/>
          <p:cNvSpPr txBox="1"/>
          <p:nvPr/>
        </p:nvSpPr>
        <p:spPr>
          <a:xfrm>
            <a:off x="5195621" y="5212080"/>
            <a:ext cx="1797710" cy="868680"/>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커피하고 빵</a:t>
            </a:r>
            <a:endParaRPr lang="en-US" sz="1700" dirty="0"/>
          </a:p>
        </p:txBody>
      </p:sp>
      <p:sp>
        <p:nvSpPr>
          <p:cNvPr id="25" name="card_3"/>
          <p:cNvSpPr/>
          <p:nvPr/>
        </p:nvSpPr>
        <p:spPr>
          <a:xfrm>
            <a:off x="7313371"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item_img_3" descr="C:\Users\Chingu\AppData\Local\Temp\claude\C--Users-Chingu-Desktop-ACADEMIASEULWEB\d4111e1b-5523-44ea-97b2-b1a1d9545b9e\scratchpad\decks\cache\img_d703b8f11f3c49ce.png"/>
          <p:cNvPicPr>
            <a:picLocks noChangeAspect="1"/>
          </p:cNvPicPr>
          <p:nvPr/>
        </p:nvPicPr>
        <p:blipFill>
          <a:blip r:embed="rId6"/>
          <a:stretch>
            <a:fillRect/>
          </a:stretch>
        </p:blipFill>
        <p:spPr>
          <a:xfrm>
            <a:off x="7434986" y="2057400"/>
            <a:ext cx="1828800" cy="1828800"/>
          </a:xfrm>
          <a:prstGeom prst="rect">
            <a:avLst/>
          </a:prstGeom>
        </p:spPr>
      </p:pic>
      <p:sp>
        <p:nvSpPr>
          <p:cNvPr id="27" name="num_3"/>
          <p:cNvSpPr/>
          <p:nvPr/>
        </p:nvSpPr>
        <p:spPr>
          <a:xfrm>
            <a:off x="7404811" y="2057400"/>
            <a:ext cx="420624" cy="420624"/>
          </a:xfrm>
          <a:prstGeom prst="ellipse">
            <a:avLst/>
          </a:prstGeom>
          <a:solidFill>
            <a:srgbClr val="003478"/>
          </a:solidFill>
          <a:ln w="19050">
            <a:solidFill>
              <a:srgbClr val="FFFFFF"/>
            </a:solidFill>
            <a:prstDash val="solid"/>
          </a:ln>
        </p:spPr>
      </p:sp>
      <p:sp>
        <p:nvSpPr>
          <p:cNvPr id="28" name="Text 22"/>
          <p:cNvSpPr txBox="1"/>
          <p:nvPr/>
        </p:nvSpPr>
        <p:spPr>
          <a:xfrm>
            <a:off x="7404811"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4</a:t>
            </a:r>
            <a:endParaRPr lang="en-US" sz="1500" dirty="0"/>
          </a:p>
        </p:txBody>
      </p:sp>
      <p:sp>
        <p:nvSpPr>
          <p:cNvPr id="29" name="Text 23"/>
          <p:cNvSpPr txBox="1"/>
          <p:nvPr/>
        </p:nvSpPr>
        <p:spPr>
          <a:xfrm>
            <a:off x="7404811" y="3931920"/>
            <a:ext cx="1889150" cy="1234440"/>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누가 그네를 타요</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서아</a:t>
            </a:r>
            <a:r>
              <a:rPr lang="en-US" sz="1900" dirty="0">
                <a:solidFill>
                  <a:srgbClr val="14142B"/>
                </a:solidFill>
              </a:rPr>
              <a:t>)</a:t>
            </a:r>
            <a:endParaRPr lang="en-US" sz="1900" dirty="0"/>
          </a:p>
        </p:txBody>
      </p:sp>
      <p:sp>
        <p:nvSpPr>
          <p:cNvPr id="30" name="rev_3_caja"/>
          <p:cNvSpPr/>
          <p:nvPr/>
        </p:nvSpPr>
        <p:spPr>
          <a:xfrm>
            <a:off x="7423099" y="5212080"/>
            <a:ext cx="1852574" cy="868680"/>
          </a:xfrm>
          <a:prstGeom prst="roundRect">
            <a:avLst>
              <a:gd name="adj" fmla="val 12632"/>
            </a:avLst>
          </a:prstGeom>
          <a:solidFill>
            <a:srgbClr val="4236F6"/>
          </a:solidFill>
          <a:ln w="12700">
            <a:solidFill>
              <a:srgbClr val="4236F6"/>
            </a:solidFill>
            <a:prstDash val="solid"/>
          </a:ln>
        </p:spPr>
      </p:sp>
      <p:sp>
        <p:nvSpPr>
          <p:cNvPr id="31" name="rev_3_txt"/>
          <p:cNvSpPr txBox="1"/>
          <p:nvPr/>
        </p:nvSpPr>
        <p:spPr>
          <a:xfrm>
            <a:off x="7450531" y="5212080"/>
            <a:ext cx="1797710" cy="868680"/>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서아가 그네를 타요</a:t>
            </a:r>
            <a:r>
              <a:rPr lang="en-US" sz="1700" b="1" dirty="0">
                <a:solidFill>
                  <a:srgbClr val="FFFFFF"/>
                </a:solidFill>
              </a:rPr>
              <a:t>.</a:t>
            </a:r>
            <a:endParaRPr lang="en-US" sz="1700" dirty="0"/>
          </a:p>
        </p:txBody>
      </p:sp>
      <p:sp>
        <p:nvSpPr>
          <p:cNvPr id="32" name="card_4"/>
          <p:cNvSpPr/>
          <p:nvPr/>
        </p:nvSpPr>
        <p:spPr>
          <a:xfrm>
            <a:off x="9568282" y="1965960"/>
            <a:ext cx="2072030" cy="4206240"/>
          </a:xfrm>
          <a:prstGeom prst="roundRect">
            <a:avLst>
              <a:gd name="adj" fmla="val 6620"/>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item_img_4" descr="C:\Users\Chingu\AppData\Local\Temp\claude\C--Users-Chingu-Desktop-ACADEMIASEULWEB\d4111e1b-5523-44ea-97b2-b1a1d9545b9e\scratchpad\decks\cache\img_13383ec35430d9ed.png"/>
          <p:cNvPicPr>
            <a:picLocks noChangeAspect="1"/>
          </p:cNvPicPr>
          <p:nvPr/>
        </p:nvPicPr>
        <p:blipFill>
          <a:blip r:embed="rId7"/>
          <a:stretch>
            <a:fillRect/>
          </a:stretch>
        </p:blipFill>
        <p:spPr>
          <a:xfrm>
            <a:off x="9689897" y="2057400"/>
            <a:ext cx="1828800" cy="1828800"/>
          </a:xfrm>
          <a:prstGeom prst="rect">
            <a:avLst/>
          </a:prstGeom>
        </p:spPr>
      </p:pic>
      <p:sp>
        <p:nvSpPr>
          <p:cNvPr id="34" name="num_4"/>
          <p:cNvSpPr/>
          <p:nvPr/>
        </p:nvSpPr>
        <p:spPr>
          <a:xfrm>
            <a:off x="9659722" y="2057400"/>
            <a:ext cx="420624" cy="420624"/>
          </a:xfrm>
          <a:prstGeom prst="ellipse">
            <a:avLst/>
          </a:prstGeom>
          <a:solidFill>
            <a:srgbClr val="003478"/>
          </a:solidFill>
          <a:ln w="19050">
            <a:solidFill>
              <a:srgbClr val="FFFFFF"/>
            </a:solidFill>
            <a:prstDash val="solid"/>
          </a:ln>
        </p:spPr>
      </p:sp>
      <p:sp>
        <p:nvSpPr>
          <p:cNvPr id="35" name="Text 28"/>
          <p:cNvSpPr txBox="1"/>
          <p:nvPr/>
        </p:nvSpPr>
        <p:spPr>
          <a:xfrm>
            <a:off x="9659722"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5</a:t>
            </a:r>
            <a:endParaRPr lang="en-US" sz="1500" dirty="0"/>
          </a:p>
        </p:txBody>
      </p:sp>
      <p:sp>
        <p:nvSpPr>
          <p:cNvPr id="36" name="Text 29"/>
          <p:cNvSpPr txBox="1"/>
          <p:nvPr/>
        </p:nvSpPr>
        <p:spPr>
          <a:xfrm>
            <a:off x="9659722" y="3931920"/>
            <a:ext cx="1889150" cy="1234440"/>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En coreano: «도윤 </a:t>
            </a:r>
            <a:r>
              <a:rPr lang="en-US" sz="1900" dirty="0">
                <a:solidFill>
                  <a:srgbClr val="14142B"/>
                </a:solidFill>
              </a:rPr>
              <a:t>y </a:t>
            </a:r>
            <a:r>
              <a:rPr lang="ko-KR" altLang="en-US" sz="1900" dirty="0">
                <a:solidFill>
                  <a:srgbClr val="14142B"/>
                </a:solidFill>
                <a:latin typeface="Malgun Gothic" pitchFamily="34" charset="0"/>
                <a:ea typeface="Malgun Gothic" pitchFamily="34" charset="-122"/>
                <a:cs typeface="Malgun Gothic" pitchFamily="34" charset="-120"/>
              </a:rPr>
              <a:t>하나 </a:t>
            </a:r>
            <a:r>
              <a:rPr lang="en-US" sz="1900" dirty="0">
                <a:solidFill>
                  <a:srgbClr val="14142B"/>
                </a:solidFill>
              </a:rPr>
              <a:t>sacan fotos».</a:t>
            </a:r>
            <a:endParaRPr lang="en-US" sz="1900" dirty="0"/>
          </a:p>
        </p:txBody>
      </p:sp>
      <p:sp>
        <p:nvSpPr>
          <p:cNvPr id="37" name="rev_4_caja"/>
          <p:cNvSpPr/>
          <p:nvPr/>
        </p:nvSpPr>
        <p:spPr>
          <a:xfrm>
            <a:off x="9678010" y="5212080"/>
            <a:ext cx="1852574" cy="868680"/>
          </a:xfrm>
          <a:prstGeom prst="roundRect">
            <a:avLst>
              <a:gd name="adj" fmla="val 12632"/>
            </a:avLst>
          </a:prstGeom>
          <a:solidFill>
            <a:srgbClr val="4236F6"/>
          </a:solidFill>
          <a:ln w="12700">
            <a:solidFill>
              <a:srgbClr val="4236F6"/>
            </a:solidFill>
            <a:prstDash val="solid"/>
          </a:ln>
        </p:spPr>
      </p:sp>
      <p:sp>
        <p:nvSpPr>
          <p:cNvPr id="38" name="rev_4_txt"/>
          <p:cNvSpPr txBox="1"/>
          <p:nvPr/>
        </p:nvSpPr>
        <p:spPr>
          <a:xfrm>
            <a:off x="9705442" y="5212080"/>
            <a:ext cx="1797710" cy="868680"/>
          </a:xfrm>
          <a:prstGeom prst="rect">
            <a:avLst/>
          </a:prstGeom>
          <a:noFill/>
          <a:ln/>
        </p:spPr>
        <p:txBody>
          <a:bodyPr wrap="square" lIns="0" tIns="0" rIns="0" bIns="0" rtlCol="0" anchor="ctr">
            <a:normAutofit/>
          </a:bodyPr>
          <a:lstStyle/>
          <a:p>
            <a:pPr marL="0" indent="0" algn="ctr" eaLnBrk="1">
              <a:buNone/>
            </a:pPr>
            <a:r>
              <a:rPr lang="ko-KR" altLang="en-US" sz="1700" b="1" dirty="0">
                <a:solidFill>
                  <a:srgbClr val="FFFFFF"/>
                </a:solidFill>
                <a:latin typeface="Malgun Gothic" pitchFamily="34" charset="0"/>
                <a:ea typeface="Malgun Gothic" pitchFamily="34" charset="-122"/>
                <a:cs typeface="Malgun Gothic" pitchFamily="34" charset="-120"/>
              </a:rPr>
              <a:t>도윤 씨하고 하나 씨는 사진을 찍어요</a:t>
            </a:r>
            <a:r>
              <a:rPr lang="en-US" sz="1700" b="1" dirty="0">
                <a:solidFill>
                  <a:srgbClr val="FFFFFF"/>
                </a:solidFill>
              </a:rPr>
              <a:t>.</a:t>
            </a:r>
            <a:endParaRPr lang="en-US" sz="1700" dirty="0"/>
          </a:p>
        </p:txBody>
      </p:sp>
      <p:sp>
        <p:nvSpPr>
          <p:cNvPr id="3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4" grpId="0" animBg="1"/>
      <p:bldP spid="31"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본문  </a:t>
            </a:r>
            <a:r>
              <a:rPr lang="en-US" sz="3000" b="1" dirty="0">
                <a:solidFill>
                  <a:srgbClr val="003478"/>
                </a:solidFill>
              </a:rPr>
              <a:t>Escena: una videollamada</a:t>
            </a:r>
            <a:r>
              <a:rPr lang="en-US" sz="1500" b="1" i="1" dirty="0">
                <a:solidFill>
                  <a:srgbClr val="8A8DA0"/>
                </a:solidFill>
              </a:rPr>
              <a:t>   Scene: a video call</a:t>
            </a:r>
            <a:endParaRPr lang="en-US" sz="3000" dirty="0"/>
          </a:p>
        </p:txBody>
      </p:sp>
      <p:pic>
        <p:nvPicPr>
          <p:cNvPr id="3" name="imagen" descr="C:\Users\Chingu\AppData\Local\Temp\claude\C--Users-Chingu-Desktop-ACADEMIASEULWEB\d4111e1b-5523-44ea-97b2-b1a1d9545b9e\scratchpad\decks\cache\img_731306739ddea17f.png"/>
          <p:cNvPicPr>
            <a:picLocks noChangeAspect="1"/>
          </p:cNvPicPr>
          <p:nvPr/>
        </p:nvPicPr>
        <p:blipFill>
          <a:blip r:embed="rId5"/>
          <a:stretch>
            <a:fillRect/>
          </a:stretch>
        </p:blipFill>
        <p:spPr>
          <a:xfrm>
            <a:off x="7754112" y="1508760"/>
            <a:ext cx="3886200" cy="4480560"/>
          </a:xfrm>
          <a:prstGeom prst="rect">
            <a:avLst/>
          </a:prstGeom>
        </p:spPr>
      </p:pic>
      <p:sp>
        <p:nvSpPr>
          <p:cNvPr id="4" name="panel"/>
          <p:cNvSpPr/>
          <p:nvPr/>
        </p:nvSpPr>
        <p:spPr>
          <a:xfrm>
            <a:off x="548640" y="1645920"/>
            <a:ext cx="6931152" cy="3108960"/>
          </a:xfrm>
          <a:prstGeom prst="roundRect">
            <a:avLst>
              <a:gd name="adj" fmla="val 8824"/>
            </a:avLst>
          </a:prstGeom>
          <a:solidFill>
            <a:srgbClr val="F1F0FE"/>
          </a:solidFill>
          <a:ln w="12700">
            <a:solidFill>
              <a:srgbClr val="F1F0FE"/>
            </a:solidFill>
            <a:prstDash val="solid"/>
          </a:ln>
        </p:spPr>
      </p:sp>
      <p:sp>
        <p:nvSpPr>
          <p:cNvPr id="5" name="frase_ko"/>
          <p:cNvSpPr txBox="1"/>
          <p:nvPr/>
        </p:nvSpPr>
        <p:spPr>
          <a:xfrm>
            <a:off x="731520" y="1828800"/>
            <a:ext cx="6565392" cy="1828800"/>
          </a:xfrm>
          <a:prstGeom prst="rect">
            <a:avLst/>
          </a:prstGeom>
          <a:noFill/>
          <a:ln/>
        </p:spPr>
        <p:txBody>
          <a:bodyPr wrap="square" lIns="0" tIns="0" rIns="0" bIns="0" rtlCol="0" anchor="ctr">
            <a:normAutofit/>
          </a:bodyPr>
          <a:lstStyle/>
          <a:p>
            <a:pPr marL="0" indent="0" algn="ctr" eaLnBrk="1">
              <a:buNone/>
            </a:pPr>
            <a:r>
              <a:rPr lang="ko-KR" altLang="en-US" sz="3500" b="1" dirty="0">
                <a:solidFill>
                  <a:srgbClr val="4236F6"/>
                </a:solidFill>
                <a:latin typeface="Malgun Gothic" pitchFamily="34" charset="0"/>
                <a:ea typeface="Malgun Gothic" pitchFamily="34" charset="-122"/>
                <a:cs typeface="Malgun Gothic" pitchFamily="34" charset="-120"/>
              </a:rPr>
              <a:t>지금 산티아고는 저녁이에요</a:t>
            </a:r>
            <a:r>
              <a:rPr lang="en-US" sz="3500" b="1" dirty="0">
                <a:solidFill>
                  <a:srgbClr val="4236F6"/>
                </a:solidFill>
              </a:rPr>
              <a:t>.</a:t>
            </a:r>
            <a:endParaRPr lang="en-US" sz="3500" dirty="0"/>
          </a:p>
          <a:p>
            <a:pPr marL="0" indent="0" algn="ctr" eaLnBrk="1">
              <a:buNone/>
            </a:pPr>
            <a:r>
              <a:rPr lang="ko-KR" altLang="en-US" sz="3500" b="1" dirty="0">
                <a:solidFill>
                  <a:srgbClr val="4236F6"/>
                </a:solidFill>
                <a:latin typeface="Malgun Gothic" pitchFamily="34" charset="0"/>
                <a:ea typeface="Malgun Gothic" pitchFamily="34" charset="-122"/>
                <a:cs typeface="Malgun Gothic" pitchFamily="34" charset="-120"/>
              </a:rPr>
              <a:t>서울은 아침이에요</a:t>
            </a:r>
            <a:r>
              <a:rPr lang="en-US" sz="3500" b="1" dirty="0">
                <a:solidFill>
                  <a:srgbClr val="4236F6"/>
                </a:solidFill>
              </a:rPr>
              <a:t>.</a:t>
            </a:r>
            <a:endParaRPr lang="en-US" sz="3500" dirty="0"/>
          </a:p>
        </p:txBody>
      </p:sp>
      <p:sp>
        <p:nvSpPr>
          <p:cNvPr id="6" name="Text 3"/>
          <p:cNvSpPr txBox="1"/>
          <p:nvPr/>
        </p:nvSpPr>
        <p:spPr>
          <a:xfrm>
            <a:off x="1051560" y="3657600"/>
            <a:ext cx="574243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Ahora en Santiago es de noche. En Seúl es de mañana.</a:t>
            </a:r>
            <a:endParaRPr lang="en-US" sz="24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903720" y="4160520"/>
            <a:ext cx="384048" cy="384048"/>
          </a:xfrm>
          <a:prstGeom prst="rect">
            <a:avLst/>
          </a:prstGeom>
        </p:spPr>
      </p:pic>
      <p:sp>
        <p:nvSpPr>
          <p:cNvPr id="8" name="lista"/>
          <p:cNvSpPr txBox="1"/>
          <p:nvPr/>
        </p:nvSpPr>
        <p:spPr>
          <a:xfrm>
            <a:off x="548640" y="4937760"/>
            <a:ext cx="693115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Primero escuchen, sin texto: ¿qué hora es en cada ciudad?</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본문  </a:t>
            </a:r>
            <a:r>
              <a:rPr lang="en-US" sz="3000" b="1" dirty="0">
                <a:solidFill>
                  <a:srgbClr val="003478"/>
                </a:solidFill>
              </a:rPr>
              <a:t>La videollamada</a:t>
            </a:r>
            <a:r>
              <a:rPr lang="en-US" sz="1500" b="1" i="1" dirty="0">
                <a:solidFill>
                  <a:srgbClr val="8A8DA0"/>
                </a:solidFill>
              </a:rPr>
              <a:t>   The video call</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Escucha → repite línea por línea → lean los papeles</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5" name="Text 3"/>
          <p:cNvSpPr txBox="1"/>
          <p:nvPr/>
        </p:nvSpPr>
        <p:spPr>
          <a:xfrm>
            <a:off x="548640" y="2228393"/>
            <a:ext cx="3544824" cy="691744"/>
          </a:xfrm>
          <a:prstGeom prst="rect">
            <a:avLst/>
          </a:prstGeom>
          <a:noFill/>
          <a:ln/>
        </p:spPr>
        <p:txBody>
          <a:bodyPr wrap="square" lIns="0" tIns="0" rIns="0" bIns="0" rtlCol="0" anchor="ctr">
            <a:normAutofit/>
          </a:bodyPr>
          <a:lstStyle/>
          <a:p>
            <a:pPr marL="0" indent="0" algn="ctr" eaLnBrk="1">
              <a:buNone/>
            </a:pPr>
            <a:r>
              <a:rPr lang="ko-KR" altLang="en-US" sz="1900" b="1" dirty="0">
                <a:solidFill>
                  <a:srgbClr val="4236F6"/>
                </a:solidFill>
                <a:latin typeface="Malgun Gothic" pitchFamily="34" charset="0"/>
                <a:ea typeface="Malgun Gothic" pitchFamily="34" charset="-122"/>
                <a:cs typeface="Malgun Gothic" pitchFamily="34" charset="-120"/>
              </a:rPr>
              <a:t>하나 씨</a:t>
            </a:r>
            <a:r>
              <a:rPr lang="en-US" sz="1900" b="1" dirty="0">
                <a:solidFill>
                  <a:srgbClr val="4236F6"/>
                </a:solidFill>
              </a:rPr>
              <a:t>, </a:t>
            </a:r>
            <a:r>
              <a:rPr lang="ko-KR" altLang="en-US" sz="1900" b="1" dirty="0">
                <a:solidFill>
                  <a:srgbClr val="4236F6"/>
                </a:solidFill>
                <a:latin typeface="Malgun Gothic" pitchFamily="34" charset="0"/>
                <a:ea typeface="Malgun Gothic" pitchFamily="34" charset="-122"/>
                <a:cs typeface="Malgun Gothic" pitchFamily="34" charset="-120"/>
              </a:rPr>
              <a:t>언제 수영을 해요</a:t>
            </a:r>
            <a:r>
              <a:rPr lang="en-US" sz="1900" b="1" dirty="0">
                <a:solidFill>
                  <a:srgbClr val="4236F6"/>
                </a:solidFill>
              </a:rPr>
              <a:t>?</a:t>
            </a:r>
            <a:endParaRPr lang="en-US" sz="1900" dirty="0"/>
          </a:p>
        </p:txBody>
      </p:sp>
      <p:sp>
        <p:nvSpPr>
          <p:cNvPr id="6" name="Text 4"/>
          <p:cNvSpPr txBox="1"/>
          <p:nvPr/>
        </p:nvSpPr>
        <p:spPr>
          <a:xfrm>
            <a:off x="621792" y="2920136"/>
            <a:ext cx="3398520"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Valentina: 하나</a:t>
            </a:r>
            <a:r>
              <a:rPr lang="en-US" sz="1600" dirty="0">
                <a:solidFill>
                  <a:srgbClr val="5C5F6B"/>
                </a:solidFill>
              </a:rPr>
              <a:t>, ¿cuándo nadas?</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5"/>
          <a:stretch>
            <a:fillRect/>
          </a:stretch>
        </p:blipFill>
        <p:spPr>
          <a:xfrm>
            <a:off x="3691128" y="1947672"/>
            <a:ext cx="310896" cy="310896"/>
          </a:xfrm>
          <a:prstGeom prst="rect">
            <a:avLst/>
          </a:prstGeom>
        </p:spPr>
      </p:pic>
      <p:sp>
        <p:nvSpPr>
          <p:cNvPr id="8"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9" name="Text 6"/>
          <p:cNvSpPr txBox="1"/>
          <p:nvPr/>
        </p:nvSpPr>
        <p:spPr>
          <a:xfrm>
            <a:off x="4322064" y="2228393"/>
            <a:ext cx="3544824" cy="691744"/>
          </a:xfrm>
          <a:prstGeom prst="rect">
            <a:avLst/>
          </a:prstGeom>
          <a:noFill/>
          <a:ln/>
        </p:spPr>
        <p:txBody>
          <a:bodyPr wrap="square" lIns="0" tIns="0" rIns="0" bIns="0" rtlCol="0" anchor="ctr">
            <a:normAutofit/>
          </a:bodyPr>
          <a:lstStyle/>
          <a:p>
            <a:pPr marL="0" indent="0" algn="ctr" eaLnBrk="1">
              <a:buNone/>
            </a:pPr>
            <a:r>
              <a:rPr lang="ko-KR" altLang="en-US" sz="2100" b="1" dirty="0">
                <a:solidFill>
                  <a:srgbClr val="4236F6"/>
                </a:solidFill>
                <a:latin typeface="Malgun Gothic" pitchFamily="34" charset="0"/>
                <a:ea typeface="Malgun Gothic" pitchFamily="34" charset="-122"/>
                <a:cs typeface="Malgun Gothic" pitchFamily="34" charset="-120"/>
              </a:rPr>
              <a:t>아침에 수영을 해요</a:t>
            </a:r>
            <a:r>
              <a:rPr lang="en-US" sz="2100" b="1" dirty="0">
                <a:solidFill>
                  <a:srgbClr val="4236F6"/>
                </a:solidFill>
              </a:rPr>
              <a:t>.</a:t>
            </a:r>
            <a:endParaRPr lang="en-US" sz="2100" dirty="0"/>
          </a:p>
        </p:txBody>
      </p:sp>
      <p:sp>
        <p:nvSpPr>
          <p:cNvPr id="10" name="Text 7"/>
          <p:cNvSpPr txBox="1"/>
          <p:nvPr/>
        </p:nvSpPr>
        <p:spPr>
          <a:xfrm>
            <a:off x="4322064" y="2920136"/>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[아치메 수영을 해요</a:t>
            </a:r>
            <a:r>
              <a:rPr lang="en-US" sz="1300" dirty="0">
                <a:solidFill>
                  <a:srgbClr val="8A8DA0"/>
                </a:solidFill>
              </a:rPr>
              <a:t>]</a:t>
            </a:r>
            <a:endParaRPr lang="en-US" sz="1300" dirty="0"/>
          </a:p>
        </p:txBody>
      </p:sp>
      <p:sp>
        <p:nvSpPr>
          <p:cNvPr id="11" name="Text 8"/>
          <p:cNvSpPr txBox="1"/>
          <p:nvPr/>
        </p:nvSpPr>
        <p:spPr>
          <a:xfrm>
            <a:off x="4395216" y="3194456"/>
            <a:ext cx="3398520" cy="64145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하나</a:t>
            </a:r>
            <a:r>
              <a:rPr lang="en-US" sz="1600" dirty="0">
                <a:solidFill>
                  <a:srgbClr val="5C5F6B"/>
                </a:solidFill>
              </a:rPr>
              <a:t>: Nado en la mañana.</a:t>
            </a:r>
            <a:endParaRPr lang="en-US" sz="1600" dirty="0"/>
          </a:p>
        </p:txBody>
      </p:sp>
      <p:pic>
        <p:nvPicPr>
          <p:cNvPr id="16"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5"/>
          <a:stretch>
            <a:fillRect/>
          </a:stretch>
        </p:blipFill>
        <p:spPr>
          <a:xfrm>
            <a:off x="7464552" y="1947672"/>
            <a:ext cx="310896" cy="310896"/>
          </a:xfrm>
          <a:prstGeom prst="rect">
            <a:avLst/>
          </a:prstGeom>
        </p:spPr>
      </p:pic>
      <p:sp>
        <p:nvSpPr>
          <p:cNvPr id="13"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4" name="Text 10"/>
          <p:cNvSpPr txBox="1"/>
          <p:nvPr/>
        </p:nvSpPr>
        <p:spPr>
          <a:xfrm>
            <a:off x="8095488" y="2228393"/>
            <a:ext cx="3544824"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발렌티나 씨는 언제 한국어를 공부해요</a:t>
            </a:r>
            <a:r>
              <a:rPr lang="en-US" sz="1600" b="1" dirty="0">
                <a:solidFill>
                  <a:srgbClr val="4236F6"/>
                </a:solidFill>
              </a:rPr>
              <a:t>?</a:t>
            </a:r>
            <a:endParaRPr lang="en-US" sz="1600" dirty="0"/>
          </a:p>
        </p:txBody>
      </p:sp>
      <p:sp>
        <p:nvSpPr>
          <p:cNvPr id="15" name="Text 11"/>
          <p:cNvSpPr txBox="1"/>
          <p:nvPr/>
        </p:nvSpPr>
        <p:spPr>
          <a:xfrm>
            <a:off x="8168640" y="2920136"/>
            <a:ext cx="3398520"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하나</a:t>
            </a:r>
            <a:r>
              <a:rPr lang="en-US" sz="1600" dirty="0">
                <a:solidFill>
                  <a:srgbClr val="5C5F6B"/>
                </a:solidFill>
              </a:rPr>
              <a:t>: Y tú, Valentina, ¿cuándo estudias coreano?</a:t>
            </a:r>
            <a:endParaRPr lang="en-US" sz="1600" dirty="0"/>
          </a:p>
        </p:txBody>
      </p:sp>
      <p:pic>
        <p:nvPicPr>
          <p:cNvPr id="21"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5"/>
          <a:stretch>
            <a:fillRect/>
          </a:stretch>
        </p:blipFill>
        <p:spPr>
          <a:xfrm>
            <a:off x="11237976" y="1947672"/>
            <a:ext cx="310896" cy="310896"/>
          </a:xfrm>
          <a:prstGeom prst="rect">
            <a:avLst/>
          </a:prstGeom>
        </p:spPr>
      </p:pic>
      <p:sp>
        <p:nvSpPr>
          <p:cNvPr id="17" name="card_3"/>
          <p:cNvSpPr/>
          <p:nvPr/>
        </p:nvSpPr>
        <p:spPr>
          <a:xfrm>
            <a:off x="548640"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8" name="Text 13"/>
          <p:cNvSpPr txBox="1"/>
          <p:nvPr/>
        </p:nvSpPr>
        <p:spPr>
          <a:xfrm>
            <a:off x="548640" y="4491533"/>
            <a:ext cx="3544824"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저녁에 공부해요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지금 공부해요</a:t>
            </a:r>
            <a:r>
              <a:rPr lang="en-US" sz="1600" b="1" dirty="0">
                <a:solidFill>
                  <a:srgbClr val="4236F6"/>
                </a:solidFill>
              </a:rPr>
              <a:t>!</a:t>
            </a:r>
            <a:endParaRPr lang="en-US" sz="1600" dirty="0"/>
          </a:p>
        </p:txBody>
      </p:sp>
      <p:sp>
        <p:nvSpPr>
          <p:cNvPr id="19" name="Text 14"/>
          <p:cNvSpPr txBox="1"/>
          <p:nvPr/>
        </p:nvSpPr>
        <p:spPr>
          <a:xfrm>
            <a:off x="548640" y="5183276"/>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[저녀게 공부해요</a:t>
            </a:r>
            <a:r>
              <a:rPr lang="en-US" sz="1300" dirty="0">
                <a:solidFill>
                  <a:srgbClr val="8A8DA0"/>
                </a:solidFill>
              </a:rPr>
              <a:t>]</a:t>
            </a:r>
            <a:endParaRPr lang="en-US" sz="1300" dirty="0"/>
          </a:p>
        </p:txBody>
      </p:sp>
      <p:sp>
        <p:nvSpPr>
          <p:cNvPr id="20" name="Text 15"/>
          <p:cNvSpPr txBox="1"/>
          <p:nvPr/>
        </p:nvSpPr>
        <p:spPr>
          <a:xfrm>
            <a:off x="621792" y="5457596"/>
            <a:ext cx="3398520" cy="641452"/>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Valentina: Estudio en la noche. ¡Ahora estoy estudiando!</a:t>
            </a:r>
            <a:endParaRPr lang="en-US" sz="1400" dirty="0"/>
          </a:p>
        </p:txBody>
      </p:sp>
      <p:pic>
        <p:nvPicPr>
          <p:cNvPr id="12"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5"/>
          <a:stretch>
            <a:fillRect/>
          </a:stretch>
        </p:blipFill>
        <p:spPr>
          <a:xfrm>
            <a:off x="3691128" y="4210812"/>
            <a:ext cx="310896" cy="310896"/>
          </a:xfrm>
          <a:prstGeom prst="rect">
            <a:avLst/>
          </a:prstGeom>
        </p:spPr>
      </p:pic>
      <p:sp>
        <p:nvSpPr>
          <p:cNvPr id="22" name="card_4"/>
          <p:cNvSpPr/>
          <p:nvPr/>
        </p:nvSpPr>
        <p:spPr>
          <a:xfrm>
            <a:off x="4322064"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23" name="Text 17"/>
          <p:cNvSpPr txBox="1"/>
          <p:nvPr/>
        </p:nvSpPr>
        <p:spPr>
          <a:xfrm>
            <a:off x="4322064" y="4491533"/>
            <a:ext cx="3544824" cy="691744"/>
          </a:xfrm>
          <a:prstGeom prst="rect">
            <a:avLst/>
          </a:prstGeom>
          <a:noFill/>
          <a:ln/>
        </p:spPr>
        <p:txBody>
          <a:bodyPr wrap="square" lIns="0" tIns="0" rIns="0" bIns="0" rtlCol="0" anchor="ctr">
            <a:normAutofit/>
          </a:bodyPr>
          <a:lstStyle/>
          <a:p>
            <a:pPr marL="0" indent="0" algn="ctr" eaLnBrk="1">
              <a:buNone/>
            </a:pPr>
            <a:r>
              <a:rPr lang="ko-KR" altLang="en-US" sz="2100" b="1" dirty="0">
                <a:solidFill>
                  <a:srgbClr val="4236F6"/>
                </a:solidFill>
                <a:latin typeface="Malgun Gothic" pitchFamily="34" charset="0"/>
                <a:ea typeface="Malgun Gothic" pitchFamily="34" charset="-122"/>
                <a:cs typeface="Malgun Gothic" pitchFamily="34" charset="-120"/>
              </a:rPr>
              <a:t>하나 씨는 내일 뭘 해요</a:t>
            </a:r>
            <a:r>
              <a:rPr lang="en-US" sz="2100" b="1" dirty="0">
                <a:solidFill>
                  <a:srgbClr val="4236F6"/>
                </a:solidFill>
              </a:rPr>
              <a:t>?</a:t>
            </a:r>
            <a:endParaRPr lang="en-US" sz="2100" dirty="0"/>
          </a:p>
        </p:txBody>
      </p:sp>
      <p:sp>
        <p:nvSpPr>
          <p:cNvPr id="24" name="Text 18"/>
          <p:cNvSpPr txBox="1"/>
          <p:nvPr/>
        </p:nvSpPr>
        <p:spPr>
          <a:xfrm>
            <a:off x="4395216" y="5183276"/>
            <a:ext cx="3398520"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Valentina: Y tú, 하나</a:t>
            </a:r>
            <a:r>
              <a:rPr lang="en-US" sz="1600" dirty="0">
                <a:solidFill>
                  <a:srgbClr val="5C5F6B"/>
                </a:solidFill>
              </a:rPr>
              <a:t>, ¿qué haces mañana?</a:t>
            </a:r>
            <a:endParaRPr lang="en-US" sz="1600" dirty="0"/>
          </a:p>
        </p:txBody>
      </p:sp>
      <p:pic>
        <p:nvPicPr>
          <p:cNvPr id="29"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5"/>
          <a:stretch>
            <a:fillRect/>
          </a:stretch>
        </p:blipFill>
        <p:spPr>
          <a:xfrm>
            <a:off x="7464552" y="4210812"/>
            <a:ext cx="310896" cy="310896"/>
          </a:xfrm>
          <a:prstGeom prst="rect">
            <a:avLst/>
          </a:prstGeom>
        </p:spPr>
      </p:pic>
      <p:sp>
        <p:nvSpPr>
          <p:cNvPr id="26" name="card_5"/>
          <p:cNvSpPr/>
          <p:nvPr/>
        </p:nvSpPr>
        <p:spPr>
          <a:xfrm>
            <a:off x="8095488"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27" name="Text 20"/>
          <p:cNvSpPr txBox="1"/>
          <p:nvPr/>
        </p:nvSpPr>
        <p:spPr>
          <a:xfrm>
            <a:off x="8095488" y="4491533"/>
            <a:ext cx="3544824" cy="691744"/>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내일 자전거를 타요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공부 화이팅</a:t>
            </a:r>
            <a:r>
              <a:rPr lang="en-US" sz="1600" b="1" dirty="0">
                <a:solidFill>
                  <a:srgbClr val="4236F6"/>
                </a:solidFill>
              </a:rPr>
              <a:t>!</a:t>
            </a:r>
            <a:endParaRPr lang="en-US" sz="1600" dirty="0"/>
          </a:p>
        </p:txBody>
      </p:sp>
      <p:sp>
        <p:nvSpPr>
          <p:cNvPr id="28" name="Text 21"/>
          <p:cNvSpPr txBox="1"/>
          <p:nvPr/>
        </p:nvSpPr>
        <p:spPr>
          <a:xfrm>
            <a:off x="8168640" y="5183276"/>
            <a:ext cx="3398520" cy="915772"/>
          </a:xfrm>
          <a:prstGeom prst="rect">
            <a:avLst/>
          </a:prstGeom>
          <a:noFill/>
          <a:ln/>
        </p:spPr>
        <p:txBody>
          <a:bodyPr wrap="square" lIns="0" tIns="0" rIns="0" bIns="0" rtlCol="0" anchor="t">
            <a:normAutofit/>
          </a:bodyPr>
          <a:lstStyle/>
          <a:p>
            <a:pPr marL="0" indent="0" algn="ctr" eaLnBrk="1">
              <a:buNone/>
            </a:pPr>
            <a:r>
              <a:rPr lang="ko-KR" altLang="en-US" sz="1600" dirty="0">
                <a:solidFill>
                  <a:srgbClr val="5C5F6B"/>
                </a:solidFill>
                <a:latin typeface="Malgun Gothic" pitchFamily="34" charset="0"/>
                <a:ea typeface="Malgun Gothic" pitchFamily="34" charset="-122"/>
                <a:cs typeface="Malgun Gothic" pitchFamily="34" charset="-120"/>
              </a:rPr>
              <a:t>하나</a:t>
            </a:r>
            <a:r>
              <a:rPr lang="en-US" sz="1600" dirty="0">
                <a:solidFill>
                  <a:srgbClr val="5C5F6B"/>
                </a:solidFill>
              </a:rPr>
              <a:t>: Mañana ando en bici. ¡Ánimo con el estudio!</a:t>
            </a:r>
            <a:endParaRPr lang="en-US" sz="1600" dirty="0"/>
          </a:p>
        </p:txBody>
      </p:sp>
      <p:pic>
        <p:nvPicPr>
          <p:cNvPr id="30" name="Media 5">
            <a:hlinkClick r:id="" action="ppaction://media"/>
          </p:cNvPr>
          <p:cNvPicPr>
            <a:picLocks noChangeAspect="1"/>
          </p:cNvPicPr>
          <p:nvPr>
            <a:audioFile r:link="rId12"/>
            <p:extLst>
              <p:ext uri="{DAA4B4D4-6D71-4841-9C94-3DE7FCFB9230}">
                <p14:media xmlns:p14="http://schemas.microsoft.com/office/powerpoint/2010/main" r:embed="rId11"/>
              </p:ext>
            </p:extLst>
          </p:nvPr>
        </p:nvPicPr>
        <p:blipFill>
          <a:blip r:embed="rId15"/>
          <a:stretch>
            <a:fillRect/>
          </a:stretch>
        </p:blipFill>
        <p:spPr>
          <a:xfrm>
            <a:off x="11237976" y="4210812"/>
            <a:ext cx="310896" cy="31089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¿Entendiste?</a:t>
            </a:r>
            <a:r>
              <a:rPr lang="en-US" sz="1500" b="1" i="1" dirty="0">
                <a:solidFill>
                  <a:srgbClr val="8A8DA0"/>
                </a:solidFill>
              </a:rPr>
              <a:t>   Did you get it?</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Respuesta corta (아침에요</a:t>
            </a:r>
            <a:r>
              <a:rPr lang="en-US" sz="1800" i="1" dirty="0">
                <a:solidFill>
                  <a:srgbClr val="4236F6"/>
                </a:solidFill>
              </a:rPr>
              <a:t>.) o frase completa: las dos valen · Responde en coro; la respuesta aparece con clic</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하나 씨는 언제 수영을 해요</a:t>
            </a:r>
            <a:r>
              <a:rPr lang="en-US" sz="2400" dirty="0">
                <a:solidFill>
                  <a:srgbClr val="14142B"/>
                </a:solidFill>
              </a:rPr>
              <a:t>?</a:t>
            </a:r>
            <a:endParaRPr lang="en-US" sz="2400" dirty="0"/>
          </a:p>
        </p:txBody>
      </p:sp>
      <p:sp>
        <p:nvSpPr>
          <p:cNvPr id="7" name="rev_5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5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아침에 수영을 해요</a:t>
            </a:r>
            <a:r>
              <a:rPr lang="en-US" sz="2200" b="1" dirty="0">
                <a:solidFill>
                  <a:srgbClr val="FFFFFF"/>
                </a:solidFill>
              </a:rPr>
              <a:t>.</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발렌티나 씨는 언제 한국어를 공부해요</a:t>
            </a:r>
            <a:r>
              <a:rPr lang="en-US" sz="2400" dirty="0">
                <a:solidFill>
                  <a:srgbClr val="14142B"/>
                </a:solidFill>
              </a:rPr>
              <a:t>?</a:t>
            </a:r>
            <a:endParaRPr lang="en-US" sz="2400" dirty="0"/>
          </a:p>
        </p:txBody>
      </p:sp>
      <p:sp>
        <p:nvSpPr>
          <p:cNvPr id="12" name="rev_6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6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저녁에 공부해요</a:t>
            </a:r>
            <a:r>
              <a:rPr lang="en-US" sz="2200" b="1" dirty="0">
                <a:solidFill>
                  <a:srgbClr val="FFFFFF"/>
                </a:solidFill>
              </a:rPr>
              <a:t>.</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하나 씨는 내일 뭘 해요</a:t>
            </a:r>
            <a:r>
              <a:rPr lang="en-US" sz="2400" dirty="0">
                <a:solidFill>
                  <a:srgbClr val="14142B"/>
                </a:solidFill>
              </a:rPr>
              <a:t>?</a:t>
            </a:r>
            <a:endParaRPr lang="en-US" sz="2400" dirty="0"/>
          </a:p>
        </p:txBody>
      </p:sp>
      <p:sp>
        <p:nvSpPr>
          <p:cNvPr id="17" name="rev_7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7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자전거를 타요</a:t>
            </a:r>
            <a:r>
              <a:rPr lang="en-US" sz="2200" b="1" dirty="0">
                <a:solidFill>
                  <a:srgbClr val="FFFFFF"/>
                </a:solidFill>
              </a:rPr>
              <a:t>.</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지금 서울은 아침이에요</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저녁이에요</a:t>
            </a:r>
            <a:r>
              <a:rPr lang="en-US" sz="2400" dirty="0">
                <a:solidFill>
                  <a:srgbClr val="14142B"/>
                </a:solidFill>
              </a:rPr>
              <a:t>?</a:t>
            </a:r>
            <a:endParaRPr lang="en-US" sz="2400" dirty="0"/>
          </a:p>
        </p:txBody>
      </p:sp>
      <p:sp>
        <p:nvSpPr>
          <p:cNvPr id="22" name="rev_8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8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아침이에요</a:t>
            </a:r>
            <a:r>
              <a:rPr lang="en-US" sz="2200" b="1" dirty="0">
                <a:solidFill>
                  <a:srgbClr val="FFFFFF"/>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배워 봐요  </a:t>
            </a:r>
            <a:r>
              <a:rPr lang="en-US" sz="3000" b="1" dirty="0">
                <a:solidFill>
                  <a:srgbClr val="003478"/>
                </a:solidFill>
              </a:rPr>
              <a:t>Palabras nuevas</a:t>
            </a:r>
            <a:r>
              <a:rPr lang="en-US" sz="1500" b="1" i="1" dirty="0">
                <a:solidFill>
                  <a:srgbClr val="8A8DA0"/>
                </a:solidFill>
              </a:rPr>
              <a:t>   New words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Escucha y repite · después Jay señala la imagen y ustedes dicen la palabra</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3b97d0f2042991ee.png"/>
          <p:cNvPicPr>
            <a:picLocks noChangeAspect="1"/>
          </p:cNvPicPr>
          <p:nvPr/>
        </p:nvPicPr>
        <p:blipFill>
          <a:blip r:embed="rId13"/>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아침</a:t>
            </a:r>
            <a:endParaRPr lang="en-US" sz="2500" dirty="0"/>
          </a:p>
        </p:txBody>
      </p:sp>
      <p:sp>
        <p:nvSpPr>
          <p:cNvPr id="7" name="Text 4"/>
          <p:cNvSpPr txBox="1"/>
          <p:nvPr/>
        </p:nvSpPr>
        <p:spPr>
          <a:xfrm>
            <a:off x="621792" y="338602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la mañana (temprano) · también: desayuno</a:t>
            </a:r>
            <a:endParaRPr lang="en-US" sz="1400" dirty="0"/>
          </a:p>
        </p:txBody>
      </p:sp>
      <p:pic>
        <p:nvPicPr>
          <p:cNvPr id="1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3691128" y="1947672"/>
            <a:ext cx="310896" cy="310896"/>
          </a:xfrm>
          <a:prstGeom prst="rect">
            <a:avLst/>
          </a:prstGeom>
        </p:spPr>
      </p:pic>
      <p:sp>
        <p:nvSpPr>
          <p:cNvPr id="9"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0" name="dibujo_1" descr="C:\Users\Chingu\AppData\Local\Temp\claude\C--Users-Chingu-Desktop-ACADEMIASEULWEB\d4111e1b-5523-44ea-97b2-b1a1d9545b9e\scratchpad\decks\cache\img_6f21d7309ed0a2b3.png"/>
          <p:cNvPicPr>
            <a:picLocks noChangeAspect="1"/>
          </p:cNvPicPr>
          <p:nvPr/>
        </p:nvPicPr>
        <p:blipFill>
          <a:blip r:embed="rId15"/>
          <a:stretch>
            <a:fillRect/>
          </a:stretch>
        </p:blipFill>
        <p:spPr>
          <a:xfrm>
            <a:off x="5606186" y="1984248"/>
            <a:ext cx="976579" cy="976579"/>
          </a:xfrm>
          <a:prstGeom prst="rect">
            <a:avLst/>
          </a:prstGeom>
        </p:spPr>
      </p:pic>
      <p:sp>
        <p:nvSpPr>
          <p:cNvPr id="11" name="Text 6"/>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저녁</a:t>
            </a:r>
            <a:endParaRPr lang="en-US" sz="2500" dirty="0"/>
          </a:p>
        </p:txBody>
      </p:sp>
      <p:sp>
        <p:nvSpPr>
          <p:cNvPr id="12" name="Text 7"/>
          <p:cNvSpPr txBox="1"/>
          <p:nvPr/>
        </p:nvSpPr>
        <p:spPr>
          <a:xfrm>
            <a:off x="4395216" y="338602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la tarde-noche (después del trabajo) · también: cena</a:t>
            </a:r>
            <a:endParaRPr lang="en-US" sz="1400" dirty="0"/>
          </a:p>
        </p:txBody>
      </p:sp>
      <p:pic>
        <p:nvPicPr>
          <p:cNvPr id="8"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a:stretch>
            <a:fillRect/>
          </a:stretch>
        </p:blipFill>
        <p:spPr>
          <a:xfrm>
            <a:off x="7464552" y="1947672"/>
            <a:ext cx="310896" cy="310896"/>
          </a:xfrm>
          <a:prstGeom prst="rect">
            <a:avLst/>
          </a:prstGeom>
        </p:spPr>
      </p:pic>
      <p:sp>
        <p:nvSpPr>
          <p:cNvPr id="14"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5" name="dibujo_2" descr="C:\Users\Chingu\AppData\Local\Temp\claude\C--Users-Chingu-Desktop-ACADEMIASEULWEB\d4111e1b-5523-44ea-97b2-b1a1d9545b9e\scratchpad\decks\cache\img_5284540d937beba9.png"/>
          <p:cNvPicPr>
            <a:picLocks noChangeAspect="1"/>
          </p:cNvPicPr>
          <p:nvPr/>
        </p:nvPicPr>
        <p:blipFill>
          <a:blip r:embed="rId16"/>
          <a:stretch>
            <a:fillRect/>
          </a:stretch>
        </p:blipFill>
        <p:spPr>
          <a:xfrm>
            <a:off x="9379610" y="1984248"/>
            <a:ext cx="976579" cy="976579"/>
          </a:xfrm>
          <a:prstGeom prst="rect">
            <a:avLst/>
          </a:prstGeom>
        </p:spPr>
      </p:pic>
      <p:sp>
        <p:nvSpPr>
          <p:cNvPr id="16" name="Text 9"/>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오늘</a:t>
            </a:r>
            <a:endParaRPr lang="en-US" sz="2500" dirty="0"/>
          </a:p>
        </p:txBody>
      </p:sp>
      <p:sp>
        <p:nvSpPr>
          <p:cNvPr id="17" name="Text 10"/>
          <p:cNvSpPr txBox="1"/>
          <p:nvPr/>
        </p:nvSpPr>
        <p:spPr>
          <a:xfrm>
            <a:off x="8168640" y="338602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hoy</a:t>
            </a:r>
            <a:endParaRPr lang="en-US" sz="1600" dirty="0"/>
          </a:p>
        </p:txBody>
      </p:sp>
      <p:pic>
        <p:nvPicPr>
          <p:cNvPr id="18"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a:stretch>
            <a:fillRect/>
          </a:stretch>
        </p:blipFill>
        <p:spPr>
          <a:xfrm>
            <a:off x="11237976" y="1947672"/>
            <a:ext cx="310896" cy="310896"/>
          </a:xfrm>
          <a:prstGeom prst="rect">
            <a:avLst/>
          </a:prstGeom>
        </p:spPr>
      </p:pic>
      <p:sp>
        <p:nvSpPr>
          <p:cNvPr id="19" name="card_3"/>
          <p:cNvSpPr/>
          <p:nvPr/>
        </p:nvSpPr>
        <p:spPr>
          <a:xfrm>
            <a:off x="2435352"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0" name="dibujo_3" descr="C:\Users\Chingu\AppData\Local\Temp\claude\C--Users-Chingu-Desktop-ACADEMIASEULWEB\d4111e1b-5523-44ea-97b2-b1a1d9545b9e\scratchpad\decks\cache\img_9a502969f9a316e9.png"/>
          <p:cNvPicPr>
            <a:picLocks noChangeAspect="1"/>
          </p:cNvPicPr>
          <p:nvPr/>
        </p:nvPicPr>
        <p:blipFill>
          <a:blip r:embed="rId17"/>
          <a:stretch>
            <a:fillRect/>
          </a:stretch>
        </p:blipFill>
        <p:spPr>
          <a:xfrm>
            <a:off x="3719474" y="4247388"/>
            <a:ext cx="976579" cy="976579"/>
          </a:xfrm>
          <a:prstGeom prst="rect">
            <a:avLst/>
          </a:prstGeom>
        </p:spPr>
      </p:pic>
      <p:sp>
        <p:nvSpPr>
          <p:cNvPr id="21" name="Text 12"/>
          <p:cNvSpPr txBox="1"/>
          <p:nvPr/>
        </p:nvSpPr>
        <p:spPr>
          <a:xfrm>
            <a:off x="2435352"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내일</a:t>
            </a:r>
            <a:endParaRPr lang="en-US" sz="2500" dirty="0"/>
          </a:p>
        </p:txBody>
      </p:sp>
      <p:sp>
        <p:nvSpPr>
          <p:cNvPr id="22" name="Text 13"/>
          <p:cNvSpPr txBox="1"/>
          <p:nvPr/>
        </p:nvSpPr>
        <p:spPr>
          <a:xfrm>
            <a:off x="2508504"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mañana (el día siguiente)</a:t>
            </a:r>
            <a:endParaRPr lang="en-US" sz="1600" dirty="0"/>
          </a:p>
        </p:txBody>
      </p:sp>
      <p:pic>
        <p:nvPicPr>
          <p:cNvPr id="23"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4"/>
          <a:stretch>
            <a:fillRect/>
          </a:stretch>
        </p:blipFill>
        <p:spPr>
          <a:xfrm>
            <a:off x="5577840" y="4210812"/>
            <a:ext cx="310896" cy="310896"/>
          </a:xfrm>
          <a:prstGeom prst="rect">
            <a:avLst/>
          </a:prstGeom>
        </p:spPr>
      </p:pic>
      <p:sp>
        <p:nvSpPr>
          <p:cNvPr id="24" name="card_4"/>
          <p:cNvSpPr/>
          <p:nvPr/>
        </p:nvSpPr>
        <p:spPr>
          <a:xfrm>
            <a:off x="6208776"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5" name="dibujo_4" descr="C:\Users\Chingu\AppData\Local\Temp\claude\C--Users-Chingu-Desktop-ACADEMIASEULWEB\d4111e1b-5523-44ea-97b2-b1a1d9545b9e\scratchpad\decks\cache\img_51d330876495337b.png"/>
          <p:cNvPicPr>
            <a:picLocks noChangeAspect="1"/>
          </p:cNvPicPr>
          <p:nvPr/>
        </p:nvPicPr>
        <p:blipFill>
          <a:blip r:embed="rId18"/>
          <a:stretch>
            <a:fillRect/>
          </a:stretch>
        </p:blipFill>
        <p:spPr>
          <a:xfrm>
            <a:off x="7492898" y="4247388"/>
            <a:ext cx="976579" cy="976579"/>
          </a:xfrm>
          <a:prstGeom prst="rect">
            <a:avLst/>
          </a:prstGeom>
        </p:spPr>
      </p:pic>
      <p:sp>
        <p:nvSpPr>
          <p:cNvPr id="26" name="Text 15"/>
          <p:cNvSpPr txBox="1"/>
          <p:nvPr/>
        </p:nvSpPr>
        <p:spPr>
          <a:xfrm>
            <a:off x="6208776"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언제</a:t>
            </a:r>
            <a:endParaRPr lang="en-US" sz="2500" dirty="0"/>
          </a:p>
        </p:txBody>
      </p:sp>
      <p:sp>
        <p:nvSpPr>
          <p:cNvPr id="27" name="Text 16"/>
          <p:cNvSpPr txBox="1"/>
          <p:nvPr/>
        </p:nvSpPr>
        <p:spPr>
          <a:xfrm>
            <a:off x="6281928"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¿cuándo?</a:t>
            </a:r>
            <a:endParaRPr lang="en-US" sz="1600" dirty="0"/>
          </a:p>
        </p:txBody>
      </p:sp>
      <p:pic>
        <p:nvPicPr>
          <p:cNvPr id="28"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4"/>
          <a:stretch>
            <a:fillRect/>
          </a:stretch>
        </p:blipFill>
        <p:spPr>
          <a:xfrm>
            <a:off x="9351264" y="4210812"/>
            <a:ext cx="310896" cy="310896"/>
          </a:xfrm>
          <a:prstGeom prst="rect">
            <a:avLst/>
          </a:prstGeom>
        </p:spPr>
      </p:pic>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아침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내일  </a:t>
            </a:r>
            <a:r>
              <a:rPr lang="en-US" sz="3000" b="1" dirty="0">
                <a:solidFill>
                  <a:srgbClr val="003478"/>
                </a:solidFill>
              </a:rPr>
              <a:t>«Mañana» en español = dos palabras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El error número 1 de los hispanohablantes en esta lección</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la mañana (parte del día)</a:t>
            </a:r>
            <a:endParaRPr lang="en-US" sz="2000" dirty="0"/>
          </a:p>
        </p:txBody>
      </p:sp>
      <p:pic>
        <p:nvPicPr>
          <p:cNvPr id="6" name="col_img_0" descr="C:\Users\Chingu\AppData\Local\Temp\claude\C--Users-Chingu-Desktop-ACADEMIASEULWEB\d4111e1b-5523-44ea-97b2-b1a1d9545b9e\scratchpad\decks\cache\img_e35802a61b8cf565.png"/>
          <p:cNvPicPr>
            <a:picLocks noChangeAspect="1"/>
          </p:cNvPicPr>
          <p:nvPr/>
        </p:nvPicPr>
        <p:blipFill>
          <a:blip r:embed="rId3"/>
          <a:stretch>
            <a:fillRect/>
          </a:stretch>
        </p:blipFill>
        <p:spPr>
          <a:xfrm>
            <a:off x="777240" y="2651760"/>
            <a:ext cx="3026664" cy="1375756"/>
          </a:xfrm>
          <a:prstGeom prst="rect">
            <a:avLst/>
          </a:prstGeom>
        </p:spPr>
      </p:pic>
      <p:sp>
        <p:nvSpPr>
          <p:cNvPr id="7" name="Text 4"/>
          <p:cNvSpPr txBox="1"/>
          <p:nvPr/>
        </p:nvSpPr>
        <p:spPr>
          <a:xfrm>
            <a:off x="777240" y="4118956"/>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아침</a:t>
            </a:r>
            <a:endParaRPr lang="en-US" sz="5400" dirty="0"/>
          </a:p>
        </p:txBody>
      </p:sp>
      <p:sp>
        <p:nvSpPr>
          <p:cNvPr id="8" name="lista"/>
          <p:cNvSpPr txBox="1"/>
          <p:nvPr/>
        </p:nvSpPr>
        <p:spPr>
          <a:xfrm>
            <a:off x="731520" y="5124796"/>
            <a:ext cx="3118104" cy="91024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아침에 수영해요</a:t>
            </a:r>
            <a:r>
              <a:rPr lang="en-US" sz="1800" dirty="0">
                <a:solidFill>
                  <a:srgbClr val="14142B"/>
                </a:solidFill>
              </a:rPr>
              <a:t>.</a:t>
            </a:r>
            <a:endParaRPr lang="en-US" sz="1800" dirty="0"/>
          </a:p>
          <a:p>
            <a:pPr marL="228600" indent="-228600" eaLnBrk="1">
              <a:spcAft>
                <a:spcPts val="800"/>
              </a:spcAft>
              <a:buSzPct val="100000"/>
              <a:buChar char="•"/>
            </a:pPr>
            <a:r>
              <a:rPr lang="en-US" sz="1800" dirty="0">
                <a:solidFill>
                  <a:srgbClr val="14142B"/>
                </a:solidFill>
              </a:rPr>
              <a:t>= Nado en la mañana.</a:t>
            </a:r>
            <a:endParaRPr lang="en-US" sz="1800" dirty="0"/>
          </a:p>
        </p:txBody>
      </p:sp>
      <p:sp>
        <p:nvSpPr>
          <p:cNvPr id="9"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10"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mañana (el día siguiente)</a:t>
            </a:r>
            <a:endParaRPr lang="en-US" sz="2000" dirty="0"/>
          </a:p>
        </p:txBody>
      </p:sp>
      <p:pic>
        <p:nvPicPr>
          <p:cNvPr id="11" name="col_img_1" descr="C:\Users\Chingu\AppData\Local\Temp\claude\C--Users-Chingu-Desktop-ACADEMIASEULWEB\d4111e1b-5523-44ea-97b2-b1a1d9545b9e\scratchpad\decks\cache\img_73bd6bba0deb1b0c.png"/>
          <p:cNvPicPr>
            <a:picLocks noChangeAspect="1"/>
          </p:cNvPicPr>
          <p:nvPr/>
        </p:nvPicPr>
        <p:blipFill>
          <a:blip r:embed="rId4"/>
          <a:stretch>
            <a:fillRect/>
          </a:stretch>
        </p:blipFill>
        <p:spPr>
          <a:xfrm>
            <a:off x="4581144" y="2651760"/>
            <a:ext cx="3026664" cy="1375756"/>
          </a:xfrm>
          <a:prstGeom prst="rect">
            <a:avLst/>
          </a:prstGeom>
        </p:spPr>
      </p:pic>
      <p:sp>
        <p:nvSpPr>
          <p:cNvPr id="12" name="Text 8"/>
          <p:cNvSpPr txBox="1"/>
          <p:nvPr/>
        </p:nvSpPr>
        <p:spPr>
          <a:xfrm>
            <a:off x="4581144" y="4118956"/>
            <a:ext cx="3026664" cy="914400"/>
          </a:xfrm>
          <a:prstGeom prst="rect">
            <a:avLst/>
          </a:prstGeom>
          <a:noFill/>
          <a:ln/>
        </p:spPr>
        <p:txBody>
          <a:bodyPr wrap="square" lIns="0" tIns="0" rIns="0" bIns="0" rtlCol="0" anchor="ctr">
            <a:normAutofit/>
          </a:bodyPr>
          <a:lstStyle/>
          <a:p>
            <a:pPr marL="0" indent="0" eaLnBrk="1">
              <a:buNone/>
            </a:pPr>
            <a:r>
              <a:rPr lang="ko-KR" altLang="en-US" sz="5400" b="1" dirty="0">
                <a:solidFill>
                  <a:srgbClr val="4236F6"/>
                </a:solidFill>
                <a:latin typeface="Malgun Gothic" pitchFamily="34" charset="0"/>
                <a:ea typeface="Malgun Gothic" pitchFamily="34" charset="-122"/>
                <a:cs typeface="Malgun Gothic" pitchFamily="34" charset="-120"/>
              </a:rPr>
              <a:t>내일</a:t>
            </a:r>
            <a:endParaRPr lang="en-US" sz="5400" dirty="0"/>
          </a:p>
        </p:txBody>
      </p:sp>
      <p:sp>
        <p:nvSpPr>
          <p:cNvPr id="13" name="lista"/>
          <p:cNvSpPr txBox="1"/>
          <p:nvPr/>
        </p:nvSpPr>
        <p:spPr>
          <a:xfrm>
            <a:off x="4535424" y="5124796"/>
            <a:ext cx="3118104" cy="910244"/>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내일 수영해요</a:t>
            </a:r>
            <a:r>
              <a:rPr lang="en-US" sz="1800" dirty="0">
                <a:solidFill>
                  <a:srgbClr val="14142B"/>
                </a:solidFill>
              </a:rPr>
              <a:t>.</a:t>
            </a:r>
            <a:endParaRPr lang="en-US" sz="1800" dirty="0"/>
          </a:p>
          <a:p>
            <a:pPr marL="228600" indent="-228600" eaLnBrk="1">
              <a:spcAft>
                <a:spcPts val="800"/>
              </a:spcAft>
              <a:buSzPct val="100000"/>
              <a:buChar char="•"/>
            </a:pPr>
            <a:r>
              <a:rPr lang="en-US" sz="1800" dirty="0">
                <a:solidFill>
                  <a:srgbClr val="14142B"/>
                </a:solidFill>
              </a:rPr>
              <a:t>= Mañana nado.</a:t>
            </a:r>
            <a:endParaRPr lang="en-US" sz="1800" dirty="0"/>
          </a:p>
        </p:txBody>
      </p:sp>
      <p:sp>
        <p:nvSpPr>
          <p:cNvPr id="14"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5"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Las dos juntas</a:t>
            </a:r>
            <a:endParaRPr lang="en-US" sz="2000" dirty="0"/>
          </a:p>
        </p:txBody>
      </p:sp>
      <p:pic>
        <p:nvPicPr>
          <p:cNvPr id="16" name="col_img_2" descr="C:\Users\Chingu\AppData\Local\Temp\claude\C--Users-Chingu-Desktop-ACADEMIASEULWEB\d4111e1b-5523-44ea-97b2-b1a1d9545b9e\scratchpad\decks\cache\img_f56742ee3f050bbb.png"/>
          <p:cNvPicPr>
            <a:picLocks noChangeAspect="1"/>
          </p:cNvPicPr>
          <p:nvPr/>
        </p:nvPicPr>
        <p:blipFill>
          <a:blip r:embed="rId5"/>
          <a:stretch>
            <a:fillRect/>
          </a:stretch>
        </p:blipFill>
        <p:spPr>
          <a:xfrm>
            <a:off x="8527644" y="2651760"/>
            <a:ext cx="2741473" cy="1246124"/>
          </a:xfrm>
          <a:prstGeom prst="rect">
            <a:avLst/>
          </a:prstGeom>
        </p:spPr>
      </p:pic>
      <p:sp>
        <p:nvSpPr>
          <p:cNvPr id="17" name="Text 12"/>
          <p:cNvSpPr txBox="1"/>
          <p:nvPr/>
        </p:nvSpPr>
        <p:spPr>
          <a:xfrm>
            <a:off x="8385048" y="3989324"/>
            <a:ext cx="3026664" cy="914400"/>
          </a:xfrm>
          <a:prstGeom prst="rect">
            <a:avLst/>
          </a:prstGeom>
          <a:noFill/>
          <a:ln/>
        </p:spPr>
        <p:txBody>
          <a:bodyPr wrap="square" lIns="0" tIns="0" rIns="0" bIns="0" rtlCol="0" anchor="ctr">
            <a:normAutofit/>
          </a:bodyPr>
          <a:lstStyle/>
          <a:p>
            <a:pPr marL="0" indent="0" eaLnBrk="1">
              <a:buNone/>
            </a:pPr>
            <a:r>
              <a:rPr lang="ko-KR" altLang="en-US" sz="4000" b="1" dirty="0">
                <a:solidFill>
                  <a:srgbClr val="4236F6"/>
                </a:solidFill>
                <a:latin typeface="Malgun Gothic" pitchFamily="34" charset="0"/>
                <a:ea typeface="Malgun Gothic" pitchFamily="34" charset="-122"/>
                <a:cs typeface="Malgun Gothic" pitchFamily="34" charset="-120"/>
              </a:rPr>
              <a:t>내일 아침에</a:t>
            </a:r>
            <a:endParaRPr lang="en-US" sz="4000" dirty="0"/>
          </a:p>
        </p:txBody>
      </p:sp>
      <p:sp>
        <p:nvSpPr>
          <p:cNvPr id="18" name="lista"/>
          <p:cNvSpPr txBox="1"/>
          <p:nvPr/>
        </p:nvSpPr>
        <p:spPr>
          <a:xfrm>
            <a:off x="8339328" y="4995164"/>
            <a:ext cx="3118104" cy="1039876"/>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내일 아침에 수영해요</a:t>
            </a:r>
            <a:r>
              <a:rPr lang="en-US" sz="1800" dirty="0">
                <a:solidFill>
                  <a:srgbClr val="14142B"/>
                </a:solidFill>
              </a:rPr>
              <a:t>.</a:t>
            </a:r>
            <a:endParaRPr lang="en-US" sz="1800" dirty="0"/>
          </a:p>
          <a:p>
            <a:pPr marL="228600" indent="-228600" eaLnBrk="1">
              <a:spcAft>
                <a:spcPts val="800"/>
              </a:spcAft>
              <a:buSzPct val="100000"/>
              <a:buChar char="•"/>
            </a:pPr>
            <a:r>
              <a:rPr lang="en-US" sz="1800" dirty="0">
                <a:solidFill>
                  <a:srgbClr val="14142B"/>
                </a:solidFill>
              </a:rPr>
              <a:t>= Mañana en la mañana nado.</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Más momentos del día</a:t>
            </a:r>
            <a:r>
              <a:rPr lang="en-US" sz="1500" b="1" i="1" dirty="0">
                <a:solidFill>
                  <a:srgbClr val="8A8DA0"/>
                </a:solidFill>
              </a:rPr>
              <a:t>   More times of day</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3 palabras extra para hablar de tu vida + 2 que ya conoces</a:t>
            </a:r>
            <a:endParaRPr lang="en-US" sz="1800" dirty="0"/>
          </a:p>
        </p:txBody>
      </p:sp>
      <p:sp>
        <p:nvSpPr>
          <p:cNvPr id="4" name="card_0"/>
          <p:cNvSpPr/>
          <p:nvPr/>
        </p:nvSpPr>
        <p:spPr>
          <a:xfrm>
            <a:off x="548640"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dibujo_0" descr="C:\Users\Chingu\AppData\Local\Temp\claude\C--Users-Chingu-Desktop-ACADEMIASEULWEB\d4111e1b-5523-44ea-97b2-b1a1d9545b9e\scratchpad\decks\cache\img_b6c9cdcfd7495bd4.png"/>
          <p:cNvPicPr>
            <a:picLocks noChangeAspect="1"/>
          </p:cNvPicPr>
          <p:nvPr/>
        </p:nvPicPr>
        <p:blipFill>
          <a:blip r:embed="rId13"/>
          <a:stretch>
            <a:fillRect/>
          </a:stretch>
        </p:blipFill>
        <p:spPr>
          <a:xfrm>
            <a:off x="1832762" y="1984248"/>
            <a:ext cx="976579" cy="976579"/>
          </a:xfrm>
          <a:prstGeom prst="rect">
            <a:avLst/>
          </a:prstGeom>
        </p:spPr>
      </p:pic>
      <p:sp>
        <p:nvSpPr>
          <p:cNvPr id="6" name="Text 3"/>
          <p:cNvSpPr txBox="1"/>
          <p:nvPr/>
        </p:nvSpPr>
        <p:spPr>
          <a:xfrm>
            <a:off x="548640"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점심</a:t>
            </a:r>
            <a:endParaRPr lang="en-US" sz="2500" dirty="0"/>
          </a:p>
        </p:txBody>
      </p:sp>
      <p:sp>
        <p:nvSpPr>
          <p:cNvPr id="7" name="Text 4"/>
          <p:cNvSpPr txBox="1"/>
          <p:nvPr/>
        </p:nvSpPr>
        <p:spPr>
          <a:xfrm>
            <a:off x="621792" y="338602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almuerzo · también: la hora de almuerzo (extra)</a:t>
            </a:r>
            <a:endParaRPr lang="en-US" sz="1400" dirty="0"/>
          </a:p>
        </p:txBody>
      </p:sp>
      <p:pic>
        <p:nvPicPr>
          <p:cNvPr id="1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3691128" y="1947672"/>
            <a:ext cx="310896" cy="310896"/>
          </a:xfrm>
          <a:prstGeom prst="rect">
            <a:avLst/>
          </a:prstGeom>
        </p:spPr>
      </p:pic>
      <p:sp>
        <p:nvSpPr>
          <p:cNvPr id="9" name="card_1"/>
          <p:cNvSpPr/>
          <p:nvPr/>
        </p:nvSpPr>
        <p:spPr>
          <a:xfrm>
            <a:off x="4322064"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0" name="dibujo_1" descr="C:\Users\Chingu\AppData\Local\Temp\claude\C--Users-Chingu-Desktop-ACADEMIASEULWEB\d4111e1b-5523-44ea-97b2-b1a1d9545b9e\scratchpad\decks\cache\img_e1bcbf779fff3da4.png"/>
          <p:cNvPicPr>
            <a:picLocks noChangeAspect="1"/>
          </p:cNvPicPr>
          <p:nvPr/>
        </p:nvPicPr>
        <p:blipFill>
          <a:blip r:embed="rId15"/>
          <a:stretch>
            <a:fillRect/>
          </a:stretch>
        </p:blipFill>
        <p:spPr>
          <a:xfrm>
            <a:off x="5606186" y="1984248"/>
            <a:ext cx="976579" cy="976579"/>
          </a:xfrm>
          <a:prstGeom prst="rect">
            <a:avLst/>
          </a:prstGeom>
        </p:spPr>
      </p:pic>
      <p:sp>
        <p:nvSpPr>
          <p:cNvPr id="11" name="Text 6"/>
          <p:cNvSpPr txBox="1"/>
          <p:nvPr/>
        </p:nvSpPr>
        <p:spPr>
          <a:xfrm>
            <a:off x="4322064"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밤</a:t>
            </a:r>
            <a:endParaRPr lang="en-US" sz="2500" dirty="0"/>
          </a:p>
        </p:txBody>
      </p:sp>
      <p:sp>
        <p:nvSpPr>
          <p:cNvPr id="12" name="Text 7"/>
          <p:cNvSpPr txBox="1"/>
          <p:nvPr/>
        </p:nvSpPr>
        <p:spPr>
          <a:xfrm>
            <a:off x="4395216" y="338602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noche (más tarde, la hora de dormir) (extra)</a:t>
            </a:r>
            <a:endParaRPr lang="en-US" sz="1400" dirty="0"/>
          </a:p>
        </p:txBody>
      </p:sp>
      <p:pic>
        <p:nvPicPr>
          <p:cNvPr id="8"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a:stretch>
            <a:fillRect/>
          </a:stretch>
        </p:blipFill>
        <p:spPr>
          <a:xfrm>
            <a:off x="7464552" y="1947672"/>
            <a:ext cx="310896" cy="310896"/>
          </a:xfrm>
          <a:prstGeom prst="rect">
            <a:avLst/>
          </a:prstGeom>
        </p:spPr>
      </p:pic>
      <p:sp>
        <p:nvSpPr>
          <p:cNvPr id="14" name="card_2"/>
          <p:cNvSpPr/>
          <p:nvPr/>
        </p:nvSpPr>
        <p:spPr>
          <a:xfrm>
            <a:off x="8095488" y="187452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5" name="dibujo_2" descr="C:\Users\Chingu\AppData\Local\Temp\claude\C--Users-Chingu-Desktop-ACADEMIASEULWEB\d4111e1b-5523-44ea-97b2-b1a1d9545b9e\scratchpad\decks\cache\img_d0abb9a0e9162f0a.png"/>
          <p:cNvPicPr>
            <a:picLocks noChangeAspect="1"/>
          </p:cNvPicPr>
          <p:nvPr/>
        </p:nvPicPr>
        <p:blipFill>
          <a:blip r:embed="rId16"/>
          <a:stretch>
            <a:fillRect/>
          </a:stretch>
        </p:blipFill>
        <p:spPr>
          <a:xfrm>
            <a:off x="9379610" y="1984248"/>
            <a:ext cx="976579" cy="976579"/>
          </a:xfrm>
          <a:prstGeom prst="rect">
            <a:avLst/>
          </a:prstGeom>
        </p:spPr>
      </p:pic>
      <p:sp>
        <p:nvSpPr>
          <p:cNvPr id="16" name="Text 9"/>
          <p:cNvSpPr txBox="1"/>
          <p:nvPr/>
        </p:nvSpPr>
        <p:spPr>
          <a:xfrm>
            <a:off x="8095488" y="297911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주말</a:t>
            </a:r>
            <a:endParaRPr lang="en-US" sz="2500" dirty="0"/>
          </a:p>
        </p:txBody>
      </p:sp>
      <p:sp>
        <p:nvSpPr>
          <p:cNvPr id="17" name="Text 10"/>
          <p:cNvSpPr txBox="1"/>
          <p:nvPr/>
        </p:nvSpPr>
        <p:spPr>
          <a:xfrm>
            <a:off x="8168640" y="338602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fin de semana (extra)</a:t>
            </a:r>
            <a:endParaRPr lang="en-US" sz="1600" dirty="0"/>
          </a:p>
        </p:txBody>
      </p:sp>
      <p:pic>
        <p:nvPicPr>
          <p:cNvPr id="18"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a:stretch>
            <a:fillRect/>
          </a:stretch>
        </p:blipFill>
        <p:spPr>
          <a:xfrm>
            <a:off x="11237976" y="1947672"/>
            <a:ext cx="310896" cy="310896"/>
          </a:xfrm>
          <a:prstGeom prst="rect">
            <a:avLst/>
          </a:prstGeom>
        </p:spPr>
      </p:pic>
      <p:sp>
        <p:nvSpPr>
          <p:cNvPr id="19" name="card_3"/>
          <p:cNvSpPr/>
          <p:nvPr/>
        </p:nvSpPr>
        <p:spPr>
          <a:xfrm>
            <a:off x="2435352"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0" name="dibujo_3" descr="C:\Users\Chingu\AppData\Local\Temp\claude\C--Users-Chingu-Desktop-ACADEMIASEULWEB\d4111e1b-5523-44ea-97b2-b1a1d9545b9e\scratchpad\decks\cache\img_a70bf8158822df10.png"/>
          <p:cNvPicPr>
            <a:picLocks noChangeAspect="1"/>
          </p:cNvPicPr>
          <p:nvPr/>
        </p:nvPicPr>
        <p:blipFill>
          <a:blip r:embed="rId17"/>
          <a:stretch>
            <a:fillRect/>
          </a:stretch>
        </p:blipFill>
        <p:spPr>
          <a:xfrm>
            <a:off x="3719474" y="4247388"/>
            <a:ext cx="976579" cy="976579"/>
          </a:xfrm>
          <a:prstGeom prst="rect">
            <a:avLst/>
          </a:prstGeom>
        </p:spPr>
      </p:pic>
      <p:sp>
        <p:nvSpPr>
          <p:cNvPr id="21" name="Text 12"/>
          <p:cNvSpPr txBox="1"/>
          <p:nvPr/>
        </p:nvSpPr>
        <p:spPr>
          <a:xfrm>
            <a:off x="2435352"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매일</a:t>
            </a:r>
            <a:endParaRPr lang="en-US" sz="2500" dirty="0"/>
          </a:p>
        </p:txBody>
      </p:sp>
      <p:sp>
        <p:nvSpPr>
          <p:cNvPr id="22" name="Text 13"/>
          <p:cNvSpPr txBox="1"/>
          <p:nvPr/>
        </p:nvSpPr>
        <p:spPr>
          <a:xfrm>
            <a:off x="2508504" y="5649163"/>
            <a:ext cx="3398520" cy="449885"/>
          </a:xfrm>
          <a:prstGeom prst="rect">
            <a:avLst/>
          </a:prstGeom>
          <a:noFill/>
          <a:ln/>
        </p:spPr>
        <p:txBody>
          <a:bodyPr wrap="square" lIns="0" tIns="0" rIns="0" bIns="0" rtlCol="0" anchor="t">
            <a:normAutofit/>
          </a:bodyPr>
          <a:lstStyle/>
          <a:p>
            <a:pPr marL="0" indent="0" algn="ctr" eaLnBrk="1">
              <a:buNone/>
            </a:pPr>
            <a:r>
              <a:rPr lang="en-US" sz="1400" dirty="0">
                <a:solidFill>
                  <a:srgbClr val="5C5F6B"/>
                </a:solidFill>
              </a:rPr>
              <a:t>todos los días (ya la conoces)</a:t>
            </a:r>
            <a:endParaRPr lang="en-US" sz="1400" dirty="0"/>
          </a:p>
        </p:txBody>
      </p:sp>
      <p:pic>
        <p:nvPicPr>
          <p:cNvPr id="23" name="Media 3">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4"/>
          <a:stretch>
            <a:fillRect/>
          </a:stretch>
        </p:blipFill>
        <p:spPr>
          <a:xfrm>
            <a:off x="5577840" y="4210812"/>
            <a:ext cx="310896" cy="310896"/>
          </a:xfrm>
          <a:prstGeom prst="rect">
            <a:avLst/>
          </a:prstGeom>
        </p:spPr>
      </p:pic>
      <p:sp>
        <p:nvSpPr>
          <p:cNvPr id="24" name="card_4"/>
          <p:cNvSpPr/>
          <p:nvPr/>
        </p:nvSpPr>
        <p:spPr>
          <a:xfrm>
            <a:off x="6208776" y="4137660"/>
            <a:ext cx="3544824" cy="2034540"/>
          </a:xfrm>
          <a:prstGeom prst="roundRect">
            <a:avLst>
              <a:gd name="adj" fmla="val 6742"/>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5" name="dibujo_4" descr="C:\Users\Chingu\AppData\Local\Temp\claude\C--Users-Chingu-Desktop-ACADEMIASEULWEB\d4111e1b-5523-44ea-97b2-b1a1d9545b9e\scratchpad\decks\cache\img_51a727e4341b44b4.png"/>
          <p:cNvPicPr>
            <a:picLocks noChangeAspect="1"/>
          </p:cNvPicPr>
          <p:nvPr/>
        </p:nvPicPr>
        <p:blipFill>
          <a:blip r:embed="rId18"/>
          <a:stretch>
            <a:fillRect/>
          </a:stretch>
        </p:blipFill>
        <p:spPr>
          <a:xfrm>
            <a:off x="7492898" y="4247388"/>
            <a:ext cx="976579" cy="976579"/>
          </a:xfrm>
          <a:prstGeom prst="rect">
            <a:avLst/>
          </a:prstGeom>
        </p:spPr>
      </p:pic>
      <p:sp>
        <p:nvSpPr>
          <p:cNvPr id="26" name="Text 15"/>
          <p:cNvSpPr txBox="1"/>
          <p:nvPr/>
        </p:nvSpPr>
        <p:spPr>
          <a:xfrm>
            <a:off x="6208776" y="5242255"/>
            <a:ext cx="3544824" cy="406908"/>
          </a:xfrm>
          <a:prstGeom prst="rect">
            <a:avLst/>
          </a:prstGeom>
          <a:noFill/>
          <a:ln/>
        </p:spPr>
        <p:txBody>
          <a:bodyPr wrap="square" lIns="0" tIns="0" rIns="0" bIns="0" rtlCol="0" anchor="ctr">
            <a:normAutofit/>
          </a:bodyPr>
          <a:lstStyle/>
          <a:p>
            <a:pPr marL="0" indent="0" algn="ctr" eaLnBrk="1">
              <a:buNone/>
            </a:pPr>
            <a:r>
              <a:rPr lang="ko-KR" altLang="en-US" sz="2500" b="1" dirty="0">
                <a:solidFill>
                  <a:srgbClr val="4236F6"/>
                </a:solidFill>
                <a:latin typeface="Malgun Gothic" pitchFamily="34" charset="0"/>
                <a:ea typeface="Malgun Gothic" pitchFamily="34" charset="-122"/>
                <a:cs typeface="Malgun Gothic" pitchFamily="34" charset="-120"/>
              </a:rPr>
              <a:t>지금</a:t>
            </a:r>
            <a:endParaRPr lang="en-US" sz="2500" dirty="0"/>
          </a:p>
        </p:txBody>
      </p:sp>
      <p:sp>
        <p:nvSpPr>
          <p:cNvPr id="27" name="Text 16"/>
          <p:cNvSpPr txBox="1"/>
          <p:nvPr/>
        </p:nvSpPr>
        <p:spPr>
          <a:xfrm>
            <a:off x="6281928" y="5649163"/>
            <a:ext cx="3398520" cy="449885"/>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ahora (ya la conoces)</a:t>
            </a:r>
            <a:endParaRPr lang="en-US" sz="1600" dirty="0"/>
          </a:p>
        </p:txBody>
      </p:sp>
      <p:pic>
        <p:nvPicPr>
          <p:cNvPr id="28" name="Media 4">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4"/>
          <a:stretch>
            <a:fillRect/>
          </a:stretch>
        </p:blipFill>
        <p:spPr>
          <a:xfrm>
            <a:off x="9351264" y="4210812"/>
            <a:ext cx="310896" cy="310896"/>
          </a:xfrm>
          <a:prstGeom prst="rect">
            <a:avLst/>
          </a:prstGeom>
        </p:spPr>
      </p:pic>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읽어 봐요  </a:t>
            </a:r>
            <a:r>
              <a:rPr lang="ko-KR" altLang="en-US" sz="3000" b="1" dirty="0">
                <a:solidFill>
                  <a:srgbClr val="003478"/>
                </a:solidFill>
                <a:latin typeface="Malgun Gothic" pitchFamily="34" charset="0"/>
                <a:ea typeface="Malgun Gothic" pitchFamily="34" charset="-122"/>
                <a:cs typeface="Malgun Gothic" pitchFamily="34" charset="-120"/>
              </a:rPr>
              <a:t>El 에 </a:t>
            </a:r>
            <a:r>
              <a:rPr lang="en-US" sz="3000" b="1" dirty="0">
                <a:solidFill>
                  <a:srgbClr val="003478"/>
                </a:solidFill>
              </a:rPr>
              <a:t>se pega a la palabra</a:t>
            </a:r>
            <a:r>
              <a:rPr lang="ko-KR" altLang="en-US" sz="1500" b="1" i="1" dirty="0">
                <a:solidFill>
                  <a:srgbClr val="8A8DA0"/>
                </a:solidFill>
              </a:rPr>
              <a:t>   에 links to the word</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La consonante final pasa a la 에 </a:t>
            </a:r>
            <a:r>
              <a:rPr lang="en-US" sz="1800" i="1" dirty="0">
                <a:solidFill>
                  <a:srgbClr val="4236F6"/>
                </a:solidFill>
              </a:rPr>
              <a:t>· la </a:t>
            </a:r>
            <a:r>
              <a:rPr lang="ko-KR" altLang="en-US" sz="1800" i="1" dirty="0">
                <a:solidFill>
                  <a:srgbClr val="4236F6"/>
                </a:solidFill>
                <a:latin typeface="Malgun Gothic" pitchFamily="34" charset="0"/>
                <a:ea typeface="Malgun Gothic" pitchFamily="34" charset="-122"/>
                <a:cs typeface="Malgun Gothic" pitchFamily="34" charset="-120"/>
              </a:rPr>
              <a:t>ㅇ </a:t>
            </a:r>
            <a:r>
              <a:rPr lang="en-US" sz="1800" i="1" dirty="0">
                <a:solidFill>
                  <a:srgbClr val="4236F6"/>
                </a:solidFill>
              </a:rPr>
              <a:t>final se queda en su lugar</a:t>
            </a:r>
            <a:endParaRPr lang="en-US" sz="1800" dirty="0"/>
          </a:p>
        </p:txBody>
      </p:sp>
      <p:sp>
        <p:nvSpPr>
          <p:cNvPr id="4" name="tile_0"/>
          <p:cNvSpPr/>
          <p:nvPr/>
        </p:nvSpPr>
        <p:spPr>
          <a:xfrm>
            <a:off x="548640" y="1874520"/>
            <a:ext cx="3544824" cy="2034540"/>
          </a:xfrm>
          <a:prstGeom prst="roundRect">
            <a:avLst>
              <a:gd name="adj" fmla="val 6742"/>
            </a:avLst>
          </a:prstGeom>
          <a:solidFill>
            <a:srgbClr val="F1F0FE"/>
          </a:solidFill>
          <a:ln w="12700">
            <a:solidFill>
              <a:srgbClr val="D9D7F7"/>
            </a:solidFill>
            <a:prstDash val="solid"/>
          </a:ln>
        </p:spPr>
      </p:sp>
      <p:sp>
        <p:nvSpPr>
          <p:cNvPr id="5" name="Text 3"/>
          <p:cNvSpPr txBox="1"/>
          <p:nvPr/>
        </p:nvSpPr>
        <p:spPr>
          <a:xfrm>
            <a:off x="548640" y="194767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아침에</a:t>
            </a:r>
            <a:endParaRPr lang="en-US" sz="7600" dirty="0"/>
          </a:p>
        </p:txBody>
      </p:sp>
      <p:sp>
        <p:nvSpPr>
          <p:cNvPr id="6" name="Text 4"/>
          <p:cNvSpPr txBox="1"/>
          <p:nvPr/>
        </p:nvSpPr>
        <p:spPr>
          <a:xfrm>
            <a:off x="594360" y="317662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[아치메</a:t>
            </a:r>
            <a:r>
              <a:rPr lang="en-US" sz="1700" dirty="0">
                <a:solidFill>
                  <a:srgbClr val="5C5F6B"/>
                </a:solidFill>
              </a:rPr>
              <a:t>]</a:t>
            </a:r>
            <a:endParaRPr lang="en-US" sz="1700" dirty="0"/>
          </a:p>
        </p:txBody>
      </p:sp>
      <p:sp>
        <p:nvSpPr>
          <p:cNvPr id="7" name="tile_1"/>
          <p:cNvSpPr/>
          <p:nvPr/>
        </p:nvSpPr>
        <p:spPr>
          <a:xfrm>
            <a:off x="4322064" y="1874520"/>
            <a:ext cx="3544824" cy="2034540"/>
          </a:xfrm>
          <a:prstGeom prst="roundRect">
            <a:avLst>
              <a:gd name="adj" fmla="val 6742"/>
            </a:avLst>
          </a:prstGeom>
          <a:solidFill>
            <a:srgbClr val="F1F0FE"/>
          </a:solidFill>
          <a:ln w="12700">
            <a:solidFill>
              <a:srgbClr val="D9D7F7"/>
            </a:solidFill>
            <a:prstDash val="solid"/>
          </a:ln>
        </p:spPr>
      </p:sp>
      <p:sp>
        <p:nvSpPr>
          <p:cNvPr id="8" name="Text 6"/>
          <p:cNvSpPr txBox="1"/>
          <p:nvPr/>
        </p:nvSpPr>
        <p:spPr>
          <a:xfrm>
            <a:off x="4322064" y="194767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저녁에</a:t>
            </a:r>
            <a:endParaRPr lang="en-US" sz="7600" dirty="0"/>
          </a:p>
        </p:txBody>
      </p:sp>
      <p:sp>
        <p:nvSpPr>
          <p:cNvPr id="9" name="Text 7"/>
          <p:cNvSpPr txBox="1"/>
          <p:nvPr/>
        </p:nvSpPr>
        <p:spPr>
          <a:xfrm>
            <a:off x="4367784" y="317662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[저녀게</a:t>
            </a:r>
            <a:r>
              <a:rPr lang="en-US" sz="1700" dirty="0">
                <a:solidFill>
                  <a:srgbClr val="5C5F6B"/>
                </a:solidFill>
              </a:rPr>
              <a:t>]</a:t>
            </a:r>
            <a:endParaRPr lang="en-US" sz="1700" dirty="0"/>
          </a:p>
        </p:txBody>
      </p:sp>
      <p:sp>
        <p:nvSpPr>
          <p:cNvPr id="10" name="tile_2"/>
          <p:cNvSpPr/>
          <p:nvPr/>
        </p:nvSpPr>
        <p:spPr>
          <a:xfrm>
            <a:off x="8095488" y="1874520"/>
            <a:ext cx="3544824" cy="2034540"/>
          </a:xfrm>
          <a:prstGeom prst="roundRect">
            <a:avLst>
              <a:gd name="adj" fmla="val 6742"/>
            </a:avLst>
          </a:prstGeom>
          <a:solidFill>
            <a:srgbClr val="F1F0FE"/>
          </a:solidFill>
          <a:ln w="12700">
            <a:solidFill>
              <a:srgbClr val="D9D7F7"/>
            </a:solidFill>
            <a:prstDash val="solid"/>
          </a:ln>
        </p:spPr>
      </p:sp>
      <p:sp>
        <p:nvSpPr>
          <p:cNvPr id="11" name="Text 9"/>
          <p:cNvSpPr txBox="1"/>
          <p:nvPr/>
        </p:nvSpPr>
        <p:spPr>
          <a:xfrm>
            <a:off x="8095488" y="194767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점심에</a:t>
            </a:r>
            <a:endParaRPr lang="en-US" sz="7600" dirty="0"/>
          </a:p>
        </p:txBody>
      </p:sp>
      <p:sp>
        <p:nvSpPr>
          <p:cNvPr id="12" name="Text 10"/>
          <p:cNvSpPr txBox="1"/>
          <p:nvPr/>
        </p:nvSpPr>
        <p:spPr>
          <a:xfrm>
            <a:off x="8141208" y="317662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[점시메</a:t>
            </a:r>
            <a:r>
              <a:rPr lang="en-US" sz="1700" dirty="0">
                <a:solidFill>
                  <a:srgbClr val="5C5F6B"/>
                </a:solidFill>
              </a:rPr>
              <a:t>]</a:t>
            </a:r>
            <a:endParaRPr lang="en-US" sz="1700" dirty="0"/>
          </a:p>
        </p:txBody>
      </p:sp>
      <p:sp>
        <p:nvSpPr>
          <p:cNvPr id="13" name="tile_3"/>
          <p:cNvSpPr/>
          <p:nvPr/>
        </p:nvSpPr>
        <p:spPr>
          <a:xfrm>
            <a:off x="548640" y="4137660"/>
            <a:ext cx="3544824" cy="2034540"/>
          </a:xfrm>
          <a:prstGeom prst="roundRect">
            <a:avLst>
              <a:gd name="adj" fmla="val 6742"/>
            </a:avLst>
          </a:prstGeom>
          <a:solidFill>
            <a:srgbClr val="F1F0FE"/>
          </a:solidFill>
          <a:ln w="12700">
            <a:solidFill>
              <a:srgbClr val="D9D7F7"/>
            </a:solidFill>
            <a:prstDash val="solid"/>
          </a:ln>
        </p:spPr>
      </p:sp>
      <p:sp>
        <p:nvSpPr>
          <p:cNvPr id="14" name="Text 12"/>
          <p:cNvSpPr txBox="1"/>
          <p:nvPr/>
        </p:nvSpPr>
        <p:spPr>
          <a:xfrm>
            <a:off x="548640" y="421081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밤에</a:t>
            </a:r>
            <a:endParaRPr lang="en-US" sz="7600" dirty="0"/>
          </a:p>
        </p:txBody>
      </p:sp>
      <p:sp>
        <p:nvSpPr>
          <p:cNvPr id="15" name="Text 13"/>
          <p:cNvSpPr txBox="1"/>
          <p:nvPr/>
        </p:nvSpPr>
        <p:spPr>
          <a:xfrm>
            <a:off x="594360" y="543976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[바메</a:t>
            </a:r>
            <a:r>
              <a:rPr lang="en-US" sz="1700" dirty="0">
                <a:solidFill>
                  <a:srgbClr val="5C5F6B"/>
                </a:solidFill>
              </a:rPr>
              <a:t>]</a:t>
            </a:r>
            <a:endParaRPr lang="en-US" sz="1700" dirty="0"/>
          </a:p>
        </p:txBody>
      </p:sp>
      <p:sp>
        <p:nvSpPr>
          <p:cNvPr id="16" name="tile_4"/>
          <p:cNvSpPr/>
          <p:nvPr/>
        </p:nvSpPr>
        <p:spPr>
          <a:xfrm>
            <a:off x="4322064" y="4137660"/>
            <a:ext cx="3544824" cy="2034540"/>
          </a:xfrm>
          <a:prstGeom prst="roundRect">
            <a:avLst>
              <a:gd name="adj" fmla="val 6742"/>
            </a:avLst>
          </a:prstGeom>
          <a:solidFill>
            <a:srgbClr val="F1F0FE"/>
          </a:solidFill>
          <a:ln w="12700">
            <a:solidFill>
              <a:srgbClr val="D9D7F7"/>
            </a:solidFill>
            <a:prstDash val="solid"/>
          </a:ln>
        </p:spPr>
      </p:sp>
      <p:sp>
        <p:nvSpPr>
          <p:cNvPr id="17" name="Text 15"/>
          <p:cNvSpPr txBox="1"/>
          <p:nvPr/>
        </p:nvSpPr>
        <p:spPr>
          <a:xfrm>
            <a:off x="4322064" y="421081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주말에</a:t>
            </a:r>
            <a:endParaRPr lang="en-US" sz="7600" dirty="0"/>
          </a:p>
        </p:txBody>
      </p:sp>
      <p:sp>
        <p:nvSpPr>
          <p:cNvPr id="18" name="Text 16"/>
          <p:cNvSpPr txBox="1"/>
          <p:nvPr/>
        </p:nvSpPr>
        <p:spPr>
          <a:xfrm>
            <a:off x="4367784" y="543976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[주마레</a:t>
            </a:r>
            <a:r>
              <a:rPr lang="en-US" sz="1700" dirty="0">
                <a:solidFill>
                  <a:srgbClr val="5C5F6B"/>
                </a:solidFill>
              </a:rPr>
              <a:t>]</a:t>
            </a:r>
            <a:endParaRPr lang="en-US" sz="1700" dirty="0"/>
          </a:p>
        </p:txBody>
      </p:sp>
      <p:sp>
        <p:nvSpPr>
          <p:cNvPr id="19" name="tile_5"/>
          <p:cNvSpPr/>
          <p:nvPr/>
        </p:nvSpPr>
        <p:spPr>
          <a:xfrm>
            <a:off x="8095488" y="4137660"/>
            <a:ext cx="3544824" cy="2034540"/>
          </a:xfrm>
          <a:prstGeom prst="roundRect">
            <a:avLst>
              <a:gd name="adj" fmla="val 6742"/>
            </a:avLst>
          </a:prstGeom>
          <a:solidFill>
            <a:srgbClr val="F1F0FE"/>
          </a:solidFill>
          <a:ln w="12700">
            <a:solidFill>
              <a:srgbClr val="D9D7F7"/>
            </a:solidFill>
            <a:prstDash val="solid"/>
          </a:ln>
        </p:spPr>
      </p:sp>
      <p:sp>
        <p:nvSpPr>
          <p:cNvPr id="20" name="Text 18"/>
          <p:cNvSpPr txBox="1"/>
          <p:nvPr/>
        </p:nvSpPr>
        <p:spPr>
          <a:xfrm>
            <a:off x="8095488" y="4210812"/>
            <a:ext cx="3544824" cy="1261415"/>
          </a:xfrm>
          <a:prstGeom prst="rect">
            <a:avLst/>
          </a:prstGeom>
          <a:noFill/>
          <a:ln/>
        </p:spPr>
        <p:txBody>
          <a:bodyPr wrap="square" lIns="0" tIns="0" rIns="0" bIns="0" rtlCol="0" anchor="ctr">
            <a:normAutofit/>
          </a:bodyPr>
          <a:lstStyle/>
          <a:p>
            <a:pPr marL="0" indent="0" algn="ctr" eaLnBrk="1">
              <a:buNone/>
            </a:pPr>
            <a:r>
              <a:rPr lang="ko-KR" altLang="en-US" sz="7600" b="1" dirty="0">
                <a:solidFill>
                  <a:srgbClr val="4236F6"/>
                </a:solidFill>
                <a:latin typeface="Malgun Gothic" pitchFamily="34" charset="0"/>
                <a:ea typeface="Malgun Gothic" pitchFamily="34" charset="-122"/>
                <a:cs typeface="Malgun Gothic" pitchFamily="34" charset="-120"/>
              </a:rPr>
              <a:t>수영을</a:t>
            </a:r>
            <a:endParaRPr lang="en-US" sz="7600" dirty="0"/>
          </a:p>
        </p:txBody>
      </p:sp>
      <p:sp>
        <p:nvSpPr>
          <p:cNvPr id="21" name="Text 19"/>
          <p:cNvSpPr txBox="1"/>
          <p:nvPr/>
        </p:nvSpPr>
        <p:spPr>
          <a:xfrm>
            <a:off x="8141208" y="5439766"/>
            <a:ext cx="3453384" cy="695858"/>
          </a:xfrm>
          <a:prstGeom prst="rect">
            <a:avLst/>
          </a:prstGeom>
          <a:noFill/>
          <a:ln/>
        </p:spPr>
        <p:txBody>
          <a:bodyPr wrap="square" lIns="0" tIns="0" rIns="0" bIns="0" rtlCol="0" anchor="t">
            <a:normAutofit/>
          </a:bodyPr>
          <a:lstStyle/>
          <a:p>
            <a:pPr marL="0" indent="0" algn="ctr" eaLnBrk="1">
              <a:buNone/>
            </a:pPr>
            <a:r>
              <a:rPr lang="ko-KR" altLang="en-US" sz="1700" dirty="0">
                <a:solidFill>
                  <a:srgbClr val="5C5F6B"/>
                </a:solidFill>
                <a:latin typeface="Malgun Gothic" pitchFamily="34" charset="0"/>
                <a:ea typeface="Malgun Gothic" pitchFamily="34" charset="-122"/>
                <a:cs typeface="Malgun Gothic" pitchFamily="34" charset="-120"/>
              </a:rPr>
              <a:t>[수영을</a:t>
            </a:r>
            <a:r>
              <a:rPr lang="en-US" sz="1700" dirty="0">
                <a:solidFill>
                  <a:srgbClr val="5C5F6B"/>
                </a:solidFill>
              </a:rPr>
              <a:t>] · la </a:t>
            </a:r>
            <a:r>
              <a:rPr lang="ko-KR" altLang="en-US" sz="1700" dirty="0">
                <a:solidFill>
                  <a:srgbClr val="5C5F6B"/>
                </a:solidFill>
                <a:latin typeface="Malgun Gothic" pitchFamily="34" charset="0"/>
                <a:ea typeface="Malgun Gothic" pitchFamily="34" charset="-122"/>
                <a:cs typeface="Malgun Gothic" pitchFamily="34" charset="-120"/>
              </a:rPr>
              <a:t>ㅇ </a:t>
            </a:r>
            <a:r>
              <a:rPr lang="en-US" sz="1700" dirty="0">
                <a:solidFill>
                  <a:srgbClr val="5C5F6B"/>
                </a:solidFill>
              </a:rPr>
              <a:t>se queda</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La pregunta de hoy: 언제</a:t>
            </a:r>
            <a:r>
              <a:rPr lang="en-US" sz="3000" b="1" dirty="0">
                <a:solidFill>
                  <a:srgbClr val="003478"/>
                </a:solidFill>
              </a:rPr>
              <a:t>?</a:t>
            </a:r>
            <a:r>
              <a:rPr lang="en-US" sz="1500" b="1" i="1" dirty="0">
                <a:solidFill>
                  <a:srgbClr val="8A8DA0"/>
                </a:solidFill>
              </a:rPr>
              <a:t>   Today's question: when?</a:t>
            </a:r>
            <a:endParaRPr lang="en-US" sz="3000" dirty="0"/>
          </a:p>
        </p:txBody>
      </p:sp>
      <p:pic>
        <p:nvPicPr>
          <p:cNvPr id="3" name="imagen" descr="C:\Users\Chingu\AppData\Local\Temp\claude\C--Users-Chingu-Desktop-ACADEMIASEULWEB\d4111e1b-5523-44ea-97b2-b1a1d9545b9e\scratchpad\decks\cache\img_53a31eef2452024f.png"/>
          <p:cNvPicPr>
            <a:picLocks noChangeAspect="1"/>
          </p:cNvPicPr>
          <p:nvPr/>
        </p:nvPicPr>
        <p:blipFill>
          <a:blip r:embed="rId5"/>
          <a:stretch>
            <a:fillRect/>
          </a:stretch>
        </p:blipFill>
        <p:spPr>
          <a:xfrm>
            <a:off x="7754112" y="1508760"/>
            <a:ext cx="3886200" cy="4480560"/>
          </a:xfrm>
          <a:prstGeom prst="rect">
            <a:avLst/>
          </a:prstGeom>
        </p:spPr>
      </p:pic>
      <p:sp>
        <p:nvSpPr>
          <p:cNvPr id="4" name="panel"/>
          <p:cNvSpPr/>
          <p:nvPr/>
        </p:nvSpPr>
        <p:spPr>
          <a:xfrm>
            <a:off x="548640" y="1645920"/>
            <a:ext cx="6931152" cy="3108960"/>
          </a:xfrm>
          <a:prstGeom prst="roundRect">
            <a:avLst>
              <a:gd name="adj" fmla="val 8824"/>
            </a:avLst>
          </a:prstGeom>
          <a:solidFill>
            <a:srgbClr val="F1F0FE"/>
          </a:solidFill>
          <a:ln w="12700">
            <a:solidFill>
              <a:srgbClr val="F1F0FE"/>
            </a:solidFill>
            <a:prstDash val="solid"/>
          </a:ln>
        </p:spPr>
      </p:sp>
      <p:sp>
        <p:nvSpPr>
          <p:cNvPr id="5" name="frase_ko"/>
          <p:cNvSpPr txBox="1"/>
          <p:nvPr/>
        </p:nvSpPr>
        <p:spPr>
          <a:xfrm>
            <a:off x="731520" y="1828800"/>
            <a:ext cx="6565392" cy="1828800"/>
          </a:xfrm>
          <a:prstGeom prst="rect">
            <a:avLst/>
          </a:prstGeom>
          <a:noFill/>
          <a:ln/>
        </p:spPr>
        <p:txBody>
          <a:bodyPr wrap="square" lIns="0" tIns="0" rIns="0" bIns="0" rtlCol="0" anchor="ctr">
            <a:normAutofit/>
          </a:bodyPr>
          <a:lstStyle/>
          <a:p>
            <a:pPr marL="0" indent="0" algn="ctr" eaLnBrk="1">
              <a:buNone/>
            </a:pPr>
            <a:r>
              <a:rPr lang="ko-KR" altLang="en-US" sz="5600" b="1" dirty="0">
                <a:solidFill>
                  <a:srgbClr val="4236F6"/>
                </a:solidFill>
                <a:latin typeface="Malgun Gothic" pitchFamily="34" charset="0"/>
                <a:ea typeface="Malgun Gothic" pitchFamily="34" charset="-122"/>
                <a:cs typeface="Malgun Gothic" pitchFamily="34" charset="-120"/>
              </a:rPr>
              <a:t>언제 수영을 해요</a:t>
            </a:r>
            <a:r>
              <a:rPr lang="en-US" sz="5600" b="1" dirty="0">
                <a:solidFill>
                  <a:srgbClr val="4236F6"/>
                </a:solidFill>
              </a:rPr>
              <a:t>?</a:t>
            </a:r>
            <a:endParaRPr lang="en-US" sz="5600" dirty="0"/>
          </a:p>
        </p:txBody>
      </p:sp>
      <p:sp>
        <p:nvSpPr>
          <p:cNvPr id="6" name="Text 3"/>
          <p:cNvSpPr txBox="1"/>
          <p:nvPr/>
        </p:nvSpPr>
        <p:spPr>
          <a:xfrm>
            <a:off x="1051560" y="3657600"/>
            <a:ext cx="574243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¿Cuándo nadas?</a:t>
            </a:r>
            <a:endParaRPr lang="en-US" sz="24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903720" y="4160520"/>
            <a:ext cx="384048" cy="384048"/>
          </a:xfrm>
          <a:prstGeom prst="rect">
            <a:avLst/>
          </a:prstGeom>
        </p:spPr>
      </p:pic>
      <p:sp>
        <p:nvSpPr>
          <p:cNvPr id="8" name="lista"/>
          <p:cNvSpPr txBox="1"/>
          <p:nvPr/>
        </p:nvSpPr>
        <p:spPr>
          <a:xfrm>
            <a:off x="548640" y="4937760"/>
            <a:ext cx="693115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1 Escucha · 2 Repite · 3 Cambia la actividad · 4 Pregúntale a alguien</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아침에 </a:t>
            </a:r>
            <a:r>
              <a:rPr lang="en-US" sz="3000" b="1" dirty="0">
                <a:solidFill>
                  <a:srgbClr val="4236F6"/>
                </a:solidFill>
              </a:rPr>
              <a:t>· </a:t>
            </a:r>
            <a:r>
              <a:rPr lang="ko-KR" altLang="en-US" sz="3000" b="1" dirty="0">
                <a:solidFill>
                  <a:srgbClr val="4236F6"/>
                </a:solidFill>
                <a:latin typeface="Malgun Gothic" pitchFamily="34" charset="0"/>
                <a:ea typeface="Malgun Gothic" pitchFamily="34" charset="-122"/>
                <a:cs typeface="Malgun Gothic" pitchFamily="34" charset="-120"/>
              </a:rPr>
              <a:t>오늘  </a:t>
            </a:r>
            <a:r>
              <a:rPr lang="ko-KR" altLang="en-US" sz="3000" b="1" dirty="0">
                <a:solidFill>
                  <a:srgbClr val="003478"/>
                </a:solidFill>
                <a:latin typeface="Malgun Gothic" pitchFamily="34" charset="0"/>
                <a:ea typeface="Malgun Gothic" pitchFamily="34" charset="-122"/>
                <a:cs typeface="Malgun Gothic" pitchFamily="34" charset="-120"/>
              </a:rPr>
              <a:t>¿Con 에 </a:t>
            </a:r>
            <a:r>
              <a:rPr lang="en-US" sz="3000" b="1" dirty="0">
                <a:solidFill>
                  <a:srgbClr val="003478"/>
                </a:solidFill>
              </a:rPr>
              <a:t>o sin </a:t>
            </a:r>
            <a:r>
              <a:rPr lang="ko-KR" altLang="en-US" sz="3000" b="1" dirty="0">
                <a:solidFill>
                  <a:srgbClr val="003478"/>
                </a:solidFill>
                <a:latin typeface="Malgun Gothic" pitchFamily="34" charset="0"/>
                <a:ea typeface="Malgun Gothic" pitchFamily="34" charset="-122"/>
                <a:cs typeface="Malgun Gothic" pitchFamily="34" charset="-120"/>
              </a:rPr>
              <a:t>에</a:t>
            </a:r>
            <a:r>
              <a:rPr lang="en-US" sz="3000" b="1" dirty="0">
                <a:solidFill>
                  <a:srgbClr val="003478"/>
                </a:solidFill>
              </a:rPr>
              <a:t>?</a:t>
            </a:r>
            <a:r>
              <a:rPr lang="ko-KR" altLang="en-US" sz="1500" b="1" i="1" dirty="0">
                <a:solidFill>
                  <a:srgbClr val="8A8DA0"/>
                </a:solidFill>
              </a:rPr>
              <a:t>   With 에 or without?</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Partes del día y 주말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에 </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오늘</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내일</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매일</a:t>
            </a:r>
            <a:r>
              <a:rPr lang="en-US" sz="1800" i="1" dirty="0">
                <a:solidFill>
                  <a:srgbClr val="4236F6"/>
                </a:solidFill>
              </a:rPr>
              <a:t>, </a:t>
            </a:r>
            <a:r>
              <a:rPr lang="ko-KR" altLang="en-US" sz="1800" i="1" dirty="0">
                <a:solidFill>
                  <a:srgbClr val="4236F6"/>
                </a:solidFill>
                <a:latin typeface="Malgun Gothic" pitchFamily="34" charset="0"/>
                <a:ea typeface="Malgun Gothic" pitchFamily="34" charset="-122"/>
                <a:cs typeface="Malgun Gothic" pitchFamily="34" charset="-120"/>
              </a:rPr>
              <a:t>지금 </a:t>
            </a:r>
            <a:r>
              <a:rPr lang="en-US" sz="1800" i="1" dirty="0">
                <a:solidFill>
                  <a:srgbClr val="4236F6"/>
                </a:solidFill>
              </a:rPr>
              <a:t>van solas</a:t>
            </a:r>
            <a:endParaRPr lang="en-US" sz="1800" dirty="0"/>
          </a:p>
        </p:txBody>
      </p:sp>
      <p:sp>
        <p:nvSpPr>
          <p:cNvPr id="4" name="col_0"/>
          <p:cNvSpPr/>
          <p:nvPr/>
        </p:nvSpPr>
        <p:spPr>
          <a:xfrm>
            <a:off x="548640" y="1874520"/>
            <a:ext cx="3483864" cy="4297680"/>
          </a:xfrm>
          <a:prstGeom prst="roundRect">
            <a:avLst>
              <a:gd name="adj" fmla="val 3937"/>
            </a:avLst>
          </a:prstGeom>
          <a:solidFill>
            <a:srgbClr val="F1F0FE"/>
          </a:solidFill>
          <a:ln w="12700">
            <a:solidFill>
              <a:srgbClr val="D9D7F7"/>
            </a:solidFill>
            <a:prstDash val="solid"/>
          </a:ln>
        </p:spPr>
      </p:sp>
      <p:sp>
        <p:nvSpPr>
          <p:cNvPr id="5" name="Text 3"/>
          <p:cNvSpPr txBox="1"/>
          <p:nvPr/>
        </p:nvSpPr>
        <p:spPr>
          <a:xfrm>
            <a:off x="777240" y="205740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Parte del día: + 에</a:t>
            </a:r>
            <a:endParaRPr lang="en-US" sz="2000" dirty="0"/>
          </a:p>
        </p:txBody>
      </p:sp>
      <p:sp>
        <p:nvSpPr>
          <p:cNvPr id="6" name="Text 4"/>
          <p:cNvSpPr txBox="1"/>
          <p:nvPr/>
        </p:nvSpPr>
        <p:spPr>
          <a:xfrm>
            <a:off x="777240" y="2651760"/>
            <a:ext cx="3026664" cy="914400"/>
          </a:xfrm>
          <a:prstGeom prst="rect">
            <a:avLst/>
          </a:prstGeom>
          <a:noFill/>
          <a:ln/>
        </p:spPr>
        <p:txBody>
          <a:bodyPr wrap="square" lIns="0" tIns="0" rIns="0" bIns="0" rtlCol="0" anchor="ctr">
            <a:normAutofit/>
          </a:bodyPr>
          <a:lstStyle/>
          <a:p>
            <a:pPr marL="0" indent="0" eaLnBrk="1">
              <a:buNone/>
            </a:pPr>
            <a:r>
              <a:rPr lang="ko-KR" altLang="en-US" sz="2900" b="1" dirty="0">
                <a:solidFill>
                  <a:srgbClr val="4236F6"/>
                </a:solidFill>
                <a:latin typeface="Malgun Gothic" pitchFamily="34" charset="0"/>
                <a:ea typeface="Malgun Gothic" pitchFamily="34" charset="-122"/>
                <a:cs typeface="Malgun Gothic" pitchFamily="34" charset="-120"/>
              </a:rPr>
              <a:t>아침에 </a:t>
            </a:r>
            <a:r>
              <a:rPr lang="en-US" sz="2900" b="1" dirty="0">
                <a:solidFill>
                  <a:srgbClr val="4236F6"/>
                </a:solidFill>
              </a:rPr>
              <a:t>· </a:t>
            </a:r>
            <a:r>
              <a:rPr lang="ko-KR" altLang="en-US" sz="2900" b="1" dirty="0">
                <a:solidFill>
                  <a:srgbClr val="4236F6"/>
                </a:solidFill>
                <a:latin typeface="Malgun Gothic" pitchFamily="34" charset="0"/>
                <a:ea typeface="Malgun Gothic" pitchFamily="34" charset="-122"/>
                <a:cs typeface="Malgun Gothic" pitchFamily="34" charset="-120"/>
              </a:rPr>
              <a:t>저녁에</a:t>
            </a:r>
            <a:endParaRPr lang="en-US" sz="2900" dirty="0"/>
          </a:p>
        </p:txBody>
      </p:sp>
      <p:sp>
        <p:nvSpPr>
          <p:cNvPr id="7" name="lista"/>
          <p:cNvSpPr txBox="1"/>
          <p:nvPr/>
        </p:nvSpPr>
        <p:spPr>
          <a:xfrm>
            <a:off x="731520"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아침에 운동해요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저녁에 요리해요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점심에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밤에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주말에</a:t>
            </a:r>
            <a:endParaRPr lang="en-US" sz="1800" dirty="0"/>
          </a:p>
        </p:txBody>
      </p:sp>
      <p:sp>
        <p:nvSpPr>
          <p:cNvPr id="8" name="col_1"/>
          <p:cNvSpPr/>
          <p:nvPr/>
        </p:nvSpPr>
        <p:spPr>
          <a:xfrm>
            <a:off x="4352544" y="1874520"/>
            <a:ext cx="3483864" cy="4297680"/>
          </a:xfrm>
          <a:prstGeom prst="roundRect">
            <a:avLst>
              <a:gd name="adj" fmla="val 3937"/>
            </a:avLst>
          </a:prstGeom>
          <a:solidFill>
            <a:srgbClr val="FFFFFF"/>
          </a:solidFill>
          <a:ln w="12700">
            <a:solidFill>
              <a:srgbClr val="D9D7F7"/>
            </a:solidFill>
            <a:prstDash val="solid"/>
          </a:ln>
        </p:spPr>
      </p:sp>
      <p:sp>
        <p:nvSpPr>
          <p:cNvPr id="9" name="Text 7"/>
          <p:cNvSpPr txBox="1"/>
          <p:nvPr/>
        </p:nvSpPr>
        <p:spPr>
          <a:xfrm>
            <a:off x="4581144" y="2057400"/>
            <a:ext cx="3026664" cy="548640"/>
          </a:xfrm>
          <a:prstGeom prst="rect">
            <a:avLst/>
          </a:prstGeom>
          <a:noFill/>
          <a:ln/>
        </p:spPr>
        <p:txBody>
          <a:bodyPr wrap="square" lIns="0" tIns="0" rIns="0" bIns="0" rtlCol="0" anchor="t">
            <a:normAutofit/>
          </a:bodyPr>
          <a:lstStyle/>
          <a:p>
            <a:pPr marL="0" indent="0" eaLnBrk="1">
              <a:buNone/>
            </a:pPr>
            <a:r>
              <a:rPr lang="ko-KR" altLang="en-US" sz="2000" b="1" dirty="0">
                <a:solidFill>
                  <a:srgbClr val="003478"/>
                </a:solidFill>
                <a:latin typeface="Malgun Gothic" pitchFamily="34" charset="0"/>
                <a:ea typeface="Malgun Gothic" pitchFamily="34" charset="-122"/>
                <a:cs typeface="Malgun Gothic" pitchFamily="34" charset="-120"/>
              </a:rPr>
              <a:t>오늘 </a:t>
            </a:r>
            <a:r>
              <a:rPr lang="en-US" sz="2000" b="1" dirty="0">
                <a:solidFill>
                  <a:srgbClr val="003478"/>
                </a:solidFill>
              </a:rPr>
              <a:t>· </a:t>
            </a:r>
            <a:r>
              <a:rPr lang="ko-KR" altLang="en-US" sz="2000" b="1" dirty="0">
                <a:solidFill>
                  <a:srgbClr val="003478"/>
                </a:solidFill>
                <a:latin typeface="Malgun Gothic" pitchFamily="34" charset="0"/>
                <a:ea typeface="Malgun Gothic" pitchFamily="34" charset="-122"/>
                <a:cs typeface="Malgun Gothic" pitchFamily="34" charset="-120"/>
              </a:rPr>
              <a:t>내일</a:t>
            </a:r>
            <a:r>
              <a:rPr lang="en-US" sz="2000" b="1" dirty="0">
                <a:solidFill>
                  <a:srgbClr val="003478"/>
                </a:solidFill>
              </a:rPr>
              <a:t>: sin </a:t>
            </a:r>
            <a:r>
              <a:rPr lang="ko-KR" altLang="en-US" sz="2000" b="1" dirty="0">
                <a:solidFill>
                  <a:srgbClr val="003478"/>
                </a:solidFill>
                <a:latin typeface="Malgun Gothic" pitchFamily="34" charset="0"/>
                <a:ea typeface="Malgun Gothic" pitchFamily="34" charset="-122"/>
                <a:cs typeface="Malgun Gothic" pitchFamily="34" charset="-120"/>
              </a:rPr>
              <a:t>에</a:t>
            </a:r>
            <a:endParaRPr lang="en-US" sz="2000" dirty="0"/>
          </a:p>
        </p:txBody>
      </p:sp>
      <p:sp>
        <p:nvSpPr>
          <p:cNvPr id="10" name="Text 8"/>
          <p:cNvSpPr txBox="1"/>
          <p:nvPr/>
        </p:nvSpPr>
        <p:spPr>
          <a:xfrm>
            <a:off x="4581144" y="2651760"/>
            <a:ext cx="3026664" cy="914400"/>
          </a:xfrm>
          <a:prstGeom prst="rect">
            <a:avLst/>
          </a:prstGeom>
          <a:noFill/>
          <a:ln/>
        </p:spPr>
        <p:txBody>
          <a:bodyPr wrap="square" lIns="0" tIns="0" rIns="0" bIns="0" rtlCol="0" anchor="ctr">
            <a:normAutofit/>
          </a:bodyPr>
          <a:lstStyle/>
          <a:p>
            <a:pPr marL="0" indent="0" eaLnBrk="1">
              <a:buNone/>
            </a:pPr>
            <a:r>
              <a:rPr lang="ko-KR" altLang="en-US" sz="4100" b="1" dirty="0">
                <a:solidFill>
                  <a:srgbClr val="4236F6"/>
                </a:solidFill>
                <a:latin typeface="Malgun Gothic" pitchFamily="34" charset="0"/>
                <a:ea typeface="Malgun Gothic" pitchFamily="34" charset="-122"/>
                <a:cs typeface="Malgun Gothic" pitchFamily="34" charset="-120"/>
              </a:rPr>
              <a:t>오늘 </a:t>
            </a:r>
            <a:r>
              <a:rPr lang="en-US" sz="4100" b="1" dirty="0">
                <a:solidFill>
                  <a:srgbClr val="4236F6"/>
                </a:solidFill>
              </a:rPr>
              <a:t>· </a:t>
            </a:r>
            <a:r>
              <a:rPr lang="ko-KR" altLang="en-US" sz="4100" b="1" dirty="0">
                <a:solidFill>
                  <a:srgbClr val="4236F6"/>
                </a:solidFill>
                <a:latin typeface="Malgun Gothic" pitchFamily="34" charset="0"/>
                <a:ea typeface="Malgun Gothic" pitchFamily="34" charset="-122"/>
                <a:cs typeface="Malgun Gothic" pitchFamily="34" charset="-120"/>
              </a:rPr>
              <a:t>내일</a:t>
            </a:r>
            <a:endParaRPr lang="en-US" sz="4100" dirty="0"/>
          </a:p>
        </p:txBody>
      </p:sp>
      <p:sp>
        <p:nvSpPr>
          <p:cNvPr id="11" name="lista"/>
          <p:cNvSpPr txBox="1"/>
          <p:nvPr/>
        </p:nvSpPr>
        <p:spPr>
          <a:xfrm>
            <a:off x="4535424"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오늘 쉬어요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내일 일해요</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지금 </a:t>
            </a:r>
            <a:r>
              <a:rPr lang="en-US" sz="1800" dirty="0">
                <a:solidFill>
                  <a:srgbClr val="14142B"/>
                </a:solidFill>
              </a:rPr>
              <a:t>· </a:t>
            </a:r>
            <a:r>
              <a:rPr lang="ko-KR" altLang="en-US" sz="1800" dirty="0">
                <a:solidFill>
                  <a:srgbClr val="14142B"/>
                </a:solidFill>
                <a:latin typeface="Malgun Gothic" pitchFamily="34" charset="0"/>
                <a:ea typeface="Malgun Gothic" pitchFamily="34" charset="-122"/>
                <a:cs typeface="Malgun Gothic" pitchFamily="34" charset="-120"/>
              </a:rPr>
              <a:t>매일</a:t>
            </a:r>
            <a:r>
              <a:rPr lang="en-US" sz="1800" dirty="0">
                <a:solidFill>
                  <a:srgbClr val="14142B"/>
                </a:solidFill>
              </a:rPr>
              <a:t>: tampoco</a:t>
            </a:r>
            <a:endParaRPr lang="en-US" sz="1800" dirty="0"/>
          </a:p>
        </p:txBody>
      </p:sp>
      <p:sp>
        <p:nvSpPr>
          <p:cNvPr id="12" name="col_2"/>
          <p:cNvSpPr/>
          <p:nvPr/>
        </p:nvSpPr>
        <p:spPr>
          <a:xfrm>
            <a:off x="8156448" y="1874520"/>
            <a:ext cx="3483864" cy="4297680"/>
          </a:xfrm>
          <a:prstGeom prst="roundRect">
            <a:avLst>
              <a:gd name="adj" fmla="val 3937"/>
            </a:avLst>
          </a:prstGeom>
          <a:solidFill>
            <a:srgbClr val="F1F0FE"/>
          </a:solidFill>
          <a:ln w="12700">
            <a:solidFill>
              <a:srgbClr val="D9D7F7"/>
            </a:solidFill>
            <a:prstDash val="solid"/>
          </a:ln>
        </p:spPr>
      </p:sp>
      <p:sp>
        <p:nvSpPr>
          <p:cNvPr id="13" name="Text 11"/>
          <p:cNvSpPr txBox="1"/>
          <p:nvPr/>
        </p:nvSpPr>
        <p:spPr>
          <a:xfrm>
            <a:off x="8385048" y="2057400"/>
            <a:ext cx="3026664"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No se dice</a:t>
            </a:r>
            <a:endParaRPr lang="en-US" sz="2000" dirty="0"/>
          </a:p>
        </p:txBody>
      </p:sp>
      <p:sp>
        <p:nvSpPr>
          <p:cNvPr id="14" name="Text 12"/>
          <p:cNvSpPr txBox="1"/>
          <p:nvPr/>
        </p:nvSpPr>
        <p:spPr>
          <a:xfrm>
            <a:off x="8385048" y="2651760"/>
            <a:ext cx="3026664" cy="914400"/>
          </a:xfrm>
          <a:prstGeom prst="rect">
            <a:avLst/>
          </a:prstGeom>
          <a:noFill/>
          <a:ln/>
        </p:spPr>
        <p:txBody>
          <a:bodyPr wrap="square" lIns="0" tIns="0" rIns="0" bIns="0" rtlCol="0" anchor="ctr">
            <a:normAutofit/>
          </a:bodyPr>
          <a:lstStyle/>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오늘에 </a:t>
            </a:r>
            <a:r>
              <a:rPr lang="en-US" sz="2800" b="1" dirty="0">
                <a:solidFill>
                  <a:srgbClr val="4236F6"/>
                </a:solidFill>
              </a:rPr>
              <a:t>✗</a:t>
            </a:r>
            <a:endParaRPr lang="en-US" sz="2800" dirty="0"/>
          </a:p>
          <a:p>
            <a:pPr marL="0" indent="0" eaLnBrk="1">
              <a:buNone/>
            </a:pPr>
            <a:r>
              <a:rPr lang="ko-KR" altLang="en-US" sz="2800" b="1" dirty="0">
                <a:solidFill>
                  <a:srgbClr val="4236F6"/>
                </a:solidFill>
                <a:latin typeface="Malgun Gothic" pitchFamily="34" charset="0"/>
                <a:ea typeface="Malgun Gothic" pitchFamily="34" charset="-122"/>
                <a:cs typeface="Malgun Gothic" pitchFamily="34" charset="-120"/>
              </a:rPr>
              <a:t>· 내일에 </a:t>
            </a:r>
            <a:r>
              <a:rPr lang="en-US" sz="2800" b="1" dirty="0">
                <a:solidFill>
                  <a:srgbClr val="4236F6"/>
                </a:solidFill>
              </a:rPr>
              <a:t>✗</a:t>
            </a:r>
            <a:endParaRPr lang="en-US" sz="2800" dirty="0"/>
          </a:p>
        </p:txBody>
      </p:sp>
      <p:sp>
        <p:nvSpPr>
          <p:cNvPr id="15" name="lista"/>
          <p:cNvSpPr txBox="1"/>
          <p:nvPr/>
        </p:nvSpPr>
        <p:spPr>
          <a:xfrm>
            <a:off x="8339328" y="3657600"/>
            <a:ext cx="3118104" cy="2377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오늘에 쉬어요 </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내일에 일해요 </a:t>
            </a:r>
            <a:r>
              <a:rPr lang="en-US" sz="1800" dirty="0">
                <a:solidFill>
                  <a:srgbClr val="14142B"/>
                </a:solidFill>
              </a:rPr>
              <a:t>✗</a:t>
            </a:r>
            <a:endParaRPr lang="en-US" sz="1800" dirty="0"/>
          </a:p>
          <a:p>
            <a:pPr marL="228600" indent="-228600" eaLnBrk="1">
              <a:spcAft>
                <a:spcPts val="800"/>
              </a:spcAft>
              <a:buSzPct val="100000"/>
              <a:buChar char="•"/>
            </a:pPr>
            <a:r>
              <a:rPr lang="ko-KR" altLang="en-US" sz="1800" dirty="0">
                <a:solidFill>
                  <a:srgbClr val="14142B"/>
                </a:solidFill>
                <a:latin typeface="Malgun Gothic" pitchFamily="34" charset="0"/>
                <a:ea typeface="Malgun Gothic" pitchFamily="34" charset="-122"/>
                <a:cs typeface="Malgun Gothic" pitchFamily="34" charset="-120"/>
              </a:rPr>
              <a:t>매일에 </a:t>
            </a:r>
            <a:r>
              <a:rPr lang="en-US" sz="1800" dirty="0">
                <a:solidFill>
                  <a:srgbClr val="14142B"/>
                </a:solidFill>
              </a:rPr>
              <a:t>✗</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003478"/>
                </a:solidFill>
                <a:latin typeface="Malgun Gothic" pitchFamily="34" charset="0"/>
                <a:ea typeface="Malgun Gothic" pitchFamily="34" charset="-122"/>
                <a:cs typeface="Malgun Gothic" pitchFamily="34" charset="-120"/>
              </a:rPr>
              <a:t>Cambia 언제 </a:t>
            </a:r>
            <a:r>
              <a:rPr lang="en-US" sz="3000" b="1" dirty="0">
                <a:solidFill>
                  <a:srgbClr val="003478"/>
                </a:solidFill>
              </a:rPr>
              <a:t>por el momento</a:t>
            </a:r>
            <a:r>
              <a:rPr lang="ko-KR" altLang="en-US" sz="1500" b="1" i="1" dirty="0">
                <a:solidFill>
                  <a:srgbClr val="8A8DA0"/>
                </a:solidFill>
              </a:rPr>
              <a:t>   Swap 언제 for the time</a:t>
            </a:r>
            <a:endParaRPr lang="en-US" sz="3000" dirty="0"/>
          </a:p>
        </p:txBody>
      </p:sp>
      <p:pic>
        <p:nvPicPr>
          <p:cNvPr id="3" name="imagen" descr="C:\Users\Chingu\AppData\Local\Temp\claude\C--Users-Chingu-Desktop-ACADEMIASEULWEB\d4111e1b-5523-44ea-97b2-b1a1d9545b9e\scratchpad\decks\cache\img_c464c9b84c3c9eb4.png"/>
          <p:cNvPicPr>
            <a:picLocks noChangeAspect="1"/>
          </p:cNvPicPr>
          <p:nvPr/>
        </p:nvPicPr>
        <p:blipFill>
          <a:blip r:embed="rId3"/>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El orden no cambia: quién · cuándo · qué</a:t>
            </a:r>
            <a:endParaRPr lang="en-US" sz="1800" dirty="0"/>
          </a:p>
        </p:txBody>
      </p:sp>
      <p:graphicFrame>
        <p:nvGraphicFramePr>
          <p:cNvPr id="14" name="tabla"/>
          <p:cNvGraphicFramePr>
            <a:graphicFrameLocks noGrp="1"/>
          </p:cNvGraphicFramePr>
          <p:nvPr>
            <p:extLst>
              <p:ext uri="{D42A27DB-BD31-4B8C-83A1-F6EECF244321}">
                <p14:modId xmlns:p14="http://schemas.microsoft.com/office/powerpoint/2010/main" val="2640686422"/>
              </p:ext>
            </p:extLst>
          </p:nvPr>
        </p:nvGraphicFramePr>
        <p:xfrm>
          <a:off x="548640" y="1874520"/>
          <a:ext cx="6931152" cy="914400"/>
        </p:xfrm>
        <a:graphic>
          <a:graphicData uri="http://schemas.openxmlformats.org/drawingml/2006/table">
            <a:tbl>
              <a:tblPr/>
              <a:tblGrid>
                <a:gridCol w="2310384">
                  <a:extLst>
                    <a:ext uri="{9D8B030D-6E8A-4147-A177-3AD203B41FA5}">
                      <a16:colId xmlns:a16="http://schemas.microsoft.com/office/drawing/2014/main" val="20000"/>
                    </a:ext>
                  </a:extLst>
                </a:gridCol>
                <a:gridCol w="2310384">
                  <a:extLst>
                    <a:ext uri="{9D8B030D-6E8A-4147-A177-3AD203B41FA5}">
                      <a16:colId xmlns:a16="http://schemas.microsoft.com/office/drawing/2014/main" val="20001"/>
                    </a:ext>
                  </a:extLst>
                </a:gridCol>
                <a:gridCol w="2310384">
                  <a:extLst>
                    <a:ext uri="{9D8B030D-6E8A-4147-A177-3AD203B41FA5}">
                      <a16:colId xmlns:a16="http://schemas.microsoft.com/office/drawing/2014/main" val="20002"/>
                    </a:ext>
                  </a:extLst>
                </a:gridCol>
              </a:tblGrid>
              <a:tr h="477520">
                <a:tc>
                  <a:txBody>
                    <a:bodyPr/>
                    <a:lstStyle/>
                    <a:p>
                      <a:pPr marL="0" indent="0" eaLnBrk="1">
                        <a:buNone/>
                      </a:pPr>
                      <a:r>
                        <a:rPr lang="en-US" sz="1600" b="1" dirty="0">
                          <a:solidFill>
                            <a:srgbClr val="FFFFFF"/>
                          </a:solidFill>
                        </a:rPr>
                        <a:t>¿Quién?</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¿Cuándo?</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tc>
                  <a:txBody>
                    <a:bodyPr/>
                    <a:lstStyle/>
                    <a:p>
                      <a:pPr marL="0" indent="0" eaLnBrk="1">
                        <a:buNone/>
                      </a:pPr>
                      <a:r>
                        <a:rPr lang="en-US" sz="1600" b="1" dirty="0">
                          <a:solidFill>
                            <a:srgbClr val="FFFFFF"/>
                          </a:solidFill>
                        </a:rPr>
                        <a:t>¿Qué hace?</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003478"/>
                    </a:solidFill>
                  </a:tcPr>
                </a:tc>
                <a:extLst>
                  <a:ext uri="{0D108BD9-81ED-4DB2-BD59-A6C34878D82A}">
                    <a16:rowId xmlns:a16="http://schemas.microsoft.com/office/drawing/2014/main" val="10000"/>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하나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언제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수영을 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1"/>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하나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아침에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수영을 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도윤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언제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요리해요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3"/>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도윤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저녁에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요리해요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마테오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언제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운동해요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5"/>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마테오 씨는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주말에</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운동해요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콩이는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언제</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공원에 가요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1F0FE"/>
                    </a:solidFill>
                  </a:tcPr>
                </a:tc>
                <a:extLst>
                  <a:ext uri="{0D108BD9-81ED-4DB2-BD59-A6C34878D82A}">
                    <a16:rowId xmlns:a16="http://schemas.microsoft.com/office/drawing/2014/main" val="10007"/>
                  </a:ext>
                </a:extLst>
              </a:tr>
              <a:tr h="477520">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콩이는</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매일</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tc>
                  <a:txBody>
                    <a:bodyPr/>
                    <a:lstStyle/>
                    <a:p>
                      <a:pPr marL="0" indent="0" eaLnBrk="1">
                        <a:buNone/>
                      </a:pPr>
                      <a:r>
                        <a:rPr lang="ko-KR" altLang="en-US" sz="1600" dirty="0">
                          <a:solidFill>
                            <a:srgbClr val="14142B"/>
                          </a:solidFill>
                          <a:latin typeface="Malgun Gothic" pitchFamily="34" charset="0"/>
                          <a:ea typeface="Malgun Gothic" pitchFamily="34" charset="-122"/>
                          <a:cs typeface="Malgun Gothic" pitchFamily="34" charset="-120"/>
                        </a:rPr>
                        <a:t>공원에 가요</a:t>
                      </a:r>
                      <a:r>
                        <a:rPr lang="en-US" sz="1600" dirty="0">
                          <a:solidFill>
                            <a:srgbClr val="14142B"/>
                          </a:solidFill>
                        </a:rPr>
                        <a:t>.</a:t>
                      </a:r>
                      <a:endParaRPr lang="en-US" sz="1200" dirty="0"/>
                    </a:p>
                  </a:txBody>
                  <a:tcPr marL="101600" marR="101600" marT="50800" marB="50800" anchor="ctr">
                    <a:lnL w="9525" cap="flat" cmpd="sng" algn="ctr">
                      <a:solidFill>
                        <a:srgbClr val="D9D7F7"/>
                      </a:solidFill>
                      <a:prstDash val="solid"/>
                      <a:round/>
                      <a:headEnd type="none" w="med" len="med"/>
                      <a:tailEnd type="none" w="med" len="med"/>
                    </a:lnL>
                    <a:lnR w="9525" cap="flat" cmpd="sng" algn="ctr">
                      <a:solidFill>
                        <a:srgbClr val="D9D7F7"/>
                      </a:solidFill>
                      <a:prstDash val="solid"/>
                      <a:round/>
                      <a:headEnd type="none" w="med" len="med"/>
                      <a:tailEnd type="none" w="med" len="med"/>
                    </a:lnR>
                    <a:lnT w="9525" cap="flat" cmpd="sng" algn="ctr">
                      <a:solidFill>
                        <a:srgbClr val="D9D7F7"/>
                      </a:solidFill>
                      <a:prstDash val="solid"/>
                      <a:round/>
                      <a:headEnd type="none" w="med" len="med"/>
                      <a:tailEnd type="none" w="med" len="med"/>
                    </a:lnT>
                    <a:lnB w="9525" cap="flat" cmpd="sng" algn="ctr">
                      <a:solidFill>
                        <a:srgbClr val="D9D7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Dos datos útiles</a:t>
            </a:r>
            <a:r>
              <a:rPr lang="en-US" sz="1500" b="1" i="1" dirty="0">
                <a:solidFill>
                  <a:srgbClr val="8A8DA0"/>
                </a:solidFill>
              </a:rPr>
              <a:t>   Two useful tips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Para reconocer: no hay que memorizarlo hoy</a:t>
            </a:r>
            <a:endParaRPr lang="en-US" sz="1800" dirty="0"/>
          </a:p>
        </p:txBody>
      </p:sp>
      <p:sp>
        <p:nvSpPr>
          <p:cNvPr id="4" name="col_0"/>
          <p:cNvSpPr/>
          <p:nvPr/>
        </p:nvSpPr>
        <p:spPr>
          <a:xfrm>
            <a:off x="548640" y="1874520"/>
            <a:ext cx="5385816" cy="4297680"/>
          </a:xfrm>
          <a:prstGeom prst="roundRect">
            <a:avLst>
              <a:gd name="adj" fmla="val 3191"/>
            </a:avLst>
          </a:prstGeom>
          <a:solidFill>
            <a:srgbClr val="F1F0FE"/>
          </a:solidFill>
          <a:ln w="12700">
            <a:solidFill>
              <a:srgbClr val="D9D7F7"/>
            </a:solidFill>
            <a:prstDash val="solid"/>
          </a:ln>
        </p:spPr>
      </p:sp>
      <p:sp>
        <p:nvSpPr>
          <p:cNvPr id="5" name="Text 3"/>
          <p:cNvSpPr txBox="1"/>
          <p:nvPr/>
        </p:nvSpPr>
        <p:spPr>
          <a:xfrm>
            <a:off x="777240"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Dos formas, lo mismo</a:t>
            </a:r>
            <a:endParaRPr lang="en-US" sz="2000" dirty="0"/>
          </a:p>
        </p:txBody>
      </p:sp>
      <p:pic>
        <p:nvPicPr>
          <p:cNvPr id="6" name="col_img_0" descr="C:\Users\Chingu\AppData\Local\Temp\claude\C--Users-Chingu-Desktop-ACADEMIASEULWEB\d4111e1b-5523-44ea-97b2-b1a1d9545b9e\scratchpad\decks\cache\img_091ebc7288866582.png"/>
          <p:cNvPicPr>
            <a:picLocks noChangeAspect="1"/>
          </p:cNvPicPr>
          <p:nvPr/>
        </p:nvPicPr>
        <p:blipFill>
          <a:blip r:embed="rId3"/>
          <a:stretch>
            <a:fillRect/>
          </a:stretch>
        </p:blipFill>
        <p:spPr>
          <a:xfrm>
            <a:off x="2084832" y="2651760"/>
            <a:ext cx="2313432" cy="1051560"/>
          </a:xfrm>
          <a:prstGeom prst="rect">
            <a:avLst/>
          </a:prstGeom>
        </p:spPr>
      </p:pic>
      <p:sp>
        <p:nvSpPr>
          <p:cNvPr id="7" name="Text 4"/>
          <p:cNvSpPr txBox="1"/>
          <p:nvPr/>
        </p:nvSpPr>
        <p:spPr>
          <a:xfrm>
            <a:off x="777240" y="3794760"/>
            <a:ext cx="4928616" cy="914400"/>
          </a:xfrm>
          <a:prstGeom prst="rect">
            <a:avLst/>
          </a:prstGeom>
          <a:noFill/>
          <a:ln/>
        </p:spPr>
        <p:txBody>
          <a:bodyPr wrap="square" lIns="0" tIns="0" rIns="0" bIns="0" rtlCol="0" anchor="ctr">
            <a:normAutofit/>
          </a:bodyPr>
          <a:lstStyle/>
          <a:p>
            <a:pPr marL="0" indent="0" eaLnBrk="1">
              <a:buNone/>
            </a:pPr>
            <a:r>
              <a:rPr lang="ko-KR" altLang="en-US" sz="3300" b="1" dirty="0">
                <a:solidFill>
                  <a:srgbClr val="4236F6"/>
                </a:solidFill>
                <a:latin typeface="Malgun Gothic" pitchFamily="34" charset="0"/>
                <a:ea typeface="Malgun Gothic" pitchFamily="34" charset="-122"/>
                <a:cs typeface="Malgun Gothic" pitchFamily="34" charset="-120"/>
              </a:rPr>
              <a:t>수영해요 </a:t>
            </a:r>
            <a:r>
              <a:rPr lang="en-US" sz="3300" b="1" dirty="0">
                <a:solidFill>
                  <a:srgbClr val="4236F6"/>
                </a:solidFill>
              </a:rPr>
              <a:t>= </a:t>
            </a:r>
            <a:r>
              <a:rPr lang="ko-KR" altLang="en-US" sz="3300" b="1" dirty="0">
                <a:solidFill>
                  <a:srgbClr val="4236F6"/>
                </a:solidFill>
                <a:latin typeface="Malgun Gothic" pitchFamily="34" charset="0"/>
                <a:ea typeface="Malgun Gothic" pitchFamily="34" charset="-122"/>
                <a:cs typeface="Malgun Gothic" pitchFamily="34" charset="-120"/>
              </a:rPr>
              <a:t>수영을 해요</a:t>
            </a:r>
            <a:endParaRPr lang="en-US" sz="3300" dirty="0"/>
          </a:p>
        </p:txBody>
      </p:sp>
      <p:sp>
        <p:nvSpPr>
          <p:cNvPr id="8" name="lista"/>
          <p:cNvSpPr txBox="1"/>
          <p:nvPr/>
        </p:nvSpPr>
        <p:spPr>
          <a:xfrm>
            <a:off x="731520" y="4800600"/>
            <a:ext cx="5020056"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운동해요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운동을 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공부해요 </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공부를 해요</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El libro usa la forma con 을</a:t>
            </a:r>
            <a:r>
              <a:rPr lang="en-US" sz="2000" dirty="0">
                <a:solidFill>
                  <a:srgbClr val="14142B"/>
                </a:solidFill>
              </a:rPr>
              <a:t>/</a:t>
            </a:r>
            <a:r>
              <a:rPr lang="ko-KR" altLang="en-US" sz="2000" dirty="0">
                <a:solidFill>
                  <a:srgbClr val="14142B"/>
                </a:solidFill>
                <a:latin typeface="Malgun Gothic" pitchFamily="34" charset="0"/>
                <a:ea typeface="Malgun Gothic" pitchFamily="34" charset="-122"/>
                <a:cs typeface="Malgun Gothic" pitchFamily="34" charset="-120"/>
              </a:rPr>
              <a:t>를</a:t>
            </a:r>
            <a:endParaRPr lang="en-US" sz="2000" dirty="0"/>
          </a:p>
        </p:txBody>
      </p:sp>
      <p:sp>
        <p:nvSpPr>
          <p:cNvPr id="9" name="col_1"/>
          <p:cNvSpPr/>
          <p:nvPr/>
        </p:nvSpPr>
        <p:spPr>
          <a:xfrm>
            <a:off x="6254496" y="1874520"/>
            <a:ext cx="5385816" cy="4297680"/>
          </a:xfrm>
          <a:prstGeom prst="roundRect">
            <a:avLst>
              <a:gd name="adj" fmla="val 3191"/>
            </a:avLst>
          </a:prstGeom>
          <a:solidFill>
            <a:srgbClr val="FFFFFF"/>
          </a:solidFill>
          <a:ln w="12700">
            <a:solidFill>
              <a:srgbClr val="D9D7F7"/>
            </a:solidFill>
            <a:prstDash val="solid"/>
          </a:ln>
        </p:spPr>
      </p:sp>
      <p:sp>
        <p:nvSpPr>
          <p:cNvPr id="10" name="Text 7"/>
          <p:cNvSpPr txBox="1"/>
          <p:nvPr/>
        </p:nvSpPr>
        <p:spPr>
          <a:xfrm>
            <a:off x="6483096" y="2057400"/>
            <a:ext cx="4928616" cy="548640"/>
          </a:xfrm>
          <a:prstGeom prst="rect">
            <a:avLst/>
          </a:prstGeom>
          <a:noFill/>
          <a:ln/>
        </p:spPr>
        <p:txBody>
          <a:bodyPr wrap="square" lIns="0" tIns="0" rIns="0" bIns="0" rtlCol="0" anchor="t">
            <a:normAutofit/>
          </a:bodyPr>
          <a:lstStyle/>
          <a:p>
            <a:pPr marL="0" indent="0" eaLnBrk="1">
              <a:buNone/>
            </a:pPr>
            <a:r>
              <a:rPr lang="en-US" sz="2000" b="1" dirty="0">
                <a:solidFill>
                  <a:srgbClr val="003478"/>
                </a:solidFill>
              </a:rPr>
              <a:t>Momento y comida</a:t>
            </a:r>
            <a:endParaRPr lang="en-US" sz="2000" dirty="0"/>
          </a:p>
        </p:txBody>
      </p:sp>
      <p:pic>
        <p:nvPicPr>
          <p:cNvPr id="11" name="col_img_1" descr="C:\Users\Chingu\AppData\Local\Temp\claude\C--Users-Chingu-Desktop-ACADEMIASEULWEB\d4111e1b-5523-44ea-97b2-b1a1d9545b9e\scratchpad\decks\cache\img_7864a9e78b5e82b2.png"/>
          <p:cNvPicPr>
            <a:picLocks noChangeAspect="1"/>
          </p:cNvPicPr>
          <p:nvPr/>
        </p:nvPicPr>
        <p:blipFill>
          <a:blip r:embed="rId4"/>
          <a:stretch>
            <a:fillRect/>
          </a:stretch>
        </p:blipFill>
        <p:spPr>
          <a:xfrm>
            <a:off x="7790688" y="2651760"/>
            <a:ext cx="2313432" cy="1051560"/>
          </a:xfrm>
          <a:prstGeom prst="rect">
            <a:avLst/>
          </a:prstGeom>
        </p:spPr>
      </p:pic>
      <p:sp>
        <p:nvSpPr>
          <p:cNvPr id="12" name="Text 8"/>
          <p:cNvSpPr txBox="1"/>
          <p:nvPr/>
        </p:nvSpPr>
        <p:spPr>
          <a:xfrm>
            <a:off x="6483096" y="3794760"/>
            <a:ext cx="4928616" cy="914400"/>
          </a:xfrm>
          <a:prstGeom prst="rect">
            <a:avLst/>
          </a:prstGeom>
          <a:noFill/>
          <a:ln/>
        </p:spPr>
        <p:txBody>
          <a:bodyPr wrap="square" lIns="0" tIns="0" rIns="0" bIns="0" rtlCol="0" anchor="ctr">
            <a:normAutofit/>
          </a:bodyPr>
          <a:lstStyle/>
          <a:p>
            <a:pPr marL="0" indent="0" eaLnBrk="1">
              <a:buNone/>
            </a:pPr>
            <a:r>
              <a:rPr lang="ko-KR" altLang="en-US" sz="4100" b="1" dirty="0">
                <a:solidFill>
                  <a:srgbClr val="4236F6"/>
                </a:solidFill>
                <a:latin typeface="Malgun Gothic" pitchFamily="34" charset="0"/>
                <a:ea typeface="Malgun Gothic" pitchFamily="34" charset="-122"/>
                <a:cs typeface="Malgun Gothic" pitchFamily="34" charset="-120"/>
              </a:rPr>
              <a:t>아침 </a:t>
            </a:r>
            <a:r>
              <a:rPr lang="en-US" sz="4100" b="1" dirty="0">
                <a:solidFill>
                  <a:srgbClr val="4236F6"/>
                </a:solidFill>
              </a:rPr>
              <a:t>· </a:t>
            </a:r>
            <a:r>
              <a:rPr lang="ko-KR" altLang="en-US" sz="4100" b="1" dirty="0">
                <a:solidFill>
                  <a:srgbClr val="4236F6"/>
                </a:solidFill>
                <a:latin typeface="Malgun Gothic" pitchFamily="34" charset="0"/>
                <a:ea typeface="Malgun Gothic" pitchFamily="34" charset="-122"/>
                <a:cs typeface="Malgun Gothic" pitchFamily="34" charset="-120"/>
              </a:rPr>
              <a:t>점심 </a:t>
            </a:r>
            <a:r>
              <a:rPr lang="en-US" sz="4100" b="1" dirty="0">
                <a:solidFill>
                  <a:srgbClr val="4236F6"/>
                </a:solidFill>
              </a:rPr>
              <a:t>· </a:t>
            </a:r>
            <a:r>
              <a:rPr lang="ko-KR" altLang="en-US" sz="4100" b="1" dirty="0">
                <a:solidFill>
                  <a:srgbClr val="4236F6"/>
                </a:solidFill>
                <a:latin typeface="Malgun Gothic" pitchFamily="34" charset="0"/>
                <a:ea typeface="Malgun Gothic" pitchFamily="34" charset="-122"/>
                <a:cs typeface="Malgun Gothic" pitchFamily="34" charset="-120"/>
              </a:rPr>
              <a:t>저녁</a:t>
            </a:r>
            <a:endParaRPr lang="en-US" sz="4100" dirty="0"/>
          </a:p>
        </p:txBody>
      </p:sp>
      <p:sp>
        <p:nvSpPr>
          <p:cNvPr id="13" name="lista"/>
          <p:cNvSpPr txBox="1"/>
          <p:nvPr/>
        </p:nvSpPr>
        <p:spPr>
          <a:xfrm>
            <a:off x="6437376" y="4800600"/>
            <a:ext cx="5020056"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아침을 먹어요 </a:t>
            </a:r>
            <a:r>
              <a:rPr lang="en-US" sz="2000" dirty="0">
                <a:solidFill>
                  <a:srgbClr val="14142B"/>
                </a:solidFill>
              </a:rPr>
              <a:t>= desayuno</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점심을 먹어요 </a:t>
            </a:r>
            <a:r>
              <a:rPr lang="en-US" sz="2000" dirty="0">
                <a:solidFill>
                  <a:srgbClr val="14142B"/>
                </a:solidFill>
              </a:rPr>
              <a:t>= almuerzo</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저녁을 먹어요 </a:t>
            </a:r>
            <a:r>
              <a:rPr lang="en-US" sz="2000" dirty="0">
                <a:solidFill>
                  <a:srgbClr val="14142B"/>
                </a:solidFill>
              </a:rPr>
              <a:t>= ceno</a:t>
            </a:r>
            <a:endParaRPr lang="en-US" sz="2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연습해요  </a:t>
            </a:r>
            <a:r>
              <a:rPr lang="en-US" sz="3000" b="1" dirty="0">
                <a:solidFill>
                  <a:srgbClr val="003478"/>
                </a:solidFill>
              </a:rPr>
              <a:t>Arma la frase</a:t>
            </a:r>
            <a:r>
              <a:rPr lang="en-US" sz="1500" b="1" i="1" dirty="0">
                <a:solidFill>
                  <a:srgbClr val="8A8DA0"/>
                </a:solidFill>
              </a:rPr>
              <a:t>   Build the sentence</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Momento + actividad → una frase · Di la frase en voz alta; la respuesta aparece con clic</a:t>
            </a:r>
            <a:endParaRPr lang="en-US" sz="1800" dirty="0"/>
          </a:p>
        </p:txBody>
      </p:sp>
      <p:sp>
        <p:nvSpPr>
          <p:cNvPr id="4" name="card_0"/>
          <p:cNvSpPr/>
          <p:nvPr/>
        </p:nvSpPr>
        <p:spPr>
          <a:xfrm>
            <a:off x="548640"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item_img_0" descr="C:\Users\Chingu\AppData\Local\Temp\claude\C--Users-Chingu-Desktop-ACADEMIASEULWEB\d4111e1b-5523-44ea-97b2-b1a1d9545b9e\scratchpad\decks\cache\img_87c09b5f8e5a983a.png"/>
          <p:cNvPicPr>
            <a:picLocks noChangeAspect="1"/>
          </p:cNvPicPr>
          <p:nvPr/>
        </p:nvPicPr>
        <p:blipFill>
          <a:blip r:embed="rId3"/>
          <a:stretch>
            <a:fillRect/>
          </a:stretch>
        </p:blipFill>
        <p:spPr>
          <a:xfrm>
            <a:off x="1990649" y="2057400"/>
            <a:ext cx="691286" cy="691286"/>
          </a:xfrm>
          <a:prstGeom prst="rect">
            <a:avLst/>
          </a:prstGeom>
        </p:spPr>
      </p:pic>
      <p:sp>
        <p:nvSpPr>
          <p:cNvPr id="6" name="num_0"/>
          <p:cNvSpPr/>
          <p:nvPr/>
        </p:nvSpPr>
        <p:spPr>
          <a:xfrm>
            <a:off x="640080" y="2057400"/>
            <a:ext cx="420624" cy="420624"/>
          </a:xfrm>
          <a:prstGeom prst="ellipse">
            <a:avLst/>
          </a:prstGeom>
          <a:solidFill>
            <a:srgbClr val="003478"/>
          </a:solidFill>
          <a:ln w="19050">
            <a:solidFill>
              <a:srgbClr val="FFFFFF"/>
            </a:solidFill>
            <a:prstDash val="solid"/>
          </a:ln>
        </p:spPr>
      </p:sp>
      <p:sp>
        <p:nvSpPr>
          <p:cNvPr id="7" name="Text 4"/>
          <p:cNvSpPr txBox="1"/>
          <p:nvPr/>
        </p:nvSpPr>
        <p:spPr>
          <a:xfrm>
            <a:off x="64008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1</a:t>
            </a:r>
            <a:endParaRPr lang="en-US" sz="1500" dirty="0"/>
          </a:p>
        </p:txBody>
      </p:sp>
      <p:sp>
        <p:nvSpPr>
          <p:cNvPr id="8" name="Text 5"/>
          <p:cNvSpPr txBox="1"/>
          <p:nvPr/>
        </p:nvSpPr>
        <p:spPr>
          <a:xfrm>
            <a:off x="640080" y="2794406"/>
            <a:ext cx="3392424" cy="603504"/>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아침 </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커피를 마셔요</a:t>
            </a:r>
            <a:endParaRPr lang="en-US" sz="1900" dirty="0"/>
          </a:p>
        </p:txBody>
      </p:sp>
      <p:sp>
        <p:nvSpPr>
          <p:cNvPr id="9" name="rev_9_caja"/>
          <p:cNvSpPr/>
          <p:nvPr/>
        </p:nvSpPr>
        <p:spPr>
          <a:xfrm>
            <a:off x="658368" y="3443630"/>
            <a:ext cx="3355848" cy="442570"/>
          </a:xfrm>
          <a:prstGeom prst="roundRect">
            <a:avLst>
              <a:gd name="adj" fmla="val 24793"/>
            </a:avLst>
          </a:prstGeom>
          <a:solidFill>
            <a:srgbClr val="4236F6"/>
          </a:solidFill>
          <a:ln w="12700">
            <a:solidFill>
              <a:srgbClr val="4236F6"/>
            </a:solidFill>
            <a:prstDash val="solid"/>
          </a:ln>
        </p:spPr>
      </p:sp>
      <p:sp>
        <p:nvSpPr>
          <p:cNvPr id="10" name="rev_9_txt"/>
          <p:cNvSpPr txBox="1"/>
          <p:nvPr/>
        </p:nvSpPr>
        <p:spPr>
          <a:xfrm>
            <a:off x="685800" y="3443630"/>
            <a:ext cx="3300984" cy="442570"/>
          </a:xfrm>
          <a:prstGeom prst="rect">
            <a:avLst/>
          </a:prstGeom>
          <a:noFill/>
          <a:ln/>
        </p:spPr>
        <p:txBody>
          <a:bodyPr wrap="square" lIns="0" tIns="0" rIns="0" bIns="0" rtlCol="0" anchor="ctr">
            <a:normAutofit/>
          </a:bodyPr>
          <a:lstStyle/>
          <a:p>
            <a:pPr marL="0" indent="0" algn="ctr" eaLnBrk="1">
              <a:buNone/>
            </a:pPr>
            <a:r>
              <a:rPr lang="ko-KR" altLang="en-US" sz="1300" b="1" dirty="0">
                <a:solidFill>
                  <a:srgbClr val="FFFFFF"/>
                </a:solidFill>
                <a:latin typeface="Malgun Gothic" pitchFamily="34" charset="0"/>
                <a:ea typeface="Malgun Gothic" pitchFamily="34" charset="-122"/>
                <a:cs typeface="Malgun Gothic" pitchFamily="34" charset="-120"/>
              </a:rPr>
              <a:t>아침에 커피를 마셔요</a:t>
            </a:r>
            <a:r>
              <a:rPr lang="en-US" sz="1300" b="1" dirty="0">
                <a:solidFill>
                  <a:srgbClr val="FFFFFF"/>
                </a:solidFill>
              </a:rPr>
              <a:t>.</a:t>
            </a:r>
            <a:endParaRPr lang="en-US" sz="1300" dirty="0"/>
          </a:p>
        </p:txBody>
      </p:sp>
      <p:sp>
        <p:nvSpPr>
          <p:cNvPr id="11" name="card_1"/>
          <p:cNvSpPr/>
          <p:nvPr/>
        </p:nvSpPr>
        <p:spPr>
          <a:xfrm>
            <a:off x="4306824"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2" name="item_img_1" descr="C:\Users\Chingu\AppData\Local\Temp\claude\C--Users-Chingu-Desktop-ACADEMIASEULWEB\d4111e1b-5523-44ea-97b2-b1a1d9545b9e\scratchpad\decks\cache\img_2a8716f4b14e0454.png"/>
          <p:cNvPicPr>
            <a:picLocks noChangeAspect="1"/>
          </p:cNvPicPr>
          <p:nvPr/>
        </p:nvPicPr>
        <p:blipFill>
          <a:blip r:embed="rId4"/>
          <a:stretch>
            <a:fillRect/>
          </a:stretch>
        </p:blipFill>
        <p:spPr>
          <a:xfrm>
            <a:off x="5748833" y="2057400"/>
            <a:ext cx="691286" cy="691286"/>
          </a:xfrm>
          <a:prstGeom prst="rect">
            <a:avLst/>
          </a:prstGeom>
        </p:spPr>
      </p:pic>
      <p:sp>
        <p:nvSpPr>
          <p:cNvPr id="13" name="num_1"/>
          <p:cNvSpPr/>
          <p:nvPr/>
        </p:nvSpPr>
        <p:spPr>
          <a:xfrm>
            <a:off x="4398264" y="2057400"/>
            <a:ext cx="420624" cy="420624"/>
          </a:xfrm>
          <a:prstGeom prst="ellipse">
            <a:avLst/>
          </a:prstGeom>
          <a:solidFill>
            <a:srgbClr val="003478"/>
          </a:solidFill>
          <a:ln w="19050">
            <a:solidFill>
              <a:srgbClr val="FFFFFF"/>
            </a:solidFill>
            <a:prstDash val="solid"/>
          </a:ln>
        </p:spPr>
      </p:sp>
      <p:sp>
        <p:nvSpPr>
          <p:cNvPr id="14" name="Text 10"/>
          <p:cNvSpPr txBox="1"/>
          <p:nvPr/>
        </p:nvSpPr>
        <p:spPr>
          <a:xfrm>
            <a:off x="4398264"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2</a:t>
            </a:r>
            <a:endParaRPr lang="en-US" sz="1500" dirty="0"/>
          </a:p>
        </p:txBody>
      </p:sp>
      <p:sp>
        <p:nvSpPr>
          <p:cNvPr id="15" name="Text 11"/>
          <p:cNvSpPr txBox="1"/>
          <p:nvPr/>
        </p:nvSpPr>
        <p:spPr>
          <a:xfrm>
            <a:off x="4398264" y="2794406"/>
            <a:ext cx="3392424" cy="603504"/>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저녁 </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요리해요</a:t>
            </a:r>
            <a:endParaRPr lang="en-US" sz="1900" dirty="0"/>
          </a:p>
        </p:txBody>
      </p:sp>
      <p:sp>
        <p:nvSpPr>
          <p:cNvPr id="16" name="rev_10_caja"/>
          <p:cNvSpPr/>
          <p:nvPr/>
        </p:nvSpPr>
        <p:spPr>
          <a:xfrm>
            <a:off x="4416552" y="3443630"/>
            <a:ext cx="3355848" cy="442570"/>
          </a:xfrm>
          <a:prstGeom prst="roundRect">
            <a:avLst>
              <a:gd name="adj" fmla="val 24793"/>
            </a:avLst>
          </a:prstGeom>
          <a:solidFill>
            <a:srgbClr val="4236F6"/>
          </a:solidFill>
          <a:ln w="12700">
            <a:solidFill>
              <a:srgbClr val="4236F6"/>
            </a:solidFill>
            <a:prstDash val="solid"/>
          </a:ln>
        </p:spPr>
      </p:sp>
      <p:sp>
        <p:nvSpPr>
          <p:cNvPr id="17" name="rev_10_txt"/>
          <p:cNvSpPr txBox="1"/>
          <p:nvPr/>
        </p:nvSpPr>
        <p:spPr>
          <a:xfrm>
            <a:off x="4443984" y="3443630"/>
            <a:ext cx="3300984" cy="442570"/>
          </a:xfrm>
          <a:prstGeom prst="rect">
            <a:avLst/>
          </a:prstGeom>
          <a:noFill/>
          <a:ln/>
        </p:spPr>
        <p:txBody>
          <a:bodyPr wrap="square" lIns="0" tIns="0" rIns="0" bIns="0" rtlCol="0" anchor="ctr">
            <a:normAutofit/>
          </a:bodyPr>
          <a:lstStyle/>
          <a:p>
            <a:pPr marL="0" indent="0" algn="ctr" eaLnBrk="1">
              <a:buNone/>
            </a:pPr>
            <a:r>
              <a:rPr lang="ko-KR" altLang="en-US" sz="1300" b="1" dirty="0">
                <a:solidFill>
                  <a:srgbClr val="FFFFFF"/>
                </a:solidFill>
                <a:latin typeface="Malgun Gothic" pitchFamily="34" charset="0"/>
                <a:ea typeface="Malgun Gothic" pitchFamily="34" charset="-122"/>
                <a:cs typeface="Malgun Gothic" pitchFamily="34" charset="-120"/>
              </a:rPr>
              <a:t>저녁에 요리해요</a:t>
            </a:r>
            <a:r>
              <a:rPr lang="en-US" sz="1300" b="1" dirty="0">
                <a:solidFill>
                  <a:srgbClr val="FFFFFF"/>
                </a:solidFill>
              </a:rPr>
              <a:t>.</a:t>
            </a:r>
            <a:endParaRPr lang="en-US" sz="1300" dirty="0"/>
          </a:p>
        </p:txBody>
      </p:sp>
      <p:sp>
        <p:nvSpPr>
          <p:cNvPr id="18" name="card_2"/>
          <p:cNvSpPr/>
          <p:nvPr/>
        </p:nvSpPr>
        <p:spPr>
          <a:xfrm>
            <a:off x="8065008"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item_img_2" descr="C:\Users\Chingu\AppData\Local\Temp\claude\C--Users-Chingu-Desktop-ACADEMIASEULWEB\d4111e1b-5523-44ea-97b2-b1a1d9545b9e\scratchpad\decks\cache\img_5284540d937beba9.png"/>
          <p:cNvPicPr>
            <a:picLocks noChangeAspect="1"/>
          </p:cNvPicPr>
          <p:nvPr/>
        </p:nvPicPr>
        <p:blipFill>
          <a:blip r:embed="rId5"/>
          <a:stretch>
            <a:fillRect/>
          </a:stretch>
        </p:blipFill>
        <p:spPr>
          <a:xfrm>
            <a:off x="9507017" y="2057400"/>
            <a:ext cx="691286" cy="691286"/>
          </a:xfrm>
          <a:prstGeom prst="rect">
            <a:avLst/>
          </a:prstGeom>
        </p:spPr>
      </p:pic>
      <p:sp>
        <p:nvSpPr>
          <p:cNvPr id="20" name="num_2"/>
          <p:cNvSpPr/>
          <p:nvPr/>
        </p:nvSpPr>
        <p:spPr>
          <a:xfrm>
            <a:off x="8156448" y="2057400"/>
            <a:ext cx="420624" cy="420624"/>
          </a:xfrm>
          <a:prstGeom prst="ellipse">
            <a:avLst/>
          </a:prstGeom>
          <a:solidFill>
            <a:srgbClr val="003478"/>
          </a:solidFill>
          <a:ln w="19050">
            <a:solidFill>
              <a:srgbClr val="FFFFFF"/>
            </a:solidFill>
            <a:prstDash val="solid"/>
          </a:ln>
        </p:spPr>
      </p:sp>
      <p:sp>
        <p:nvSpPr>
          <p:cNvPr id="21" name="Text 16"/>
          <p:cNvSpPr txBox="1"/>
          <p:nvPr/>
        </p:nvSpPr>
        <p:spPr>
          <a:xfrm>
            <a:off x="8156448"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3</a:t>
            </a:r>
            <a:endParaRPr lang="en-US" sz="1500" dirty="0"/>
          </a:p>
        </p:txBody>
      </p:sp>
      <p:sp>
        <p:nvSpPr>
          <p:cNvPr id="22" name="Text 17"/>
          <p:cNvSpPr txBox="1"/>
          <p:nvPr/>
        </p:nvSpPr>
        <p:spPr>
          <a:xfrm>
            <a:off x="8156448" y="2794406"/>
            <a:ext cx="3392424" cy="603504"/>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오늘 </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한국어를 공부해요</a:t>
            </a:r>
            <a:endParaRPr lang="en-US" sz="1900" dirty="0"/>
          </a:p>
        </p:txBody>
      </p:sp>
      <p:sp>
        <p:nvSpPr>
          <p:cNvPr id="23" name="rev_11_caja"/>
          <p:cNvSpPr/>
          <p:nvPr/>
        </p:nvSpPr>
        <p:spPr>
          <a:xfrm>
            <a:off x="8174736" y="3443630"/>
            <a:ext cx="3355848" cy="442570"/>
          </a:xfrm>
          <a:prstGeom prst="roundRect">
            <a:avLst>
              <a:gd name="adj" fmla="val 24793"/>
            </a:avLst>
          </a:prstGeom>
          <a:solidFill>
            <a:srgbClr val="4236F6"/>
          </a:solidFill>
          <a:ln w="12700">
            <a:solidFill>
              <a:srgbClr val="4236F6"/>
            </a:solidFill>
            <a:prstDash val="solid"/>
          </a:ln>
        </p:spPr>
      </p:sp>
      <p:sp>
        <p:nvSpPr>
          <p:cNvPr id="24" name="rev_11_txt"/>
          <p:cNvSpPr txBox="1"/>
          <p:nvPr/>
        </p:nvSpPr>
        <p:spPr>
          <a:xfrm>
            <a:off x="8202168" y="3443630"/>
            <a:ext cx="3300984" cy="442570"/>
          </a:xfrm>
          <a:prstGeom prst="rect">
            <a:avLst/>
          </a:prstGeom>
          <a:noFill/>
          <a:ln/>
        </p:spPr>
        <p:txBody>
          <a:bodyPr wrap="square" lIns="0" tIns="0" rIns="0" bIns="0" rtlCol="0" anchor="ctr">
            <a:normAutofit/>
          </a:bodyPr>
          <a:lstStyle/>
          <a:p>
            <a:pPr marL="0" indent="0" algn="ctr" eaLnBrk="1">
              <a:buNone/>
            </a:pPr>
            <a:r>
              <a:rPr lang="ko-KR" altLang="en-US" sz="1300" b="1" dirty="0">
                <a:solidFill>
                  <a:srgbClr val="FFFFFF"/>
                </a:solidFill>
                <a:latin typeface="Malgun Gothic" pitchFamily="34" charset="0"/>
                <a:ea typeface="Malgun Gothic" pitchFamily="34" charset="-122"/>
                <a:cs typeface="Malgun Gothic" pitchFamily="34" charset="-120"/>
              </a:rPr>
              <a:t>오늘 한국어를 공부해요</a:t>
            </a:r>
            <a:r>
              <a:rPr lang="en-US" sz="1300" b="1" dirty="0">
                <a:solidFill>
                  <a:srgbClr val="FFFFFF"/>
                </a:solidFill>
              </a:rPr>
              <a:t>. (sin </a:t>
            </a:r>
            <a:r>
              <a:rPr lang="ko-KR" altLang="en-US" sz="1300" b="1" dirty="0">
                <a:solidFill>
                  <a:srgbClr val="FFFFFF"/>
                </a:solidFill>
                <a:latin typeface="Malgun Gothic" pitchFamily="34" charset="0"/>
                <a:ea typeface="Malgun Gothic" pitchFamily="34" charset="-122"/>
                <a:cs typeface="Malgun Gothic" pitchFamily="34" charset="-120"/>
              </a:rPr>
              <a:t>에</a:t>
            </a:r>
            <a:r>
              <a:rPr lang="en-US" sz="1300" b="1" dirty="0">
                <a:solidFill>
                  <a:srgbClr val="FFFFFF"/>
                </a:solidFill>
              </a:rPr>
              <a:t>)</a:t>
            </a:r>
            <a:endParaRPr lang="en-US" sz="1300" dirty="0"/>
          </a:p>
        </p:txBody>
      </p:sp>
      <p:sp>
        <p:nvSpPr>
          <p:cNvPr id="25" name="card_3"/>
          <p:cNvSpPr/>
          <p:nvPr/>
        </p:nvSpPr>
        <p:spPr>
          <a:xfrm>
            <a:off x="548640"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item_img_3" descr="C:\Users\Chingu\AppData\Local\Temp\claude\C--Users-Chingu-Desktop-ACADEMIASEULWEB\d4111e1b-5523-44ea-97b2-b1a1d9545b9e\scratchpad\decks\cache\img_c2f8b666425405f7.png"/>
          <p:cNvPicPr>
            <a:picLocks noChangeAspect="1"/>
          </p:cNvPicPr>
          <p:nvPr/>
        </p:nvPicPr>
        <p:blipFill>
          <a:blip r:embed="rId6"/>
          <a:stretch>
            <a:fillRect/>
          </a:stretch>
        </p:blipFill>
        <p:spPr>
          <a:xfrm>
            <a:off x="1990649" y="4251960"/>
            <a:ext cx="691286" cy="691286"/>
          </a:xfrm>
          <a:prstGeom prst="rect">
            <a:avLst/>
          </a:prstGeom>
        </p:spPr>
      </p:pic>
      <p:sp>
        <p:nvSpPr>
          <p:cNvPr id="27" name="num_3"/>
          <p:cNvSpPr/>
          <p:nvPr/>
        </p:nvSpPr>
        <p:spPr>
          <a:xfrm>
            <a:off x="640080" y="4251960"/>
            <a:ext cx="420624" cy="420624"/>
          </a:xfrm>
          <a:prstGeom prst="ellipse">
            <a:avLst/>
          </a:prstGeom>
          <a:solidFill>
            <a:srgbClr val="003478"/>
          </a:solidFill>
          <a:ln w="19050">
            <a:solidFill>
              <a:srgbClr val="FFFFFF"/>
            </a:solidFill>
            <a:prstDash val="solid"/>
          </a:ln>
        </p:spPr>
      </p:sp>
      <p:sp>
        <p:nvSpPr>
          <p:cNvPr id="28" name="Text 22"/>
          <p:cNvSpPr txBox="1"/>
          <p:nvPr/>
        </p:nvSpPr>
        <p:spPr>
          <a:xfrm>
            <a:off x="640080"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4</a:t>
            </a:r>
            <a:endParaRPr lang="en-US" sz="1500" dirty="0"/>
          </a:p>
        </p:txBody>
      </p:sp>
      <p:sp>
        <p:nvSpPr>
          <p:cNvPr id="29" name="Text 23"/>
          <p:cNvSpPr txBox="1"/>
          <p:nvPr/>
        </p:nvSpPr>
        <p:spPr>
          <a:xfrm>
            <a:off x="640080" y="4988966"/>
            <a:ext cx="3392424" cy="603504"/>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내일 </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회사에 가요</a:t>
            </a:r>
            <a:endParaRPr lang="en-US" sz="1900" dirty="0"/>
          </a:p>
        </p:txBody>
      </p:sp>
      <p:sp>
        <p:nvSpPr>
          <p:cNvPr id="30" name="rev_12_caja"/>
          <p:cNvSpPr/>
          <p:nvPr/>
        </p:nvSpPr>
        <p:spPr>
          <a:xfrm>
            <a:off x="658368" y="5638190"/>
            <a:ext cx="3355848" cy="442570"/>
          </a:xfrm>
          <a:prstGeom prst="roundRect">
            <a:avLst>
              <a:gd name="adj" fmla="val 24793"/>
            </a:avLst>
          </a:prstGeom>
          <a:solidFill>
            <a:srgbClr val="4236F6"/>
          </a:solidFill>
          <a:ln w="12700">
            <a:solidFill>
              <a:srgbClr val="4236F6"/>
            </a:solidFill>
            <a:prstDash val="solid"/>
          </a:ln>
        </p:spPr>
      </p:sp>
      <p:sp>
        <p:nvSpPr>
          <p:cNvPr id="31" name="rev_12_txt"/>
          <p:cNvSpPr txBox="1"/>
          <p:nvPr/>
        </p:nvSpPr>
        <p:spPr>
          <a:xfrm>
            <a:off x="685800" y="5638190"/>
            <a:ext cx="3300984" cy="442570"/>
          </a:xfrm>
          <a:prstGeom prst="rect">
            <a:avLst/>
          </a:prstGeom>
          <a:noFill/>
          <a:ln/>
        </p:spPr>
        <p:txBody>
          <a:bodyPr wrap="square" lIns="0" tIns="0" rIns="0" bIns="0" rtlCol="0" anchor="ctr">
            <a:normAutofit/>
          </a:bodyPr>
          <a:lstStyle/>
          <a:p>
            <a:pPr marL="0" indent="0" algn="ctr" eaLnBrk="1">
              <a:buNone/>
            </a:pPr>
            <a:r>
              <a:rPr lang="ko-KR" altLang="en-US" sz="1300" b="1" dirty="0">
                <a:solidFill>
                  <a:srgbClr val="FFFFFF"/>
                </a:solidFill>
                <a:latin typeface="Malgun Gothic" pitchFamily="34" charset="0"/>
                <a:ea typeface="Malgun Gothic" pitchFamily="34" charset="-122"/>
                <a:cs typeface="Malgun Gothic" pitchFamily="34" charset="-120"/>
              </a:rPr>
              <a:t>내일 회사에 가요</a:t>
            </a:r>
            <a:r>
              <a:rPr lang="en-US" sz="1300" b="1" dirty="0">
                <a:solidFill>
                  <a:srgbClr val="FFFFFF"/>
                </a:solidFill>
              </a:rPr>
              <a:t>. (sin </a:t>
            </a:r>
            <a:r>
              <a:rPr lang="ko-KR" altLang="en-US" sz="1300" b="1" dirty="0">
                <a:solidFill>
                  <a:srgbClr val="FFFFFF"/>
                </a:solidFill>
                <a:latin typeface="Malgun Gothic" pitchFamily="34" charset="0"/>
                <a:ea typeface="Malgun Gothic" pitchFamily="34" charset="-122"/>
                <a:cs typeface="Malgun Gothic" pitchFamily="34" charset="-120"/>
              </a:rPr>
              <a:t>에</a:t>
            </a:r>
            <a:r>
              <a:rPr lang="en-US" sz="1300" b="1" dirty="0">
                <a:solidFill>
                  <a:srgbClr val="FFFFFF"/>
                </a:solidFill>
              </a:rPr>
              <a:t>)</a:t>
            </a:r>
            <a:endParaRPr lang="en-US" sz="1300" dirty="0"/>
          </a:p>
        </p:txBody>
      </p:sp>
      <p:sp>
        <p:nvSpPr>
          <p:cNvPr id="32" name="card_4"/>
          <p:cNvSpPr/>
          <p:nvPr/>
        </p:nvSpPr>
        <p:spPr>
          <a:xfrm>
            <a:off x="4306824"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item_img_4" descr="C:\Users\Chingu\AppData\Local\Temp\claude\C--Users-Chingu-Desktop-ACADEMIASEULWEB\d4111e1b-5523-44ea-97b2-b1a1d9545b9e\scratchpad\decks\cache\img_34f628c280a1660c.png"/>
          <p:cNvPicPr>
            <a:picLocks noChangeAspect="1"/>
          </p:cNvPicPr>
          <p:nvPr/>
        </p:nvPicPr>
        <p:blipFill>
          <a:blip r:embed="rId7"/>
          <a:stretch>
            <a:fillRect/>
          </a:stretch>
        </p:blipFill>
        <p:spPr>
          <a:xfrm>
            <a:off x="5748833" y="4251960"/>
            <a:ext cx="691286" cy="691286"/>
          </a:xfrm>
          <a:prstGeom prst="rect">
            <a:avLst/>
          </a:prstGeom>
        </p:spPr>
      </p:pic>
      <p:sp>
        <p:nvSpPr>
          <p:cNvPr id="34" name="num_4"/>
          <p:cNvSpPr/>
          <p:nvPr/>
        </p:nvSpPr>
        <p:spPr>
          <a:xfrm>
            <a:off x="4398264" y="4251960"/>
            <a:ext cx="420624" cy="420624"/>
          </a:xfrm>
          <a:prstGeom prst="ellipse">
            <a:avLst/>
          </a:prstGeom>
          <a:solidFill>
            <a:srgbClr val="003478"/>
          </a:solidFill>
          <a:ln w="19050">
            <a:solidFill>
              <a:srgbClr val="FFFFFF"/>
            </a:solidFill>
            <a:prstDash val="solid"/>
          </a:ln>
        </p:spPr>
      </p:sp>
      <p:sp>
        <p:nvSpPr>
          <p:cNvPr id="35" name="Text 28"/>
          <p:cNvSpPr txBox="1"/>
          <p:nvPr/>
        </p:nvSpPr>
        <p:spPr>
          <a:xfrm>
            <a:off x="4398264"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5</a:t>
            </a:r>
            <a:endParaRPr lang="en-US" sz="1500" dirty="0"/>
          </a:p>
        </p:txBody>
      </p:sp>
      <p:sp>
        <p:nvSpPr>
          <p:cNvPr id="36" name="Text 29"/>
          <p:cNvSpPr txBox="1"/>
          <p:nvPr/>
        </p:nvSpPr>
        <p:spPr>
          <a:xfrm>
            <a:off x="4398264" y="4988966"/>
            <a:ext cx="3392424" cy="603504"/>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밤 </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드라마를 봐요</a:t>
            </a:r>
            <a:endParaRPr lang="en-US" sz="1900" dirty="0"/>
          </a:p>
        </p:txBody>
      </p:sp>
      <p:sp>
        <p:nvSpPr>
          <p:cNvPr id="37" name="rev_13_caja"/>
          <p:cNvSpPr/>
          <p:nvPr/>
        </p:nvSpPr>
        <p:spPr>
          <a:xfrm>
            <a:off x="4416552" y="5638190"/>
            <a:ext cx="3355848" cy="442570"/>
          </a:xfrm>
          <a:prstGeom prst="roundRect">
            <a:avLst>
              <a:gd name="adj" fmla="val 24793"/>
            </a:avLst>
          </a:prstGeom>
          <a:solidFill>
            <a:srgbClr val="4236F6"/>
          </a:solidFill>
          <a:ln w="12700">
            <a:solidFill>
              <a:srgbClr val="4236F6"/>
            </a:solidFill>
            <a:prstDash val="solid"/>
          </a:ln>
        </p:spPr>
      </p:sp>
      <p:sp>
        <p:nvSpPr>
          <p:cNvPr id="38" name="rev_13_txt"/>
          <p:cNvSpPr txBox="1"/>
          <p:nvPr/>
        </p:nvSpPr>
        <p:spPr>
          <a:xfrm>
            <a:off x="4443984" y="5638190"/>
            <a:ext cx="3300984" cy="442570"/>
          </a:xfrm>
          <a:prstGeom prst="rect">
            <a:avLst/>
          </a:prstGeom>
          <a:noFill/>
          <a:ln/>
        </p:spPr>
        <p:txBody>
          <a:bodyPr wrap="square" lIns="0" tIns="0" rIns="0" bIns="0" rtlCol="0" anchor="ctr">
            <a:normAutofit/>
          </a:bodyPr>
          <a:lstStyle/>
          <a:p>
            <a:pPr marL="0" indent="0" algn="ctr" eaLnBrk="1">
              <a:buNone/>
            </a:pPr>
            <a:r>
              <a:rPr lang="ko-KR" altLang="en-US" sz="1300" b="1" dirty="0">
                <a:solidFill>
                  <a:srgbClr val="FFFFFF"/>
                </a:solidFill>
                <a:latin typeface="Malgun Gothic" pitchFamily="34" charset="0"/>
                <a:ea typeface="Malgun Gothic" pitchFamily="34" charset="-122"/>
                <a:cs typeface="Malgun Gothic" pitchFamily="34" charset="-120"/>
              </a:rPr>
              <a:t>밤에 드라마를 봐요</a:t>
            </a:r>
            <a:r>
              <a:rPr lang="en-US" sz="1300" b="1" dirty="0">
                <a:solidFill>
                  <a:srgbClr val="FFFFFF"/>
                </a:solidFill>
              </a:rPr>
              <a:t>.</a:t>
            </a:r>
            <a:endParaRPr lang="en-US" sz="1300" dirty="0"/>
          </a:p>
        </p:txBody>
      </p:sp>
      <p:sp>
        <p:nvSpPr>
          <p:cNvPr id="39" name="card_5"/>
          <p:cNvSpPr/>
          <p:nvPr/>
        </p:nvSpPr>
        <p:spPr>
          <a:xfrm>
            <a:off x="8065008"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0" name="item_img_5" descr="C:\Users\Chingu\AppData\Local\Temp\claude\C--Users-Chingu-Desktop-ACADEMIASEULWEB\d4111e1b-5523-44ea-97b2-b1a1d9545b9e\scratchpad\decks\cache\img_f847e232d39579e5.png"/>
          <p:cNvPicPr>
            <a:picLocks noChangeAspect="1"/>
          </p:cNvPicPr>
          <p:nvPr/>
        </p:nvPicPr>
        <p:blipFill>
          <a:blip r:embed="rId8"/>
          <a:stretch>
            <a:fillRect/>
          </a:stretch>
        </p:blipFill>
        <p:spPr>
          <a:xfrm>
            <a:off x="9507017" y="4251960"/>
            <a:ext cx="691286" cy="691286"/>
          </a:xfrm>
          <a:prstGeom prst="rect">
            <a:avLst/>
          </a:prstGeom>
        </p:spPr>
      </p:pic>
      <p:sp>
        <p:nvSpPr>
          <p:cNvPr id="41" name="num_5"/>
          <p:cNvSpPr/>
          <p:nvPr/>
        </p:nvSpPr>
        <p:spPr>
          <a:xfrm>
            <a:off x="8156448" y="4251960"/>
            <a:ext cx="420624" cy="420624"/>
          </a:xfrm>
          <a:prstGeom prst="ellipse">
            <a:avLst/>
          </a:prstGeom>
          <a:solidFill>
            <a:srgbClr val="003478"/>
          </a:solidFill>
          <a:ln w="19050">
            <a:solidFill>
              <a:srgbClr val="FFFFFF"/>
            </a:solidFill>
            <a:prstDash val="solid"/>
          </a:ln>
        </p:spPr>
      </p:sp>
      <p:sp>
        <p:nvSpPr>
          <p:cNvPr id="42" name="Text 34"/>
          <p:cNvSpPr txBox="1"/>
          <p:nvPr/>
        </p:nvSpPr>
        <p:spPr>
          <a:xfrm>
            <a:off x="8156448"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6</a:t>
            </a:r>
            <a:endParaRPr lang="en-US" sz="1500" dirty="0"/>
          </a:p>
        </p:txBody>
      </p:sp>
      <p:sp>
        <p:nvSpPr>
          <p:cNvPr id="43" name="Text 35"/>
          <p:cNvSpPr txBox="1"/>
          <p:nvPr/>
        </p:nvSpPr>
        <p:spPr>
          <a:xfrm>
            <a:off x="8156448" y="4988966"/>
            <a:ext cx="3392424" cy="603504"/>
          </a:xfrm>
          <a:prstGeom prst="rect">
            <a:avLst/>
          </a:prstGeom>
          <a:noFill/>
          <a:ln/>
        </p:spPr>
        <p:txBody>
          <a:bodyPr wrap="square" lIns="0" tIns="0" rIns="0" bIns="0" rtlCol="0" anchor="ctr">
            <a:normAutofit/>
          </a:bodyPr>
          <a:lstStyle/>
          <a:p>
            <a:pPr marL="0" indent="0" algn="ctr" eaLnBrk="1">
              <a:buNone/>
            </a:pPr>
            <a:r>
              <a:rPr lang="ko-KR" altLang="en-US" sz="1900" dirty="0">
                <a:solidFill>
                  <a:srgbClr val="14142B"/>
                </a:solidFill>
                <a:latin typeface="Malgun Gothic" pitchFamily="34" charset="0"/>
                <a:ea typeface="Malgun Gothic" pitchFamily="34" charset="-122"/>
                <a:cs typeface="Malgun Gothic" pitchFamily="34" charset="-120"/>
              </a:rPr>
              <a:t>주말 </a:t>
            </a:r>
            <a:r>
              <a:rPr lang="en-US" sz="1900" dirty="0">
                <a:solidFill>
                  <a:srgbClr val="14142B"/>
                </a:solidFill>
              </a:rPr>
              <a:t>+ </a:t>
            </a:r>
            <a:r>
              <a:rPr lang="ko-KR" altLang="en-US" sz="1900" dirty="0">
                <a:solidFill>
                  <a:srgbClr val="14142B"/>
                </a:solidFill>
                <a:latin typeface="Malgun Gothic" pitchFamily="34" charset="0"/>
                <a:ea typeface="Malgun Gothic" pitchFamily="34" charset="-122"/>
                <a:cs typeface="Malgun Gothic" pitchFamily="34" charset="-120"/>
              </a:rPr>
              <a:t>자전거를 타요</a:t>
            </a:r>
            <a:endParaRPr lang="en-US" sz="1900" dirty="0"/>
          </a:p>
        </p:txBody>
      </p:sp>
      <p:sp>
        <p:nvSpPr>
          <p:cNvPr id="44" name="rev_14_caja"/>
          <p:cNvSpPr/>
          <p:nvPr/>
        </p:nvSpPr>
        <p:spPr>
          <a:xfrm>
            <a:off x="8174736" y="5638190"/>
            <a:ext cx="3355848" cy="442570"/>
          </a:xfrm>
          <a:prstGeom prst="roundRect">
            <a:avLst>
              <a:gd name="adj" fmla="val 24793"/>
            </a:avLst>
          </a:prstGeom>
          <a:solidFill>
            <a:srgbClr val="4236F6"/>
          </a:solidFill>
          <a:ln w="12700">
            <a:solidFill>
              <a:srgbClr val="4236F6"/>
            </a:solidFill>
            <a:prstDash val="solid"/>
          </a:ln>
        </p:spPr>
      </p:sp>
      <p:sp>
        <p:nvSpPr>
          <p:cNvPr id="45" name="rev_14_txt"/>
          <p:cNvSpPr txBox="1"/>
          <p:nvPr/>
        </p:nvSpPr>
        <p:spPr>
          <a:xfrm>
            <a:off x="8202168" y="5638190"/>
            <a:ext cx="3300984" cy="442570"/>
          </a:xfrm>
          <a:prstGeom prst="rect">
            <a:avLst/>
          </a:prstGeom>
          <a:noFill/>
          <a:ln/>
        </p:spPr>
        <p:txBody>
          <a:bodyPr wrap="square" lIns="0" tIns="0" rIns="0" bIns="0" rtlCol="0" anchor="ctr">
            <a:normAutofit/>
          </a:bodyPr>
          <a:lstStyle/>
          <a:p>
            <a:pPr marL="0" indent="0" algn="ctr" eaLnBrk="1">
              <a:buNone/>
            </a:pPr>
            <a:r>
              <a:rPr lang="ko-KR" altLang="en-US" sz="1300" b="1" dirty="0">
                <a:solidFill>
                  <a:srgbClr val="FFFFFF"/>
                </a:solidFill>
                <a:latin typeface="Malgun Gothic" pitchFamily="34" charset="0"/>
                <a:ea typeface="Malgun Gothic" pitchFamily="34" charset="-122"/>
                <a:cs typeface="Malgun Gothic" pitchFamily="34" charset="-120"/>
              </a:rPr>
              <a:t>주말에 자전거를 타요</a:t>
            </a:r>
            <a:r>
              <a:rPr lang="en-US" sz="1300" b="1" dirty="0">
                <a:solidFill>
                  <a:srgbClr val="FFFFFF"/>
                </a:solidFill>
              </a:rPr>
              <a:t>.</a:t>
            </a:r>
            <a:endParaRPr lang="en-US" sz="1300" dirty="0"/>
          </a:p>
        </p:txBody>
      </p:sp>
      <p:sp>
        <p:nvSpPr>
          <p:cNvPr id="46"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4" grpId="0" animBg="1"/>
      <p:bldP spid="31" grpId="0" animBg="1"/>
      <p:bldP spid="38" grpId="0" animBg="1"/>
      <p:bldP spid="4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연습해요  </a:t>
            </a:r>
            <a:r>
              <a:rPr lang="ko-KR" altLang="en-US" sz="3000" b="1" dirty="0">
                <a:solidFill>
                  <a:srgbClr val="003478"/>
                </a:solidFill>
                <a:latin typeface="Malgun Gothic" pitchFamily="34" charset="0"/>
                <a:ea typeface="Malgun Gothic" pitchFamily="34" charset="-122"/>
                <a:cs typeface="Malgun Gothic" pitchFamily="34" charset="-120"/>
              </a:rPr>
              <a:t>¿에 </a:t>
            </a:r>
            <a:r>
              <a:rPr lang="en-US" sz="3000" b="1" dirty="0">
                <a:solidFill>
                  <a:srgbClr val="003478"/>
                </a:solidFill>
              </a:rPr>
              <a:t>o nada?</a:t>
            </a:r>
            <a:r>
              <a:rPr lang="ko-KR" altLang="en-US" sz="1500" b="1" i="1" dirty="0">
                <a:solidFill>
                  <a:srgbClr val="8A8DA0"/>
                </a:solidFill>
              </a:rPr>
              <a:t>   에 or nothing?</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Escribe en el chat: O (lleva 에</a:t>
            </a:r>
            <a:r>
              <a:rPr lang="en-US" sz="1800" i="1" dirty="0">
                <a:solidFill>
                  <a:srgbClr val="4236F6"/>
                </a:solidFill>
              </a:rPr>
              <a:t>) o X (no lleva) · ¿Lleva </a:t>
            </a:r>
            <a:r>
              <a:rPr lang="ko-KR" altLang="en-US" sz="1800" i="1" dirty="0">
                <a:solidFill>
                  <a:srgbClr val="4236F6"/>
                </a:solidFill>
                <a:latin typeface="Malgun Gothic" pitchFamily="34" charset="0"/>
                <a:ea typeface="Malgun Gothic" pitchFamily="34" charset="-122"/>
                <a:cs typeface="Malgun Gothic" pitchFamily="34" charset="-120"/>
              </a:rPr>
              <a:t>에</a:t>
            </a:r>
            <a:r>
              <a:rPr lang="en-US" sz="1800" i="1" dirty="0">
                <a:solidFill>
                  <a:srgbClr val="4236F6"/>
                </a:solidFill>
              </a:rPr>
              <a:t>? O o X en el chat; la respuesta aparece con clic</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아침</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운동해요</a:t>
            </a:r>
            <a:r>
              <a:rPr lang="en-US" sz="2400" dirty="0">
                <a:solidFill>
                  <a:srgbClr val="14142B"/>
                </a:solidFill>
              </a:rPr>
              <a:t>.</a:t>
            </a:r>
            <a:endParaRPr lang="en-US" sz="2400" dirty="0"/>
          </a:p>
        </p:txBody>
      </p:sp>
      <p:sp>
        <p:nvSpPr>
          <p:cNvPr id="7" name="rev_15_caja"/>
          <p:cNvSpPr/>
          <p:nvPr/>
        </p:nvSpPr>
        <p:spPr>
          <a:xfrm>
            <a:off x="7498080" y="2002536"/>
            <a:ext cx="4142232" cy="521208"/>
          </a:xfrm>
          <a:prstGeom prst="roundRect">
            <a:avLst>
              <a:gd name="adj" fmla="val 21053"/>
            </a:avLst>
          </a:prstGeom>
          <a:solidFill>
            <a:srgbClr val="4236F6"/>
          </a:solidFill>
          <a:ln w="12700">
            <a:solidFill>
              <a:srgbClr val="4236F6"/>
            </a:solidFill>
            <a:prstDash val="solid"/>
          </a:ln>
        </p:spPr>
      </p:sp>
      <p:sp>
        <p:nvSpPr>
          <p:cNvPr id="8" name="rev_15_txt"/>
          <p:cNvSpPr txBox="1"/>
          <p:nvPr/>
        </p:nvSpPr>
        <p:spPr>
          <a:xfrm>
            <a:off x="7589520" y="200253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O → 아침에 운동해요</a:t>
            </a:r>
            <a:r>
              <a:rPr lang="en-US" sz="2200" b="1" dirty="0">
                <a:solidFill>
                  <a:srgbClr val="FFFFFF"/>
                </a:solidFill>
              </a:rPr>
              <a:t>.</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오늘</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쉬어요</a:t>
            </a:r>
            <a:r>
              <a:rPr lang="en-US" sz="2400" dirty="0">
                <a:solidFill>
                  <a:srgbClr val="14142B"/>
                </a:solidFill>
              </a:rPr>
              <a:t>.</a:t>
            </a:r>
            <a:endParaRPr lang="en-US" sz="2400" dirty="0"/>
          </a:p>
        </p:txBody>
      </p:sp>
      <p:sp>
        <p:nvSpPr>
          <p:cNvPr id="12" name="rev_16_caja"/>
          <p:cNvSpPr/>
          <p:nvPr/>
        </p:nvSpPr>
        <p:spPr>
          <a:xfrm>
            <a:off x="7498080" y="2724912"/>
            <a:ext cx="4142232" cy="521208"/>
          </a:xfrm>
          <a:prstGeom prst="roundRect">
            <a:avLst>
              <a:gd name="adj" fmla="val 21053"/>
            </a:avLst>
          </a:prstGeom>
          <a:solidFill>
            <a:srgbClr val="4236F6"/>
          </a:solidFill>
          <a:ln w="12700">
            <a:solidFill>
              <a:srgbClr val="4236F6"/>
            </a:solidFill>
            <a:prstDash val="solid"/>
          </a:ln>
        </p:spPr>
      </p:sp>
      <p:sp>
        <p:nvSpPr>
          <p:cNvPr id="13" name="rev_16_txt"/>
          <p:cNvSpPr txBox="1"/>
          <p:nvPr/>
        </p:nvSpPr>
        <p:spPr>
          <a:xfrm>
            <a:off x="7589520" y="2724912"/>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X → 오늘 쉬어요</a:t>
            </a:r>
            <a:r>
              <a:rPr lang="en-US" sz="2200" b="1" dirty="0">
                <a:solidFill>
                  <a:srgbClr val="FFFFFF"/>
                </a:solidFill>
              </a:rPr>
              <a:t>.</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저녁</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음악을 들어요</a:t>
            </a:r>
            <a:r>
              <a:rPr lang="en-US" sz="2400" dirty="0">
                <a:solidFill>
                  <a:srgbClr val="14142B"/>
                </a:solidFill>
              </a:rPr>
              <a:t>.</a:t>
            </a:r>
            <a:endParaRPr lang="en-US" sz="2400" dirty="0"/>
          </a:p>
        </p:txBody>
      </p:sp>
      <p:sp>
        <p:nvSpPr>
          <p:cNvPr id="17" name="rev_17_caja"/>
          <p:cNvSpPr/>
          <p:nvPr/>
        </p:nvSpPr>
        <p:spPr>
          <a:xfrm>
            <a:off x="7498080" y="3447288"/>
            <a:ext cx="4142232" cy="521208"/>
          </a:xfrm>
          <a:prstGeom prst="roundRect">
            <a:avLst>
              <a:gd name="adj" fmla="val 21053"/>
            </a:avLst>
          </a:prstGeom>
          <a:solidFill>
            <a:srgbClr val="4236F6"/>
          </a:solidFill>
          <a:ln w="12700">
            <a:solidFill>
              <a:srgbClr val="4236F6"/>
            </a:solidFill>
            <a:prstDash val="solid"/>
          </a:ln>
        </p:spPr>
      </p:sp>
      <p:sp>
        <p:nvSpPr>
          <p:cNvPr id="18" name="rev_17_txt"/>
          <p:cNvSpPr txBox="1"/>
          <p:nvPr/>
        </p:nvSpPr>
        <p:spPr>
          <a:xfrm>
            <a:off x="7589520" y="3447288"/>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O → 저녁에 음악을 들어요</a:t>
            </a:r>
            <a:r>
              <a:rPr lang="en-US" sz="2200" b="1" dirty="0">
                <a:solidFill>
                  <a:srgbClr val="FFFFFF"/>
                </a:solidFill>
              </a:rPr>
              <a:t>.</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내일</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사진을 찍어요</a:t>
            </a:r>
            <a:r>
              <a:rPr lang="en-US" sz="2400" dirty="0">
                <a:solidFill>
                  <a:srgbClr val="14142B"/>
                </a:solidFill>
              </a:rPr>
              <a:t>.</a:t>
            </a:r>
            <a:endParaRPr lang="en-US" sz="2400" dirty="0"/>
          </a:p>
        </p:txBody>
      </p:sp>
      <p:sp>
        <p:nvSpPr>
          <p:cNvPr id="22" name="rev_18_caja"/>
          <p:cNvSpPr/>
          <p:nvPr/>
        </p:nvSpPr>
        <p:spPr>
          <a:xfrm>
            <a:off x="7498080" y="4169664"/>
            <a:ext cx="4142232" cy="521208"/>
          </a:xfrm>
          <a:prstGeom prst="roundRect">
            <a:avLst>
              <a:gd name="adj" fmla="val 21053"/>
            </a:avLst>
          </a:prstGeom>
          <a:solidFill>
            <a:srgbClr val="4236F6"/>
          </a:solidFill>
          <a:ln w="12700">
            <a:solidFill>
              <a:srgbClr val="4236F6"/>
            </a:solidFill>
            <a:prstDash val="solid"/>
          </a:ln>
        </p:spPr>
      </p:sp>
      <p:sp>
        <p:nvSpPr>
          <p:cNvPr id="23" name="rev_18_txt"/>
          <p:cNvSpPr txBox="1"/>
          <p:nvPr/>
        </p:nvSpPr>
        <p:spPr>
          <a:xfrm>
            <a:off x="7589520" y="4169664"/>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X → 내일 사진을 찍어요</a:t>
            </a:r>
            <a:r>
              <a:rPr lang="en-US" sz="2200" b="1" dirty="0">
                <a:solidFill>
                  <a:srgbClr val="FFFFFF"/>
                </a:solidFill>
              </a:rPr>
              <a:t>.</a:t>
            </a:r>
            <a:endParaRPr lang="en-US" sz="22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점심</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라면을 먹어요</a:t>
            </a:r>
            <a:r>
              <a:rPr lang="en-US" sz="2400" dirty="0">
                <a:solidFill>
                  <a:srgbClr val="14142B"/>
                </a:solidFill>
              </a:rPr>
              <a:t>.</a:t>
            </a:r>
            <a:endParaRPr lang="en-US" sz="2400" dirty="0"/>
          </a:p>
        </p:txBody>
      </p:sp>
      <p:sp>
        <p:nvSpPr>
          <p:cNvPr id="27" name="rev_19_caja"/>
          <p:cNvSpPr/>
          <p:nvPr/>
        </p:nvSpPr>
        <p:spPr>
          <a:xfrm>
            <a:off x="7498080" y="4892040"/>
            <a:ext cx="4142232" cy="521208"/>
          </a:xfrm>
          <a:prstGeom prst="roundRect">
            <a:avLst>
              <a:gd name="adj" fmla="val 21053"/>
            </a:avLst>
          </a:prstGeom>
          <a:solidFill>
            <a:srgbClr val="4236F6"/>
          </a:solidFill>
          <a:ln w="12700">
            <a:solidFill>
              <a:srgbClr val="4236F6"/>
            </a:solidFill>
            <a:prstDash val="solid"/>
          </a:ln>
        </p:spPr>
      </p:sp>
      <p:sp>
        <p:nvSpPr>
          <p:cNvPr id="28" name="rev_19_txt"/>
          <p:cNvSpPr txBox="1"/>
          <p:nvPr/>
        </p:nvSpPr>
        <p:spPr>
          <a:xfrm>
            <a:off x="7589520" y="4892040"/>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O → 점심에 라면을 먹어요</a:t>
            </a:r>
            <a:r>
              <a:rPr lang="en-US" sz="2200" b="1" dirty="0">
                <a:solidFill>
                  <a:srgbClr val="FFFFFF"/>
                </a:solidFill>
              </a:rPr>
              <a:t>.</a:t>
            </a:r>
            <a:endParaRPr lang="en-US" sz="22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매일</a:t>
            </a:r>
            <a:r>
              <a:rPr lang="en-US" sz="2400" dirty="0">
                <a:solidFill>
                  <a:srgbClr val="14142B"/>
                </a:solidFill>
              </a:rPr>
              <a:t>___ </a:t>
            </a:r>
            <a:r>
              <a:rPr lang="ko-KR" altLang="en-US" sz="2400" dirty="0">
                <a:solidFill>
                  <a:srgbClr val="14142B"/>
                </a:solidFill>
                <a:latin typeface="Malgun Gothic" pitchFamily="34" charset="0"/>
                <a:ea typeface="Malgun Gothic" pitchFamily="34" charset="-122"/>
                <a:cs typeface="Malgun Gothic" pitchFamily="34" charset="-120"/>
              </a:rPr>
              <a:t>한국어를 공부해요</a:t>
            </a:r>
            <a:r>
              <a:rPr lang="en-US" sz="2400" dirty="0">
                <a:solidFill>
                  <a:srgbClr val="14142B"/>
                </a:solidFill>
              </a:rPr>
              <a:t>.</a:t>
            </a:r>
            <a:endParaRPr lang="en-US" sz="2400" dirty="0"/>
          </a:p>
        </p:txBody>
      </p:sp>
      <p:sp>
        <p:nvSpPr>
          <p:cNvPr id="32" name="rev_20_caja"/>
          <p:cNvSpPr/>
          <p:nvPr/>
        </p:nvSpPr>
        <p:spPr>
          <a:xfrm>
            <a:off x="7498080" y="5614416"/>
            <a:ext cx="4142232" cy="521208"/>
          </a:xfrm>
          <a:prstGeom prst="roundRect">
            <a:avLst>
              <a:gd name="adj" fmla="val 21053"/>
            </a:avLst>
          </a:prstGeom>
          <a:solidFill>
            <a:srgbClr val="4236F6"/>
          </a:solidFill>
          <a:ln w="12700">
            <a:solidFill>
              <a:srgbClr val="4236F6"/>
            </a:solidFill>
            <a:prstDash val="solid"/>
          </a:ln>
        </p:spPr>
      </p:sp>
      <p:sp>
        <p:nvSpPr>
          <p:cNvPr id="33" name="rev_20_txt"/>
          <p:cNvSpPr txBox="1"/>
          <p:nvPr/>
        </p:nvSpPr>
        <p:spPr>
          <a:xfrm>
            <a:off x="7589520" y="5614416"/>
            <a:ext cx="3959352" cy="521208"/>
          </a:xfrm>
          <a:prstGeom prst="rect">
            <a:avLst/>
          </a:prstGeom>
          <a:noFill/>
          <a:ln/>
        </p:spPr>
        <p:txBody>
          <a:bodyPr wrap="square" lIns="0" tIns="0" rIns="0" bIns="0" rtlCol="0" anchor="ctr">
            <a:normAutofit/>
          </a:bodyPr>
          <a:lstStyle/>
          <a:p>
            <a:pPr marL="0" indent="0" algn="ctr" eaLnBrk="1">
              <a:buNone/>
            </a:pPr>
            <a:r>
              <a:rPr lang="ko-KR" altLang="en-US" sz="2100" b="1" dirty="0">
                <a:solidFill>
                  <a:srgbClr val="FFFFFF"/>
                </a:solidFill>
                <a:latin typeface="Malgun Gothic" pitchFamily="34" charset="0"/>
                <a:ea typeface="Malgun Gothic" pitchFamily="34" charset="-122"/>
                <a:cs typeface="Malgun Gothic" pitchFamily="34" charset="-120"/>
              </a:rPr>
              <a:t>X → 매일 한국어를 공부해요</a:t>
            </a:r>
            <a:r>
              <a:rPr lang="en-US" sz="2100" b="1" dirty="0">
                <a:solidFill>
                  <a:srgbClr val="FFFFFF"/>
                </a:solidFill>
              </a:rPr>
              <a:t>.</a:t>
            </a:r>
            <a:endParaRPr lang="en-US" sz="21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연습해요  </a:t>
            </a:r>
            <a:r>
              <a:rPr lang="en-US" sz="3000" b="1" dirty="0">
                <a:solidFill>
                  <a:srgbClr val="003478"/>
                </a:solidFill>
              </a:rPr>
              <a:t>Ahora tú preguntas</a:t>
            </a:r>
            <a:r>
              <a:rPr lang="en-US" sz="1500" b="1" i="1" dirty="0">
                <a:solidFill>
                  <a:srgbClr val="8A8DA0"/>
                </a:solidFill>
              </a:rPr>
              <a:t>   Now you ask</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Escucha la respuesta → haz la pregunta con 언제 </a:t>
            </a:r>
            <a:r>
              <a:rPr lang="en-US" sz="1800" i="1" dirty="0">
                <a:solidFill>
                  <a:srgbClr val="4236F6"/>
                </a:solidFill>
              </a:rPr>
              <a:t>· Di la pregunta; la respuesta aparece con clic</a:t>
            </a:r>
            <a:endParaRPr lang="en-US" sz="1800" dirty="0"/>
          </a:p>
        </p:txBody>
      </p:sp>
      <p:sp>
        <p:nvSpPr>
          <p:cNvPr id="4" name="num_0"/>
          <p:cNvSpPr/>
          <p:nvPr/>
        </p:nvSpPr>
        <p:spPr>
          <a:xfrm>
            <a:off x="548640" y="217170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17170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저녁에 전화해요</a:t>
            </a:r>
            <a:r>
              <a:rPr lang="en-US" sz="2400" dirty="0">
                <a:solidFill>
                  <a:srgbClr val="14142B"/>
                </a:solidFill>
              </a:rPr>
              <a:t>.</a:t>
            </a:r>
            <a:endParaRPr lang="en-US" sz="2400" dirty="0"/>
          </a:p>
        </p:txBody>
      </p:sp>
      <p:sp>
        <p:nvSpPr>
          <p:cNvPr id="7" name="rev_21_caja"/>
          <p:cNvSpPr/>
          <p:nvPr/>
        </p:nvSpPr>
        <p:spPr>
          <a:xfrm>
            <a:off x="7498080" y="2002536"/>
            <a:ext cx="4142232" cy="795528"/>
          </a:xfrm>
          <a:prstGeom prst="roundRect">
            <a:avLst>
              <a:gd name="adj" fmla="val 13793"/>
            </a:avLst>
          </a:prstGeom>
          <a:solidFill>
            <a:srgbClr val="4236F6"/>
          </a:solidFill>
          <a:ln w="12700">
            <a:solidFill>
              <a:srgbClr val="4236F6"/>
            </a:solidFill>
            <a:prstDash val="solid"/>
          </a:ln>
        </p:spPr>
      </p:sp>
      <p:sp>
        <p:nvSpPr>
          <p:cNvPr id="8" name="rev_21_txt"/>
          <p:cNvSpPr txBox="1"/>
          <p:nvPr/>
        </p:nvSpPr>
        <p:spPr>
          <a:xfrm>
            <a:off x="7589520" y="2002536"/>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언제 전화해요</a:t>
            </a:r>
            <a:r>
              <a:rPr lang="en-US" sz="2200" b="1" dirty="0">
                <a:solidFill>
                  <a:srgbClr val="FFFFFF"/>
                </a:solidFill>
              </a:rPr>
              <a:t>?</a:t>
            </a:r>
            <a:endParaRPr lang="en-US" sz="2200" dirty="0"/>
          </a:p>
        </p:txBody>
      </p:sp>
      <p:sp>
        <p:nvSpPr>
          <p:cNvPr id="9" name="num_1"/>
          <p:cNvSpPr/>
          <p:nvPr/>
        </p:nvSpPr>
        <p:spPr>
          <a:xfrm>
            <a:off x="548640" y="316839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316839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962656"/>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아침에 커피를 마셔요</a:t>
            </a:r>
            <a:r>
              <a:rPr lang="en-US" sz="2400" dirty="0">
                <a:solidFill>
                  <a:srgbClr val="14142B"/>
                </a:solidFill>
              </a:rPr>
              <a:t>.</a:t>
            </a:r>
            <a:endParaRPr lang="en-US" sz="2400" dirty="0"/>
          </a:p>
        </p:txBody>
      </p:sp>
      <p:sp>
        <p:nvSpPr>
          <p:cNvPr id="12" name="rev_22_caja"/>
          <p:cNvSpPr/>
          <p:nvPr/>
        </p:nvSpPr>
        <p:spPr>
          <a:xfrm>
            <a:off x="7498080" y="2999232"/>
            <a:ext cx="4142232" cy="795528"/>
          </a:xfrm>
          <a:prstGeom prst="roundRect">
            <a:avLst>
              <a:gd name="adj" fmla="val 13793"/>
            </a:avLst>
          </a:prstGeom>
          <a:solidFill>
            <a:srgbClr val="4236F6"/>
          </a:solidFill>
          <a:ln w="12700">
            <a:solidFill>
              <a:srgbClr val="4236F6"/>
            </a:solidFill>
            <a:prstDash val="solid"/>
          </a:ln>
        </p:spPr>
      </p:sp>
      <p:sp>
        <p:nvSpPr>
          <p:cNvPr id="13" name="rev_22_txt"/>
          <p:cNvSpPr txBox="1"/>
          <p:nvPr/>
        </p:nvSpPr>
        <p:spPr>
          <a:xfrm>
            <a:off x="7589520" y="2999232"/>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언제 커피를 마셔요</a:t>
            </a:r>
            <a:r>
              <a:rPr lang="en-US" sz="2200" b="1" dirty="0">
                <a:solidFill>
                  <a:srgbClr val="FFFFFF"/>
                </a:solidFill>
              </a:rPr>
              <a:t>?</a:t>
            </a:r>
            <a:endParaRPr lang="en-US" sz="2200" dirty="0"/>
          </a:p>
        </p:txBody>
      </p:sp>
      <p:sp>
        <p:nvSpPr>
          <p:cNvPr id="14" name="num_2"/>
          <p:cNvSpPr/>
          <p:nvPr/>
        </p:nvSpPr>
        <p:spPr>
          <a:xfrm>
            <a:off x="548640" y="41650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41650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959352"/>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내일 공원에 가요</a:t>
            </a:r>
            <a:r>
              <a:rPr lang="en-US" sz="2400" dirty="0">
                <a:solidFill>
                  <a:srgbClr val="14142B"/>
                </a:solidFill>
              </a:rPr>
              <a:t>.</a:t>
            </a:r>
            <a:endParaRPr lang="en-US" sz="2400" dirty="0"/>
          </a:p>
        </p:txBody>
      </p:sp>
      <p:sp>
        <p:nvSpPr>
          <p:cNvPr id="17" name="rev_23_caja"/>
          <p:cNvSpPr/>
          <p:nvPr/>
        </p:nvSpPr>
        <p:spPr>
          <a:xfrm>
            <a:off x="7498080" y="3995928"/>
            <a:ext cx="4142232" cy="795528"/>
          </a:xfrm>
          <a:prstGeom prst="roundRect">
            <a:avLst>
              <a:gd name="adj" fmla="val 13793"/>
            </a:avLst>
          </a:prstGeom>
          <a:solidFill>
            <a:srgbClr val="4236F6"/>
          </a:solidFill>
          <a:ln w="12700">
            <a:solidFill>
              <a:srgbClr val="4236F6"/>
            </a:solidFill>
            <a:prstDash val="solid"/>
          </a:ln>
        </p:spPr>
      </p:sp>
      <p:sp>
        <p:nvSpPr>
          <p:cNvPr id="18" name="rev_23_txt"/>
          <p:cNvSpPr txBox="1"/>
          <p:nvPr/>
        </p:nvSpPr>
        <p:spPr>
          <a:xfrm>
            <a:off x="7589520" y="3995928"/>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언제 공원에 가요</a:t>
            </a:r>
            <a:r>
              <a:rPr lang="en-US" sz="2200" b="1" dirty="0">
                <a:solidFill>
                  <a:srgbClr val="FFFFFF"/>
                </a:solidFill>
              </a:rPr>
              <a:t>?</a:t>
            </a:r>
            <a:endParaRPr lang="en-US" sz="2200" dirty="0"/>
          </a:p>
        </p:txBody>
      </p:sp>
      <p:sp>
        <p:nvSpPr>
          <p:cNvPr id="19" name="num_3"/>
          <p:cNvSpPr/>
          <p:nvPr/>
        </p:nvSpPr>
        <p:spPr>
          <a:xfrm>
            <a:off x="548640" y="516178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516178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956048"/>
            <a:ext cx="6080760" cy="86868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주말에 노래해요</a:t>
            </a:r>
            <a:r>
              <a:rPr lang="en-US" sz="2400" dirty="0">
                <a:solidFill>
                  <a:srgbClr val="14142B"/>
                </a:solidFill>
              </a:rPr>
              <a:t>.</a:t>
            </a:r>
            <a:endParaRPr lang="en-US" sz="2400" dirty="0"/>
          </a:p>
        </p:txBody>
      </p:sp>
      <p:sp>
        <p:nvSpPr>
          <p:cNvPr id="22" name="rev_24_caja"/>
          <p:cNvSpPr/>
          <p:nvPr/>
        </p:nvSpPr>
        <p:spPr>
          <a:xfrm>
            <a:off x="7498080" y="4992624"/>
            <a:ext cx="4142232" cy="795528"/>
          </a:xfrm>
          <a:prstGeom prst="roundRect">
            <a:avLst>
              <a:gd name="adj" fmla="val 13793"/>
            </a:avLst>
          </a:prstGeom>
          <a:solidFill>
            <a:srgbClr val="4236F6"/>
          </a:solidFill>
          <a:ln w="12700">
            <a:solidFill>
              <a:srgbClr val="4236F6"/>
            </a:solidFill>
            <a:prstDash val="solid"/>
          </a:ln>
        </p:spPr>
      </p:sp>
      <p:sp>
        <p:nvSpPr>
          <p:cNvPr id="23" name="rev_24_txt"/>
          <p:cNvSpPr txBox="1"/>
          <p:nvPr/>
        </p:nvSpPr>
        <p:spPr>
          <a:xfrm>
            <a:off x="7589520" y="4992624"/>
            <a:ext cx="3959352" cy="79552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언제 노래해요</a:t>
            </a:r>
            <a:r>
              <a:rPr lang="en-US" sz="2200" b="1" dirty="0">
                <a:solidFill>
                  <a:srgbClr val="FFFFFF"/>
                </a:solidFill>
              </a:rPr>
              <a:t>?</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들어 봐요  </a:t>
            </a:r>
            <a:r>
              <a:rPr lang="en-US" sz="3000" b="1" dirty="0">
                <a:solidFill>
                  <a:srgbClr val="003478"/>
                </a:solidFill>
              </a:rPr>
              <a:t>Escucha a Jay: ¿cuándo?</a:t>
            </a:r>
            <a:r>
              <a:rPr lang="en-US" sz="1500" b="1" i="1" dirty="0">
                <a:solidFill>
                  <a:srgbClr val="8A8DA0"/>
                </a:solidFill>
              </a:rPr>
              <a:t>   Listen: when?</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Escucha dos veces · escribe el momento en el chat · Jay lee 6 frases. ¿Cuándo hace cada uno su actividad?</a:t>
            </a:r>
            <a:endParaRPr lang="en-US" sz="1800" dirty="0"/>
          </a:p>
        </p:txBody>
      </p:sp>
      <p:sp>
        <p:nvSpPr>
          <p:cNvPr id="4" name="card_0"/>
          <p:cNvSpPr/>
          <p:nvPr/>
        </p:nvSpPr>
        <p:spPr>
          <a:xfrm>
            <a:off x="548640"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5" name="item_img_0" descr="C:\Users\Chingu\AppData\Local\Temp\claude\C--Users-Chingu-Desktop-ACADEMIASEULWEB\d4111e1b-5523-44ea-97b2-b1a1d9545b9e\scratchpad\decks\cache\img_0201133c99e069c0.png"/>
          <p:cNvPicPr>
            <a:picLocks noChangeAspect="1"/>
          </p:cNvPicPr>
          <p:nvPr/>
        </p:nvPicPr>
        <p:blipFill>
          <a:blip r:embed="rId3"/>
          <a:stretch>
            <a:fillRect/>
          </a:stretch>
        </p:blipFill>
        <p:spPr>
          <a:xfrm>
            <a:off x="1849831" y="2057400"/>
            <a:ext cx="972922" cy="972922"/>
          </a:xfrm>
          <a:prstGeom prst="rect">
            <a:avLst/>
          </a:prstGeom>
        </p:spPr>
      </p:pic>
      <p:sp>
        <p:nvSpPr>
          <p:cNvPr id="6" name="num_0"/>
          <p:cNvSpPr/>
          <p:nvPr/>
        </p:nvSpPr>
        <p:spPr>
          <a:xfrm>
            <a:off x="640080" y="2057400"/>
            <a:ext cx="420624" cy="420624"/>
          </a:xfrm>
          <a:prstGeom prst="ellipse">
            <a:avLst/>
          </a:prstGeom>
          <a:solidFill>
            <a:srgbClr val="003478"/>
          </a:solidFill>
          <a:ln w="19050">
            <a:solidFill>
              <a:srgbClr val="FFFFFF"/>
            </a:solidFill>
            <a:prstDash val="solid"/>
          </a:ln>
        </p:spPr>
      </p:sp>
      <p:sp>
        <p:nvSpPr>
          <p:cNvPr id="7" name="Text 4"/>
          <p:cNvSpPr txBox="1"/>
          <p:nvPr/>
        </p:nvSpPr>
        <p:spPr>
          <a:xfrm>
            <a:off x="640080"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1</a:t>
            </a:r>
            <a:endParaRPr lang="en-US" sz="1500" dirty="0"/>
          </a:p>
        </p:txBody>
      </p:sp>
      <p:sp>
        <p:nvSpPr>
          <p:cNvPr id="8" name="Text 5"/>
          <p:cNvSpPr txBox="1"/>
          <p:nvPr/>
        </p:nvSpPr>
        <p:spPr>
          <a:xfrm>
            <a:off x="640080" y="3076042"/>
            <a:ext cx="3392424" cy="402336"/>
          </a:xfrm>
          <a:prstGeom prst="rect">
            <a:avLst/>
          </a:prstGeom>
          <a:noFill/>
          <a:ln/>
        </p:spPr>
        <p:txBody>
          <a:bodyPr wrap="square" lIns="0" tIns="0" rIns="0" bIns="0" rtlCol="0" anchor="ctr">
            <a:normAutofit/>
          </a:bodyPr>
          <a:lstStyle/>
          <a:p>
            <a:pPr marL="0" indent="0" algn="ctr" eaLnBrk="1">
              <a:buNone/>
            </a:pPr>
            <a:r>
              <a:rPr lang="ko-KR" altLang="en-US" sz="1400" dirty="0">
                <a:solidFill>
                  <a:srgbClr val="14142B"/>
                </a:solidFill>
                <a:latin typeface="Malgun Gothic" pitchFamily="34" charset="0"/>
                <a:ea typeface="Malgun Gothic" pitchFamily="34" charset="-122"/>
                <a:cs typeface="Malgun Gothic" pitchFamily="34" charset="-120"/>
              </a:rPr>
              <a:t>가</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서아 </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노래해요</a:t>
            </a:r>
            <a:endParaRPr lang="en-US" sz="1400" dirty="0"/>
          </a:p>
        </p:txBody>
      </p:sp>
      <p:sp>
        <p:nvSpPr>
          <p:cNvPr id="9" name="rev_25_caja"/>
          <p:cNvSpPr/>
          <p:nvPr/>
        </p:nvSpPr>
        <p:spPr>
          <a:xfrm>
            <a:off x="658368" y="3524098"/>
            <a:ext cx="3355848" cy="362102"/>
          </a:xfrm>
          <a:prstGeom prst="roundRect">
            <a:avLst>
              <a:gd name="adj" fmla="val 30303"/>
            </a:avLst>
          </a:prstGeom>
          <a:solidFill>
            <a:srgbClr val="4236F6"/>
          </a:solidFill>
          <a:ln w="12700">
            <a:solidFill>
              <a:srgbClr val="4236F6"/>
            </a:solidFill>
            <a:prstDash val="solid"/>
          </a:ln>
        </p:spPr>
      </p:sp>
      <p:sp>
        <p:nvSpPr>
          <p:cNvPr id="10" name="rev_25_txt"/>
          <p:cNvSpPr txBox="1"/>
          <p:nvPr/>
        </p:nvSpPr>
        <p:spPr>
          <a:xfrm>
            <a:off x="685800" y="352409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저녁에</a:t>
            </a:r>
            <a:endParaRPr lang="en-US" sz="1800" dirty="0"/>
          </a:p>
        </p:txBody>
      </p:sp>
      <p:sp>
        <p:nvSpPr>
          <p:cNvPr id="11" name="card_1"/>
          <p:cNvSpPr/>
          <p:nvPr/>
        </p:nvSpPr>
        <p:spPr>
          <a:xfrm>
            <a:off x="4306824"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2" name="item_img_1" descr="C:\Users\Chingu\AppData\Local\Temp\claude\C--Users-Chingu-Desktop-ACADEMIASEULWEB\d4111e1b-5523-44ea-97b2-b1a1d9545b9e\scratchpad\decks\cache\img_259b9456e41024d0.png"/>
          <p:cNvPicPr>
            <a:picLocks noChangeAspect="1"/>
          </p:cNvPicPr>
          <p:nvPr/>
        </p:nvPicPr>
        <p:blipFill>
          <a:blip r:embed="rId4"/>
          <a:stretch>
            <a:fillRect/>
          </a:stretch>
        </p:blipFill>
        <p:spPr>
          <a:xfrm>
            <a:off x="5608015" y="2057400"/>
            <a:ext cx="972922" cy="972922"/>
          </a:xfrm>
          <a:prstGeom prst="rect">
            <a:avLst/>
          </a:prstGeom>
        </p:spPr>
      </p:pic>
      <p:sp>
        <p:nvSpPr>
          <p:cNvPr id="13" name="num_1"/>
          <p:cNvSpPr/>
          <p:nvPr/>
        </p:nvSpPr>
        <p:spPr>
          <a:xfrm>
            <a:off x="4398264" y="2057400"/>
            <a:ext cx="420624" cy="420624"/>
          </a:xfrm>
          <a:prstGeom prst="ellipse">
            <a:avLst/>
          </a:prstGeom>
          <a:solidFill>
            <a:srgbClr val="003478"/>
          </a:solidFill>
          <a:ln w="19050">
            <a:solidFill>
              <a:srgbClr val="FFFFFF"/>
            </a:solidFill>
            <a:prstDash val="solid"/>
          </a:ln>
        </p:spPr>
      </p:sp>
      <p:sp>
        <p:nvSpPr>
          <p:cNvPr id="14" name="Text 10"/>
          <p:cNvSpPr txBox="1"/>
          <p:nvPr/>
        </p:nvSpPr>
        <p:spPr>
          <a:xfrm>
            <a:off x="4398264"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2</a:t>
            </a:r>
            <a:endParaRPr lang="en-US" sz="1500" dirty="0"/>
          </a:p>
        </p:txBody>
      </p:sp>
      <p:sp>
        <p:nvSpPr>
          <p:cNvPr id="15" name="Text 11"/>
          <p:cNvSpPr txBox="1"/>
          <p:nvPr/>
        </p:nvSpPr>
        <p:spPr>
          <a:xfrm>
            <a:off x="4398264" y="3076042"/>
            <a:ext cx="3392424" cy="402336"/>
          </a:xfrm>
          <a:prstGeom prst="rect">
            <a:avLst/>
          </a:prstGeom>
          <a:noFill/>
          <a:ln/>
        </p:spPr>
        <p:txBody>
          <a:bodyPr wrap="square" lIns="0" tIns="0" rIns="0" bIns="0" rtlCol="0" anchor="ctr">
            <a:normAutofit/>
          </a:bodyPr>
          <a:lstStyle/>
          <a:p>
            <a:pPr marL="0" indent="0" algn="ctr" eaLnBrk="1">
              <a:buNone/>
            </a:pPr>
            <a:r>
              <a:rPr lang="ko-KR" altLang="en-US" sz="1400" dirty="0">
                <a:solidFill>
                  <a:srgbClr val="14142B"/>
                </a:solidFill>
                <a:latin typeface="Malgun Gothic" pitchFamily="34" charset="0"/>
                <a:ea typeface="Malgun Gothic" pitchFamily="34" charset="-122"/>
                <a:cs typeface="Malgun Gothic" pitchFamily="34" charset="-120"/>
              </a:rPr>
              <a:t>나</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콩이 </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공원에 가요</a:t>
            </a:r>
            <a:endParaRPr lang="en-US" sz="1400" dirty="0"/>
          </a:p>
        </p:txBody>
      </p:sp>
      <p:sp>
        <p:nvSpPr>
          <p:cNvPr id="16" name="rev_26_caja"/>
          <p:cNvSpPr/>
          <p:nvPr/>
        </p:nvSpPr>
        <p:spPr>
          <a:xfrm>
            <a:off x="4416552" y="3524098"/>
            <a:ext cx="3355848" cy="362102"/>
          </a:xfrm>
          <a:prstGeom prst="roundRect">
            <a:avLst>
              <a:gd name="adj" fmla="val 30303"/>
            </a:avLst>
          </a:prstGeom>
          <a:solidFill>
            <a:srgbClr val="4236F6"/>
          </a:solidFill>
          <a:ln w="12700">
            <a:solidFill>
              <a:srgbClr val="4236F6"/>
            </a:solidFill>
            <a:prstDash val="solid"/>
          </a:ln>
        </p:spPr>
      </p:sp>
      <p:sp>
        <p:nvSpPr>
          <p:cNvPr id="17" name="rev_26_txt"/>
          <p:cNvSpPr txBox="1"/>
          <p:nvPr/>
        </p:nvSpPr>
        <p:spPr>
          <a:xfrm>
            <a:off x="4443984" y="352409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아침에</a:t>
            </a:r>
            <a:endParaRPr lang="en-US" sz="1800" dirty="0"/>
          </a:p>
        </p:txBody>
      </p:sp>
      <p:sp>
        <p:nvSpPr>
          <p:cNvPr id="18" name="card_2"/>
          <p:cNvSpPr/>
          <p:nvPr/>
        </p:nvSpPr>
        <p:spPr>
          <a:xfrm>
            <a:off x="8065008" y="196596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19" name="item_img_2" descr="C:\Users\Chingu\AppData\Local\Temp\claude\C--Users-Chingu-Desktop-ACADEMIASEULWEB\d4111e1b-5523-44ea-97b2-b1a1d9545b9e\scratchpad\decks\cache\img_b5193f5c93adacb1.png"/>
          <p:cNvPicPr>
            <a:picLocks noChangeAspect="1"/>
          </p:cNvPicPr>
          <p:nvPr/>
        </p:nvPicPr>
        <p:blipFill>
          <a:blip r:embed="rId5"/>
          <a:stretch>
            <a:fillRect/>
          </a:stretch>
        </p:blipFill>
        <p:spPr>
          <a:xfrm>
            <a:off x="9366199" y="2057400"/>
            <a:ext cx="972922" cy="972922"/>
          </a:xfrm>
          <a:prstGeom prst="rect">
            <a:avLst/>
          </a:prstGeom>
        </p:spPr>
      </p:pic>
      <p:sp>
        <p:nvSpPr>
          <p:cNvPr id="20" name="num_2"/>
          <p:cNvSpPr/>
          <p:nvPr/>
        </p:nvSpPr>
        <p:spPr>
          <a:xfrm>
            <a:off x="8156448" y="2057400"/>
            <a:ext cx="420624" cy="420624"/>
          </a:xfrm>
          <a:prstGeom prst="ellipse">
            <a:avLst/>
          </a:prstGeom>
          <a:solidFill>
            <a:srgbClr val="003478"/>
          </a:solidFill>
          <a:ln w="19050">
            <a:solidFill>
              <a:srgbClr val="FFFFFF"/>
            </a:solidFill>
            <a:prstDash val="solid"/>
          </a:ln>
        </p:spPr>
      </p:sp>
      <p:sp>
        <p:nvSpPr>
          <p:cNvPr id="21" name="Text 16"/>
          <p:cNvSpPr txBox="1"/>
          <p:nvPr/>
        </p:nvSpPr>
        <p:spPr>
          <a:xfrm>
            <a:off x="8156448" y="205740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3</a:t>
            </a:r>
            <a:endParaRPr lang="en-US" sz="1500" dirty="0"/>
          </a:p>
        </p:txBody>
      </p:sp>
      <p:sp>
        <p:nvSpPr>
          <p:cNvPr id="22" name="Text 17"/>
          <p:cNvSpPr txBox="1"/>
          <p:nvPr/>
        </p:nvSpPr>
        <p:spPr>
          <a:xfrm>
            <a:off x="8156448" y="3076042"/>
            <a:ext cx="3392424" cy="402336"/>
          </a:xfrm>
          <a:prstGeom prst="rect">
            <a:avLst/>
          </a:prstGeom>
          <a:noFill/>
          <a:ln/>
        </p:spPr>
        <p:txBody>
          <a:bodyPr wrap="square" lIns="0" tIns="0" rIns="0" bIns="0" rtlCol="0" anchor="ctr">
            <a:normAutofit/>
          </a:bodyPr>
          <a:lstStyle/>
          <a:p>
            <a:pPr marL="0" indent="0" algn="ctr" eaLnBrk="1">
              <a:buNone/>
            </a:pPr>
            <a:r>
              <a:rPr lang="ko-KR" altLang="en-US" sz="1400" dirty="0">
                <a:solidFill>
                  <a:srgbClr val="14142B"/>
                </a:solidFill>
                <a:latin typeface="Malgun Gothic" pitchFamily="34" charset="0"/>
                <a:ea typeface="Malgun Gothic" pitchFamily="34" charset="-122"/>
                <a:cs typeface="Malgun Gothic" pitchFamily="34" charset="-120"/>
              </a:rPr>
              <a:t>다</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마테오 </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자전거를 타요</a:t>
            </a:r>
            <a:endParaRPr lang="en-US" sz="1400" dirty="0"/>
          </a:p>
        </p:txBody>
      </p:sp>
      <p:sp>
        <p:nvSpPr>
          <p:cNvPr id="23" name="rev_27_caja"/>
          <p:cNvSpPr/>
          <p:nvPr/>
        </p:nvSpPr>
        <p:spPr>
          <a:xfrm>
            <a:off x="8174736" y="3524098"/>
            <a:ext cx="3355848" cy="362102"/>
          </a:xfrm>
          <a:prstGeom prst="roundRect">
            <a:avLst>
              <a:gd name="adj" fmla="val 30303"/>
            </a:avLst>
          </a:prstGeom>
          <a:solidFill>
            <a:srgbClr val="4236F6"/>
          </a:solidFill>
          <a:ln w="12700">
            <a:solidFill>
              <a:srgbClr val="4236F6"/>
            </a:solidFill>
            <a:prstDash val="solid"/>
          </a:ln>
        </p:spPr>
      </p:sp>
      <p:sp>
        <p:nvSpPr>
          <p:cNvPr id="24" name="rev_27_txt"/>
          <p:cNvSpPr txBox="1"/>
          <p:nvPr/>
        </p:nvSpPr>
        <p:spPr>
          <a:xfrm>
            <a:off x="8202168" y="352409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내일</a:t>
            </a:r>
            <a:endParaRPr lang="en-US" sz="1800" dirty="0"/>
          </a:p>
        </p:txBody>
      </p:sp>
      <p:sp>
        <p:nvSpPr>
          <p:cNvPr id="25" name="card_3"/>
          <p:cNvSpPr/>
          <p:nvPr/>
        </p:nvSpPr>
        <p:spPr>
          <a:xfrm>
            <a:off x="548640"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26" name="item_img_3" descr="C:\Users\Chingu\AppData\Local\Temp\claude\C--Users-Chingu-Desktop-ACADEMIASEULWEB\d4111e1b-5523-44ea-97b2-b1a1d9545b9e\scratchpad\decks\cache\img_36aeab7115959300.png"/>
          <p:cNvPicPr>
            <a:picLocks noChangeAspect="1"/>
          </p:cNvPicPr>
          <p:nvPr/>
        </p:nvPicPr>
        <p:blipFill>
          <a:blip r:embed="rId6"/>
          <a:stretch>
            <a:fillRect/>
          </a:stretch>
        </p:blipFill>
        <p:spPr>
          <a:xfrm>
            <a:off x="1849831" y="4251960"/>
            <a:ext cx="972922" cy="972922"/>
          </a:xfrm>
          <a:prstGeom prst="rect">
            <a:avLst/>
          </a:prstGeom>
        </p:spPr>
      </p:pic>
      <p:sp>
        <p:nvSpPr>
          <p:cNvPr id="27" name="num_3"/>
          <p:cNvSpPr/>
          <p:nvPr/>
        </p:nvSpPr>
        <p:spPr>
          <a:xfrm>
            <a:off x="640080" y="4251960"/>
            <a:ext cx="420624" cy="420624"/>
          </a:xfrm>
          <a:prstGeom prst="ellipse">
            <a:avLst/>
          </a:prstGeom>
          <a:solidFill>
            <a:srgbClr val="003478"/>
          </a:solidFill>
          <a:ln w="19050">
            <a:solidFill>
              <a:srgbClr val="FFFFFF"/>
            </a:solidFill>
            <a:prstDash val="solid"/>
          </a:ln>
        </p:spPr>
      </p:sp>
      <p:sp>
        <p:nvSpPr>
          <p:cNvPr id="28" name="Text 22"/>
          <p:cNvSpPr txBox="1"/>
          <p:nvPr/>
        </p:nvSpPr>
        <p:spPr>
          <a:xfrm>
            <a:off x="640080"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4</a:t>
            </a:r>
            <a:endParaRPr lang="en-US" sz="1500" dirty="0"/>
          </a:p>
        </p:txBody>
      </p:sp>
      <p:sp>
        <p:nvSpPr>
          <p:cNvPr id="29" name="Text 23"/>
          <p:cNvSpPr txBox="1"/>
          <p:nvPr/>
        </p:nvSpPr>
        <p:spPr>
          <a:xfrm>
            <a:off x="640080" y="5270602"/>
            <a:ext cx="3392424" cy="402336"/>
          </a:xfrm>
          <a:prstGeom prst="rect">
            <a:avLst/>
          </a:prstGeom>
          <a:noFill/>
          <a:ln/>
        </p:spPr>
        <p:txBody>
          <a:bodyPr wrap="square" lIns="0" tIns="0" rIns="0" bIns="0" rtlCol="0" anchor="ctr">
            <a:normAutofit/>
          </a:bodyPr>
          <a:lstStyle/>
          <a:p>
            <a:pPr marL="0" indent="0" algn="ctr" eaLnBrk="1">
              <a:buNone/>
            </a:pPr>
            <a:r>
              <a:rPr lang="ko-KR" altLang="en-US" sz="1400" dirty="0">
                <a:solidFill>
                  <a:srgbClr val="14142B"/>
                </a:solidFill>
                <a:latin typeface="Malgun Gothic" pitchFamily="34" charset="0"/>
                <a:ea typeface="Malgun Gothic" pitchFamily="34" charset="-122"/>
                <a:cs typeface="Malgun Gothic" pitchFamily="34" charset="-120"/>
              </a:rPr>
              <a:t>라</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발렌티나 </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한국어를 공부해요</a:t>
            </a:r>
            <a:endParaRPr lang="en-US" sz="1400" dirty="0"/>
          </a:p>
        </p:txBody>
      </p:sp>
      <p:sp>
        <p:nvSpPr>
          <p:cNvPr id="30" name="rev_28_caja"/>
          <p:cNvSpPr/>
          <p:nvPr/>
        </p:nvSpPr>
        <p:spPr>
          <a:xfrm>
            <a:off x="658368" y="5718658"/>
            <a:ext cx="3355848" cy="362102"/>
          </a:xfrm>
          <a:prstGeom prst="roundRect">
            <a:avLst>
              <a:gd name="adj" fmla="val 30303"/>
            </a:avLst>
          </a:prstGeom>
          <a:solidFill>
            <a:srgbClr val="4236F6"/>
          </a:solidFill>
          <a:ln w="12700">
            <a:solidFill>
              <a:srgbClr val="4236F6"/>
            </a:solidFill>
            <a:prstDash val="solid"/>
          </a:ln>
        </p:spPr>
      </p:sp>
      <p:sp>
        <p:nvSpPr>
          <p:cNvPr id="31" name="rev_28_txt"/>
          <p:cNvSpPr txBox="1"/>
          <p:nvPr/>
        </p:nvSpPr>
        <p:spPr>
          <a:xfrm>
            <a:off x="685800" y="571865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오늘</a:t>
            </a:r>
            <a:endParaRPr lang="en-US" sz="1800" dirty="0"/>
          </a:p>
        </p:txBody>
      </p:sp>
      <p:sp>
        <p:nvSpPr>
          <p:cNvPr id="32" name="card_4"/>
          <p:cNvSpPr/>
          <p:nvPr/>
        </p:nvSpPr>
        <p:spPr>
          <a:xfrm>
            <a:off x="4306824"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33" name="item_img_4" descr="C:\Users\Chingu\AppData\Local\Temp\claude\C--Users-Chingu-Desktop-ACADEMIASEULWEB\d4111e1b-5523-44ea-97b2-b1a1d9545b9e\scratchpad\decks\cache\img_a67f74c9329c1a6a.png"/>
          <p:cNvPicPr>
            <a:picLocks noChangeAspect="1"/>
          </p:cNvPicPr>
          <p:nvPr/>
        </p:nvPicPr>
        <p:blipFill>
          <a:blip r:embed="rId7"/>
          <a:stretch>
            <a:fillRect/>
          </a:stretch>
        </p:blipFill>
        <p:spPr>
          <a:xfrm>
            <a:off x="5608015" y="4251960"/>
            <a:ext cx="972922" cy="972922"/>
          </a:xfrm>
          <a:prstGeom prst="rect">
            <a:avLst/>
          </a:prstGeom>
        </p:spPr>
      </p:pic>
      <p:sp>
        <p:nvSpPr>
          <p:cNvPr id="34" name="num_4"/>
          <p:cNvSpPr/>
          <p:nvPr/>
        </p:nvSpPr>
        <p:spPr>
          <a:xfrm>
            <a:off x="4398264" y="4251960"/>
            <a:ext cx="420624" cy="420624"/>
          </a:xfrm>
          <a:prstGeom prst="ellipse">
            <a:avLst/>
          </a:prstGeom>
          <a:solidFill>
            <a:srgbClr val="003478"/>
          </a:solidFill>
          <a:ln w="19050">
            <a:solidFill>
              <a:srgbClr val="FFFFFF"/>
            </a:solidFill>
            <a:prstDash val="solid"/>
          </a:ln>
        </p:spPr>
      </p:sp>
      <p:sp>
        <p:nvSpPr>
          <p:cNvPr id="35" name="Text 28"/>
          <p:cNvSpPr txBox="1"/>
          <p:nvPr/>
        </p:nvSpPr>
        <p:spPr>
          <a:xfrm>
            <a:off x="4398264"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5</a:t>
            </a:r>
            <a:endParaRPr lang="en-US" sz="1500" dirty="0"/>
          </a:p>
        </p:txBody>
      </p:sp>
      <p:sp>
        <p:nvSpPr>
          <p:cNvPr id="36" name="Text 29"/>
          <p:cNvSpPr txBox="1"/>
          <p:nvPr/>
        </p:nvSpPr>
        <p:spPr>
          <a:xfrm>
            <a:off x="4398264" y="5270602"/>
            <a:ext cx="3392424" cy="402336"/>
          </a:xfrm>
          <a:prstGeom prst="rect">
            <a:avLst/>
          </a:prstGeom>
          <a:noFill/>
          <a:ln/>
        </p:spPr>
        <p:txBody>
          <a:bodyPr wrap="square" lIns="0" tIns="0" rIns="0" bIns="0" rtlCol="0" anchor="ctr">
            <a:normAutofit/>
          </a:bodyPr>
          <a:lstStyle/>
          <a:p>
            <a:pPr marL="0" indent="0" algn="ctr" eaLnBrk="1">
              <a:buNone/>
            </a:pPr>
            <a:r>
              <a:rPr lang="ko-KR" altLang="en-US" sz="1400" dirty="0">
                <a:solidFill>
                  <a:srgbClr val="14142B"/>
                </a:solidFill>
                <a:latin typeface="Malgun Gothic" pitchFamily="34" charset="0"/>
                <a:ea typeface="Malgun Gothic" pitchFamily="34" charset="-122"/>
                <a:cs typeface="Malgun Gothic" pitchFamily="34" charset="-120"/>
              </a:rPr>
              <a:t>마</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도윤 </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사진을 찍어요</a:t>
            </a:r>
            <a:endParaRPr lang="en-US" sz="1400" dirty="0"/>
          </a:p>
        </p:txBody>
      </p:sp>
      <p:sp>
        <p:nvSpPr>
          <p:cNvPr id="37" name="rev_29_caja"/>
          <p:cNvSpPr/>
          <p:nvPr/>
        </p:nvSpPr>
        <p:spPr>
          <a:xfrm>
            <a:off x="4416552" y="5718658"/>
            <a:ext cx="3355848" cy="362102"/>
          </a:xfrm>
          <a:prstGeom prst="roundRect">
            <a:avLst>
              <a:gd name="adj" fmla="val 30303"/>
            </a:avLst>
          </a:prstGeom>
          <a:solidFill>
            <a:srgbClr val="4236F6"/>
          </a:solidFill>
          <a:ln w="12700">
            <a:solidFill>
              <a:srgbClr val="4236F6"/>
            </a:solidFill>
            <a:prstDash val="solid"/>
          </a:ln>
        </p:spPr>
      </p:sp>
      <p:sp>
        <p:nvSpPr>
          <p:cNvPr id="38" name="rev_29_txt"/>
          <p:cNvSpPr txBox="1"/>
          <p:nvPr/>
        </p:nvSpPr>
        <p:spPr>
          <a:xfrm>
            <a:off x="4443984" y="571865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주말에</a:t>
            </a:r>
            <a:endParaRPr lang="en-US" sz="1800" dirty="0"/>
          </a:p>
        </p:txBody>
      </p:sp>
      <p:sp>
        <p:nvSpPr>
          <p:cNvPr id="39" name="card_5"/>
          <p:cNvSpPr/>
          <p:nvPr/>
        </p:nvSpPr>
        <p:spPr>
          <a:xfrm>
            <a:off x="8065008" y="4160520"/>
            <a:ext cx="3575304" cy="2011680"/>
          </a:xfrm>
          <a:prstGeom prst="roundRect">
            <a:avLst>
              <a:gd name="adj" fmla="val 6818"/>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pic>
        <p:nvPicPr>
          <p:cNvPr id="40" name="item_img_5" descr="C:\Users\Chingu\AppData\Local\Temp\claude\C--Users-Chingu-Desktop-ACADEMIASEULWEB\d4111e1b-5523-44ea-97b2-b1a1d9545b9e\scratchpad\decks\cache\img_c112b962c2509424.png"/>
          <p:cNvPicPr>
            <a:picLocks noChangeAspect="1"/>
          </p:cNvPicPr>
          <p:nvPr/>
        </p:nvPicPr>
        <p:blipFill>
          <a:blip r:embed="rId8"/>
          <a:stretch>
            <a:fillRect/>
          </a:stretch>
        </p:blipFill>
        <p:spPr>
          <a:xfrm>
            <a:off x="9366199" y="4251960"/>
            <a:ext cx="972922" cy="972922"/>
          </a:xfrm>
          <a:prstGeom prst="rect">
            <a:avLst/>
          </a:prstGeom>
        </p:spPr>
      </p:pic>
      <p:sp>
        <p:nvSpPr>
          <p:cNvPr id="41" name="num_5"/>
          <p:cNvSpPr/>
          <p:nvPr/>
        </p:nvSpPr>
        <p:spPr>
          <a:xfrm>
            <a:off x="8156448" y="4251960"/>
            <a:ext cx="420624" cy="420624"/>
          </a:xfrm>
          <a:prstGeom prst="ellipse">
            <a:avLst/>
          </a:prstGeom>
          <a:solidFill>
            <a:srgbClr val="003478"/>
          </a:solidFill>
          <a:ln w="19050">
            <a:solidFill>
              <a:srgbClr val="FFFFFF"/>
            </a:solidFill>
            <a:prstDash val="solid"/>
          </a:ln>
        </p:spPr>
      </p:sp>
      <p:sp>
        <p:nvSpPr>
          <p:cNvPr id="42" name="Text 34"/>
          <p:cNvSpPr txBox="1"/>
          <p:nvPr/>
        </p:nvSpPr>
        <p:spPr>
          <a:xfrm>
            <a:off x="8156448" y="4251960"/>
            <a:ext cx="420624" cy="420624"/>
          </a:xfrm>
          <a:prstGeom prst="rect">
            <a:avLst/>
          </a:prstGeom>
          <a:noFill/>
          <a:ln/>
        </p:spPr>
        <p:txBody>
          <a:bodyPr wrap="square" lIns="0" tIns="0" rIns="0" bIns="0" rtlCol="0" anchor="ctr">
            <a:normAutofit/>
          </a:bodyPr>
          <a:lstStyle/>
          <a:p>
            <a:pPr marL="0" indent="0" algn="ctr" eaLnBrk="1">
              <a:buNone/>
            </a:pPr>
            <a:r>
              <a:rPr lang="en-US" sz="1500" b="1" dirty="0">
                <a:solidFill>
                  <a:srgbClr val="FFFFFF"/>
                </a:solidFill>
              </a:rPr>
              <a:t>6</a:t>
            </a:r>
            <a:endParaRPr lang="en-US" sz="1500" dirty="0"/>
          </a:p>
        </p:txBody>
      </p:sp>
      <p:sp>
        <p:nvSpPr>
          <p:cNvPr id="43" name="Text 35"/>
          <p:cNvSpPr txBox="1"/>
          <p:nvPr/>
        </p:nvSpPr>
        <p:spPr>
          <a:xfrm>
            <a:off x="8156448" y="5270602"/>
            <a:ext cx="3392424" cy="402336"/>
          </a:xfrm>
          <a:prstGeom prst="rect">
            <a:avLst/>
          </a:prstGeom>
          <a:noFill/>
          <a:ln/>
        </p:spPr>
        <p:txBody>
          <a:bodyPr wrap="square" lIns="0" tIns="0" rIns="0" bIns="0" rtlCol="0" anchor="ctr">
            <a:normAutofit/>
          </a:bodyPr>
          <a:lstStyle/>
          <a:p>
            <a:pPr marL="0" indent="0" algn="ctr" eaLnBrk="1">
              <a:buNone/>
            </a:pPr>
            <a:r>
              <a:rPr lang="ko-KR" altLang="en-US" sz="1400" dirty="0">
                <a:solidFill>
                  <a:srgbClr val="14142B"/>
                </a:solidFill>
                <a:latin typeface="Malgun Gothic" pitchFamily="34" charset="0"/>
                <a:ea typeface="Malgun Gothic" pitchFamily="34" charset="-122"/>
                <a:cs typeface="Malgun Gothic" pitchFamily="34" charset="-120"/>
              </a:rPr>
              <a:t>바</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하나 </a:t>
            </a:r>
            <a:r>
              <a:rPr lang="en-US" sz="1400" dirty="0">
                <a:solidFill>
                  <a:srgbClr val="14142B"/>
                </a:solidFill>
              </a:rPr>
              <a:t>· </a:t>
            </a:r>
            <a:r>
              <a:rPr lang="ko-KR" altLang="en-US" sz="1400" dirty="0">
                <a:solidFill>
                  <a:srgbClr val="14142B"/>
                </a:solidFill>
                <a:latin typeface="Malgun Gothic" pitchFamily="34" charset="0"/>
                <a:ea typeface="Malgun Gothic" pitchFamily="34" charset="-122"/>
                <a:cs typeface="Malgun Gothic" pitchFamily="34" charset="-120"/>
              </a:rPr>
              <a:t>커피를 마셔요</a:t>
            </a:r>
            <a:endParaRPr lang="en-US" sz="1400" dirty="0"/>
          </a:p>
        </p:txBody>
      </p:sp>
      <p:sp>
        <p:nvSpPr>
          <p:cNvPr id="44" name="rev_30_caja"/>
          <p:cNvSpPr/>
          <p:nvPr/>
        </p:nvSpPr>
        <p:spPr>
          <a:xfrm>
            <a:off x="8174736" y="5718658"/>
            <a:ext cx="3355848" cy="362102"/>
          </a:xfrm>
          <a:prstGeom prst="roundRect">
            <a:avLst>
              <a:gd name="adj" fmla="val 30303"/>
            </a:avLst>
          </a:prstGeom>
          <a:solidFill>
            <a:srgbClr val="4236F6"/>
          </a:solidFill>
          <a:ln w="12700">
            <a:solidFill>
              <a:srgbClr val="4236F6"/>
            </a:solidFill>
            <a:prstDash val="solid"/>
          </a:ln>
        </p:spPr>
      </p:sp>
      <p:sp>
        <p:nvSpPr>
          <p:cNvPr id="45" name="rev_30_txt"/>
          <p:cNvSpPr txBox="1"/>
          <p:nvPr/>
        </p:nvSpPr>
        <p:spPr>
          <a:xfrm>
            <a:off x="8202168" y="5718658"/>
            <a:ext cx="3300984" cy="362102"/>
          </a:xfrm>
          <a:prstGeom prst="rect">
            <a:avLst/>
          </a:prstGeom>
          <a:noFill/>
          <a:ln/>
        </p:spPr>
        <p:txBody>
          <a:bodyPr wrap="square" lIns="0" tIns="0" rIns="0" bIns="0" rtlCol="0" anchor="ctr">
            <a:normAutofit/>
          </a:bodyPr>
          <a:lstStyle/>
          <a:p>
            <a:pPr marL="0" indent="0" algn="ctr" eaLnBrk="1">
              <a:buNone/>
            </a:pPr>
            <a:r>
              <a:rPr lang="ko-KR" altLang="en-US" sz="1800" b="1" dirty="0">
                <a:solidFill>
                  <a:srgbClr val="FFFFFF"/>
                </a:solidFill>
                <a:latin typeface="Malgun Gothic" pitchFamily="34" charset="0"/>
                <a:ea typeface="Malgun Gothic" pitchFamily="34" charset="-122"/>
                <a:cs typeface="Malgun Gothic" pitchFamily="34" charset="-120"/>
              </a:rPr>
              <a:t>점심에</a:t>
            </a:r>
            <a:endParaRPr lang="en-US" sz="1800" dirty="0"/>
          </a:p>
        </p:txBody>
      </p:sp>
      <p:sp>
        <p:nvSpPr>
          <p:cNvPr id="46"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24" grpId="0" animBg="1"/>
      <p:bldP spid="31" grpId="0" animBg="1"/>
      <p:bldP spid="38" grpId="0" animBg="1"/>
      <p:bldP spid="4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들어 봐요  </a:t>
            </a:r>
            <a:r>
              <a:rPr lang="ko-KR" altLang="en-US" sz="3000" b="1" dirty="0">
                <a:solidFill>
                  <a:srgbClr val="003478"/>
                </a:solidFill>
                <a:latin typeface="Malgun Gothic" pitchFamily="34" charset="0"/>
                <a:ea typeface="Malgun Gothic" pitchFamily="34" charset="-122"/>
                <a:cs typeface="Malgun Gothic" pitchFamily="34" charset="-120"/>
              </a:rPr>
              <a:t>¿내일 </a:t>
            </a:r>
            <a:r>
              <a:rPr lang="en-US" sz="3000" b="1" dirty="0">
                <a:solidFill>
                  <a:srgbClr val="003478"/>
                </a:solidFill>
              </a:rPr>
              <a:t>o </a:t>
            </a:r>
            <a:r>
              <a:rPr lang="ko-KR" altLang="en-US" sz="3000" b="1" dirty="0">
                <a:solidFill>
                  <a:srgbClr val="003478"/>
                </a:solidFill>
                <a:latin typeface="Malgun Gothic" pitchFamily="34" charset="0"/>
                <a:ea typeface="Malgun Gothic" pitchFamily="34" charset="-122"/>
                <a:cs typeface="Malgun Gothic" pitchFamily="34" charset="-120"/>
              </a:rPr>
              <a:t>매일</a:t>
            </a:r>
            <a:r>
              <a:rPr lang="en-US" sz="3000" b="1" dirty="0">
                <a:solidFill>
                  <a:srgbClr val="003478"/>
                </a:solidFill>
              </a:rPr>
              <a:t>?</a:t>
            </a:r>
            <a:r>
              <a:rPr lang="ko-KR" altLang="en-US" sz="1500" b="1" i="1" dirty="0">
                <a:solidFill>
                  <a:srgbClr val="8A8DA0"/>
                </a:solidFill>
              </a:rPr>
              <a:t>   내일 or 매일?</a:t>
            </a:r>
            <a:endParaRPr lang="en-US" sz="3000" dirty="0"/>
          </a:p>
        </p:txBody>
      </p:sp>
      <p:sp>
        <p:nvSpPr>
          <p:cNvPr id="3" name="Text 1"/>
          <p:cNvSpPr txBox="1"/>
          <p:nvPr/>
        </p:nvSpPr>
        <p:spPr>
          <a:xfrm>
            <a:off x="548640" y="1325880"/>
            <a:ext cx="11091672"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Suenan casi igual: ㄴ </a:t>
            </a:r>
            <a:r>
              <a:rPr lang="en-US" sz="1800" i="1" dirty="0">
                <a:solidFill>
                  <a:srgbClr val="4236F6"/>
                </a:solidFill>
              </a:rPr>
              <a:t>= mañana · </a:t>
            </a:r>
            <a:r>
              <a:rPr lang="ko-KR" altLang="en-US" sz="1800" i="1" dirty="0">
                <a:solidFill>
                  <a:srgbClr val="4236F6"/>
                </a:solidFill>
                <a:latin typeface="Malgun Gothic" pitchFamily="34" charset="0"/>
                <a:ea typeface="Malgun Gothic" pitchFamily="34" charset="-122"/>
                <a:cs typeface="Malgun Gothic" pitchFamily="34" charset="-120"/>
              </a:rPr>
              <a:t>ㅁ </a:t>
            </a:r>
            <a:r>
              <a:rPr lang="en-US" sz="1800" i="1" dirty="0">
                <a:solidFill>
                  <a:srgbClr val="4236F6"/>
                </a:solidFill>
              </a:rPr>
              <a:t>= todos los días · Escucha a Jay y escribe en el chat: 1 = </a:t>
            </a:r>
            <a:r>
              <a:rPr lang="ko-KR" altLang="en-US" sz="1800" i="1" dirty="0">
                <a:solidFill>
                  <a:srgbClr val="4236F6"/>
                </a:solidFill>
                <a:latin typeface="Malgun Gothic" pitchFamily="34" charset="0"/>
                <a:ea typeface="Malgun Gothic" pitchFamily="34" charset="-122"/>
                <a:cs typeface="Malgun Gothic" pitchFamily="34" charset="-120"/>
              </a:rPr>
              <a:t>내일 </a:t>
            </a:r>
            <a:r>
              <a:rPr lang="en-US" sz="1800" i="1" dirty="0">
                <a:solidFill>
                  <a:srgbClr val="4236F6"/>
                </a:solidFill>
              </a:rPr>
              <a:t>· 2 = </a:t>
            </a:r>
            <a:r>
              <a:rPr lang="ko-KR" altLang="en-US" sz="1800" i="1" dirty="0">
                <a:solidFill>
                  <a:srgbClr val="4236F6"/>
                </a:solidFill>
                <a:latin typeface="Malgun Gothic" pitchFamily="34" charset="0"/>
                <a:ea typeface="Malgun Gothic" pitchFamily="34" charset="-122"/>
                <a:cs typeface="Malgun Gothic" pitchFamily="34" charset="-120"/>
              </a:rPr>
              <a:t>매일 </a:t>
            </a:r>
            <a:r>
              <a:rPr lang="en-US" sz="1800" i="1" dirty="0">
                <a:solidFill>
                  <a:srgbClr val="4236F6"/>
                </a:solidFill>
              </a:rPr>
              <a:t>(o dilo en voz alta)</a:t>
            </a:r>
            <a:endParaRPr lang="en-US" sz="1800" dirty="0"/>
          </a:p>
        </p:txBody>
      </p:sp>
      <p:sp>
        <p:nvSpPr>
          <p:cNvPr id="4" name="num_0"/>
          <p:cNvSpPr/>
          <p:nvPr/>
        </p:nvSpPr>
        <p:spPr>
          <a:xfrm>
            <a:off x="548640" y="2034540"/>
            <a:ext cx="457200" cy="457200"/>
          </a:xfrm>
          <a:prstGeom prst="ellipse">
            <a:avLst/>
          </a:prstGeom>
          <a:solidFill>
            <a:srgbClr val="003478"/>
          </a:solidFill>
          <a:ln w="12700">
            <a:solidFill>
              <a:srgbClr val="003478"/>
            </a:solidFill>
            <a:prstDash val="solid"/>
          </a:ln>
        </p:spPr>
      </p:sp>
      <p:sp>
        <p:nvSpPr>
          <p:cNvPr id="5" name="Text 3"/>
          <p:cNvSpPr txBox="1"/>
          <p:nvPr/>
        </p:nvSpPr>
        <p:spPr>
          <a:xfrm>
            <a:off x="548640" y="203454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1</a:t>
            </a:r>
            <a:endParaRPr lang="en-US" sz="1600" dirty="0"/>
          </a:p>
        </p:txBody>
      </p:sp>
      <p:sp>
        <p:nvSpPr>
          <p:cNvPr id="6" name="Text 4"/>
          <p:cNvSpPr txBox="1"/>
          <p:nvPr/>
        </p:nvSpPr>
        <p:spPr>
          <a:xfrm>
            <a:off x="1188720" y="196596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___ 운동해요</a:t>
            </a:r>
            <a:r>
              <a:rPr lang="en-US" sz="2400" dirty="0">
                <a:solidFill>
                  <a:srgbClr val="14142B"/>
                </a:solidFill>
              </a:rPr>
              <a:t>.</a:t>
            </a:r>
            <a:endParaRPr lang="en-US" sz="2400" dirty="0"/>
          </a:p>
        </p:txBody>
      </p:sp>
      <p:sp>
        <p:nvSpPr>
          <p:cNvPr id="7" name="rev_31_caja"/>
          <p:cNvSpPr/>
          <p:nvPr/>
        </p:nvSpPr>
        <p:spPr>
          <a:xfrm>
            <a:off x="7498080" y="2002536"/>
            <a:ext cx="4142232" cy="521208"/>
          </a:xfrm>
          <a:prstGeom prst="roundRect">
            <a:avLst>
              <a:gd name="adj" fmla="val 21053"/>
            </a:avLst>
          </a:prstGeom>
          <a:solidFill>
            <a:srgbClr val="4236F6"/>
          </a:solidFill>
          <a:ln w="12700">
            <a:solidFill>
              <a:srgbClr val="4236F6"/>
            </a:solidFill>
            <a:prstDash val="solid"/>
          </a:ln>
        </p:spPr>
      </p:sp>
      <p:sp>
        <p:nvSpPr>
          <p:cNvPr id="8" name="rev_31_txt"/>
          <p:cNvSpPr txBox="1"/>
          <p:nvPr/>
        </p:nvSpPr>
        <p:spPr>
          <a:xfrm>
            <a:off x="7589520" y="200253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내일 운동해요</a:t>
            </a:r>
            <a:r>
              <a:rPr lang="en-US" sz="2200" b="1" dirty="0">
                <a:solidFill>
                  <a:srgbClr val="FFFFFF"/>
                </a:solidFill>
              </a:rPr>
              <a:t>.</a:t>
            </a:r>
            <a:endParaRPr lang="en-US" sz="2200" dirty="0"/>
          </a:p>
        </p:txBody>
      </p:sp>
      <p:sp>
        <p:nvSpPr>
          <p:cNvPr id="9" name="num_1"/>
          <p:cNvSpPr/>
          <p:nvPr/>
        </p:nvSpPr>
        <p:spPr>
          <a:xfrm>
            <a:off x="548640" y="2756916"/>
            <a:ext cx="457200" cy="457200"/>
          </a:xfrm>
          <a:prstGeom prst="ellipse">
            <a:avLst/>
          </a:prstGeom>
          <a:solidFill>
            <a:srgbClr val="003478"/>
          </a:solidFill>
          <a:ln w="12700">
            <a:solidFill>
              <a:srgbClr val="003478"/>
            </a:solidFill>
            <a:prstDash val="solid"/>
          </a:ln>
        </p:spPr>
      </p:sp>
      <p:sp>
        <p:nvSpPr>
          <p:cNvPr id="10" name="Text 8"/>
          <p:cNvSpPr txBox="1"/>
          <p:nvPr/>
        </p:nvSpPr>
        <p:spPr>
          <a:xfrm>
            <a:off x="548640" y="2756916"/>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2</a:t>
            </a:r>
            <a:endParaRPr lang="en-US" sz="1600" dirty="0"/>
          </a:p>
        </p:txBody>
      </p:sp>
      <p:sp>
        <p:nvSpPr>
          <p:cNvPr id="11" name="Text 9"/>
          <p:cNvSpPr txBox="1"/>
          <p:nvPr/>
        </p:nvSpPr>
        <p:spPr>
          <a:xfrm>
            <a:off x="1188720" y="2688336"/>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___ 커피를 마셔요</a:t>
            </a:r>
            <a:r>
              <a:rPr lang="en-US" sz="2400" dirty="0">
                <a:solidFill>
                  <a:srgbClr val="14142B"/>
                </a:solidFill>
              </a:rPr>
              <a:t>.</a:t>
            </a:r>
            <a:endParaRPr lang="en-US" sz="2400" dirty="0"/>
          </a:p>
        </p:txBody>
      </p:sp>
      <p:sp>
        <p:nvSpPr>
          <p:cNvPr id="12" name="rev_32_caja"/>
          <p:cNvSpPr/>
          <p:nvPr/>
        </p:nvSpPr>
        <p:spPr>
          <a:xfrm>
            <a:off x="7498080" y="2724912"/>
            <a:ext cx="4142232" cy="521208"/>
          </a:xfrm>
          <a:prstGeom prst="roundRect">
            <a:avLst>
              <a:gd name="adj" fmla="val 21053"/>
            </a:avLst>
          </a:prstGeom>
          <a:solidFill>
            <a:srgbClr val="4236F6"/>
          </a:solidFill>
          <a:ln w="12700">
            <a:solidFill>
              <a:srgbClr val="4236F6"/>
            </a:solidFill>
            <a:prstDash val="solid"/>
          </a:ln>
        </p:spPr>
      </p:sp>
      <p:sp>
        <p:nvSpPr>
          <p:cNvPr id="13" name="rev_32_txt"/>
          <p:cNvSpPr txBox="1"/>
          <p:nvPr/>
        </p:nvSpPr>
        <p:spPr>
          <a:xfrm>
            <a:off x="7589520" y="2724912"/>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매일 커피를 마셔요</a:t>
            </a:r>
            <a:r>
              <a:rPr lang="en-US" sz="2200" b="1" dirty="0">
                <a:solidFill>
                  <a:srgbClr val="FFFFFF"/>
                </a:solidFill>
              </a:rPr>
              <a:t>.</a:t>
            </a:r>
            <a:endParaRPr lang="en-US" sz="2200" dirty="0"/>
          </a:p>
        </p:txBody>
      </p:sp>
      <p:sp>
        <p:nvSpPr>
          <p:cNvPr id="14" name="num_2"/>
          <p:cNvSpPr/>
          <p:nvPr/>
        </p:nvSpPr>
        <p:spPr>
          <a:xfrm>
            <a:off x="548640" y="3479292"/>
            <a:ext cx="457200" cy="457200"/>
          </a:xfrm>
          <a:prstGeom prst="ellipse">
            <a:avLst/>
          </a:prstGeom>
          <a:solidFill>
            <a:srgbClr val="003478"/>
          </a:solidFill>
          <a:ln w="12700">
            <a:solidFill>
              <a:srgbClr val="003478"/>
            </a:solidFill>
            <a:prstDash val="solid"/>
          </a:ln>
        </p:spPr>
      </p:sp>
      <p:sp>
        <p:nvSpPr>
          <p:cNvPr id="15" name="Text 13"/>
          <p:cNvSpPr txBox="1"/>
          <p:nvPr/>
        </p:nvSpPr>
        <p:spPr>
          <a:xfrm>
            <a:off x="548640" y="3479292"/>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3</a:t>
            </a:r>
            <a:endParaRPr lang="en-US" sz="1600" dirty="0"/>
          </a:p>
        </p:txBody>
      </p:sp>
      <p:sp>
        <p:nvSpPr>
          <p:cNvPr id="16" name="Text 14"/>
          <p:cNvSpPr txBox="1"/>
          <p:nvPr/>
        </p:nvSpPr>
        <p:spPr>
          <a:xfrm>
            <a:off x="1188720" y="3410712"/>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___ 한국어를 공부해요</a:t>
            </a:r>
            <a:r>
              <a:rPr lang="en-US" sz="2400" dirty="0">
                <a:solidFill>
                  <a:srgbClr val="14142B"/>
                </a:solidFill>
              </a:rPr>
              <a:t>.</a:t>
            </a:r>
            <a:endParaRPr lang="en-US" sz="2400" dirty="0"/>
          </a:p>
        </p:txBody>
      </p:sp>
      <p:sp>
        <p:nvSpPr>
          <p:cNvPr id="17" name="rev_33_caja"/>
          <p:cNvSpPr/>
          <p:nvPr/>
        </p:nvSpPr>
        <p:spPr>
          <a:xfrm>
            <a:off x="7498080" y="3447288"/>
            <a:ext cx="4142232" cy="521208"/>
          </a:xfrm>
          <a:prstGeom prst="roundRect">
            <a:avLst>
              <a:gd name="adj" fmla="val 21053"/>
            </a:avLst>
          </a:prstGeom>
          <a:solidFill>
            <a:srgbClr val="4236F6"/>
          </a:solidFill>
          <a:ln w="12700">
            <a:solidFill>
              <a:srgbClr val="4236F6"/>
            </a:solidFill>
            <a:prstDash val="solid"/>
          </a:ln>
        </p:spPr>
      </p:sp>
      <p:sp>
        <p:nvSpPr>
          <p:cNvPr id="18" name="rev_33_txt"/>
          <p:cNvSpPr txBox="1"/>
          <p:nvPr/>
        </p:nvSpPr>
        <p:spPr>
          <a:xfrm>
            <a:off x="7589520" y="3447288"/>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매일 한국어를 공부해요</a:t>
            </a:r>
            <a:r>
              <a:rPr lang="en-US" sz="2200" b="1" dirty="0">
                <a:solidFill>
                  <a:srgbClr val="FFFFFF"/>
                </a:solidFill>
              </a:rPr>
              <a:t>.</a:t>
            </a:r>
            <a:endParaRPr lang="en-US" sz="2200" dirty="0"/>
          </a:p>
        </p:txBody>
      </p:sp>
      <p:sp>
        <p:nvSpPr>
          <p:cNvPr id="19" name="num_3"/>
          <p:cNvSpPr/>
          <p:nvPr/>
        </p:nvSpPr>
        <p:spPr>
          <a:xfrm>
            <a:off x="548640" y="4201668"/>
            <a:ext cx="457200" cy="457200"/>
          </a:xfrm>
          <a:prstGeom prst="ellipse">
            <a:avLst/>
          </a:prstGeom>
          <a:solidFill>
            <a:srgbClr val="003478"/>
          </a:solidFill>
          <a:ln w="12700">
            <a:solidFill>
              <a:srgbClr val="003478"/>
            </a:solidFill>
            <a:prstDash val="solid"/>
          </a:ln>
        </p:spPr>
      </p:sp>
      <p:sp>
        <p:nvSpPr>
          <p:cNvPr id="20" name="Text 18"/>
          <p:cNvSpPr txBox="1"/>
          <p:nvPr/>
        </p:nvSpPr>
        <p:spPr>
          <a:xfrm>
            <a:off x="548640" y="4201668"/>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4</a:t>
            </a:r>
            <a:endParaRPr lang="en-US" sz="1600" dirty="0"/>
          </a:p>
        </p:txBody>
      </p:sp>
      <p:sp>
        <p:nvSpPr>
          <p:cNvPr id="21" name="Text 19"/>
          <p:cNvSpPr txBox="1"/>
          <p:nvPr/>
        </p:nvSpPr>
        <p:spPr>
          <a:xfrm>
            <a:off x="1188720" y="4133088"/>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___ 회사에 가요</a:t>
            </a:r>
            <a:r>
              <a:rPr lang="en-US" sz="2400" dirty="0">
                <a:solidFill>
                  <a:srgbClr val="14142B"/>
                </a:solidFill>
              </a:rPr>
              <a:t>.</a:t>
            </a:r>
            <a:endParaRPr lang="en-US" sz="2400" dirty="0"/>
          </a:p>
        </p:txBody>
      </p:sp>
      <p:sp>
        <p:nvSpPr>
          <p:cNvPr id="22" name="rev_34_caja"/>
          <p:cNvSpPr/>
          <p:nvPr/>
        </p:nvSpPr>
        <p:spPr>
          <a:xfrm>
            <a:off x="7498080" y="4169664"/>
            <a:ext cx="4142232" cy="521208"/>
          </a:xfrm>
          <a:prstGeom prst="roundRect">
            <a:avLst>
              <a:gd name="adj" fmla="val 21053"/>
            </a:avLst>
          </a:prstGeom>
          <a:solidFill>
            <a:srgbClr val="4236F6"/>
          </a:solidFill>
          <a:ln w="12700">
            <a:solidFill>
              <a:srgbClr val="4236F6"/>
            </a:solidFill>
            <a:prstDash val="solid"/>
          </a:ln>
        </p:spPr>
      </p:sp>
      <p:sp>
        <p:nvSpPr>
          <p:cNvPr id="23" name="rev_34_txt"/>
          <p:cNvSpPr txBox="1"/>
          <p:nvPr/>
        </p:nvSpPr>
        <p:spPr>
          <a:xfrm>
            <a:off x="7589520" y="4169664"/>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내일 회사에 가요</a:t>
            </a:r>
            <a:r>
              <a:rPr lang="en-US" sz="2200" b="1" dirty="0">
                <a:solidFill>
                  <a:srgbClr val="FFFFFF"/>
                </a:solidFill>
              </a:rPr>
              <a:t>.</a:t>
            </a:r>
            <a:endParaRPr lang="en-US" sz="2200" dirty="0"/>
          </a:p>
        </p:txBody>
      </p:sp>
      <p:sp>
        <p:nvSpPr>
          <p:cNvPr id="24" name="num_4"/>
          <p:cNvSpPr/>
          <p:nvPr/>
        </p:nvSpPr>
        <p:spPr>
          <a:xfrm>
            <a:off x="548640" y="4924044"/>
            <a:ext cx="457200" cy="457200"/>
          </a:xfrm>
          <a:prstGeom prst="ellipse">
            <a:avLst/>
          </a:prstGeom>
          <a:solidFill>
            <a:srgbClr val="003478"/>
          </a:solidFill>
          <a:ln w="12700">
            <a:solidFill>
              <a:srgbClr val="003478"/>
            </a:solidFill>
            <a:prstDash val="solid"/>
          </a:ln>
        </p:spPr>
      </p:sp>
      <p:sp>
        <p:nvSpPr>
          <p:cNvPr id="25" name="Text 23"/>
          <p:cNvSpPr txBox="1"/>
          <p:nvPr/>
        </p:nvSpPr>
        <p:spPr>
          <a:xfrm>
            <a:off x="548640" y="4924044"/>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5</a:t>
            </a:r>
            <a:endParaRPr lang="en-US" sz="1600" dirty="0"/>
          </a:p>
        </p:txBody>
      </p:sp>
      <p:sp>
        <p:nvSpPr>
          <p:cNvPr id="26" name="Text 24"/>
          <p:cNvSpPr txBox="1"/>
          <p:nvPr/>
        </p:nvSpPr>
        <p:spPr>
          <a:xfrm>
            <a:off x="1188720" y="4855464"/>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___ 아침에 수영해요</a:t>
            </a:r>
            <a:r>
              <a:rPr lang="en-US" sz="2400" dirty="0">
                <a:solidFill>
                  <a:srgbClr val="14142B"/>
                </a:solidFill>
              </a:rPr>
              <a:t>.</a:t>
            </a:r>
            <a:endParaRPr lang="en-US" sz="2400" dirty="0"/>
          </a:p>
        </p:txBody>
      </p:sp>
      <p:sp>
        <p:nvSpPr>
          <p:cNvPr id="27" name="rev_35_caja"/>
          <p:cNvSpPr/>
          <p:nvPr/>
        </p:nvSpPr>
        <p:spPr>
          <a:xfrm>
            <a:off x="7498080" y="4892040"/>
            <a:ext cx="4142232" cy="521208"/>
          </a:xfrm>
          <a:prstGeom prst="roundRect">
            <a:avLst>
              <a:gd name="adj" fmla="val 21053"/>
            </a:avLst>
          </a:prstGeom>
          <a:solidFill>
            <a:srgbClr val="4236F6"/>
          </a:solidFill>
          <a:ln w="12700">
            <a:solidFill>
              <a:srgbClr val="4236F6"/>
            </a:solidFill>
            <a:prstDash val="solid"/>
          </a:ln>
        </p:spPr>
      </p:sp>
      <p:sp>
        <p:nvSpPr>
          <p:cNvPr id="28" name="rev_35_txt"/>
          <p:cNvSpPr txBox="1"/>
          <p:nvPr/>
        </p:nvSpPr>
        <p:spPr>
          <a:xfrm>
            <a:off x="7589520" y="4892040"/>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내일 아침에 수영해요</a:t>
            </a:r>
            <a:r>
              <a:rPr lang="en-US" sz="2200" b="1" dirty="0">
                <a:solidFill>
                  <a:srgbClr val="FFFFFF"/>
                </a:solidFill>
              </a:rPr>
              <a:t>.</a:t>
            </a:r>
            <a:endParaRPr lang="en-US" sz="2200" dirty="0"/>
          </a:p>
        </p:txBody>
      </p:sp>
      <p:sp>
        <p:nvSpPr>
          <p:cNvPr id="29" name="num_5"/>
          <p:cNvSpPr/>
          <p:nvPr/>
        </p:nvSpPr>
        <p:spPr>
          <a:xfrm>
            <a:off x="548640" y="5646420"/>
            <a:ext cx="457200" cy="457200"/>
          </a:xfrm>
          <a:prstGeom prst="ellipse">
            <a:avLst/>
          </a:prstGeom>
          <a:solidFill>
            <a:srgbClr val="003478"/>
          </a:solidFill>
          <a:ln w="12700">
            <a:solidFill>
              <a:srgbClr val="003478"/>
            </a:solidFill>
            <a:prstDash val="solid"/>
          </a:ln>
        </p:spPr>
      </p:sp>
      <p:sp>
        <p:nvSpPr>
          <p:cNvPr id="30" name="Text 28"/>
          <p:cNvSpPr txBox="1"/>
          <p:nvPr/>
        </p:nvSpPr>
        <p:spPr>
          <a:xfrm>
            <a:off x="548640" y="5646420"/>
            <a:ext cx="457200" cy="457200"/>
          </a:xfrm>
          <a:prstGeom prst="rect">
            <a:avLst/>
          </a:prstGeom>
          <a:noFill/>
          <a:ln/>
        </p:spPr>
        <p:txBody>
          <a:bodyPr wrap="square" lIns="0" tIns="0" rIns="0" bIns="0" rtlCol="0" anchor="ctr">
            <a:normAutofit/>
          </a:bodyPr>
          <a:lstStyle/>
          <a:p>
            <a:pPr marL="0" indent="0" algn="ctr" eaLnBrk="1">
              <a:buNone/>
            </a:pPr>
            <a:r>
              <a:rPr lang="en-US" sz="1600" b="1" dirty="0">
                <a:solidFill>
                  <a:srgbClr val="FFFFFF"/>
                </a:solidFill>
              </a:rPr>
              <a:t>6</a:t>
            </a:r>
            <a:endParaRPr lang="en-US" sz="1600" dirty="0"/>
          </a:p>
        </p:txBody>
      </p:sp>
      <p:sp>
        <p:nvSpPr>
          <p:cNvPr id="31" name="Text 29"/>
          <p:cNvSpPr txBox="1"/>
          <p:nvPr/>
        </p:nvSpPr>
        <p:spPr>
          <a:xfrm>
            <a:off x="1188720" y="5577840"/>
            <a:ext cx="6080760" cy="594360"/>
          </a:xfrm>
          <a:prstGeom prst="rect">
            <a:avLst/>
          </a:prstGeom>
          <a:noFill/>
          <a:ln/>
        </p:spPr>
        <p:txBody>
          <a:bodyPr wrap="square" lIns="0" tIns="0" rIns="0" bIns="0" rtlCol="0" anchor="ctr">
            <a:normAutofit/>
          </a:bodyPr>
          <a:lstStyle/>
          <a:p>
            <a:pPr marL="0" indent="0" eaLnBrk="1">
              <a:buNone/>
            </a:pPr>
            <a:r>
              <a:rPr lang="ko-KR" altLang="en-US" sz="2400" dirty="0">
                <a:solidFill>
                  <a:srgbClr val="14142B"/>
                </a:solidFill>
                <a:latin typeface="Malgun Gothic" pitchFamily="34" charset="0"/>
                <a:ea typeface="Malgun Gothic" pitchFamily="34" charset="-122"/>
                <a:cs typeface="Malgun Gothic" pitchFamily="34" charset="-120"/>
              </a:rPr>
              <a:t>___ 저녁에 요리해요</a:t>
            </a:r>
            <a:r>
              <a:rPr lang="en-US" sz="2400" dirty="0">
                <a:solidFill>
                  <a:srgbClr val="14142B"/>
                </a:solidFill>
              </a:rPr>
              <a:t>.</a:t>
            </a:r>
            <a:endParaRPr lang="en-US" sz="2400" dirty="0"/>
          </a:p>
        </p:txBody>
      </p:sp>
      <p:sp>
        <p:nvSpPr>
          <p:cNvPr id="32" name="rev_36_caja"/>
          <p:cNvSpPr/>
          <p:nvPr/>
        </p:nvSpPr>
        <p:spPr>
          <a:xfrm>
            <a:off x="7498080" y="5614416"/>
            <a:ext cx="4142232" cy="521208"/>
          </a:xfrm>
          <a:prstGeom prst="roundRect">
            <a:avLst>
              <a:gd name="adj" fmla="val 21053"/>
            </a:avLst>
          </a:prstGeom>
          <a:solidFill>
            <a:srgbClr val="4236F6"/>
          </a:solidFill>
          <a:ln w="12700">
            <a:solidFill>
              <a:srgbClr val="4236F6"/>
            </a:solidFill>
            <a:prstDash val="solid"/>
          </a:ln>
        </p:spPr>
      </p:sp>
      <p:sp>
        <p:nvSpPr>
          <p:cNvPr id="33" name="rev_36_txt"/>
          <p:cNvSpPr txBox="1"/>
          <p:nvPr/>
        </p:nvSpPr>
        <p:spPr>
          <a:xfrm>
            <a:off x="7589520" y="5614416"/>
            <a:ext cx="3959352" cy="521208"/>
          </a:xfrm>
          <a:prstGeom prst="rect">
            <a:avLst/>
          </a:prstGeom>
          <a:noFill/>
          <a:ln/>
        </p:spPr>
        <p:txBody>
          <a:bodyPr wrap="square" lIns="0" tIns="0" rIns="0" bIns="0" rtlCol="0" anchor="ctr">
            <a:normAutofit/>
          </a:bodyPr>
          <a:lstStyle/>
          <a:p>
            <a:pPr marL="0" indent="0" algn="ctr" eaLnBrk="1">
              <a:buNone/>
            </a:pPr>
            <a:r>
              <a:rPr lang="ko-KR" altLang="en-US" sz="2200" b="1" dirty="0">
                <a:solidFill>
                  <a:srgbClr val="FFFFFF"/>
                </a:solidFill>
                <a:latin typeface="Malgun Gothic" pitchFamily="34" charset="0"/>
                <a:ea typeface="Malgun Gothic" pitchFamily="34" charset="-122"/>
                <a:cs typeface="Malgun Gothic" pitchFamily="34" charset="-120"/>
              </a:rPr>
              <a:t>매일 저녁에 요리해요</a:t>
            </a:r>
            <a:r>
              <a:rPr lang="en-US" sz="2200" b="1" dirty="0">
                <a:solidFill>
                  <a:srgbClr val="FFFFFF"/>
                </a:solidFill>
              </a:rPr>
              <a:t>.</a:t>
            </a:r>
            <a:endParaRPr lang="en-US" sz="22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8" grpId="0" animBg="1"/>
      <p:bldP spid="23" grpId="0" animBg="1"/>
      <p:bldP spid="28" grpId="0" animBg="1"/>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언제 </a:t>
            </a:r>
            <a:r>
              <a:rPr lang="en-US" sz="3000" b="1" dirty="0">
                <a:solidFill>
                  <a:srgbClr val="4236F6"/>
                </a:solidFill>
              </a:rPr>
              <a:t>___?  </a:t>
            </a:r>
            <a:r>
              <a:rPr lang="en-US" sz="3000" b="1" dirty="0">
                <a:solidFill>
                  <a:srgbClr val="003478"/>
                </a:solidFill>
              </a:rPr>
              <a:t>Drill en cadena</a:t>
            </a:r>
            <a:r>
              <a:rPr lang="en-US" sz="1500" b="1" i="1" dirty="0">
                <a:solidFill>
                  <a:srgbClr val="8A8DA0"/>
                </a:solidFill>
              </a:rPr>
              <a:t>   Chain drill</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Responde la verdad y pregúntale al siguiente</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Jay pregunta: ___ 씨</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언제 운동해요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Respondes la verdad: 저녁에 운동해요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주말에 운동해요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Y preguntas al siguiente con otra actividad: ___ 씨</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언제 </a:t>
            </a:r>
            <a:r>
              <a:rPr lang="en-US" sz="2200" dirty="0">
                <a:solidFill>
                  <a:srgbClr val="14142B"/>
                </a:solidFill>
              </a:rPr>
              <a:t>___?</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Actividades: 요리해요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커피를 마셔요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일해요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쉬어요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자요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Más: 드라마를 봐요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음악을 들어요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책을 읽어요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일어나요</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Momentos: 아침에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점심에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저녁에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밤에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주말에 </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매일</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언제</a:t>
            </a:r>
            <a:endParaRPr lang="en-US" sz="8600" dirty="0"/>
          </a:p>
          <a:p>
            <a:pPr marL="0" indent="0" algn="ctr" eaLnBrk="1">
              <a:buNone/>
            </a:pPr>
            <a:r>
              <a:rPr lang="en-US" sz="8600" b="1" dirty="0">
                <a:solidFill>
                  <a:srgbClr val="4236F6"/>
                </a:solidFill>
              </a:rPr>
              <a:t>___?</a:t>
            </a:r>
            <a:endParaRPr lang="en-US" sz="8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이야기해요  </a:t>
            </a:r>
            <a:r>
              <a:rPr lang="en-US" sz="3000" b="1" dirty="0">
                <a:solidFill>
                  <a:srgbClr val="003478"/>
                </a:solidFill>
              </a:rPr>
              <a:t>Sala, parte 1: ¿cuándo lo haces?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En parejas · 8 minutos · cámara encendida</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000" dirty="0">
                <a:solidFill>
                  <a:srgbClr val="14142B"/>
                </a:solidFill>
              </a:rPr>
              <a:t>Abran la hoja de la clase 4: «Para la sala» (12 actividades)</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A pregunta: ___ 씨</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언제 운동해요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B responde la verdad: 저녁에 운동해요</a:t>
            </a:r>
            <a:r>
              <a:rPr lang="en-US" sz="2000" dirty="0">
                <a:solidFill>
                  <a:srgbClr val="14142B"/>
                </a:solidFill>
              </a:rPr>
              <a:t>. / </a:t>
            </a:r>
            <a:r>
              <a:rPr lang="ko-KR" altLang="en-US" sz="2000" dirty="0">
                <a:solidFill>
                  <a:srgbClr val="14142B"/>
                </a:solidFill>
                <a:latin typeface="Malgun Gothic" pitchFamily="34" charset="0"/>
                <a:ea typeface="Malgun Gothic" pitchFamily="34" charset="-122"/>
                <a:cs typeface="Malgun Gothic" pitchFamily="34" charset="-120"/>
              </a:rPr>
              <a:t>매일 운동해요</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A anota la respuesta en la tabla «Mi compañero»</a:t>
            </a:r>
            <a:endParaRPr lang="en-US" sz="2000" dirty="0"/>
          </a:p>
          <a:p>
            <a:pPr marL="228600" indent="-228600" eaLnBrk="1">
              <a:spcAft>
                <a:spcPts val="800"/>
              </a:spcAft>
              <a:buSzPct val="100000"/>
              <a:buChar char="•"/>
            </a:pPr>
            <a:r>
              <a:rPr lang="en-US" sz="2000" dirty="0">
                <a:solidFill>
                  <a:srgbClr val="14142B"/>
                </a:solidFill>
              </a:rPr>
              <a:t>A hace 4 preguntas · cambian (B pregunta 4) · ¿sobra tiempo? 2 más cada uno</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¿No lo haces nunca? Di «안 해요</a:t>
            </a:r>
            <a:r>
              <a:rPr lang="en-US" sz="2000" dirty="0">
                <a:solidFill>
                  <a:srgbClr val="14142B"/>
                </a:solidFill>
              </a:rPr>
              <a:t>!» y A elige otra actividad</a:t>
            </a:r>
            <a:endParaRPr lang="en-US" sz="20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4600" b="1" dirty="0">
                <a:solidFill>
                  <a:srgbClr val="4236F6"/>
                </a:solidFill>
                <a:latin typeface="Malgun Gothic" pitchFamily="34" charset="0"/>
                <a:ea typeface="Malgun Gothic" pitchFamily="34" charset="-122"/>
                <a:cs typeface="Malgun Gothic" pitchFamily="34" charset="-120"/>
              </a:rPr>
              <a:t>이야기해요</a:t>
            </a:r>
            <a:endParaRPr lang="en-US" sz="4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601200" y="4983480"/>
            <a:ext cx="384048" cy="384048"/>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같이 해요  </a:t>
            </a:r>
            <a:r>
              <a:rPr lang="en-US" sz="3000" b="1" dirty="0">
                <a:solidFill>
                  <a:srgbClr val="003478"/>
                </a:solidFill>
              </a:rPr>
              <a:t>Sala, parte 2: cadena de memoria</a:t>
            </a:r>
            <a:endParaRPr lang="en-US" sz="3000" dirty="0"/>
          </a:p>
        </p:txBody>
      </p:sp>
      <p:sp>
        <p:nvSpPr>
          <p:cNvPr id="3" name="Text 1"/>
          <p:cNvSpPr txBox="1"/>
          <p:nvPr/>
        </p:nvSpPr>
        <p:spPr>
          <a:xfrm>
            <a:off x="548640" y="1325880"/>
            <a:ext cx="5669280" cy="548640"/>
          </a:xfrm>
          <a:prstGeom prst="rect">
            <a:avLst/>
          </a:prstGeom>
          <a:noFill/>
          <a:ln/>
        </p:spPr>
        <p:txBody>
          <a:bodyPr wrap="square" lIns="0" tIns="0" rIns="0" bIns="0" rtlCol="0" anchor="t">
            <a:normAutofit/>
          </a:bodyPr>
          <a:lstStyle/>
          <a:p>
            <a:pPr marL="0" indent="0" eaLnBrk="1">
              <a:buNone/>
            </a:pPr>
            <a:r>
              <a:rPr lang="ko-KR" altLang="en-US" sz="1800" i="1" dirty="0">
                <a:solidFill>
                  <a:srgbClr val="4236F6"/>
                </a:solidFill>
                <a:latin typeface="Malgun Gothic" pitchFamily="34" charset="0"/>
                <a:ea typeface="Malgun Gothic" pitchFamily="34" charset="-122"/>
                <a:cs typeface="Malgun Gothic" pitchFamily="34" charset="-120"/>
              </a:rPr>
              <a:t>8 minutos · tema: 내일 뭘 해요</a:t>
            </a:r>
            <a:r>
              <a:rPr lang="en-US" sz="1800" i="1" dirty="0">
                <a:solidFill>
                  <a:srgbClr val="4236F6"/>
                </a:solidFill>
              </a:rPr>
              <a:t>?</a:t>
            </a:r>
            <a:endParaRPr lang="en-US" sz="1800" dirty="0"/>
          </a:p>
        </p:txBody>
      </p:sp>
      <p:sp>
        <p:nvSpPr>
          <p:cNvPr id="4" name="lista"/>
          <p:cNvSpPr txBox="1"/>
          <p:nvPr/>
        </p:nvSpPr>
        <p:spPr>
          <a:xfrm>
            <a:off x="548640" y="1965960"/>
            <a:ext cx="566928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A empieza: 저는 내일 일해요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B repite a A y agrega lo suyo: ___ 씨는 내일 일해요</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저는 내일 운동해요</a:t>
            </a:r>
            <a:r>
              <a:rPr lang="en-US" sz="2000" dirty="0">
                <a:solidFill>
                  <a:srgbClr val="14142B"/>
                </a:solidFill>
              </a:rPr>
              <a:t>.</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A repite todo y agrega una cosa nueva (vale con 아침에</a:t>
            </a:r>
            <a:r>
              <a:rPr lang="en-US" sz="2000" dirty="0">
                <a:solidFill>
                  <a:srgbClr val="14142B"/>
                </a:solidFill>
              </a:rPr>
              <a:t>, </a:t>
            </a:r>
            <a:r>
              <a:rPr lang="ko-KR" altLang="en-US" sz="2000" dirty="0">
                <a:solidFill>
                  <a:srgbClr val="14142B"/>
                </a:solidFill>
                <a:latin typeface="Malgun Gothic" pitchFamily="34" charset="0"/>
                <a:ea typeface="Malgun Gothic" pitchFamily="34" charset="-122"/>
                <a:cs typeface="Malgun Gothic" pitchFamily="34" charset="-120"/>
              </a:rPr>
              <a:t>저녁에</a:t>
            </a:r>
            <a:r>
              <a:rPr lang="en-US" sz="2000" dirty="0">
                <a:solidFill>
                  <a:srgbClr val="14142B"/>
                </a:solidFill>
              </a:rPr>
              <a:t>…)</a:t>
            </a:r>
            <a:endParaRPr lang="en-US" sz="2000" dirty="0"/>
          </a:p>
          <a:p>
            <a:pPr marL="228600" indent="-228600" eaLnBrk="1">
              <a:spcAft>
                <a:spcPts val="800"/>
              </a:spcAft>
              <a:buSzPct val="100000"/>
              <a:buChar char="•"/>
            </a:pPr>
            <a:r>
              <a:rPr lang="en-US" sz="2000" dirty="0">
                <a:solidFill>
                  <a:srgbClr val="14142B"/>
                </a:solidFill>
              </a:rPr>
              <a:t>¿Olvidas algo o te quedas 5 segundos en silencio? La cadena vuelve a cero</a:t>
            </a:r>
            <a:endParaRPr lang="en-US" sz="2000" dirty="0"/>
          </a:p>
          <a:p>
            <a:pPr marL="228600" indent="-228600" eaLnBrk="1">
              <a:spcAft>
                <a:spcPts val="800"/>
              </a:spcAft>
              <a:buSzPct val="100000"/>
              <a:buChar char="•"/>
            </a:pPr>
            <a:r>
              <a:rPr lang="en-US" sz="2000" dirty="0">
                <a:solidFill>
                  <a:srgbClr val="14142B"/>
                </a:solidFill>
              </a:rPr>
              <a:t>Cuenten las frases: el récord de la sala va al chat cuando vuelvan</a:t>
            </a:r>
            <a:endParaRPr lang="en-US" sz="2000" dirty="0"/>
          </a:p>
          <a:p>
            <a:pPr marL="228600" indent="-228600" eaLnBrk="1">
              <a:spcAft>
                <a:spcPts val="800"/>
              </a:spcAft>
              <a:buSzPct val="100000"/>
              <a:buChar char="•"/>
            </a:pPr>
            <a:r>
              <a:rPr lang="ko-KR" altLang="en-US" sz="2000" dirty="0">
                <a:solidFill>
                  <a:srgbClr val="14142B"/>
                </a:solidFill>
                <a:latin typeface="Malgun Gothic" pitchFamily="34" charset="0"/>
                <a:ea typeface="Malgun Gothic" pitchFamily="34" charset="-122"/>
                <a:cs typeface="Malgun Gothic" pitchFamily="34" charset="-120"/>
              </a:rPr>
              <a:t>Ronda 2: 주말에 뭘 해요</a:t>
            </a:r>
            <a:r>
              <a:rPr lang="en-US" sz="2000" dirty="0">
                <a:solidFill>
                  <a:srgbClr val="14142B"/>
                </a:solidFill>
              </a:rPr>
              <a:t>? · Ronda 3: </a:t>
            </a:r>
            <a:r>
              <a:rPr lang="ko-KR" altLang="en-US" sz="2000" dirty="0">
                <a:solidFill>
                  <a:srgbClr val="14142B"/>
                </a:solidFill>
                <a:latin typeface="Malgun Gothic" pitchFamily="34" charset="0"/>
                <a:ea typeface="Malgun Gothic" pitchFamily="34" charset="-122"/>
                <a:cs typeface="Malgun Gothic" pitchFamily="34" charset="-120"/>
              </a:rPr>
              <a:t>저녁에 뭘 해요</a:t>
            </a:r>
            <a:r>
              <a:rPr lang="en-US" sz="2000" dirty="0">
                <a:solidFill>
                  <a:srgbClr val="14142B"/>
                </a:solidFill>
              </a:rPr>
              <a:t>?</a:t>
            </a:r>
            <a:endParaRPr lang="en-US" sz="2000" dirty="0"/>
          </a:p>
        </p:txBody>
      </p:sp>
      <p:sp>
        <p:nvSpPr>
          <p:cNvPr id="5" name="panel"/>
          <p:cNvSpPr/>
          <p:nvPr/>
        </p:nvSpPr>
        <p:spPr>
          <a:xfrm>
            <a:off x="6446520" y="1371600"/>
            <a:ext cx="5193792" cy="4800600"/>
          </a:xfrm>
          <a:prstGeom prst="roundRect">
            <a:avLst>
              <a:gd name="adj" fmla="val 4762"/>
            </a:avLst>
          </a:prstGeom>
          <a:solidFill>
            <a:srgbClr val="F1F0FE"/>
          </a:solidFill>
          <a:ln w="12700">
            <a:solidFill>
              <a:srgbClr val="F1F0FE"/>
            </a:solidFill>
            <a:prstDash val="solid"/>
          </a:ln>
        </p:spPr>
      </p:sp>
      <p:pic>
        <p:nvPicPr>
          <p:cNvPr id="6" name="imagen" descr="C:\Users\Chingu\AppData\Local\Temp\claude\C--Users-Chingu-Desktop-ACADEMIASEULWEB\d4111e1b-5523-44ea-97b2-b1a1d9545b9e\scratchpad\decks\cache\img_93e9fe81cc09fb47.png"/>
          <p:cNvPicPr>
            <a:picLocks noChangeAspect="1"/>
          </p:cNvPicPr>
          <p:nvPr/>
        </p:nvPicPr>
        <p:blipFill>
          <a:blip r:embed="rId3"/>
          <a:stretch>
            <a:fillRect/>
          </a:stretch>
        </p:blipFill>
        <p:spPr>
          <a:xfrm>
            <a:off x="7040833" y="1463040"/>
            <a:ext cx="4005165" cy="461772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같이 해요  </a:t>
            </a:r>
            <a:r>
              <a:rPr lang="en-US" sz="3000" b="1" dirty="0">
                <a:solidFill>
                  <a:srgbClr val="003478"/>
                </a:solidFill>
              </a:rPr>
              <a:t>Así suena la cadena</a:t>
            </a:r>
            <a:r>
              <a:rPr lang="en-US" sz="1500" b="1" i="1" dirty="0">
                <a:solidFill>
                  <a:srgbClr val="8A8DA0"/>
                </a:solidFill>
              </a:rPr>
              <a:t>   This is how the chain sounds</a:t>
            </a:r>
            <a:endParaRPr lang="en-US" sz="3000" dirty="0"/>
          </a:p>
        </p:txBody>
      </p:sp>
      <p:pic>
        <p:nvPicPr>
          <p:cNvPr id="3" name="imagen" descr="C:\Users\Chingu\AppData\Local\Temp\claude\C--Users-Chingu-Desktop-ACADEMIASEULWEB\d4111e1b-5523-44ea-97b2-b1a1d9545b9e\scratchpad\decks\cache\img_2ce74947b97a06d7.png"/>
          <p:cNvPicPr>
            <a:picLocks noChangeAspect="1"/>
          </p:cNvPicPr>
          <p:nvPr/>
        </p:nvPicPr>
        <p:blipFill>
          <a:blip r:embed="rId9"/>
          <a:stretch>
            <a:fillRect/>
          </a:stretch>
        </p:blipFill>
        <p:spPr>
          <a:xfrm>
            <a:off x="7754112" y="1508760"/>
            <a:ext cx="3886200" cy="4480560"/>
          </a:xfrm>
          <a:prstGeom prst="rect">
            <a:avLst/>
          </a:prstGeom>
        </p:spPr>
      </p:pic>
      <p:sp>
        <p:nvSpPr>
          <p:cNvPr id="4" name="Text 1"/>
          <p:cNvSpPr txBox="1"/>
          <p:nvPr/>
        </p:nvSpPr>
        <p:spPr>
          <a:xfrm>
            <a:off x="548640" y="1325880"/>
            <a:ext cx="693115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Ejemplo: Valentina y Mateo en la misma sala</a:t>
            </a:r>
            <a:endParaRPr lang="en-US" sz="1800" dirty="0"/>
          </a:p>
        </p:txBody>
      </p:sp>
      <p:sp>
        <p:nvSpPr>
          <p:cNvPr id="5" name="card_0"/>
          <p:cNvSpPr/>
          <p:nvPr/>
        </p:nvSpPr>
        <p:spPr>
          <a:xfrm>
            <a:off x="548640" y="1874520"/>
            <a:ext cx="2157984" cy="4297680"/>
          </a:xfrm>
          <a:prstGeom prst="roundRect">
            <a:avLst>
              <a:gd name="adj" fmla="val 6356"/>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6" name="Text 3"/>
          <p:cNvSpPr txBox="1"/>
          <p:nvPr/>
        </p:nvSpPr>
        <p:spPr>
          <a:xfrm>
            <a:off x="548640" y="2499970"/>
            <a:ext cx="2157984" cy="1461211"/>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저는 내일 일해요</a:t>
            </a:r>
            <a:r>
              <a:rPr lang="en-US" sz="1600" b="1" dirty="0">
                <a:solidFill>
                  <a:srgbClr val="4236F6"/>
                </a:solidFill>
              </a:rPr>
              <a:t>.</a:t>
            </a:r>
            <a:endParaRPr lang="en-US" sz="1600" dirty="0"/>
          </a:p>
        </p:txBody>
      </p:sp>
      <p:sp>
        <p:nvSpPr>
          <p:cNvPr id="7" name="Text 4"/>
          <p:cNvSpPr txBox="1"/>
          <p:nvPr/>
        </p:nvSpPr>
        <p:spPr>
          <a:xfrm>
            <a:off x="621792" y="3961181"/>
            <a:ext cx="201168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Valentina: Mañana trabajo.</a:t>
            </a:r>
            <a:endParaRPr lang="en-US" sz="1600" dirty="0"/>
          </a:p>
        </p:txBody>
      </p:sp>
      <p:pic>
        <p:nvPicPr>
          <p:cNvPr id="8"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2304288" y="1947672"/>
            <a:ext cx="310896" cy="310896"/>
          </a:xfrm>
          <a:prstGeom prst="rect">
            <a:avLst/>
          </a:prstGeom>
        </p:spPr>
      </p:pic>
      <p:sp>
        <p:nvSpPr>
          <p:cNvPr id="9" name="card_1"/>
          <p:cNvSpPr/>
          <p:nvPr/>
        </p:nvSpPr>
        <p:spPr>
          <a:xfrm>
            <a:off x="2935224" y="1874520"/>
            <a:ext cx="2157984" cy="4297680"/>
          </a:xfrm>
          <a:prstGeom prst="roundRect">
            <a:avLst>
              <a:gd name="adj" fmla="val 6356"/>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0" name="Text 6"/>
          <p:cNvSpPr txBox="1"/>
          <p:nvPr/>
        </p:nvSpPr>
        <p:spPr>
          <a:xfrm>
            <a:off x="2935224" y="2499970"/>
            <a:ext cx="2157984" cy="1461211"/>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발렌티나 씨는 내일 일해요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저는 내일 운동해요</a:t>
            </a:r>
            <a:r>
              <a:rPr lang="en-US" sz="1600" b="1" dirty="0">
                <a:solidFill>
                  <a:srgbClr val="4236F6"/>
                </a:solidFill>
              </a:rPr>
              <a:t>.</a:t>
            </a:r>
            <a:endParaRPr lang="en-US" sz="1600" dirty="0"/>
          </a:p>
        </p:txBody>
      </p:sp>
      <p:sp>
        <p:nvSpPr>
          <p:cNvPr id="11" name="Text 7"/>
          <p:cNvSpPr txBox="1"/>
          <p:nvPr/>
        </p:nvSpPr>
        <p:spPr>
          <a:xfrm>
            <a:off x="3008376" y="3961181"/>
            <a:ext cx="201168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Mateo: Valentina trabaja mañana. Yo mañana hago ejercicio.</a:t>
            </a:r>
            <a:endParaRPr lang="en-US" sz="1600" dirty="0"/>
          </a:p>
        </p:txBody>
      </p:sp>
      <p:pic>
        <p:nvPicPr>
          <p:cNvPr id="12"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0"/>
          <a:stretch>
            <a:fillRect/>
          </a:stretch>
        </p:blipFill>
        <p:spPr>
          <a:xfrm>
            <a:off x="4690872" y="1947672"/>
            <a:ext cx="310896" cy="310896"/>
          </a:xfrm>
          <a:prstGeom prst="rect">
            <a:avLst/>
          </a:prstGeom>
        </p:spPr>
      </p:pic>
      <p:sp>
        <p:nvSpPr>
          <p:cNvPr id="13" name="card_2"/>
          <p:cNvSpPr/>
          <p:nvPr/>
        </p:nvSpPr>
        <p:spPr>
          <a:xfrm>
            <a:off x="5321808" y="1874520"/>
            <a:ext cx="2157984" cy="4297680"/>
          </a:xfrm>
          <a:prstGeom prst="roundRect">
            <a:avLst>
              <a:gd name="adj" fmla="val 6356"/>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4" name="Text 9"/>
          <p:cNvSpPr txBox="1"/>
          <p:nvPr/>
        </p:nvSpPr>
        <p:spPr>
          <a:xfrm>
            <a:off x="5321808" y="2499970"/>
            <a:ext cx="2157984" cy="1461211"/>
          </a:xfrm>
          <a:prstGeom prst="rect">
            <a:avLst/>
          </a:prstGeom>
          <a:noFill/>
          <a:ln/>
        </p:spPr>
        <p:txBody>
          <a:bodyPr wrap="square" lIns="0" tIns="0" rIns="0" bIns="0" rtlCol="0" anchor="ctr">
            <a:normAutofit/>
          </a:bodyPr>
          <a:lstStyle/>
          <a:p>
            <a:pPr marL="0" indent="0" algn="ctr" eaLnBrk="1">
              <a:buNone/>
            </a:pPr>
            <a:r>
              <a:rPr lang="ko-KR" altLang="en-US" sz="1600" b="1" dirty="0">
                <a:solidFill>
                  <a:srgbClr val="4236F6"/>
                </a:solidFill>
                <a:latin typeface="Malgun Gothic" pitchFamily="34" charset="0"/>
                <a:ea typeface="Malgun Gothic" pitchFamily="34" charset="-122"/>
                <a:cs typeface="Malgun Gothic" pitchFamily="34" charset="-120"/>
              </a:rPr>
              <a:t>저는 내일 일해요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마테오 씨는 내일 운동해요</a:t>
            </a:r>
            <a:r>
              <a:rPr lang="en-US" sz="1600" b="1" dirty="0">
                <a:solidFill>
                  <a:srgbClr val="4236F6"/>
                </a:solidFill>
              </a:rPr>
              <a:t>. </a:t>
            </a:r>
            <a:r>
              <a:rPr lang="ko-KR" altLang="en-US" sz="1600" b="1" dirty="0">
                <a:solidFill>
                  <a:srgbClr val="4236F6"/>
                </a:solidFill>
                <a:latin typeface="Malgun Gothic" pitchFamily="34" charset="0"/>
                <a:ea typeface="Malgun Gothic" pitchFamily="34" charset="-122"/>
                <a:cs typeface="Malgun Gothic" pitchFamily="34" charset="-120"/>
              </a:rPr>
              <a:t>그리고 저는 내일 저녁에 요리해요</a:t>
            </a:r>
            <a:r>
              <a:rPr lang="en-US" sz="1600" b="1" dirty="0">
                <a:solidFill>
                  <a:srgbClr val="4236F6"/>
                </a:solidFill>
              </a:rPr>
              <a:t>.</a:t>
            </a:r>
            <a:endParaRPr lang="en-US" sz="1600" dirty="0"/>
          </a:p>
        </p:txBody>
      </p:sp>
      <p:sp>
        <p:nvSpPr>
          <p:cNvPr id="15" name="Text 10"/>
          <p:cNvSpPr txBox="1"/>
          <p:nvPr/>
        </p:nvSpPr>
        <p:spPr>
          <a:xfrm>
            <a:off x="5394960" y="3961181"/>
            <a:ext cx="201168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Valentina: Yo mañana trabajo. Mateo mañana hace ejercicio. Y yo mañana en la noche cocino.</a:t>
            </a:r>
            <a:endParaRPr lang="en-US" sz="1600" dirty="0"/>
          </a:p>
        </p:txBody>
      </p:sp>
      <p:pic>
        <p:nvPicPr>
          <p:cNvPr id="16"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0"/>
          <a:stretch>
            <a:fillRect/>
          </a:stretch>
        </p:blipFill>
        <p:spPr>
          <a:xfrm>
            <a:off x="7077456" y="1947672"/>
            <a:ext cx="310896" cy="31089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2200" b="1" dirty="0">
                <a:solidFill>
                  <a:srgbClr val="4236F6"/>
                </a:solidFill>
                <a:latin typeface="Malgun Gothic" pitchFamily="34" charset="0"/>
                <a:ea typeface="Malgun Gothic" pitchFamily="34" charset="-122"/>
                <a:cs typeface="Malgun Gothic" pitchFamily="34" charset="-120"/>
              </a:rPr>
              <a:t>자유 시간  </a:t>
            </a:r>
            <a:r>
              <a:rPr lang="en-US" sz="2200" b="1" dirty="0">
                <a:solidFill>
                  <a:srgbClr val="003478"/>
                </a:solidFill>
              </a:rPr>
              <a:t>Sala, parte 3: minuto libre</a:t>
            </a:r>
            <a:r>
              <a:rPr lang="en-US" sz="1500" b="1" i="1" dirty="0">
                <a:solidFill>
                  <a:srgbClr val="8A8DA0"/>
                </a:solidFill>
              </a:rPr>
              <a:t>   Breakout part 3: free talk</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Últimos 3 minutos de la sala</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Hablen de su semana, solo en coreano</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주말에 뭘 해요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내일 뭘 해요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언제 자요</a:t>
            </a:r>
            <a:r>
              <a:rPr lang="en-US" sz="2200" dirty="0">
                <a:solidFill>
                  <a:srgbClr val="14142B"/>
                </a:solidFill>
              </a:rPr>
              <a:t>?</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Las respuestas cortas valen: 언제 운동해요</a:t>
            </a:r>
            <a:r>
              <a:rPr lang="en-US" sz="2200" dirty="0">
                <a:solidFill>
                  <a:srgbClr val="14142B"/>
                </a:solidFill>
              </a:rPr>
              <a:t>? → </a:t>
            </a:r>
            <a:r>
              <a:rPr lang="ko-KR" altLang="en-US" sz="2200" dirty="0">
                <a:solidFill>
                  <a:srgbClr val="14142B"/>
                </a:solidFill>
                <a:latin typeface="Malgun Gothic" pitchFamily="34" charset="0"/>
                <a:ea typeface="Malgun Gothic" pitchFamily="34" charset="-122"/>
                <a:cs typeface="Malgun Gothic" pitchFamily="34" charset="-120"/>
              </a:rPr>
              <a:t>저녁에요</a:t>
            </a:r>
            <a:r>
              <a:rPr lang="en-US" sz="2200" dirty="0">
                <a:solidFill>
                  <a:srgbClr val="14142B"/>
                </a:solidFill>
              </a:rPr>
              <a:t>.</a:t>
            </a:r>
            <a:endParaRPr lang="en-US" sz="2200" dirty="0"/>
          </a:p>
          <a:p>
            <a:pPr marL="228600" indent="-228600" eaLnBrk="1">
              <a:spcAft>
                <a:spcPts val="800"/>
              </a:spcAft>
              <a:buSzPct val="100000"/>
              <a:buChar char="•"/>
            </a:pPr>
            <a:r>
              <a:rPr lang="en-US" sz="2200" dirty="0">
                <a:solidFill>
                  <a:srgbClr val="14142B"/>
                </a:solidFill>
              </a:rPr>
              <a:t>¿No sale una palabra? Dila en español y sigue</a:t>
            </a:r>
            <a:endParaRPr lang="en-US" sz="2200" dirty="0"/>
          </a:p>
          <a:p>
            <a:pPr marL="228600" indent="-228600" eaLnBrk="1">
              <a:spcAft>
                <a:spcPts val="800"/>
              </a:spcAft>
              <a:buSzPct val="100000"/>
              <a:buChar char="•"/>
            </a:pPr>
            <a:r>
              <a:rPr lang="en-US" sz="2200" dirty="0">
                <a:solidFill>
                  <a:srgbClr val="14142B"/>
                </a:solidFill>
              </a:rPr>
              <a:t>Al volver: un dato de tu compañero + el récord de la cadena</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자유</a:t>
            </a:r>
            <a:endParaRPr lang="en-US" sz="8600" dirty="0"/>
          </a:p>
          <a:p>
            <a:pPr marL="0" indent="0" algn="ctr" eaLnBrk="1">
              <a:buNone/>
            </a:pPr>
            <a:r>
              <a:rPr lang="ko-KR" altLang="en-US" sz="8600" b="1" dirty="0">
                <a:solidFill>
                  <a:srgbClr val="4236F6"/>
                </a:solidFill>
                <a:latin typeface="Malgun Gothic" pitchFamily="34" charset="0"/>
                <a:ea typeface="Malgun Gothic" pitchFamily="34" charset="-122"/>
                <a:cs typeface="Malgun Gothic" pitchFamily="34" charset="-120"/>
              </a:rPr>
              <a:t>시간</a:t>
            </a:r>
            <a:endParaRPr lang="en-US" sz="8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en-US" sz="3000" b="1" dirty="0">
                <a:solidFill>
                  <a:srgbClr val="003478"/>
                </a:solidFill>
              </a:rPr>
              <a:t>¿Qué descubriste?</a:t>
            </a:r>
            <a:r>
              <a:rPr lang="en-US" sz="1500" b="1" i="1" dirty="0">
                <a:solidFill>
                  <a:srgbClr val="8A8DA0"/>
                </a:solidFill>
              </a:rPr>
              <a:t>   What did you find out?</a:t>
            </a:r>
            <a:endParaRPr lang="en-US" sz="3000" dirty="0"/>
          </a:p>
        </p:txBody>
      </p:sp>
      <p:sp>
        <p:nvSpPr>
          <p:cNvPr id="3" name="panel"/>
          <p:cNvSpPr/>
          <p:nvPr/>
        </p:nvSpPr>
        <p:spPr>
          <a:xfrm>
            <a:off x="1280160" y="1645920"/>
            <a:ext cx="9628632" cy="3108960"/>
          </a:xfrm>
          <a:prstGeom prst="roundRect">
            <a:avLst>
              <a:gd name="adj" fmla="val 8824"/>
            </a:avLst>
          </a:prstGeom>
          <a:solidFill>
            <a:srgbClr val="F1F0FE"/>
          </a:solidFill>
          <a:ln w="12700">
            <a:solidFill>
              <a:srgbClr val="F1F0FE"/>
            </a:solidFill>
            <a:prstDash val="solid"/>
          </a:ln>
        </p:spPr>
      </p:sp>
      <p:sp>
        <p:nvSpPr>
          <p:cNvPr id="4" name="frase_ko"/>
          <p:cNvSpPr txBox="1"/>
          <p:nvPr/>
        </p:nvSpPr>
        <p:spPr>
          <a:xfrm>
            <a:off x="1463040" y="1828800"/>
            <a:ext cx="9262872" cy="1828800"/>
          </a:xfrm>
          <a:prstGeom prst="rect">
            <a:avLst/>
          </a:prstGeom>
          <a:noFill/>
          <a:ln/>
        </p:spPr>
        <p:txBody>
          <a:bodyPr wrap="square" lIns="0" tIns="0" rIns="0" bIns="0" rtlCol="0" anchor="ctr">
            <a:normAutofit/>
          </a:bodyPr>
          <a:lstStyle/>
          <a:p>
            <a:pPr marL="0" indent="0" algn="ctr" eaLnBrk="1">
              <a:buNone/>
            </a:pPr>
            <a:r>
              <a:rPr lang="ko-KR" altLang="en-US" sz="4800" b="1" dirty="0">
                <a:solidFill>
                  <a:srgbClr val="4236F6"/>
                </a:solidFill>
                <a:latin typeface="Malgun Gothic" pitchFamily="34" charset="0"/>
                <a:ea typeface="Malgun Gothic" pitchFamily="34" charset="-122"/>
                <a:cs typeface="Malgun Gothic" pitchFamily="34" charset="-120"/>
              </a:rPr>
              <a:t>마테오 씨는 주말에 운동해요</a:t>
            </a:r>
            <a:r>
              <a:rPr lang="en-US" sz="4800" b="1" dirty="0">
                <a:solidFill>
                  <a:srgbClr val="4236F6"/>
                </a:solidFill>
              </a:rPr>
              <a:t>.</a:t>
            </a:r>
            <a:endParaRPr lang="en-US" sz="4800" dirty="0"/>
          </a:p>
        </p:txBody>
      </p:sp>
      <p:sp>
        <p:nvSpPr>
          <p:cNvPr id="5" name="Text 3"/>
          <p:cNvSpPr txBox="1"/>
          <p:nvPr/>
        </p:nvSpPr>
        <p:spPr>
          <a:xfrm>
            <a:off x="1783080" y="3657600"/>
            <a:ext cx="8439912" cy="822960"/>
          </a:xfrm>
          <a:prstGeom prst="rect">
            <a:avLst/>
          </a:prstGeom>
          <a:noFill/>
          <a:ln/>
        </p:spPr>
        <p:txBody>
          <a:bodyPr wrap="square" lIns="0" tIns="0" rIns="0" bIns="0" rtlCol="0" anchor="t">
            <a:normAutofit/>
          </a:bodyPr>
          <a:lstStyle/>
          <a:p>
            <a:pPr marL="0" indent="0" algn="ctr" eaLnBrk="1">
              <a:buNone/>
            </a:pPr>
            <a:r>
              <a:rPr lang="en-US" sz="2400" dirty="0">
                <a:solidFill>
                  <a:srgbClr val="5C5F6B"/>
                </a:solidFill>
              </a:rPr>
              <a:t>Mateo hace ejercicio los fines de semana.</a:t>
            </a:r>
            <a:endParaRPr lang="en-US" sz="2400" dirty="0"/>
          </a:p>
        </p:txBody>
      </p:sp>
      <p:pic>
        <p:nvPicPr>
          <p:cNvPr id="6"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332720" y="4160520"/>
            <a:ext cx="384048" cy="384048"/>
          </a:xfrm>
          <a:prstGeom prst="rect">
            <a:avLst/>
          </a:prstGeom>
        </p:spPr>
      </p:pic>
      <p:sp>
        <p:nvSpPr>
          <p:cNvPr id="7" name="lista"/>
          <p:cNvSpPr txBox="1"/>
          <p:nvPr/>
        </p:nvSpPr>
        <p:spPr>
          <a:xfrm>
            <a:off x="1280160" y="4937760"/>
            <a:ext cx="9628632" cy="12344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1800" dirty="0">
                <a:solidFill>
                  <a:srgbClr val="14142B"/>
                </a:solidFill>
              </a:rPr>
              <a:t>Un dato de tu compañero, con su nombre · y el récord de la cadena</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오늘의 문장  </a:t>
            </a:r>
            <a:r>
              <a:rPr lang="en-US" sz="3000" b="1" dirty="0">
                <a:solidFill>
                  <a:srgbClr val="003478"/>
                </a:solidFill>
              </a:rPr>
              <a:t>3 frases clave</a:t>
            </a:r>
            <a:r>
              <a:rPr lang="en-US" sz="1500" b="1" i="1" dirty="0">
                <a:solidFill>
                  <a:srgbClr val="8A8DA0"/>
                </a:solidFill>
              </a:rPr>
              <a:t>   3 key sentences</a:t>
            </a:r>
            <a:endParaRPr lang="en-US" sz="3000" dirty="0"/>
          </a:p>
        </p:txBody>
      </p:sp>
      <p:sp>
        <p:nvSpPr>
          <p:cNvPr id="3" name="Text 1"/>
          <p:cNvSpPr txBox="1"/>
          <p:nvPr/>
        </p:nvSpPr>
        <p:spPr>
          <a:xfrm>
            <a:off x="548640" y="1325880"/>
            <a:ext cx="11091672" cy="457200"/>
          </a:xfrm>
          <a:prstGeom prst="rect">
            <a:avLst/>
          </a:prstGeom>
          <a:noFill/>
          <a:ln/>
        </p:spPr>
        <p:txBody>
          <a:bodyPr wrap="square" lIns="0" tIns="0" rIns="0" bIns="0" rtlCol="0" anchor="ctr">
            <a:normAutofit/>
          </a:bodyPr>
          <a:lstStyle/>
          <a:p>
            <a:pPr marL="0" indent="0" eaLnBrk="1">
              <a:buNone/>
            </a:pPr>
            <a:r>
              <a:rPr lang="en-US" sz="1800" i="1" dirty="0">
                <a:solidFill>
                  <a:srgbClr val="4236F6"/>
                </a:solidFill>
              </a:rPr>
              <a:t>En coro, dos veces</a:t>
            </a:r>
            <a:endParaRPr lang="en-US" sz="1800" dirty="0"/>
          </a:p>
        </p:txBody>
      </p:sp>
      <p:sp>
        <p:nvSpPr>
          <p:cNvPr id="4" name="card_0"/>
          <p:cNvSpPr/>
          <p:nvPr/>
        </p:nvSpPr>
        <p:spPr>
          <a:xfrm>
            <a:off x="548640" y="1874520"/>
            <a:ext cx="3544824" cy="4297680"/>
          </a:xfrm>
          <a:prstGeom prst="roundRect">
            <a:avLst>
              <a:gd name="adj" fmla="val 3869"/>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5" name="Text 3"/>
          <p:cNvSpPr txBox="1"/>
          <p:nvPr/>
        </p:nvSpPr>
        <p:spPr>
          <a:xfrm>
            <a:off x="548640" y="2499970"/>
            <a:ext cx="3544824" cy="1461211"/>
          </a:xfrm>
          <a:prstGeom prst="rect">
            <a:avLst/>
          </a:prstGeom>
          <a:noFill/>
          <a:ln/>
        </p:spPr>
        <p:txBody>
          <a:bodyPr wrap="square" lIns="0" tIns="0" rIns="0" bIns="0" rtlCol="0" anchor="ctr">
            <a:normAutofit/>
          </a:bodyPr>
          <a:lstStyle/>
          <a:p>
            <a:pPr marL="0" indent="0" algn="ctr" eaLnBrk="1">
              <a:buNone/>
            </a:pPr>
            <a:r>
              <a:rPr lang="ko-KR" altLang="en-US" sz="3400" b="1" dirty="0">
                <a:solidFill>
                  <a:srgbClr val="4236F6"/>
                </a:solidFill>
                <a:latin typeface="Malgun Gothic" pitchFamily="34" charset="0"/>
                <a:ea typeface="Malgun Gothic" pitchFamily="34" charset="-122"/>
                <a:cs typeface="Malgun Gothic" pitchFamily="34" charset="-120"/>
              </a:rPr>
              <a:t>언제 운동해요</a:t>
            </a:r>
            <a:r>
              <a:rPr lang="en-US" sz="3400" b="1" dirty="0">
                <a:solidFill>
                  <a:srgbClr val="4236F6"/>
                </a:solidFill>
              </a:rPr>
              <a:t>?</a:t>
            </a:r>
            <a:endParaRPr lang="en-US" sz="3400" dirty="0"/>
          </a:p>
        </p:txBody>
      </p:sp>
      <p:sp>
        <p:nvSpPr>
          <p:cNvPr id="6" name="Text 4"/>
          <p:cNvSpPr txBox="1"/>
          <p:nvPr/>
        </p:nvSpPr>
        <p:spPr>
          <a:xfrm>
            <a:off x="621792" y="3961181"/>
            <a:ext cx="339852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¿Cuándo haces ejercicio?</a:t>
            </a:r>
            <a:endParaRPr lang="en-US" sz="1600" dirty="0"/>
          </a:p>
        </p:txBody>
      </p:sp>
      <p:pic>
        <p:nvPicPr>
          <p:cNvPr id="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3691128" y="1947672"/>
            <a:ext cx="310896" cy="310896"/>
          </a:xfrm>
          <a:prstGeom prst="rect">
            <a:avLst/>
          </a:prstGeom>
        </p:spPr>
      </p:pic>
      <p:sp>
        <p:nvSpPr>
          <p:cNvPr id="8" name="card_1"/>
          <p:cNvSpPr/>
          <p:nvPr/>
        </p:nvSpPr>
        <p:spPr>
          <a:xfrm>
            <a:off x="4322064" y="1874520"/>
            <a:ext cx="3544824" cy="4297680"/>
          </a:xfrm>
          <a:prstGeom prst="roundRect">
            <a:avLst>
              <a:gd name="adj" fmla="val 3869"/>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9" name="Text 6"/>
          <p:cNvSpPr txBox="1"/>
          <p:nvPr/>
        </p:nvSpPr>
        <p:spPr>
          <a:xfrm>
            <a:off x="4322064" y="2499970"/>
            <a:ext cx="3544824" cy="1461211"/>
          </a:xfrm>
          <a:prstGeom prst="rect">
            <a:avLst/>
          </a:prstGeom>
          <a:noFill/>
          <a:ln/>
        </p:spPr>
        <p:txBody>
          <a:bodyPr wrap="square" lIns="0" tIns="0" rIns="0" bIns="0" rtlCol="0" anchor="ctr">
            <a:normAutofit/>
          </a:bodyPr>
          <a:lstStyle/>
          <a:p>
            <a:pPr marL="0" indent="0" algn="ctr" eaLnBrk="1">
              <a:buNone/>
            </a:pPr>
            <a:r>
              <a:rPr lang="ko-KR" altLang="en-US" sz="3000" b="1" dirty="0">
                <a:solidFill>
                  <a:srgbClr val="4236F6"/>
                </a:solidFill>
                <a:latin typeface="Malgun Gothic" pitchFamily="34" charset="0"/>
                <a:ea typeface="Malgun Gothic" pitchFamily="34" charset="-122"/>
                <a:cs typeface="Malgun Gothic" pitchFamily="34" charset="-120"/>
              </a:rPr>
              <a:t>저녁에 운동해요</a:t>
            </a:r>
            <a:r>
              <a:rPr lang="en-US" sz="3000" b="1" dirty="0">
                <a:solidFill>
                  <a:srgbClr val="4236F6"/>
                </a:solidFill>
              </a:rPr>
              <a:t>.</a:t>
            </a:r>
            <a:endParaRPr lang="en-US" sz="3000" dirty="0"/>
          </a:p>
        </p:txBody>
      </p:sp>
      <p:sp>
        <p:nvSpPr>
          <p:cNvPr id="10" name="Text 7"/>
          <p:cNvSpPr txBox="1"/>
          <p:nvPr/>
        </p:nvSpPr>
        <p:spPr>
          <a:xfrm>
            <a:off x="4322064" y="3961181"/>
            <a:ext cx="3544824" cy="274320"/>
          </a:xfrm>
          <a:prstGeom prst="rect">
            <a:avLst/>
          </a:prstGeom>
          <a:noFill/>
          <a:ln/>
        </p:spPr>
        <p:txBody>
          <a:bodyPr wrap="square" lIns="0" tIns="0" rIns="0" bIns="0" rtlCol="0" anchor="ctr">
            <a:normAutofit/>
          </a:bodyPr>
          <a:lstStyle/>
          <a:p>
            <a:pPr marL="0" indent="0" algn="ctr" eaLnBrk="1">
              <a:buNone/>
            </a:pPr>
            <a:r>
              <a:rPr lang="ko-KR" altLang="en-US" sz="1300" dirty="0">
                <a:solidFill>
                  <a:srgbClr val="8A8DA0"/>
                </a:solidFill>
                <a:latin typeface="Malgun Gothic" pitchFamily="34" charset="0"/>
                <a:ea typeface="Malgun Gothic" pitchFamily="34" charset="-122"/>
                <a:cs typeface="Malgun Gothic" pitchFamily="34" charset="-120"/>
              </a:rPr>
              <a:t>[저녀게 운동해요</a:t>
            </a:r>
            <a:r>
              <a:rPr lang="en-US" sz="1300" dirty="0">
                <a:solidFill>
                  <a:srgbClr val="8A8DA0"/>
                </a:solidFill>
              </a:rPr>
              <a:t>]</a:t>
            </a:r>
            <a:endParaRPr lang="en-US" sz="1300" dirty="0"/>
          </a:p>
        </p:txBody>
      </p:sp>
      <p:sp>
        <p:nvSpPr>
          <p:cNvPr id="11" name="Text 8"/>
          <p:cNvSpPr txBox="1"/>
          <p:nvPr/>
        </p:nvSpPr>
        <p:spPr>
          <a:xfrm>
            <a:off x="4395216" y="4235501"/>
            <a:ext cx="3398520" cy="186354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Hago ejercicio en la noche.</a:t>
            </a:r>
            <a:endParaRPr lang="en-US" sz="1600" dirty="0"/>
          </a:p>
        </p:txBody>
      </p:sp>
      <p:pic>
        <p:nvPicPr>
          <p:cNvPr id="12" name="Media 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7464552" y="1947672"/>
            <a:ext cx="310896" cy="310896"/>
          </a:xfrm>
          <a:prstGeom prst="rect">
            <a:avLst/>
          </a:prstGeom>
        </p:spPr>
      </p:pic>
      <p:sp>
        <p:nvSpPr>
          <p:cNvPr id="13" name="card_2"/>
          <p:cNvSpPr/>
          <p:nvPr/>
        </p:nvSpPr>
        <p:spPr>
          <a:xfrm>
            <a:off x="8095488" y="1874520"/>
            <a:ext cx="3544824" cy="4297680"/>
          </a:xfrm>
          <a:prstGeom prst="roundRect">
            <a:avLst>
              <a:gd name="adj" fmla="val 3869"/>
            </a:avLst>
          </a:prstGeom>
          <a:solidFill>
            <a:srgbClr val="FFFFFF"/>
          </a:solidFill>
          <a:ln w="12700">
            <a:solidFill>
              <a:srgbClr val="D9D7F7"/>
            </a:solidFill>
            <a:prstDash val="solid"/>
          </a:ln>
          <a:effectLst>
            <a:outerShdw blurRad="76200" dist="25400" dir="5400000" algn="bl" rotWithShape="0">
              <a:srgbClr val="14142B">
                <a:alpha val="12000"/>
              </a:srgbClr>
            </a:outerShdw>
          </a:effectLst>
        </p:spPr>
      </p:sp>
      <p:sp>
        <p:nvSpPr>
          <p:cNvPr id="14" name="Text 10"/>
          <p:cNvSpPr txBox="1"/>
          <p:nvPr/>
        </p:nvSpPr>
        <p:spPr>
          <a:xfrm>
            <a:off x="8095488" y="2499970"/>
            <a:ext cx="3544824" cy="1461211"/>
          </a:xfrm>
          <a:prstGeom prst="rect">
            <a:avLst/>
          </a:prstGeom>
          <a:noFill/>
          <a:ln/>
        </p:spPr>
        <p:txBody>
          <a:bodyPr wrap="square" lIns="0" tIns="0" rIns="0" bIns="0" rtlCol="0" anchor="ctr">
            <a:normAutofit/>
          </a:bodyPr>
          <a:lstStyle/>
          <a:p>
            <a:pPr marL="0" indent="0" algn="ctr" eaLnBrk="1">
              <a:buNone/>
            </a:pPr>
            <a:r>
              <a:rPr lang="ko-KR" altLang="en-US" sz="3700" b="1" dirty="0">
                <a:solidFill>
                  <a:srgbClr val="4236F6"/>
                </a:solidFill>
                <a:latin typeface="Malgun Gothic" pitchFamily="34" charset="0"/>
                <a:ea typeface="Malgun Gothic" pitchFamily="34" charset="-122"/>
                <a:cs typeface="Malgun Gothic" pitchFamily="34" charset="-120"/>
              </a:rPr>
              <a:t>내일 한국어를</a:t>
            </a:r>
            <a:endParaRPr lang="en-US" sz="3700" dirty="0"/>
          </a:p>
          <a:p>
            <a:pPr marL="0" indent="0" algn="ctr" eaLnBrk="1">
              <a:buNone/>
            </a:pPr>
            <a:r>
              <a:rPr lang="ko-KR" altLang="en-US" sz="3700" b="1" dirty="0">
                <a:solidFill>
                  <a:srgbClr val="4236F6"/>
                </a:solidFill>
                <a:latin typeface="Malgun Gothic" pitchFamily="34" charset="0"/>
                <a:ea typeface="Malgun Gothic" pitchFamily="34" charset="-122"/>
                <a:cs typeface="Malgun Gothic" pitchFamily="34" charset="-120"/>
              </a:rPr>
              <a:t>공부해요</a:t>
            </a:r>
            <a:r>
              <a:rPr lang="en-US" sz="3700" b="1" dirty="0">
                <a:solidFill>
                  <a:srgbClr val="4236F6"/>
                </a:solidFill>
              </a:rPr>
              <a:t>.</a:t>
            </a:r>
            <a:endParaRPr lang="en-US" sz="3700" dirty="0"/>
          </a:p>
        </p:txBody>
      </p:sp>
      <p:sp>
        <p:nvSpPr>
          <p:cNvPr id="15" name="Text 11"/>
          <p:cNvSpPr txBox="1"/>
          <p:nvPr/>
        </p:nvSpPr>
        <p:spPr>
          <a:xfrm>
            <a:off x="8168640" y="3961181"/>
            <a:ext cx="3398520" cy="2137867"/>
          </a:xfrm>
          <a:prstGeom prst="rect">
            <a:avLst/>
          </a:prstGeom>
          <a:noFill/>
          <a:ln/>
        </p:spPr>
        <p:txBody>
          <a:bodyPr wrap="square" lIns="0" tIns="0" rIns="0" bIns="0" rtlCol="0" anchor="t">
            <a:normAutofit/>
          </a:bodyPr>
          <a:lstStyle/>
          <a:p>
            <a:pPr marL="0" indent="0" algn="ctr" eaLnBrk="1">
              <a:buNone/>
            </a:pPr>
            <a:r>
              <a:rPr lang="en-US" sz="1600" dirty="0">
                <a:solidFill>
                  <a:srgbClr val="5C5F6B"/>
                </a:solidFill>
              </a:rPr>
              <a:t>Mañana estudio coreano.</a:t>
            </a:r>
            <a:endParaRPr lang="en-US" sz="1600" dirty="0"/>
          </a:p>
        </p:txBody>
      </p:sp>
      <p:pic>
        <p:nvPicPr>
          <p:cNvPr id="16" name="Media 2">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11237976" y="1947672"/>
            <a:ext cx="310896" cy="310896"/>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이렇게 말해요  </a:t>
            </a:r>
            <a:r>
              <a:rPr lang="en-US" sz="3000" b="1" dirty="0">
                <a:solidFill>
                  <a:srgbClr val="003478"/>
                </a:solidFill>
              </a:rPr>
              <a:t>Errores del día</a:t>
            </a:r>
            <a:r>
              <a:rPr lang="en-US" sz="1500" b="1" i="1" dirty="0">
                <a:solidFill>
                  <a:srgbClr val="8A8DA0"/>
                </a:solidFill>
              </a:rPr>
              <a:t>   Today's mistakes</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Los más comunes · Jay agrega los de hoy</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오늘에 쉬어요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오늘 쉬어요</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아침 회사에 가요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아침에 회사에 가요</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«Mañana nado» = 내일 수영해요 </a:t>
            </a:r>
            <a:r>
              <a:rPr lang="en-US" sz="2400" dirty="0">
                <a:solidFill>
                  <a:srgbClr val="14142B"/>
                </a:solidFill>
              </a:rPr>
              <a:t>(no </a:t>
            </a:r>
            <a:r>
              <a:rPr lang="ko-KR" altLang="en-US" sz="2400" dirty="0">
                <a:solidFill>
                  <a:srgbClr val="14142B"/>
                </a:solidFill>
                <a:latin typeface="Malgun Gothic" pitchFamily="34" charset="0"/>
                <a:ea typeface="Malgun Gothic" pitchFamily="34" charset="-122"/>
                <a:cs typeface="Malgun Gothic" pitchFamily="34" charset="-120"/>
              </a:rPr>
              <a:t>아침</a:t>
            </a:r>
            <a:r>
              <a:rPr lang="en-US" sz="2400" dirty="0">
                <a:solidFill>
                  <a:srgbClr val="14142B"/>
                </a:solidFill>
              </a:rPr>
              <a:t>)</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매일 </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내일</a:t>
            </a:r>
            <a:r>
              <a:rPr lang="en-US" sz="2400" dirty="0">
                <a:solidFill>
                  <a:srgbClr val="14142B"/>
                </a:solidFill>
              </a:rPr>
              <a:t>: </a:t>
            </a:r>
            <a:r>
              <a:rPr lang="ko-KR" altLang="en-US" sz="2400" dirty="0">
                <a:solidFill>
                  <a:srgbClr val="14142B"/>
                </a:solidFill>
                <a:latin typeface="Malgun Gothic" pitchFamily="34" charset="0"/>
                <a:ea typeface="Malgun Gothic" pitchFamily="34" charset="-122"/>
                <a:cs typeface="Malgun Gothic" pitchFamily="34" charset="-120"/>
              </a:rPr>
              <a:t>ㅁ </a:t>
            </a:r>
            <a:r>
              <a:rPr lang="en-US" sz="2400" dirty="0">
                <a:solidFill>
                  <a:srgbClr val="14142B"/>
                </a:solidFill>
              </a:rPr>
              <a:t>= todos los días · </a:t>
            </a:r>
            <a:r>
              <a:rPr lang="ko-KR" altLang="en-US" sz="2400" dirty="0">
                <a:solidFill>
                  <a:srgbClr val="14142B"/>
                </a:solidFill>
                <a:latin typeface="Malgun Gothic" pitchFamily="34" charset="0"/>
                <a:ea typeface="Malgun Gothic" pitchFamily="34" charset="-122"/>
                <a:cs typeface="Malgun Gothic" pitchFamily="34" charset="-120"/>
              </a:rPr>
              <a:t>ㄴ </a:t>
            </a:r>
            <a:r>
              <a:rPr lang="en-US" sz="2400" dirty="0">
                <a:solidFill>
                  <a:srgbClr val="14142B"/>
                </a:solidFill>
              </a:rPr>
              <a:t>= mañana</a:t>
            </a:r>
            <a:endParaRPr lang="en-US" sz="2400" dirty="0"/>
          </a:p>
          <a:p>
            <a:pPr marL="228600" indent="-228600" eaLnBrk="1">
              <a:spcAft>
                <a:spcPts val="800"/>
              </a:spcAft>
              <a:buSzPct val="100000"/>
              <a:buChar char="•"/>
            </a:pPr>
            <a:r>
              <a:rPr lang="ko-KR" altLang="en-US" sz="2400" dirty="0">
                <a:solidFill>
                  <a:srgbClr val="14142B"/>
                </a:solidFill>
                <a:latin typeface="Malgun Gothic" pitchFamily="34" charset="0"/>
                <a:ea typeface="Malgun Gothic" pitchFamily="34" charset="-122"/>
                <a:cs typeface="Malgun Gothic" pitchFamily="34" charset="-120"/>
              </a:rPr>
              <a:t>언제에 전화해요</a:t>
            </a:r>
            <a:r>
              <a:rPr lang="en-US" sz="2400" dirty="0">
                <a:solidFill>
                  <a:srgbClr val="14142B"/>
                </a:solidFill>
              </a:rPr>
              <a:t>? → </a:t>
            </a:r>
            <a:r>
              <a:rPr lang="ko-KR" altLang="en-US" sz="2400" dirty="0">
                <a:solidFill>
                  <a:srgbClr val="14142B"/>
                </a:solidFill>
                <a:latin typeface="Malgun Gothic" pitchFamily="34" charset="0"/>
                <a:ea typeface="Malgun Gothic" pitchFamily="34" charset="-122"/>
                <a:cs typeface="Malgun Gothic" pitchFamily="34" charset="-120"/>
              </a:rPr>
              <a:t>언제 전화해요</a:t>
            </a:r>
            <a:r>
              <a:rPr lang="en-US" sz="2400" dirty="0">
                <a:solidFill>
                  <a:srgbClr val="14142B"/>
                </a:solidFill>
              </a:rPr>
              <a:t>?</a:t>
            </a:r>
            <a:endParaRPr lang="en-US" sz="2400" dirty="0"/>
          </a:p>
          <a:p>
            <a:pPr marL="228600" indent="-228600" eaLnBrk="1">
              <a:spcAft>
                <a:spcPts val="800"/>
              </a:spcAft>
              <a:buSzPct val="100000"/>
              <a:buChar char="•"/>
            </a:pPr>
            <a:r>
              <a:rPr lang="en-US" sz="2400" dirty="0">
                <a:solidFill>
                  <a:srgbClr val="14142B"/>
                </a:solidFill>
              </a:rPr>
              <a:t>Hoy en clase: ___</a:t>
            </a:r>
            <a:endParaRPr lang="en-US" sz="24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이렇게</a:t>
            </a:r>
            <a:endParaRPr lang="en-US" sz="7700" dirty="0"/>
          </a:p>
          <a:p>
            <a:pPr marL="0" indent="0" algn="ctr" eaLnBrk="1">
              <a:buNone/>
            </a:pPr>
            <a:r>
              <a:rPr lang="ko-KR" altLang="en-US" sz="7700" b="1" dirty="0">
                <a:solidFill>
                  <a:srgbClr val="4236F6"/>
                </a:solidFill>
                <a:latin typeface="Malgun Gothic" pitchFamily="34" charset="0"/>
                <a:ea typeface="Malgun Gothic" pitchFamily="34" charset="-122"/>
                <a:cs typeface="Malgun Gothic" pitchFamily="34" charset="-120"/>
              </a:rPr>
              <a:t>말해요</a:t>
            </a:r>
            <a:endParaRPr lang="en-US" sz="7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0241280" cy="822960"/>
          </a:xfrm>
          <a:prstGeom prst="rect">
            <a:avLst/>
          </a:prstGeom>
          <a:noFill/>
          <a:ln/>
        </p:spPr>
        <p:txBody>
          <a:bodyPr wrap="square" lIns="0" tIns="0" rIns="0" bIns="0" rtlCol="0" anchor="ctr"/>
          <a:lstStyle/>
          <a:p>
            <a:pPr marL="0" indent="0" eaLnBrk="1">
              <a:buNone/>
            </a:pPr>
            <a:r>
              <a:rPr lang="ko-KR" altLang="en-US" sz="3000" b="1" dirty="0">
                <a:solidFill>
                  <a:srgbClr val="4236F6"/>
                </a:solidFill>
                <a:latin typeface="Malgun Gothic" pitchFamily="34" charset="0"/>
                <a:ea typeface="Malgun Gothic" pitchFamily="34" charset="-122"/>
                <a:cs typeface="Malgun Gothic" pitchFamily="34" charset="-120"/>
              </a:rPr>
              <a:t>써 봐요  </a:t>
            </a:r>
            <a:r>
              <a:rPr lang="en-US" sz="3000" b="1" dirty="0">
                <a:solidFill>
                  <a:srgbClr val="003478"/>
                </a:solidFill>
              </a:rPr>
              <a:t>Tarea</a:t>
            </a:r>
            <a:r>
              <a:rPr lang="en-US" sz="1500" b="1" i="1" dirty="0">
                <a:solidFill>
                  <a:srgbClr val="8A8DA0"/>
                </a:solidFill>
              </a:rPr>
              <a:t>   Homework</a:t>
            </a:r>
            <a:endParaRPr lang="en-US" sz="3000" dirty="0"/>
          </a:p>
        </p:txBody>
      </p:sp>
      <p:sp>
        <p:nvSpPr>
          <p:cNvPr id="3" name="Text 1"/>
          <p:cNvSpPr txBox="1"/>
          <p:nvPr/>
        </p:nvSpPr>
        <p:spPr>
          <a:xfrm>
            <a:off x="548640" y="1325880"/>
            <a:ext cx="6949440" cy="548640"/>
          </a:xfrm>
          <a:prstGeom prst="rect">
            <a:avLst/>
          </a:prstGeom>
          <a:noFill/>
          <a:ln/>
        </p:spPr>
        <p:txBody>
          <a:bodyPr wrap="square" lIns="0" tIns="0" rIns="0" bIns="0" rtlCol="0" anchor="t">
            <a:normAutofit/>
          </a:bodyPr>
          <a:lstStyle/>
          <a:p>
            <a:pPr marL="0" indent="0" eaLnBrk="1">
              <a:buNone/>
            </a:pPr>
            <a:r>
              <a:rPr lang="en-US" sz="1800" i="1" dirty="0">
                <a:solidFill>
                  <a:srgbClr val="4236F6"/>
                </a:solidFill>
              </a:rPr>
              <a:t>En la hoja de la clase 4 · por privado, antes del lunes 16</a:t>
            </a:r>
            <a:endParaRPr lang="en-US" sz="1800" dirty="0"/>
          </a:p>
        </p:txBody>
      </p:sp>
      <p:sp>
        <p:nvSpPr>
          <p:cNvPr id="4" name="lista"/>
          <p:cNvSpPr txBox="1"/>
          <p:nvPr/>
        </p:nvSpPr>
        <p:spPr>
          <a:xfrm>
            <a:off x="548640" y="1965960"/>
            <a:ext cx="6949440" cy="4206240"/>
          </a:xfrm>
          <a:prstGeom prst="rect">
            <a:avLst/>
          </a:prstGeom>
          <a:noFill/>
          <a:ln/>
        </p:spPr>
        <p:txBody>
          <a:bodyPr wrap="square" lIns="50800" tIns="25400" rIns="50800" bIns="50800" rtlCol="0" anchor="t">
            <a:normAutofit/>
          </a:bodyPr>
          <a:lstStyle/>
          <a:p>
            <a:pPr marL="228600" indent="-228600" eaLnBrk="1">
              <a:spcAft>
                <a:spcPts val="800"/>
              </a:spcAft>
              <a:buSzPct val="100000"/>
              <a:buChar char="•"/>
            </a:pPr>
            <a:r>
              <a:rPr lang="en-US" sz="2200" dirty="0">
                <a:solidFill>
                  <a:srgbClr val="14142B"/>
                </a:solidFill>
              </a:rPr>
              <a:t>Ejercicios 1 a 3 de la hoja (10 minutos)</a:t>
            </a:r>
            <a:endParaRPr lang="en-US" sz="2200" dirty="0"/>
          </a:p>
          <a:p>
            <a:pPr marL="228600" indent="-228600" eaLnBrk="1">
              <a:spcAft>
                <a:spcPts val="800"/>
              </a:spcAft>
              <a:buSzPct val="100000"/>
              <a:buChar char="•"/>
            </a:pPr>
            <a:r>
              <a:rPr lang="ko-KR" altLang="en-US" sz="2200" dirty="0">
                <a:solidFill>
                  <a:srgbClr val="14142B"/>
                </a:solidFill>
                <a:latin typeface="Malgun Gothic" pitchFamily="34" charset="0"/>
                <a:ea typeface="Malgun Gothic" pitchFamily="34" charset="-122"/>
                <a:cs typeface="Malgun Gothic" pitchFamily="34" charset="-120"/>
              </a:rPr>
              <a:t>써 봐요</a:t>
            </a:r>
            <a:r>
              <a:rPr lang="en-US" sz="2200" dirty="0">
                <a:solidFill>
                  <a:srgbClr val="14142B"/>
                </a:solidFill>
              </a:rPr>
              <a:t>: tu semana en 5 frases con </a:t>
            </a:r>
            <a:r>
              <a:rPr lang="ko-KR" altLang="en-US" sz="2200" dirty="0">
                <a:solidFill>
                  <a:srgbClr val="14142B"/>
                </a:solidFill>
                <a:latin typeface="Malgun Gothic" pitchFamily="34" charset="0"/>
                <a:ea typeface="Malgun Gothic" pitchFamily="34" charset="-122"/>
                <a:cs typeface="Malgun Gothic" pitchFamily="34" charset="-120"/>
              </a:rPr>
              <a:t>아침에</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저녁에</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주말에</a:t>
            </a:r>
            <a:r>
              <a:rPr lang="en-US" sz="2200" dirty="0">
                <a:solidFill>
                  <a:srgbClr val="14142B"/>
                </a:solidFill>
              </a:rPr>
              <a:t>, </a:t>
            </a:r>
            <a:r>
              <a:rPr lang="ko-KR" altLang="en-US" sz="2200" dirty="0">
                <a:solidFill>
                  <a:srgbClr val="14142B"/>
                </a:solidFill>
                <a:latin typeface="Malgun Gothic" pitchFamily="34" charset="0"/>
                <a:ea typeface="Malgun Gothic" pitchFamily="34" charset="-122"/>
                <a:cs typeface="Malgun Gothic" pitchFamily="34" charset="-120"/>
              </a:rPr>
              <a:t>오늘 </a:t>
            </a:r>
            <a:r>
              <a:rPr lang="en-US" sz="2200" dirty="0">
                <a:solidFill>
                  <a:srgbClr val="14142B"/>
                </a:solidFill>
              </a:rPr>
              <a:t>y </a:t>
            </a:r>
            <a:r>
              <a:rPr lang="ko-KR" altLang="en-US" sz="2200" dirty="0">
                <a:solidFill>
                  <a:srgbClr val="14142B"/>
                </a:solidFill>
                <a:latin typeface="Malgun Gothic" pitchFamily="34" charset="0"/>
                <a:ea typeface="Malgun Gothic" pitchFamily="34" charset="-122"/>
                <a:cs typeface="Malgun Gothic" pitchFamily="34" charset="-120"/>
              </a:rPr>
              <a:t>내일</a:t>
            </a:r>
            <a:endParaRPr lang="en-US" sz="2200" dirty="0"/>
          </a:p>
          <a:p>
            <a:pPr marL="228600" indent="-228600" eaLnBrk="1">
              <a:spcAft>
                <a:spcPts val="800"/>
              </a:spcAft>
              <a:buSzPct val="100000"/>
              <a:buChar char="•"/>
            </a:pPr>
            <a:r>
              <a:rPr lang="en-US" sz="2200" dirty="0">
                <a:solidFill>
                  <a:srgbClr val="14142B"/>
                </a:solidFill>
              </a:rPr>
              <a:t>Por privado (WhatsApp) antes del lunes 16: foto de la hoja o texto</a:t>
            </a:r>
            <a:endParaRPr lang="en-US" sz="2200" dirty="0"/>
          </a:p>
          <a:p>
            <a:pPr marL="228600" indent="-228600" eaLnBrk="1">
              <a:spcAft>
                <a:spcPts val="800"/>
              </a:spcAft>
              <a:buSzPct val="100000"/>
              <a:buChar char="•"/>
            </a:pPr>
            <a:r>
              <a:rPr lang="en-US" sz="2200" dirty="0">
                <a:solidFill>
                  <a:srgbClr val="14142B"/>
                </a:solidFill>
              </a:rPr>
              <a:t>Extra: un audio de 30 segundos leyendo tus 5 frases</a:t>
            </a:r>
            <a:endParaRPr lang="en-US" sz="2200" dirty="0"/>
          </a:p>
          <a:p>
            <a:pPr marL="228600" indent="-228600" eaLnBrk="1">
              <a:spcAft>
                <a:spcPts val="800"/>
              </a:spcAft>
              <a:buSzPct val="100000"/>
              <a:buChar char="•"/>
            </a:pPr>
            <a:r>
              <a:rPr lang="en-US" sz="2200" dirty="0">
                <a:solidFill>
                  <a:srgbClr val="14142B"/>
                </a:solidFill>
              </a:rPr>
              <a:t>Repasa con la grabación de la clase (link en el grupo)</a:t>
            </a:r>
            <a:endParaRPr lang="en-US" sz="2200" dirty="0"/>
          </a:p>
        </p:txBody>
      </p:sp>
      <p:sp>
        <p:nvSpPr>
          <p:cNvPr id="5" name="panel"/>
          <p:cNvSpPr/>
          <p:nvPr/>
        </p:nvSpPr>
        <p:spPr>
          <a:xfrm>
            <a:off x="8001000" y="1417320"/>
            <a:ext cx="3611880" cy="4480560"/>
          </a:xfrm>
          <a:prstGeom prst="roundRect">
            <a:avLst>
              <a:gd name="adj" fmla="val 6329"/>
            </a:avLst>
          </a:prstGeom>
          <a:solidFill>
            <a:srgbClr val="F1F0FE"/>
          </a:solidFill>
          <a:ln w="12700">
            <a:solidFill>
              <a:srgbClr val="F1F0FE"/>
            </a:solidFill>
            <a:prstDash val="solid"/>
          </a:ln>
        </p:spPr>
      </p:sp>
      <p:sp>
        <p:nvSpPr>
          <p:cNvPr id="6" name="ko_grande"/>
          <p:cNvSpPr txBox="1"/>
          <p:nvPr/>
        </p:nvSpPr>
        <p:spPr>
          <a:xfrm>
            <a:off x="8092440" y="1874520"/>
            <a:ext cx="3429000" cy="2926080"/>
          </a:xfrm>
          <a:prstGeom prst="rect">
            <a:avLst/>
          </a:prstGeom>
          <a:noFill/>
          <a:ln/>
        </p:spPr>
        <p:txBody>
          <a:bodyPr wrap="square" lIns="0" tIns="0" rIns="0" bIns="0" rtlCol="0" anchor="ctr">
            <a:normAutofit/>
          </a:bodyPr>
          <a:lstStyle/>
          <a:p>
            <a:pPr marL="0" indent="0" algn="ctr" eaLnBrk="1">
              <a:buNone/>
            </a:pPr>
            <a:r>
              <a:rPr lang="ko-KR" altLang="en-US" sz="7000" b="1" dirty="0">
                <a:solidFill>
                  <a:srgbClr val="4236F6"/>
                </a:solidFill>
                <a:latin typeface="Malgun Gothic" pitchFamily="34" charset="0"/>
                <a:ea typeface="Malgun Gothic" pitchFamily="34" charset="-122"/>
                <a:cs typeface="Malgun Gothic" pitchFamily="34" charset="-120"/>
              </a:rPr>
              <a:t>써 봐요</a:t>
            </a:r>
            <a:endParaRPr lang="en-US" sz="7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wrap="square">
            <a:normAutofit/>
          </a:bodyPr>
          <a:lstStyle>
            <a:lvl1pPr>
              <a:defRPr sz="1000">
                <a:solidFill>
                  <a:srgbClr val="8A8DA0"/>
                </a:solidFill>
              </a:defRPr>
            </a:lvl1pPr>
          </a:lstStyle>
          <a:p>
            <a:pPr algn="r" eaLnBrk="1"/>
            <a:fld id="{F7021451-1387-4CA6-816F-3879F97B5CBC}" type="slidenum">
              <a:rPr lang="en-US" b="0"/>
              <a:pPr algn="r" eaLnBrk="1"/>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731520" y="1691640"/>
            <a:ext cx="10725912" cy="1097280"/>
          </a:xfrm>
          <a:prstGeom prst="rect">
            <a:avLst/>
          </a:prstGeom>
          <a:noFill/>
          <a:ln/>
        </p:spPr>
        <p:txBody>
          <a:bodyPr wrap="square" lIns="0" tIns="0" rIns="0" bIns="0" rtlCol="0" anchor="ctr"/>
          <a:lstStyle/>
          <a:p>
            <a:pPr marL="0" indent="0" algn="ctr" eaLnBrk="1">
              <a:buNone/>
            </a:pPr>
            <a:r>
              <a:rPr lang="ko-KR" altLang="en-US" sz="3000" b="1" dirty="0">
                <a:solidFill>
                  <a:srgbClr val="FFFFFF"/>
                </a:solidFill>
                <a:latin typeface="Malgun Gothic" pitchFamily="34" charset="0"/>
                <a:ea typeface="Malgun Gothic" pitchFamily="34" charset="-122"/>
                <a:cs typeface="Malgun Gothic" pitchFamily="34" charset="-120"/>
              </a:rPr>
              <a:t>감사합니다</a:t>
            </a:r>
            <a:r>
              <a:rPr lang="en-US" sz="3000" b="1" dirty="0">
                <a:solidFill>
                  <a:srgbClr val="FFFFFF"/>
                </a:solidFill>
              </a:rPr>
              <a:t>! </a:t>
            </a:r>
            <a:r>
              <a:rPr lang="ko-KR" altLang="en-US" sz="3000" b="1" dirty="0">
                <a:solidFill>
                  <a:srgbClr val="FFFFFF"/>
                </a:solidFill>
                <a:latin typeface="Malgun Gothic" pitchFamily="34" charset="0"/>
                <a:ea typeface="Malgun Gothic" pitchFamily="34" charset="-122"/>
                <a:cs typeface="Malgun Gothic" pitchFamily="34" charset="-120"/>
              </a:rPr>
              <a:t>화이팅</a:t>
            </a:r>
            <a:r>
              <a:rPr lang="en-US" sz="3000" b="1" dirty="0">
                <a:solidFill>
                  <a:srgbClr val="FFFFFF"/>
                </a:solidFill>
              </a:rPr>
              <a:t>!  ¡Gracias! ¡Ánimo!</a:t>
            </a:r>
            <a:endParaRPr lang="en-US" sz="4000" dirty="0"/>
          </a:p>
        </p:txBody>
      </p:sp>
      <p:sp>
        <p:nvSpPr>
          <p:cNvPr id="3" name="Text 0"/>
          <p:cNvSpPr>
            <a:spLocks noGrp="1"/>
          </p:cNvSpPr>
          <p:nvPr>
            <p:ph type="body" idx="102" hasCustomPrompt="1"/>
          </p:nvPr>
        </p:nvSpPr>
        <p:spPr>
          <a:xfrm>
            <a:off x="1463040" y="2971800"/>
            <a:ext cx="9262872" cy="2926080"/>
          </a:xfrm>
          <a:prstGeom prst="rect">
            <a:avLst/>
          </a:prstGeom>
          <a:noFill/>
          <a:ln/>
        </p:spPr>
        <p:txBody>
          <a:bodyPr wrap="square" lIns="0" tIns="0" rIns="0" bIns="0" rtlCol="0" anchor="t">
            <a:normAutofit/>
          </a:bodyPr>
          <a:lstStyle/>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La clase 5 abre con un quiz corto de 언제</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Quiz: 언제</a:t>
            </a:r>
            <a:r>
              <a:rPr lang="en-US" sz="1800" dirty="0">
                <a:solidFill>
                  <a:srgbClr val="FFFFFF"/>
                </a:solidFill>
              </a:rPr>
              <a:t>? · ¿</a:t>
            </a:r>
            <a:r>
              <a:rPr lang="ko-KR" altLang="en-US" sz="1800" dirty="0">
                <a:solidFill>
                  <a:srgbClr val="FFFFFF"/>
                </a:solidFill>
                <a:latin typeface="Malgun Gothic" pitchFamily="34" charset="0"/>
                <a:ea typeface="Malgun Gothic" pitchFamily="34" charset="-122"/>
                <a:cs typeface="Malgun Gothic" pitchFamily="34" charset="-120"/>
              </a:rPr>
              <a:t>에 </a:t>
            </a:r>
            <a:r>
              <a:rPr lang="en-US" sz="1800" dirty="0">
                <a:solidFill>
                  <a:srgbClr val="FFFFFF"/>
                </a:solidFill>
              </a:rPr>
              <a:t>o nada? · ¿</a:t>
            </a:r>
            <a:r>
              <a:rPr lang="ko-KR" altLang="en-US" sz="1800" dirty="0">
                <a:solidFill>
                  <a:srgbClr val="FFFFFF"/>
                </a:solidFill>
                <a:latin typeface="Malgun Gothic" pitchFamily="34" charset="0"/>
                <a:ea typeface="Malgun Gothic" pitchFamily="34" charset="-122"/>
                <a:cs typeface="Malgun Gothic" pitchFamily="34" charset="-120"/>
              </a:rPr>
              <a:t>아침 </a:t>
            </a:r>
            <a:r>
              <a:rPr lang="en-US" sz="1800" dirty="0">
                <a:solidFill>
                  <a:srgbClr val="FFFFFF"/>
                </a:solidFill>
              </a:rPr>
              <a:t>o </a:t>
            </a:r>
            <a:r>
              <a:rPr lang="ko-KR" altLang="en-US" sz="1800" dirty="0">
                <a:solidFill>
                  <a:srgbClr val="FFFFFF"/>
                </a:solidFill>
                <a:latin typeface="Malgun Gothic" pitchFamily="34" charset="0"/>
                <a:ea typeface="Malgun Gothic" pitchFamily="34" charset="-122"/>
                <a:cs typeface="Malgun Gothic" pitchFamily="34" charset="-120"/>
              </a:rPr>
              <a:t>내일</a:t>
            </a:r>
            <a:r>
              <a:rPr lang="en-US" sz="1800" dirty="0">
                <a:solidFill>
                  <a:srgbClr val="FFFFFF"/>
                </a:solidFill>
              </a:rPr>
              <a:t>?</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Clase 5 · miércoles 18 de noviembre · 21:00: 있어요 </a:t>
            </a:r>
            <a:r>
              <a:rPr lang="en-US" sz="1800" dirty="0">
                <a:solidFill>
                  <a:srgbClr val="FFFFFF"/>
                </a:solidFill>
              </a:rPr>
              <a:t>· </a:t>
            </a:r>
            <a:r>
              <a:rPr lang="ko-KR" altLang="en-US" sz="1800" dirty="0">
                <a:solidFill>
                  <a:srgbClr val="FFFFFF"/>
                </a:solidFill>
                <a:latin typeface="Malgun Gothic" pitchFamily="34" charset="0"/>
                <a:ea typeface="Malgun Gothic" pitchFamily="34" charset="-122"/>
                <a:cs typeface="Malgun Gothic" pitchFamily="34" charset="-120"/>
              </a:rPr>
              <a:t>없어요 </a:t>
            </a:r>
            <a:r>
              <a:rPr lang="en-US" sz="1800" dirty="0">
                <a:solidFill>
                  <a:srgbClr val="FFFFFF"/>
                </a:solidFill>
              </a:rPr>
              <a:t>· </a:t>
            </a:r>
            <a:r>
              <a:rPr lang="ko-KR" altLang="en-US" sz="1800" dirty="0">
                <a:solidFill>
                  <a:srgbClr val="FFFFFF"/>
                </a:solidFill>
                <a:latin typeface="Malgun Gothic" pitchFamily="34" charset="0"/>
                <a:ea typeface="Malgun Gothic" pitchFamily="34" charset="-122"/>
                <a:cs typeface="Malgun Gothic" pitchFamily="34" charset="-120"/>
              </a:rPr>
              <a:t>아니에요</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오늘 정말 잘했어요</a:t>
            </a:r>
            <a:r>
              <a:rPr lang="en-US" sz="1800" dirty="0">
                <a:solidFill>
                  <a:srgbClr val="FFFFFF"/>
                </a:solidFill>
              </a:rPr>
              <a:t>!</a:t>
            </a:r>
            <a:endParaRPr lang="en-US" sz="2200" dirty="0"/>
          </a:p>
          <a:p>
            <a:pPr marL="0" indent="0" algn="ctr" eaLnBrk="1">
              <a:buNone/>
            </a:pPr>
            <a:r>
              <a:rPr lang="ko-KR" altLang="en-US" sz="1800" dirty="0">
                <a:solidFill>
                  <a:srgbClr val="FFFFFF"/>
                </a:solidFill>
                <a:latin typeface="Malgun Gothic" pitchFamily="34" charset="0"/>
                <a:ea typeface="Malgun Gothic" pitchFamily="34" charset="-122"/>
                <a:cs typeface="Malgun Gothic" pitchFamily="34" charset="-120"/>
              </a:rPr>
              <a:t>감사합니다 </a:t>
            </a:r>
            <a:r>
              <a:rPr lang="en-US" sz="1800" dirty="0">
                <a:solidFill>
                  <a:srgbClr val="FFFFFF"/>
                </a:solidFill>
              </a:rPr>
              <a:t>· </a:t>
            </a:r>
            <a:r>
              <a:rPr lang="ko-KR" altLang="en-US" sz="1800" dirty="0">
                <a:solidFill>
                  <a:srgbClr val="FFFFFF"/>
                </a:solidFill>
                <a:latin typeface="Malgun Gothic" pitchFamily="34" charset="0"/>
                <a:ea typeface="Malgun Gothic" pitchFamily="34" charset="-122"/>
                <a:cs typeface="Malgun Gothic" pitchFamily="34" charset="-120"/>
              </a:rPr>
              <a:t>화이팅</a:t>
            </a:r>
            <a:endParaRPr lang="en-US" sz="2200" dirty="0"/>
          </a:p>
        </p:txBody>
      </p:sp>
    </p:spTree>
  </p:cSld>
  <p:clrMapOvr>
    <a:masterClrMapping/>
  </p:clrMapOvr>
</p:sld>
</file>

<file path=ppt/theme/theme1.xml><?xml version="1.0" encoding="utf-8"?>
<a:theme xmlns:a="http://schemas.openxmlformats.org/drawingml/2006/main" name="Academia Seul">
  <a:themeElements>
    <a:clrScheme name="Academia Seul">
      <a:dk1>
        <a:srgbClr val="14142B"/>
      </a:dk1>
      <a:lt1>
        <a:srgbClr val="FFFFFF"/>
      </a:lt1>
      <a:dk2>
        <a:srgbClr val="003478"/>
      </a:dk2>
      <a:lt2>
        <a:srgbClr val="F1F0FE"/>
      </a:lt2>
      <a:accent1>
        <a:srgbClr val="4236F6"/>
      </a:accent1>
      <a:accent2>
        <a:srgbClr val="E8B84B"/>
      </a:accent2>
      <a:accent3>
        <a:srgbClr val="003478"/>
      </a:accent3>
      <a:accent4>
        <a:srgbClr val="8A83FF"/>
      </a:accent4>
      <a:accent5>
        <a:srgbClr val="5C5F6B"/>
      </a:accent5>
      <a:accent6>
        <a:srgbClr val="B8962E"/>
      </a:accent6>
      <a:hlink>
        <a:srgbClr val="4236F6"/>
      </a:hlink>
      <a:folHlink>
        <a:srgbClr val="003478"/>
      </a:folHlink>
    </a:clrScheme>
    <a:fontScheme name="Academia Seu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5900</Words>
  <Application>Microsoft Office PowerPoint</Application>
  <PresentationFormat>Widescreen</PresentationFormat>
  <Paragraphs>444</Paragraphs>
  <Slides>29</Slides>
  <Notes>29</Notes>
  <HiddenSlides>0</HiddenSlides>
  <MMClips>26</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Malgun Gothic</vt:lpstr>
      <vt:lpstr>Arial</vt:lpstr>
      <vt:lpstr>Academia Seul</vt:lpstr>
      <vt:lpstr>Básico 2 · Clase 4</vt:lpstr>
      <vt:lpstr>오늘 뭘 해요?  Mientras llegan   While everyone joins</vt:lpstr>
      <vt:lpstr>복습 퀴즈  Quiz de la clase 3   Class 3 quiz</vt:lpstr>
      <vt:lpstr>본문  Escena: una videollamada   Scene: a video call</vt:lpstr>
      <vt:lpstr>본문  La videollamada   The video call</vt:lpstr>
      <vt:lpstr>¿Entendiste?   Did you get it?</vt:lpstr>
      <vt:lpstr>배워 봐요  Palabras nuevas   New words</vt:lpstr>
      <vt:lpstr>아침 · 내일  «Mañana» en español = dos palabras</vt:lpstr>
      <vt:lpstr>Más momentos del día   More times of day</vt:lpstr>
      <vt:lpstr>읽어 봐요  El 에 se pega a la palabra   에 links to the word</vt:lpstr>
      <vt:lpstr>La pregunta de hoy: 언제?   Today's question: when?</vt:lpstr>
      <vt:lpstr>아침에 · 오늘  ¿Con 에 o sin 에?   With 에 or without?</vt:lpstr>
      <vt:lpstr>Cambia 언제 por el momento   Swap 언제 for the time</vt:lpstr>
      <vt:lpstr>Dos datos útiles   Two useful tips</vt:lpstr>
      <vt:lpstr>연습해요  Arma la frase   Build the sentence</vt:lpstr>
      <vt:lpstr>연습해요  ¿에 o nada?   에 or nothing?</vt:lpstr>
      <vt:lpstr>연습해요  Ahora tú preguntas   Now you ask</vt:lpstr>
      <vt:lpstr>들어 봐요  Escucha a Jay: ¿cuándo?   Listen: when?</vt:lpstr>
      <vt:lpstr>들어 봐요  ¿내일 o 매일?   내일 or 매일?</vt:lpstr>
      <vt:lpstr>언제 ___?  Drill en cadena   Chain drill</vt:lpstr>
      <vt:lpstr>이야기해요  Sala, parte 1: ¿cuándo lo haces?</vt:lpstr>
      <vt:lpstr>같이 해요  Sala, parte 2: cadena de memoria</vt:lpstr>
      <vt:lpstr>같이 해요  Así suena la cadena   This is how the chain sounds</vt:lpstr>
      <vt:lpstr>자유 시간  Sala, parte 3: minuto libre   Breakout part 3: free talk</vt:lpstr>
      <vt:lpstr>¿Qué descubriste?   What did you find out?</vt:lpstr>
      <vt:lpstr>오늘의 문장  3 frases clave   3 key sentences</vt:lpstr>
      <vt:lpstr>이렇게 말해요  Errores del día   Today's mistakes</vt:lpstr>
      <vt:lpstr>써 봐요  Tarea   Homework</vt:lpstr>
      <vt:lpstr>감사합니다! 화이팅!  ¡Gracias! ¡Ánimo!</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Básico 2 (A1.2) · Semana 4 · 언제 수영을 해요? · ¿Cuándo nadas? Decir cuándo hacemos algo (아침 · 저녁 · 오늘 · 내일)</dc:title>
  <dc:subject>PptxGenJS Presentation</dc:subject>
  <dc:creator>Academia Seúl</dc:creator>
  <cp:lastModifiedBy>Jae Hee Kim</cp:lastModifiedBy>
  <cp:revision>2</cp:revision>
  <dcterms:created xsi:type="dcterms:W3CDTF">2026-10-22T12:13:49Z</dcterms:created>
  <dcterms:modified xsi:type="dcterms:W3CDTF">2026-10-22T12:14:37Z</dcterms:modified>
</cp:coreProperties>
</file>