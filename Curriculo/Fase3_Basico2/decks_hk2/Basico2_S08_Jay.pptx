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8" id="{CD4C80A9-E8B6-A935-C7A7-9B1E805B15A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22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 (1 min). Inicia la grabación en la nube. Saluda a cada uno por su nombre cuando entra («안녕하세요, ___ 씨!»). «Hoy es la última clase de Básico 2: 마지막 수업이에요!» (마지막 = último; que lo repitan una vez). Pasa a L2 apenas haya 2 o 3 conectados. Referencia: 한국어 2, lecciones 9 y 10, págs. 86–105.
Fuente: Portada de la plantilla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21:01–21:04 (3 min). Antes del quiz (20 s): agradece las tareas que llegaron y di el error más común, sin nombres (cada una ya la corregiste por WhatsApp). Quiz de la clase 7 (lecciones 7 y 8): números nativos (하나…열), sino-coreanos (일…십), 몇 살 y 몇 개. Pregunta en coreano; responden en coro o en el chat y la respuesta aparece con clic. Ojo con 한, 두, 세 y 네 delante de 개 y 살 (no «하나 개» ni «셋 살»). Si un número sale mal, dilo bien y que lo repita, sin explicar. Si vas atrasado, solo la 1, la 2, la 5 y la 6. Referencia: 한국어 2, lecciones 7 y 8, págs. 66–85.
Imagen: incluida (dibujo de la casa).
Fuente: Nueva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21:04–21:05 (1 min). «Hoy aprendemos a dar nuestra opinión: ¿qué tal la comida, la película, el zoológico? Después repasamos todo el libro, jugamos en salas y cerramos el curso.» No te detengas aquí.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21:05–21:08 (3 min). 본문 (escena de apertura). 1) Reproduce cada línea (audio) o léela tú, y todos repiten en coro: cada frase se oye y se repite ANTES de explicarla. 2) Pregunta en español: «¿Qué palabra se repite en las preguntas?» → 어때요. «¿Cuáles son buenas noticias y cuál es mala?» → 재미있어요 y 맛있어요 / 맛없어요. 3) Segunda lectura a dos voces: tú haces de 하나 y de 마테오; el grupo, de 발렌티나. Escena original: no es la del libro. Referencia: 한국어 2, lección 9, págs. 86 y 88 (본문).
Imagen: incluida (dibujo de la casa).
Fuente: Nueva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21:08–21:09 (1 min). Preguntas de comprensión en coreano; responden en coro y la respuesta aparece con clic. En la 5 usas 은요? («¿y el de 도윤?»), que ya conocen por «___ 씨는요?». Si vas atrasado, solo la 2, la 4 y la 5.
Fuente: Nueva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21:09–21:12 (3 min). 배워 봐요. Para cada palabra: muestra la imagen y pregunta en español «¿qué ven?» (5 s); pon el audio y repiten 2 veces en coro. Después tapa la palabra y muestra solo la imagen: ellos la dicen (2 o 3 rondas, como sugiere la guía). Gestos fijos para toda la clase: 커요 = brazos abiertos; 작아요 = pulgar e índice casi juntos; 재미있어요 = sonrisa grande; 재미없어요 = bostezo; 맛있어요 = el índice en la mejilla, girándolo: es el gesto de «¡qué rico!» de los niños coreanos, juguetón, con 애교; entre adultos se hace en broma; 맛없어요 = cara de asco. 재미없어요 es el «fome» chileno. Referencia: 한국어 2, lección 9, pág. 87; guía, pág. 89.
Imagen: incluida (dibujo de la casa).
Fuente: Nueva (vocabulario meta de la lección 9)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21:12–21:13 (1 min). «¿Se acuerdan de 있어요 y 없어요 de la lección 4 (tener y no tener)? 재미 es 'diversión' y 맛 es 'sabor'. 재미있어요 es 'tiene diversión': entretenido. 맛없어요, literalmente 'no tiene sabor', significa 'está malo'; no quiere decir insípido. Para decir lo contrario, cambien 있어요 por 없어요.» Se escriben juntos, sin espacio. Pronunciación: 맛있어요 [마시써요], 맛없어요 [마덥써요]. Referencia: 한국어 2, lección 9, pág. 87; lección 4, pág. 36.
Fuente: Nueva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21:13–21:15 (2 min). Paso 1, escuchar: audio 2 veces. Paso 2, repetir: en coro y después 2 o 3 alumnos solos, con entonación de pregunta. Explica en una frase: «어때요? es '¿qué tal?' o '¿cómo es?': sirve para pedir la opinión sobre cualquier cosa. Se responde con las palabras de hoy, sin 이에요, porque 맛있어요 ya significa 'está rico'.» Pregunta a 2 personas «김치가 어때요?» y acepta lo que digan (맛있어요, 맛없어요). Referencia: 한국어 2, lección 9, pág. 88; guía, pág. 90.
Imagen: incluida (dibujo de la casa).
Fuente: Nueva (frase mínima del patrón)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21:15–21:17 (2 min). Paso 3, práctica controlada. Recuerda la regla del sujeto (lección 1): consonante + 이 (라면이, 수업이, 가방이); vocal + 가 (김치가, 영화가, 코끼리가). Ojo con 콩이: termina en vocal, así que es 콩이가. Tapa la columna 3: tú preguntas y ellos responden con su opinión real (pueden decir lo contrario del ejemplo: a alguien no le va a gustar el kimchi). Después, un alumno pregunta a otro.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21:17–21:18 (1 min). Solo reconocimiento. Primero di 2 veces «코끼리가 정말 커요!» y «서울은 커요. 우리 동네는 작아요.» (동네 = barrio, de Básico 1); el grupo repite. Después: «El título de la lección es 코끼리는 커요, con 는. ¿Por qué no 코끼리가? 이/가 describe lo que tienes delante, como 하나 en el zoológico: 코끼리가 정말 커요! 은/는 habla del tema en general (los elefantes son grandes) o contrasta: Seúl es grande; mi barrio, en cambio, es chico. Las dos están bien.» Columna 3: 은요?/는요? para preguntar por otra cosa, como en la escena (도윤 씨 라면은요?). No profundices. Referencia: 한국어 2, lección 9, pág. 86.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21:18–21:21 (3 min). 연습해요. Pregunta con cada imagen; responden primero en coro y después uno por uno; revela con clic. Exige la palabra en la respuesta («네, 커요», no solo «네»). En la 1, la 2 y la 5 (어때요?) se responde solo con la palabra, sin 네/아니요; en la 3 y la 4 la respuesta es «아니요 + lo contrario». Es el tipo de actividad del libro (unir imagen y palabra, completar), con ítems originales. Referencia: 한국어 2, lección 9, págs. 89–90; guía, págs. 91–92.
Imagen: incluida (dibujo de la casa).
Fuente: Nueva (tipo de actividad del libro, págs. 89–90)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21:21–21:23 (2 min). Paso 4, sobre ti. Haz cada pregunta a una persona distinta; responden de verdad, primero en el chat y después en voz alta. Si alguien responde «네» a 어때요?, repite la pregunta y ofrécele dos opciones: «맛있어요? 맛없어요?» o «재미있어요? 재미없어요?». Idea de la guía, pág. 92 (preguntar 뭐예요? y después 어때요? sobre cosas conocidas).
Fuente: Idea de la guía, pág. 92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21:23–21:25 (2 min). 배워 봐요, ampliación del libro. Mismo método: imagen, audio y coro. 코끼리 es la palabra del título; 기린, 코 y 목 son extra (solo para el juego, no entran en ningún quiz). Lee el subtítulo: «기린은 목이 길어요. 코끼리는 코가 길어요.» y que lo repitan. Literalmente: 'la jirafa, el cuello es largo'. El animal lleva 은/는 y la parte del cuerpo, 이/가. Así preguntan en el juego: 목이 길어요? Aviso importante, dicho con humor: 뚱뚱해요 y 날씬해요, en esta clase, solo para animales; nunca para personas del grupo. Referencia: 한국어 2, lección 9, pág. 93 (vocabulario de ampliación); guía, pág. 95. 짧아요 [짤바요], no 짭아요; 어때요 con ㄸ tensa, no 어대요.
Imagen: incluida (dibujo de la casa).
Fuente: Nueva (vocabulario de ampliación de la lección 9 + 3 palabras extra)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Opcional, solo si vas adelantado (1 min). Di «읽으세요»: el grupo lee en coro y después 2 alumnos solos. Fíjate en: 맛있어요 [마시써요] (la ㅅ pasa a la sílaba siguiente; [마디써요] también es correcto); 맛없어요 [마덥써요] (aquí no hay opción: suena ㄷ); 재미없어요 [재미업써요]; 작아요 [자가요]; 짧아요 [짤바요] (se oye la ㅂ: no «짭아요»); 길어요 [기러요]. Y 어때요 lleva ㄸ tensa: no «어대요».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21:25–21:28 (3 min). 들어 봐요 en vivo. Lee cada minidiálogo 2 veces, con dos voces (cambia el tono o mira hacia un lado); escriben A o B en el chat y revelas con clic. Guion: 1) 가: 라면이 어때요? 나: 정말 맛있어요! 2) 가: 이 드라마가 어때요? 나: 음… 재미없어요. 3) 가: 하나 씨 가방이 커요? 나: 아니요, 작아요. 4) 가: 도윤 씨, 콩이가 뚱뚱해요? 나: 아니요, 날씬해요. 5) 가: 이 연필이 길어요? 나: 아니요, 짧아요. 6) 가: 동물원이 어때요? 나: 재미있어요! Al final, vuelve a leer los 6 y que repitan, como sugiere la guía. Guion original (el del libro no se usa). Referencia: 한국어 2, lección 9, pág. 92; guía, pág. 94.
Imagen: incluida (dibujo de la casa).
Fuente: Nueva (tipo de actividad del libro, pág. 92; guion original)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21:28–21:30 (2 min). Lección 10, 종합 연습. «Todo el libro en una tabla.» Lee la pregunta de cada fila; el grupo responde en coro (tapa la columna 3 si quieres que lo saquen solos). En la fila 5, muestra un zapato (o la foto de uno) al preguntar. Ve rápido: la idea es que vean cuánto saben ya. Referencia: 한국어 2, lección 10, págs. 96–105.
Fuente: Nueva (resumen de las lecciones 1–9)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21:30–21:32 (2 min). 연습해요 de la lección 10: leen la respuesta y dicen la pregunta. Antes de cada ítem, di qué parte preguntar: 1 «내일», 2 «도윤 씨», 3 «식당», 4 «두 개». Primero en el chat y después en voz alta; revela con clic. También vale cualquier pregunta correcta: 1 내일 뭐 해요? / 내일 어디에 가요? · 2 도윤 씨가 뭐 해요? · 3 도윤 씨는 식당에서 뭐 해요? · 4 뭐가 있어요? La 6 tiene muchas respuestas posibles (cualquier comida + 어때요?, o 맛있어요?). En la 3, 식당 se pronuncia [식땅]. Es el tipo de actividad del libro (escribir la pregunta), con ítems originales. Referencia: 한국어 2, lección 10, págs. 96–98.
Fuente: Nueva (tipo de actividad del libro, pág. 96)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21:32–21:35 (3 min). Drill en cadena: la ruleta de frases (idea del 사다리 타기 del libro, pág. 103, adaptada a Zoom). Antes de empezar, fija el orden de los turnos (el de la galería de Zoom o una lista que pegues en el chat) y que cada uno nombre al siguiente. El alumno A dice 4 números en sino-coreano («삼, 일, 오, 이»); el alumno B arma la frase con las 4 columnas: «발렌티나 씨가 아침에 회사에서 노래해요.» Tú preguntas «어때요?» y B inventa: «재미있어요!» (o 재미없어요). Luego B le dice 4 números al siguiente. Las frases absurdas (콩이가 회사에서 자전거를 타요) son bienvenidas: dan risa y se recuerdan. Ritmo: 30 s por persona; si alguien se traba, el grupo le sopla.
Fuente: Idea del libro, pág. 103 (사다리 타기), adaptada a Zoom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21:35–21:37 (2 min, en la sala principal). Explica las 3 partes con L19–L25 sin detenerte en cada una: modela el juego con un alumno en 30 s (tú piensas en 기린; él pregunta «커요?», «목이 길어요?»…). Antes de abrir las salas, pega en el chat: «Hoja, Para la sala de Zoom: Parte 1 이야기해요 · Parte 2 어떤 동물이에요? → 어떤 음식이에요? · Parte 3 Minuto libre». Para el minuto libre, una frase: «누구하고? = ¿con quién? 하고 también significa 'con' (lo oyeron en la clase 6: 서아하고 빵 가게에 가요): 친구하고 = con un amigo; si lo haces solo, 혼자.» Zoom: salas de 2 (si son impares, una de 3), 18 minutos, cierre automático con cuenta regresiva de 60 s. Usa «Transmitir mensaje» a las 21:42 («같이 해요!»), a las 21:47 («Ronda 2: 음식») y a las 21:52 («Minuto libre»).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21:37–21:42 (5 min en salas). 이야기해요. Por turnos: A nombra una cosa y pregunta «___이/가 어때요?» o «___이/가 재미있어요?/맛있어요?»; B responde con su opinión real (a «어때요?», solo la palabra: 맛있어요!; a «맛있어요?», 네/아니요 + la palabra) y devuelve la pregunta con 은/는요? («___ 씨는요?»). Cambian de rol cada 4 preguntas. Idea de la guía, pág. 93 (preguntar y responder por turnos con imágenes), con cosas de adultos. Referencia: 한국어 2, lección 9, pág. 91.
Imagen: incluida (dibujo de la casa).
Fuente: Idea de la guía, pág. 93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21:42–21:47 (5 min en salas). Ronda 1 del juego: idea del 같이 해요 del libro (pág. 93) y de la guía (pág. 95), con reglas propias para Zoom. Si B no adivina en 5 preguntas, A gana 1 punto y muestra su papel a la cámara. Lo que cuenta no es el puntaje sino la respuesta completa. Cuando pases por las salas, exige la respuesta completa («네, 코가 길어요») y celebra las adivinanzas rápidas. Referencia: 한국어 2, lección 9, pág. 93; guía, pág. 95.
Fuente: Idea del libro, pág. 93, y de la guía, pág. 95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21:36 (unos segundos, en la explicación). En las salas no se ve tu pantalla: los animales están en la hoja. 곰, 토끼 y 강아지 salieron en la lección 4 (인형); 고양이, en Básico 1; 코끼리 es la palabra del título; 기린 es extra. Si alguien quiere usar otro animal, que te lo pregunte en español cuando pases por su sala y se lo das en coreano.
Imagen: incluida (dibujo de la casa).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21:36 (unos segundos, en la explicación). En las salas no se ve tu pantalla: el banco de preguntas está en la hoja. Si un animal «no es ni gordo ni flaco», vale «음… 아니요.» 코 resuelve el elefante y 목 la jirafa: por eso el juego se termina rápido y hay ronda 2.
Fuente: Nueva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21:47–21:52 (5 min en salas). Mismas reglas, ahora con comida. Repasa la lección 5 (이/가 아니에요) al adivinar y la regla 이에요/예요 de Básico 1. Las respuestas se pueden discutir (¿el kimchi es 맛있어요 o 맛없어요?): mejor, así hablan más.
Fuente: Nueva (mismo tipo de juego)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21:52–21:55 (3 min en salas). Minuto libre: cada uno cuenta su actividad favorita con las preguntas del libro (뭐, 언제, 어디에서) + 누구하고 (¿con quién?), que es nueva: explícala en una frase en la sala principal (하고 también significa «con»; si alguien lo hace solo: 혼자 해요) + 어때요?. Las respuestas de la lámina son solo un ejemplo: cada uno dice lo suyo, y así ensaya la tarea final. Pueden mirar la hoja si se traban. A las 21:54, la cuenta regresiva de 60 s. Referencia: 한국어 2, lección 10, pág. 100 (tipo de actividad; contenido original para adultos).
Fuente: Idea del libro, pág. 100 (tipo de actividad)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21:55–21:56 (1 min). Vuelven todos. Muestra los errores típicos y agrega 1 o 2 que hayas oído en las salas, sin decir de quién son. Di cada versión correcta en coreano y que el grupo la repita. Sobre el 4: en Chile se dice «qué rico» de muchas cosas; 맛있어요 es solo para lo que se come o se toma.
Fuente: Nueva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21:56–21:57 (1 min). Las 3 frases en coro: audio, coro y coro con el gesto. «Con estas tres ya pueden opinar de casi todo en coreano.»
Fuente: Nueva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 (30 s). Tarea final (써 봐요 en la hoja): ejercicios 1 a 3 + «Mi actividad favorita» en 5 frases (lo mismo que contaron en el minuto libre), con foto y audio por WhatsApp antes del domingo 13 de diciembre. Tú respondes a cada uno con un audio corto. Referencia: 한국어 2, lección 9, pág. 95, y lección 10, pág. 101 (써 봐요).
Fuente: Nueva (tipo de actividad del libro, págs. 95 y 101)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21:57–21:59 (2 min). Cierre del curso. «En estas 8 clases terminaron todo el libro 한국어 2: desde la clase 2, sus 9 lecciones y el repaso final. Ya saben decir quién hace algo, con quién, cuándo, dónde, cuántos hay, la edad y qué tal es algo.» Certificado y enero de 2027: di solo lo que ya esté decidido (ver dudas); el resto llega por WhatsApp esta semana. Foto: pregunta «¿Puedo sacar una captura con todos? Es solo para el grupo»; quien no quiera, apaga la cámara. No la publiques sin permiso escrito.
Fuente: Nueva
Lámina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(1 min). (KO) «여러분, 정말 잘했어요! 정말 감사합니다! 또 만나요!» Con una leve inclinación: «감사합니다!» → el grupo: «감사합니다!». A las 22:00: «Finalizar reunión para todos» y detén la grabación.
Fuente: Nueva
Lámina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8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8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8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p3"/><Relationship Id="rId13" Type="http://schemas.openxmlformats.org/officeDocument/2006/relationships/slideLayout" Target="../slideLayouts/slideLayout3.xml"/><Relationship Id="rId3" Type="http://schemas.microsoft.com/office/2007/relationships/media" Target="../media/media3.mp3"/><Relationship Id="rId7" Type="http://schemas.microsoft.com/office/2007/relationships/media" Target="../media/media5.mp3"/><Relationship Id="rId12" Type="http://schemas.openxmlformats.org/officeDocument/2006/relationships/audio" Target="../media/media7.mp3"/><Relationship Id="rId2" Type="http://schemas.openxmlformats.org/officeDocument/2006/relationships/audio" Target="../media/media2.mp3"/><Relationship Id="rId16" Type="http://schemas.openxmlformats.org/officeDocument/2006/relationships/image" Target="../media/image6.png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5" Type="http://schemas.microsoft.com/office/2007/relationships/media" Target="../media/media4.mp3"/><Relationship Id="rId15" Type="http://schemas.openxmlformats.org/officeDocument/2006/relationships/image" Target="../media/image7.png"/><Relationship Id="rId10" Type="http://schemas.openxmlformats.org/officeDocument/2006/relationships/audio" Target="../media/media6.mp3"/><Relationship Id="rId4" Type="http://schemas.openxmlformats.org/officeDocument/2006/relationships/audio" Target="../media/media3.mp3"/><Relationship Id="rId9" Type="http://schemas.microsoft.com/office/2007/relationships/media" Target="../media/media6.mp3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10.png"/><Relationship Id="rId3" Type="http://schemas.microsoft.com/office/2007/relationships/media" Target="../media/media9.mp3"/><Relationship Id="rId21" Type="http://schemas.openxmlformats.org/officeDocument/2006/relationships/image" Target="../media/image13.png"/><Relationship Id="rId7" Type="http://schemas.microsoft.com/office/2007/relationships/media" Target="../media/media11.mp3"/><Relationship Id="rId12" Type="http://schemas.openxmlformats.org/officeDocument/2006/relationships/audio" Target="../media/media13.mp3"/><Relationship Id="rId17" Type="http://schemas.openxmlformats.org/officeDocument/2006/relationships/image" Target="../media/image9.png"/><Relationship Id="rId2" Type="http://schemas.openxmlformats.org/officeDocument/2006/relationships/audio" Target="../media/media8.mp3"/><Relationship Id="rId16" Type="http://schemas.openxmlformats.org/officeDocument/2006/relationships/image" Target="../media/image6.png"/><Relationship Id="rId20" Type="http://schemas.openxmlformats.org/officeDocument/2006/relationships/image" Target="../media/image12.png"/><Relationship Id="rId1" Type="http://schemas.microsoft.com/office/2007/relationships/media" Target="../media/media8.mp3"/><Relationship Id="rId6" Type="http://schemas.openxmlformats.org/officeDocument/2006/relationships/audio" Target="../media/media10.mp3"/><Relationship Id="rId11" Type="http://schemas.microsoft.com/office/2007/relationships/media" Target="../media/media13.mp3"/><Relationship Id="rId5" Type="http://schemas.microsoft.com/office/2007/relationships/media" Target="../media/media10.mp3"/><Relationship Id="rId15" Type="http://schemas.openxmlformats.org/officeDocument/2006/relationships/image" Target="../media/image8.png"/><Relationship Id="rId10" Type="http://schemas.openxmlformats.org/officeDocument/2006/relationships/audio" Target="../media/media12.mp3"/><Relationship Id="rId19" Type="http://schemas.openxmlformats.org/officeDocument/2006/relationships/image" Target="../media/image11.png"/><Relationship Id="rId4" Type="http://schemas.openxmlformats.org/officeDocument/2006/relationships/audio" Target="../media/media9.mp3"/><Relationship Id="rId9" Type="http://schemas.microsoft.com/office/2007/relationships/media" Target="../media/media12.mp3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18.mp3"/><Relationship Id="rId13" Type="http://schemas.microsoft.com/office/2007/relationships/media" Target="../media/media21.mp3"/><Relationship Id="rId18" Type="http://schemas.openxmlformats.org/officeDocument/2006/relationships/notesSlide" Target="../notesSlides/notesSlide13.xml"/><Relationship Id="rId26" Type="http://schemas.openxmlformats.org/officeDocument/2006/relationships/image" Target="../media/image25.png"/><Relationship Id="rId3" Type="http://schemas.microsoft.com/office/2007/relationships/media" Target="../media/media16.mp3"/><Relationship Id="rId21" Type="http://schemas.openxmlformats.org/officeDocument/2006/relationships/image" Target="../media/image20.png"/><Relationship Id="rId7" Type="http://schemas.microsoft.com/office/2007/relationships/media" Target="../media/media18.mp3"/><Relationship Id="rId12" Type="http://schemas.openxmlformats.org/officeDocument/2006/relationships/audio" Target="../media/media20.mp3"/><Relationship Id="rId17" Type="http://schemas.openxmlformats.org/officeDocument/2006/relationships/slideLayout" Target="../slideLayouts/slideLayout3.xml"/><Relationship Id="rId25" Type="http://schemas.openxmlformats.org/officeDocument/2006/relationships/image" Target="../media/image24.png"/><Relationship Id="rId2" Type="http://schemas.openxmlformats.org/officeDocument/2006/relationships/audio" Target="../media/media15.mp3"/><Relationship Id="rId16" Type="http://schemas.openxmlformats.org/officeDocument/2006/relationships/audio" Target="../media/media22.mp3"/><Relationship Id="rId20" Type="http://schemas.openxmlformats.org/officeDocument/2006/relationships/image" Target="../media/image6.png"/><Relationship Id="rId1" Type="http://schemas.microsoft.com/office/2007/relationships/media" Target="../media/media15.mp3"/><Relationship Id="rId6" Type="http://schemas.openxmlformats.org/officeDocument/2006/relationships/audio" Target="../media/media17.mp3"/><Relationship Id="rId11" Type="http://schemas.microsoft.com/office/2007/relationships/media" Target="../media/media20.mp3"/><Relationship Id="rId24" Type="http://schemas.openxmlformats.org/officeDocument/2006/relationships/image" Target="../media/image23.png"/><Relationship Id="rId5" Type="http://schemas.microsoft.com/office/2007/relationships/media" Target="../media/media17.mp3"/><Relationship Id="rId15" Type="http://schemas.microsoft.com/office/2007/relationships/media" Target="../media/media22.mp3"/><Relationship Id="rId23" Type="http://schemas.openxmlformats.org/officeDocument/2006/relationships/image" Target="../media/image22.png"/><Relationship Id="rId10" Type="http://schemas.openxmlformats.org/officeDocument/2006/relationships/audio" Target="../media/media19.mp3"/><Relationship Id="rId19" Type="http://schemas.openxmlformats.org/officeDocument/2006/relationships/image" Target="../media/image19.png"/><Relationship Id="rId4" Type="http://schemas.openxmlformats.org/officeDocument/2006/relationships/audio" Target="../media/media16.mp3"/><Relationship Id="rId9" Type="http://schemas.microsoft.com/office/2007/relationships/media" Target="../media/media19.mp3"/><Relationship Id="rId14" Type="http://schemas.openxmlformats.org/officeDocument/2006/relationships/audio" Target="../media/media21.mp3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26.mp3"/><Relationship Id="rId13" Type="http://schemas.microsoft.com/office/2007/relationships/media" Target="../media/media29.mp3"/><Relationship Id="rId18" Type="http://schemas.openxmlformats.org/officeDocument/2006/relationships/notesSlide" Target="../notesSlides/notesSlide20.xml"/><Relationship Id="rId26" Type="http://schemas.openxmlformats.org/officeDocument/2006/relationships/image" Target="../media/image39.png"/><Relationship Id="rId3" Type="http://schemas.microsoft.com/office/2007/relationships/media" Target="../media/media24.mp3"/><Relationship Id="rId21" Type="http://schemas.openxmlformats.org/officeDocument/2006/relationships/image" Target="../media/image34.png"/><Relationship Id="rId7" Type="http://schemas.microsoft.com/office/2007/relationships/media" Target="../media/media26.mp3"/><Relationship Id="rId12" Type="http://schemas.openxmlformats.org/officeDocument/2006/relationships/audio" Target="../media/media28.mp3"/><Relationship Id="rId17" Type="http://schemas.openxmlformats.org/officeDocument/2006/relationships/slideLayout" Target="../slideLayouts/slideLayout3.xml"/><Relationship Id="rId25" Type="http://schemas.openxmlformats.org/officeDocument/2006/relationships/image" Target="../media/image38.png"/><Relationship Id="rId2" Type="http://schemas.openxmlformats.org/officeDocument/2006/relationships/audio" Target="../media/media23.mp3"/><Relationship Id="rId16" Type="http://schemas.openxmlformats.org/officeDocument/2006/relationships/audio" Target="../media/media30.mp3"/><Relationship Id="rId20" Type="http://schemas.openxmlformats.org/officeDocument/2006/relationships/image" Target="../media/image6.png"/><Relationship Id="rId1" Type="http://schemas.microsoft.com/office/2007/relationships/media" Target="../media/media23.mp3"/><Relationship Id="rId6" Type="http://schemas.openxmlformats.org/officeDocument/2006/relationships/audio" Target="../media/media25.mp3"/><Relationship Id="rId11" Type="http://schemas.microsoft.com/office/2007/relationships/media" Target="../media/media28.mp3"/><Relationship Id="rId24" Type="http://schemas.openxmlformats.org/officeDocument/2006/relationships/image" Target="../media/image37.png"/><Relationship Id="rId5" Type="http://schemas.microsoft.com/office/2007/relationships/media" Target="../media/media25.mp3"/><Relationship Id="rId15" Type="http://schemas.microsoft.com/office/2007/relationships/media" Target="../media/media30.mp3"/><Relationship Id="rId23" Type="http://schemas.openxmlformats.org/officeDocument/2006/relationships/image" Target="../media/image36.png"/><Relationship Id="rId10" Type="http://schemas.openxmlformats.org/officeDocument/2006/relationships/audio" Target="../media/media27.mp3"/><Relationship Id="rId19" Type="http://schemas.openxmlformats.org/officeDocument/2006/relationships/image" Target="../media/image33.png"/><Relationship Id="rId4" Type="http://schemas.openxmlformats.org/officeDocument/2006/relationships/audio" Target="../media/media24.mp3"/><Relationship Id="rId9" Type="http://schemas.microsoft.com/office/2007/relationships/media" Target="../media/media27.mp3"/><Relationship Id="rId14" Type="http://schemas.openxmlformats.org/officeDocument/2006/relationships/audio" Target="../media/media29.mp3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audio" Target="../media/media32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41.png"/><Relationship Id="rId3" Type="http://schemas.microsoft.com/office/2007/relationships/media" Target="../media/media20.mp3"/><Relationship Id="rId21" Type="http://schemas.openxmlformats.org/officeDocument/2006/relationships/image" Target="../media/image44.png"/><Relationship Id="rId7" Type="http://schemas.microsoft.com/office/2007/relationships/media" Target="../media/media32.mp3"/><Relationship Id="rId12" Type="http://schemas.openxmlformats.org/officeDocument/2006/relationships/audio" Target="../media/media34.mp3"/><Relationship Id="rId17" Type="http://schemas.openxmlformats.org/officeDocument/2006/relationships/image" Target="../media/image24.png"/><Relationship Id="rId2" Type="http://schemas.openxmlformats.org/officeDocument/2006/relationships/audio" Target="../media/media19.mp3"/><Relationship Id="rId16" Type="http://schemas.openxmlformats.org/officeDocument/2006/relationships/image" Target="../media/image6.png"/><Relationship Id="rId20" Type="http://schemas.openxmlformats.org/officeDocument/2006/relationships/image" Target="../media/image43.png"/><Relationship Id="rId1" Type="http://schemas.microsoft.com/office/2007/relationships/media" Target="../media/media19.mp3"/><Relationship Id="rId6" Type="http://schemas.openxmlformats.org/officeDocument/2006/relationships/audio" Target="../media/media31.mp3"/><Relationship Id="rId11" Type="http://schemas.microsoft.com/office/2007/relationships/media" Target="../media/media34.mp3"/><Relationship Id="rId5" Type="http://schemas.microsoft.com/office/2007/relationships/media" Target="../media/media31.mp3"/><Relationship Id="rId15" Type="http://schemas.openxmlformats.org/officeDocument/2006/relationships/image" Target="../media/image23.png"/><Relationship Id="rId10" Type="http://schemas.openxmlformats.org/officeDocument/2006/relationships/audio" Target="../media/media33.mp3"/><Relationship Id="rId19" Type="http://schemas.openxmlformats.org/officeDocument/2006/relationships/image" Target="../media/image42.png"/><Relationship Id="rId4" Type="http://schemas.openxmlformats.org/officeDocument/2006/relationships/audio" Target="../media/media20.mp3"/><Relationship Id="rId9" Type="http://schemas.microsoft.com/office/2007/relationships/media" Target="../media/media33.mp3"/><Relationship Id="rId1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microsoft.com/office/2007/relationships/media" Target="../media/media35.mp3"/><Relationship Id="rId7" Type="http://schemas.openxmlformats.org/officeDocument/2006/relationships/slideLayout" Target="../slideLayouts/slideLayout3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audio" Target="../media/media36.mp3"/><Relationship Id="rId5" Type="http://schemas.microsoft.com/office/2007/relationships/media" Target="../media/media36.mp3"/><Relationship Id="rId4" Type="http://schemas.openxmlformats.org/officeDocument/2006/relationships/audio" Target="../media/media35.mp3"/><Relationship Id="rId9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코끼리는 커요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Básico 2 · Clase 8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2 (A1.2) · 한국어 </a:t>
            </a:r>
            <a:r>
              <a:rPr lang="en-US" sz="1900" dirty="0">
                <a:solidFill>
                  <a:srgbClr val="E8B84B"/>
                </a:solidFill>
              </a:rPr>
              <a:t>2, lecciones 9 y 10 · ¿Qué tal es? + repaso + cierre del curso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수업이에요</a:t>
            </a:r>
            <a:r>
              <a:rPr lang="en-US" sz="1900" dirty="0">
                <a:solidFill>
                  <a:srgbClr val="E8B84B"/>
                </a:solidFill>
              </a:rPr>
              <a:t>!</a:t>
            </a:r>
            <a:endParaRPr lang="en-US" sz="2200" dirty="0"/>
          </a:p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Miércoles 9 de diciembre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 </a:t>
            </a:r>
            <a:r>
              <a:rPr lang="en-US" sz="3000" b="1" dirty="0">
                <a:solidFill>
                  <a:srgbClr val="003478"/>
                </a:solidFill>
              </a:rPr>
              <a:t>Quiz de la clase 7</a:t>
            </a:r>
            <a:r>
              <a:rPr lang="en-US" sz="1500" b="1" i="1" dirty="0">
                <a:solidFill>
                  <a:srgbClr val="8A8DA0"/>
                </a:solidFill>
              </a:rPr>
              <a:t>   Class 7 quiz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Números, edad y cuántos (lecciones 7 y 8) · Responde en coro o en el chat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6" name="item_img_0" descr="C:\Users\Chingu\AppData\Local\Temp\claude\C--Users-Chingu-Desktop-ACADEMIASEULWEB\d4111e1b-5523-44ea-97b2-b1a1d9545b9e\scratchpad\decks\cache\img_15684e38fa9bc8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84248"/>
            <a:ext cx="557784" cy="557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56232" y="1965960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바나나가 몇 개 있어요</a:t>
            </a:r>
            <a:r>
              <a:rPr lang="en-US" sz="2400" dirty="0">
                <a:solidFill>
                  <a:srgbClr val="14142B"/>
                </a:solidFill>
              </a:rPr>
              <a:t>? (3)</a:t>
            </a:r>
            <a:endParaRPr lang="en-US" sz="2400" dirty="0"/>
          </a:p>
        </p:txBody>
      </p:sp>
      <p:sp>
        <p:nvSpPr>
          <p:cNvPr id="8" name="rev_0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0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개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856232" y="2688336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서아는 몇 살이에요</a:t>
            </a:r>
            <a:r>
              <a:rPr lang="en-US" sz="2400" dirty="0">
                <a:solidFill>
                  <a:srgbClr val="14142B"/>
                </a:solidFill>
              </a:rPr>
              <a:t>? (6)</a:t>
            </a:r>
            <a:endParaRPr lang="en-US" sz="2400" dirty="0"/>
          </a:p>
        </p:txBody>
      </p:sp>
      <p:sp>
        <p:nvSpPr>
          <p:cNvPr id="13" name="rev_1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1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살이에요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856232" y="3410712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→ 하나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</p:txBody>
      </p:sp>
      <p:sp>
        <p:nvSpPr>
          <p:cNvPr id="18" name="rev_2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2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2200" dirty="0"/>
          </a:p>
        </p:txBody>
      </p:sp>
      <p:sp>
        <p:nvSpPr>
          <p:cNvPr id="20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856232" y="4133088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→ 일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</p:txBody>
      </p:sp>
      <p:sp>
        <p:nvSpPr>
          <p:cNvPr id="23" name="rev_3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3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2200" dirty="0"/>
          </a:p>
        </p:txBody>
      </p:sp>
      <p:sp>
        <p:nvSpPr>
          <p:cNvPr id="25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pic>
        <p:nvPicPr>
          <p:cNvPr id="27" name="item_img_4" descr="C:\Users\Chingu\AppData\Local\Temp\claude\C--Users-Chingu-Desktop-ACADEMIASEULWEB\d4111e1b-5523-44ea-97b2-b1a1d9545b9e\scratchpad\decks\cache\img_2c90cea57b3cc7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873752"/>
            <a:ext cx="557784" cy="5577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856232" y="4855464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가방이 몇 개 있어요</a:t>
            </a:r>
            <a:r>
              <a:rPr lang="en-US" sz="2400" dirty="0">
                <a:solidFill>
                  <a:srgbClr val="14142B"/>
                </a:solidFill>
              </a:rPr>
              <a:t>? (1)</a:t>
            </a:r>
            <a:endParaRPr lang="en-US" sz="2400" dirty="0"/>
          </a:p>
        </p:txBody>
      </p:sp>
      <p:sp>
        <p:nvSpPr>
          <p:cNvPr id="29" name="rev_4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0" name="rev_4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개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1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pic>
        <p:nvPicPr>
          <p:cNvPr id="33" name="item_img_5" descr="C:\Users\Chingu\AppData\Local\Temp\claude\C--Users-Chingu-Desktop-ACADEMIASEULWEB\d4111e1b-5523-44ea-97b2-b1a1d9545b9e\scratchpad\decks\cache\img_bbc1909de6c4b7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596128"/>
            <a:ext cx="557784" cy="55778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856232" y="5577840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몇 개 있어요</a:t>
            </a:r>
            <a:r>
              <a:rPr lang="en-US" sz="2400" dirty="0">
                <a:solidFill>
                  <a:srgbClr val="14142B"/>
                </a:solidFill>
              </a:rPr>
              <a:t>? (5)</a:t>
            </a:r>
            <a:endParaRPr lang="en-US" sz="2400" dirty="0"/>
          </a:p>
        </p:txBody>
      </p:sp>
      <p:sp>
        <p:nvSpPr>
          <p:cNvPr id="35" name="rev_5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6" name="rev_5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 개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30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 </a:t>
            </a:r>
            <a:r>
              <a:rPr lang="en-US" sz="3000" b="1" dirty="0">
                <a:solidFill>
                  <a:srgbClr val="003478"/>
                </a:solidFill>
              </a:rPr>
              <a:t>Hoy, la última clase</a:t>
            </a:r>
            <a:r>
              <a:rPr lang="en-US" sz="1500" b="1" i="1" dirty="0">
                <a:solidFill>
                  <a:srgbClr val="8A8DA0"/>
                </a:solidFill>
              </a:rPr>
              <a:t>   Today, our last class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Lección 9 + lección 10 (repaso) + cierre del curso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어때요</a:t>
            </a:r>
            <a:r>
              <a:rPr lang="en-US" sz="2400" dirty="0">
                <a:solidFill>
                  <a:srgbClr val="14142B"/>
                </a:solidFill>
              </a:rPr>
              <a:t>? — ¿qué tal es?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Palabras para opinar: 커요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Repaso de todo el libro (종합 연습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Salas: el juego de los animales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Cierre del curso: tarea final y lo que viene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9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Escena: el sábado de 하나</a:t>
            </a:r>
            <a:r>
              <a:rPr lang="ko-KR" altLang="en-US" sz="1500" b="1" i="1" dirty="0">
                <a:solidFill>
                  <a:srgbClr val="8A8DA0"/>
                </a:solidFill>
              </a:rPr>
              <a:t>   Scene: 하나's Saturday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7c785301c1447b5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 chat de grupo: 하나 </a:t>
            </a:r>
            <a:r>
              <a:rPr lang="en-US" sz="1800" i="1" dirty="0">
                <a:solidFill>
                  <a:srgbClr val="4236F6"/>
                </a:solidFill>
              </a:rPr>
              <a:t>(Seúl),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</a:t>
            </a:r>
            <a:endParaRPr lang="en-US" sz="1800" dirty="0"/>
          </a:p>
        </p:txBody>
      </p:sp>
      <p:sp>
        <p:nvSpPr>
          <p:cNvPr id="5" name="card_0"/>
          <p:cNvSpPr/>
          <p:nvPr/>
        </p:nvSpPr>
        <p:spPr>
          <a:xfrm>
            <a:off x="548640" y="1874520"/>
            <a:ext cx="215798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2228393"/>
            <a:ext cx="215798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동물원이에요</a:t>
            </a:r>
            <a:r>
              <a:rPr lang="en-US" sz="1600" b="1" dirty="0">
                <a:solidFill>
                  <a:srgbClr val="4236F6"/>
                </a:solidFill>
              </a:rPr>
              <a:t>.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코끼리가 정말 커요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920136"/>
            <a:ext cx="201168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400" dirty="0">
                <a:solidFill>
                  <a:srgbClr val="5C5F6B"/>
                </a:solidFill>
              </a:rPr>
              <a:t>: Estoy en el zoológico. ¡El elefante es enorme!</a:t>
            </a:r>
            <a:endParaRPr lang="en-US" sz="14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30428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2935224" y="1874520"/>
            <a:ext cx="215798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935224" y="2228393"/>
            <a:ext cx="215798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sz="1600" b="1" dirty="0">
                <a:solidFill>
                  <a:srgbClr val="4236F6"/>
                </a:solidFill>
              </a:rPr>
              <a:t>!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동물원이 어때요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008376" y="2920136"/>
            <a:ext cx="201168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</a:t>
            </a:r>
            <a:r>
              <a:rPr lang="en-US" sz="1600" dirty="0">
                <a:solidFill>
                  <a:srgbClr val="5C5F6B"/>
                </a:solidFill>
              </a:rPr>
              <a:t>: ¡Guau! ¿Qué tal el zoológico?</a:t>
            </a:r>
            <a:endParaRPr lang="en-US" sz="1600" dirty="0"/>
          </a:p>
        </p:txBody>
      </p:sp>
      <p:pic>
        <p:nvPicPr>
          <p:cNvPr id="12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690872" y="1947672"/>
            <a:ext cx="310896" cy="310896"/>
          </a:xfrm>
          <a:prstGeom prst="rect">
            <a:avLst/>
          </a:prstGeom>
        </p:spPr>
      </p:pic>
      <p:sp>
        <p:nvSpPr>
          <p:cNvPr id="13" name="card_2"/>
          <p:cNvSpPr/>
          <p:nvPr/>
        </p:nvSpPr>
        <p:spPr>
          <a:xfrm>
            <a:off x="5321808" y="1874520"/>
            <a:ext cx="215798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321808" y="2228393"/>
            <a:ext cx="215798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재미있어요</a:t>
            </a:r>
            <a:r>
              <a:rPr lang="en-US" sz="1600" b="1" dirty="0">
                <a:solidFill>
                  <a:srgbClr val="4236F6"/>
                </a:solidFill>
              </a:rPr>
              <a:t>!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씨는 지금 뭐 해요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2920136"/>
            <a:ext cx="201168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5C5F6B"/>
                </a:solidFill>
              </a:rPr>
              <a:t>: ¡Entretenido! Mateo, ¿qué haces ahora?</a:t>
            </a:r>
            <a:endParaRPr lang="en-US" sz="1600" dirty="0"/>
          </a:p>
        </p:txBody>
      </p:sp>
      <p:pic>
        <p:nvPicPr>
          <p:cNvPr id="2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077456" y="1947672"/>
            <a:ext cx="310896" cy="310896"/>
          </a:xfrm>
          <a:prstGeom prst="rect">
            <a:avLst/>
          </a:prstGeom>
        </p:spPr>
      </p:pic>
      <p:sp>
        <p:nvSpPr>
          <p:cNvPr id="17" name="card_3"/>
          <p:cNvSpPr/>
          <p:nvPr/>
        </p:nvSpPr>
        <p:spPr>
          <a:xfrm>
            <a:off x="548640" y="4137660"/>
            <a:ext cx="215798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48640" y="4491533"/>
            <a:ext cx="215798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라면을 먹어요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" y="5183276"/>
            <a:ext cx="201168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</a:t>
            </a:r>
            <a:r>
              <a:rPr lang="en-US" sz="1600" dirty="0">
                <a:solidFill>
                  <a:srgbClr val="5C5F6B"/>
                </a:solidFill>
              </a:rPr>
              <a:t>: Estoy comiendo ramyeon.</a:t>
            </a:r>
            <a:endParaRPr lang="en-US" sz="1600" dirty="0"/>
          </a:p>
        </p:txBody>
      </p:sp>
      <p:pic>
        <p:nvPicPr>
          <p:cNvPr id="24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304288" y="4210812"/>
            <a:ext cx="310896" cy="310896"/>
          </a:xfrm>
          <a:prstGeom prst="rect">
            <a:avLst/>
          </a:prstGeom>
        </p:spPr>
      </p:pic>
      <p:sp>
        <p:nvSpPr>
          <p:cNvPr id="21" name="card_4"/>
          <p:cNvSpPr/>
          <p:nvPr/>
        </p:nvSpPr>
        <p:spPr>
          <a:xfrm>
            <a:off x="2935224" y="4137660"/>
            <a:ext cx="215798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2935224" y="4491533"/>
            <a:ext cx="215798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라면이 어때요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3008376" y="5183276"/>
            <a:ext cx="201168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</a:t>
            </a:r>
            <a:r>
              <a:rPr lang="en-US" sz="1600" dirty="0">
                <a:solidFill>
                  <a:srgbClr val="5C5F6B"/>
                </a:solidFill>
              </a:rPr>
              <a:t>: ¿Qué tal el ramyeon?</a:t>
            </a:r>
            <a:endParaRPr lang="en-US" sz="1600" dirty="0"/>
          </a:p>
        </p:txBody>
      </p:sp>
      <p:pic>
        <p:nvPicPr>
          <p:cNvPr id="16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690872" y="4210812"/>
            <a:ext cx="310896" cy="310896"/>
          </a:xfrm>
          <a:prstGeom prst="rect">
            <a:avLst/>
          </a:prstGeom>
        </p:spPr>
      </p:pic>
      <p:sp>
        <p:nvSpPr>
          <p:cNvPr id="25" name="card_5"/>
          <p:cNvSpPr/>
          <p:nvPr/>
        </p:nvSpPr>
        <p:spPr>
          <a:xfrm>
            <a:off x="5321808" y="4137660"/>
            <a:ext cx="215798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5321808" y="4491533"/>
            <a:ext cx="215798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r>
              <a:rPr lang="en-US" sz="1600" b="1" dirty="0">
                <a:solidFill>
                  <a:srgbClr val="4236F6"/>
                </a:solidFill>
              </a:rPr>
              <a:t>…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맛없어요</a:t>
            </a:r>
            <a:r>
              <a:rPr lang="en-US" sz="1600" b="1" dirty="0">
                <a:solidFill>
                  <a:srgbClr val="4236F6"/>
                </a:solidFill>
              </a:rPr>
              <a:t>.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 라면은 맛있어요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5394960" y="5183276"/>
            <a:ext cx="201168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</a:t>
            </a:r>
            <a:r>
              <a:rPr lang="en-US" sz="1400" dirty="0">
                <a:solidFill>
                  <a:srgbClr val="5C5F6B"/>
                </a:solidFill>
              </a:rPr>
              <a:t>: Mmm… está malo. ¡El ramyeon de </a:t>
            </a: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</a:t>
            </a:r>
            <a:r>
              <a:rPr lang="en-US" sz="1400" dirty="0">
                <a:solidFill>
                  <a:srgbClr val="5C5F6B"/>
                </a:solidFill>
              </a:rPr>
              <a:t>sí que es rico!</a:t>
            </a:r>
            <a:endParaRPr lang="en-US" sz="1400" dirty="0"/>
          </a:p>
        </p:txBody>
      </p:sp>
      <p:pic>
        <p:nvPicPr>
          <p:cNvPr id="2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077456" y="4210812"/>
            <a:ext cx="310896" cy="310896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¿Entendiste?</a:t>
            </a:r>
            <a:r>
              <a:rPr lang="en-US" sz="1500" b="1" i="1" dirty="0">
                <a:solidFill>
                  <a:srgbClr val="8A8DA0"/>
                </a:solidFill>
              </a:rPr>
              <a:t>   Did you get 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Sobre la escena · Responde en coro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씨는 지금 어디예요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rev_6_caja"/>
          <p:cNvSpPr/>
          <p:nvPr/>
        </p:nvSpPr>
        <p:spPr>
          <a:xfrm>
            <a:off x="6702552" y="2002536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6_txt"/>
          <p:cNvSpPr txBox="1"/>
          <p:nvPr/>
        </p:nvSpPr>
        <p:spPr>
          <a:xfrm>
            <a:off x="6793992" y="2002536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동물원이에요</a:t>
            </a:r>
            <a:r>
              <a:rPr lang="en-US" sz="1900" b="1" dirty="0">
                <a:solidFill>
                  <a:srgbClr val="FFFFFF"/>
                </a:solidFill>
              </a:rPr>
              <a:t>. (también vale: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동물원에 있어요</a:t>
            </a:r>
            <a:r>
              <a:rPr lang="en-US" sz="1900" b="1" dirty="0">
                <a:solidFill>
                  <a:srgbClr val="FFFFFF"/>
                </a:solidFill>
              </a:rPr>
              <a:t>.)</a:t>
            </a:r>
            <a:endParaRPr lang="en-US" sz="19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코끼리가 어때요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ev_7_caja"/>
          <p:cNvSpPr/>
          <p:nvPr/>
        </p:nvSpPr>
        <p:spPr>
          <a:xfrm>
            <a:off x="6702552" y="2869387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7_txt"/>
          <p:cNvSpPr txBox="1"/>
          <p:nvPr/>
        </p:nvSpPr>
        <p:spPr>
          <a:xfrm>
            <a:off x="6793992" y="2869387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커요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동물원이 어때요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7" name="rev_8_caja"/>
          <p:cNvSpPr/>
          <p:nvPr/>
        </p:nvSpPr>
        <p:spPr>
          <a:xfrm>
            <a:off x="6702552" y="3736238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8_txt"/>
          <p:cNvSpPr txBox="1"/>
          <p:nvPr/>
        </p:nvSpPr>
        <p:spPr>
          <a:xfrm>
            <a:off x="6793992" y="3736238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재미있어요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 라면이 어때요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2" name="rev_9_caja"/>
          <p:cNvSpPr/>
          <p:nvPr/>
        </p:nvSpPr>
        <p:spPr>
          <a:xfrm>
            <a:off x="6702552" y="4603090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9_txt"/>
          <p:cNvSpPr txBox="1"/>
          <p:nvPr/>
        </p:nvSpPr>
        <p:spPr>
          <a:xfrm>
            <a:off x="6793992" y="4603090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 라면은요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7" name="rev_10_caja"/>
          <p:cNvSpPr/>
          <p:nvPr/>
        </p:nvSpPr>
        <p:spPr>
          <a:xfrm>
            <a:off x="6702552" y="5469941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0_txt"/>
          <p:cNvSpPr txBox="1"/>
          <p:nvPr/>
        </p:nvSpPr>
        <p:spPr>
          <a:xfrm>
            <a:off x="6793992" y="5469941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 </a:t>
            </a:r>
            <a:r>
              <a:rPr lang="en-US" sz="3000" b="1" dirty="0">
                <a:solidFill>
                  <a:srgbClr val="003478"/>
                </a:solidFill>
              </a:rPr>
              <a:t>Palabras nuevas</a:t>
            </a:r>
            <a:r>
              <a:rPr lang="en-US" sz="1500" b="1" i="1" dirty="0">
                <a:solidFill>
                  <a:srgbClr val="8A8DA0"/>
                </a:solidFill>
              </a:rPr>
              <a:t>   New words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Para opinar: tamaño, diversión y sabor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6043ee90d944268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 grande</a:t>
            </a:r>
            <a:endParaRPr lang="en-US" sz="16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99185365d871309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22064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[자가요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395216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 pequeño, es chico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6de976b13bbcc24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재미있어요</a:t>
            </a:r>
            <a:endParaRPr lang="en-US" sz="2500" dirty="0"/>
          </a:p>
        </p:txBody>
      </p:sp>
      <p:sp>
        <p:nvSpPr>
          <p:cNvPr id="18" name="Text 11"/>
          <p:cNvSpPr txBox="1"/>
          <p:nvPr/>
        </p:nvSpPr>
        <p:spPr>
          <a:xfrm>
            <a:off x="8095488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[재미이써요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8168640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5C5F6B"/>
                </a:solidFill>
              </a:rPr>
              <a:t>es entretenido, divertido</a:t>
            </a:r>
            <a:endParaRPr lang="en-US" sz="1500" dirty="0"/>
          </a:p>
        </p:txBody>
      </p:sp>
      <p:pic>
        <p:nvPicPr>
          <p:cNvPr id="26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1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3" descr="C:\Users\Chingu\AppData\Local\Temp\claude\C--Users-Chingu-Desktop-ACADEMIASEULWEB\d4111e1b-5523-44ea-97b2-b1a1d9545b9e\scratchpad\decks\cache\img_f8f5b728603ca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endParaRPr lang="en-US" sz="2500" dirty="0"/>
          </a:p>
        </p:txBody>
      </p:sp>
      <p:sp>
        <p:nvSpPr>
          <p:cNvPr id="24" name="Text 15"/>
          <p:cNvSpPr txBox="1"/>
          <p:nvPr/>
        </p:nvSpPr>
        <p:spPr>
          <a:xfrm>
            <a:off x="548640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[재미업써요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621792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 aburrido, fome</a:t>
            </a:r>
            <a:endParaRPr lang="en-US" sz="1600" dirty="0"/>
          </a:p>
        </p:txBody>
      </p:sp>
      <p:pic>
        <p:nvPicPr>
          <p:cNvPr id="32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7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8" name="dibujo_4" descr="C:\Users\Chingu\AppData\Local\Temp\claude\C--Users-Chingu-Desktop-ACADEMIASEULWEB\d4111e1b-5523-44ea-97b2-b1a1d9545b9e\scratchpad\decks\cache\img_5c262d0cf8b6e17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endParaRPr lang="en-US" sz="2500" dirty="0"/>
          </a:p>
        </p:txBody>
      </p:sp>
      <p:sp>
        <p:nvSpPr>
          <p:cNvPr id="30" name="Text 19"/>
          <p:cNvSpPr txBox="1"/>
          <p:nvPr/>
        </p:nvSpPr>
        <p:spPr>
          <a:xfrm>
            <a:off x="4322064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[마시써요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4395216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está rico, es sabroso</a:t>
            </a:r>
            <a:endParaRPr lang="en-US" sz="1600" dirty="0"/>
          </a:p>
        </p:txBody>
      </p:sp>
      <p:pic>
        <p:nvPicPr>
          <p:cNvPr id="20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33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4" name="dibujo_5" descr="C:\Users\Chingu\AppData\Local\Temp\claude\C--Users-Chingu-Desktop-ACADEMIASEULWEB\d4111e1b-5523-44ea-97b2-b1a1d9545b9e\scratchpad\decks\cache\img_c0ba2e23f524e15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맛없어요</a:t>
            </a:r>
            <a:endParaRPr lang="en-US" sz="2500" dirty="0"/>
          </a:p>
        </p:txBody>
      </p:sp>
      <p:sp>
        <p:nvSpPr>
          <p:cNvPr id="36" name="Text 23"/>
          <p:cNvSpPr txBox="1"/>
          <p:nvPr/>
        </p:nvSpPr>
        <p:spPr>
          <a:xfrm>
            <a:off x="8095488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[마덥써요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8168640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está malo (de sabor)</a:t>
            </a:r>
            <a:endParaRPr lang="en-US" sz="1600" dirty="0"/>
          </a:p>
        </p:txBody>
      </p:sp>
      <p:pic>
        <p:nvPicPr>
          <p:cNvPr id="3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3000" b="1" dirty="0">
                <a:solidFill>
                  <a:srgbClr val="003478"/>
                </a:solidFill>
              </a:rPr>
              <a:t>↔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3000" b="1" dirty="0">
                <a:solidFill>
                  <a:srgbClr val="003478"/>
                </a:solidFill>
              </a:rPr>
              <a:t>: ya lo saben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decir lo contrario, cambia 있어요 </a:t>
            </a:r>
            <a:r>
              <a:rPr lang="en-US" sz="1800" i="1" dirty="0">
                <a:solidFill>
                  <a:srgbClr val="4236F6"/>
                </a:solidFill>
              </a:rPr>
              <a:t>por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1800" i="1" dirty="0">
                <a:solidFill>
                  <a:srgbClr val="4236F6"/>
                </a:solidFill>
              </a:rPr>
              <a:t>· todo junto, sin espacio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 </a:t>
            </a:r>
            <a:r>
              <a:rPr lang="en-US" sz="2000" b="1" dirty="0">
                <a:solidFill>
                  <a:srgbClr val="003478"/>
                </a:solidFill>
              </a:rPr>
              <a:t>= diversión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 </a:t>
            </a:r>
            <a:r>
              <a:rPr lang="en-US" sz="2800" b="1" dirty="0">
                <a:solidFill>
                  <a:srgbClr val="4236F6"/>
                </a:solidFill>
              </a:rPr>
              <a:t>+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없어요</a:t>
            </a:r>
            <a:endParaRPr lang="en-US" sz="28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재미있어요 </a:t>
            </a:r>
            <a:r>
              <a:rPr lang="en-US" sz="1800" dirty="0">
                <a:solidFill>
                  <a:srgbClr val="14142B"/>
                </a:solidFill>
              </a:rPr>
              <a:t>· entretenido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 </a:t>
            </a:r>
            <a:r>
              <a:rPr lang="en-US" sz="1800" dirty="0">
                <a:solidFill>
                  <a:srgbClr val="14142B"/>
                </a:solidFill>
              </a:rPr>
              <a:t>· aburrido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</a:t>
            </a:r>
            <a:r>
              <a:rPr lang="en-US" sz="2000" b="1" dirty="0">
                <a:solidFill>
                  <a:srgbClr val="003478"/>
                </a:solidFill>
              </a:rPr>
              <a:t>= sabor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</a:t>
            </a:r>
            <a:r>
              <a:rPr lang="en-US" sz="2800" b="1" dirty="0">
                <a:solidFill>
                  <a:srgbClr val="4236F6"/>
                </a:solidFill>
              </a:rPr>
              <a:t>+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없어요</a:t>
            </a:r>
            <a:endParaRPr lang="en-US" sz="28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 </a:t>
            </a:r>
            <a:r>
              <a:rPr lang="en-US" sz="1800" dirty="0">
                <a:solidFill>
                  <a:srgbClr val="14142B"/>
                </a:solidFill>
              </a:rPr>
              <a:t>· rico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맛없어요 </a:t>
            </a:r>
            <a:r>
              <a:rPr lang="en-US" sz="1800" dirty="0">
                <a:solidFill>
                  <a:srgbClr val="14142B"/>
                </a:solidFill>
              </a:rPr>
              <a:t>· malo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Lección 4: tener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2900" b="1" dirty="0">
                <a:solidFill>
                  <a:srgbClr val="4236F6"/>
                </a:solidFill>
              </a:rPr>
              <a:t>/ </a:t>
            </a: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29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인형이 있어요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인형이 없어요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어때요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La pregunta de hoy</a:t>
            </a:r>
            <a:r>
              <a:rPr lang="en-US" sz="1500" b="1" i="1" dirty="0">
                <a:solidFill>
                  <a:srgbClr val="8A8DA0"/>
                </a:solidFill>
              </a:rPr>
              <a:t>   Today's question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de8417f803bb2e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김치가 어때요</a:t>
            </a:r>
            <a:r>
              <a:rPr lang="en-US" sz="6400" b="1" dirty="0">
                <a:solidFill>
                  <a:srgbClr val="4236F6"/>
                </a:solidFill>
              </a:rPr>
              <a:t>?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¿Qué tal el kimchi?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어때요</a:t>
            </a:r>
            <a:r>
              <a:rPr lang="en-US" sz="1800" dirty="0">
                <a:solidFill>
                  <a:srgbClr val="14142B"/>
                </a:solidFill>
              </a:rPr>
              <a:t>? = ¿qué tal es? · se responde sin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1800" dirty="0">
                <a:solidFill>
                  <a:srgbClr val="14142B"/>
                </a:solidFill>
              </a:rPr>
              <a:t>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N이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어때요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이 or 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 en consonante (받침</a:t>
            </a:r>
            <a:r>
              <a:rPr lang="en-US" sz="1800" i="1" dirty="0">
                <a:solidFill>
                  <a:srgbClr val="4236F6"/>
                </a:solidFill>
              </a:rPr>
              <a:t>) 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1800" i="1" dirty="0">
                <a:solidFill>
                  <a:srgbClr val="4236F6"/>
                </a:solidFill>
              </a:rPr>
              <a:t>· termina en vocal 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1800" dirty="0"/>
          </a:p>
        </p:txBody>
      </p:sp>
      <p:graphicFrame>
        <p:nvGraphicFramePr>
          <p:cNvPr id="1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63184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Palabra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Respuesta (ejemplo)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김치가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맛있어요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라면이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맛없어요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영화가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수업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수업이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코끼리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코끼리가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콩이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콩이가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작아요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가방이 어때요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¿Por qué 코끼리는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Why 코끼리는?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título de la lección: 코끼리는 커요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800" i="1" dirty="0">
                <a:solidFill>
                  <a:srgbClr val="4236F6"/>
                </a:solidFill>
              </a:rPr>
              <a:t>= en general o comparando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Lo que veo ahora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5400" b="1" dirty="0">
                <a:solidFill>
                  <a:srgbClr val="4236F6"/>
                </a:solidFill>
              </a:rPr>
              <a:t>/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코끼리가 정말 커요</a:t>
            </a:r>
            <a:r>
              <a:rPr lang="en-US" sz="1800" dirty="0">
                <a:solidFill>
                  <a:srgbClr val="14142B"/>
                </a:solidFill>
              </a:rPr>
              <a:t>!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라면이 맛있어요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En general o comparando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5400" b="1" dirty="0">
                <a:solidFill>
                  <a:srgbClr val="4236F6"/>
                </a:solidFill>
              </a:rPr>
              <a:t>/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서울은 커요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동네는 작아요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¿Y…?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5100" b="1" dirty="0">
                <a:solidFill>
                  <a:srgbClr val="4236F6"/>
                </a:solidFill>
              </a:rPr>
              <a:t>/</a:t>
            </a:r>
            <a:r>
              <a:rPr lang="ko-KR" altLang="en-US" sz="5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는요</a:t>
            </a:r>
            <a:r>
              <a:rPr lang="en-US" sz="5100" b="1" dirty="0">
                <a:solidFill>
                  <a:srgbClr val="4236F6"/>
                </a:solidFill>
              </a:rPr>
              <a:t>?</a:t>
            </a:r>
            <a:endParaRPr lang="en-US" sz="51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 라면은요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드라마는요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¿Qué tal es?</a:t>
            </a:r>
            <a:r>
              <a:rPr lang="en-US" sz="1500" b="1" i="1" dirty="0">
                <a:solidFill>
                  <a:srgbClr val="8A8DA0"/>
                </a:solidFill>
              </a:rPr>
              <a:t>   What is it like?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Mira la imagen · Responde con la palabra · si es de sí o no: 네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 </a:t>
            </a:r>
            <a:r>
              <a:rPr lang="en-US" sz="1800" i="1" dirty="0">
                <a:solidFill>
                  <a:srgbClr val="4236F6"/>
                </a:solidFill>
              </a:rPr>
              <a:t>+ la palabra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619dcb3a8ed3f1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31" y="2057400"/>
            <a:ext cx="972922" cy="97292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라면이 어때요</a:t>
            </a:r>
            <a:r>
              <a:rPr lang="en-US" sz="1600" dirty="0">
                <a:solidFill>
                  <a:srgbClr val="14142B"/>
                </a:solidFill>
              </a:rPr>
              <a:t>?</a:t>
            </a:r>
            <a:endParaRPr lang="en-US" sz="1600" dirty="0"/>
          </a:p>
        </p:txBody>
      </p:sp>
      <p:sp>
        <p:nvSpPr>
          <p:cNvPr id="9" name="rev_11_caja"/>
          <p:cNvSpPr/>
          <p:nvPr/>
        </p:nvSpPr>
        <p:spPr>
          <a:xfrm>
            <a:off x="658368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1_txt"/>
          <p:cNvSpPr txBox="1"/>
          <p:nvPr/>
        </p:nvSpPr>
        <p:spPr>
          <a:xfrm>
            <a:off x="685800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b6cb9702ba0c0b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015" y="2057400"/>
            <a:ext cx="972922" cy="97292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영화가 어때요</a:t>
            </a:r>
            <a:r>
              <a:rPr lang="en-US" sz="1600" dirty="0">
                <a:solidFill>
                  <a:srgbClr val="14142B"/>
                </a:solidFill>
              </a:rPr>
              <a:t>?</a:t>
            </a:r>
            <a:endParaRPr lang="en-US" sz="1600" dirty="0"/>
          </a:p>
        </p:txBody>
      </p:sp>
      <p:sp>
        <p:nvSpPr>
          <p:cNvPr id="16" name="rev_12_caja"/>
          <p:cNvSpPr/>
          <p:nvPr/>
        </p:nvSpPr>
        <p:spPr>
          <a:xfrm>
            <a:off x="4416552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2_txt"/>
          <p:cNvSpPr txBox="1"/>
          <p:nvPr/>
        </p:nvSpPr>
        <p:spPr>
          <a:xfrm>
            <a:off x="4443984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26c39f09db2c04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199" y="2057400"/>
            <a:ext cx="972922" cy="97292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콩이가 커요</a:t>
            </a:r>
            <a:r>
              <a:rPr lang="en-US" sz="1600" dirty="0">
                <a:solidFill>
                  <a:srgbClr val="14142B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rev_13_caja"/>
          <p:cNvSpPr/>
          <p:nvPr/>
        </p:nvSpPr>
        <p:spPr>
          <a:xfrm>
            <a:off x="8174736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3_txt"/>
          <p:cNvSpPr txBox="1"/>
          <p:nvPr/>
        </p:nvSpPr>
        <p:spPr>
          <a:xfrm>
            <a:off x="8202168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_3"/>
          <p:cNvSpPr/>
          <p:nvPr/>
        </p:nvSpPr>
        <p:spPr>
          <a:xfrm>
            <a:off x="548640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c5e369a1a90fae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831" y="4251960"/>
            <a:ext cx="972922" cy="97292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가방이 작아요</a:t>
            </a:r>
            <a:r>
              <a:rPr lang="en-US" sz="1600" dirty="0">
                <a:solidFill>
                  <a:srgbClr val="14142B"/>
                </a:solidFill>
              </a:rPr>
              <a:t>?</a:t>
            </a:r>
            <a:endParaRPr lang="en-US" sz="1600" dirty="0"/>
          </a:p>
        </p:txBody>
      </p:sp>
      <p:sp>
        <p:nvSpPr>
          <p:cNvPr id="30" name="rev_14_caja"/>
          <p:cNvSpPr/>
          <p:nvPr/>
        </p:nvSpPr>
        <p:spPr>
          <a:xfrm>
            <a:off x="658368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4_txt"/>
          <p:cNvSpPr txBox="1"/>
          <p:nvPr/>
        </p:nvSpPr>
        <p:spPr>
          <a:xfrm>
            <a:off x="685800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card_4"/>
          <p:cNvSpPr/>
          <p:nvPr/>
        </p:nvSpPr>
        <p:spPr>
          <a:xfrm>
            <a:off x="4306824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3c58db5753eaeb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015" y="4251960"/>
            <a:ext cx="972922" cy="972922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4398264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98264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398264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어때요</a:t>
            </a:r>
            <a:r>
              <a:rPr lang="en-US" sz="1600" dirty="0">
                <a:solidFill>
                  <a:srgbClr val="14142B"/>
                </a:solidFill>
              </a:rPr>
              <a:t>?</a:t>
            </a:r>
            <a:endParaRPr lang="en-US" sz="1600" dirty="0"/>
          </a:p>
        </p:txBody>
      </p:sp>
      <p:sp>
        <p:nvSpPr>
          <p:cNvPr id="37" name="rev_15_caja"/>
          <p:cNvSpPr/>
          <p:nvPr/>
        </p:nvSpPr>
        <p:spPr>
          <a:xfrm>
            <a:off x="4416552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15_txt"/>
          <p:cNvSpPr txBox="1"/>
          <p:nvPr/>
        </p:nvSpPr>
        <p:spPr>
          <a:xfrm>
            <a:off x="4443984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맛없어요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9" name="card_5"/>
          <p:cNvSpPr/>
          <p:nvPr/>
        </p:nvSpPr>
        <p:spPr>
          <a:xfrm>
            <a:off x="8065008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item_img_5" descr="C:\Users\Chingu\AppData\Local\Temp\claude\C--Users-Chingu-Desktop-ACADEMIASEULWEB\d4111e1b-5523-44ea-97b2-b1a1d9545b9e\scratchpad\decks\cache\img_1f8137a20c3669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199" y="4251960"/>
            <a:ext cx="972922" cy="972922"/>
          </a:xfrm>
          <a:prstGeom prst="rect">
            <a:avLst/>
          </a:prstGeom>
        </p:spPr>
      </p:pic>
      <p:sp>
        <p:nvSpPr>
          <p:cNvPr id="41" name="num_5"/>
          <p:cNvSpPr/>
          <p:nvPr/>
        </p:nvSpPr>
        <p:spPr>
          <a:xfrm>
            <a:off x="8156448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1564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수업이 재미있어요</a:t>
            </a:r>
            <a:r>
              <a:rPr lang="en-US" sz="1600" dirty="0">
                <a:solidFill>
                  <a:srgbClr val="14142B"/>
                </a:solidFill>
              </a:rPr>
              <a:t>?</a:t>
            </a:r>
            <a:endParaRPr lang="en-US" sz="1600" dirty="0"/>
          </a:p>
        </p:txBody>
      </p:sp>
      <p:sp>
        <p:nvSpPr>
          <p:cNvPr id="44" name="rev_16_caja"/>
          <p:cNvSpPr/>
          <p:nvPr/>
        </p:nvSpPr>
        <p:spPr>
          <a:xfrm>
            <a:off x="8174736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45" name="rev_16_txt"/>
          <p:cNvSpPr txBox="1"/>
          <p:nvPr/>
        </p:nvSpPr>
        <p:spPr>
          <a:xfrm>
            <a:off x="8202168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Ahora, sobre ti</a:t>
            </a:r>
            <a:r>
              <a:rPr lang="en-US" sz="1500" b="1" i="1" dirty="0">
                <a:solidFill>
                  <a:srgbClr val="8A8DA0"/>
                </a:solidFill>
              </a:rPr>
              <a:t>   Now, about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Responde de verdad: primero en el chat, después en voz alta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커피가 어때요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한국 드라마가 어때요</a:t>
            </a:r>
            <a:r>
              <a:rPr lang="en-US" sz="2400" dirty="0">
                <a:solidFill>
                  <a:srgbClr val="14142B"/>
                </a:solidFill>
              </a:rPr>
              <a:t>?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</a:t>
            </a:r>
            <a:r>
              <a:rPr lang="en-US" sz="2400" dirty="0">
                <a:solidFill>
                  <a:srgbClr val="14142B"/>
                </a:solidFill>
              </a:rPr>
              <a:t>= estos días)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수업이 어때요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음식이 어때요</a:t>
            </a:r>
            <a:r>
              <a:rPr lang="en-US" sz="2400" dirty="0">
                <a:solidFill>
                  <a:srgbClr val="14142B"/>
                </a:solidFill>
              </a:rPr>
              <a:t>?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</a:t>
            </a:r>
            <a:r>
              <a:rPr lang="en-US" sz="2400" dirty="0">
                <a:solidFill>
                  <a:srgbClr val="14142B"/>
                </a:solidFill>
              </a:rPr>
              <a:t>= comida)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con una palabra de hoy: 맛있어요</a:t>
            </a:r>
            <a:r>
              <a:rPr lang="en-US" sz="2400" dirty="0">
                <a:solidFill>
                  <a:srgbClr val="14142B"/>
                </a:solidFill>
              </a:rPr>
              <a:t>. 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여러분은요</a:t>
            </a:r>
            <a:r>
              <a:rPr lang="en-US" sz="4100" b="1" dirty="0">
                <a:solidFill>
                  <a:srgbClr val="4236F6"/>
                </a:solidFill>
              </a:rPr>
              <a:t>?</a:t>
            </a: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 </a:t>
            </a:r>
            <a:r>
              <a:rPr lang="en-US" sz="2600" b="1" dirty="0">
                <a:solidFill>
                  <a:srgbClr val="003478"/>
                </a:solidFill>
              </a:rPr>
              <a:t>Más palabras para describir</a:t>
            </a:r>
            <a:r>
              <a:rPr lang="en-US" sz="1500" b="1" i="1" dirty="0">
                <a:solidFill>
                  <a:srgbClr val="8A8DA0"/>
                </a:solidFill>
              </a:rPr>
              <a:t>   More describing words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기린은 목이 길어요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코끼리는 코가 길어요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7ebd29bacf5bca0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길어요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602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[기러요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66034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 largo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9e41c5ff8dbad30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152" y="1984248"/>
            <a:ext cx="976579" cy="97657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78708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짧아요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3378708" y="338602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[짤바요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451860" y="366034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 corto</a:t>
            </a:r>
            <a:endParaRPr lang="en-US" sz="1600" dirty="0"/>
          </a:p>
        </p:txBody>
      </p:sp>
      <p:pic>
        <p:nvPicPr>
          <p:cNvPr id="15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6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7" name="dibujo_2" descr="C:\Users\Chingu\AppData\Local\Temp\claude\C--Users-Chingu-Desktop-ACADEMIASEULWEB\d4111e1b-5523-44ea-97b2-b1a1d9545b9e\scratchpad\decks\cache\img_ef1e51f64bd5973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1220" y="1984248"/>
            <a:ext cx="976579" cy="97657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08776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뚱뚱해요</a:t>
            </a:r>
            <a:endParaRPr lang="en-US" sz="2500" dirty="0"/>
          </a:p>
        </p:txBody>
      </p:sp>
      <p:sp>
        <p:nvSpPr>
          <p:cNvPr id="19" name="Text 12"/>
          <p:cNvSpPr txBox="1"/>
          <p:nvPr/>
        </p:nvSpPr>
        <p:spPr>
          <a:xfrm>
            <a:off x="6281928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es gordo (en clase: solo animales)</a:t>
            </a:r>
            <a:endParaRPr lang="en-US" sz="1400" dirty="0"/>
          </a:p>
        </p:txBody>
      </p:sp>
      <p:pic>
        <p:nvPicPr>
          <p:cNvPr id="3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21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3" descr="C:\Users\Chingu\AppData\Local\Temp\claude\C--Users-Chingu-Desktop-ACADEMIASEULWEB\d4111e1b-5523-44ea-97b2-b1a1d9545b9e\scratchpad\decks\cache\img_a7d17ef2495d753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날씬해요</a:t>
            </a:r>
            <a:endParaRPr lang="en-US" sz="2500" dirty="0"/>
          </a:p>
        </p:txBody>
      </p:sp>
      <p:sp>
        <p:nvSpPr>
          <p:cNvPr id="24" name="Text 15"/>
          <p:cNvSpPr txBox="1"/>
          <p:nvPr/>
        </p:nvSpPr>
        <p:spPr>
          <a:xfrm>
            <a:off x="9111996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5C5F6B"/>
                </a:solidFill>
              </a:rPr>
              <a:t>es delgado, esbelto</a:t>
            </a:r>
            <a:endParaRPr lang="en-US" sz="1500" dirty="0"/>
          </a:p>
        </p:txBody>
      </p:sp>
      <p:pic>
        <p:nvPicPr>
          <p:cNvPr id="35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6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7" name="dibujo_4" descr="C:\Users\Chingu\AppData\Local\Temp\claude\C--Users-Chingu-Desktop-ACADEMIASEULWEB\d4111e1b-5523-44ea-97b2-b1a1d9545b9e\scratchpad\decks\cache\img_674c9c38ab663697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</a:t>
            </a:r>
            <a:endParaRPr lang="en-US" sz="2500" dirty="0"/>
          </a:p>
        </p:txBody>
      </p:sp>
      <p:sp>
        <p:nvSpPr>
          <p:cNvPr id="29" name="Text 18"/>
          <p:cNvSpPr txBox="1"/>
          <p:nvPr/>
        </p:nvSpPr>
        <p:spPr>
          <a:xfrm>
            <a:off x="621792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elefante</a:t>
            </a:r>
            <a:endParaRPr lang="en-US" sz="1600" dirty="0"/>
          </a:p>
        </p:txBody>
      </p:sp>
      <p:pic>
        <p:nvPicPr>
          <p:cNvPr id="20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31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2" name="dibujo_5" descr="C:\Users\Chingu\AppData\Local\Temp\claude\C--Users-Chingu-Desktop-ACADEMIASEULWEB\d4111e1b-5523-44ea-97b2-b1a1d9545b9e\scratchpad\decks\cache\img_c093eb95f256b65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152" y="4247388"/>
            <a:ext cx="976579" cy="976579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3378708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기린</a:t>
            </a:r>
            <a:endParaRPr lang="en-US" sz="2500" dirty="0"/>
          </a:p>
        </p:txBody>
      </p:sp>
      <p:sp>
        <p:nvSpPr>
          <p:cNvPr id="34" name="Text 21"/>
          <p:cNvSpPr txBox="1"/>
          <p:nvPr/>
        </p:nvSpPr>
        <p:spPr>
          <a:xfrm>
            <a:off x="3451860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jirafa (extra)</a:t>
            </a:r>
            <a:endParaRPr lang="en-US" sz="1600" dirty="0"/>
          </a:p>
        </p:txBody>
      </p:sp>
      <p:pic>
        <p:nvPicPr>
          <p:cNvPr id="40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36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7" name="dibujo_6" descr="C:\Users\Chingu\AppData\Local\Temp\claude\C--Users-Chingu-Desktop-ACADEMIASEULWEB\d4111e1b-5523-44ea-97b2-b1a1d9545b9e\scratchpad\decks\cache\img_1750e86bd8d6bbe9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</a:t>
            </a:r>
            <a:endParaRPr lang="en-US" sz="2500" dirty="0"/>
          </a:p>
        </p:txBody>
      </p:sp>
      <p:sp>
        <p:nvSpPr>
          <p:cNvPr id="39" name="Text 24"/>
          <p:cNvSpPr txBox="1"/>
          <p:nvPr/>
        </p:nvSpPr>
        <p:spPr>
          <a:xfrm>
            <a:off x="6281928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nariz, trompa (extra)</a:t>
            </a:r>
            <a:endParaRPr lang="en-US" sz="1400" dirty="0"/>
          </a:p>
        </p:txBody>
      </p:sp>
      <p:pic>
        <p:nvPicPr>
          <p:cNvPr id="45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41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2" name="dibujo_7" descr="C:\Users\Chingu\AppData\Local\Temp\claude\C--Users-Chingu-Desktop-ACADEMIASEULWEB\d4111e1b-5523-44ea-97b2-b1a1d9545b9e\scratchpad\decks\cache\img_ff836d4103ada927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1288" y="4247388"/>
            <a:ext cx="976579" cy="976579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9038844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2500" dirty="0"/>
          </a:p>
        </p:txBody>
      </p:sp>
      <p:sp>
        <p:nvSpPr>
          <p:cNvPr id="44" name="Text 27"/>
          <p:cNvSpPr txBox="1"/>
          <p:nvPr/>
        </p:nvSpPr>
        <p:spPr>
          <a:xfrm>
            <a:off x="9111996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cuello (extra)</a:t>
            </a:r>
            <a:endParaRPr lang="en-US" sz="1600" dirty="0"/>
          </a:p>
        </p:txBody>
      </p:sp>
      <p:pic>
        <p:nvPicPr>
          <p:cNvPr id="46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봐요  </a:t>
            </a:r>
            <a:r>
              <a:rPr lang="en-US" sz="3000" b="1" dirty="0">
                <a:solidFill>
                  <a:srgbClr val="003478"/>
                </a:solidFill>
              </a:rPr>
              <a:t>Lean en voz alta</a:t>
            </a:r>
            <a:r>
              <a:rPr lang="en-US" sz="1500" b="1" i="1" dirty="0">
                <a:solidFill>
                  <a:srgbClr val="8A8DA0"/>
                </a:solidFill>
              </a:rPr>
              <a:t>   Read aloud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 escribe así, se dice así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76626"/>
            <a:ext cx="345338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[마시써요</a:t>
            </a:r>
            <a:r>
              <a:rPr lang="en-US" sz="1700" dirty="0">
                <a:solidFill>
                  <a:srgbClr val="5C5F6B"/>
                </a:solidFill>
              </a:rPr>
              <a:t>]</a:t>
            </a:r>
            <a:endParaRPr lang="en-US" sz="1700" dirty="0"/>
          </a:p>
        </p:txBody>
      </p:sp>
      <p:sp>
        <p:nvSpPr>
          <p:cNvPr id="7" name="tile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22064" y="194767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맛없어요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367784" y="3176626"/>
            <a:ext cx="345338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[마덥써요</a:t>
            </a:r>
            <a:r>
              <a:rPr lang="en-US" sz="1700" dirty="0">
                <a:solidFill>
                  <a:srgbClr val="5C5F6B"/>
                </a:solidFill>
              </a:rPr>
              <a:t>]</a:t>
            </a:r>
            <a:endParaRPr lang="en-US" sz="1700" dirty="0"/>
          </a:p>
        </p:txBody>
      </p:sp>
      <p:sp>
        <p:nvSpPr>
          <p:cNvPr id="10" name="tile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5488" y="194767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141208" y="3176626"/>
            <a:ext cx="345338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[재미업써요</a:t>
            </a:r>
            <a:r>
              <a:rPr lang="en-US" sz="1700" dirty="0">
                <a:solidFill>
                  <a:srgbClr val="5C5F6B"/>
                </a:solidFill>
              </a:rPr>
              <a:t>]</a:t>
            </a:r>
            <a:endParaRPr lang="en-US" sz="1700" dirty="0"/>
          </a:p>
        </p:txBody>
      </p:sp>
      <p:sp>
        <p:nvSpPr>
          <p:cNvPr id="13" name="tile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1081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439766"/>
            <a:ext cx="345338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[자가요</a:t>
            </a:r>
            <a:r>
              <a:rPr lang="en-US" sz="1700" dirty="0">
                <a:solidFill>
                  <a:srgbClr val="5C5F6B"/>
                </a:solidFill>
              </a:rPr>
              <a:t>]</a:t>
            </a:r>
            <a:endParaRPr lang="en-US" sz="1700" dirty="0"/>
          </a:p>
        </p:txBody>
      </p:sp>
      <p:sp>
        <p:nvSpPr>
          <p:cNvPr id="16" name="tile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22064" y="421081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짧아요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367784" y="5439766"/>
            <a:ext cx="345338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[짤바요</a:t>
            </a:r>
            <a:r>
              <a:rPr lang="en-US" sz="1700" dirty="0">
                <a:solidFill>
                  <a:srgbClr val="5C5F6B"/>
                </a:solidFill>
              </a:rPr>
              <a:t>]</a:t>
            </a:r>
            <a:endParaRPr lang="en-US" sz="1700" dirty="0"/>
          </a:p>
        </p:txBody>
      </p:sp>
      <p:sp>
        <p:nvSpPr>
          <p:cNvPr id="19" name="tile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5488" y="421081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길어요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141208" y="5439766"/>
            <a:ext cx="345338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[기러요</a:t>
            </a:r>
            <a:r>
              <a:rPr lang="en-US" sz="1700" dirty="0">
                <a:solidFill>
                  <a:srgbClr val="5C5F6B"/>
                </a:solidFill>
              </a:rPr>
              <a:t>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봐요  </a:t>
            </a:r>
            <a:r>
              <a:rPr lang="en-US" sz="3000" b="1" dirty="0">
                <a:solidFill>
                  <a:srgbClr val="003478"/>
                </a:solidFill>
              </a:rPr>
              <a:t>Escucha a Jay</a:t>
            </a:r>
            <a:r>
              <a:rPr lang="en-US" sz="1500" b="1" i="1" dirty="0">
                <a:solidFill>
                  <a:srgbClr val="8A8DA0"/>
                </a:solidFill>
              </a:rPr>
              <a:t>   Listen to Jay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lee cada diálogo 2 veces · ¿A o B? Escribe la letra en el chat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443c2aa7257d35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370" y="2057400"/>
            <a:ext cx="1945843" cy="97292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</a:t>
            </a:r>
            <a:endParaRPr lang="en-US" sz="2200" dirty="0"/>
          </a:p>
        </p:txBody>
      </p:sp>
      <p:sp>
        <p:nvSpPr>
          <p:cNvPr id="9" name="rev_17_caja"/>
          <p:cNvSpPr/>
          <p:nvPr/>
        </p:nvSpPr>
        <p:spPr>
          <a:xfrm>
            <a:off x="658368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7_txt"/>
          <p:cNvSpPr txBox="1"/>
          <p:nvPr/>
        </p:nvSpPr>
        <p:spPr>
          <a:xfrm>
            <a:off x="685800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(정말 맛있어요</a:t>
            </a:r>
            <a:r>
              <a:rPr lang="en-US" sz="1800" b="1" dirty="0">
                <a:solidFill>
                  <a:srgbClr val="FFFFFF"/>
                </a:solidFill>
              </a:rPr>
              <a:t>!)</a:t>
            </a:r>
            <a:endParaRPr lang="en-US" sz="18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034f1ee5f72167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554" y="2057400"/>
            <a:ext cx="1945843" cy="97292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</a:t>
            </a:r>
            <a:endParaRPr lang="en-US" sz="2200" dirty="0"/>
          </a:p>
        </p:txBody>
      </p:sp>
      <p:sp>
        <p:nvSpPr>
          <p:cNvPr id="16" name="rev_18_caja"/>
          <p:cNvSpPr/>
          <p:nvPr/>
        </p:nvSpPr>
        <p:spPr>
          <a:xfrm>
            <a:off x="4416552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8_txt"/>
          <p:cNvSpPr txBox="1"/>
          <p:nvPr/>
        </p:nvSpPr>
        <p:spPr>
          <a:xfrm>
            <a:off x="4443984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(음</a:t>
            </a:r>
            <a:r>
              <a:rPr lang="en-US" sz="1800" b="1" dirty="0">
                <a:solidFill>
                  <a:srgbClr val="FFFFFF"/>
                </a:solidFill>
              </a:rPr>
              <a:t>…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r>
              <a:rPr lang="en-US" sz="1800" b="1" dirty="0">
                <a:solidFill>
                  <a:srgbClr val="FFFFFF"/>
                </a:solidFill>
              </a:rPr>
              <a:t>.)</a:t>
            </a:r>
            <a:endParaRPr lang="en-US" sz="18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2526d5d08295ca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738" y="2057400"/>
            <a:ext cx="1945843" cy="97292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 가방</a:t>
            </a:r>
            <a:endParaRPr lang="en-US" sz="2200" dirty="0"/>
          </a:p>
        </p:txBody>
      </p:sp>
      <p:sp>
        <p:nvSpPr>
          <p:cNvPr id="23" name="rev_19_caja"/>
          <p:cNvSpPr/>
          <p:nvPr/>
        </p:nvSpPr>
        <p:spPr>
          <a:xfrm>
            <a:off x="8174736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9_txt"/>
          <p:cNvSpPr txBox="1"/>
          <p:nvPr/>
        </p:nvSpPr>
        <p:spPr>
          <a:xfrm>
            <a:off x="8202168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(아니요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1800" b="1" dirty="0">
                <a:solidFill>
                  <a:srgbClr val="FFFFFF"/>
                </a:solidFill>
              </a:rPr>
              <a:t>.)</a:t>
            </a:r>
            <a:endParaRPr lang="en-US" sz="1800" dirty="0"/>
          </a:p>
        </p:txBody>
      </p:sp>
      <p:sp>
        <p:nvSpPr>
          <p:cNvPr id="25" name="card_3"/>
          <p:cNvSpPr/>
          <p:nvPr/>
        </p:nvSpPr>
        <p:spPr>
          <a:xfrm>
            <a:off x="548640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651c599e7567eef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370" y="4251960"/>
            <a:ext cx="1945843" cy="97292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</a:t>
            </a:r>
            <a:endParaRPr lang="en-US" sz="2200" dirty="0"/>
          </a:p>
        </p:txBody>
      </p:sp>
      <p:sp>
        <p:nvSpPr>
          <p:cNvPr id="30" name="rev_20_caja"/>
          <p:cNvSpPr/>
          <p:nvPr/>
        </p:nvSpPr>
        <p:spPr>
          <a:xfrm>
            <a:off x="658368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20_txt"/>
          <p:cNvSpPr txBox="1"/>
          <p:nvPr/>
        </p:nvSpPr>
        <p:spPr>
          <a:xfrm>
            <a:off x="685800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(아니요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날씬해요</a:t>
            </a:r>
            <a:r>
              <a:rPr lang="en-US" sz="1800" b="1" dirty="0">
                <a:solidFill>
                  <a:srgbClr val="FFFFFF"/>
                </a:solidFill>
              </a:rPr>
              <a:t>.)</a:t>
            </a:r>
            <a:endParaRPr lang="en-US" sz="1800" dirty="0"/>
          </a:p>
        </p:txBody>
      </p:sp>
      <p:sp>
        <p:nvSpPr>
          <p:cNvPr id="32" name="card_4"/>
          <p:cNvSpPr/>
          <p:nvPr/>
        </p:nvSpPr>
        <p:spPr>
          <a:xfrm>
            <a:off x="4306824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efadd53f537bb4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1554" y="4251960"/>
            <a:ext cx="1945843" cy="972922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4398264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98264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398264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</a:t>
            </a:r>
            <a:endParaRPr lang="en-US" sz="2200" dirty="0"/>
          </a:p>
        </p:txBody>
      </p:sp>
      <p:sp>
        <p:nvSpPr>
          <p:cNvPr id="37" name="rev_21_caja"/>
          <p:cNvSpPr/>
          <p:nvPr/>
        </p:nvSpPr>
        <p:spPr>
          <a:xfrm>
            <a:off x="4416552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21_txt"/>
          <p:cNvSpPr txBox="1"/>
          <p:nvPr/>
        </p:nvSpPr>
        <p:spPr>
          <a:xfrm>
            <a:off x="4443984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(아니요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짧아요</a:t>
            </a:r>
            <a:r>
              <a:rPr lang="en-US" sz="1800" b="1" dirty="0">
                <a:solidFill>
                  <a:srgbClr val="FFFFFF"/>
                </a:solidFill>
              </a:rPr>
              <a:t>.)</a:t>
            </a:r>
            <a:endParaRPr lang="en-US" sz="1800" dirty="0"/>
          </a:p>
        </p:txBody>
      </p:sp>
      <p:sp>
        <p:nvSpPr>
          <p:cNvPr id="39" name="card_5"/>
          <p:cNvSpPr/>
          <p:nvPr/>
        </p:nvSpPr>
        <p:spPr>
          <a:xfrm>
            <a:off x="8065008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item_img_5" descr="C:\Users\Chingu\AppData\Local\Temp\claude\C--Users-Chingu-Desktop-ACADEMIASEULWEB\d4111e1b-5523-44ea-97b2-b1a1d9545b9e\scratchpad\decks\cache\img_610e27a7423ebd4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9738" y="4251960"/>
            <a:ext cx="1945843" cy="972922"/>
          </a:xfrm>
          <a:prstGeom prst="rect">
            <a:avLst/>
          </a:prstGeom>
        </p:spPr>
      </p:pic>
      <p:sp>
        <p:nvSpPr>
          <p:cNvPr id="41" name="num_5"/>
          <p:cNvSpPr/>
          <p:nvPr/>
        </p:nvSpPr>
        <p:spPr>
          <a:xfrm>
            <a:off x="8156448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1564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동물원</a:t>
            </a:r>
            <a:endParaRPr lang="en-US" sz="2200" dirty="0"/>
          </a:p>
        </p:txBody>
      </p:sp>
      <p:sp>
        <p:nvSpPr>
          <p:cNvPr id="44" name="rev_22_caja"/>
          <p:cNvSpPr/>
          <p:nvPr/>
        </p:nvSpPr>
        <p:spPr>
          <a:xfrm>
            <a:off x="8174736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45" name="rev_22_txt"/>
          <p:cNvSpPr txBox="1"/>
          <p:nvPr/>
        </p:nvSpPr>
        <p:spPr>
          <a:xfrm>
            <a:off x="8202168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(재미있어요</a:t>
            </a:r>
            <a:r>
              <a:rPr lang="en-US" sz="1800" b="1" dirty="0">
                <a:solidFill>
                  <a:srgbClr val="FFFFFF"/>
                </a:solidFill>
              </a:rPr>
              <a:t>!)</a:t>
            </a:r>
            <a:endParaRPr lang="en-US" sz="18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연습  </a:t>
            </a:r>
            <a:r>
              <a:rPr lang="en-US" sz="2600" b="1" dirty="0">
                <a:solidFill>
                  <a:srgbClr val="003478"/>
                </a:solidFill>
              </a:rPr>
              <a:t>Todo el libro en una tabla</a:t>
            </a:r>
            <a:r>
              <a:rPr lang="en-US" sz="1500" b="1" i="1" dirty="0">
                <a:solidFill>
                  <a:srgbClr val="8A8DA0"/>
                </a:solidFill>
              </a:rPr>
              <a:t>   The whole book in one 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Lección 10 · Jay pregunta, ustedes responden</a:t>
            </a:r>
            <a:endParaRPr lang="en-US" sz="1800" dirty="0"/>
          </a:p>
        </p:txBody>
      </p:sp>
      <p:graphicFrame>
        <p:nvGraphicFramePr>
          <p:cNvPr id="1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706904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Lección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Respuesta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누가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운동해요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마테오 씨가 운동해요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하고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자전거를 타요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씨하고 발렌티나 씨가 타요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언제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도윤 씨는 언제 일해요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저녁에 일해요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있어요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장난감 기차가 있어요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아니에요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이게 양말이에요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 (Jay muestra un zapato)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양말이 아니에요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구두예요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어디에서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어디에서 커피를 마셔요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카페에서 마셔요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 숫자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몇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서아는 몇 살이에요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여섯 살이에요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 어때요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동물원이 어때요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¿Cuál es la pregunta?</a:t>
            </a:r>
            <a:r>
              <a:rPr lang="en-US" sz="1500" b="1" i="1" dirty="0">
                <a:solidFill>
                  <a:srgbClr val="8A8DA0"/>
                </a:solidFill>
              </a:rPr>
              <a:t>   What's the question?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Repaso de todo el libro · Lee la respuesta y di la pregunta (Jay dice qué parte)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동물원에 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23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3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동물원에 가요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요리해요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24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4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씨는 식당에서 일해요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25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5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씨는 어디에서 일해요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인형이 두 개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26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6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인형이 몇 개 있어요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900" dirty="0">
                <a:solidFill>
                  <a:srgbClr val="14142B"/>
                </a:solidFill>
              </a:rPr>
              <a:t>,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운동화가 아니에요</a:t>
            </a:r>
            <a:r>
              <a:rPr lang="en-US" sz="1900" dirty="0">
                <a:solidFill>
                  <a:srgbClr val="14142B"/>
                </a:solidFill>
              </a:rPr>
              <a:t>.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구두예요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27" name="rev_27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7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운동화예요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맛있어요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32" name="rev_28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8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김치가 어때요</a:t>
            </a:r>
            <a:r>
              <a:rPr lang="en-US" sz="1800" b="1" dirty="0">
                <a:solidFill>
                  <a:srgbClr val="FFFFFF"/>
                </a:solidFill>
              </a:rPr>
              <a:t>? (o cualquier comida)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 </a:t>
            </a:r>
            <a:r>
              <a:rPr lang="en-US" sz="2600" b="1" dirty="0">
                <a:solidFill>
                  <a:srgbClr val="003478"/>
                </a:solidFill>
              </a:rPr>
              <a:t>Drill: la ruleta de frases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 4 números (일</a:t>
            </a:r>
            <a:r>
              <a:rPr lang="en-US" sz="1800" i="1" dirty="0">
                <a:solidFill>
                  <a:srgbClr val="4236F6"/>
                </a:solidFill>
              </a:rPr>
              <a:t>…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r>
              <a:rPr lang="en-US" sz="1800" i="1" dirty="0">
                <a:solidFill>
                  <a:srgbClr val="4236F6"/>
                </a:solidFill>
              </a:rPr>
              <a:t>) → el siguiente arma la frase → Jay pregunta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어때요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graphicFrame>
        <p:nvGraphicFramePr>
          <p:cNvPr id="1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70749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Nº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 해요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씨가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도윤 씨하고 서아가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저녁에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공원에서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노래해요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발렌티나 씨가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사진을 찍어요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사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마테오 씨가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동물원에서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빵을 먹어요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콩이가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자전거를 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육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선생님이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바다에서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 </a:t>
            </a:r>
            <a:r>
              <a:rPr lang="en-US" sz="3000" b="1" dirty="0">
                <a:solidFill>
                  <a:srgbClr val="003478"/>
                </a:solidFill>
              </a:rPr>
              <a:t>A las salas</a:t>
            </a:r>
            <a:r>
              <a:rPr lang="en-US" sz="1500" b="1" i="1" dirty="0">
                <a:solidFill>
                  <a:srgbClr val="8A8DA0"/>
                </a:solidFill>
              </a:rPr>
              <a:t>   Breakout rooms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18 minutos · de a 2 (o de a 3) · tu hoja tiene todo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이야기해요 </a:t>
            </a:r>
            <a:r>
              <a:rPr lang="en-US" sz="2200" dirty="0">
                <a:solidFill>
                  <a:srgbClr val="14142B"/>
                </a:solidFill>
              </a:rPr>
              <a:t>· 5 min: 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어때요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같이 해요 </a:t>
            </a:r>
            <a:r>
              <a:rPr lang="en-US" sz="2200" dirty="0">
                <a:solidFill>
                  <a:srgbClr val="14142B"/>
                </a:solidFill>
              </a:rPr>
              <a:t>· 10 min: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동물이에요</a:t>
            </a:r>
            <a:r>
              <a:rPr lang="en-US" sz="2200" dirty="0">
                <a:solidFill>
                  <a:srgbClr val="14142B"/>
                </a:solidFill>
              </a:rPr>
              <a:t>? 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음식이에요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3) Minuto libre · 3 min: mi actividad favorita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con la palabra: 맛있어요</a:t>
            </a:r>
            <a:r>
              <a:rPr lang="en-US" sz="2200" dirty="0">
                <a:solidFill>
                  <a:srgbClr val="14142B"/>
                </a:solidFill>
              </a:rPr>
              <a:t>!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2200" dirty="0">
                <a:solidFill>
                  <a:srgbClr val="14142B"/>
                </a:solidFill>
              </a:rPr>
              <a:t>. 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En la sala no ves esta pantalla: abre tu hoja («Para la sala de Zoom»)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Jay pasa por cada sala · a las 21:54, aviso de 1 minuto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4500" dirty="0"/>
          </a:p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같이 해요</a:t>
            </a:r>
            <a:endParaRPr lang="en-US" sz="4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en-US" sz="3000" b="1" dirty="0">
                <a:solidFill>
                  <a:srgbClr val="003478"/>
                </a:solidFill>
              </a:rPr>
              <a:t>Opina: ¿qué tal es?</a:t>
            </a:r>
            <a:r>
              <a:rPr lang="en-US" sz="1500" b="1" i="1" dirty="0">
                <a:solidFill>
                  <a:srgbClr val="8A8DA0"/>
                </a:solidFill>
              </a:rPr>
              <a:t>   Give your opinion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김치가 어때요</a:t>
            </a:r>
            <a:r>
              <a:rPr lang="en-US" sz="1800" i="1" dirty="0">
                <a:solidFill>
                  <a:srgbClr val="4236F6"/>
                </a:solidFill>
              </a:rPr>
              <a:t>?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1800" i="1" dirty="0">
                <a:solidFill>
                  <a:srgbClr val="4236F6"/>
                </a:solidFill>
              </a:rPr>
              <a:t>!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드라마가 재미있어요</a:t>
            </a:r>
            <a:r>
              <a:rPr lang="en-US" sz="1800" i="1" dirty="0">
                <a:solidFill>
                  <a:srgbClr val="4236F6"/>
                </a:solidFill>
              </a:rPr>
              <a:t>?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fd96af5d4de752d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드라마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serie coreana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1a10d3b4eab2102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152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78708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영화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3451860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película coreana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5931bfec2129c20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122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수업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6281928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clase de coreano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5d1865243b37cd2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9111996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kimchi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eeee510b3ed92a5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621792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ramyeon</a:t>
            </a:r>
            <a:endParaRPr lang="en-US" sz="1600" dirty="0"/>
          </a:p>
        </p:txBody>
      </p:sp>
      <p:pic>
        <p:nvPicPr>
          <p:cNvPr id="33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29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0" name="dibujo_5" descr="C:\Users\Chingu\AppData\Local\Temp\claude\C--Users-Chingu-Desktop-ACADEMIASEULWEB\d4111e1b-5523-44ea-97b2-b1a1d9545b9e\scratchpad\decks\cache\img_0531a2cf708ec42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152" y="4247388"/>
            <a:ext cx="976579" cy="976579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3378708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불고기</a:t>
            </a:r>
            <a:endParaRPr lang="en-US" sz="2500" dirty="0"/>
          </a:p>
        </p:txBody>
      </p:sp>
      <p:sp>
        <p:nvSpPr>
          <p:cNvPr id="32" name="Text 19"/>
          <p:cNvSpPr txBox="1"/>
          <p:nvPr/>
        </p:nvSpPr>
        <p:spPr>
          <a:xfrm>
            <a:off x="3451860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bulgogi</a:t>
            </a:r>
            <a:endParaRPr lang="en-US" sz="1600" dirty="0"/>
          </a:p>
        </p:txBody>
      </p:sp>
      <p:pic>
        <p:nvPicPr>
          <p:cNvPr id="3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34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5" name="dibujo_6" descr="C:\Users\Chingu\AppData\Local\Temp\claude\C--Users-Chingu-Desktop-ACADEMIASEULWEB\d4111e1b-5523-44ea-97b2-b1a1d9545b9e\scratchpad\decks\cache\img_22642d925a04e32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붕어빵</a:t>
            </a:r>
            <a:endParaRPr lang="en-US" sz="2500" dirty="0"/>
          </a:p>
        </p:txBody>
      </p:sp>
      <p:sp>
        <p:nvSpPr>
          <p:cNvPr id="37" name="Text 22"/>
          <p:cNvSpPr txBox="1"/>
          <p:nvPr/>
        </p:nvSpPr>
        <p:spPr>
          <a:xfrm>
            <a:off x="6281928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000" dirty="0">
                <a:solidFill>
                  <a:srgbClr val="5C5F6B"/>
                </a:solidFill>
              </a:rPr>
              <a:t>pastelito con forma de pez, relleno de dulce de porotos</a:t>
            </a:r>
            <a:endParaRPr lang="en-US" sz="1000" dirty="0"/>
          </a:p>
        </p:txBody>
      </p:sp>
      <p:pic>
        <p:nvPicPr>
          <p:cNvPr id="28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39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dibujo_7" descr="C:\Users\Chingu\AppData\Local\Temp\claude\C--Users-Chingu-Desktop-ACADEMIASEULWEB\d4111e1b-5523-44ea-97b2-b1a1d9545b9e\scratchpad\decks\cache\img_53cb8e9c870e4f7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1288" y="4247388"/>
            <a:ext cx="976579" cy="976579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9038844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endParaRPr lang="en-US" sz="2500" dirty="0"/>
          </a:p>
        </p:txBody>
      </p:sp>
      <p:sp>
        <p:nvSpPr>
          <p:cNvPr id="42" name="Text 25"/>
          <p:cNvSpPr txBox="1"/>
          <p:nvPr/>
        </p:nvSpPr>
        <p:spPr>
          <a:xfrm>
            <a:off x="9111996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café</a:t>
            </a:r>
            <a:endParaRPr lang="en-US" sz="1600" dirty="0"/>
          </a:p>
        </p:txBody>
      </p:sp>
      <p:pic>
        <p:nvPicPr>
          <p:cNvPr id="43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동물이에요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Juego: ¿qué animal es?</a:t>
            </a:r>
            <a:r>
              <a:rPr lang="en-US" sz="1500" b="1" i="1" dirty="0">
                <a:solidFill>
                  <a:srgbClr val="8A8DA0"/>
                </a:solidFill>
              </a:rPr>
              <a:t>   Game: which animal is 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Ronda 1 · 5 minutos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 elige un animal en secreto y lo escribe en un papel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pregunta (máximo 5): 커요</a:t>
            </a:r>
            <a:r>
              <a:rPr lang="en-US" sz="2200" dirty="0">
                <a:solidFill>
                  <a:srgbClr val="14142B"/>
                </a:solidFill>
              </a:rPr>
              <a:t>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목이 길어요</a:t>
            </a:r>
            <a:r>
              <a:rPr lang="en-US" sz="2200" dirty="0">
                <a:solidFill>
                  <a:srgbClr val="14142B"/>
                </a:solidFill>
              </a:rPr>
              <a:t>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뚱뚱해요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responde completo: 네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2200" dirty="0">
                <a:solidFill>
                  <a:srgbClr val="14142B"/>
                </a:solidFill>
              </a:rPr>
              <a:t>. 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adivina: 기린이에요</a:t>
            </a:r>
            <a:r>
              <a:rPr lang="en-US" sz="2200" dirty="0">
                <a:solidFill>
                  <a:srgbClr val="14142B"/>
                </a:solidFill>
              </a:rPr>
              <a:t>? 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기린이에요</a:t>
            </a:r>
            <a:r>
              <a:rPr lang="en-US" sz="2200" dirty="0">
                <a:solidFill>
                  <a:srgbClr val="14142B"/>
                </a:solidFill>
              </a:rPr>
              <a:t>! 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기린이 아니에요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Adivinas en 5 preguntas o menos: 1 punto · si no, 1 punto para 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Cambien de rol · gana quien tenga más puntos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endParaRPr lang="en-US" sz="4100" dirty="0"/>
          </a:p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동물이에요</a:t>
            </a:r>
            <a:r>
              <a:rPr lang="en-US" sz="4100" b="1" dirty="0">
                <a:solidFill>
                  <a:srgbClr val="4236F6"/>
                </a:solidFill>
              </a:rPr>
              <a:t>?</a:t>
            </a: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  </a:t>
            </a:r>
            <a:r>
              <a:rPr lang="en-US" sz="3000" b="1" dirty="0">
                <a:solidFill>
                  <a:srgbClr val="003478"/>
                </a:solidFill>
              </a:rPr>
              <a:t>Los animales del juego</a:t>
            </a:r>
            <a:r>
              <a:rPr lang="en-US" sz="1500" b="1" i="1" dirty="0">
                <a:solidFill>
                  <a:srgbClr val="8A8DA0"/>
                </a:solidFill>
              </a:rPr>
              <a:t>   The game's animals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Elige uno en secreto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da22cc27659e605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elefante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5caa1e02b76a74a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기린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jirafa (extra)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3acba0ffa8fdcf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oso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bd356524e762b04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conejo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4b30972cccd9899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perro, perrito</a:t>
            </a:r>
            <a:endParaRPr lang="en-US" sz="1600" dirty="0"/>
          </a:p>
        </p:txBody>
      </p:sp>
      <p:pic>
        <p:nvPicPr>
          <p:cNvPr id="28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29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0" name="dibujo_5" descr="C:\Users\Chingu\AppData\Local\Temp\claude\C--Users-Chingu-Desktop-ACADEMIASEULWEB\d4111e1b-5523-44ea-97b2-b1a1d9545b9e\scratchpad\decks\cache\img_34db05e99f7225b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</a:t>
            </a:r>
            <a:endParaRPr lang="en-US" sz="2500" dirty="0"/>
          </a:p>
        </p:txBody>
      </p:sp>
      <p:sp>
        <p:nvSpPr>
          <p:cNvPr id="32" name="Text 19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gato</a:t>
            </a:r>
            <a:endParaRPr lang="en-US" sz="1600" dirty="0"/>
          </a:p>
        </p:txBody>
      </p:sp>
      <p:pic>
        <p:nvPicPr>
          <p:cNvPr id="33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2600" b="1" dirty="0">
                <a:solidFill>
                  <a:srgbClr val="4236F6"/>
                </a:solidFill>
              </a:rPr>
              <a:t>?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Preguntas para el juego</a:t>
            </a:r>
            <a:r>
              <a:rPr lang="en-US" sz="1500" b="1" i="1" dirty="0">
                <a:solidFill>
                  <a:srgbClr val="8A8DA0"/>
                </a:solidFill>
              </a:rPr>
              <a:t>   Questions for the game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completo: 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1800" i="1" dirty="0">
                <a:solidFill>
                  <a:srgbClr val="4236F6"/>
                </a:solidFill>
              </a:rPr>
              <a:t>.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Tamaño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2900" b="1" dirty="0">
                <a:solidFill>
                  <a:srgbClr val="4236F6"/>
                </a:solidFill>
              </a:rPr>
              <a:t>? · </a:t>
            </a: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2900" b="1" dirty="0">
                <a:solidFill>
                  <a:srgbClr val="4236F6"/>
                </a:solidFill>
              </a:rPr>
              <a:t>?</a:t>
            </a:r>
            <a:endParaRPr lang="en-US" sz="29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Cuerpo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뚱뚱해요</a:t>
            </a:r>
            <a:r>
              <a:rPr lang="en-US" sz="2800" b="1" dirty="0">
                <a:solidFill>
                  <a:srgbClr val="4236F6"/>
                </a:solidFill>
              </a:rPr>
              <a:t>?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날씬해요</a:t>
            </a:r>
            <a:r>
              <a:rPr lang="en-US" sz="2800" b="1" dirty="0">
                <a:solidFill>
                  <a:srgbClr val="4236F6"/>
                </a:solidFill>
              </a:rPr>
              <a:t>?</a:t>
            </a:r>
            <a:endParaRPr lang="en-US" sz="28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뚱뚱해요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날씬해요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Nariz y cuello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 </a:t>
            </a:r>
            <a:r>
              <a:rPr lang="en-US" sz="5400" b="1" dirty="0">
                <a:solidFill>
                  <a:srgbClr val="4236F6"/>
                </a:solidFill>
              </a:rPr>
              <a:t>·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54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코가 길어요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목이 길어요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목이 짧아요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음식이에요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Ronda 2: ¿qué comida es?</a:t>
            </a:r>
            <a:r>
              <a:rPr lang="en-US" sz="1500" b="1" i="1" dirty="0">
                <a:solidFill>
                  <a:srgbClr val="8A8DA0"/>
                </a:solidFill>
              </a:rPr>
              <a:t>   Round 2: which food is 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5 minutos · mismas reglas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Comidas: 김치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불고기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Pregunta: 커요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también: 한국 음식이에요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Adivina: 바나나예요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바나나가 아니에요</a:t>
            </a:r>
            <a:r>
              <a:rPr lang="en-US" sz="2400" dirty="0">
                <a:solidFill>
                  <a:srgbClr val="14142B"/>
                </a:solidFill>
              </a:rPr>
              <a:t>. 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바나나예요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Si sobra tiempo, elige otra comida que sepas decir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endParaRPr lang="en-US" sz="4100" dirty="0"/>
          </a:p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음식이에요</a:t>
            </a:r>
            <a:r>
              <a:rPr lang="en-US" sz="4100" b="1" dirty="0">
                <a:solidFill>
                  <a:srgbClr val="4236F6"/>
                </a:solidFill>
              </a:rPr>
              <a:t>?</a:t>
            </a: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시간  </a:t>
            </a:r>
            <a:r>
              <a:rPr lang="en-US" sz="3000" b="1" dirty="0">
                <a:solidFill>
                  <a:srgbClr val="003478"/>
                </a:solidFill>
              </a:rPr>
              <a:t>Minuto libre: mi actividad favorita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minutos · las preguntas del libro + 누구하고</a:t>
            </a:r>
            <a:r>
              <a:rPr lang="en-US" sz="1800" i="1" dirty="0">
                <a:solidFill>
                  <a:srgbClr val="4236F6"/>
                </a:solidFill>
              </a:rPr>
              <a:t>? (¿con quién?)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400" dirty="0">
                <a:solidFill>
                  <a:srgbClr val="14142B"/>
                </a:solidFill>
              </a:rPr>
              <a:t>? —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찍어요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찍어요</a:t>
            </a:r>
            <a:r>
              <a:rPr lang="en-US" sz="2400" dirty="0">
                <a:solidFill>
                  <a:srgbClr val="14142B"/>
                </a:solidFill>
              </a:rPr>
              <a:t>? —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찍어요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찍어요</a:t>
            </a:r>
            <a:r>
              <a:rPr lang="en-US" sz="2400" dirty="0">
                <a:solidFill>
                  <a:srgbClr val="14142B"/>
                </a:solidFill>
              </a:rPr>
              <a:t>? —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바다에서 찍어요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누구하고 찍어요</a:t>
            </a:r>
            <a:r>
              <a:rPr lang="en-US" sz="2400" dirty="0">
                <a:solidFill>
                  <a:srgbClr val="14142B"/>
                </a:solidFill>
              </a:rPr>
              <a:t>? (¿con quién?) —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찍어요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어때요</a:t>
            </a:r>
            <a:r>
              <a:rPr lang="en-US" sz="2400" dirty="0">
                <a:solidFill>
                  <a:srgbClr val="14142B"/>
                </a:solidFill>
              </a:rPr>
              <a:t>? —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재미있어요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Ahora tú: 수영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</a:t>
            </a:r>
            <a:r>
              <a:rPr lang="en-US" sz="2400" dirty="0">
                <a:solidFill>
                  <a:srgbClr val="14142B"/>
                </a:solidFill>
              </a:rPr>
              <a:t>… ¿cuál es la tuya?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말해요  </a:t>
            </a: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agrega los que oyó en las salas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No: 커요예요 </a:t>
            </a:r>
            <a:r>
              <a:rPr lang="en-US" sz="2400" dirty="0">
                <a:solidFill>
                  <a:srgbClr val="14142B"/>
                </a:solidFill>
              </a:rPr>
              <a:t>· Sí: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 </a:t>
            </a:r>
            <a:r>
              <a:rPr lang="en-US" sz="2400" dirty="0">
                <a:solidFill>
                  <a:srgbClr val="14142B"/>
                </a:solidFill>
              </a:rPr>
              <a:t>(ya significa «es grande»)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entiende: 안 재미있어요 </a:t>
            </a:r>
            <a:r>
              <a:rPr lang="en-US" sz="2400" dirty="0">
                <a:solidFill>
                  <a:srgbClr val="14142B"/>
                </a:solidFill>
              </a:rPr>
              <a:t>· Más natural: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No: 맛 있어요 </a:t>
            </a:r>
            <a:r>
              <a:rPr lang="en-US" sz="2400" dirty="0">
                <a:solidFill>
                  <a:srgbClr val="14142B"/>
                </a:solidFill>
              </a:rPr>
              <a:t>· Sí: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r>
              <a:rPr lang="en-US" sz="2400" dirty="0">
                <a:solidFill>
                  <a:srgbClr val="14142B"/>
                </a:solidFill>
              </a:rPr>
              <a:t>, todo junto [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마시써요</a:t>
            </a:r>
            <a:r>
              <a:rPr lang="en-US" sz="2400" dirty="0">
                <a:solidFill>
                  <a:srgbClr val="14142B"/>
                </a:solidFill>
              </a:rPr>
              <a:t>]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 </a:t>
            </a:r>
            <a:r>
              <a:rPr lang="en-US" sz="2400" dirty="0">
                <a:solidFill>
                  <a:srgbClr val="14142B"/>
                </a:solidFill>
              </a:rPr>
              <a:t>es solo para comida y bebida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뚱뚱해요 </a:t>
            </a:r>
            <a:r>
              <a:rPr lang="en-US" sz="2400" dirty="0">
                <a:solidFill>
                  <a:srgbClr val="14142B"/>
                </a:solidFill>
              </a:rPr>
              <a:t>y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날씬해요</a:t>
            </a:r>
            <a:r>
              <a:rPr lang="en-US" sz="2400" dirty="0">
                <a:solidFill>
                  <a:srgbClr val="14142B"/>
                </a:solidFill>
              </a:rPr>
              <a:t>: en clase, solo animales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endParaRPr lang="en-US" sz="7700" dirty="0"/>
          </a:p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말해요</a:t>
            </a:r>
            <a:endParaRPr lang="en-US" sz="7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sentences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coro, con gesto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김치가 어때요</a:t>
            </a:r>
            <a:r>
              <a:rPr lang="en-US" sz="3400" b="1" dirty="0">
                <a:solidFill>
                  <a:srgbClr val="4236F6"/>
                </a:solidFill>
              </a:rPr>
              <a:t>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¿Qué tal el kimchi?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322064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맛있어요</a:t>
            </a:r>
            <a:r>
              <a:rPr lang="en-US" sz="3400" b="1" dirty="0">
                <a:solidFill>
                  <a:srgbClr val="4236F6"/>
                </a:solidFill>
              </a:rPr>
              <a:t>!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322064" y="39611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[정말 마시써요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395216" y="4235501"/>
            <a:ext cx="3398520" cy="1863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¡Está riquísimo!</a:t>
            </a:r>
            <a:endParaRPr lang="en-US" sz="1600" dirty="0"/>
          </a:p>
        </p:txBody>
      </p:sp>
      <p:pic>
        <p:nvPicPr>
          <p:cNvPr id="12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3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095488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4200" b="1" dirty="0">
                <a:solidFill>
                  <a:srgbClr val="4236F6"/>
                </a:solidFill>
              </a:rPr>
              <a:t>,</a:t>
            </a:r>
            <a:endParaRPr lang="en-US" sz="4200" dirty="0"/>
          </a:p>
          <a:p>
            <a:pPr marL="0" indent="0" algn="ctr" eaLnBrk="1">
              <a:buNone/>
            </a:pPr>
            <a:r>
              <a:rPr lang="ko-KR" altLang="en-US" sz="4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재미없어요</a:t>
            </a:r>
            <a:r>
              <a:rPr lang="en-US" sz="4200" b="1" dirty="0">
                <a:solidFill>
                  <a:srgbClr val="4236F6"/>
                </a:solidFill>
              </a:rPr>
              <a:t>.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8095488" y="39611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[아니요</a:t>
            </a:r>
            <a:r>
              <a:rPr lang="en-US" sz="1300" dirty="0">
                <a:solidFill>
                  <a:srgbClr val="8A8DA0"/>
                </a:solidFill>
              </a:rPr>
              <a:t>, 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재미업써요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168640" y="4235501"/>
            <a:ext cx="3398520" cy="1863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No, es aburrido.</a:t>
            </a:r>
            <a:endParaRPr lang="en-US" sz="1600" dirty="0"/>
          </a:p>
        </p:txBody>
      </p:sp>
      <p:pic>
        <p:nvPicPr>
          <p:cNvPr id="17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  </a:t>
            </a:r>
            <a:r>
              <a:rPr lang="en-US" sz="3000" b="1" dirty="0">
                <a:solidFill>
                  <a:srgbClr val="003478"/>
                </a:solidFill>
              </a:rPr>
              <a:t>Tarea final</a:t>
            </a:r>
            <a:r>
              <a:rPr lang="en-US" sz="1500" b="1" i="1" dirty="0">
                <a:solidFill>
                  <a:srgbClr val="8A8DA0"/>
                </a:solidFill>
              </a:rPr>
              <a:t>   Final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tu hoja · mándala por privado (WhatsApp) antes del domingo 13 de diciembre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Parte 1: ejercicios 1, 2 y 3 de la hoja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Parte 2: «Mi actividad favorita» en 5 frases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누구하고</a:t>
            </a:r>
            <a:r>
              <a:rPr lang="en-US" sz="2200" dirty="0">
                <a:solidFill>
                  <a:srgbClr val="14142B"/>
                </a:solidFill>
              </a:rPr>
              <a:t>? (¿con quién?)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어때요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Foto de la hoja + un audio leyendo tus 5 frases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Jay te responde con un audio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</a:t>
            </a:r>
            <a:endParaRPr lang="en-US" sz="7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잘했어요</a:t>
            </a:r>
            <a:r>
              <a:rPr lang="en-US" sz="2600" b="1" dirty="0">
                <a:solidFill>
                  <a:srgbClr val="4236F6"/>
                </a:solidFill>
              </a:rPr>
              <a:t>!  </a:t>
            </a:r>
            <a:r>
              <a:rPr lang="en-US" sz="2600" b="1" dirty="0">
                <a:solidFill>
                  <a:srgbClr val="003478"/>
                </a:solidFill>
              </a:rPr>
              <a:t>¡Terminaste Básico 2!</a:t>
            </a:r>
            <a:r>
              <a:rPr lang="en-US" sz="1500" b="1" i="1" dirty="0">
                <a:solidFill>
                  <a:srgbClr val="8A8DA0"/>
                </a:solidFill>
              </a:rPr>
              <a:t>   You finished Basic 2!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clases · todo el libro 한국어 </a:t>
            </a:r>
            <a:r>
              <a:rPr lang="en-US" sz="1800" i="1" dirty="0">
                <a:solidFill>
                  <a:srgbClr val="4236F6"/>
                </a:solidFill>
              </a:rPr>
              <a:t>2 (10 lecciones)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Ya puedes decir quién, con quién, cuándo, dónde, cuántos y qué tal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Certificado de Básico 2: Jay te escribe por WhatsApp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Lo que viene en enero de 2027: Jay les cuenta esta semana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Sigue practicando gratis: academiaseul.com/lector-coreano y /dubu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Foto de despedida en Zoom (solo si todos están de acuerdo)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</a:t>
            </a:r>
            <a:endParaRPr lang="en-US" sz="5000" dirty="0"/>
          </a:p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5000" b="1" dirty="0">
                <a:solidFill>
                  <a:srgbClr val="4236F6"/>
                </a:solidFill>
              </a:rPr>
              <a:t>!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Última clase de Básico 2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</a:t>
            </a:r>
            <a:r>
              <a:rPr lang="en-US" sz="2200" dirty="0">
                <a:solidFill>
                  <a:srgbClr val="FFFFFF"/>
                </a:solidFill>
              </a:rPr>
              <a:t>,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감사합니다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만나요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5939</Words>
  <Application>Microsoft Office PowerPoint</Application>
  <PresentationFormat>Widescreen</PresentationFormat>
  <Paragraphs>532</Paragraphs>
  <Slides>30</Slides>
  <Notes>30</Notes>
  <HiddenSlides>0</HiddenSlides>
  <MMClips>39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Academia Seul</vt:lpstr>
      <vt:lpstr>Básico 2 · Clase 8</vt:lpstr>
      <vt:lpstr>복습 퀴즈  Quiz de la clase 7   Class 7 quiz</vt:lpstr>
      <vt:lpstr>오늘  Hoy, la última clase   Today, our last class</vt:lpstr>
      <vt:lpstr>본문  Escena: el sábado de 하나   Scene: 하나's Saturday</vt:lpstr>
      <vt:lpstr>¿Entendiste?   Did you get it?</vt:lpstr>
      <vt:lpstr>배워 봐요  Palabras nuevas   New words</vt:lpstr>
      <vt:lpstr>있어요 · 없어요  있어요 ↔ 없어요: ya lo saben</vt:lpstr>
      <vt:lpstr>어때요?  La pregunta de hoy   Today's question</vt:lpstr>
      <vt:lpstr>N이/가 어때요?  ¿이 o 가?   이 or 가?</vt:lpstr>
      <vt:lpstr>이/가 · 은/는  ¿Por qué 코끼리는?   Why 코끼리는?</vt:lpstr>
      <vt:lpstr>연습해요  ¿Qué tal es?   What is it like?</vt:lpstr>
      <vt:lpstr>여러분은요?  Ahora, sobre ti   Now, about you</vt:lpstr>
      <vt:lpstr>배워 봐요  Más palabras para describir   More describing words</vt:lpstr>
      <vt:lpstr>읽어 봐요  Lean en voz alta   Read aloud</vt:lpstr>
      <vt:lpstr>들어 봐요  Escucha a Jay   Listen to Jay</vt:lpstr>
      <vt:lpstr>종합 연습  Todo el libro en una tabla   The whole book in one table</vt:lpstr>
      <vt:lpstr>연습해요  ¿Cuál es la pregunta?   What's the question?</vt:lpstr>
      <vt:lpstr>누가 · 언제 · 어디에서  Drill: la ruleta de frases</vt:lpstr>
      <vt:lpstr>이야기해요 · 같이 해요  A las salas   Breakout rooms</vt:lpstr>
      <vt:lpstr>이야기해요  Opina: ¿qué tal es?   Give your opinion</vt:lpstr>
      <vt:lpstr>어떤 동물이에요?  Juego: ¿qué animal es?   Game: which animal is it?</vt:lpstr>
      <vt:lpstr>동물  Los animales del juego   The game's animals</vt:lpstr>
      <vt:lpstr>커요? 길어요?  Preguntas para el juego   Questions for the game</vt:lpstr>
      <vt:lpstr>어떤 음식이에요?  Ronda 2: ¿qué comida es?   Round 2: which food is it?</vt:lpstr>
      <vt:lpstr>자유 시간  Minuto libre: mi actividad favorita</vt:lpstr>
      <vt:lpstr>이렇게 말해요  Errores del día   Today's mistakes</vt:lpstr>
      <vt:lpstr>오늘의 문장  3 frases clave   3 key sentences</vt:lpstr>
      <vt:lpstr>써 봐요  Tarea final   Final homework</vt:lpstr>
      <vt:lpstr>정말 잘했어요!  ¡Terminaste Básico 2!   You finished Basic 2!</vt:lpstr>
      <vt:lpstr>감사합니다! 화이팅!  ¡Gracias! ¡Ánimo!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8 · 코끼리는 커요 · ¿Qué tal es? + 종합 연습 (repaso) y cierre del curso</dc:title>
  <dc:subject>PptxGenJS Presentation</dc:subject>
  <dc:creator>Academia Seúl</dc:creator>
  <cp:lastModifiedBy>Jae Hee Kim</cp:lastModifiedBy>
  <cp:revision>2</cp:revision>
  <dcterms:created xsi:type="dcterms:W3CDTF">2026-10-22T12:14:10Z</dcterms:created>
  <dcterms:modified xsi:type="dcterms:W3CDTF">2026-10-22T12:14:59Z</dcterms:modified>
</cp:coreProperties>
</file>