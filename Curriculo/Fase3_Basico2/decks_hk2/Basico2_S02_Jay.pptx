
<file path=[Content_Types].xml><?xml version="1.0" encoding="utf-8"?>
<Types xmlns="http://schemas.openxmlformats.org/package/2006/content-types"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12192000"/>
  <p:defaultTextStyle>
    <a:lvl1pPr marL="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mana 2" id="{18B8A3A4-C88D-4746-16DE-3740C0BD0C3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4784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21:00, unos segundos. Inicia la grabación en la nube. Saluda a cada uno por su nombre a medida que entra («안녕하세요, ___ 씨!») y pide cámara encendida. Pasa enseguida a L2. Referencia: 한국어 2, lección 1, págs. 6–15 (guía del profesor, págs. 8–17).
Fuente: Portada de la plantilla
Lámina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21:00–21:01 (1 min). En español y con calma: «Desde hoy seguimos un libro coreano hecho para ir paso a paso, 한국어 2: una lección por clase, frases cortas, mucha repetición y la mayor parte del tiempo hablando ustedes.» «Cada martes, el día antes de la clase, les mando por WhatsApp la hoja de la clase: ténganla abierta en el celular, porque la usamos en las salas. No necesitan comprar nada.» Enseña las dos frases de rescate y que las digan una vez en coro: 네? (¿perdón?) y 한 번 더요! (¡otra vez, por favor!). No muestres páginas del libro en pantalla (derechos: ver dudas).
Fuente: Nueva
Lámina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21:01–21:04 (3 min). Es el quiz 1 que se prometió en la clase 1, simplificado y sin nota: sirve para ver qué quedó. Lee cada ítem en voz alta, da unos 20 s para escribir en el chat y revela con clic. Celebra en coreano («좋아요! 잘했어요!»). Si varios fallan la 1 o la 2, no lo reexpliques ahora: hoy vemos 이/가 otra vez y eso lo ordena. Si vas atrasado: solo la 1, la 3 y la 5.
Fuente: Nueva (quiz 1 anunciado en la clase 1, simplificado)
Lámina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21:04–21:05 (1 min). Puente con lo que ya saben: la guía propone abrir con «뭐 해요?» y los verbos de 한국어 1. Muestra cada imagen sin la palabra y pregunta «뭐 해요?»; responden en coro y después revelas. Cierra: «¡Ya saben decir QUÉ hace alguien! Hoy aprendemos a preguntar QUIÉN lo hace.» Referencia: guía del profesor de 한국어 2, lección 1, pág. 12 (이렇게 해 보세요). Si vas atrasado, sáltala.
Imagen: incluida (dibujo de la casa).
Fuente: Idea de la guía, pág. 12
Lámina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21:05–21:07 (2 min). Presenta a los personajes que nos acompañan todo el curso (son de la casa, no del libro). 발렌티나 (chilena) y 마테오 (mexicano) viven en Seúl y estudian coreano allá. Es sábado: 발렌티나 y 마테오 están en videollamada y miran las fotos del chat de grupo «한국어 친구들». Señala cada foto y pregunta lo que ya saben: «뭐 해요?» (공부해요, 자요… lo que salga); si no sale, di tú la palabra y que repitan. Termina con suspenso: «누가 수영해요? ¿Quién?… Escuchemos.» Referencia: 한국어 2, lección 1, pág. 6 (imagen de apertura; esta escena es original).
Imagen: incluida (dibujo de la casa).
Fuente: Nueva (personajes de la casa)
Lámina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21:07–21:09 (2 min). Paso 1, escuchar: dos veces, sin explicar, mientras miran las fotos de L5. Los clips son todos con voz femenina: pon el audio de las líneas de 발렌티나 y lee tú las de 마테오 (o léela entera tú, cambiando la voz). Paso 2, repetir: línea por línea en coro; luego tú haces de 발렌티나 y el grupo de 마테오, y al revés. Recién ahí, 15 s en español: «누가 es ‘¿quién?’ cuando alguien HACE algo. Y fíjense en la última: ‘soy yo’ es 제가.» No expliques más: la regla viene en L13–L14. Referencia: 한국어 2, lección 1, págs. 6 y 8 (la estructura de la lección; esta conversación es original).
Imagen: incluida (dibujo de la casa).
Fuente: Nueva (personajes de la casa)
Lámina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21:09–21:10 (1 min). Pregunta en coreano; responden en coro o en el chat y revelas con clic. Basta con respuestas cortas («하나 씨요!»): tú repites la frase completa y el grupo la repite contigo. En la 3 también vale «아니요, 도윤 씨는 요리해요» (corrige la acción, no la persona): felicita y pregunta «누가 노래해요?». Si nadie contesta la 3, vuelve a la línea 4 de L6.
Imagen: incluida (dibujo de la casa).
Fuente: Nueva
Lámina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21:10–21:12 (2 min). Como sugiere la guía: primero la imagen sola («뭐 해요?»), después revelas la palabra, audio, coro dos veces y una vez individual con 2 alumnos. Truco en español: «노래 es canción; 노래 + 해요 = hacer canción = cantar. Igual 수영 (natación), 운동 (ejercicio) e 이야기 (conversación).» 운동해요 es ‘hacer ejercicio’ en general (gimnasio, trotar), no ‘jugar fútbol’. Referencia: 한국어 2, lección 1, pág. 7 (배워 봐요); guía, pág. 9.
Imagen: incluida (dibujo de la casa).
Fuente: Vocabulario de la lección 1 (pág. 7); imágenes nuevas
Lámina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21:12–21:14 (2 min). Mismo ritual: imagen → «뭐 해요?» → palabra → audio → coro ×2. 자요 y 일어나요 no llevan 해요: se aprenden tal cual. Las dos últimas no están en el libro: «las sumamos porque son de su vida: el trabajo y la cocina (도윤 es cocinero)». Para los de julio, 공부해요, 자요, 일어나요, 일해요 y 요리해요 son repaso: que ellos las digan primero. Referencia: 한국어 2, lección 1, pág. 7 (배워 봐요).
Imagen: incluida (dibujo de la casa).
Fuente: Vocabulario de la lección 1 (pág. 7) + 2 extra
Lámina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21:14–21:15 (1 min). 일어나요: la ㄹ pasa a la sílaba siguiente [이러나요] (igual que 읽어요 [일거요] de L4). 전화해요 se pronuncia [전화해요]; en habla rápida la ㅎ se debilita y se oye [저놔해요]: tienen que reconocerlo, pero no hace falta imitarlo. 수영해요: ㅕ (boca abierta), no ㅛ (boca redonda). 이야기해요: la forma corta 얘기해요 también es correcta y muy común (también por escrito, en mensajes); en clase usamos 이야기해요. Coro de las 4 y listo.
Fuente: Nueva
Lámina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21:15–21:16 (1 min). Adaptación a Zoom del juego de la guía (tarjetas con dibujo: quien dice primero la palabra se lleva la tarjeta). Señalas una imagen; el primero que la dice (micrófono abierto o chat) gana el punto; revelas con clic. Ritmo rápido, 10 s por imagen. Referencia: guía del profesor, lección 1, pág. 10 (함께 해 봐요). Si vas atrasado, solo 3 imágenes.
Imagen: incluida (dibujo de la casa).
Fuente: Idea de la guía, pág. 10
Lámina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21:16–21:17 (1 min). Audio dos veces; coro dos veces; dos alumnos solos. Entonación: el tono más alto va en 누가 y el final baja (누가 노래해요?↘). Ojo: si 누가 se dice suave y el final sube (누가 노래해요?↗), significa ‘¿alguien está cantando?’. Cambia el verbo y que lo digan ellos: «누가 자요? 누가 공부해요? 누가 요리해요?». Referencia: 한국어 2, lección 1, pág. 6 (el título de la lección es la estructura misma).
Imagen: incluida (dibujo de la casa).
Fuente: Estructura de la lección 1 (pág. 6)
Lámina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21:17–21:19 (2 min). Explicación en 2 frases: «누구 es ‘quién’. Cuando ese quién HACE algo, le pegamos 가 y se encoge: 누가 (nunca 누구가). Lo mismo con ‘yo’: 저 + 가 = 제가, ‘soy yo quien…’.» Respuesta corta a ‘¿quién?’: 저요! (no 제가 a secas). Pruébalo con humor: señálate y pregunta «누가 선생님이에요?» → tú: «저요! 제가 선생님이에요!». Luego «누가 학생이에요?» → que respondan todos: «저요! 제가 학생이에요!». Y «누가 칠레 사람이에요?» → los chilenos: «저요! 제가 칠레 사람이에요!» (repasa la clase 1).
Fuente: Nueva
Lámina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21:19–21:20 (1 min). Primero lee las 6 frases, una por una, y el grupo las repite en coro, sin explicar nada. Después, 15 s: «Quien hace la acción lleva 이 si termina en consonante y 가 si termina en vocal, igual que 이에요/예요. A un compañero adulto, nombre + 씨가; a un niño (서아), a la mascota (콩이) o a ti mismo, sin 씨.» (La pronunciación de 남편이 [남펴니] y la partícula que se cae en la calle están en el plan, §1, por si preguntan.)
Fuente: Nueva
Lámina 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21:20–21:21 (1 min). Coro rápido: dices la palabra, el grupo responde con su partícula y revelas. Después, 2 alumnos solos con la 3 y la 6. 남편이 suena [남펴니]. Si alguien dice 누구가 o 저가, sonríe y di la forma correcta dos veces; el alumno la repite.
Fuente: Nueva
Lámina 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21:21–21:22 (1 min). Audio y coro. «Si alguien adivina mal, 아니요 y la persona correcta con 이/가.» Tres preguntas trampa con la escena 1 (responden en coro): «하나 씨가 자요?» → «아니요, 콩이가 자요.» · «서아가 수영해요?» → «아니요, 하나 씨가 수영해요.» · «도윤 씨가 운동해요?» → «아니요, 마테오 씨가 운동해요.» Si alguien responde sobre la persona preguntada («아니요, 하나 씨는 수영해요» / «아니요, 도윤 씨는 요리해요»), es correcto: felicítalo y pide además quién lo hace («누가 자요?»). Referencia: 한국어 2, lección 1, pág. 8.
Imagen: incluida (dibujo de la casa).
Fuente: Estructura de la lección 1 (pág. 8); frase nueva
Lámina 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21:22–21:24 (2 min). Paso 3, práctica controlada: preguntas tú, el grupo responde en coro con la frase completa y revelas. En la 4 y la 5, pregunta a un alumno por su nombre. En la 3 y la 6 también vale la respuesta corta («자요.» / «노래해요.»). Si alguien responde solo con el nombre, completa tú la frase y que la repita. Esta imagen se usa de nuevo en el drill (L21). Referencia: 한국어 2, lección 1, págs. 9–10 (연습해요; aquí oral y con una escena original).
Imagen: incluida (dibujo de la casa).
Fuente: Nueva (tipo de actividad del libro, págs. 9–10)
Lámina 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21:24–21:26 (2 min). Escriben en el chat; esperas que respondan 3 o 4 y revelas. Lee la frase completa en voz alta y el grupo la repite. Fíjate en la 5: si escriben 저는, explica en una frase: «a ‘¿quién?’ se responde con 이/가: 제가». Referencia: 한국어 2, lección 1, pág. 10 (그림을 보고 써 보세요; aquí con frases originales).
Fuente: Nueva (tipo de actividad del libro, pág. 10)
Lámina 18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21:26–21:27 (1 min). Pregunta a 2 o 3 alumnos por su nombre («___ 씨, 누가 요리해요?») y que respondan la verdad sobre su casa. Si dicen «저는 요리해요», reformula sin corregir: «아, 제가 요리해요! 좋아요!». Quien vive solo: «제가 요리해요, 제가 운동해요… 제가 다 해요!» (con risa). Antes de cerrar, una pregunta trampa a 1 alumno con lo que te acaba de contar (si dijo «제가 요리해요», pregunta «누가 요리해요? 동생?») para que corrija con 아니요: «아니요, 제가 요리해요!». Termina con la 4 para todos: «누가 한국어를 공부해요?» → coro: «저요! 제가 공부해요!». 남편 y 아내 son de la clase 1.
Fuente: Nueva
Lámina 19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21:27–21:30 (3 min). Guion original para leer en vivo, cambiando un poco la voz para cada persona. 1) 가: 누가 노래해요? 하나 씨? — 나: 아니요, 발렌티나 씨가 노래해요. 2) 가: 누가 자요? 콩이? — 나: 아니요, 마테오 씨가 자요. 하하. 3) 가: 누가 수영해요? — 나: 도윤 씨가 수영해요. 4) 가: 서아가 공부해요? — 나: 아니요, 하나 씨가 공부해요. Primera vuelta a velocidad normal; escriben en el chat «1 발렌티나», etc. Segunda vuelta un poco más lenta para que corrijan. Revelas. Tercera vuelta: repiten después de cada línea. Las trampas (하나, 콩이, 서아) obligan a escuchar el final. Referencia: 한국어 2, lección 1, pág. 12 (들어 봐요); guía, pág. 14.
Imagen: incluida (dibujo de la casa).
Fuente: Nueva (tipo de actividad del libro, pág. 12)
Lámina 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21:30–21:31:30 (1 min 30 s). Pega en el chat el orden de los nombres (lo tienes listo antes de clase). Ritmo: 10 s por turno; tú empiezas preguntándole al primero. Pueden preguntar la verdad o una trampa (con 아니요). 서아 y 콩이 van sin 씨: si alguien dice «서아 씨가», repite «서아가» y sigue. Corrige solo reformulando, sin parar la cadena. Con 3 o menos alumnos, haz dos vueltas.
Imagen: incluida (dibujo de la casa).
Fuente: Nueva
Lámina 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21:31:30–21:33:30 (2 min). Versión Zoom del 같이 해요 del libro (3–4 alumnos actúan y el resto dice quién hace qué). Pide vista de galería. Ronda 1: manda por chat privado 노래해요 / 수영해요 / 전화해요 a 3 alumnos; actúan a la vez; preguntas «누가 노래해요?», «누가 수영해요?» y una trampa. Ronda 2 con otros 3 (si son menos de 6, actúan los que no actuaron y completan los que ya actuaron): 자요 / 일어나요 / 운동해요. Aquí sí se usan los nombres reales de los alumnos (en vivo; no van en los materiales). Referencia: 한국어 2, lección 1, pág. 13 (같이 해요); guía, pág. 15.
Fuente: Idea del libro (pág. 13) y de la guía (pág. 15)
Lámina 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21:33:30–21:34:15 (45 s). Explica todo ahora: en las salas no ven tu pantalla. Pega en el chat el texto de las salas (está listo en el plan, §3) y pide que le saquen una captura: dentro de la sala no siempre se ve el chat principal. La misma tarjeta está en su hoja («Para la sala»). Si hace falta, reenvía lo esencial con «Difundir mensaje a todas las salas». Parte 1: se turnan, A pregunta las 4 y B responde la verdad sobre su casa; luego al revés; anotan en 한글. Referencia: 한국어 2, lección 1, pág. 11 (이야기해요; aquí con preguntas personales).
Fuente: Nueva (tipo de actividad del libro, pág. 11)
Lámina 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21:34:15–21:35 (45 s). Antes de abrir las salas, manda al chat las imágenes A y B (S02_Imagen_A.png y S02_Imagen_B.png), cada una con su letra, y asigna A y B en cada pareja (en trío, C es árbitro y abre las dos). Pide que cada uno descargue y abra su imagen ahora, sin mirar la otra: dentro de la sala no siempre se ve el chat principal. Reglas: preguntan por turnos con las 6 acciones (수영해요, 운동해요, 노래해요, 전화해요, 요리해요, 자요). Si la respuesta coincide con su imagen: «네, 맞아요!»; si no: «아니요! ___ 씨가 / 서아가 ___요.» y anotan la diferencia. 서아 y 콩이 van sin 씨. Abre las salas a las 21:35 por 19 minutos, con cuenta regresiva de 60 s al cerrar, y pausa la grabación. Mensajes a todas las salas: 21:43 «같이 해요! Abran su imagen A o B.» · 21:51 «Minuto libre: 3 minutos.» Referencia: guía del profesor, lección 1, pág. 15 (함께 해 봐요, 다른 그림 찾기); las escenas son originales.
Fuente: Idea de la guía, pág. 15
Lámina 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21:55–21:56 (1 min). Reanuda la grabación. Pregunta en español cuántas encontraron. Una pareja dice una diferencia en coreano, con el modelo: «A: 하나 씨가 수영해요. B: 마테오 씨가 수영해요.» Revela la tabla. Si alguna pareja contó algo del minuto libre que valga la pena, que lo diga en una frase.
Fuente: Nueva
Lámina 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21:56–21:57 (1 min). Tú solo y despacio; después el grupo en coro, dos veces. La tercera, con un gesto de «yo» (mano en el pecho). Son las 3 de la tarea de audio.
Fuente: Nueva
Lámina 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21:57–21:58 (1 min). Son los errores típicos previstos; cámbialos por los 2–3 que de verdad oíste en las salas. Nunca digas quién lo dijo. Lee la forma correcta y el grupo la repite.
Fuente: Nueva
Lámina 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21:58–21:59 (1 min). «Unos 20 minutos. La hoja ya la tienen (llegó antes de clase): ahí están los ejercicios. Uno: los ejercicios 1 a 3. Dos: el 써 봐요, 4 frases sobre su casa, de verdad. Tres: un audio de unos 30 segundos con las 3 frases clave y sus 4 frases, y me lo mandan por privado antes del lunes 2. La clase 3 abre con un quiz cortito de 누가.» Referencia: 한국어 2, lección 1, págs. 14–15 (써 봐요; la tarea es original).
Fuente: Nueva (tipo de actividad del libro, págs. 14–15)
Lámina 28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21:59–22:00 (1 min). «오늘 정말 잘했어요! Hoy ya preguntan quién hace qué. El miércoles 4, lección 2: cómo decir ‘mi papá y mi mamá…’.» Con leve inclinación: «감사합니다!» → el grupo: «감사합니다!». A las 22:00: «Finalizar reunión para todos». Después, el mensaje del grupo (plan, §7).
Fuente: Nueva
Lámina 29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· solo para mandar al chat · no proyectar (rompería el juego). Usa el archivo S02_Imagen_A.png (Curriculo/Fase3_Basico2/HK2/): no hace falta exportar nada desde PowerPoint. Mándala al chat a las 21:34 con la etiqueta «A». Contenido: 하나 수영해요 · 마테오 운동해요 · 도윤 요리해요 · 서아 노래해요 · 발렌티나 전화해요 · 콩이 자요.
Imagen: incluida (dibujo de la casa).
Fuente: Nueva (idea de la guía, pág. 15)
Lámina 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· solo para mandar al chat · no proyectar. Usa el archivo S02_Imagen_B.png (Curriculo/Fase3_Basico2/HK2/) y mándala al chat con la etiqueta «B». Contenido: 마테오 수영해요 · 하나 운동해요 · 도윤 요리해요 · 발렌티나 노래해요 · 서아 전화해요 · 콩이 자요. Diferencias con A: quién nada, quién hace ejercicio, quién canta y quién habla por teléfono.
Imagen: incluida (dibujo de la casa).
Fuente: Nueva (idea de la guía, pág. 15)
Lámina 31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_PORTADA">
    <p:bg>
      <p:bgPr>
        <a:solidFill>
          <a:srgbClr val="0034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hingu/Desktop/ACADEMIASEULWEB/public/email/sell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600200" y="7132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FFFFF"/>
                </a:solidFill>
              </a:rPr>
              <a:t>ACADEMIA SEÚL</a:t>
            </a:r>
            <a:endParaRPr lang="en-US" sz="14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640080" y="306324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400" b="1" dirty="0">
                <a:solidFill>
                  <a:srgbClr val="FFFFFF"/>
                </a:solidFill>
              </a:defRPr>
            </a:lvl1pPr>
          </a:lstStyle>
          <a:p>
            <a:pPr marL="0" indent="0">
              <a:buNone/>
            </a:pPr>
            <a:endParaRPr lang="en-US" sz="44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640080" y="4160520"/>
            <a:ext cx="108813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200" dirty="0">
                <a:solidFill>
                  <a:srgbClr val="E8B84B"/>
                </a:solidFill>
              </a:defRPr>
            </a:lvl1pPr>
          </a:lstStyle>
          <a:p>
            <a:pPr marL="0" indent="0">
              <a:buNone/>
            </a:pPr>
            <a:endParaRPr lang="en-US" sz="2200" dirty="0"/>
          </a:p>
        </p:txBody>
      </p:sp>
      <p:sp>
        <p:nvSpPr>
          <p:cNvPr id="6" name="Text 1"/>
          <p:cNvSpPr txBox="1"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C3DA"/>
                </a:solidFill>
              </a:rPr>
              <a:t>Básico 2 (A1.2) · Semana 2 · Jay Kim (김재희) · Academia Seúl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_CONTENI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rgbClr val="003478"/>
                </a:solidFill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  <p:pic>
        <p:nvPicPr>
          <p:cNvPr id="3" name="Image 0" descr="C:/Users/Chingu/Desktop/ACADEMIASEULWEB/public/email/sello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411480"/>
            <a:ext cx="502920" cy="5029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DA0"/>
                </a:solidFill>
              </a:rPr>
              <a:t>Básico 2 (A1.2) · Semana 2 · Jay Kim (김재희) · Academia Seúl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_CIERRE">
    <p:bg>
      <p:bgPr>
        <a:solidFill>
          <a:srgbClr val="423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hingu/Desktop/ACADEMIASEULWEB/public/email/sell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5029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1691640"/>
            <a:ext cx="10725912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1463040" y="2971800"/>
            <a:ext cx="9262872" cy="2926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200" dirty="0">
                <a:solidFill>
                  <a:srgbClr val="FFFFFF"/>
                </a:solidFill>
              </a:defRPr>
            </a:lvl1pPr>
          </a:lstStyle>
          <a:p>
            <a:pPr marL="0" indent="0">
              <a:buNone/>
            </a:pPr>
            <a:endParaRPr lang="en-US" sz="2200" dirty="0"/>
          </a:p>
        </p:txBody>
      </p:sp>
      <p:sp>
        <p:nvSpPr>
          <p:cNvPr id="5" name="Text 0"/>
          <p:cNvSpPr txBox="1"/>
          <p:nvPr/>
        </p:nvSpPr>
        <p:spPr>
          <a:xfrm>
            <a:off x="731520" y="626364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D7F7"/>
                </a:solidFill>
              </a:rPr>
              <a:t>Básico 2 (A1.2) · Semana 2 · Jay Kim (김재희) · Academia Seúl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0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0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0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0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0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audio" Target="../media/media4.mp3"/><Relationship Id="rId13" Type="http://schemas.openxmlformats.org/officeDocument/2006/relationships/image" Target="../media/image5.png"/><Relationship Id="rId3" Type="http://schemas.microsoft.com/office/2007/relationships/media" Target="../media/media2.mp3"/><Relationship Id="rId7" Type="http://schemas.microsoft.com/office/2007/relationships/media" Target="../media/media4.mp3"/><Relationship Id="rId12" Type="http://schemas.openxmlformats.org/officeDocument/2006/relationships/image" Target="../media/image4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audio" Target="../media/media3.mp3"/><Relationship Id="rId11" Type="http://schemas.openxmlformats.org/officeDocument/2006/relationships/image" Target="../media/image3.png"/><Relationship Id="rId5" Type="http://schemas.microsoft.com/office/2007/relationships/media" Target="../media/media3.mp3"/><Relationship Id="rId15" Type="http://schemas.openxmlformats.org/officeDocument/2006/relationships/image" Target="../media/image7.png"/><Relationship Id="rId10" Type="http://schemas.openxmlformats.org/officeDocument/2006/relationships/notesSlide" Target="../notesSlides/notesSlide4.xml"/><Relationship Id="rId4" Type="http://schemas.openxmlformats.org/officeDocument/2006/relationships/audio" Target="../media/media2.mp3"/><Relationship Id="rId9" Type="http://schemas.openxmlformats.org/officeDocument/2006/relationships/slideLayout" Target="../slideLayouts/slideLayout3.xml"/><Relationship Id="rId1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audio" Target="../media/media8.mp3"/><Relationship Id="rId13" Type="http://schemas.openxmlformats.org/officeDocument/2006/relationships/slideLayout" Target="../slideLayouts/slideLayout3.xml"/><Relationship Id="rId18" Type="http://schemas.openxmlformats.org/officeDocument/2006/relationships/image" Target="../media/image11.png"/><Relationship Id="rId3" Type="http://schemas.microsoft.com/office/2007/relationships/media" Target="../media/media6.mp3"/><Relationship Id="rId21" Type="http://schemas.openxmlformats.org/officeDocument/2006/relationships/image" Target="../media/image14.png"/><Relationship Id="rId7" Type="http://schemas.microsoft.com/office/2007/relationships/media" Target="../media/media8.mp3"/><Relationship Id="rId12" Type="http://schemas.openxmlformats.org/officeDocument/2006/relationships/audio" Target="../media/media10.mp3"/><Relationship Id="rId17" Type="http://schemas.openxmlformats.org/officeDocument/2006/relationships/image" Target="../media/image10.png"/><Relationship Id="rId2" Type="http://schemas.openxmlformats.org/officeDocument/2006/relationships/audio" Target="../media/media5.mp3"/><Relationship Id="rId16" Type="http://schemas.openxmlformats.org/officeDocument/2006/relationships/image" Target="../media/image4.png"/><Relationship Id="rId20" Type="http://schemas.openxmlformats.org/officeDocument/2006/relationships/image" Target="../media/image13.png"/><Relationship Id="rId1" Type="http://schemas.microsoft.com/office/2007/relationships/media" Target="../media/media5.mp3"/><Relationship Id="rId6" Type="http://schemas.openxmlformats.org/officeDocument/2006/relationships/audio" Target="../media/media7.mp3"/><Relationship Id="rId11" Type="http://schemas.microsoft.com/office/2007/relationships/media" Target="../media/media10.mp3"/><Relationship Id="rId5" Type="http://schemas.microsoft.com/office/2007/relationships/media" Target="../media/media7.mp3"/><Relationship Id="rId15" Type="http://schemas.openxmlformats.org/officeDocument/2006/relationships/image" Target="../media/image9.png"/><Relationship Id="rId10" Type="http://schemas.openxmlformats.org/officeDocument/2006/relationships/audio" Target="../media/media9.mp3"/><Relationship Id="rId19" Type="http://schemas.openxmlformats.org/officeDocument/2006/relationships/image" Target="../media/image12.png"/><Relationship Id="rId4" Type="http://schemas.openxmlformats.org/officeDocument/2006/relationships/audio" Target="../media/media6.mp3"/><Relationship Id="rId9" Type="http://schemas.microsoft.com/office/2007/relationships/media" Target="../media/media9.mp3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audio" Target="../media/media14.mp3"/><Relationship Id="rId13" Type="http://schemas.openxmlformats.org/officeDocument/2006/relationships/image" Target="../media/image10.png"/><Relationship Id="rId3" Type="http://schemas.microsoft.com/office/2007/relationships/media" Target="../media/media12.mp3"/><Relationship Id="rId7" Type="http://schemas.microsoft.com/office/2007/relationships/media" Target="../media/media14.mp3"/><Relationship Id="rId12" Type="http://schemas.openxmlformats.org/officeDocument/2006/relationships/image" Target="../media/image4.png"/><Relationship Id="rId2" Type="http://schemas.openxmlformats.org/officeDocument/2006/relationships/audio" Target="../media/media11.mp3"/><Relationship Id="rId1" Type="http://schemas.microsoft.com/office/2007/relationships/media" Target="../media/media11.mp3"/><Relationship Id="rId6" Type="http://schemas.openxmlformats.org/officeDocument/2006/relationships/audio" Target="../media/media13.mp3"/><Relationship Id="rId11" Type="http://schemas.openxmlformats.org/officeDocument/2006/relationships/image" Target="../media/image15.png"/><Relationship Id="rId5" Type="http://schemas.microsoft.com/office/2007/relationships/media" Target="../media/media13.mp3"/><Relationship Id="rId15" Type="http://schemas.openxmlformats.org/officeDocument/2006/relationships/image" Target="../media/image17.png"/><Relationship Id="rId10" Type="http://schemas.openxmlformats.org/officeDocument/2006/relationships/notesSlide" Target="../notesSlides/notesSlide8.xml"/><Relationship Id="rId4" Type="http://schemas.openxmlformats.org/officeDocument/2006/relationships/audio" Target="../media/media12.mp3"/><Relationship Id="rId9" Type="http://schemas.openxmlformats.org/officeDocument/2006/relationships/slideLayout" Target="../slideLayouts/slideLayout3.xml"/><Relationship Id="rId1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audio" Target="../media/media18.mp3"/><Relationship Id="rId13" Type="http://schemas.openxmlformats.org/officeDocument/2006/relationships/slideLayout" Target="../slideLayouts/slideLayout3.xml"/><Relationship Id="rId18" Type="http://schemas.openxmlformats.org/officeDocument/2006/relationships/image" Target="../media/image20.png"/><Relationship Id="rId3" Type="http://schemas.microsoft.com/office/2007/relationships/media" Target="../media/media16.mp3"/><Relationship Id="rId21" Type="http://schemas.openxmlformats.org/officeDocument/2006/relationships/image" Target="../media/image23.png"/><Relationship Id="rId7" Type="http://schemas.microsoft.com/office/2007/relationships/media" Target="../media/media18.mp3"/><Relationship Id="rId12" Type="http://schemas.openxmlformats.org/officeDocument/2006/relationships/audio" Target="../media/media20.mp3"/><Relationship Id="rId17" Type="http://schemas.openxmlformats.org/officeDocument/2006/relationships/image" Target="../media/image19.png"/><Relationship Id="rId2" Type="http://schemas.openxmlformats.org/officeDocument/2006/relationships/audio" Target="../media/media15.mp3"/><Relationship Id="rId16" Type="http://schemas.openxmlformats.org/officeDocument/2006/relationships/image" Target="../media/image4.png"/><Relationship Id="rId20" Type="http://schemas.openxmlformats.org/officeDocument/2006/relationships/image" Target="../media/image22.png"/><Relationship Id="rId1" Type="http://schemas.microsoft.com/office/2007/relationships/media" Target="../media/media15.mp3"/><Relationship Id="rId6" Type="http://schemas.openxmlformats.org/officeDocument/2006/relationships/audio" Target="../media/media17.mp3"/><Relationship Id="rId11" Type="http://schemas.microsoft.com/office/2007/relationships/media" Target="../media/media20.mp3"/><Relationship Id="rId5" Type="http://schemas.microsoft.com/office/2007/relationships/media" Target="../media/media17.mp3"/><Relationship Id="rId15" Type="http://schemas.openxmlformats.org/officeDocument/2006/relationships/image" Target="../media/image18.png"/><Relationship Id="rId10" Type="http://schemas.openxmlformats.org/officeDocument/2006/relationships/audio" Target="../media/media19.mp3"/><Relationship Id="rId19" Type="http://schemas.openxmlformats.org/officeDocument/2006/relationships/image" Target="../media/image21.png"/><Relationship Id="rId4" Type="http://schemas.openxmlformats.org/officeDocument/2006/relationships/audio" Target="../media/media16.mp3"/><Relationship Id="rId9" Type="http://schemas.microsoft.com/office/2007/relationships/media" Target="../media/media19.mp3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21.mp3"/><Relationship Id="rId1" Type="http://schemas.microsoft.com/office/2007/relationships/media" Target="../media/media21.mp3"/><Relationship Id="rId6" Type="http://schemas.openxmlformats.org/officeDocument/2006/relationships/image" Target="../media/image4.png"/><Relationship Id="rId5" Type="http://schemas.openxmlformats.org/officeDocument/2006/relationships/image" Target="../media/image30.pn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6" Type="http://schemas.openxmlformats.org/officeDocument/2006/relationships/image" Target="../media/image4.png"/><Relationship Id="rId5" Type="http://schemas.openxmlformats.org/officeDocument/2006/relationships/image" Target="../media/image31.png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14.mp3"/><Relationship Id="rId1" Type="http://schemas.microsoft.com/office/2007/relationships/media" Target="../media/media14.mp3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6.xml"/><Relationship Id="rId3" Type="http://schemas.microsoft.com/office/2007/relationships/media" Target="../media/media22.mp3"/><Relationship Id="rId7" Type="http://schemas.openxmlformats.org/officeDocument/2006/relationships/slideLayout" Target="../slideLayouts/slideLayout3.xml"/><Relationship Id="rId2" Type="http://schemas.openxmlformats.org/officeDocument/2006/relationships/audio" Target="../media/media21.mp3"/><Relationship Id="rId1" Type="http://schemas.microsoft.com/office/2007/relationships/media" Target="../media/media21.mp3"/><Relationship Id="rId6" Type="http://schemas.openxmlformats.org/officeDocument/2006/relationships/audio" Target="../media/media23.mp3"/><Relationship Id="rId5" Type="http://schemas.microsoft.com/office/2007/relationships/media" Target="../media/media23.mp3"/><Relationship Id="rId4" Type="http://schemas.openxmlformats.org/officeDocument/2006/relationships/audio" Target="../media/media22.mp3"/><Relationship Id="rId9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_ko"/>
          <p:cNvSpPr txBox="1"/>
          <p:nvPr/>
        </p:nvSpPr>
        <p:spPr>
          <a:xfrm>
            <a:off x="640080" y="169164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marL="0" indent="0" eaLnBrk="1">
              <a:buNone/>
            </a:pPr>
            <a:r>
              <a:rPr lang="ko-KR" altLang="en-US" sz="6600" b="1" dirty="0">
                <a:solidFill>
                  <a:srgbClr val="E8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노래해요</a:t>
            </a:r>
            <a:r>
              <a:rPr lang="en-US" sz="6600" b="1" dirty="0">
                <a:solidFill>
                  <a:srgbClr val="E8B84B"/>
                </a:solidFill>
              </a:rPr>
              <a:t>?</a:t>
            </a:r>
            <a:endParaRPr lang="en-US" sz="66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40080" y="3063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eaLnBrk="1">
              <a:buNone/>
            </a:pPr>
            <a:r>
              <a:rPr lang="en-US" sz="4400" b="1" dirty="0">
                <a:solidFill>
                  <a:srgbClr val="FFFFFF"/>
                </a:solidFill>
              </a:rPr>
              <a:t>Básico 2 · Clase 2</a:t>
            </a:r>
            <a:endParaRPr lang="en-US" sz="44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640080" y="416052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1900" dirty="0">
                <a:solidFill>
                  <a:srgbClr val="E8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Básico 2 (A1.2) · Libro 한국어 </a:t>
            </a:r>
            <a:r>
              <a:rPr lang="en-US" sz="1900" dirty="0">
                <a:solidFill>
                  <a:srgbClr val="E8B84B"/>
                </a:solidFill>
              </a:rPr>
              <a:t>2, lección 1</a:t>
            </a:r>
            <a:endParaRPr lang="en-US" sz="2200" dirty="0"/>
          </a:p>
          <a:p>
            <a:pPr marL="0" indent="0" eaLnBrk="1">
              <a:buNone/>
            </a:pPr>
            <a:r>
              <a:rPr lang="ko-KR" altLang="en-US" sz="1900" dirty="0">
                <a:solidFill>
                  <a:srgbClr val="E8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노래해요</a:t>
            </a:r>
            <a:r>
              <a:rPr lang="en-US" sz="1900" dirty="0">
                <a:solidFill>
                  <a:srgbClr val="E8B84B"/>
                </a:solidFill>
              </a:rPr>
              <a:t>? · ¿Quién canta?</a:t>
            </a:r>
            <a:endParaRPr lang="en-US" sz="2200" dirty="0"/>
          </a:p>
          <a:p>
            <a:pPr marL="0" indent="0" eaLnBrk="1">
              <a:buNone/>
            </a:pPr>
            <a:r>
              <a:rPr lang="en-US" sz="1900" dirty="0">
                <a:solidFill>
                  <a:srgbClr val="E8B84B"/>
                </a:solidFill>
              </a:rPr>
              <a:t>Miércoles 28 de octubre de 2026 · 21:00 (hora de Chile)</a:t>
            </a:r>
            <a:endParaRPr lang="en-US" sz="2200" dirty="0"/>
          </a:p>
          <a:p>
            <a:pPr marL="0" indent="0" eaLnBrk="1">
              <a:buNone/>
            </a:pPr>
            <a:r>
              <a:rPr lang="ko-KR" altLang="en-US" sz="1900" dirty="0">
                <a:solidFill>
                  <a:srgbClr val="E8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Jay Kim · 김재희 선생님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오늘부터 한국어 </a:t>
            </a:r>
            <a:r>
              <a:rPr lang="en-US" sz="3000" b="1" dirty="0">
                <a:solidFill>
                  <a:srgbClr val="4236F6"/>
                </a:solidFill>
              </a:rPr>
              <a:t>2  </a:t>
            </a: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Desde hoy: el libro 한국어 </a:t>
            </a:r>
            <a:r>
              <a:rPr lang="en-US" sz="3000" b="1" dirty="0">
                <a:solidFill>
                  <a:srgbClr val="003478"/>
                </a:solidFill>
              </a:rPr>
              <a:t>2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Una lección por clase · paso a paso · mucha práctica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Cada clase = una lección del libro 한국어 </a:t>
            </a:r>
            <a:r>
              <a:rPr lang="en-US" sz="2200" dirty="0">
                <a:solidFill>
                  <a:srgbClr val="14142B"/>
                </a:solidFill>
              </a:rPr>
              <a:t>2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Hoy: lección 1 · 누가 노래해요</a:t>
            </a:r>
            <a:r>
              <a:rPr lang="en-US" sz="2200" dirty="0">
                <a:solidFill>
                  <a:srgbClr val="14142B"/>
                </a:solidFill>
              </a:rPr>
              <a:t>?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4142B"/>
                </a:solidFill>
              </a:rPr>
              <a:t>Frases cortas, mucha repetición y mucho hablar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4142B"/>
                </a:solidFill>
              </a:rPr>
              <a:t>Explicaciones en español, cortitas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4142B"/>
                </a:solidFill>
              </a:rPr>
              <a:t>Tu material: la hoja de cada clase (llega antes)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¿No entendiste? Di: 네</a:t>
            </a:r>
            <a:r>
              <a:rPr lang="en-US" sz="2200" dirty="0">
                <a:solidFill>
                  <a:srgbClr val="14142B"/>
                </a:solidFill>
              </a:rPr>
              <a:t>? ·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 번 더요</a:t>
            </a:r>
            <a:r>
              <a:rPr lang="en-US" sz="2200" dirty="0">
                <a:solidFill>
                  <a:srgbClr val="14142B"/>
                </a:solidFill>
              </a:rPr>
              <a:t>!</a:t>
            </a:r>
            <a:endParaRPr lang="en-US" sz="22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6" name="ko_grande"/>
          <p:cNvSpPr txBox="1"/>
          <p:nvPr/>
        </p:nvSpPr>
        <p:spPr>
          <a:xfrm>
            <a:off x="8092440" y="187452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5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오늘부터</a:t>
            </a:r>
            <a:endParaRPr lang="en-US" sz="5800" dirty="0"/>
          </a:p>
          <a:p>
            <a:pPr marL="0" indent="0" algn="ctr" eaLnBrk="1">
              <a:buNone/>
            </a:pPr>
            <a:r>
              <a:rPr lang="ko-KR" altLang="en-US" sz="5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</a:t>
            </a:r>
            <a:r>
              <a:rPr lang="en-US" sz="5800" b="1" dirty="0">
                <a:solidFill>
                  <a:srgbClr val="4236F6"/>
                </a:solidFill>
              </a:rPr>
              <a:t>2</a:t>
            </a:r>
            <a:endParaRPr lang="en-US" sz="5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복습 퀴즈  </a:t>
            </a:r>
            <a:r>
              <a:rPr lang="en-US" sz="3000" b="1" dirty="0">
                <a:solidFill>
                  <a:srgbClr val="003478"/>
                </a:solidFill>
              </a:rPr>
              <a:t>Quiz de la clase 1</a:t>
            </a:r>
            <a:r>
              <a:rPr lang="en-US" sz="1500" b="1" i="1" dirty="0">
                <a:solidFill>
                  <a:srgbClr val="8A8DA0"/>
                </a:solidFill>
              </a:rPr>
              <a:t>   Class 1 quiz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Lo de la clase 1 · sin nota · Escribe en el chat el número y tu respuesta</a:t>
            </a:r>
            <a:endParaRPr lang="en-US" sz="1800" dirty="0"/>
          </a:p>
        </p:txBody>
      </p:sp>
      <p:sp>
        <p:nvSpPr>
          <p:cNvPr id="4" name="num_0"/>
          <p:cNvSpPr/>
          <p:nvPr/>
        </p:nvSpPr>
        <p:spPr>
          <a:xfrm>
            <a:off x="548640" y="2106778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0677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65960"/>
            <a:ext cx="4898989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의사</a:t>
            </a:r>
            <a:r>
              <a:rPr lang="en-US" sz="2400" dirty="0">
                <a:solidFill>
                  <a:srgbClr val="14142B"/>
                </a:solidFill>
              </a:rPr>
              <a:t>___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아니에요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</p:txBody>
      </p:sp>
      <p:sp>
        <p:nvSpPr>
          <p:cNvPr id="7" name="rev_0_caja"/>
          <p:cNvSpPr/>
          <p:nvPr/>
        </p:nvSpPr>
        <p:spPr>
          <a:xfrm>
            <a:off x="6316309" y="2002536"/>
            <a:ext cx="5324003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8" name="rev_0_txt"/>
          <p:cNvSpPr txBox="1"/>
          <p:nvPr/>
        </p:nvSpPr>
        <p:spPr>
          <a:xfrm>
            <a:off x="6407749" y="2002536"/>
            <a:ext cx="5141123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</a:t>
            </a:r>
            <a:r>
              <a:rPr lang="en-US" sz="2200" b="1" dirty="0">
                <a:solidFill>
                  <a:srgbClr val="FFFFFF"/>
                </a:solidFill>
              </a:rPr>
              <a:t>→ 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의사가 아니에요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9" name="num_1"/>
          <p:cNvSpPr/>
          <p:nvPr/>
        </p:nvSpPr>
        <p:spPr>
          <a:xfrm>
            <a:off x="548640" y="2973629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97362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832811"/>
            <a:ext cx="4898989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</a:t>
            </a:r>
            <a:r>
              <a:rPr lang="en-US" sz="2400" dirty="0">
                <a:solidFill>
                  <a:srgbClr val="14142B"/>
                </a:solidFill>
              </a:rPr>
              <a:t>___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회사원이에요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</p:txBody>
      </p:sp>
      <p:sp>
        <p:nvSpPr>
          <p:cNvPr id="12" name="rev_1_caja"/>
          <p:cNvSpPr/>
          <p:nvPr/>
        </p:nvSpPr>
        <p:spPr>
          <a:xfrm>
            <a:off x="6316309" y="2869387"/>
            <a:ext cx="5324003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3" name="rev_1_txt"/>
          <p:cNvSpPr txBox="1"/>
          <p:nvPr/>
        </p:nvSpPr>
        <p:spPr>
          <a:xfrm>
            <a:off x="6407749" y="2869387"/>
            <a:ext cx="5141123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</a:t>
            </a:r>
            <a:r>
              <a:rPr lang="en-US" sz="1900" b="1" dirty="0">
                <a:solidFill>
                  <a:srgbClr val="FFFFFF"/>
                </a:solidFill>
              </a:rPr>
              <a:t>→ </a:t>
            </a:r>
            <a:r>
              <a:rPr lang="ko-KR" alt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회사원이에요</a:t>
            </a:r>
            <a:r>
              <a:rPr lang="en-US" sz="1900" b="1" dirty="0">
                <a:solidFill>
                  <a:srgbClr val="FFFFFF"/>
                </a:solidFill>
              </a:rPr>
              <a:t>. (también vale </a:t>
            </a:r>
            <a:r>
              <a:rPr lang="ko-KR" alt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</a:t>
            </a:r>
            <a:r>
              <a:rPr lang="en-US" sz="1900" b="1" dirty="0">
                <a:solidFill>
                  <a:srgbClr val="FFFFFF"/>
                </a:solidFill>
              </a:rPr>
              <a:t>: </a:t>
            </a:r>
            <a:r>
              <a:rPr lang="ko-KR" alt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저도 회사원이에요</a:t>
            </a:r>
            <a:r>
              <a:rPr lang="en-US" sz="1900" b="1" dirty="0">
                <a:solidFill>
                  <a:srgbClr val="FFFFFF"/>
                </a:solidFill>
              </a:rPr>
              <a:t>.)</a:t>
            </a:r>
            <a:endParaRPr lang="en-US" sz="1900" dirty="0"/>
          </a:p>
        </p:txBody>
      </p:sp>
      <p:sp>
        <p:nvSpPr>
          <p:cNvPr id="14" name="num_2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699662"/>
            <a:ext cx="4898989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3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형제가 있어요</a:t>
            </a:r>
            <a:r>
              <a:rPr lang="en-US" sz="2300" dirty="0">
                <a:solidFill>
                  <a:srgbClr val="14142B"/>
                </a:solidFill>
              </a:rPr>
              <a:t>? — </a:t>
            </a:r>
            <a:r>
              <a:rPr lang="ko-KR" altLang="en-US" sz="23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r>
              <a:rPr lang="en-US" sz="2300" dirty="0">
                <a:solidFill>
                  <a:srgbClr val="14142B"/>
                </a:solidFill>
              </a:rPr>
              <a:t>, ___.</a:t>
            </a:r>
            <a:endParaRPr lang="en-US" sz="2300" dirty="0"/>
          </a:p>
        </p:txBody>
      </p:sp>
      <p:sp>
        <p:nvSpPr>
          <p:cNvPr id="17" name="rev_2_caja"/>
          <p:cNvSpPr/>
          <p:nvPr/>
        </p:nvSpPr>
        <p:spPr>
          <a:xfrm>
            <a:off x="6316309" y="3736238"/>
            <a:ext cx="5324003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8" name="rev_2_txt"/>
          <p:cNvSpPr txBox="1"/>
          <p:nvPr/>
        </p:nvSpPr>
        <p:spPr>
          <a:xfrm>
            <a:off x="6407749" y="3736238"/>
            <a:ext cx="5141123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없어요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19" name="num_3"/>
          <p:cNvSpPr/>
          <p:nvPr/>
        </p:nvSpPr>
        <p:spPr>
          <a:xfrm>
            <a:off x="548640" y="4707331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70733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566514"/>
            <a:ext cx="4898989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서울에 </a:t>
            </a:r>
            <a:r>
              <a:rPr lang="en-US" sz="2400" dirty="0">
                <a:solidFill>
                  <a:srgbClr val="14142B"/>
                </a:solidFill>
              </a:rPr>
              <a:t>___. (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살다</a:t>
            </a:r>
            <a:r>
              <a:rPr lang="en-US" sz="2400" dirty="0">
                <a:solidFill>
                  <a:srgbClr val="14142B"/>
                </a:solidFill>
              </a:rPr>
              <a:t>)</a:t>
            </a:r>
            <a:endParaRPr lang="en-US" sz="2400" dirty="0"/>
          </a:p>
        </p:txBody>
      </p:sp>
      <p:sp>
        <p:nvSpPr>
          <p:cNvPr id="22" name="rev_3_caja"/>
          <p:cNvSpPr/>
          <p:nvPr/>
        </p:nvSpPr>
        <p:spPr>
          <a:xfrm>
            <a:off x="6316309" y="4603090"/>
            <a:ext cx="5324003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3" name="rev_3_txt"/>
          <p:cNvSpPr txBox="1"/>
          <p:nvPr/>
        </p:nvSpPr>
        <p:spPr>
          <a:xfrm>
            <a:off x="6407749" y="4603090"/>
            <a:ext cx="5141123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살아요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24" name="num_4"/>
          <p:cNvSpPr/>
          <p:nvPr/>
        </p:nvSpPr>
        <p:spPr>
          <a:xfrm>
            <a:off x="548640" y="5574182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557418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5433365"/>
            <a:ext cx="4898989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 이름은 하나예요</a:t>
            </a:r>
            <a:r>
              <a:rPr lang="en-US" sz="1800" dirty="0">
                <a:solidFill>
                  <a:srgbClr val="14142B"/>
                </a:solidFill>
              </a:rPr>
              <a:t>.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서울에 살아요</a:t>
            </a:r>
            <a:r>
              <a:rPr lang="en-US" sz="1800" dirty="0">
                <a:solidFill>
                  <a:srgbClr val="14142B"/>
                </a:solidFill>
              </a:rPr>
              <a:t>.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회사원이에요</a:t>
            </a:r>
            <a:r>
              <a:rPr lang="en-US" sz="1800" dirty="0">
                <a:solidFill>
                  <a:srgbClr val="14142B"/>
                </a:solidFill>
              </a:rPr>
              <a:t>. →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 씨는 학생이에요</a:t>
            </a:r>
            <a:r>
              <a:rPr lang="en-US" sz="1800" dirty="0">
                <a:solidFill>
                  <a:srgbClr val="14142B"/>
                </a:solidFill>
              </a:rPr>
              <a:t>?</a:t>
            </a:r>
            <a:endParaRPr lang="en-US" sz="1800" dirty="0"/>
          </a:p>
        </p:txBody>
      </p:sp>
      <p:sp>
        <p:nvSpPr>
          <p:cNvPr id="27" name="rev_4_caja"/>
          <p:cNvSpPr/>
          <p:nvPr/>
        </p:nvSpPr>
        <p:spPr>
          <a:xfrm>
            <a:off x="6316309" y="5469941"/>
            <a:ext cx="5324003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8" name="rev_4_txt"/>
          <p:cNvSpPr txBox="1"/>
          <p:nvPr/>
        </p:nvSpPr>
        <p:spPr>
          <a:xfrm>
            <a:off x="6407749" y="5469941"/>
            <a:ext cx="5141123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r>
              <a:rPr lang="en-US" sz="1900" b="1" dirty="0">
                <a:solidFill>
                  <a:srgbClr val="FFFFFF"/>
                </a:solidFill>
              </a:rPr>
              <a:t>, </a:t>
            </a:r>
            <a:r>
              <a:rPr lang="ko-KR" alt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회사원이에요</a:t>
            </a:r>
            <a:r>
              <a:rPr lang="en-US" sz="1900" b="1" dirty="0">
                <a:solidFill>
                  <a:srgbClr val="FFFFFF"/>
                </a:solidFill>
              </a:rPr>
              <a:t>. (también vale: </a:t>
            </a:r>
            <a:r>
              <a:rPr lang="ko-KR" alt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r>
              <a:rPr lang="en-US" sz="1900" b="1" dirty="0">
                <a:solidFill>
                  <a:srgbClr val="FFFFFF"/>
                </a:solidFill>
              </a:rPr>
              <a:t>, </a:t>
            </a:r>
            <a:r>
              <a:rPr lang="ko-KR" alt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학생이 아니에요</a:t>
            </a:r>
            <a:r>
              <a:rPr lang="en-US" sz="1900" b="1" dirty="0">
                <a:solidFill>
                  <a:srgbClr val="FFFFFF"/>
                </a:solidFill>
              </a:rPr>
              <a:t>.)</a:t>
            </a:r>
            <a:endParaRPr lang="en-US" sz="19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8" grpId="0" animBg="1"/>
      <p:bldP spid="23" grpId="0" animBg="1"/>
      <p:bldP spid="2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22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뭐 해요</a:t>
            </a:r>
            <a:r>
              <a:rPr lang="en-US" sz="2200" b="1" dirty="0">
                <a:solidFill>
                  <a:srgbClr val="4236F6"/>
                </a:solidFill>
              </a:rPr>
              <a:t>?  </a:t>
            </a:r>
            <a:r>
              <a:rPr lang="en-US" sz="2200" b="1" dirty="0">
                <a:solidFill>
                  <a:srgbClr val="003478"/>
                </a:solidFill>
              </a:rPr>
              <a:t>Ya lo sabes: ¿qué hace?</a:t>
            </a:r>
            <a:r>
              <a:rPr lang="en-US" sz="1500" b="1" i="1" dirty="0">
                <a:solidFill>
                  <a:srgbClr val="8A8DA0"/>
                </a:solidFill>
              </a:rPr>
              <a:t>   You know this: what is he/she doing?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Verbos que ya conoces</a:t>
            </a:r>
            <a:endParaRPr lang="en-US" sz="1800" dirty="0"/>
          </a:p>
        </p:txBody>
      </p:sp>
      <p:sp>
        <p:nvSpPr>
          <p:cNvPr id="4" name="card_0"/>
          <p:cNvSpPr/>
          <p:nvPr/>
        </p:nvSpPr>
        <p:spPr>
          <a:xfrm>
            <a:off x="548640" y="1874520"/>
            <a:ext cx="2601468" cy="4297680"/>
          </a:xfrm>
          <a:prstGeom prst="roundRect">
            <a:avLst>
              <a:gd name="adj" fmla="val 527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5" name="dibujo_0" descr="C:\Users\Chingu\AppData\Local\Temp\claude\C--Users-Chingu-Desktop-ACADEMIASEULWEB\d4111e1b-5523-44ea-97b2-b1a1d9545b9e\scratchpad\decks\cache\img_19d6a635b2fc29c4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2919" y="1984248"/>
            <a:ext cx="1612910" cy="16129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615446"/>
            <a:ext cx="260146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먹어요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474982"/>
            <a:ext cx="2601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[머거요</a:t>
            </a:r>
            <a:r>
              <a:rPr lang="en-US" sz="1300" dirty="0">
                <a:solidFill>
                  <a:srgbClr val="8A8DA0"/>
                </a:solidFill>
              </a:rPr>
              <a:t>]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4749302"/>
            <a:ext cx="2455164" cy="1349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come</a:t>
            </a:r>
            <a:endParaRPr lang="en-US" sz="1600" dirty="0"/>
          </a:p>
        </p:txBody>
      </p:sp>
      <p:pic>
        <p:nvPicPr>
          <p:cNvPr id="9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2747772" y="1947672"/>
            <a:ext cx="310896" cy="310896"/>
          </a:xfrm>
          <a:prstGeom prst="rect">
            <a:avLst/>
          </a:prstGeom>
        </p:spPr>
      </p:pic>
      <p:sp>
        <p:nvSpPr>
          <p:cNvPr id="10" name="card_1"/>
          <p:cNvSpPr/>
          <p:nvPr/>
        </p:nvSpPr>
        <p:spPr>
          <a:xfrm>
            <a:off x="3378708" y="1874520"/>
            <a:ext cx="2601468" cy="4297680"/>
          </a:xfrm>
          <a:prstGeom prst="roundRect">
            <a:avLst>
              <a:gd name="adj" fmla="val 527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1" name="dibujo_1" descr="C:\Users\Chingu\AppData\Local\Temp\claude\C--Users-Chingu-Desktop-ACADEMIASEULWEB\d4111e1b-5523-44ea-97b2-b1a1d9545b9e\scratchpad\decks\cache\img_50b47011a4ff6f1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72987" y="1984248"/>
            <a:ext cx="1612910" cy="161291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378708" y="3615446"/>
            <a:ext cx="260146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마셔요</a:t>
            </a:r>
            <a:endParaRPr lang="en-US" sz="5400" dirty="0"/>
          </a:p>
        </p:txBody>
      </p:sp>
      <p:sp>
        <p:nvSpPr>
          <p:cNvPr id="13" name="Text 8"/>
          <p:cNvSpPr txBox="1"/>
          <p:nvPr/>
        </p:nvSpPr>
        <p:spPr>
          <a:xfrm>
            <a:off x="3451860" y="4474982"/>
            <a:ext cx="2455164" cy="1624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bebe, toma</a:t>
            </a:r>
            <a:endParaRPr lang="en-US" sz="1600" dirty="0"/>
          </a:p>
        </p:txBody>
      </p:sp>
      <p:pic>
        <p:nvPicPr>
          <p:cNvPr id="14" name="Media 1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5577840" y="1947672"/>
            <a:ext cx="310896" cy="310896"/>
          </a:xfrm>
          <a:prstGeom prst="rect">
            <a:avLst/>
          </a:prstGeom>
        </p:spPr>
      </p:pic>
      <p:sp>
        <p:nvSpPr>
          <p:cNvPr id="15" name="card_2"/>
          <p:cNvSpPr/>
          <p:nvPr/>
        </p:nvSpPr>
        <p:spPr>
          <a:xfrm>
            <a:off x="6208776" y="1874520"/>
            <a:ext cx="2601468" cy="4297680"/>
          </a:xfrm>
          <a:prstGeom prst="roundRect">
            <a:avLst>
              <a:gd name="adj" fmla="val 527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6" name="dibujo_2" descr="C:\Users\Chingu\AppData\Local\Temp\claude\C--Users-Chingu-Desktop-ACADEMIASEULWEB\d4111e1b-5523-44ea-97b2-b1a1d9545b9e\scratchpad\decks\cache\img_c312a6c84d83bc4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03055" y="1984248"/>
            <a:ext cx="1612910" cy="161291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6208776" y="3615446"/>
            <a:ext cx="260146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봐요</a:t>
            </a:r>
            <a:endParaRPr lang="en-US" sz="5400" dirty="0"/>
          </a:p>
        </p:txBody>
      </p:sp>
      <p:sp>
        <p:nvSpPr>
          <p:cNvPr id="18" name="Text 11"/>
          <p:cNvSpPr txBox="1"/>
          <p:nvPr/>
        </p:nvSpPr>
        <p:spPr>
          <a:xfrm>
            <a:off x="6281928" y="4474982"/>
            <a:ext cx="2455164" cy="1624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ve, mira</a:t>
            </a:r>
            <a:endParaRPr lang="en-US" sz="1600" dirty="0"/>
          </a:p>
        </p:txBody>
      </p:sp>
      <p:pic>
        <p:nvPicPr>
          <p:cNvPr id="19" name="Media 2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407908" y="1947672"/>
            <a:ext cx="310896" cy="310896"/>
          </a:xfrm>
          <a:prstGeom prst="rect">
            <a:avLst/>
          </a:prstGeom>
        </p:spPr>
      </p:pic>
      <p:sp>
        <p:nvSpPr>
          <p:cNvPr id="20" name="card_3"/>
          <p:cNvSpPr/>
          <p:nvPr/>
        </p:nvSpPr>
        <p:spPr>
          <a:xfrm>
            <a:off x="9038844" y="1874520"/>
            <a:ext cx="2601468" cy="4297680"/>
          </a:xfrm>
          <a:prstGeom prst="roundRect">
            <a:avLst>
              <a:gd name="adj" fmla="val 527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1" name="dibujo_3" descr="C:\Users\Chingu\AppData\Local\Temp\claude\C--Users-Chingu-Desktop-ACADEMIASEULWEB\d4111e1b-5523-44ea-97b2-b1a1d9545b9e\scratchpad\decks\cache\img_3e7b92302b3e554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33123" y="1984248"/>
            <a:ext cx="1612910" cy="161291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9038844" y="3615446"/>
            <a:ext cx="260146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읽어요</a:t>
            </a:r>
            <a:endParaRPr lang="en-US" sz="5400" dirty="0"/>
          </a:p>
        </p:txBody>
      </p:sp>
      <p:sp>
        <p:nvSpPr>
          <p:cNvPr id="23" name="Text 14"/>
          <p:cNvSpPr txBox="1"/>
          <p:nvPr/>
        </p:nvSpPr>
        <p:spPr>
          <a:xfrm>
            <a:off x="9038844" y="4474982"/>
            <a:ext cx="2601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[일거요</a:t>
            </a:r>
            <a:r>
              <a:rPr lang="en-US" sz="1300" dirty="0">
                <a:solidFill>
                  <a:srgbClr val="8A8DA0"/>
                </a:solidFill>
              </a:rPr>
              <a:t>]</a:t>
            </a:r>
            <a:endParaRPr lang="en-US" sz="1300" dirty="0"/>
          </a:p>
        </p:txBody>
      </p:sp>
      <p:sp>
        <p:nvSpPr>
          <p:cNvPr id="24" name="Text 15"/>
          <p:cNvSpPr txBox="1"/>
          <p:nvPr/>
        </p:nvSpPr>
        <p:spPr>
          <a:xfrm>
            <a:off x="9111996" y="4749302"/>
            <a:ext cx="2455164" cy="1349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lee</a:t>
            </a:r>
            <a:endParaRPr lang="en-US" sz="1600" dirty="0"/>
          </a:p>
        </p:txBody>
      </p:sp>
      <p:pic>
        <p:nvPicPr>
          <p:cNvPr id="26" name="Media 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11237976" y="1947672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친구들  </a:t>
            </a:r>
            <a:r>
              <a:rPr lang="en-US" sz="3000" b="1" dirty="0">
                <a:solidFill>
                  <a:srgbClr val="003478"/>
                </a:solidFill>
              </a:rPr>
              <a:t>Nuestros personajes</a:t>
            </a:r>
            <a:r>
              <a:rPr lang="en-US" sz="1500" b="1" i="1" dirty="0">
                <a:solidFill>
                  <a:srgbClr val="8A8DA0"/>
                </a:solidFill>
              </a:rPr>
              <a:t>   Our characters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Sábado, 10 de la mañana · el chat del grupo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566928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 </a:t>
            </a:r>
            <a:r>
              <a:rPr lang="en-US" sz="2400" dirty="0">
                <a:solidFill>
                  <a:srgbClr val="14142B"/>
                </a:solidFill>
              </a:rPr>
              <a:t>· 28 · Seúl · oficina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도윤 </a:t>
            </a:r>
            <a:r>
              <a:rPr lang="en-US" sz="2400" dirty="0">
                <a:solidFill>
                  <a:srgbClr val="14142B"/>
                </a:solidFill>
              </a:rPr>
              <a:t>· 33 · cocinero · papá de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서아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서아 </a:t>
            </a:r>
            <a:r>
              <a:rPr lang="en-US" sz="2400" dirty="0">
                <a:solidFill>
                  <a:srgbClr val="14142B"/>
                </a:solidFill>
              </a:rPr>
              <a:t>· 6 años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콩이 </a:t>
            </a:r>
            <a:r>
              <a:rPr lang="en-US" sz="2400" dirty="0">
                <a:solidFill>
                  <a:srgbClr val="14142B"/>
                </a:solidFill>
              </a:rPr>
              <a:t>· el perrito de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도윤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발렌티나 </a:t>
            </a:r>
            <a:r>
              <a:rPr lang="en-US" sz="2400" dirty="0">
                <a:solidFill>
                  <a:srgbClr val="14142B"/>
                </a:solidFill>
              </a:rPr>
              <a:t>· 30 · Chile · estudia coreano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마테오 </a:t>
            </a:r>
            <a:r>
              <a:rPr lang="en-US" sz="2400" dirty="0">
                <a:solidFill>
                  <a:srgbClr val="14142B"/>
                </a:solidFill>
              </a:rPr>
              <a:t>· 25 · México · estudia coreano</a:t>
            </a:r>
            <a:endParaRPr lang="en-US" sz="2400" dirty="0"/>
          </a:p>
        </p:txBody>
      </p:sp>
      <p:sp>
        <p:nvSpPr>
          <p:cNvPr id="5" name="panel"/>
          <p:cNvSpPr/>
          <p:nvPr/>
        </p:nvSpPr>
        <p:spPr>
          <a:xfrm>
            <a:off x="6446520" y="1371600"/>
            <a:ext cx="5193792" cy="4800600"/>
          </a:xfrm>
          <a:prstGeom prst="roundRect">
            <a:avLst>
              <a:gd name="adj" fmla="val 4762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6" name="imagen" descr="C:\Users\Chingu\AppData\Local\Temp\claude\C--Users-Chingu-Desktop-ACADEMIASEULWEB\d4111e1b-5523-44ea-97b2-b1a1d9545b9e\scratchpad\decks\cache\img_07a7ab1e71a395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33" y="1463040"/>
            <a:ext cx="4005165" cy="4617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수영해요</a:t>
            </a:r>
            <a:r>
              <a:rPr lang="en-US" sz="3000" b="1" dirty="0">
                <a:solidFill>
                  <a:srgbClr val="4236F6"/>
                </a:solidFill>
              </a:rPr>
              <a:t>?  </a:t>
            </a:r>
            <a:r>
              <a:rPr lang="en-US" sz="3000" b="1" dirty="0">
                <a:solidFill>
                  <a:srgbClr val="003478"/>
                </a:solidFill>
              </a:rPr>
              <a:t>La conversación</a:t>
            </a:r>
            <a:r>
              <a:rPr lang="en-US" sz="1500" b="1" i="1" dirty="0">
                <a:solidFill>
                  <a:srgbClr val="8A8DA0"/>
                </a:solidFill>
              </a:rPr>
              <a:t>   The conversation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발렌티나 </a:t>
            </a:r>
            <a:r>
              <a:rPr lang="en-US" sz="1800" i="1" dirty="0">
                <a:solidFill>
                  <a:srgbClr val="4236F6"/>
                </a:solidFill>
              </a:rPr>
              <a:t>y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마테오 </a:t>
            </a:r>
            <a:r>
              <a:rPr lang="en-US" sz="1800" i="1" dirty="0">
                <a:solidFill>
                  <a:srgbClr val="4236F6"/>
                </a:solidFill>
              </a:rPr>
              <a:t>miran las fotos · escucha y repite</a:t>
            </a:r>
            <a:endParaRPr lang="en-US" sz="1800" dirty="0"/>
          </a:p>
        </p:txBody>
      </p:sp>
      <p:sp>
        <p:nvSpPr>
          <p:cNvPr id="4" name="card_0"/>
          <p:cNvSpPr/>
          <p:nvPr/>
        </p:nvSpPr>
        <p:spPr>
          <a:xfrm>
            <a:off x="548640" y="187452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5" name="dibujo_0" descr="C:\Users\Chingu\AppData\Local\Temp\claude\C--Users-Chingu-Desktop-ACADEMIASEULWEB\d4111e1b-5523-44ea-97b2-b1a1d9545b9e\scratchpad\decks\cache\img_7b3e19a3389aee13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32762" y="1984248"/>
            <a:ext cx="976579" cy="97657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97911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9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</a:t>
            </a:r>
            <a:r>
              <a:rPr lang="en-US" sz="1900" b="1" dirty="0">
                <a:solidFill>
                  <a:srgbClr val="4236F6"/>
                </a:solidFill>
              </a:rPr>
              <a:t>! </a:t>
            </a:r>
            <a:r>
              <a:rPr lang="ko-KR" altLang="en-US" sz="19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수영해요</a:t>
            </a:r>
            <a:r>
              <a:rPr lang="en-US" sz="1900" b="1" dirty="0">
                <a:solidFill>
                  <a:srgbClr val="4236F6"/>
                </a:solidFill>
              </a:rPr>
              <a:t>?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338602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400" dirty="0">
                <a:solidFill>
                  <a:srgbClr val="5C5F6B"/>
                </a:solidFill>
              </a:rPr>
              <a:t>Valentina · ¡Wow! ¿Quién está nadando?</a:t>
            </a:r>
            <a:endParaRPr lang="en-US" sz="1400" dirty="0"/>
          </a:p>
        </p:txBody>
      </p:sp>
      <p:pic>
        <p:nvPicPr>
          <p:cNvPr id="13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3691128" y="1947672"/>
            <a:ext cx="310896" cy="310896"/>
          </a:xfrm>
          <a:prstGeom prst="rect">
            <a:avLst/>
          </a:prstGeom>
        </p:spPr>
      </p:pic>
      <p:sp>
        <p:nvSpPr>
          <p:cNvPr id="9" name="card_1"/>
          <p:cNvSpPr/>
          <p:nvPr/>
        </p:nvSpPr>
        <p:spPr>
          <a:xfrm>
            <a:off x="4322064" y="187452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0" name="dibujo_1" descr="C:\Users\Chingu\AppData\Local\Temp\claude\C--Users-Chingu-Desktop-ACADEMIASEULWEB\d4111e1b-5523-44ea-97b2-b1a1d9545b9e\scratchpad\decks\cache\img_4654434b58824e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606186" y="1984248"/>
            <a:ext cx="976579" cy="976579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322064" y="297911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9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 씨가 수영해요</a:t>
            </a:r>
            <a:r>
              <a:rPr lang="en-US" sz="1900" b="1" dirty="0">
                <a:solidFill>
                  <a:srgbClr val="4236F6"/>
                </a:solidFill>
              </a:rPr>
              <a:t>.</a:t>
            </a:r>
            <a:endParaRPr lang="en-US" sz="1900" dirty="0"/>
          </a:p>
        </p:txBody>
      </p:sp>
      <p:sp>
        <p:nvSpPr>
          <p:cNvPr id="12" name="Text 7"/>
          <p:cNvSpPr txBox="1"/>
          <p:nvPr/>
        </p:nvSpPr>
        <p:spPr>
          <a:xfrm>
            <a:off x="4395216" y="338602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Mateo · Está nadando 하나</a:t>
            </a:r>
            <a:r>
              <a:rPr lang="en-US" sz="1600" dirty="0">
                <a:solidFill>
                  <a:srgbClr val="5C5F6B"/>
                </a:solidFill>
              </a:rPr>
              <a:t>.</a:t>
            </a:r>
            <a:endParaRPr lang="en-US" sz="1600" dirty="0"/>
          </a:p>
        </p:txBody>
      </p:sp>
      <p:pic>
        <p:nvPicPr>
          <p:cNvPr id="8" name="Media 1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7464552" y="1947672"/>
            <a:ext cx="310896" cy="310896"/>
          </a:xfrm>
          <a:prstGeom prst="rect">
            <a:avLst/>
          </a:prstGeom>
        </p:spPr>
      </p:pic>
      <p:sp>
        <p:nvSpPr>
          <p:cNvPr id="14" name="card_2"/>
          <p:cNvSpPr/>
          <p:nvPr/>
        </p:nvSpPr>
        <p:spPr>
          <a:xfrm>
            <a:off x="8095488" y="187452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5" name="dibujo_2" descr="C:\Users\Chingu\AppData\Local\Temp\claude\C--Users-Chingu-Desktop-ACADEMIASEULWEB\d4111e1b-5523-44ea-97b2-b1a1d9545b9e\scratchpad\decks\cache\img_1a8dfddfe57df506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379610" y="1984248"/>
            <a:ext cx="976579" cy="976579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8095488" y="297911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9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도윤 씨가 노래해요</a:t>
            </a:r>
            <a:r>
              <a:rPr lang="en-US" sz="1900" b="1" dirty="0">
                <a:solidFill>
                  <a:srgbClr val="4236F6"/>
                </a:solidFill>
              </a:rPr>
              <a:t>?</a:t>
            </a:r>
            <a:endParaRPr lang="en-US" sz="1900" dirty="0"/>
          </a:p>
        </p:txBody>
      </p:sp>
      <p:sp>
        <p:nvSpPr>
          <p:cNvPr id="17" name="Text 10"/>
          <p:cNvSpPr txBox="1"/>
          <p:nvPr/>
        </p:nvSpPr>
        <p:spPr>
          <a:xfrm>
            <a:off x="8168640" y="338602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Valentina · ¿Canta 도윤</a:t>
            </a:r>
            <a:r>
              <a:rPr lang="en-US" sz="1600" dirty="0">
                <a:solidFill>
                  <a:srgbClr val="5C5F6B"/>
                </a:solidFill>
              </a:rPr>
              <a:t>?</a:t>
            </a:r>
            <a:endParaRPr lang="en-US" sz="1600" dirty="0"/>
          </a:p>
        </p:txBody>
      </p:sp>
      <p:pic>
        <p:nvPicPr>
          <p:cNvPr id="18" name="Media 2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11237976" y="1947672"/>
            <a:ext cx="310896" cy="310896"/>
          </a:xfrm>
          <a:prstGeom prst="rect">
            <a:avLst/>
          </a:prstGeom>
        </p:spPr>
      </p:pic>
      <p:sp>
        <p:nvSpPr>
          <p:cNvPr id="19" name="card_3"/>
          <p:cNvSpPr/>
          <p:nvPr/>
        </p:nvSpPr>
        <p:spPr>
          <a:xfrm>
            <a:off x="548640" y="413766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0" name="dibujo_3" descr="C:\Users\Chingu\AppData\Local\Temp\claude\C--Users-Chingu-Desktop-ACADEMIASEULWEB\d4111e1b-5523-44ea-97b2-b1a1d9545b9e\scratchpad\decks\cache\img_04beef2b7c8a0f8c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832762" y="4247388"/>
            <a:ext cx="976579" cy="976579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548640" y="524225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9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r>
              <a:rPr lang="en-US" sz="1900" b="1" dirty="0">
                <a:solidFill>
                  <a:srgbClr val="4236F6"/>
                </a:solidFill>
              </a:rPr>
              <a:t>, </a:t>
            </a:r>
            <a:r>
              <a:rPr lang="ko-KR" altLang="en-US" sz="19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서아가 노래해요</a:t>
            </a:r>
            <a:r>
              <a:rPr lang="en-US" sz="1900" b="1" dirty="0">
                <a:solidFill>
                  <a:srgbClr val="4236F6"/>
                </a:solidFill>
              </a:rPr>
              <a:t>.</a:t>
            </a:r>
            <a:endParaRPr lang="en-US" sz="1900" dirty="0"/>
          </a:p>
        </p:txBody>
      </p:sp>
      <p:sp>
        <p:nvSpPr>
          <p:cNvPr id="22" name="Text 13"/>
          <p:cNvSpPr txBox="1"/>
          <p:nvPr/>
        </p:nvSpPr>
        <p:spPr>
          <a:xfrm>
            <a:off x="621792" y="564916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14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Mateo · No, la que canta es 서아</a:t>
            </a:r>
            <a:r>
              <a:rPr lang="en-US" sz="1400" dirty="0">
                <a:solidFill>
                  <a:srgbClr val="5C5F6B"/>
                </a:solidFill>
              </a:rPr>
              <a:t>.</a:t>
            </a:r>
            <a:endParaRPr lang="en-US" sz="1400" dirty="0"/>
          </a:p>
        </p:txBody>
      </p:sp>
      <p:pic>
        <p:nvPicPr>
          <p:cNvPr id="23" name="Media 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3691128" y="4210812"/>
            <a:ext cx="310896" cy="310896"/>
          </a:xfrm>
          <a:prstGeom prst="rect">
            <a:avLst/>
          </a:prstGeom>
        </p:spPr>
      </p:pic>
      <p:sp>
        <p:nvSpPr>
          <p:cNvPr id="24" name="card_4"/>
          <p:cNvSpPr/>
          <p:nvPr/>
        </p:nvSpPr>
        <p:spPr>
          <a:xfrm>
            <a:off x="4322064" y="413766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5" name="dibujo_4" descr="C:\Users\Chingu\AppData\Local\Temp\claude\C--Users-Chingu-Desktop-ACADEMIASEULWEB\d4111e1b-5523-44ea-97b2-b1a1d9545b9e\scratchpad\decks\cache\img_8c6901ad08a98fb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606186" y="4247388"/>
            <a:ext cx="976579" cy="976579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4322064" y="524225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9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운동해요</a:t>
            </a:r>
            <a:r>
              <a:rPr lang="en-US" sz="1900" b="1" dirty="0">
                <a:solidFill>
                  <a:srgbClr val="4236F6"/>
                </a:solidFill>
              </a:rPr>
              <a:t>? </a:t>
            </a:r>
            <a:r>
              <a:rPr lang="ko-KR" altLang="en-US" sz="19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마테오 씨</a:t>
            </a:r>
            <a:r>
              <a:rPr lang="en-US" sz="1900" b="1" dirty="0">
                <a:solidFill>
                  <a:srgbClr val="4236F6"/>
                </a:solidFill>
              </a:rPr>
              <a:t>?</a:t>
            </a:r>
            <a:endParaRPr lang="en-US" sz="1900" dirty="0"/>
          </a:p>
        </p:txBody>
      </p:sp>
      <p:sp>
        <p:nvSpPr>
          <p:cNvPr id="27" name="Text 16"/>
          <p:cNvSpPr txBox="1"/>
          <p:nvPr/>
        </p:nvSpPr>
        <p:spPr>
          <a:xfrm>
            <a:off x="4395216" y="564916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400" dirty="0">
                <a:solidFill>
                  <a:srgbClr val="5C5F6B"/>
                </a:solidFill>
              </a:rPr>
              <a:t>Valentina · ¿Quién hace ejercicio? ¿Tú, Mateo?</a:t>
            </a:r>
            <a:endParaRPr lang="en-US" sz="1400" dirty="0"/>
          </a:p>
        </p:txBody>
      </p:sp>
      <p:pic>
        <p:nvPicPr>
          <p:cNvPr id="28" name="Media 4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7464552" y="4210812"/>
            <a:ext cx="310896" cy="310896"/>
          </a:xfrm>
          <a:prstGeom prst="rect">
            <a:avLst/>
          </a:prstGeom>
        </p:spPr>
      </p:pic>
      <p:sp>
        <p:nvSpPr>
          <p:cNvPr id="29" name="card_5"/>
          <p:cNvSpPr/>
          <p:nvPr/>
        </p:nvSpPr>
        <p:spPr>
          <a:xfrm>
            <a:off x="8095488" y="413766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30" name="dibujo_5" descr="C:\Users\Chingu\AppData\Local\Temp\claude\C--Users-Chingu-Desktop-ACADEMIASEULWEB\d4111e1b-5523-44ea-97b2-b1a1d9545b9e\scratchpad\decks\cache\img_18d956f0e057e62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379610" y="4247388"/>
            <a:ext cx="976579" cy="976579"/>
          </a:xfrm>
          <a:prstGeom prst="rect">
            <a:avLst/>
          </a:prstGeom>
        </p:spPr>
      </p:pic>
      <p:sp>
        <p:nvSpPr>
          <p:cNvPr id="31" name="Text 18"/>
          <p:cNvSpPr txBox="1"/>
          <p:nvPr/>
        </p:nvSpPr>
        <p:spPr>
          <a:xfrm>
            <a:off x="8095488" y="524225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9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</a:t>
            </a:r>
            <a:r>
              <a:rPr lang="en-US" sz="1900" b="1" dirty="0">
                <a:solidFill>
                  <a:srgbClr val="4236F6"/>
                </a:solidFill>
              </a:rPr>
              <a:t>, </a:t>
            </a:r>
            <a:r>
              <a:rPr lang="ko-KR" altLang="en-US" sz="19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제가 운동해요</a:t>
            </a:r>
            <a:r>
              <a:rPr lang="en-US" sz="1900" b="1" dirty="0">
                <a:solidFill>
                  <a:srgbClr val="4236F6"/>
                </a:solidFill>
              </a:rPr>
              <a:t>! </a:t>
            </a:r>
            <a:r>
              <a:rPr lang="ko-KR" altLang="en-US" sz="19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하하</a:t>
            </a:r>
            <a:r>
              <a:rPr lang="en-US" sz="1900" b="1" dirty="0">
                <a:solidFill>
                  <a:srgbClr val="4236F6"/>
                </a:solidFill>
              </a:rPr>
              <a:t>.</a:t>
            </a:r>
            <a:endParaRPr lang="en-US" sz="1900" dirty="0"/>
          </a:p>
        </p:txBody>
      </p:sp>
      <p:sp>
        <p:nvSpPr>
          <p:cNvPr id="32" name="Text 19"/>
          <p:cNvSpPr txBox="1"/>
          <p:nvPr/>
        </p:nvSpPr>
        <p:spPr>
          <a:xfrm>
            <a:off x="8168640" y="564916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400" dirty="0">
                <a:solidFill>
                  <a:srgbClr val="5C5F6B"/>
                </a:solidFill>
              </a:rPr>
              <a:t>Mateo · ¡Sí, soy yo quien hace ejercicio! Jaja.</a:t>
            </a:r>
            <a:endParaRPr lang="en-US" sz="1400" dirty="0"/>
          </a:p>
        </p:txBody>
      </p:sp>
      <p:pic>
        <p:nvPicPr>
          <p:cNvPr id="33" name="Media 5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11237976" y="4210812"/>
            <a:ext cx="310896" cy="310896"/>
          </a:xfrm>
          <a:prstGeom prst="rect">
            <a:avLst/>
          </a:prstGeom>
        </p:spPr>
      </p:pic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¿Entendiste?</a:t>
            </a:r>
            <a:r>
              <a:rPr lang="en-US" sz="1500" b="1" i="1" dirty="0">
                <a:solidFill>
                  <a:srgbClr val="8A8DA0"/>
                </a:solidFill>
              </a:rPr>
              <a:t>   Did you get it?</a:t>
            </a:r>
            <a:endParaRPr lang="en-US" sz="3000" dirty="0"/>
          </a:p>
        </p:txBody>
      </p:sp>
      <p:pic>
        <p:nvPicPr>
          <p:cNvPr id="3" name="imagen" descr="C:\Users\Chingu\AppData\Local\Temp\claude\C--Users-Chingu-Desktop-ACADEMIASEULWEB\d4111e1b-5523-44ea-97b2-b1a1d9545b9e\scratchpad\decks\cache\img_c684505f6779f5c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112" y="1508760"/>
            <a:ext cx="3886200" cy="4480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25880"/>
            <a:ext cx="6931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Mira las fotos del chat · Responde en coro o en el chat</a:t>
            </a:r>
            <a:endParaRPr lang="en-US" sz="1800" dirty="0"/>
          </a:p>
        </p:txBody>
      </p:sp>
      <p:sp>
        <p:nvSpPr>
          <p:cNvPr id="5" name="num_0"/>
          <p:cNvSpPr/>
          <p:nvPr/>
        </p:nvSpPr>
        <p:spPr>
          <a:xfrm>
            <a:off x="548640" y="217170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1717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965960"/>
            <a:ext cx="273551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수영해요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</p:txBody>
      </p:sp>
      <p:sp>
        <p:nvSpPr>
          <p:cNvPr id="8" name="rev_5_caja"/>
          <p:cNvSpPr/>
          <p:nvPr/>
        </p:nvSpPr>
        <p:spPr>
          <a:xfrm>
            <a:off x="4152839" y="2002536"/>
            <a:ext cx="3326953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9" name="rev_5_txt"/>
          <p:cNvSpPr txBox="1"/>
          <p:nvPr/>
        </p:nvSpPr>
        <p:spPr>
          <a:xfrm>
            <a:off x="4244279" y="2002536"/>
            <a:ext cx="3144073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 씨가 수영해요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10" name="num_1"/>
          <p:cNvSpPr/>
          <p:nvPr/>
        </p:nvSpPr>
        <p:spPr>
          <a:xfrm>
            <a:off x="548640" y="3168396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31683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2962656"/>
            <a:ext cx="273551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서아가 뭐 해요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</p:txBody>
      </p:sp>
      <p:sp>
        <p:nvSpPr>
          <p:cNvPr id="13" name="rev_6_caja"/>
          <p:cNvSpPr/>
          <p:nvPr/>
        </p:nvSpPr>
        <p:spPr>
          <a:xfrm>
            <a:off x="4152839" y="2999232"/>
            <a:ext cx="3326953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4" name="rev_6_txt"/>
          <p:cNvSpPr txBox="1"/>
          <p:nvPr/>
        </p:nvSpPr>
        <p:spPr>
          <a:xfrm>
            <a:off x="4244279" y="2999232"/>
            <a:ext cx="3144073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노래해요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15" name="num_2"/>
          <p:cNvSpPr/>
          <p:nvPr/>
        </p:nvSpPr>
        <p:spPr>
          <a:xfrm>
            <a:off x="548640" y="4165092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41650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188720" y="3959352"/>
            <a:ext cx="273551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도윤 씨가 노래해요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</p:txBody>
      </p:sp>
      <p:sp>
        <p:nvSpPr>
          <p:cNvPr id="18" name="rev_7_caja"/>
          <p:cNvSpPr/>
          <p:nvPr/>
        </p:nvSpPr>
        <p:spPr>
          <a:xfrm>
            <a:off x="4152839" y="3995928"/>
            <a:ext cx="3326953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9" name="rev_7_txt"/>
          <p:cNvSpPr txBox="1"/>
          <p:nvPr/>
        </p:nvSpPr>
        <p:spPr>
          <a:xfrm>
            <a:off x="4244279" y="3995928"/>
            <a:ext cx="3144073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r>
              <a:rPr lang="en-US" sz="1800" b="1" dirty="0">
                <a:solidFill>
                  <a:srgbClr val="FFFFFF"/>
                </a:solidFill>
              </a:rPr>
              <a:t>, </a:t>
            </a:r>
            <a:r>
              <a:rPr lang="ko-KR" alt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서아가 노래해요</a:t>
            </a:r>
            <a:r>
              <a:rPr lang="en-US" sz="1800" b="1" dirty="0">
                <a:solidFill>
                  <a:srgbClr val="FFFFFF"/>
                </a:solidFill>
              </a:rPr>
              <a:t>.</a:t>
            </a:r>
            <a:endParaRPr lang="en-US" sz="1800" dirty="0"/>
          </a:p>
        </p:txBody>
      </p:sp>
      <p:sp>
        <p:nvSpPr>
          <p:cNvPr id="20" name="num_3"/>
          <p:cNvSpPr/>
          <p:nvPr/>
        </p:nvSpPr>
        <p:spPr>
          <a:xfrm>
            <a:off x="548640" y="5161788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51617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188720" y="4956048"/>
            <a:ext cx="273551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운동해요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</p:txBody>
      </p:sp>
      <p:sp>
        <p:nvSpPr>
          <p:cNvPr id="23" name="rev_8_caja"/>
          <p:cNvSpPr/>
          <p:nvPr/>
        </p:nvSpPr>
        <p:spPr>
          <a:xfrm>
            <a:off x="4152839" y="4992624"/>
            <a:ext cx="3326953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4" name="rev_8_txt"/>
          <p:cNvSpPr txBox="1"/>
          <p:nvPr/>
        </p:nvSpPr>
        <p:spPr>
          <a:xfrm>
            <a:off x="4244279" y="4992624"/>
            <a:ext cx="3144073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마테오 씨가 운동해요</a:t>
            </a:r>
            <a:r>
              <a:rPr lang="en-US" sz="2100" b="1" dirty="0">
                <a:solidFill>
                  <a:srgbClr val="FFFFFF"/>
                </a:solidFill>
              </a:rPr>
              <a:t>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 animBg="1"/>
      <p:bldP spid="19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배워 봐요  </a:t>
            </a:r>
            <a:r>
              <a:rPr lang="en-US" sz="3000" b="1" dirty="0">
                <a:solidFill>
                  <a:srgbClr val="003478"/>
                </a:solidFill>
              </a:rPr>
              <a:t>Palabras nuevas (1)</a:t>
            </a:r>
            <a:r>
              <a:rPr lang="en-US" sz="1500" b="1" i="1" dirty="0">
                <a:solidFill>
                  <a:srgbClr val="8A8DA0"/>
                </a:solidFill>
              </a:rPr>
              <a:t>   New words (1)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palabra + 해요 </a:t>
            </a:r>
            <a:r>
              <a:rPr lang="en-US" sz="1800" i="1" dirty="0">
                <a:solidFill>
                  <a:srgbClr val="4236F6"/>
                </a:solidFill>
              </a:rPr>
              <a:t>= hacer: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노래 </a:t>
            </a:r>
            <a:r>
              <a:rPr lang="en-US" sz="1800" i="1" dirty="0">
                <a:solidFill>
                  <a:srgbClr val="4236F6"/>
                </a:solidFill>
              </a:rPr>
              <a:t>(canción) +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해요 </a:t>
            </a:r>
            <a:r>
              <a:rPr lang="en-US" sz="1800" i="1" dirty="0">
                <a:solidFill>
                  <a:srgbClr val="4236F6"/>
                </a:solidFill>
              </a:rPr>
              <a:t>= cantar</a:t>
            </a:r>
            <a:endParaRPr lang="en-US" sz="1800" dirty="0"/>
          </a:p>
        </p:txBody>
      </p:sp>
      <p:sp>
        <p:nvSpPr>
          <p:cNvPr id="4" name="card_0"/>
          <p:cNvSpPr/>
          <p:nvPr/>
        </p:nvSpPr>
        <p:spPr>
          <a:xfrm>
            <a:off x="548640" y="1874520"/>
            <a:ext cx="2601468" cy="4297680"/>
          </a:xfrm>
          <a:prstGeom prst="roundRect">
            <a:avLst>
              <a:gd name="adj" fmla="val 527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5" name="dibujo_0" descr="C:\Users\Chingu\AppData\Local\Temp\claude\C--Users-Chingu-Desktop-ACADEMIASEULWEB\d4111e1b-5523-44ea-97b2-b1a1d9545b9e\scratchpad\decks\cache\img_b92768372336df4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2919" y="1984248"/>
            <a:ext cx="1612910" cy="16129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615446"/>
            <a:ext cx="260146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노래해요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4474982"/>
            <a:ext cx="2455164" cy="1624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canta</a:t>
            </a:r>
            <a:endParaRPr lang="en-US" sz="1600" dirty="0"/>
          </a:p>
        </p:txBody>
      </p:sp>
      <p:pic>
        <p:nvPicPr>
          <p:cNvPr id="13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2747772" y="1947672"/>
            <a:ext cx="310896" cy="310896"/>
          </a:xfrm>
          <a:prstGeom prst="rect">
            <a:avLst/>
          </a:prstGeom>
        </p:spPr>
      </p:pic>
      <p:sp>
        <p:nvSpPr>
          <p:cNvPr id="9" name="card_1"/>
          <p:cNvSpPr/>
          <p:nvPr/>
        </p:nvSpPr>
        <p:spPr>
          <a:xfrm>
            <a:off x="3378708" y="1874520"/>
            <a:ext cx="2601468" cy="4297680"/>
          </a:xfrm>
          <a:prstGeom prst="roundRect">
            <a:avLst>
              <a:gd name="adj" fmla="val 527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0" name="dibujo_1" descr="C:\Users\Chingu\AppData\Local\Temp\claude\C--Users-Chingu-Desktop-ACADEMIASEULWEB\d4111e1b-5523-44ea-97b2-b1a1d9545b9e\scratchpad\decks\cache\img_7314d3969ebfe8f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72987" y="1984248"/>
            <a:ext cx="1612910" cy="161291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378708" y="3615446"/>
            <a:ext cx="260146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수영해요</a:t>
            </a:r>
            <a:endParaRPr lang="en-US" sz="3400" dirty="0"/>
          </a:p>
        </p:txBody>
      </p:sp>
      <p:sp>
        <p:nvSpPr>
          <p:cNvPr id="12" name="Text 7"/>
          <p:cNvSpPr txBox="1"/>
          <p:nvPr/>
        </p:nvSpPr>
        <p:spPr>
          <a:xfrm>
            <a:off x="3451860" y="4474982"/>
            <a:ext cx="2455164" cy="1624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nada (hace natación)</a:t>
            </a:r>
            <a:endParaRPr lang="en-US" sz="1600" dirty="0"/>
          </a:p>
        </p:txBody>
      </p:sp>
      <p:pic>
        <p:nvPicPr>
          <p:cNvPr id="8" name="Media 1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5577840" y="1947672"/>
            <a:ext cx="310896" cy="310896"/>
          </a:xfrm>
          <a:prstGeom prst="rect">
            <a:avLst/>
          </a:prstGeom>
        </p:spPr>
      </p:pic>
      <p:sp>
        <p:nvSpPr>
          <p:cNvPr id="14" name="card_2"/>
          <p:cNvSpPr/>
          <p:nvPr/>
        </p:nvSpPr>
        <p:spPr>
          <a:xfrm>
            <a:off x="6208776" y="1874520"/>
            <a:ext cx="2601468" cy="4297680"/>
          </a:xfrm>
          <a:prstGeom prst="roundRect">
            <a:avLst>
              <a:gd name="adj" fmla="val 527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5" name="dibujo_2" descr="C:\Users\Chingu\AppData\Local\Temp\claude\C--Users-Chingu-Desktop-ACADEMIASEULWEB\d4111e1b-5523-44ea-97b2-b1a1d9545b9e\scratchpad\decks\cache\img_4fc0a9fcea647e3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03055" y="1984248"/>
            <a:ext cx="1612910" cy="161291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6208776" y="3615446"/>
            <a:ext cx="260146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운동해요</a:t>
            </a:r>
            <a:endParaRPr lang="en-US" sz="3400" dirty="0"/>
          </a:p>
        </p:txBody>
      </p:sp>
      <p:sp>
        <p:nvSpPr>
          <p:cNvPr id="17" name="Text 10"/>
          <p:cNvSpPr txBox="1"/>
          <p:nvPr/>
        </p:nvSpPr>
        <p:spPr>
          <a:xfrm>
            <a:off x="6281928" y="4474982"/>
            <a:ext cx="2455164" cy="1624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hace ejercicio, entrena</a:t>
            </a:r>
            <a:endParaRPr lang="en-US" sz="1600" dirty="0"/>
          </a:p>
        </p:txBody>
      </p:sp>
      <p:pic>
        <p:nvPicPr>
          <p:cNvPr id="18" name="Media 2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407908" y="1947672"/>
            <a:ext cx="310896" cy="310896"/>
          </a:xfrm>
          <a:prstGeom prst="rect">
            <a:avLst/>
          </a:prstGeom>
        </p:spPr>
      </p:pic>
      <p:sp>
        <p:nvSpPr>
          <p:cNvPr id="19" name="card_3"/>
          <p:cNvSpPr/>
          <p:nvPr/>
        </p:nvSpPr>
        <p:spPr>
          <a:xfrm>
            <a:off x="9038844" y="1874520"/>
            <a:ext cx="2601468" cy="4297680"/>
          </a:xfrm>
          <a:prstGeom prst="roundRect">
            <a:avLst>
              <a:gd name="adj" fmla="val 527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0" name="dibujo_3" descr="C:\Users\Chingu\AppData\Local\Temp\claude\C--Users-Chingu-Desktop-ACADEMIASEULWEB\d4111e1b-5523-44ea-97b2-b1a1d9545b9e\scratchpad\decks\cache\img_166e625467587c23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33123" y="1984248"/>
            <a:ext cx="1612910" cy="1612910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9038844" y="3615446"/>
            <a:ext cx="260146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이야기해요</a:t>
            </a:r>
            <a:endParaRPr lang="en-US" sz="3400" dirty="0"/>
          </a:p>
        </p:txBody>
      </p:sp>
      <p:sp>
        <p:nvSpPr>
          <p:cNvPr id="22" name="Text 13"/>
          <p:cNvSpPr txBox="1"/>
          <p:nvPr/>
        </p:nvSpPr>
        <p:spPr>
          <a:xfrm>
            <a:off x="9111996" y="4474982"/>
            <a:ext cx="2455164" cy="1624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conversa, habla (con alguien)</a:t>
            </a:r>
            <a:endParaRPr lang="en-US" sz="1600" dirty="0"/>
          </a:p>
        </p:txBody>
      </p:sp>
      <p:pic>
        <p:nvPicPr>
          <p:cNvPr id="23" name="Media 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11237976" y="1947672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배워 봐요  </a:t>
            </a:r>
            <a:r>
              <a:rPr lang="en-US" sz="3000" b="1" dirty="0">
                <a:solidFill>
                  <a:srgbClr val="003478"/>
                </a:solidFill>
              </a:rPr>
              <a:t>Palabras nuevas (2)</a:t>
            </a:r>
            <a:r>
              <a:rPr lang="en-US" sz="1500" b="1" i="1" dirty="0">
                <a:solidFill>
                  <a:srgbClr val="8A8DA0"/>
                </a:solidFill>
              </a:rPr>
              <a:t>   New words (2)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자요 </a:t>
            </a:r>
            <a:r>
              <a:rPr lang="en-US" sz="1800" i="1" dirty="0">
                <a:solidFill>
                  <a:srgbClr val="4236F6"/>
                </a:solidFill>
              </a:rPr>
              <a:t>y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일어나요 </a:t>
            </a:r>
            <a:r>
              <a:rPr lang="en-US" sz="1800" i="1" dirty="0">
                <a:solidFill>
                  <a:srgbClr val="4236F6"/>
                </a:solidFill>
              </a:rPr>
              <a:t>no llevan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해요 </a:t>
            </a:r>
            <a:r>
              <a:rPr lang="en-US" sz="1800" i="1" dirty="0">
                <a:solidFill>
                  <a:srgbClr val="4236F6"/>
                </a:solidFill>
              </a:rPr>
              <a:t>· las 2 últimas son extra</a:t>
            </a:r>
            <a:endParaRPr lang="en-US" sz="1800" dirty="0"/>
          </a:p>
        </p:txBody>
      </p:sp>
      <p:sp>
        <p:nvSpPr>
          <p:cNvPr id="4" name="card_0"/>
          <p:cNvSpPr/>
          <p:nvPr/>
        </p:nvSpPr>
        <p:spPr>
          <a:xfrm>
            <a:off x="548640" y="187452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5" name="dibujo_0" descr="C:\Users\Chingu\AppData\Local\Temp\claude\C--Users-Chingu-Desktop-ACADEMIASEULWEB\d4111e1b-5523-44ea-97b2-b1a1d9545b9e\scratchpad\decks\cache\img_38bd9cb42e089b09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32762" y="1984248"/>
            <a:ext cx="976579" cy="97657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97911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전화해요</a:t>
            </a:r>
            <a:endParaRPr lang="en-US" sz="25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338602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llama, habla por teléfono</a:t>
            </a:r>
            <a:endParaRPr lang="en-US" sz="1600" dirty="0"/>
          </a:p>
        </p:txBody>
      </p:sp>
      <p:pic>
        <p:nvPicPr>
          <p:cNvPr id="13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3691128" y="1947672"/>
            <a:ext cx="310896" cy="310896"/>
          </a:xfrm>
          <a:prstGeom prst="rect">
            <a:avLst/>
          </a:prstGeom>
        </p:spPr>
      </p:pic>
      <p:sp>
        <p:nvSpPr>
          <p:cNvPr id="9" name="card_1"/>
          <p:cNvSpPr/>
          <p:nvPr/>
        </p:nvSpPr>
        <p:spPr>
          <a:xfrm>
            <a:off x="4322064" y="187452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0" name="dibujo_1" descr="C:\Users\Chingu\AppData\Local\Temp\claude\C--Users-Chingu-Desktop-ACADEMIASEULWEB\d4111e1b-5523-44ea-97b2-b1a1d9545b9e\scratchpad\decks\cache\img_b1ea32252c749e83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606186" y="1984248"/>
            <a:ext cx="976579" cy="976579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322064" y="297911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공부해요</a:t>
            </a:r>
            <a:endParaRPr lang="en-US" sz="2500" dirty="0"/>
          </a:p>
        </p:txBody>
      </p:sp>
      <p:sp>
        <p:nvSpPr>
          <p:cNvPr id="12" name="Text 7"/>
          <p:cNvSpPr txBox="1"/>
          <p:nvPr/>
        </p:nvSpPr>
        <p:spPr>
          <a:xfrm>
            <a:off x="4395216" y="338602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estudia</a:t>
            </a:r>
            <a:endParaRPr lang="en-US" sz="1600" dirty="0"/>
          </a:p>
        </p:txBody>
      </p:sp>
      <p:pic>
        <p:nvPicPr>
          <p:cNvPr id="8" name="Media 1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7464552" y="1947672"/>
            <a:ext cx="310896" cy="310896"/>
          </a:xfrm>
          <a:prstGeom prst="rect">
            <a:avLst/>
          </a:prstGeom>
        </p:spPr>
      </p:pic>
      <p:sp>
        <p:nvSpPr>
          <p:cNvPr id="14" name="card_2"/>
          <p:cNvSpPr/>
          <p:nvPr/>
        </p:nvSpPr>
        <p:spPr>
          <a:xfrm>
            <a:off x="8095488" y="187452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5" name="dibujo_2" descr="C:\Users\Chingu\AppData\Local\Temp\claude\C--Users-Chingu-Desktop-ACADEMIASEULWEB\d4111e1b-5523-44ea-97b2-b1a1d9545b9e\scratchpad\decks\cache\img_c793ec315d4a2487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379610" y="1984248"/>
            <a:ext cx="976579" cy="976579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8095488" y="297911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자요</a:t>
            </a:r>
            <a:endParaRPr lang="en-US" sz="2500" dirty="0"/>
          </a:p>
        </p:txBody>
      </p:sp>
      <p:sp>
        <p:nvSpPr>
          <p:cNvPr id="17" name="Text 10"/>
          <p:cNvSpPr txBox="1"/>
          <p:nvPr/>
        </p:nvSpPr>
        <p:spPr>
          <a:xfrm>
            <a:off x="8168640" y="338602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duerme</a:t>
            </a:r>
            <a:endParaRPr lang="en-US" sz="1600" dirty="0"/>
          </a:p>
        </p:txBody>
      </p:sp>
      <p:pic>
        <p:nvPicPr>
          <p:cNvPr id="18" name="Media 2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11237976" y="1947672"/>
            <a:ext cx="310896" cy="310896"/>
          </a:xfrm>
          <a:prstGeom prst="rect">
            <a:avLst/>
          </a:prstGeom>
        </p:spPr>
      </p:pic>
      <p:sp>
        <p:nvSpPr>
          <p:cNvPr id="19" name="card_3"/>
          <p:cNvSpPr/>
          <p:nvPr/>
        </p:nvSpPr>
        <p:spPr>
          <a:xfrm>
            <a:off x="548640" y="413766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0" name="dibujo_3" descr="C:\Users\Chingu\AppData\Local\Temp\claude\C--Users-Chingu-Desktop-ACADEMIASEULWEB\d4111e1b-5523-44ea-97b2-b1a1d9545b9e\scratchpad\decks\cache\img_615b1ebd223784a7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832762" y="4247388"/>
            <a:ext cx="976579" cy="976579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548640" y="524225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일어나요</a:t>
            </a:r>
            <a:endParaRPr lang="en-US" sz="2500" dirty="0"/>
          </a:p>
        </p:txBody>
      </p:sp>
      <p:sp>
        <p:nvSpPr>
          <p:cNvPr id="22" name="Text 13"/>
          <p:cNvSpPr txBox="1"/>
          <p:nvPr/>
        </p:nvSpPr>
        <p:spPr>
          <a:xfrm>
            <a:off x="548640" y="5649163"/>
            <a:ext cx="3544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[이러나요</a:t>
            </a:r>
            <a:r>
              <a:rPr lang="en-US" sz="1300" dirty="0">
                <a:solidFill>
                  <a:srgbClr val="8A8DA0"/>
                </a:solidFill>
              </a:rPr>
              <a:t>]</a:t>
            </a:r>
            <a:endParaRPr lang="en-US" sz="1300" dirty="0"/>
          </a:p>
        </p:txBody>
      </p:sp>
      <p:sp>
        <p:nvSpPr>
          <p:cNvPr id="23" name="Text 14"/>
          <p:cNvSpPr txBox="1"/>
          <p:nvPr/>
        </p:nvSpPr>
        <p:spPr>
          <a:xfrm>
            <a:off x="621792" y="5923483"/>
            <a:ext cx="339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se levanta, se despierta</a:t>
            </a:r>
            <a:endParaRPr lang="en-US" sz="1600" dirty="0"/>
          </a:p>
        </p:txBody>
      </p:sp>
      <p:pic>
        <p:nvPicPr>
          <p:cNvPr id="29" name="Media 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3691128" y="4210812"/>
            <a:ext cx="310896" cy="310896"/>
          </a:xfrm>
          <a:prstGeom prst="rect">
            <a:avLst/>
          </a:prstGeom>
        </p:spPr>
      </p:pic>
      <p:sp>
        <p:nvSpPr>
          <p:cNvPr id="25" name="card_4"/>
          <p:cNvSpPr/>
          <p:nvPr/>
        </p:nvSpPr>
        <p:spPr>
          <a:xfrm>
            <a:off x="4322064" y="413766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6" name="dibujo_4" descr="C:\Users\Chingu\AppData\Local\Temp\claude\C--Users-Chingu-Desktop-ACADEMIASEULWEB\d4111e1b-5523-44ea-97b2-b1a1d9545b9e\scratchpad\decks\cache\img_d9babbd6bfd3b591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606186" y="4247388"/>
            <a:ext cx="976579" cy="976579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4322064" y="524225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일해요</a:t>
            </a:r>
            <a:endParaRPr lang="en-US" sz="2500" dirty="0"/>
          </a:p>
        </p:txBody>
      </p:sp>
      <p:sp>
        <p:nvSpPr>
          <p:cNvPr id="28" name="Text 17"/>
          <p:cNvSpPr txBox="1"/>
          <p:nvPr/>
        </p:nvSpPr>
        <p:spPr>
          <a:xfrm>
            <a:off x="4395216" y="564916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trabaja (extra)</a:t>
            </a:r>
            <a:endParaRPr lang="en-US" sz="1600" dirty="0"/>
          </a:p>
        </p:txBody>
      </p:sp>
      <p:pic>
        <p:nvPicPr>
          <p:cNvPr id="34" name="Media 4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7464552" y="4210812"/>
            <a:ext cx="310896" cy="310896"/>
          </a:xfrm>
          <a:prstGeom prst="rect">
            <a:avLst/>
          </a:prstGeom>
        </p:spPr>
      </p:pic>
      <p:sp>
        <p:nvSpPr>
          <p:cNvPr id="30" name="card_5"/>
          <p:cNvSpPr/>
          <p:nvPr/>
        </p:nvSpPr>
        <p:spPr>
          <a:xfrm>
            <a:off x="8095488" y="413766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31" name="dibujo_5" descr="C:\Users\Chingu\AppData\Local\Temp\claude\C--Users-Chingu-Desktop-ACADEMIASEULWEB\d4111e1b-5523-44ea-97b2-b1a1d9545b9e\scratchpad\decks\cache\img_a2c706fce94e7d4f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379610" y="4247388"/>
            <a:ext cx="976579" cy="976579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8095488" y="524225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요리해요</a:t>
            </a:r>
            <a:endParaRPr lang="en-US" sz="2500" dirty="0"/>
          </a:p>
        </p:txBody>
      </p:sp>
      <p:sp>
        <p:nvSpPr>
          <p:cNvPr id="33" name="Text 20"/>
          <p:cNvSpPr txBox="1"/>
          <p:nvPr/>
        </p:nvSpPr>
        <p:spPr>
          <a:xfrm>
            <a:off x="8168640" y="564916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cocina (extra)</a:t>
            </a:r>
            <a:endParaRPr lang="en-US" sz="1600" dirty="0"/>
          </a:p>
        </p:txBody>
      </p:sp>
      <p:pic>
        <p:nvPicPr>
          <p:cNvPr id="24" name="Media 5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11237976" y="4210812"/>
            <a:ext cx="310896" cy="310896"/>
          </a:xfrm>
          <a:prstGeom prst="rect">
            <a:avLst/>
          </a:prstGeom>
        </p:spPr>
      </p:pic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읽어 봐요  </a:t>
            </a:r>
            <a:r>
              <a:rPr lang="en-US" sz="3000" b="1" dirty="0">
                <a:solidFill>
                  <a:srgbClr val="003478"/>
                </a:solidFill>
              </a:rPr>
              <a:t>Lean en voz alta</a:t>
            </a:r>
            <a:r>
              <a:rPr lang="en-US" sz="1500" b="1" i="1" dirty="0">
                <a:solidFill>
                  <a:srgbClr val="8A8DA0"/>
                </a:solidFill>
              </a:rPr>
              <a:t>   Read aloud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Lo que se escribe no siempre es lo que suena</a:t>
            </a:r>
            <a:endParaRPr lang="en-US" sz="1800" dirty="0"/>
          </a:p>
        </p:txBody>
      </p:sp>
      <p:sp>
        <p:nvSpPr>
          <p:cNvPr id="4" name="tile_0"/>
          <p:cNvSpPr/>
          <p:nvPr/>
        </p:nvSpPr>
        <p:spPr>
          <a:xfrm>
            <a:off x="548640" y="1874520"/>
            <a:ext cx="2601468" cy="2377440"/>
          </a:xfrm>
          <a:prstGeom prst="roundRect">
            <a:avLst>
              <a:gd name="adj" fmla="val 5769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947672"/>
            <a:ext cx="2601468" cy="14740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일어나요</a:t>
            </a:r>
            <a:endParaRPr lang="en-US" sz="3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396082"/>
            <a:ext cx="2510028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19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[이러나요</a:t>
            </a:r>
            <a:r>
              <a:rPr lang="en-US" sz="1900" dirty="0">
                <a:solidFill>
                  <a:srgbClr val="5C5F6B"/>
                </a:solidFill>
              </a:rPr>
              <a:t>]</a:t>
            </a:r>
            <a:endParaRPr lang="en-US" sz="1900" dirty="0"/>
          </a:p>
        </p:txBody>
      </p:sp>
      <p:sp>
        <p:nvSpPr>
          <p:cNvPr id="7" name="tile_1"/>
          <p:cNvSpPr/>
          <p:nvPr/>
        </p:nvSpPr>
        <p:spPr>
          <a:xfrm>
            <a:off x="3378708" y="1874520"/>
            <a:ext cx="2601468" cy="2377440"/>
          </a:xfrm>
          <a:prstGeom prst="roundRect">
            <a:avLst>
              <a:gd name="adj" fmla="val 5769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78708" y="1947672"/>
            <a:ext cx="2601468" cy="14740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전화해요</a:t>
            </a:r>
            <a:endParaRPr lang="en-US" sz="3500" dirty="0"/>
          </a:p>
        </p:txBody>
      </p:sp>
      <p:sp>
        <p:nvSpPr>
          <p:cNvPr id="9" name="Text 7"/>
          <p:cNvSpPr txBox="1"/>
          <p:nvPr/>
        </p:nvSpPr>
        <p:spPr>
          <a:xfrm>
            <a:off x="3424428" y="3396082"/>
            <a:ext cx="2510028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19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habla rápida: [저놔해요</a:t>
            </a:r>
            <a:r>
              <a:rPr lang="en-US" sz="1900" dirty="0">
                <a:solidFill>
                  <a:srgbClr val="5C5F6B"/>
                </a:solidFill>
              </a:rPr>
              <a:t>]</a:t>
            </a:r>
            <a:endParaRPr lang="en-US" sz="1900" dirty="0"/>
          </a:p>
        </p:txBody>
      </p:sp>
      <p:sp>
        <p:nvSpPr>
          <p:cNvPr id="10" name="tile_2"/>
          <p:cNvSpPr/>
          <p:nvPr/>
        </p:nvSpPr>
        <p:spPr>
          <a:xfrm>
            <a:off x="6208776" y="1874520"/>
            <a:ext cx="2601468" cy="2377440"/>
          </a:xfrm>
          <a:prstGeom prst="roundRect">
            <a:avLst>
              <a:gd name="adj" fmla="val 5769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08776" y="1947672"/>
            <a:ext cx="2601468" cy="14740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수영해요</a:t>
            </a:r>
            <a:endParaRPr lang="en-US" sz="3500" dirty="0"/>
          </a:p>
        </p:txBody>
      </p:sp>
      <p:sp>
        <p:nvSpPr>
          <p:cNvPr id="12" name="Text 10"/>
          <p:cNvSpPr txBox="1"/>
          <p:nvPr/>
        </p:nvSpPr>
        <p:spPr>
          <a:xfrm>
            <a:off x="6254496" y="3396082"/>
            <a:ext cx="2510028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19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</a:t>
            </a:r>
            <a:r>
              <a:rPr lang="en-US" sz="1900" dirty="0">
                <a:solidFill>
                  <a:srgbClr val="5C5F6B"/>
                </a:solidFill>
              </a:rPr>
              <a:t>, no </a:t>
            </a:r>
            <a:r>
              <a:rPr lang="ko-KR" altLang="en-US" sz="19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</a:t>
            </a:r>
            <a:endParaRPr lang="en-US" sz="1900" dirty="0"/>
          </a:p>
        </p:txBody>
      </p:sp>
      <p:sp>
        <p:nvSpPr>
          <p:cNvPr id="13" name="tile_3"/>
          <p:cNvSpPr/>
          <p:nvPr/>
        </p:nvSpPr>
        <p:spPr>
          <a:xfrm>
            <a:off x="9038844" y="1874520"/>
            <a:ext cx="2601468" cy="2377440"/>
          </a:xfrm>
          <a:prstGeom prst="roundRect">
            <a:avLst>
              <a:gd name="adj" fmla="val 5769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38844" y="1947672"/>
            <a:ext cx="2601468" cy="14740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이야기해요</a:t>
            </a:r>
            <a:endParaRPr lang="en-US" sz="3500" dirty="0"/>
          </a:p>
        </p:txBody>
      </p:sp>
      <p:sp>
        <p:nvSpPr>
          <p:cNvPr id="15" name="Text 13"/>
          <p:cNvSpPr txBox="1"/>
          <p:nvPr/>
        </p:nvSpPr>
        <p:spPr>
          <a:xfrm>
            <a:off x="9084564" y="3396082"/>
            <a:ext cx="2510028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19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forma corta, muy común: 얘기해요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22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뭐 해요</a:t>
            </a:r>
            <a:r>
              <a:rPr lang="en-US" sz="2200" b="1" dirty="0">
                <a:solidFill>
                  <a:srgbClr val="4236F6"/>
                </a:solidFill>
              </a:rPr>
              <a:t>?  </a:t>
            </a:r>
            <a:r>
              <a:rPr lang="en-US" sz="2200" b="1" dirty="0">
                <a:solidFill>
                  <a:srgbClr val="003478"/>
                </a:solidFill>
              </a:rPr>
              <a:t>Relámpago: ¿qué hace?</a:t>
            </a:r>
            <a:r>
              <a:rPr lang="en-US" sz="1500" b="1" i="1" dirty="0">
                <a:solidFill>
                  <a:srgbClr val="8A8DA0"/>
                </a:solidFill>
              </a:rPr>
              <a:t>   Lightning round: what is he/she doing?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El primero que lo dice gana el punto · Mira la imagen y dilo en voz alta (o en el chat)</a:t>
            </a:r>
            <a:endParaRPr lang="en-US" sz="1800" dirty="0"/>
          </a:p>
        </p:txBody>
      </p:sp>
      <p:sp>
        <p:nvSpPr>
          <p:cNvPr id="4" name="card_0"/>
          <p:cNvSpPr/>
          <p:nvPr/>
        </p:nvSpPr>
        <p:spPr>
          <a:xfrm>
            <a:off x="548640" y="1965960"/>
            <a:ext cx="3575304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5" name="item_img_0" descr="C:\Users\Chingu\AppData\Local\Temp\claude\C--Users-Chingu-Desktop-ACADEMIASEULWEB\d4111e1b-5523-44ea-97b2-b1a1d9545b9e\scratchpad\decks\cache\img_65315c47d0e192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9831" y="2057400"/>
            <a:ext cx="972922" cy="972922"/>
          </a:xfrm>
          <a:prstGeom prst="rect">
            <a:avLst/>
          </a:prstGeom>
        </p:spPr>
      </p:pic>
      <p:sp>
        <p:nvSpPr>
          <p:cNvPr id="6" name="num_0"/>
          <p:cNvSpPr/>
          <p:nvPr/>
        </p:nvSpPr>
        <p:spPr>
          <a:xfrm>
            <a:off x="640080" y="205740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076042"/>
            <a:ext cx="3392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뭐 해요</a:t>
            </a:r>
            <a:r>
              <a:rPr lang="en-US" sz="2200" dirty="0">
                <a:solidFill>
                  <a:srgbClr val="14142B"/>
                </a:solidFill>
              </a:rPr>
              <a:t>?</a:t>
            </a:r>
            <a:endParaRPr lang="en-US" sz="2200" dirty="0"/>
          </a:p>
        </p:txBody>
      </p:sp>
      <p:sp>
        <p:nvSpPr>
          <p:cNvPr id="9" name="rev_9_caja"/>
          <p:cNvSpPr/>
          <p:nvPr/>
        </p:nvSpPr>
        <p:spPr>
          <a:xfrm>
            <a:off x="658368" y="3524098"/>
            <a:ext cx="3355848" cy="362102"/>
          </a:xfrm>
          <a:prstGeom prst="roundRect">
            <a:avLst>
              <a:gd name="adj" fmla="val 3030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0" name="rev_9_txt"/>
          <p:cNvSpPr txBox="1"/>
          <p:nvPr/>
        </p:nvSpPr>
        <p:spPr>
          <a:xfrm>
            <a:off x="685800" y="3524098"/>
            <a:ext cx="330098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전화해요</a:t>
            </a:r>
            <a:r>
              <a:rPr lang="en-US" sz="1800" b="1" dirty="0">
                <a:solidFill>
                  <a:srgbClr val="FFFFFF"/>
                </a:solidFill>
              </a:rPr>
              <a:t>.</a:t>
            </a:r>
            <a:endParaRPr lang="en-US" sz="1800" dirty="0"/>
          </a:p>
        </p:txBody>
      </p:sp>
      <p:sp>
        <p:nvSpPr>
          <p:cNvPr id="11" name="card_1"/>
          <p:cNvSpPr/>
          <p:nvPr/>
        </p:nvSpPr>
        <p:spPr>
          <a:xfrm>
            <a:off x="4306824" y="1965960"/>
            <a:ext cx="3575304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2" name="item_img_1" descr="C:\Users\Chingu\AppData\Local\Temp\claude\C--Users-Chingu-Desktop-ACADEMIASEULWEB\d4111e1b-5523-44ea-97b2-b1a1d9545b9e\scratchpad\decks\cache\img_05a7b30e45e59b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8015" y="2057400"/>
            <a:ext cx="972922" cy="972922"/>
          </a:xfrm>
          <a:prstGeom prst="rect">
            <a:avLst/>
          </a:prstGeom>
        </p:spPr>
      </p:pic>
      <p:sp>
        <p:nvSpPr>
          <p:cNvPr id="13" name="num_1"/>
          <p:cNvSpPr/>
          <p:nvPr/>
        </p:nvSpPr>
        <p:spPr>
          <a:xfrm>
            <a:off x="4398264" y="205740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398264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398264" y="3076042"/>
            <a:ext cx="3392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뭐 해요</a:t>
            </a:r>
            <a:r>
              <a:rPr lang="en-US" sz="2200" dirty="0">
                <a:solidFill>
                  <a:srgbClr val="14142B"/>
                </a:solidFill>
              </a:rPr>
              <a:t>?</a:t>
            </a:r>
            <a:endParaRPr lang="en-US" sz="2200" dirty="0"/>
          </a:p>
        </p:txBody>
      </p:sp>
      <p:sp>
        <p:nvSpPr>
          <p:cNvPr id="16" name="rev_10_caja"/>
          <p:cNvSpPr/>
          <p:nvPr/>
        </p:nvSpPr>
        <p:spPr>
          <a:xfrm>
            <a:off x="4416552" y="3524098"/>
            <a:ext cx="3355848" cy="362102"/>
          </a:xfrm>
          <a:prstGeom prst="roundRect">
            <a:avLst>
              <a:gd name="adj" fmla="val 3030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7" name="rev_10_txt"/>
          <p:cNvSpPr txBox="1"/>
          <p:nvPr/>
        </p:nvSpPr>
        <p:spPr>
          <a:xfrm>
            <a:off x="4443984" y="3524098"/>
            <a:ext cx="330098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자요</a:t>
            </a:r>
            <a:r>
              <a:rPr lang="en-US" sz="1800" b="1" dirty="0">
                <a:solidFill>
                  <a:srgbClr val="FFFFFF"/>
                </a:solidFill>
              </a:rPr>
              <a:t>.</a:t>
            </a:r>
            <a:endParaRPr lang="en-US" sz="1800" dirty="0"/>
          </a:p>
        </p:txBody>
      </p:sp>
      <p:sp>
        <p:nvSpPr>
          <p:cNvPr id="18" name="card_2"/>
          <p:cNvSpPr/>
          <p:nvPr/>
        </p:nvSpPr>
        <p:spPr>
          <a:xfrm>
            <a:off x="8065008" y="1965960"/>
            <a:ext cx="3575304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9" name="item_img_2" descr="C:\Users\Chingu\AppData\Local\Temp\claude\C--Users-Chingu-Desktop-ACADEMIASEULWEB\d4111e1b-5523-44ea-97b2-b1a1d9545b9e\scratchpad\decks\cache\img_3d24e25d723968e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6199" y="2057400"/>
            <a:ext cx="972922" cy="972922"/>
          </a:xfrm>
          <a:prstGeom prst="rect">
            <a:avLst/>
          </a:prstGeom>
        </p:spPr>
      </p:pic>
      <p:sp>
        <p:nvSpPr>
          <p:cNvPr id="20" name="num_2"/>
          <p:cNvSpPr/>
          <p:nvPr/>
        </p:nvSpPr>
        <p:spPr>
          <a:xfrm>
            <a:off x="8156448" y="205740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8156448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8156448" y="3076042"/>
            <a:ext cx="3392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뭐 해요</a:t>
            </a:r>
            <a:r>
              <a:rPr lang="en-US" sz="2200" dirty="0">
                <a:solidFill>
                  <a:srgbClr val="14142B"/>
                </a:solidFill>
              </a:rPr>
              <a:t>?</a:t>
            </a:r>
            <a:endParaRPr lang="en-US" sz="2200" dirty="0"/>
          </a:p>
        </p:txBody>
      </p:sp>
      <p:sp>
        <p:nvSpPr>
          <p:cNvPr id="23" name="rev_11_caja"/>
          <p:cNvSpPr/>
          <p:nvPr/>
        </p:nvSpPr>
        <p:spPr>
          <a:xfrm>
            <a:off x="8174736" y="3524098"/>
            <a:ext cx="3355848" cy="362102"/>
          </a:xfrm>
          <a:prstGeom prst="roundRect">
            <a:avLst>
              <a:gd name="adj" fmla="val 3030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4" name="rev_11_txt"/>
          <p:cNvSpPr txBox="1"/>
          <p:nvPr/>
        </p:nvSpPr>
        <p:spPr>
          <a:xfrm>
            <a:off x="8202168" y="3524098"/>
            <a:ext cx="330098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수영해요</a:t>
            </a:r>
            <a:r>
              <a:rPr lang="en-US" sz="1800" b="1" dirty="0">
                <a:solidFill>
                  <a:srgbClr val="FFFFFF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card_3"/>
          <p:cNvSpPr/>
          <p:nvPr/>
        </p:nvSpPr>
        <p:spPr>
          <a:xfrm>
            <a:off x="548640" y="4160520"/>
            <a:ext cx="3575304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6" name="item_img_3" descr="C:\Users\Chingu\AppData\Local\Temp\claude\C--Users-Chingu-Desktop-ACADEMIASEULWEB\d4111e1b-5523-44ea-97b2-b1a1d9545b9e\scratchpad\decks\cache\img_fd8a151a69387d0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9831" y="4251960"/>
            <a:ext cx="972922" cy="972922"/>
          </a:xfrm>
          <a:prstGeom prst="rect">
            <a:avLst/>
          </a:prstGeom>
        </p:spPr>
      </p:pic>
      <p:sp>
        <p:nvSpPr>
          <p:cNvPr id="27" name="num_3"/>
          <p:cNvSpPr/>
          <p:nvPr/>
        </p:nvSpPr>
        <p:spPr>
          <a:xfrm>
            <a:off x="640080" y="425196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640080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640080" y="5270602"/>
            <a:ext cx="3392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뭐 해요</a:t>
            </a:r>
            <a:r>
              <a:rPr lang="en-US" sz="2200" dirty="0">
                <a:solidFill>
                  <a:srgbClr val="14142B"/>
                </a:solidFill>
              </a:rPr>
              <a:t>?</a:t>
            </a:r>
            <a:endParaRPr lang="en-US" sz="2200" dirty="0"/>
          </a:p>
        </p:txBody>
      </p:sp>
      <p:sp>
        <p:nvSpPr>
          <p:cNvPr id="30" name="rev_12_caja"/>
          <p:cNvSpPr/>
          <p:nvPr/>
        </p:nvSpPr>
        <p:spPr>
          <a:xfrm>
            <a:off x="658368" y="5718658"/>
            <a:ext cx="3355848" cy="362102"/>
          </a:xfrm>
          <a:prstGeom prst="roundRect">
            <a:avLst>
              <a:gd name="adj" fmla="val 3030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31" name="rev_12_txt"/>
          <p:cNvSpPr txBox="1"/>
          <p:nvPr/>
        </p:nvSpPr>
        <p:spPr>
          <a:xfrm>
            <a:off x="685800" y="5718658"/>
            <a:ext cx="330098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이야기해요</a:t>
            </a:r>
            <a:r>
              <a:rPr lang="en-US" sz="1800" b="1" dirty="0">
                <a:solidFill>
                  <a:srgbClr val="FFFFFF"/>
                </a:solidFill>
              </a:rPr>
              <a:t>.</a:t>
            </a:r>
            <a:endParaRPr lang="en-US" sz="1800" dirty="0"/>
          </a:p>
        </p:txBody>
      </p:sp>
      <p:sp>
        <p:nvSpPr>
          <p:cNvPr id="32" name="card_4"/>
          <p:cNvSpPr/>
          <p:nvPr/>
        </p:nvSpPr>
        <p:spPr>
          <a:xfrm>
            <a:off x="4306824" y="4160520"/>
            <a:ext cx="3575304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33" name="item_img_4" descr="C:\Users\Chingu\AppData\Local\Temp\claude\C--Users-Chingu-Desktop-ACADEMIASEULWEB\d4111e1b-5523-44ea-97b2-b1a1d9545b9e\scratchpad\decks\cache\img_9ef836284438fa8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08015" y="4251960"/>
            <a:ext cx="972922" cy="972922"/>
          </a:xfrm>
          <a:prstGeom prst="rect">
            <a:avLst/>
          </a:prstGeom>
        </p:spPr>
      </p:pic>
      <p:sp>
        <p:nvSpPr>
          <p:cNvPr id="34" name="num_4"/>
          <p:cNvSpPr/>
          <p:nvPr/>
        </p:nvSpPr>
        <p:spPr>
          <a:xfrm>
            <a:off x="4398264" y="425196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4398264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36" name="Text 29"/>
          <p:cNvSpPr txBox="1"/>
          <p:nvPr/>
        </p:nvSpPr>
        <p:spPr>
          <a:xfrm>
            <a:off x="4398264" y="5270602"/>
            <a:ext cx="3392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뭐 해요</a:t>
            </a:r>
            <a:r>
              <a:rPr lang="en-US" sz="2200" dirty="0">
                <a:solidFill>
                  <a:srgbClr val="14142B"/>
                </a:solidFill>
              </a:rPr>
              <a:t>?</a:t>
            </a:r>
            <a:endParaRPr lang="en-US" sz="2200" dirty="0"/>
          </a:p>
        </p:txBody>
      </p:sp>
      <p:sp>
        <p:nvSpPr>
          <p:cNvPr id="37" name="rev_13_caja"/>
          <p:cNvSpPr/>
          <p:nvPr/>
        </p:nvSpPr>
        <p:spPr>
          <a:xfrm>
            <a:off x="4416552" y="5718658"/>
            <a:ext cx="3355848" cy="362102"/>
          </a:xfrm>
          <a:prstGeom prst="roundRect">
            <a:avLst>
              <a:gd name="adj" fmla="val 3030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38" name="rev_13_txt"/>
          <p:cNvSpPr txBox="1"/>
          <p:nvPr/>
        </p:nvSpPr>
        <p:spPr>
          <a:xfrm>
            <a:off x="4443984" y="5718658"/>
            <a:ext cx="330098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일어나요</a:t>
            </a:r>
            <a:r>
              <a:rPr lang="en-US" sz="1800" b="1" dirty="0">
                <a:solidFill>
                  <a:srgbClr val="FFFFFF"/>
                </a:solidFill>
              </a:rPr>
              <a:t>.</a:t>
            </a:r>
            <a:endParaRPr lang="en-US" sz="1800" dirty="0"/>
          </a:p>
        </p:txBody>
      </p:sp>
      <p:sp>
        <p:nvSpPr>
          <p:cNvPr id="39" name="card_5"/>
          <p:cNvSpPr/>
          <p:nvPr/>
        </p:nvSpPr>
        <p:spPr>
          <a:xfrm>
            <a:off x="8065008" y="4160520"/>
            <a:ext cx="3575304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40" name="item_img_5" descr="C:\Users\Chingu\AppData\Local\Temp\claude\C--Users-Chingu-Desktop-ACADEMIASEULWEB\d4111e1b-5523-44ea-97b2-b1a1d9545b9e\scratchpad\decks\cache\img_da646f85744ad58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6199" y="4251960"/>
            <a:ext cx="972922" cy="972922"/>
          </a:xfrm>
          <a:prstGeom prst="rect">
            <a:avLst/>
          </a:prstGeom>
        </p:spPr>
      </p:pic>
      <p:sp>
        <p:nvSpPr>
          <p:cNvPr id="41" name="num_5"/>
          <p:cNvSpPr/>
          <p:nvPr/>
        </p:nvSpPr>
        <p:spPr>
          <a:xfrm>
            <a:off x="8156448" y="425196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Text 34"/>
          <p:cNvSpPr txBox="1"/>
          <p:nvPr/>
        </p:nvSpPr>
        <p:spPr>
          <a:xfrm>
            <a:off x="8156448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43" name="Text 35"/>
          <p:cNvSpPr txBox="1"/>
          <p:nvPr/>
        </p:nvSpPr>
        <p:spPr>
          <a:xfrm>
            <a:off x="8156448" y="5270602"/>
            <a:ext cx="3392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뭐 해요</a:t>
            </a:r>
            <a:r>
              <a:rPr lang="en-US" sz="2200" dirty="0">
                <a:solidFill>
                  <a:srgbClr val="14142B"/>
                </a:solidFill>
              </a:rPr>
              <a:t>?</a:t>
            </a:r>
            <a:endParaRPr lang="en-US" sz="2200" dirty="0"/>
          </a:p>
        </p:txBody>
      </p:sp>
      <p:sp>
        <p:nvSpPr>
          <p:cNvPr id="44" name="rev_14_caja"/>
          <p:cNvSpPr/>
          <p:nvPr/>
        </p:nvSpPr>
        <p:spPr>
          <a:xfrm>
            <a:off x="8174736" y="5718658"/>
            <a:ext cx="3355848" cy="362102"/>
          </a:xfrm>
          <a:prstGeom prst="roundRect">
            <a:avLst>
              <a:gd name="adj" fmla="val 3030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45" name="rev_14_txt"/>
          <p:cNvSpPr txBox="1"/>
          <p:nvPr/>
        </p:nvSpPr>
        <p:spPr>
          <a:xfrm>
            <a:off x="8202168" y="5718658"/>
            <a:ext cx="330098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노래해요</a:t>
            </a:r>
            <a:r>
              <a:rPr lang="en-US" sz="1800" b="1" dirty="0">
                <a:solidFill>
                  <a:srgbClr val="FFFFFF"/>
                </a:solidFill>
              </a:rPr>
              <a:t>.</a:t>
            </a:r>
            <a:endParaRPr lang="en-US" sz="180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7" grpId="0" animBg="1"/>
      <p:bldP spid="24" grpId="0" animBg="1"/>
      <p:bldP spid="31" grpId="0" animBg="1"/>
      <p:bldP spid="38" grpId="0" animBg="1"/>
      <p:bldP spid="4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</a:t>
            </a:r>
            <a:r>
              <a:rPr lang="en-US" sz="3000" b="1" dirty="0">
                <a:solidFill>
                  <a:srgbClr val="4236F6"/>
                </a:solidFill>
              </a:rPr>
              <a:t>?  </a:t>
            </a:r>
            <a:r>
              <a:rPr lang="en-US" sz="3000" b="1" dirty="0">
                <a:solidFill>
                  <a:srgbClr val="003478"/>
                </a:solidFill>
              </a:rPr>
              <a:t>La pregunta: ¿quién?</a:t>
            </a:r>
            <a:r>
              <a:rPr lang="en-US" sz="1500" b="1" i="1" dirty="0">
                <a:solidFill>
                  <a:srgbClr val="8A8DA0"/>
                </a:solidFill>
              </a:rPr>
              <a:t>   The question: who?</a:t>
            </a:r>
            <a:endParaRPr lang="en-US" sz="3000" dirty="0"/>
          </a:p>
        </p:txBody>
      </p:sp>
      <p:pic>
        <p:nvPicPr>
          <p:cNvPr id="3" name="imagen" descr="C:\Users\Chingu\AppData\Local\Temp\claude\C--Users-Chingu-Desktop-ACADEMIASEULWEB\d4111e1b-5523-44ea-97b2-b1a1d9545b9e\scratchpad\decks\cache\img_386e4ccc05df58f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4112" y="1508760"/>
            <a:ext cx="3886200" cy="4480560"/>
          </a:xfrm>
          <a:prstGeom prst="rect">
            <a:avLst/>
          </a:prstGeom>
        </p:spPr>
      </p:pic>
      <p:sp>
        <p:nvSpPr>
          <p:cNvPr id="4" name="panel"/>
          <p:cNvSpPr/>
          <p:nvPr/>
        </p:nvSpPr>
        <p:spPr>
          <a:xfrm>
            <a:off x="548640" y="1645920"/>
            <a:ext cx="6931152" cy="3108960"/>
          </a:xfrm>
          <a:prstGeom prst="roundRect">
            <a:avLst>
              <a:gd name="adj" fmla="val 8824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5" name="frase_ko"/>
          <p:cNvSpPr txBox="1"/>
          <p:nvPr/>
        </p:nvSpPr>
        <p:spPr>
          <a:xfrm>
            <a:off x="731520" y="1828800"/>
            <a:ext cx="65653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6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노래해요</a:t>
            </a:r>
            <a:r>
              <a:rPr lang="en-US" sz="6400" b="1" dirty="0">
                <a:solidFill>
                  <a:srgbClr val="4236F6"/>
                </a:solidFill>
              </a:rPr>
              <a:t>?</a:t>
            </a:r>
            <a:endParaRPr lang="en-US" sz="6400" dirty="0"/>
          </a:p>
        </p:txBody>
      </p:sp>
      <p:sp>
        <p:nvSpPr>
          <p:cNvPr id="6" name="Text 3"/>
          <p:cNvSpPr txBox="1"/>
          <p:nvPr/>
        </p:nvSpPr>
        <p:spPr>
          <a:xfrm>
            <a:off x="1051560" y="3657600"/>
            <a:ext cx="5742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2400" dirty="0">
                <a:solidFill>
                  <a:srgbClr val="5C5F6B"/>
                </a:solidFill>
              </a:rPr>
              <a:t>¿Quién canta?</a:t>
            </a:r>
            <a:endParaRPr lang="en-US" sz="2400" dirty="0"/>
          </a:p>
        </p:txBody>
      </p:sp>
      <p:pic>
        <p:nvPicPr>
          <p:cNvPr id="7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903720" y="4160520"/>
            <a:ext cx="384048" cy="384048"/>
          </a:xfrm>
          <a:prstGeom prst="rect">
            <a:avLst/>
          </a:prstGeom>
        </p:spPr>
      </p:pic>
      <p:sp>
        <p:nvSpPr>
          <p:cNvPr id="8" name="lista"/>
          <p:cNvSpPr txBox="1"/>
          <p:nvPr/>
        </p:nvSpPr>
        <p:spPr>
          <a:xfrm>
            <a:off x="548640" y="4937760"/>
            <a:ext cx="6931152" cy="1234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42B"/>
                </a:solidFill>
              </a:rPr>
              <a:t>Paso 1: escucha · paso 2: repite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누구예요</a:t>
            </a:r>
            <a:r>
              <a:rPr lang="en-US" sz="3000" b="1" dirty="0">
                <a:solidFill>
                  <a:srgbClr val="4236F6"/>
                </a:solidFill>
              </a:rPr>
              <a:t>? · </a:t>
            </a: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해요</a:t>
            </a:r>
            <a:r>
              <a:rPr lang="en-US" sz="3000" b="1" dirty="0">
                <a:solidFill>
                  <a:srgbClr val="4236F6"/>
                </a:solidFill>
              </a:rPr>
              <a:t>?  </a:t>
            </a: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¿누구 </a:t>
            </a:r>
            <a:r>
              <a:rPr lang="en-US" sz="3000" b="1" dirty="0">
                <a:solidFill>
                  <a:srgbClr val="003478"/>
                </a:solidFill>
              </a:rPr>
              <a:t>o </a:t>
            </a: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</a:t>
            </a:r>
            <a:r>
              <a:rPr lang="en-US" sz="3000" b="1" dirty="0">
                <a:solidFill>
                  <a:srgbClr val="003478"/>
                </a:solidFill>
              </a:rPr>
              <a:t>?</a:t>
            </a:r>
            <a:r>
              <a:rPr lang="ko-KR" altLang="en-US" sz="1500" b="1" i="1" dirty="0">
                <a:solidFill>
                  <a:srgbClr val="8A8DA0"/>
                </a:solidFill>
              </a:rPr>
              <a:t>   누구 or 누가?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 가</a:t>
            </a:r>
            <a:r>
              <a:rPr lang="en-US" sz="1800" i="1" dirty="0">
                <a:solidFill>
                  <a:srgbClr val="4236F6"/>
                </a:solidFill>
              </a:rPr>
              <a:t>, dos palabras se encogen: nunca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누구가 </a:t>
            </a:r>
            <a:r>
              <a:rPr lang="en-US" sz="1800" i="1" dirty="0">
                <a:solidFill>
                  <a:srgbClr val="4236F6"/>
                </a:solidFill>
              </a:rPr>
              <a:t>ni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저가</a:t>
            </a:r>
            <a:endParaRPr lang="en-US" sz="1800" dirty="0"/>
          </a:p>
        </p:txBody>
      </p:sp>
      <p:sp>
        <p:nvSpPr>
          <p:cNvPr id="4" name="col_0"/>
          <p:cNvSpPr/>
          <p:nvPr/>
        </p:nvSpPr>
        <p:spPr>
          <a:xfrm>
            <a:off x="548640" y="1874520"/>
            <a:ext cx="3483864" cy="4297680"/>
          </a:xfrm>
          <a:prstGeom prst="roundRect">
            <a:avLst>
              <a:gd name="adj" fmla="val 3937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Ya lo sabes: ¿quién es?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5176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4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누구예요</a:t>
            </a:r>
            <a:r>
              <a:rPr lang="en-US" sz="4600" b="1" dirty="0">
                <a:solidFill>
                  <a:srgbClr val="4236F6"/>
                </a:solidFill>
              </a:rPr>
              <a:t>?</a:t>
            </a:r>
            <a:endParaRPr lang="en-US" sz="4600" dirty="0"/>
          </a:p>
        </p:txBody>
      </p:sp>
      <p:sp>
        <p:nvSpPr>
          <p:cNvPr id="7" name="lista"/>
          <p:cNvSpPr txBox="1"/>
          <p:nvPr/>
        </p:nvSpPr>
        <p:spPr>
          <a:xfrm>
            <a:off x="731520" y="3657600"/>
            <a:ext cx="3118104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누구예요</a:t>
            </a:r>
            <a:r>
              <a:rPr lang="en-US" sz="1800" dirty="0">
                <a:solidFill>
                  <a:srgbClr val="14142B"/>
                </a:solidFill>
              </a:rPr>
              <a:t>?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이분은 누구예요</a:t>
            </a:r>
            <a:r>
              <a:rPr lang="en-US" sz="1800" dirty="0">
                <a:solidFill>
                  <a:srgbClr val="14142B"/>
                </a:solidFill>
              </a:rPr>
              <a:t>?</a:t>
            </a:r>
            <a:endParaRPr lang="en-US" sz="1800" dirty="0"/>
          </a:p>
        </p:txBody>
      </p:sp>
      <p:sp>
        <p:nvSpPr>
          <p:cNvPr id="8" name="col_1"/>
          <p:cNvSpPr/>
          <p:nvPr/>
        </p:nvSpPr>
        <p:spPr>
          <a:xfrm>
            <a:off x="4352544" y="1874520"/>
            <a:ext cx="3483864" cy="4297680"/>
          </a:xfrm>
          <a:prstGeom prst="roundRect">
            <a:avLst>
              <a:gd name="adj" fmla="val 3937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05740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Nuevo: ¿quién hace…?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265176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9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 </a:t>
            </a:r>
            <a:r>
              <a:rPr lang="en-US" sz="2900" b="1" dirty="0">
                <a:solidFill>
                  <a:srgbClr val="4236F6"/>
                </a:solidFill>
              </a:rPr>
              <a:t>+ </a:t>
            </a:r>
            <a:r>
              <a:rPr lang="ko-KR" altLang="en-US" sz="29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</a:t>
            </a:r>
            <a:r>
              <a:rPr lang="en-US" sz="2900" b="1" dirty="0">
                <a:solidFill>
                  <a:srgbClr val="4236F6"/>
                </a:solidFill>
              </a:rPr>
              <a:t>→ </a:t>
            </a:r>
            <a:r>
              <a:rPr lang="ko-KR" altLang="en-US" sz="29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</a:t>
            </a:r>
            <a:endParaRPr lang="en-US" sz="2900" dirty="0"/>
          </a:p>
        </p:txBody>
      </p:sp>
      <p:sp>
        <p:nvSpPr>
          <p:cNvPr id="11" name="lista"/>
          <p:cNvSpPr txBox="1"/>
          <p:nvPr/>
        </p:nvSpPr>
        <p:spPr>
          <a:xfrm>
            <a:off x="4535424" y="3657600"/>
            <a:ext cx="3118104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노래해요</a:t>
            </a:r>
            <a:r>
              <a:rPr lang="en-US" sz="1800" dirty="0">
                <a:solidFill>
                  <a:srgbClr val="14142B"/>
                </a:solidFill>
              </a:rPr>
              <a:t>?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자요</a:t>
            </a:r>
            <a:r>
              <a:rPr lang="en-US" sz="1800" dirty="0">
                <a:solidFill>
                  <a:srgbClr val="14142B"/>
                </a:solidFill>
              </a:rPr>
              <a:t>?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공부해요</a:t>
            </a:r>
            <a:r>
              <a:rPr lang="en-US" sz="1800" dirty="0">
                <a:solidFill>
                  <a:srgbClr val="14142B"/>
                </a:solidFill>
              </a:rPr>
              <a:t>?</a:t>
            </a:r>
            <a:endParaRPr lang="en-US" sz="1800" dirty="0"/>
          </a:p>
        </p:txBody>
      </p:sp>
      <p:sp>
        <p:nvSpPr>
          <p:cNvPr id="12" name="col_2"/>
          <p:cNvSpPr/>
          <p:nvPr/>
        </p:nvSpPr>
        <p:spPr>
          <a:xfrm>
            <a:off x="8156448" y="1874520"/>
            <a:ext cx="3483864" cy="4297680"/>
          </a:xfrm>
          <a:prstGeom prst="roundRect">
            <a:avLst>
              <a:gd name="adj" fmla="val 3937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85048" y="205740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Respuesta: yo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385048" y="265176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33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 </a:t>
            </a:r>
            <a:r>
              <a:rPr lang="en-US" sz="3300" b="1" dirty="0">
                <a:solidFill>
                  <a:srgbClr val="4236F6"/>
                </a:solidFill>
              </a:rPr>
              <a:t>+ </a:t>
            </a:r>
            <a:r>
              <a:rPr lang="ko-KR" altLang="en-US" sz="33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</a:t>
            </a:r>
            <a:r>
              <a:rPr lang="en-US" sz="3300" b="1" dirty="0">
                <a:solidFill>
                  <a:srgbClr val="4236F6"/>
                </a:solidFill>
              </a:rPr>
              <a:t>→ </a:t>
            </a:r>
            <a:r>
              <a:rPr lang="ko-KR" altLang="en-US" sz="33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제가</a:t>
            </a:r>
            <a:endParaRPr lang="en-US" sz="3300" dirty="0"/>
          </a:p>
        </p:txBody>
      </p:sp>
      <p:sp>
        <p:nvSpPr>
          <p:cNvPr id="15" name="lista"/>
          <p:cNvSpPr txBox="1"/>
          <p:nvPr/>
        </p:nvSpPr>
        <p:spPr>
          <a:xfrm>
            <a:off x="8339328" y="3657600"/>
            <a:ext cx="3118104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제가 노래해요</a:t>
            </a:r>
            <a:r>
              <a:rPr lang="en-US" sz="1800" dirty="0">
                <a:solidFill>
                  <a:srgbClr val="14142B"/>
                </a:solidFill>
              </a:rPr>
              <a:t>.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제가 공부해요</a:t>
            </a:r>
            <a:r>
              <a:rPr lang="en-US" sz="1800" dirty="0">
                <a:solidFill>
                  <a:srgbClr val="14142B"/>
                </a:solidFill>
              </a:rPr>
              <a:t>.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Corta: 저요</a:t>
            </a:r>
            <a:r>
              <a:rPr lang="en-US" sz="1800" dirty="0">
                <a:solidFill>
                  <a:srgbClr val="14142B"/>
                </a:solidFill>
              </a:rPr>
              <a:t>!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r>
              <a:rPr lang="en-US" sz="3000" b="1" dirty="0">
                <a:solidFill>
                  <a:srgbClr val="4236F6"/>
                </a:solidFill>
              </a:rPr>
              <a:t>/</a:t>
            </a: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 </a:t>
            </a: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 respuesta: ¿이 </a:t>
            </a:r>
            <a:r>
              <a:rPr lang="en-US" sz="3000" b="1" dirty="0">
                <a:solidFill>
                  <a:srgbClr val="003478"/>
                </a:solidFill>
              </a:rPr>
              <a:t>o </a:t>
            </a: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</a:t>
            </a:r>
            <a:r>
              <a:rPr lang="en-US" sz="3000" b="1" dirty="0">
                <a:solidFill>
                  <a:srgbClr val="003478"/>
                </a:solidFill>
              </a:rPr>
              <a:t>?</a:t>
            </a:r>
            <a:r>
              <a:rPr lang="ko-KR" altLang="en-US" sz="1500" b="1" i="1" dirty="0">
                <a:solidFill>
                  <a:srgbClr val="8A8DA0"/>
                </a:solidFill>
              </a:rPr>
              <a:t>   The answer: 이 or 가?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Quien hace la acción lleva 이 </a:t>
            </a:r>
            <a:r>
              <a:rPr lang="en-US" sz="1800" i="1" dirty="0">
                <a:solidFill>
                  <a:srgbClr val="4236F6"/>
                </a:solidFill>
              </a:rPr>
              <a:t>o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</a:t>
            </a:r>
            <a:r>
              <a:rPr lang="en-US" sz="1800" i="1" dirty="0">
                <a:solidFill>
                  <a:srgbClr val="4236F6"/>
                </a:solidFill>
              </a:rPr>
              <a:t>· misma regla que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이에요</a:t>
            </a:r>
            <a:r>
              <a:rPr lang="en-US" sz="1800" i="1" dirty="0">
                <a:solidFill>
                  <a:srgbClr val="4236F6"/>
                </a:solidFill>
              </a:rPr>
              <a:t>/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예요</a:t>
            </a:r>
            <a:endParaRPr lang="en-US" sz="1800" dirty="0"/>
          </a:p>
        </p:txBody>
      </p:sp>
      <p:sp>
        <p:nvSpPr>
          <p:cNvPr id="4" name="col_0"/>
          <p:cNvSpPr/>
          <p:nvPr/>
        </p:nvSpPr>
        <p:spPr>
          <a:xfrm>
            <a:off x="548640" y="1874520"/>
            <a:ext cx="3483864" cy="4297680"/>
          </a:xfrm>
          <a:prstGeom prst="roundRect">
            <a:avLst>
              <a:gd name="adj" fmla="val 3937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Termina en consonante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5176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이</a:t>
            </a:r>
            <a:endParaRPr lang="en-US" sz="5400" dirty="0"/>
          </a:p>
        </p:txBody>
      </p:sp>
      <p:sp>
        <p:nvSpPr>
          <p:cNvPr id="7" name="lista"/>
          <p:cNvSpPr txBox="1"/>
          <p:nvPr/>
        </p:nvSpPr>
        <p:spPr>
          <a:xfrm>
            <a:off x="731520" y="3657600"/>
            <a:ext cx="3118104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남편이 노래해요</a:t>
            </a:r>
            <a:r>
              <a:rPr lang="en-US" sz="1800" dirty="0">
                <a:solidFill>
                  <a:srgbClr val="14142B"/>
                </a:solidFill>
              </a:rPr>
              <a:t>.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동생이 자요</a:t>
            </a:r>
            <a:r>
              <a:rPr lang="en-US" sz="1800" dirty="0">
                <a:solidFill>
                  <a:srgbClr val="14142B"/>
                </a:solidFill>
              </a:rPr>
              <a:t>.</a:t>
            </a:r>
            <a:endParaRPr lang="en-US" sz="1800" dirty="0"/>
          </a:p>
        </p:txBody>
      </p:sp>
      <p:sp>
        <p:nvSpPr>
          <p:cNvPr id="8" name="col_1"/>
          <p:cNvSpPr/>
          <p:nvPr/>
        </p:nvSpPr>
        <p:spPr>
          <a:xfrm>
            <a:off x="4352544" y="1874520"/>
            <a:ext cx="3483864" cy="4297680"/>
          </a:xfrm>
          <a:prstGeom prst="roundRect">
            <a:avLst>
              <a:gd name="adj" fmla="val 3937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05740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Termina en vocal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265176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가</a:t>
            </a:r>
            <a:endParaRPr lang="en-US" sz="5400" dirty="0"/>
          </a:p>
        </p:txBody>
      </p:sp>
      <p:sp>
        <p:nvSpPr>
          <p:cNvPr id="11" name="lista"/>
          <p:cNvSpPr txBox="1"/>
          <p:nvPr/>
        </p:nvSpPr>
        <p:spPr>
          <a:xfrm>
            <a:off x="4535424" y="3657600"/>
            <a:ext cx="3118104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엄마가 요리해요</a:t>
            </a:r>
            <a:r>
              <a:rPr lang="en-US" sz="1800" dirty="0">
                <a:solidFill>
                  <a:srgbClr val="14142B"/>
                </a:solidFill>
              </a:rPr>
              <a:t>.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서아가 노래해요</a:t>
            </a:r>
            <a:r>
              <a:rPr lang="en-US" sz="1800" dirty="0">
                <a:solidFill>
                  <a:srgbClr val="14142B"/>
                </a:solidFill>
              </a:rPr>
              <a:t>.</a:t>
            </a:r>
            <a:endParaRPr lang="en-US" sz="1800" dirty="0"/>
          </a:p>
        </p:txBody>
      </p:sp>
      <p:sp>
        <p:nvSpPr>
          <p:cNvPr id="12" name="col_2"/>
          <p:cNvSpPr/>
          <p:nvPr/>
        </p:nvSpPr>
        <p:spPr>
          <a:xfrm>
            <a:off x="8156448" y="1874520"/>
            <a:ext cx="3483864" cy="4297680"/>
          </a:xfrm>
          <a:prstGeom prst="roundRect">
            <a:avLst>
              <a:gd name="adj" fmla="val 3937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85048" y="205740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2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Compañeros adultos: nombre + 씨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385048" y="265176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씨 </a:t>
            </a:r>
            <a:r>
              <a:rPr lang="en-US" sz="5400" b="1" dirty="0">
                <a:solidFill>
                  <a:srgbClr val="4236F6"/>
                </a:solidFill>
              </a:rPr>
              <a:t>+ </a:t>
            </a: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</a:t>
            </a:r>
            <a:endParaRPr lang="en-US" sz="5400" dirty="0"/>
          </a:p>
        </p:txBody>
      </p:sp>
      <p:sp>
        <p:nvSpPr>
          <p:cNvPr id="15" name="lista"/>
          <p:cNvSpPr txBox="1"/>
          <p:nvPr/>
        </p:nvSpPr>
        <p:spPr>
          <a:xfrm>
            <a:off x="8339328" y="3657600"/>
            <a:ext cx="3118104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 씨가 수영해요</a:t>
            </a:r>
            <a:r>
              <a:rPr lang="en-US" sz="1800" dirty="0">
                <a:solidFill>
                  <a:srgbClr val="14142B"/>
                </a:solidFill>
              </a:rPr>
              <a:t>.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마테오 씨가 운동해요</a:t>
            </a:r>
            <a:r>
              <a:rPr lang="en-US" sz="1800" dirty="0">
                <a:solidFill>
                  <a:srgbClr val="14142B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r>
              <a:rPr lang="en-US" sz="3000" b="1" dirty="0">
                <a:solidFill>
                  <a:srgbClr val="4236F6"/>
                </a:solidFill>
              </a:rPr>
              <a:t>? </a:t>
            </a: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</a:t>
            </a:r>
            <a:r>
              <a:rPr lang="en-US" sz="3000" b="1" dirty="0">
                <a:solidFill>
                  <a:srgbClr val="4236F6"/>
                </a:solidFill>
              </a:rPr>
              <a:t>?  </a:t>
            </a: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¿이 </a:t>
            </a:r>
            <a:r>
              <a:rPr lang="en-US" sz="3000" b="1" dirty="0">
                <a:solidFill>
                  <a:srgbClr val="003478"/>
                </a:solidFill>
              </a:rPr>
              <a:t>o </a:t>
            </a: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</a:t>
            </a:r>
            <a:r>
              <a:rPr lang="en-US" sz="3000" b="1" dirty="0">
                <a:solidFill>
                  <a:srgbClr val="003478"/>
                </a:solidFill>
              </a:rPr>
              <a:t>?</a:t>
            </a:r>
            <a:r>
              <a:rPr lang="ko-KR" altLang="en-US" sz="1500" b="1" i="1" dirty="0">
                <a:solidFill>
                  <a:srgbClr val="8A8DA0"/>
                </a:solidFill>
              </a:rPr>
              <a:t>   이 or 가?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Paso 3: práctica controlada · Di la palabra con su 이 </a:t>
            </a:r>
            <a:r>
              <a:rPr lang="en-US" sz="1800" i="1" dirty="0">
                <a:solidFill>
                  <a:srgbClr val="4236F6"/>
                </a:solidFill>
              </a:rPr>
              <a:t>o su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</a:t>
            </a:r>
            <a:endParaRPr lang="en-US" sz="1800" dirty="0"/>
          </a:p>
        </p:txBody>
      </p:sp>
      <p:sp>
        <p:nvSpPr>
          <p:cNvPr id="4" name="num_0"/>
          <p:cNvSpPr/>
          <p:nvPr/>
        </p:nvSpPr>
        <p:spPr>
          <a:xfrm>
            <a:off x="548640" y="203454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345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65960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엄마</a:t>
            </a:r>
            <a:endParaRPr lang="en-US" sz="2400" dirty="0"/>
          </a:p>
        </p:txBody>
      </p:sp>
      <p:sp>
        <p:nvSpPr>
          <p:cNvPr id="7" name="rev_15_caja"/>
          <p:cNvSpPr/>
          <p:nvPr/>
        </p:nvSpPr>
        <p:spPr>
          <a:xfrm>
            <a:off x="7498080" y="2002536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8" name="rev_15_txt"/>
          <p:cNvSpPr txBox="1"/>
          <p:nvPr/>
        </p:nvSpPr>
        <p:spPr>
          <a:xfrm>
            <a:off x="7589520" y="2002536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엄마가</a:t>
            </a:r>
            <a:endParaRPr lang="en-US" sz="2200" dirty="0"/>
          </a:p>
        </p:txBody>
      </p:sp>
      <p:sp>
        <p:nvSpPr>
          <p:cNvPr id="9" name="num_1"/>
          <p:cNvSpPr/>
          <p:nvPr/>
        </p:nvSpPr>
        <p:spPr>
          <a:xfrm>
            <a:off x="548640" y="2756916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7569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688336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동생</a:t>
            </a:r>
            <a:endParaRPr lang="en-US" sz="2400" dirty="0"/>
          </a:p>
        </p:txBody>
      </p:sp>
      <p:sp>
        <p:nvSpPr>
          <p:cNvPr id="12" name="rev_16_caja"/>
          <p:cNvSpPr/>
          <p:nvPr/>
        </p:nvSpPr>
        <p:spPr>
          <a:xfrm>
            <a:off x="7498080" y="2724912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3" name="rev_16_txt"/>
          <p:cNvSpPr txBox="1"/>
          <p:nvPr/>
        </p:nvSpPr>
        <p:spPr>
          <a:xfrm>
            <a:off x="7589520" y="2724912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동생이</a:t>
            </a:r>
            <a:endParaRPr lang="en-US" sz="2200" dirty="0"/>
          </a:p>
        </p:txBody>
      </p:sp>
      <p:sp>
        <p:nvSpPr>
          <p:cNvPr id="14" name="num_2"/>
          <p:cNvSpPr/>
          <p:nvPr/>
        </p:nvSpPr>
        <p:spPr>
          <a:xfrm>
            <a:off x="548640" y="3479292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4792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410712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남편</a:t>
            </a:r>
            <a:endParaRPr lang="en-US" sz="2400" dirty="0"/>
          </a:p>
        </p:txBody>
      </p:sp>
      <p:sp>
        <p:nvSpPr>
          <p:cNvPr id="17" name="rev_17_caja"/>
          <p:cNvSpPr/>
          <p:nvPr/>
        </p:nvSpPr>
        <p:spPr>
          <a:xfrm>
            <a:off x="7498080" y="3447288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8" name="rev_17_txt"/>
          <p:cNvSpPr txBox="1"/>
          <p:nvPr/>
        </p:nvSpPr>
        <p:spPr>
          <a:xfrm>
            <a:off x="7589520" y="3447288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남편이</a:t>
            </a:r>
            <a:endParaRPr lang="en-US" sz="2200" dirty="0"/>
          </a:p>
        </p:txBody>
      </p:sp>
      <p:sp>
        <p:nvSpPr>
          <p:cNvPr id="19" name="num_3"/>
          <p:cNvSpPr/>
          <p:nvPr/>
        </p:nvSpPr>
        <p:spPr>
          <a:xfrm>
            <a:off x="548640" y="4201668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2016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133088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</a:t>
            </a:r>
            <a:endParaRPr lang="en-US" sz="2400" dirty="0"/>
          </a:p>
        </p:txBody>
      </p:sp>
      <p:sp>
        <p:nvSpPr>
          <p:cNvPr id="22" name="rev_18_caja"/>
          <p:cNvSpPr/>
          <p:nvPr/>
        </p:nvSpPr>
        <p:spPr>
          <a:xfrm>
            <a:off x="7498080" y="4169664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3" name="rev_18_txt"/>
          <p:cNvSpPr txBox="1"/>
          <p:nvPr/>
        </p:nvSpPr>
        <p:spPr>
          <a:xfrm>
            <a:off x="7589520" y="4169664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친구가</a:t>
            </a:r>
            <a:endParaRPr lang="en-US" sz="2200" dirty="0"/>
          </a:p>
        </p:txBody>
      </p:sp>
      <p:sp>
        <p:nvSpPr>
          <p:cNvPr id="24" name="num_4"/>
          <p:cNvSpPr/>
          <p:nvPr/>
        </p:nvSpPr>
        <p:spPr>
          <a:xfrm>
            <a:off x="548640" y="4924044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49240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4855464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</a:t>
            </a:r>
            <a:endParaRPr lang="en-US" sz="2400" dirty="0"/>
          </a:p>
        </p:txBody>
      </p:sp>
      <p:sp>
        <p:nvSpPr>
          <p:cNvPr id="27" name="rev_19_caja"/>
          <p:cNvSpPr/>
          <p:nvPr/>
        </p:nvSpPr>
        <p:spPr>
          <a:xfrm>
            <a:off x="7498080" y="4892040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8" name="rev_19_txt"/>
          <p:cNvSpPr txBox="1"/>
          <p:nvPr/>
        </p:nvSpPr>
        <p:spPr>
          <a:xfrm>
            <a:off x="7589520" y="4892040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</a:t>
            </a:r>
            <a:endParaRPr lang="en-US" sz="2200" dirty="0"/>
          </a:p>
        </p:txBody>
      </p:sp>
      <p:sp>
        <p:nvSpPr>
          <p:cNvPr id="29" name="num_5"/>
          <p:cNvSpPr/>
          <p:nvPr/>
        </p:nvSpPr>
        <p:spPr>
          <a:xfrm>
            <a:off x="548640" y="564642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56464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188720" y="5577840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</a:t>
            </a:r>
            <a:endParaRPr lang="en-US" sz="2400" dirty="0"/>
          </a:p>
        </p:txBody>
      </p:sp>
      <p:sp>
        <p:nvSpPr>
          <p:cNvPr id="32" name="rev_20_caja"/>
          <p:cNvSpPr/>
          <p:nvPr/>
        </p:nvSpPr>
        <p:spPr>
          <a:xfrm>
            <a:off x="7498080" y="5614416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33" name="rev_20_txt"/>
          <p:cNvSpPr txBox="1"/>
          <p:nvPr/>
        </p:nvSpPr>
        <p:spPr>
          <a:xfrm>
            <a:off x="7589520" y="5614416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제가</a:t>
            </a:r>
            <a:endParaRPr lang="en-US" sz="22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8" grpId="0" animBg="1"/>
      <p:bldP spid="23" grpId="0" animBg="1"/>
      <p:bldP spid="28" grpId="0" animBg="1"/>
      <p:bldP spid="3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Para corregir: 아니요</a:t>
            </a:r>
            <a:r>
              <a:rPr lang="en-US" sz="3000" b="1" dirty="0">
                <a:solidFill>
                  <a:srgbClr val="003478"/>
                </a:solidFill>
              </a:rPr>
              <a:t>, …</a:t>
            </a:r>
            <a:r>
              <a:rPr lang="ko-KR" altLang="en-US" sz="1500" b="1" i="1" dirty="0">
                <a:solidFill>
                  <a:srgbClr val="8A8DA0"/>
                </a:solidFill>
              </a:rPr>
              <a:t>   To correct: 아니요, …</a:t>
            </a:r>
            <a:endParaRPr lang="en-US" sz="3000" dirty="0"/>
          </a:p>
        </p:txBody>
      </p:sp>
      <p:pic>
        <p:nvPicPr>
          <p:cNvPr id="3" name="imagen" descr="C:\Users\Chingu\AppData\Local\Temp\claude\C--Users-Chingu-Desktop-ACADEMIASEULWEB\d4111e1b-5523-44ea-97b2-b1a1d9545b9e\scratchpad\decks\cache\img_8adc9acd0ff8cda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4112" y="1508760"/>
            <a:ext cx="3886200" cy="4480560"/>
          </a:xfrm>
          <a:prstGeom prst="rect">
            <a:avLst/>
          </a:prstGeom>
        </p:spPr>
      </p:pic>
      <p:sp>
        <p:nvSpPr>
          <p:cNvPr id="4" name="panel"/>
          <p:cNvSpPr/>
          <p:nvPr/>
        </p:nvSpPr>
        <p:spPr>
          <a:xfrm>
            <a:off x="548640" y="1645920"/>
            <a:ext cx="6931152" cy="3108960"/>
          </a:xfrm>
          <a:prstGeom prst="roundRect">
            <a:avLst>
              <a:gd name="adj" fmla="val 8824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5" name="frase_ko"/>
          <p:cNvSpPr txBox="1"/>
          <p:nvPr/>
        </p:nvSpPr>
        <p:spPr>
          <a:xfrm>
            <a:off x="731520" y="1828800"/>
            <a:ext cx="65653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57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r>
              <a:rPr lang="en-US" sz="5700" b="1" dirty="0">
                <a:solidFill>
                  <a:srgbClr val="4236F6"/>
                </a:solidFill>
              </a:rPr>
              <a:t>, </a:t>
            </a:r>
            <a:r>
              <a:rPr lang="ko-KR" altLang="en-US" sz="57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서아가</a:t>
            </a:r>
            <a:endParaRPr lang="en-US" sz="5700" dirty="0"/>
          </a:p>
          <a:p>
            <a:pPr marL="0" indent="0" algn="ctr" eaLnBrk="1">
              <a:buNone/>
            </a:pPr>
            <a:r>
              <a:rPr lang="ko-KR" altLang="en-US" sz="57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노래해요</a:t>
            </a:r>
            <a:r>
              <a:rPr lang="en-US" sz="5700" b="1" dirty="0">
                <a:solidFill>
                  <a:srgbClr val="4236F6"/>
                </a:solidFill>
              </a:rPr>
              <a:t>.</a:t>
            </a:r>
            <a:endParaRPr lang="en-US" sz="5700" dirty="0"/>
          </a:p>
        </p:txBody>
      </p:sp>
      <p:sp>
        <p:nvSpPr>
          <p:cNvPr id="6" name="Text 3"/>
          <p:cNvSpPr txBox="1"/>
          <p:nvPr/>
        </p:nvSpPr>
        <p:spPr>
          <a:xfrm>
            <a:off x="1051560" y="3657600"/>
            <a:ext cx="5742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24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No, la que canta es 서아</a:t>
            </a:r>
            <a:r>
              <a:rPr lang="en-US" sz="2400" dirty="0">
                <a:solidFill>
                  <a:srgbClr val="5C5F6B"/>
                </a:solidFill>
              </a:rPr>
              <a:t>.</a:t>
            </a:r>
            <a:endParaRPr lang="en-US" sz="2400" dirty="0"/>
          </a:p>
        </p:txBody>
      </p:sp>
      <p:pic>
        <p:nvPicPr>
          <p:cNvPr id="7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903720" y="4160520"/>
            <a:ext cx="384048" cy="384048"/>
          </a:xfrm>
          <a:prstGeom prst="rect">
            <a:avLst/>
          </a:prstGeom>
        </p:spPr>
      </p:pic>
      <p:sp>
        <p:nvSpPr>
          <p:cNvPr id="8" name="lista"/>
          <p:cNvSpPr txBox="1"/>
          <p:nvPr/>
        </p:nvSpPr>
        <p:spPr>
          <a:xfrm>
            <a:off x="548640" y="4937760"/>
            <a:ext cx="6931152" cy="1234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도윤 씨가 노래해요</a:t>
            </a:r>
            <a:r>
              <a:rPr lang="en-US" sz="1800" dirty="0">
                <a:solidFill>
                  <a:srgbClr val="14142B"/>
                </a:solidFill>
              </a:rPr>
              <a:t>? → …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연습해요  </a:t>
            </a:r>
            <a:r>
              <a:rPr lang="en-US" sz="3000" b="1" dirty="0">
                <a:solidFill>
                  <a:srgbClr val="003478"/>
                </a:solidFill>
              </a:rPr>
              <a:t>Practica: ¿quién?</a:t>
            </a:r>
            <a:r>
              <a:rPr lang="en-US" sz="1500" b="1" i="1" dirty="0">
                <a:solidFill>
                  <a:srgbClr val="8A8DA0"/>
                </a:solidFill>
              </a:rPr>
              <a:t>   Practice: who?</a:t>
            </a:r>
            <a:endParaRPr lang="en-US" sz="3000" dirty="0"/>
          </a:p>
        </p:txBody>
      </p:sp>
      <p:pic>
        <p:nvPicPr>
          <p:cNvPr id="3" name="imagen" descr="C:\Users\Chingu\AppData\Local\Temp\claude\C--Users-Chingu-Desktop-ACADEMIASEULWEB\d4111e1b-5523-44ea-97b2-b1a1d9545b9e\scratchpad\decks\cache\img_d2538c07388ae3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112" y="1508760"/>
            <a:ext cx="3886200" cy="4480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25880"/>
            <a:ext cx="6931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Domingo en la casa de 도윤 </a:t>
            </a:r>
            <a:r>
              <a:rPr lang="en-US" sz="1800" i="1" dirty="0">
                <a:solidFill>
                  <a:srgbClr val="4236F6"/>
                </a:solidFill>
              </a:rPr>
              <a:t>· Mira la imagen y responde con la frase completa</a:t>
            </a:r>
            <a:endParaRPr lang="en-US" sz="1800" dirty="0"/>
          </a:p>
        </p:txBody>
      </p:sp>
      <p:sp>
        <p:nvSpPr>
          <p:cNvPr id="5" name="num_0"/>
          <p:cNvSpPr/>
          <p:nvPr/>
        </p:nvSpPr>
        <p:spPr>
          <a:xfrm>
            <a:off x="548640" y="203454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0345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965960"/>
            <a:ext cx="273551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요리해요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</p:txBody>
      </p:sp>
      <p:sp>
        <p:nvSpPr>
          <p:cNvPr id="8" name="rev_21_caja"/>
          <p:cNvSpPr/>
          <p:nvPr/>
        </p:nvSpPr>
        <p:spPr>
          <a:xfrm>
            <a:off x="4152839" y="2002536"/>
            <a:ext cx="3326953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9" name="rev_21_txt"/>
          <p:cNvSpPr txBox="1"/>
          <p:nvPr/>
        </p:nvSpPr>
        <p:spPr>
          <a:xfrm>
            <a:off x="4244279" y="2002536"/>
            <a:ext cx="3144073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도윤 씨가 요리해요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10" name="num_1"/>
          <p:cNvSpPr/>
          <p:nvPr/>
        </p:nvSpPr>
        <p:spPr>
          <a:xfrm>
            <a:off x="548640" y="2756916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7569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2688336"/>
            <a:ext cx="273551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일어나요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</p:txBody>
      </p:sp>
      <p:sp>
        <p:nvSpPr>
          <p:cNvPr id="13" name="rev_22_caja"/>
          <p:cNvSpPr/>
          <p:nvPr/>
        </p:nvSpPr>
        <p:spPr>
          <a:xfrm>
            <a:off x="4152839" y="2724912"/>
            <a:ext cx="3326953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4" name="rev_22_txt"/>
          <p:cNvSpPr txBox="1"/>
          <p:nvPr/>
        </p:nvSpPr>
        <p:spPr>
          <a:xfrm>
            <a:off x="4244279" y="2724912"/>
            <a:ext cx="3144073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서아가 일어나요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15" name="num_2"/>
          <p:cNvSpPr/>
          <p:nvPr/>
        </p:nvSpPr>
        <p:spPr>
          <a:xfrm>
            <a:off x="548640" y="3479292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34792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188720" y="3410712"/>
            <a:ext cx="273551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콩이가 뭐 해요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</p:txBody>
      </p:sp>
      <p:sp>
        <p:nvSpPr>
          <p:cNvPr id="18" name="rev_23_caja"/>
          <p:cNvSpPr/>
          <p:nvPr/>
        </p:nvSpPr>
        <p:spPr>
          <a:xfrm>
            <a:off x="4152839" y="3447288"/>
            <a:ext cx="3326953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9" name="rev_23_txt"/>
          <p:cNvSpPr txBox="1"/>
          <p:nvPr/>
        </p:nvSpPr>
        <p:spPr>
          <a:xfrm>
            <a:off x="4244279" y="3447288"/>
            <a:ext cx="3144073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콩이가 자요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20" name="num_3"/>
          <p:cNvSpPr/>
          <p:nvPr/>
        </p:nvSpPr>
        <p:spPr>
          <a:xfrm>
            <a:off x="548640" y="4201668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42016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188720" y="4133088"/>
            <a:ext cx="273551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전화해요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</p:txBody>
      </p:sp>
      <p:sp>
        <p:nvSpPr>
          <p:cNvPr id="23" name="rev_24_caja"/>
          <p:cNvSpPr/>
          <p:nvPr/>
        </p:nvSpPr>
        <p:spPr>
          <a:xfrm>
            <a:off x="4152839" y="4169664"/>
            <a:ext cx="3326953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4" name="rev_24_txt"/>
          <p:cNvSpPr txBox="1"/>
          <p:nvPr/>
        </p:nvSpPr>
        <p:spPr>
          <a:xfrm>
            <a:off x="4244279" y="4169664"/>
            <a:ext cx="3144073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 씨가 전화해요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25" name="num_4"/>
          <p:cNvSpPr/>
          <p:nvPr/>
        </p:nvSpPr>
        <p:spPr>
          <a:xfrm>
            <a:off x="548640" y="4924044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48640" y="49240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1188720" y="4855464"/>
            <a:ext cx="273551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공부해요</a:t>
            </a:r>
            <a:r>
              <a:rPr lang="en-US" sz="1900" dirty="0">
                <a:solidFill>
                  <a:srgbClr val="14142B"/>
                </a:solidFill>
              </a:rPr>
              <a:t>? </a:t>
            </a: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 씨</a:t>
            </a:r>
            <a:r>
              <a:rPr lang="en-US" sz="1900" dirty="0">
                <a:solidFill>
                  <a:srgbClr val="14142B"/>
                </a:solidFill>
              </a:rPr>
              <a:t>?</a:t>
            </a:r>
            <a:endParaRPr lang="en-US" sz="1900" dirty="0"/>
          </a:p>
        </p:txBody>
      </p:sp>
      <p:sp>
        <p:nvSpPr>
          <p:cNvPr id="28" name="rev_25_caja"/>
          <p:cNvSpPr/>
          <p:nvPr/>
        </p:nvSpPr>
        <p:spPr>
          <a:xfrm>
            <a:off x="4152839" y="4892040"/>
            <a:ext cx="3326953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9" name="rev_25_txt"/>
          <p:cNvSpPr txBox="1"/>
          <p:nvPr/>
        </p:nvSpPr>
        <p:spPr>
          <a:xfrm>
            <a:off x="4244279" y="4892040"/>
            <a:ext cx="3144073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r>
              <a:rPr lang="en-US" sz="1500" b="1" dirty="0">
                <a:solidFill>
                  <a:srgbClr val="FFFFFF"/>
                </a:solidFill>
              </a:rPr>
              <a:t>, </a:t>
            </a:r>
            <a:r>
              <a:rPr lang="ko-KR" alt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발렌티나 씨가 공부해요</a:t>
            </a:r>
            <a:r>
              <a:rPr lang="en-US" sz="1500" b="1" dirty="0">
                <a:solidFill>
                  <a:srgbClr val="FFFFFF"/>
                </a:solidFill>
              </a:rPr>
              <a:t>.</a:t>
            </a:r>
            <a:endParaRPr lang="en-US" sz="1500" dirty="0"/>
          </a:p>
        </p:txBody>
      </p:sp>
      <p:sp>
        <p:nvSpPr>
          <p:cNvPr id="30" name="num_5"/>
          <p:cNvSpPr/>
          <p:nvPr/>
        </p:nvSpPr>
        <p:spPr>
          <a:xfrm>
            <a:off x="548640" y="564642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48640" y="56464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1188720" y="5577840"/>
            <a:ext cx="273551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마테오 씨가 뭐 해요</a:t>
            </a:r>
            <a:r>
              <a:rPr lang="en-US" sz="1900" dirty="0">
                <a:solidFill>
                  <a:srgbClr val="14142B"/>
                </a:solidFill>
              </a:rPr>
              <a:t>?</a:t>
            </a:r>
            <a:endParaRPr lang="en-US" sz="1900" dirty="0"/>
          </a:p>
        </p:txBody>
      </p:sp>
      <p:sp>
        <p:nvSpPr>
          <p:cNvPr id="33" name="rev_26_caja"/>
          <p:cNvSpPr/>
          <p:nvPr/>
        </p:nvSpPr>
        <p:spPr>
          <a:xfrm>
            <a:off x="4152839" y="5614416"/>
            <a:ext cx="3326953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34" name="rev_26_txt"/>
          <p:cNvSpPr txBox="1"/>
          <p:nvPr/>
        </p:nvSpPr>
        <p:spPr>
          <a:xfrm>
            <a:off x="4244279" y="5614416"/>
            <a:ext cx="3144073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마테오 씨가 노래해요</a:t>
            </a:r>
            <a:r>
              <a:rPr lang="en-US" sz="2100" b="1" dirty="0">
                <a:solidFill>
                  <a:srgbClr val="FFFFFF"/>
                </a:solidFill>
              </a:rPr>
              <a:t>.</a:t>
            </a:r>
            <a:endParaRPr lang="en-US" sz="21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 animBg="1"/>
      <p:bldP spid="19" grpId="0" animBg="1"/>
      <p:bldP spid="24" grpId="0" animBg="1"/>
      <p:bldP spid="29" grpId="0" animBg="1"/>
      <p:bldP spid="3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연습해요  </a:t>
            </a:r>
            <a:r>
              <a:rPr lang="en-US" sz="3000" b="1" dirty="0">
                <a:solidFill>
                  <a:srgbClr val="003478"/>
                </a:solidFill>
              </a:rPr>
              <a:t>Completa</a:t>
            </a:r>
            <a:r>
              <a:rPr lang="en-US" sz="1500" b="1" i="1" dirty="0">
                <a:solidFill>
                  <a:srgbClr val="8A8DA0"/>
                </a:solidFill>
              </a:rPr>
              <a:t>   Fill in the blank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</a:t>
            </a:r>
            <a:r>
              <a:rPr lang="en-US" sz="1800" i="1" dirty="0">
                <a:solidFill>
                  <a:srgbClr val="4236F6"/>
                </a:solidFill>
              </a:rPr>
              <a:t>·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r>
              <a:rPr lang="en-US" sz="1800" i="1" dirty="0">
                <a:solidFill>
                  <a:srgbClr val="4236F6"/>
                </a:solidFill>
              </a:rPr>
              <a:t>/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</a:t>
            </a:r>
            <a:r>
              <a:rPr lang="en-US" sz="1800" i="1" dirty="0">
                <a:solidFill>
                  <a:srgbClr val="4236F6"/>
                </a:solidFill>
              </a:rPr>
              <a:t>·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제가 </a:t>
            </a:r>
            <a:r>
              <a:rPr lang="en-US" sz="1800" i="1" dirty="0">
                <a:solidFill>
                  <a:srgbClr val="4236F6"/>
                </a:solidFill>
              </a:rPr>
              <a:t>· Escribe en el chat lo que falta</a:t>
            </a:r>
            <a:endParaRPr lang="en-US" sz="1800" dirty="0"/>
          </a:p>
        </p:txBody>
      </p:sp>
      <p:sp>
        <p:nvSpPr>
          <p:cNvPr id="4" name="num_0"/>
          <p:cNvSpPr/>
          <p:nvPr/>
        </p:nvSpPr>
        <p:spPr>
          <a:xfrm>
            <a:off x="548640" y="203454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345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65960"/>
            <a:ext cx="5285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 전화해요</a:t>
            </a:r>
            <a:r>
              <a:rPr lang="en-US" sz="2000" dirty="0">
                <a:solidFill>
                  <a:srgbClr val="14142B"/>
                </a:solidFill>
              </a:rPr>
              <a:t>? —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 씨가 전화해요</a:t>
            </a:r>
            <a:r>
              <a:rPr lang="en-US" sz="2000" dirty="0">
                <a:solidFill>
                  <a:srgbClr val="14142B"/>
                </a:solidFill>
              </a:rPr>
              <a:t>.</a:t>
            </a:r>
            <a:endParaRPr lang="en-US" sz="2000" dirty="0"/>
          </a:p>
        </p:txBody>
      </p:sp>
      <p:sp>
        <p:nvSpPr>
          <p:cNvPr id="7" name="rev_27_caja"/>
          <p:cNvSpPr/>
          <p:nvPr/>
        </p:nvSpPr>
        <p:spPr>
          <a:xfrm>
            <a:off x="6702552" y="2002536"/>
            <a:ext cx="4937760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8" name="rev_27_txt"/>
          <p:cNvSpPr txBox="1"/>
          <p:nvPr/>
        </p:nvSpPr>
        <p:spPr>
          <a:xfrm>
            <a:off x="6793992" y="2002536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</a:t>
            </a:r>
            <a:endParaRPr lang="en-US" sz="2200" dirty="0"/>
          </a:p>
        </p:txBody>
      </p:sp>
      <p:sp>
        <p:nvSpPr>
          <p:cNvPr id="9" name="num_1"/>
          <p:cNvSpPr/>
          <p:nvPr/>
        </p:nvSpPr>
        <p:spPr>
          <a:xfrm>
            <a:off x="548640" y="2756916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7569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688336"/>
            <a:ext cx="5285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자요</a:t>
            </a:r>
            <a:r>
              <a:rPr lang="en-US" sz="2400" dirty="0">
                <a:solidFill>
                  <a:srgbClr val="14142B"/>
                </a:solidFill>
              </a:rPr>
              <a:t>? —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콩이</a:t>
            </a:r>
            <a:r>
              <a:rPr lang="en-US" sz="2400" dirty="0">
                <a:solidFill>
                  <a:srgbClr val="14142B"/>
                </a:solidFill>
              </a:rPr>
              <a:t>___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</p:txBody>
      </p:sp>
      <p:sp>
        <p:nvSpPr>
          <p:cNvPr id="12" name="rev_28_caja"/>
          <p:cNvSpPr/>
          <p:nvPr/>
        </p:nvSpPr>
        <p:spPr>
          <a:xfrm>
            <a:off x="6702552" y="2724912"/>
            <a:ext cx="4937760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3" name="rev_28_txt"/>
          <p:cNvSpPr txBox="1"/>
          <p:nvPr/>
        </p:nvSpPr>
        <p:spPr>
          <a:xfrm>
            <a:off x="6793992" y="272491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</a:t>
            </a:r>
            <a:r>
              <a:rPr lang="en-US" sz="2200" b="1" dirty="0">
                <a:solidFill>
                  <a:srgbClr val="FFFFFF"/>
                </a:solidFill>
              </a:rPr>
              <a:t>→ 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콩이가</a:t>
            </a:r>
            <a:endParaRPr lang="en-US" sz="2200" dirty="0"/>
          </a:p>
        </p:txBody>
      </p:sp>
      <p:sp>
        <p:nvSpPr>
          <p:cNvPr id="14" name="num_2"/>
          <p:cNvSpPr/>
          <p:nvPr/>
        </p:nvSpPr>
        <p:spPr>
          <a:xfrm>
            <a:off x="548640" y="3479292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4792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410712"/>
            <a:ext cx="5285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공부해요</a:t>
            </a:r>
            <a:r>
              <a:rPr lang="en-US" sz="2000" dirty="0">
                <a:solidFill>
                  <a:srgbClr val="14142B"/>
                </a:solidFill>
              </a:rPr>
              <a:t>? —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</a:t>
            </a:r>
            <a:r>
              <a:rPr lang="en-US" sz="2000" dirty="0">
                <a:solidFill>
                  <a:srgbClr val="14142B"/>
                </a:solidFill>
              </a:rPr>
              <a:t>___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공부해요</a:t>
            </a:r>
            <a:r>
              <a:rPr lang="en-US" sz="2000" dirty="0">
                <a:solidFill>
                  <a:srgbClr val="14142B"/>
                </a:solidFill>
              </a:rPr>
              <a:t>.</a:t>
            </a:r>
            <a:endParaRPr lang="en-US" sz="2000" dirty="0"/>
          </a:p>
        </p:txBody>
      </p:sp>
      <p:sp>
        <p:nvSpPr>
          <p:cNvPr id="17" name="rev_29_caja"/>
          <p:cNvSpPr/>
          <p:nvPr/>
        </p:nvSpPr>
        <p:spPr>
          <a:xfrm>
            <a:off x="6702552" y="3447288"/>
            <a:ext cx="4937760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8" name="rev_29_txt"/>
          <p:cNvSpPr txBox="1"/>
          <p:nvPr/>
        </p:nvSpPr>
        <p:spPr>
          <a:xfrm>
            <a:off x="6793992" y="3447288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</a:t>
            </a:r>
            <a:r>
              <a:rPr lang="en-US" sz="2200" b="1" dirty="0">
                <a:solidFill>
                  <a:srgbClr val="FFFFFF"/>
                </a:solidFill>
              </a:rPr>
              <a:t>→ 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학생이</a:t>
            </a:r>
            <a:endParaRPr lang="en-US" sz="2200" dirty="0"/>
          </a:p>
        </p:txBody>
      </p:sp>
      <p:sp>
        <p:nvSpPr>
          <p:cNvPr id="19" name="num_3"/>
          <p:cNvSpPr/>
          <p:nvPr/>
        </p:nvSpPr>
        <p:spPr>
          <a:xfrm>
            <a:off x="548640" y="4201668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2016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133088"/>
            <a:ext cx="5285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발렌티나 씨가 수영해요</a:t>
            </a:r>
            <a:r>
              <a:rPr lang="en-US" sz="1900" dirty="0">
                <a:solidFill>
                  <a:srgbClr val="14142B"/>
                </a:solidFill>
              </a:rPr>
              <a:t>? — </a:t>
            </a: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r>
              <a:rPr lang="en-US" sz="1900" dirty="0">
                <a:solidFill>
                  <a:srgbClr val="14142B"/>
                </a:solidFill>
              </a:rPr>
              <a:t>, </a:t>
            </a: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 씨</a:t>
            </a:r>
            <a:r>
              <a:rPr lang="en-US" sz="1900" dirty="0">
                <a:solidFill>
                  <a:srgbClr val="14142B"/>
                </a:solidFill>
              </a:rPr>
              <a:t>___ </a:t>
            </a: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수영해요</a:t>
            </a:r>
            <a:r>
              <a:rPr lang="en-US" sz="1900" dirty="0">
                <a:solidFill>
                  <a:srgbClr val="14142B"/>
                </a:solidFill>
              </a:rPr>
              <a:t>.</a:t>
            </a:r>
            <a:endParaRPr lang="en-US" sz="1900" dirty="0"/>
          </a:p>
        </p:txBody>
      </p:sp>
      <p:sp>
        <p:nvSpPr>
          <p:cNvPr id="22" name="rev_30_caja"/>
          <p:cNvSpPr/>
          <p:nvPr/>
        </p:nvSpPr>
        <p:spPr>
          <a:xfrm>
            <a:off x="6702552" y="4169664"/>
            <a:ext cx="4937760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3" name="rev_30_txt"/>
          <p:cNvSpPr txBox="1"/>
          <p:nvPr/>
        </p:nvSpPr>
        <p:spPr>
          <a:xfrm>
            <a:off x="6793992" y="4169664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</a:t>
            </a:r>
            <a:r>
              <a:rPr lang="en-US" sz="2200" b="1" dirty="0">
                <a:solidFill>
                  <a:srgbClr val="FFFFFF"/>
                </a:solidFill>
              </a:rPr>
              <a:t>→ 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 씨가</a:t>
            </a:r>
            <a:endParaRPr lang="en-US" sz="2200" dirty="0"/>
          </a:p>
        </p:txBody>
      </p:sp>
      <p:sp>
        <p:nvSpPr>
          <p:cNvPr id="24" name="num_4"/>
          <p:cNvSpPr/>
          <p:nvPr/>
        </p:nvSpPr>
        <p:spPr>
          <a:xfrm>
            <a:off x="548640" y="4924044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49240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4855464"/>
            <a:ext cx="5285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요리해요</a:t>
            </a:r>
            <a:r>
              <a:rPr lang="en-US" sz="2000" dirty="0">
                <a:solidFill>
                  <a:srgbClr val="14142B"/>
                </a:solidFill>
              </a:rPr>
              <a:t>? — (yo) ___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요리해요</a:t>
            </a:r>
            <a:r>
              <a:rPr lang="en-US" sz="2000" dirty="0">
                <a:solidFill>
                  <a:srgbClr val="14142B"/>
                </a:solidFill>
              </a:rPr>
              <a:t>.</a:t>
            </a:r>
            <a:endParaRPr lang="en-US" sz="2000" dirty="0"/>
          </a:p>
        </p:txBody>
      </p:sp>
      <p:sp>
        <p:nvSpPr>
          <p:cNvPr id="27" name="rev_31_caja"/>
          <p:cNvSpPr/>
          <p:nvPr/>
        </p:nvSpPr>
        <p:spPr>
          <a:xfrm>
            <a:off x="6702552" y="4892040"/>
            <a:ext cx="4937760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8" name="rev_31_txt"/>
          <p:cNvSpPr txBox="1"/>
          <p:nvPr/>
        </p:nvSpPr>
        <p:spPr>
          <a:xfrm>
            <a:off x="6793992" y="4892040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제가</a:t>
            </a:r>
            <a:endParaRPr lang="en-US" sz="2200" dirty="0"/>
          </a:p>
        </p:txBody>
      </p:sp>
      <p:sp>
        <p:nvSpPr>
          <p:cNvPr id="29" name="num_5"/>
          <p:cNvSpPr/>
          <p:nvPr/>
        </p:nvSpPr>
        <p:spPr>
          <a:xfrm>
            <a:off x="548640" y="564642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56464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188720" y="5577840"/>
            <a:ext cx="5285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일어나요</a:t>
            </a:r>
            <a:r>
              <a:rPr lang="en-US" sz="1900" dirty="0">
                <a:solidFill>
                  <a:srgbClr val="14142B"/>
                </a:solidFill>
              </a:rPr>
              <a:t>? — (mi hermano/a menor) ___ </a:t>
            </a: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일어나요</a:t>
            </a:r>
            <a:r>
              <a:rPr lang="en-US" sz="1900" dirty="0">
                <a:solidFill>
                  <a:srgbClr val="14142B"/>
                </a:solidFill>
              </a:rPr>
              <a:t>.</a:t>
            </a:r>
            <a:endParaRPr lang="en-US" sz="1900" dirty="0"/>
          </a:p>
        </p:txBody>
      </p:sp>
      <p:sp>
        <p:nvSpPr>
          <p:cNvPr id="32" name="rev_32_caja"/>
          <p:cNvSpPr/>
          <p:nvPr/>
        </p:nvSpPr>
        <p:spPr>
          <a:xfrm>
            <a:off x="6702552" y="5614416"/>
            <a:ext cx="4937760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33" name="rev_32_txt"/>
          <p:cNvSpPr txBox="1"/>
          <p:nvPr/>
        </p:nvSpPr>
        <p:spPr>
          <a:xfrm>
            <a:off x="6793992" y="5614416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동생이 </a:t>
            </a:r>
            <a:r>
              <a:rPr lang="en-US" sz="1500" b="1" dirty="0">
                <a:solidFill>
                  <a:srgbClr val="FFFFFF"/>
                </a:solidFill>
              </a:rPr>
              <a:t>(también vale: </a:t>
            </a:r>
            <a:r>
              <a:rPr lang="ko-KR" alt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남동생이 </a:t>
            </a:r>
            <a:r>
              <a:rPr lang="en-US" sz="1500" b="1" dirty="0">
                <a:solidFill>
                  <a:srgbClr val="FFFFFF"/>
                </a:solidFill>
              </a:rPr>
              <a:t>/ </a:t>
            </a:r>
            <a:r>
              <a:rPr lang="ko-KR" alt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여동생이</a:t>
            </a:r>
            <a:r>
              <a:rPr lang="en-US" sz="1500" b="1" dirty="0">
                <a:solidFill>
                  <a:srgbClr val="FFFFFF"/>
                </a:solidFill>
              </a:rPr>
              <a:t>)</a:t>
            </a:r>
            <a:endParaRPr lang="en-US" sz="15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8" grpId="0" animBg="1"/>
      <p:bldP spid="23" grpId="0" animBg="1"/>
      <p:bldP spid="28" grpId="0" animBg="1"/>
      <p:bldP spid="3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집  </a:t>
            </a:r>
            <a:r>
              <a:rPr lang="en-US" sz="3000" b="1" dirty="0">
                <a:solidFill>
                  <a:srgbClr val="003478"/>
                </a:solidFill>
              </a:rPr>
              <a:t>Ahora tú: tu casa</a:t>
            </a:r>
            <a:r>
              <a:rPr lang="en-US" sz="1500" b="1" i="1" dirty="0">
                <a:solidFill>
                  <a:srgbClr val="8A8DA0"/>
                </a:solidFill>
              </a:rPr>
              <a:t>   Your turn: your home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Paso 4: sobre ti, de verdad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요리해요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운동해요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노래해요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한국어를 공부해요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엄마가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아빠가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남편이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아내가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동생이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친구가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제가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Trampa: 누가 요리해요</a:t>
            </a:r>
            <a:r>
              <a:rPr lang="en-US" sz="2400" dirty="0">
                <a:solidFill>
                  <a:srgbClr val="14142B"/>
                </a:solidFill>
              </a:rPr>
              <a:t>?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동생</a:t>
            </a:r>
            <a:r>
              <a:rPr lang="en-US" sz="2400" dirty="0">
                <a:solidFill>
                  <a:srgbClr val="14142B"/>
                </a:solidFill>
              </a:rPr>
              <a:t>? →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r>
              <a:rPr lang="en-US" sz="2400" dirty="0">
                <a:solidFill>
                  <a:srgbClr val="14142B"/>
                </a:solidFill>
              </a:rPr>
              <a:t>,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제가 요리해요</a:t>
            </a:r>
            <a:r>
              <a:rPr lang="en-US" sz="2400" dirty="0">
                <a:solidFill>
                  <a:srgbClr val="14142B"/>
                </a:solidFill>
              </a:rPr>
              <a:t>!</a:t>
            </a:r>
            <a:endParaRPr lang="en-US" sz="24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6" name="ko_grande"/>
          <p:cNvSpPr txBox="1"/>
          <p:nvPr/>
        </p:nvSpPr>
        <p:spPr>
          <a:xfrm>
            <a:off x="8092440" y="187452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7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집</a:t>
            </a:r>
            <a:endParaRPr lang="en-US" sz="7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들어 봐요  </a:t>
            </a:r>
            <a:r>
              <a:rPr lang="en-US" sz="3000" b="1" dirty="0">
                <a:solidFill>
                  <a:srgbClr val="003478"/>
                </a:solidFill>
              </a:rPr>
              <a:t>Escucha: ¿quién?</a:t>
            </a:r>
            <a:r>
              <a:rPr lang="en-US" sz="1500" b="1" i="1" dirty="0">
                <a:solidFill>
                  <a:srgbClr val="8A8DA0"/>
                </a:solidFill>
              </a:rPr>
              <a:t>   Listen: who?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Jay lee 4 conversaciones cortas · cuidado con las trampas · Escucha y escribe en el chat el número y el nombre: 1 발렌티나</a:t>
            </a:r>
            <a:endParaRPr lang="en-US" sz="1800" dirty="0"/>
          </a:p>
        </p:txBody>
      </p:sp>
      <p:sp>
        <p:nvSpPr>
          <p:cNvPr id="4" name="card_0"/>
          <p:cNvSpPr/>
          <p:nvPr/>
        </p:nvSpPr>
        <p:spPr>
          <a:xfrm>
            <a:off x="548640" y="1965960"/>
            <a:ext cx="2635758" cy="4206240"/>
          </a:xfrm>
          <a:prstGeom prst="roundRect">
            <a:avLst>
              <a:gd name="adj" fmla="val 5204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5" name="item_img_0" descr="C:\Users\Chingu\AppData\Local\Temp\claude\C--Users-Chingu-Desktop-ACADEMIASEULWEB\d4111e1b-5523-44ea-97b2-b1a1d9545b9e\scratchpad\decks\cache\img_e0cc67f5f95326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06549"/>
            <a:ext cx="2416302" cy="2416302"/>
          </a:xfrm>
          <a:prstGeom prst="rect">
            <a:avLst/>
          </a:prstGeom>
        </p:spPr>
      </p:pic>
      <p:sp>
        <p:nvSpPr>
          <p:cNvPr id="6" name="num_0"/>
          <p:cNvSpPr/>
          <p:nvPr/>
        </p:nvSpPr>
        <p:spPr>
          <a:xfrm>
            <a:off x="640080" y="205740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617720"/>
            <a:ext cx="24528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노래해요</a:t>
            </a:r>
            <a:endParaRPr lang="en-US" sz="2200" dirty="0"/>
          </a:p>
        </p:txBody>
      </p:sp>
      <p:sp>
        <p:nvSpPr>
          <p:cNvPr id="9" name="rev_33_caja"/>
          <p:cNvSpPr/>
          <p:nvPr/>
        </p:nvSpPr>
        <p:spPr>
          <a:xfrm>
            <a:off x="658368" y="5440680"/>
            <a:ext cx="2416302" cy="640080"/>
          </a:xfrm>
          <a:prstGeom prst="roundRect">
            <a:avLst>
              <a:gd name="adj" fmla="val 1714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0" name="rev_33_txt"/>
          <p:cNvSpPr txBox="1"/>
          <p:nvPr/>
        </p:nvSpPr>
        <p:spPr>
          <a:xfrm>
            <a:off x="685800" y="5440680"/>
            <a:ext cx="23614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발렌티나 씨가 노래해요</a:t>
            </a:r>
            <a:r>
              <a:rPr lang="en-US" sz="1800" b="1" dirty="0">
                <a:solidFill>
                  <a:srgbClr val="FFFFFF"/>
                </a:solidFill>
              </a:rPr>
              <a:t>.</a:t>
            </a:r>
            <a:endParaRPr lang="en-US" sz="1800" dirty="0"/>
          </a:p>
        </p:txBody>
      </p:sp>
      <p:sp>
        <p:nvSpPr>
          <p:cNvPr id="11" name="card_1"/>
          <p:cNvSpPr/>
          <p:nvPr/>
        </p:nvSpPr>
        <p:spPr>
          <a:xfrm>
            <a:off x="3367278" y="1965960"/>
            <a:ext cx="2635758" cy="4206240"/>
          </a:xfrm>
          <a:prstGeom prst="roundRect">
            <a:avLst>
              <a:gd name="adj" fmla="val 5204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2" name="item_img_1" descr="C:\Users\Chingu\AppData\Local\Temp\claude\C--Users-Chingu-Desktop-ACADEMIASEULWEB\d4111e1b-5523-44ea-97b2-b1a1d9545b9e\scratchpad\decks\cache\img_e85092153a3739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7006" y="2106549"/>
            <a:ext cx="2416302" cy="2416302"/>
          </a:xfrm>
          <a:prstGeom prst="rect">
            <a:avLst/>
          </a:prstGeom>
        </p:spPr>
      </p:pic>
      <p:sp>
        <p:nvSpPr>
          <p:cNvPr id="13" name="num_1"/>
          <p:cNvSpPr/>
          <p:nvPr/>
        </p:nvSpPr>
        <p:spPr>
          <a:xfrm>
            <a:off x="3458718" y="205740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458718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3458718" y="4617720"/>
            <a:ext cx="24528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자요</a:t>
            </a:r>
            <a:endParaRPr lang="en-US" sz="2200" dirty="0"/>
          </a:p>
        </p:txBody>
      </p:sp>
      <p:sp>
        <p:nvSpPr>
          <p:cNvPr id="16" name="rev_34_caja"/>
          <p:cNvSpPr/>
          <p:nvPr/>
        </p:nvSpPr>
        <p:spPr>
          <a:xfrm>
            <a:off x="3477006" y="5440680"/>
            <a:ext cx="2416302" cy="640080"/>
          </a:xfrm>
          <a:prstGeom prst="roundRect">
            <a:avLst>
              <a:gd name="adj" fmla="val 1714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7" name="rev_34_txt"/>
          <p:cNvSpPr txBox="1"/>
          <p:nvPr/>
        </p:nvSpPr>
        <p:spPr>
          <a:xfrm>
            <a:off x="3504438" y="5440680"/>
            <a:ext cx="23614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마테오 씨가 자요</a:t>
            </a:r>
            <a:r>
              <a:rPr lang="en-US" sz="1800" b="1" dirty="0">
                <a:solidFill>
                  <a:srgbClr val="FFFFFF"/>
                </a:solidFill>
              </a:rPr>
              <a:t>.</a:t>
            </a:r>
            <a:endParaRPr lang="en-US" sz="1800" dirty="0"/>
          </a:p>
        </p:txBody>
      </p:sp>
      <p:sp>
        <p:nvSpPr>
          <p:cNvPr id="18" name="card_2"/>
          <p:cNvSpPr/>
          <p:nvPr/>
        </p:nvSpPr>
        <p:spPr>
          <a:xfrm>
            <a:off x="6185916" y="1965960"/>
            <a:ext cx="2635758" cy="4206240"/>
          </a:xfrm>
          <a:prstGeom prst="roundRect">
            <a:avLst>
              <a:gd name="adj" fmla="val 5204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9" name="item_img_2" descr="C:\Users\Chingu\AppData\Local\Temp\claude\C--Users-Chingu-Desktop-ACADEMIASEULWEB\d4111e1b-5523-44ea-97b2-b1a1d9545b9e\scratchpad\decks\cache\img_db1fc701a093966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5644" y="2106549"/>
            <a:ext cx="2416302" cy="2416302"/>
          </a:xfrm>
          <a:prstGeom prst="rect">
            <a:avLst/>
          </a:prstGeom>
        </p:spPr>
      </p:pic>
      <p:sp>
        <p:nvSpPr>
          <p:cNvPr id="20" name="num_2"/>
          <p:cNvSpPr/>
          <p:nvPr/>
        </p:nvSpPr>
        <p:spPr>
          <a:xfrm>
            <a:off x="6277356" y="205740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277356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6277356" y="4617720"/>
            <a:ext cx="24528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수영해요</a:t>
            </a:r>
            <a:endParaRPr lang="en-US" sz="2200" dirty="0"/>
          </a:p>
        </p:txBody>
      </p:sp>
      <p:sp>
        <p:nvSpPr>
          <p:cNvPr id="23" name="rev_35_caja"/>
          <p:cNvSpPr/>
          <p:nvPr/>
        </p:nvSpPr>
        <p:spPr>
          <a:xfrm>
            <a:off x="6295644" y="5440680"/>
            <a:ext cx="2416302" cy="640080"/>
          </a:xfrm>
          <a:prstGeom prst="roundRect">
            <a:avLst>
              <a:gd name="adj" fmla="val 1714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4" name="rev_35_txt"/>
          <p:cNvSpPr txBox="1"/>
          <p:nvPr/>
        </p:nvSpPr>
        <p:spPr>
          <a:xfrm>
            <a:off x="6323076" y="5440680"/>
            <a:ext cx="23614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도윤 씨가 수영해요</a:t>
            </a:r>
            <a:r>
              <a:rPr lang="en-US" sz="1800" b="1" dirty="0">
                <a:solidFill>
                  <a:srgbClr val="FFFFFF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card_3"/>
          <p:cNvSpPr/>
          <p:nvPr/>
        </p:nvSpPr>
        <p:spPr>
          <a:xfrm>
            <a:off x="9004554" y="1965960"/>
            <a:ext cx="2635758" cy="4206240"/>
          </a:xfrm>
          <a:prstGeom prst="roundRect">
            <a:avLst>
              <a:gd name="adj" fmla="val 5204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6" name="item_img_3" descr="C:\Users\Chingu\AppData\Local\Temp\claude\C--Users-Chingu-Desktop-ACADEMIASEULWEB\d4111e1b-5523-44ea-97b2-b1a1d9545b9e\scratchpad\decks\cache\img_2a92c7735583f90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4282" y="2106549"/>
            <a:ext cx="2416302" cy="2416302"/>
          </a:xfrm>
          <a:prstGeom prst="rect">
            <a:avLst/>
          </a:prstGeom>
        </p:spPr>
      </p:pic>
      <p:sp>
        <p:nvSpPr>
          <p:cNvPr id="27" name="num_3"/>
          <p:cNvSpPr/>
          <p:nvPr/>
        </p:nvSpPr>
        <p:spPr>
          <a:xfrm>
            <a:off x="9095994" y="205740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9095994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9095994" y="4617720"/>
            <a:ext cx="24528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공부해요</a:t>
            </a:r>
            <a:endParaRPr lang="en-US" sz="2200" dirty="0"/>
          </a:p>
        </p:txBody>
      </p:sp>
      <p:sp>
        <p:nvSpPr>
          <p:cNvPr id="30" name="rev_36_caja"/>
          <p:cNvSpPr/>
          <p:nvPr/>
        </p:nvSpPr>
        <p:spPr>
          <a:xfrm>
            <a:off x="9114282" y="5440680"/>
            <a:ext cx="2416302" cy="640080"/>
          </a:xfrm>
          <a:prstGeom prst="roundRect">
            <a:avLst>
              <a:gd name="adj" fmla="val 1714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31" name="rev_36_txt"/>
          <p:cNvSpPr txBox="1"/>
          <p:nvPr/>
        </p:nvSpPr>
        <p:spPr>
          <a:xfrm>
            <a:off x="9141714" y="5440680"/>
            <a:ext cx="23614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 씨가 공부해요</a:t>
            </a:r>
            <a:r>
              <a:rPr lang="en-US" sz="1800" b="1" dirty="0">
                <a:solidFill>
                  <a:srgbClr val="FFFFFF"/>
                </a:solidFill>
              </a:rPr>
              <a:t>.</a:t>
            </a:r>
            <a:endParaRPr lang="en-US" sz="18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7" grpId="0" animBg="1"/>
      <p:bldP spid="24" grpId="0" animBg="1"/>
      <p:bldP spid="3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빨리빨리</a:t>
            </a:r>
            <a:r>
              <a:rPr lang="en-US" sz="3000" b="1" dirty="0">
                <a:solidFill>
                  <a:srgbClr val="4236F6"/>
                </a:solidFill>
              </a:rPr>
              <a:t>!  </a:t>
            </a:r>
            <a:r>
              <a:rPr lang="en-US" sz="3000" b="1" dirty="0">
                <a:solidFill>
                  <a:srgbClr val="003478"/>
                </a:solidFill>
              </a:rPr>
              <a:t>Drill en cadena</a:t>
            </a:r>
            <a:r>
              <a:rPr lang="en-US" sz="1500" b="1" i="1" dirty="0">
                <a:solidFill>
                  <a:srgbClr val="8A8DA0"/>
                </a:solidFill>
              </a:rPr>
              <a:t>   Chain drill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Pregunta → responde → pregunta al siguiente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566928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Miren la casa de 도윤 </a:t>
            </a:r>
            <a:r>
              <a:rPr lang="en-US" sz="2400" dirty="0">
                <a:solidFill>
                  <a:srgbClr val="14142B"/>
                </a:solidFill>
              </a:rPr>
              <a:t>(domingo)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pregunta: 누가 </a:t>
            </a:r>
            <a:r>
              <a:rPr lang="en-US" sz="2400" dirty="0">
                <a:solidFill>
                  <a:srgbClr val="14142B"/>
                </a:solidFill>
              </a:rPr>
              <a:t>___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responde: 하나 씨가 </a:t>
            </a:r>
            <a:r>
              <a:rPr lang="en-US" sz="2400" dirty="0">
                <a:solidFill>
                  <a:srgbClr val="14142B"/>
                </a:solidFill>
              </a:rPr>
              <a:t>/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서아가 </a:t>
            </a:r>
            <a:r>
              <a:rPr lang="en-US" sz="2400" dirty="0">
                <a:solidFill>
                  <a:srgbClr val="14142B"/>
                </a:solidFill>
              </a:rPr>
              <a:t>/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콩이가 </a:t>
            </a:r>
            <a:r>
              <a:rPr lang="en-US" sz="2400" dirty="0">
                <a:solidFill>
                  <a:srgbClr val="14142B"/>
                </a:solidFill>
              </a:rPr>
              <a:t>___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4142B"/>
                </a:solidFill>
              </a:rPr>
              <a:t>B le pregunta a C, y así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Trampa: 누가 자요</a:t>
            </a:r>
            <a:r>
              <a:rPr lang="en-US" sz="2400" dirty="0">
                <a:solidFill>
                  <a:srgbClr val="14142B"/>
                </a:solidFill>
              </a:rPr>
              <a:t>?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마테오 씨</a:t>
            </a:r>
            <a:r>
              <a:rPr lang="en-US" sz="2400" dirty="0">
                <a:solidFill>
                  <a:srgbClr val="14142B"/>
                </a:solidFill>
              </a:rPr>
              <a:t>? →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r>
              <a:rPr lang="en-US" sz="2400" dirty="0">
                <a:solidFill>
                  <a:srgbClr val="14142B"/>
                </a:solidFill>
              </a:rPr>
              <a:t>,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콩이가 자요</a:t>
            </a:r>
            <a:r>
              <a:rPr lang="en-US" sz="2400" dirty="0">
                <a:solidFill>
                  <a:srgbClr val="14142B"/>
                </a:solidFill>
              </a:rPr>
              <a:t>!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4142B"/>
                </a:solidFill>
              </a:rPr>
              <a:t>Orden: el que Jay pega en el chat</a:t>
            </a:r>
            <a:endParaRPr lang="en-US" sz="2400" dirty="0"/>
          </a:p>
        </p:txBody>
      </p:sp>
      <p:sp>
        <p:nvSpPr>
          <p:cNvPr id="5" name="panel"/>
          <p:cNvSpPr/>
          <p:nvPr/>
        </p:nvSpPr>
        <p:spPr>
          <a:xfrm>
            <a:off x="6446520" y="1371600"/>
            <a:ext cx="5193792" cy="4800600"/>
          </a:xfrm>
          <a:prstGeom prst="roundRect">
            <a:avLst>
              <a:gd name="adj" fmla="val 4762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6" name="imagen" descr="C:\Users\Chingu\AppData\Local\Temp\claude\C--Users-Chingu-Desktop-ACADEMIASEULWEB\d4111e1b-5523-44ea-97b2-b1a1d9545b9e\scratchpad\decks\cache\img_35b71f062f6379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33" y="1463040"/>
            <a:ext cx="4005165" cy="4617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같이 해요  </a:t>
            </a:r>
            <a:r>
              <a:rPr lang="en-US" sz="3000" b="1" dirty="0">
                <a:solidFill>
                  <a:srgbClr val="003478"/>
                </a:solidFill>
              </a:rPr>
              <a:t>Mímica relámpago</a:t>
            </a:r>
            <a:r>
              <a:rPr lang="en-US" sz="1500" b="1" i="1" dirty="0">
                <a:solidFill>
                  <a:srgbClr val="8A8DA0"/>
                </a:solidFill>
              </a:rPr>
              <a:t>   Lightning charades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Jay le manda un verbo por privado a 3 personas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4142B"/>
                </a:solidFill>
              </a:rPr>
              <a:t>3 personas reciben un verbo por chat privado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4142B"/>
                </a:solidFill>
              </a:rPr>
              <a:t>Las 3 lo actúan a la vez, sin hablar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Jay pregunta: 누가 노래해요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Todos: ___ 씨가 노래해요</a:t>
            </a:r>
            <a:r>
              <a:rPr lang="en-US" sz="2400" dirty="0">
                <a:solidFill>
                  <a:srgbClr val="14142B"/>
                </a:solidFill>
              </a:rPr>
              <a:t>!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Trampa: 누가 자요</a:t>
            </a:r>
            <a:r>
              <a:rPr lang="en-US" sz="2400" dirty="0">
                <a:solidFill>
                  <a:srgbClr val="14142B"/>
                </a:solidFill>
              </a:rPr>
              <a:t>? ___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씨</a:t>
            </a:r>
            <a:r>
              <a:rPr lang="en-US" sz="2400" dirty="0">
                <a:solidFill>
                  <a:srgbClr val="14142B"/>
                </a:solidFill>
              </a:rPr>
              <a:t>? →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r>
              <a:rPr lang="en-US" sz="2400" dirty="0">
                <a:solidFill>
                  <a:srgbClr val="14142B"/>
                </a:solidFill>
              </a:rPr>
              <a:t>, ___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씨가 자요</a:t>
            </a:r>
            <a:r>
              <a:rPr lang="en-US" sz="2400" dirty="0">
                <a:solidFill>
                  <a:srgbClr val="14142B"/>
                </a:solidFill>
              </a:rPr>
              <a:t>!</a:t>
            </a:r>
            <a:endParaRPr lang="en-US" sz="24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6" name="ko_grande"/>
          <p:cNvSpPr txBox="1"/>
          <p:nvPr/>
        </p:nvSpPr>
        <p:spPr>
          <a:xfrm>
            <a:off x="8092440" y="187452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8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같이</a:t>
            </a:r>
            <a:endParaRPr lang="en-US" sz="8600" dirty="0"/>
          </a:p>
          <a:p>
            <a:pPr marL="0" indent="0" algn="ctr" eaLnBrk="1">
              <a:buNone/>
            </a:pPr>
            <a:r>
              <a:rPr lang="ko-KR" altLang="en-US" sz="8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해요</a:t>
            </a:r>
            <a:endParaRPr lang="en-US" sz="8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이야기해요  </a:t>
            </a:r>
            <a:r>
              <a:rPr lang="en-US" sz="3000" b="1" dirty="0">
                <a:solidFill>
                  <a:srgbClr val="003478"/>
                </a:solidFill>
              </a:rPr>
              <a:t>Salas: 19 minutos</a:t>
            </a:r>
            <a:r>
              <a:rPr lang="en-US" sz="1500" b="1" i="1" dirty="0">
                <a:solidFill>
                  <a:srgbClr val="8A8DA0"/>
                </a:solidFill>
              </a:rPr>
              <a:t>   Breakout rooms: 19 minutes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En parejas o tríos · Jay pega las instrucciones en el chat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이야기해요 </a:t>
            </a:r>
            <a:r>
              <a:rPr lang="en-US" sz="2200" dirty="0">
                <a:solidFill>
                  <a:srgbClr val="14142B"/>
                </a:solidFill>
              </a:rPr>
              <a:t>(8 min): tu casa · tabla «Para la sala» de tu hoja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요리해요</a:t>
            </a:r>
            <a:r>
              <a:rPr lang="en-US" sz="2200" dirty="0">
                <a:solidFill>
                  <a:srgbClr val="14142B"/>
                </a:solidFill>
              </a:rPr>
              <a:t>? ·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운동해요</a:t>
            </a:r>
            <a:r>
              <a:rPr lang="en-US" sz="2200" dirty="0">
                <a:solidFill>
                  <a:srgbClr val="14142B"/>
                </a:solidFill>
              </a:rPr>
              <a:t>? ·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노래해요</a:t>
            </a:r>
            <a:r>
              <a:rPr lang="en-US" sz="2200" dirty="0">
                <a:solidFill>
                  <a:srgbClr val="14142B"/>
                </a:solidFill>
              </a:rPr>
              <a:t>? ·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일해요</a:t>
            </a:r>
            <a:r>
              <a:rPr lang="en-US" sz="2200" dirty="0">
                <a:solidFill>
                  <a:srgbClr val="14142B"/>
                </a:solidFill>
              </a:rPr>
              <a:t>?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Anota las respuestas de tu compañero en 한글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같이 해요 </a:t>
            </a:r>
            <a:r>
              <a:rPr lang="en-US" sz="2200" dirty="0">
                <a:solidFill>
                  <a:srgbClr val="14142B"/>
                </a:solidFill>
              </a:rPr>
              <a:t>(8 min): encuentra las 4 diferencias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4142B"/>
                </a:solidFill>
              </a:rPr>
              <a:t>3 · Minuto libre (3 min): lo que quieran, en coreano</a:t>
            </a:r>
            <a:endParaRPr lang="en-US" sz="22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6" name="ko_grande"/>
          <p:cNvSpPr txBox="1"/>
          <p:nvPr/>
        </p:nvSpPr>
        <p:spPr>
          <a:xfrm>
            <a:off x="8092440" y="187452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4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이야기해요</a:t>
            </a:r>
            <a:endParaRPr lang="en-US" sz="4600" dirty="0"/>
          </a:p>
        </p:txBody>
      </p:sp>
      <p:pic>
        <p:nvPicPr>
          <p:cNvPr id="7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601200" y="4983480"/>
            <a:ext cx="384048" cy="3840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2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같이 해요  </a:t>
            </a:r>
            <a:r>
              <a:rPr lang="en-US" sz="2600" b="1" dirty="0">
                <a:solidFill>
                  <a:srgbClr val="003478"/>
                </a:solidFill>
              </a:rPr>
              <a:t>Encuentra las 4 diferencias</a:t>
            </a:r>
            <a:r>
              <a:rPr lang="en-US" sz="1500" b="1" i="1" dirty="0">
                <a:solidFill>
                  <a:srgbClr val="8A8DA0"/>
                </a:solidFill>
              </a:rPr>
              <a:t>   Spot the 4 differences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A abre solo la imagen A · B, solo la B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pregunta: 누가 수영해요</a:t>
            </a:r>
            <a:r>
              <a:rPr lang="en-US" sz="2200" dirty="0">
                <a:solidFill>
                  <a:srgbClr val="14142B"/>
                </a:solidFill>
              </a:rPr>
              <a:t>?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mira su imagen: ___ 씨가 </a:t>
            </a:r>
            <a:r>
              <a:rPr lang="en-US" sz="2200" dirty="0">
                <a:solidFill>
                  <a:srgbClr val="14142B"/>
                </a:solidFill>
              </a:rPr>
              <a:t>/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서아가 수영해요</a:t>
            </a:r>
            <a:r>
              <a:rPr lang="en-US" sz="2200" dirty="0">
                <a:solidFill>
                  <a:srgbClr val="14142B"/>
                </a:solidFill>
              </a:rPr>
              <a:t>.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¿Igual? 네</a:t>
            </a:r>
            <a:r>
              <a:rPr lang="en-US" sz="2200" dirty="0">
                <a:solidFill>
                  <a:srgbClr val="14142B"/>
                </a:solidFill>
              </a:rPr>
              <a:t>,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맞아요</a:t>
            </a:r>
            <a:r>
              <a:rPr lang="en-US" sz="2200" dirty="0">
                <a:solidFill>
                  <a:srgbClr val="14142B"/>
                </a:solidFill>
              </a:rPr>
              <a:t>! · ¿Distinto?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r>
              <a:rPr lang="en-US" sz="2200" dirty="0">
                <a:solidFill>
                  <a:srgbClr val="14142B"/>
                </a:solidFill>
              </a:rPr>
              <a:t>! ___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씨가 </a:t>
            </a:r>
            <a:r>
              <a:rPr lang="en-US" sz="2200" dirty="0">
                <a:solidFill>
                  <a:srgbClr val="14142B"/>
                </a:solidFill>
              </a:rPr>
              <a:t>/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서아가 </a:t>
            </a:r>
            <a:r>
              <a:rPr lang="en-US" sz="2200" dirty="0">
                <a:solidFill>
                  <a:srgbClr val="14142B"/>
                </a:solidFill>
              </a:rPr>
              <a:t>…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4142B"/>
                </a:solidFill>
              </a:rPr>
              <a:t>Una pregunta cada uno · 6 acciones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4142B"/>
                </a:solidFill>
              </a:rPr>
              <a:t>Anoten las diferencias · al final, miren las dos imágenes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4142B"/>
                </a:solidFill>
              </a:rPr>
              <a:t>En trío: C abre las dos y es el árbitro</a:t>
            </a:r>
            <a:endParaRPr lang="en-US" sz="22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6" name="ko_grande"/>
          <p:cNvSpPr txBox="1"/>
          <p:nvPr/>
        </p:nvSpPr>
        <p:spPr>
          <a:xfrm>
            <a:off x="8092440" y="187452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8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같이</a:t>
            </a:r>
            <a:endParaRPr lang="en-US" sz="8600" dirty="0"/>
          </a:p>
          <a:p>
            <a:pPr marL="0" indent="0" algn="ctr" eaLnBrk="1">
              <a:buNone/>
            </a:pPr>
            <a:r>
              <a:rPr lang="ko-KR" altLang="en-US" sz="8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해요</a:t>
            </a:r>
            <a:endParaRPr lang="en-US" sz="8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 </a:t>
            </a:r>
            <a:r>
              <a:rPr lang="en-US" sz="3000" b="1" dirty="0">
                <a:solidFill>
                  <a:srgbClr val="003478"/>
                </a:solidFill>
              </a:rPr>
              <a:t>Las 4 diferencias</a:t>
            </a:r>
            <a:r>
              <a:rPr lang="en-US" sz="1500" b="1" i="1" dirty="0">
                <a:solidFill>
                  <a:srgbClr val="8A8DA0"/>
                </a:solidFill>
              </a:rPr>
              <a:t>   The 4 differences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Las 4 primeras filas son las diferencias</a:t>
            </a:r>
            <a:endParaRPr lang="en-US" sz="1800" dirty="0"/>
          </a:p>
        </p:txBody>
      </p:sp>
      <p:graphicFrame>
        <p:nvGraphicFramePr>
          <p:cNvPr id="26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7493223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</a:t>
                      </a: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…?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Imagen 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Imagen B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 수영해요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하나 씨가 수영해요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마테오 씨가 수영해요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 운동해요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마테오 씨가 운동해요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하나 씨가 운동해요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 노래해요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서아가 노래해요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발렌티나 씨가 노래해요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 전화해요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발렌티나 씨가 전화해요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서아가 전화해요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 요리해요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도윤 씨가 요리해요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도윤 씨가 요리해요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 자요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콩이가 자요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콩이가 자요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문장  </a:t>
            </a:r>
            <a:r>
              <a:rPr lang="en-US" sz="3000" b="1" dirty="0">
                <a:solidFill>
                  <a:srgbClr val="003478"/>
                </a:solidFill>
              </a:rPr>
              <a:t>3 frases clave</a:t>
            </a:r>
            <a:r>
              <a:rPr lang="en-US" sz="1500" b="1" i="1" dirty="0">
                <a:solidFill>
                  <a:srgbClr val="8A8DA0"/>
                </a:solidFill>
              </a:rPr>
              <a:t>   3 key sentences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En coro · primero Jay, despacio</a:t>
            </a:r>
            <a:endParaRPr lang="en-US" sz="1800" dirty="0"/>
          </a:p>
        </p:txBody>
      </p:sp>
      <p:sp>
        <p:nvSpPr>
          <p:cNvPr id="4" name="card_0"/>
          <p:cNvSpPr/>
          <p:nvPr/>
        </p:nvSpPr>
        <p:spPr>
          <a:xfrm>
            <a:off x="548640" y="1874520"/>
            <a:ext cx="3544824" cy="4297680"/>
          </a:xfrm>
          <a:prstGeom prst="roundRect">
            <a:avLst>
              <a:gd name="adj" fmla="val 3869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2499970"/>
            <a:ext cx="3544824" cy="14612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노래해요</a:t>
            </a:r>
            <a:r>
              <a:rPr lang="en-US" sz="3400" b="1" dirty="0">
                <a:solidFill>
                  <a:srgbClr val="4236F6"/>
                </a:solidFill>
              </a:rPr>
              <a:t>?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3961181"/>
            <a:ext cx="3398520" cy="21378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¿Quién canta?</a:t>
            </a:r>
            <a:endParaRPr lang="en-US" sz="1600" dirty="0"/>
          </a:p>
        </p:txBody>
      </p:sp>
      <p:pic>
        <p:nvPicPr>
          <p:cNvPr id="7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3691128" y="1947672"/>
            <a:ext cx="310896" cy="310896"/>
          </a:xfrm>
          <a:prstGeom prst="rect">
            <a:avLst/>
          </a:prstGeom>
        </p:spPr>
      </p:pic>
      <p:sp>
        <p:nvSpPr>
          <p:cNvPr id="8" name="card_1"/>
          <p:cNvSpPr/>
          <p:nvPr/>
        </p:nvSpPr>
        <p:spPr>
          <a:xfrm>
            <a:off x="4322064" y="1874520"/>
            <a:ext cx="3544824" cy="4297680"/>
          </a:xfrm>
          <a:prstGeom prst="roundRect">
            <a:avLst>
              <a:gd name="adj" fmla="val 3869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4322064" y="2499970"/>
            <a:ext cx="3544824" cy="14612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동생이 노래해요</a:t>
            </a:r>
            <a:r>
              <a:rPr lang="en-US" sz="3000" b="1" dirty="0">
                <a:solidFill>
                  <a:srgbClr val="4236F6"/>
                </a:solidFill>
              </a:rPr>
              <a:t>.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4395216" y="3961181"/>
            <a:ext cx="3398520" cy="21378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Canta mi hermano (o mi hermana) menor.</a:t>
            </a:r>
            <a:endParaRPr lang="en-US" sz="1600" dirty="0"/>
          </a:p>
        </p:txBody>
      </p:sp>
      <p:pic>
        <p:nvPicPr>
          <p:cNvPr id="11" name="Media 1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7464552" y="1947672"/>
            <a:ext cx="310896" cy="310896"/>
          </a:xfrm>
          <a:prstGeom prst="rect">
            <a:avLst/>
          </a:prstGeom>
        </p:spPr>
      </p:pic>
      <p:sp>
        <p:nvSpPr>
          <p:cNvPr id="12" name="card_2"/>
          <p:cNvSpPr/>
          <p:nvPr/>
        </p:nvSpPr>
        <p:spPr>
          <a:xfrm>
            <a:off x="8095488" y="1874520"/>
            <a:ext cx="3544824" cy="4297680"/>
          </a:xfrm>
          <a:prstGeom prst="roundRect">
            <a:avLst>
              <a:gd name="adj" fmla="val 3869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8095488" y="2499970"/>
            <a:ext cx="3544824" cy="14612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4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r>
              <a:rPr lang="en-US" sz="4000" b="1" dirty="0">
                <a:solidFill>
                  <a:srgbClr val="4236F6"/>
                </a:solidFill>
              </a:rPr>
              <a:t>, </a:t>
            </a:r>
            <a:r>
              <a:rPr lang="ko-KR" altLang="en-US" sz="4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제가</a:t>
            </a:r>
            <a:endParaRPr lang="en-US" sz="4000" dirty="0"/>
          </a:p>
          <a:p>
            <a:pPr marL="0" indent="0" algn="ctr" eaLnBrk="1">
              <a:buNone/>
            </a:pPr>
            <a:r>
              <a:rPr lang="ko-KR" altLang="en-US" sz="4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노래해요</a:t>
            </a:r>
            <a:r>
              <a:rPr lang="en-US" sz="4000" b="1" dirty="0">
                <a:solidFill>
                  <a:srgbClr val="4236F6"/>
                </a:solidFill>
              </a:rPr>
              <a:t>!</a:t>
            </a:r>
            <a:endParaRPr lang="en-US" sz="4000" dirty="0"/>
          </a:p>
        </p:txBody>
      </p:sp>
      <p:sp>
        <p:nvSpPr>
          <p:cNvPr id="14" name="Text 10"/>
          <p:cNvSpPr txBox="1"/>
          <p:nvPr/>
        </p:nvSpPr>
        <p:spPr>
          <a:xfrm>
            <a:off x="8168640" y="3961181"/>
            <a:ext cx="3398520" cy="21378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¡No, soy yo quien canta!</a:t>
            </a:r>
            <a:endParaRPr lang="en-US" sz="1600" dirty="0"/>
          </a:p>
        </p:txBody>
      </p:sp>
      <p:pic>
        <p:nvPicPr>
          <p:cNvPr id="15" name="Media 2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237976" y="1947672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말해요  </a:t>
            </a:r>
            <a:r>
              <a:rPr lang="en-US" sz="3000" b="1" dirty="0">
                <a:solidFill>
                  <a:srgbClr val="003478"/>
                </a:solidFill>
              </a:rPr>
              <a:t>Errores del día</a:t>
            </a:r>
            <a:r>
              <a:rPr lang="en-US" sz="1500" b="1" i="1" dirty="0">
                <a:solidFill>
                  <a:srgbClr val="8A8DA0"/>
                </a:solidFill>
              </a:rPr>
              <a:t>   Today's mistakes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Así se dice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누구가 </a:t>
            </a:r>
            <a:r>
              <a:rPr lang="en-US" sz="2400" dirty="0">
                <a:solidFill>
                  <a:srgbClr val="14142B"/>
                </a:solidFill>
              </a:rPr>
              <a:t>→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저가 </a:t>
            </a:r>
            <a:r>
              <a:rPr lang="en-US" sz="2400" dirty="0">
                <a:solidFill>
                  <a:srgbClr val="14142B"/>
                </a:solidFill>
              </a:rPr>
              <a:t>→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제가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선생님가 </a:t>
            </a:r>
            <a:r>
              <a:rPr lang="en-US" sz="2400" dirty="0">
                <a:solidFill>
                  <a:srgbClr val="14142B"/>
                </a:solidFill>
              </a:rPr>
              <a:t>→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선생님이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¿Quién cocina? 저는 요리해요 </a:t>
            </a:r>
            <a:r>
              <a:rPr lang="en-US" sz="2400" dirty="0">
                <a:solidFill>
                  <a:srgbClr val="14142B"/>
                </a:solidFill>
              </a:rPr>
              <a:t>→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제가 요리해요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 씨 </a:t>
            </a:r>
            <a:r>
              <a:rPr lang="en-US" sz="2400" dirty="0">
                <a:solidFill>
                  <a:srgbClr val="14142B"/>
                </a:solidFill>
              </a:rPr>
              <a:t>para ti mismo ni para niños: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서아가 노래해요</a:t>
            </a:r>
            <a:endParaRPr lang="en-US" sz="24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6" name="ko_grande"/>
          <p:cNvSpPr txBox="1"/>
          <p:nvPr/>
        </p:nvSpPr>
        <p:spPr>
          <a:xfrm>
            <a:off x="8092440" y="187452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77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</a:t>
            </a:r>
            <a:endParaRPr lang="en-US" sz="7700" dirty="0"/>
          </a:p>
          <a:p>
            <a:pPr marL="0" indent="0" algn="ctr" eaLnBrk="1">
              <a:buNone/>
            </a:pPr>
            <a:r>
              <a:rPr lang="ko-KR" altLang="en-US" sz="77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말해요</a:t>
            </a:r>
            <a:endParaRPr lang="en-US" sz="7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써 봐요  </a:t>
            </a:r>
            <a:r>
              <a:rPr lang="en-US" sz="3000" b="1" dirty="0">
                <a:solidFill>
                  <a:srgbClr val="003478"/>
                </a:solidFill>
              </a:rPr>
              <a:t>Tarea</a:t>
            </a:r>
            <a:r>
              <a:rPr lang="en-US" sz="1500" b="1" i="1" dirty="0">
                <a:solidFill>
                  <a:srgbClr val="8A8DA0"/>
                </a:solidFill>
              </a:rPr>
              <a:t>   Homework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Unos 20 minutos · en tu hoja de la clase 2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4142B"/>
                </a:solidFill>
              </a:rPr>
              <a:t>1 · La hoja: ejercicios 1, 2 y 3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써 봐요</a:t>
            </a:r>
            <a:r>
              <a:rPr lang="en-US" sz="2200" dirty="0">
                <a:solidFill>
                  <a:srgbClr val="14142B"/>
                </a:solidFill>
              </a:rPr>
              <a:t>: 4 frases sobre tu casa, en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한글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4142B"/>
                </a:solidFill>
              </a:rPr>
              <a:t>3 · Audio de 30 s: las 3 frases clave + tus 4 frases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4142B"/>
                </a:solidFill>
              </a:rPr>
              <a:t>Mándalo por WhatsApp antes del lunes 2 de noviembre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 clase 3 abre con un quiz cortito de 누가</a:t>
            </a:r>
            <a:endParaRPr lang="en-US" sz="22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6" name="ko_grande"/>
          <p:cNvSpPr txBox="1"/>
          <p:nvPr/>
        </p:nvSpPr>
        <p:spPr>
          <a:xfrm>
            <a:off x="8092440" y="187452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7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써 봐요</a:t>
            </a:r>
            <a:endParaRPr lang="en-US" sz="7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1691640"/>
            <a:ext cx="10725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1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r>
              <a:rPr lang="en-US" sz="3000" b="1" dirty="0">
                <a:solidFill>
                  <a:srgbClr val="FFFFFF"/>
                </a:solidFill>
              </a:rPr>
              <a:t>! </a:t>
            </a:r>
            <a:r>
              <a:rPr lang="ko-KR" alt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화이팅</a:t>
            </a:r>
            <a:r>
              <a:rPr lang="en-US" sz="3000" b="1" dirty="0">
                <a:solidFill>
                  <a:srgbClr val="FFFFFF"/>
                </a:solidFill>
              </a:rPr>
              <a:t>!  ¡Gracias! ¡Ánimo!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2" hasCustomPrompt="1"/>
          </p:nvPr>
        </p:nvSpPr>
        <p:spPr>
          <a:xfrm>
            <a:off x="1463040" y="2971800"/>
            <a:ext cx="926287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800" dirty="0">
                <a:solidFill>
                  <a:srgbClr val="FFFFFF"/>
                </a:solidFill>
              </a:rPr>
              <a:t>Clase 3: miércoles 4 de noviembre · 21:00 · lección 2</a:t>
            </a:r>
            <a:endParaRPr lang="en-US" sz="2200" dirty="0"/>
          </a:p>
          <a:p>
            <a:pPr marL="0" indent="0" algn="ctr" eaLnBrk="1">
              <a:buNone/>
            </a:pPr>
            <a:r>
              <a:rPr lang="ko-KR" alt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Hoy: 누가 노래해요</a:t>
            </a:r>
            <a:r>
              <a:rPr lang="en-US" sz="1800" dirty="0">
                <a:solidFill>
                  <a:srgbClr val="FFFFFF"/>
                </a:solidFill>
              </a:rPr>
              <a:t>? · </a:t>
            </a:r>
            <a:r>
              <a:rPr lang="ko-KR" alt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제가 노래해요</a:t>
            </a:r>
            <a:r>
              <a:rPr lang="en-US" sz="1800" dirty="0">
                <a:solidFill>
                  <a:srgbClr val="FFFFFF"/>
                </a:solidFill>
              </a:rPr>
              <a:t>!</a:t>
            </a:r>
            <a:endParaRPr lang="en-US" sz="2200" dirty="0"/>
          </a:p>
          <a:p>
            <a:pPr marL="0" indent="0" algn="ctr" eaLnBrk="1">
              <a:buNone/>
            </a:pPr>
            <a:r>
              <a:rPr lang="ko-KR" alt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Clase 3: «y» entre personas (하고</a:t>
            </a:r>
            <a:r>
              <a:rPr lang="en-US" sz="1800" dirty="0">
                <a:solidFill>
                  <a:srgbClr val="FFFFFF"/>
                </a:solidFill>
              </a:rPr>
              <a:t>)</a:t>
            </a:r>
            <a:endParaRPr lang="en-US" sz="2200" dirty="0"/>
          </a:p>
          <a:p>
            <a:pPr marL="0" indent="0" algn="ctr" eaLnBrk="1">
              <a:buNone/>
            </a:pPr>
            <a:r>
              <a:rPr lang="ko-KR" alt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잘했어요</a:t>
            </a:r>
            <a:r>
              <a:rPr lang="en-US" sz="1800" dirty="0">
                <a:solidFill>
                  <a:srgbClr val="FFFFFF"/>
                </a:solidFill>
              </a:rPr>
              <a:t>!</a:t>
            </a:r>
            <a:endParaRPr lang="en-US" sz="2200" dirty="0"/>
          </a:p>
          <a:p>
            <a:pPr marL="0" indent="0" algn="ctr" eaLnBrk="1">
              <a:buNone/>
            </a:pPr>
            <a:r>
              <a:rPr lang="ko-KR" alt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 </a:t>
            </a:r>
            <a:r>
              <a:rPr lang="en-US" sz="1800" dirty="0">
                <a:solidFill>
                  <a:srgbClr val="FFFFFF"/>
                </a:solidFill>
              </a:rPr>
              <a:t>· </a:t>
            </a:r>
            <a:r>
              <a:rPr lang="ko-KR" alt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화이팅</a:t>
            </a:r>
            <a:endParaRPr lang="en-US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 </a:t>
            </a:r>
            <a:r>
              <a:rPr lang="en-US" sz="3000" b="1" dirty="0">
                <a:solidFill>
                  <a:srgbClr val="4236F6"/>
                </a:solidFill>
              </a:rPr>
              <a:t>A  </a:t>
            </a:r>
            <a:r>
              <a:rPr lang="en-US" sz="3000" b="1" dirty="0">
                <a:solidFill>
                  <a:srgbClr val="003478"/>
                </a:solidFill>
              </a:rPr>
              <a:t>Imagen A</a:t>
            </a:r>
            <a:r>
              <a:rPr lang="en-US" sz="1500" b="1" i="1" dirty="0">
                <a:solidFill>
                  <a:srgbClr val="8A8DA0"/>
                </a:solidFill>
              </a:rPr>
              <a:t>   Picture A</a:t>
            </a:r>
            <a:endParaRPr lang="en-US" sz="3000" dirty="0"/>
          </a:p>
        </p:txBody>
      </p:sp>
      <p:sp>
        <p:nvSpPr>
          <p:cNvPr id="3" name="lista"/>
          <p:cNvSpPr txBox="1"/>
          <p:nvPr/>
        </p:nvSpPr>
        <p:spPr>
          <a:xfrm>
            <a:off x="548640" y="1325880"/>
            <a:ext cx="5669280" cy="484632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/>
          <a:lstStyle/>
          <a:p>
            <a:pPr marL="0" indent="0" eaLnBrk="0">
              <a:buNone/>
            </a:pPr>
            <a:endParaRPr lang="en-US" dirty="0"/>
          </a:p>
        </p:txBody>
      </p:sp>
      <p:sp>
        <p:nvSpPr>
          <p:cNvPr id="4" name="ko_grande"/>
          <p:cNvSpPr txBox="1"/>
          <p:nvPr/>
        </p:nvSpPr>
        <p:spPr>
          <a:xfrm>
            <a:off x="548640" y="13258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4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 </a:t>
            </a:r>
            <a:r>
              <a:rPr lang="en-US" sz="4000" b="1" dirty="0">
                <a:solidFill>
                  <a:srgbClr val="4236F6"/>
                </a:solidFill>
              </a:rPr>
              <a:t>A</a:t>
            </a:r>
            <a:endParaRPr lang="en-US" sz="4000" dirty="0"/>
          </a:p>
        </p:txBody>
      </p:sp>
      <p:pic>
        <p:nvPicPr>
          <p:cNvPr id="5" name="imagen" descr="C:\Users\Chingu\AppData\Local\Temp\claude\C--Users-Chingu-Desktop-ACADEMIASEULWEB\d4111e1b-5523-44ea-97b2-b1a1d9545b9e\scratchpad\decks\cache\img_6d3f53327b9f06f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652" y="2148840"/>
            <a:ext cx="3489649" cy="40233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 </a:t>
            </a:r>
            <a:r>
              <a:rPr lang="en-US" sz="3000" b="1" dirty="0">
                <a:solidFill>
                  <a:srgbClr val="4236F6"/>
                </a:solidFill>
              </a:rPr>
              <a:t>B  </a:t>
            </a:r>
            <a:r>
              <a:rPr lang="en-US" sz="3000" b="1" dirty="0">
                <a:solidFill>
                  <a:srgbClr val="003478"/>
                </a:solidFill>
              </a:rPr>
              <a:t>Imagen B</a:t>
            </a:r>
            <a:r>
              <a:rPr lang="en-US" sz="1500" b="1" i="1" dirty="0">
                <a:solidFill>
                  <a:srgbClr val="8A8DA0"/>
                </a:solidFill>
              </a:rPr>
              <a:t>   Picture B</a:t>
            </a:r>
            <a:endParaRPr lang="en-US" sz="3000" dirty="0"/>
          </a:p>
        </p:txBody>
      </p:sp>
      <p:sp>
        <p:nvSpPr>
          <p:cNvPr id="3" name="lista"/>
          <p:cNvSpPr txBox="1"/>
          <p:nvPr/>
        </p:nvSpPr>
        <p:spPr>
          <a:xfrm>
            <a:off x="548640" y="1325880"/>
            <a:ext cx="5669280" cy="484632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/>
          <a:lstStyle/>
          <a:p>
            <a:pPr marL="0" indent="0" eaLnBrk="0">
              <a:buNone/>
            </a:pPr>
            <a:endParaRPr lang="en-US" dirty="0"/>
          </a:p>
        </p:txBody>
      </p:sp>
      <p:sp>
        <p:nvSpPr>
          <p:cNvPr id="4" name="ko_grande"/>
          <p:cNvSpPr txBox="1"/>
          <p:nvPr/>
        </p:nvSpPr>
        <p:spPr>
          <a:xfrm>
            <a:off x="548640" y="13258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4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 </a:t>
            </a:r>
            <a:r>
              <a:rPr lang="en-US" sz="4000" b="1" dirty="0">
                <a:solidFill>
                  <a:srgbClr val="4236F6"/>
                </a:solidFill>
              </a:rPr>
              <a:t>B</a:t>
            </a:r>
            <a:endParaRPr lang="en-US" sz="4000" dirty="0"/>
          </a:p>
        </p:txBody>
      </p:sp>
      <p:pic>
        <p:nvPicPr>
          <p:cNvPr id="5" name="imagen" descr="C:\Users\Chingu\AppData\Local\Temp\claude\C--Users-Chingu-Desktop-ACADEMIASEULWEB\d4111e1b-5523-44ea-97b2-b1a1d9545b9e\scratchpad\decks\cache\img_61de5f9cd648dc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652" y="2148840"/>
            <a:ext cx="3489649" cy="40233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31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ademia Seul">
  <a:themeElements>
    <a:clrScheme name="Academia Seul">
      <a:dk1>
        <a:srgbClr val="14142B"/>
      </a:dk1>
      <a:lt1>
        <a:srgbClr val="FFFFFF"/>
      </a:lt1>
      <a:dk2>
        <a:srgbClr val="003478"/>
      </a:dk2>
      <a:lt2>
        <a:srgbClr val="F1F0FE"/>
      </a:lt2>
      <a:accent1>
        <a:srgbClr val="4236F6"/>
      </a:accent1>
      <a:accent2>
        <a:srgbClr val="E8B84B"/>
      </a:accent2>
      <a:accent3>
        <a:srgbClr val="003478"/>
      </a:accent3>
      <a:accent4>
        <a:srgbClr val="8A83FF"/>
      </a:accent4>
      <a:accent5>
        <a:srgbClr val="5C5F6B"/>
      </a:accent5>
      <a:accent6>
        <a:srgbClr val="B8962E"/>
      </a:accent6>
      <a:hlink>
        <a:srgbClr val="4236F6"/>
      </a:hlink>
      <a:folHlink>
        <a:srgbClr val="003478"/>
      </a:folHlink>
    </a:clrScheme>
    <a:fontScheme name="Academia Seu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5783</Words>
  <Application>Microsoft Office PowerPoint</Application>
  <PresentationFormat>Widescreen</PresentationFormat>
  <Paragraphs>443</Paragraphs>
  <Slides>31</Slides>
  <Notes>31</Notes>
  <HiddenSlides>0</HiddenSlides>
  <MMClips>26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Malgun Gothic</vt:lpstr>
      <vt:lpstr>Arial</vt:lpstr>
      <vt:lpstr>Academia Seul</vt:lpstr>
      <vt:lpstr>Básico 2 · Clase 2</vt:lpstr>
      <vt:lpstr>오늘부터 한국어 2  Desde hoy: el libro 한국어 2</vt:lpstr>
      <vt:lpstr>복습 퀴즈  Quiz de la clase 1   Class 1 quiz</vt:lpstr>
      <vt:lpstr>뭐 해요?  Ya lo sabes: ¿qué hace?   You know this: what is he/she doing?</vt:lpstr>
      <vt:lpstr>한국어 친구들  Nuestros personajes   Our characters</vt:lpstr>
      <vt:lpstr>누가 수영해요?  La conversación   The conversation</vt:lpstr>
      <vt:lpstr>¿Entendiste?   Did you get it?</vt:lpstr>
      <vt:lpstr>배워 봐요  Palabras nuevas (1)   New words (1)</vt:lpstr>
      <vt:lpstr>배워 봐요  Palabras nuevas (2)   New words (2)</vt:lpstr>
      <vt:lpstr>읽어 봐요  Lean en voz alta   Read aloud</vt:lpstr>
      <vt:lpstr>뭐 해요?  Relámpago: ¿qué hace?   Lightning round: what is he/she doing?</vt:lpstr>
      <vt:lpstr>누가?  La pregunta: ¿quién?   The question: who?</vt:lpstr>
      <vt:lpstr>누구예요? · 누가 해요?  ¿누구 o 누가?   누구 or 누가?</vt:lpstr>
      <vt:lpstr>이/가  La respuesta: ¿이 o 가?   The answer: 이 or 가?</vt:lpstr>
      <vt:lpstr>이? 가?  ¿이 o 가?   이 or 가?</vt:lpstr>
      <vt:lpstr>Para corregir: 아니요, …   To correct: 아니요, …</vt:lpstr>
      <vt:lpstr>연습해요  Practica: ¿quién?   Practice: who?</vt:lpstr>
      <vt:lpstr>연습해요  Completa   Fill in the blank</vt:lpstr>
      <vt:lpstr>우리 집  Ahora tú: tu casa   Your turn: your home</vt:lpstr>
      <vt:lpstr>들어 봐요  Escucha: ¿quién?   Listen: who?</vt:lpstr>
      <vt:lpstr>빨리빨리!  Drill en cadena   Chain drill</vt:lpstr>
      <vt:lpstr>같이 해요  Mímica relámpago   Lightning charades</vt:lpstr>
      <vt:lpstr>이야기해요  Salas: 19 minutos   Breakout rooms: 19 minutes</vt:lpstr>
      <vt:lpstr>같이 해요  Encuentra las 4 diferencias   Spot the 4 differences</vt:lpstr>
      <vt:lpstr>정답  Las 4 diferencias   The 4 differences</vt:lpstr>
      <vt:lpstr>오늘의 문장  3 frases clave   3 key sentences</vt:lpstr>
      <vt:lpstr>이렇게 말해요  Errores del día   Today's mistakes</vt:lpstr>
      <vt:lpstr>써 봐요  Tarea   Homework</vt:lpstr>
      <vt:lpstr>감사합니다! 화이팅!  ¡Gracias! ¡Ánimo!</vt:lpstr>
      <vt:lpstr>그림 A  Imagen A   Picture A</vt:lpstr>
      <vt:lpstr>그림 B  Imagen B   Picture B</vt:lpstr>
    </vt:vector>
  </TitlesOfParts>
  <Company>Academia Seúl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Básico 2 (A1.2) · Semana 2 · 누가 노래해요? · ¿Quién canta?</dc:title>
  <dc:subject>PptxGenJS Presentation</dc:subject>
  <dc:creator>Academia Seúl</dc:creator>
  <cp:lastModifiedBy>Jae Hee Kim</cp:lastModifiedBy>
  <cp:revision>2</cp:revision>
  <dcterms:created xsi:type="dcterms:W3CDTF">2026-10-22T12:13:40Z</dcterms:created>
  <dcterms:modified xsi:type="dcterms:W3CDTF">2026-10-22T12:14:26Z</dcterms:modified>
</cp:coreProperties>
</file>