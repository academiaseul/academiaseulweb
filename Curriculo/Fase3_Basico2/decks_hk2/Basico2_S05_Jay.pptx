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defaultTextStyle>
    <a:lvl1pPr marL="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mana 5" id="{9D58D1A9-D138-2021-9AE7-A88DBD73CCE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1662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20:58–21:00. Abre la sala a las 20:58, inicia la grabación en la nube y deja esta portada compartida mientras entran. Ten junto al escritorio, para mostrarlos a la cámara: tus lentes (안경), un gorro (모자), un par de calcetines (양말), unas zapatillas (운동화) y, si hay en casa, un juguete o un peluche. Los usas en L6, L9, L13, L15 y L19. Referencia: 한국어 2, lecciones 4 y 5, págs. 36–55 (guía del profesor, págs. 38–57).
Fuente: Portada de la plantilla
Lámina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21:00–21:01 (1 min). Saluda a cada uno por su nombre, con leve inclinación. Pregunta a 2–3: «아침에 뭘 해요?» (repaso de la clase 4). Si alguien responde solo «수영해요», devuélvele la frase completa, «아, 아침에 수영해요!», y que la repita. No corrijas nada más: es para entrar en calor. Pide que tengan cerca su mochila, su estuche o lo que haya en su escritorio: lo van a mostrar en las salas.
Fuente: Nueva
Lámina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21:01–21:04 (3 min). Antes del quiz (20 s): agradece las tareas que llegaron y di el error más común, sin nombres (cada una ya la corregiste por WhatsApp). Quiz oral de la clase 4 (언제, ¿에 o nada?, ¿아침 o 내일?) y una pregunta de la clase 2 (누가). Lees la pregunta, cuentas 5 segundos, responden en el chat y la respuesta aparece con clic; el grupo la dice en coro. En la 3 y la 4 recuerda la regla de la clase 4: 오늘, 내일 y 매일 van sin 에; 아침, 저녁 y 주말, con 에. La 6 prepara la clase: «¿Se acuerdan? Después de 도윤 씨 va 가. Ese 이/가 vuelve hoy todo el rato.» Referencia: 한국어 2, lección 3, págs. 26–35, y lección 1, págs. 6–15.
Fuente: Nueva
Lámina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21:04–21:05 (1 min). «Hoy son dos lecciones cortas del libro: la 4, para decir qué tienes y qué no, y la 5, para decir que algo NO es eso. Las dos usan el 이/가 de la clase 2.» Si tienes el libro a mano, nombra solo «한국어 2, lecciones 4 y 5»; no muestres sus páginas a la cámara, porque la clase se graba en la nube. Referencia: 한국어 2, lección 4, pág. 36, y lección 5, pág. 46.
Fuente: Nueva (orden y estructuras de 한국어 2, lecciones 4 y 5)
Lámina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21:05–21:07 (2 min). Paso 1, escuchar: «하나 busca un regalo para 서아, la hija de 도윤: tiene 6 años.» Pon el audio de cada línea (o léela tú) dos veces, sin explicar. Pregunta en español: «¿Qué le regala 하나? ¿Por qué?» (el tren, porque 서아 no tiene). Paso 2, repetir: línea por línea, el grupo repite; después dos voluntarios leen 하나 y 도윤 (el orden que sugiere la guía: el profe lee, el grupo repite, dos leen los papeles). Si preguntan por 서아는: «es 'en cuanto a 서아', como en 저는». 서아는 곰 인형이 있어요? es natural y correcto: 는 marca de quién hablamos y 이/가, lo que tiene (igual que 저는 자동차가 없어요). No usar «서아 곰 인형 있어요?»: sin partículas también se entiende '¿Está el osito de 서아?'. La regla de 있어요 llega en L7. 선물 (regalo) y 그럼 (entonces) son palabras extra. Referencia: 한국어 2, lección 4, págs. 36 y 38; guía, pág. 38 (la escena del libro es otra: esta es original).
Imagen: incluida (dibujo de la casa).
Fuente: Nueva (situación original; función de 한국어 2, lección 4)
Lámina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21:07–21:10 (3 min). 배워 봐요. Primero solo la imagen y preguntas «이게 뭐예요?»: que adivinen. Luego aparece la palabra: la dices 2 veces y el grupo repite 2 (como sugiere la guía: imagen, palabra, 2–3 repeticiones). En una frase: «장난감 es juguete; 인형, muñeco o peluche; delante va qué es: 곰 인형 = peluche de oso.» Si tienes un juguete o un peluche en casa, muéstralo: «곰 인형이에요!». Cierra señalando las imágenes sin las palabras y que las digan solos. Pronunciación: 장난감 [장난깜]. Referencia: 한국어 2, lección 4, pág. 37; guía, pág. 39.
Imagen: incluida (dibujo de la casa).
Fuente: Nueva (vocabulario de 한국어 2, lección 4)
Lámina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21:10–21:12 (2 min). La regla en dos frases: «있어요 es tener o haber; 없어요, no tener o no haber. La cosa lleva 이/가, el mismo de 누가: 이 después de 받침 (인형이), 가 después de vocal (기차가).» Tercera fila: quien tiene va con 은/는, como en 저는 (저는…, 서아는…); lo que tiene va con 이/가. Repetir: lees cada columna y el grupo repite. Luego el error estrella del hispanohablante: «자동차를 있어요». En español 'tengo un auto' parece un verbo con objeto, como 'compro un auto'; en coreano es 'hay un auto (para mí)': por eso 이/가 y nunca 을/를. Y 'no tengo' no es 안 있어요: es 없어요. Referencia: 한국어 2, lección 4, pág. 38; guía, pág. 40.
Fuente: Nueva (estructura de 한국어 2, lección 4, pág. 38)
Lámina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21:12–21:13 (1 min). Leen en coro, dos veces. 있어요 [이써요]: la ㅆ pasa a la sílaba siguiente y suena tensa, sin aire; no es [이서요]. 없어요 [업써요]: la ㅂ se queda arriba y la ㅅ pasa como ㅆ. 장난감 [장난깜]: la ㄱ de 감 suena tensa. 선물은 [선무른]: la ㄹ se muda y suena suave, como la r de 'pero'. Exagera la ㅆ y que te imiten.
Fuente: Nueva
Lámina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21:13–21:14 (1 min). Pon el audio y dila tú: el grupo repite «뭐가 있어요?» 2 veces, con entonación de pregunta. «Para preguntar QUÉ tiene alguien: 뭐가 있어요? Es 뭐 + 가.» Toma tu mochila o mira tu escritorio y respóndete tú: «안경이 있어요. 컵이 있어요. 휴대폰이 있어요.» Pregunta a uno: «○○ 씨는 뭐가 있어요?» (= 'y tú, ¿qué tienes?') y que diga 1–2 cosas de su escritorio. Sirve también para '¿qué hay?' en una caja o en una pieza. Referencia: 한국어 2, lección 4, pág. 40 (이야기해요).
Imagen: incluida (dibujo de la casa).
Fuente: Nueva
Lámina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21:14–21:16 (2 min). Paso 3, práctica controlada. Muestra la repisa de 서아: hay un osito, un conejo y un auto; no hay tren, avión ni perrito (coincide con la escena de L5). Preguntas tú; responde el grupo en coro o uno por nombre, y la respuesta aparece con clic. En la 6 vuelve 하고 de la clase 3: «A하고 B하고 C가 있어요» (otras respuestas válidas, en la clave del plan). Si alguien dice «아니요, 안 있어요», repite sonriendo «아니요, 없어요» y que lo repita. Referencia: 한국어 2, lección 4, pág. 39 (연습해요; el ejercicio del libro es otro); guía, pág. 41.
Imagen: incluida (dibujo de la casa).
Fuente: Nueva (tipo de actividad: 연습해요, 한국어 2, lección 4, pág. 39)
Lámina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21:16–21:18 (2 min). Paso 4, sobre ti. Primero tú: «저는 자동차가 없어요. 자전거는 있어요.» (는 = 'en cambio'; ellos responden con 이/가) Luego una pregunta real a cada alumno («○○ 씨, 강아지가 있어요?»); quien responde le pregunta otra cosa al siguiente. Reacciona de verdad: «와! 강아지가 있어요? 이름이 뭐예요?» Recuerda: sin 장난감, 자동차 es un auto de verdad. En la calle, un coreano casi siempre dice 차: «차 있어요?»; en clase usamos 자동차 para no confundirlo con 차 = té. Si alguien no quiere hablar de su vida, que responda por 하나 o por 도윤 (도윤 tiene un perro, 콩이). Referencia: 한국어 2, lección 4, pág. 40 (이야기해요).
Fuente: Nueva (paso 4 del formato: sobre ti)
Lámina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21:18–21:20 (2 min). Paso 1 de la lección 5: «하나 le manda a Mateo fotos muy de cerca y él tiene que adivinar.» Audio dos veces, sin explicar. Pregunta: «¿Qué era la foto 1? ¿Y la 2?» (calcetines y un reloj). Luego repiten línea por línea y dos voluntarios leen 하나 y Mateo. Haz notar, sin explicar todavía: 모자가 아니에요, pero 휴대폰이 아니에요. Referencia: 한국어 2, lección 5, págs. 46 y 48; guía, pág. 48 (situación original).
Imagen: incluida (dibujo de la casa).
Fuente: Nueva (situación original; función de 한국어 2, lección 5)
Lámina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21:20–21:22 (2 min). 배워 봐요, igual que L6: imagen, «이게 뭐예요?», palabra, 2 y 2. 구두, 안경 y 모자 ya los conocen de Básico 1: van rápido. Usa tus cosas reales: te pones los lentes, «안경이에요»; muestras unos calcetines, «양말이에요». Aclara: 운동화 = zapatillas (en México, tenis); 구두 = zapatos de vestir; 안경 = lentes. En coreano casi nunca se marca el plural con cosas: 양말 son unos calcetines o diez pares (existe -들, como en 친구들, pero con objetos casi no se usa). 옷 (ropa) es palabra extra: vuelve en la clase 6 (옷 가게). Referencia: 한국어 2, lección 5, pág. 47; guía, pág. 49.
Imagen: incluida (dibujo de la casa).
Fuente: Nueva (vocabulario de 한국어 2, lección 5; 옷 extra y 모자 de repaso)
Lámina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21:22–21:24 (2 min). La regla en una frase: «Para decir que algo NO es, cambias 이에요/예요 por 이/가 아니에요, con el mismo 이 o 가 de hoy.» Lees una fila y el grupo repite las dos formas. Pronunciación: 양말이에요 [양마리에요], 양말이 아니에요 [양마리 아니에요]. Escritura: siempre 아니에요, aunque a veces suene [아니예요]. Y no confundir: 아니요 = 'no' para responder; 아니에요 = 'no es'. Referencia: 한국어 2, lección 5, pág. 48; guía, pág. 50.
Fuente: Nueva (estructura de 한국어 2, lección 5, pág. 48)
Lámina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21:24–21:26 (2 min). El punto clave del día, porque en español las dos son 'no'. 안경이 없어요 = no tengo lentes; 안경이 아니에요 = no son lentes (son otra cosa). Pregunta trampa: te tocas los lentes y preguntas «안경이 없어요?» → «아니요, 있어요!». Bonus sobre ti (30 s): «저는 학생이 아니에요. 선생님이에요.» y que 2 digan algo que NO son (저는 한국 사람이 아니에요, 의사가 아니에요…).
Fuente: Nueva
Lámina 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21:26–21:28 (2 min). Paso 3. Muestra la foto y lee la frase; escriben O (está bien) o X (está mal) en el chat. Con X, quien escribió primero dice la frase corregida en voz alta; la respuesta aparece con clic. La 4 es O pero ya trae 아니에요: que digan también qué es. Si alguien confirma con 네/아니요, en coreano es «네, 모자가 아니에요. 안경이에요.» (네 = 'lo que dices es cierto'); «아니요, 모자가 아니에요» se contradice. La 6 es trampa: es X porque SÍ es falda, y para rechazar la frase se dice «아니요, 치마예요!» (아니요 = 'lo que dices no es cierto'). Es la misma lógica de la pregunta trampa de L15 («안경이 없어요?» → «아니요, 있어요!»). Referencia: 한국어 2, lección 5, págs. 49–50 (연습해요; los ítems son originales); idea O/X de la guía, pág. 52.
Imagen: incluida (dibujo de la casa).
Fuente: Nueva (tipo de actividad: 연습해요, 한국어 2, lección 5, pág. 50; idea O/X de la guía, pág. 52)
Lámina 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21:28–21:30 (2 min). 들어 봐요, en vivo. Lees cada número 2 veces (normal y luego un poco más lento) y escriben la letra en el chat; la respuesta aparece con clic. Guion (no está en la lámina): 1) «운동화가 아니에요. 구두예요.» 2) «저는 자동차가 없어요. 자전거는 있어요.» 3) «치마가 아니에요. 바지예요.» 4) «서아는 곰 인형하고 토끼 인형이 있어요. 장난감 기차는 없어요.» 5) «하나 씨는 휴대폰하고 가방이 있어요. 안경은 없어요.» 6) «도윤 씨는 강아지가 있어요. 이름은 콩이예요.» Al final, repiten 3 de las frases detrás de ti. 는 = 'en cambio' (자전거는, 기차는, 안경은): solo para escuchar; ellos siguen practicando con 이/가. Referencia: 한국어 2, lección 4, pág. 41, y lección 5, pág. 52 (guion original); guía, págs. 43 y 54.
Fuente: Nueva (tipo de actividad: 들어 봐요, 한국어 2, lecciones 4 y 5; guion original)
Lámina 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21:30–21:32:30 (2 min 30 s). Drill en cadena, oral y rápido: preguntas al primero de la lista de Zoom «○○ 씨, 자동차가 있어요?»; responde la verdad y le pregunta al siguiente con otra palabra de la lámina, hasta volver a ti. Si alguien duda con 이/가, di tú la palabra con su partícula y que siga. Segunda vuelta más rápida, sin mirar la lámina.
Fuente: Idea de la guía, pág. 44 (같이 해요: preguntar y responder en ronda)
Lámina 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21:32:30–21:35 (2 min 30 s). Dos equipos: la primera mitad de la lista de Zoom es el equipo 이 y la otra, el equipo 가. Dices una palabra de la lámina («양말!») y responde en coro, con micrófono abierto, el equipo de esa partícula: «양말이 아니에요!». Si se adelanta el equipo equivocado, punto para el otro. Cierra con 3 preguntas reales señalando tus cosas: «이게 모자예요?» (son tus lentes) → «아니요, 모자가 아니에요. 안경이에요!».
Fuente: Idea de la guía, pág. 50 (dos equipos: 이 아니에요 / 가 아니에요)
Lámina 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21:35–21:36 (1 min). Antes de abrir salas explica las 3 partes: 1) 이야기해요, 5 min; 2) el juego, 9 min; 3) minuto libre, 3 min. Modela tú la parte 1 con tu mochila en 20 segundos (incluida la foto muy de cerca, como en la escena de 하나). 가방에 = en la mochila: es el 에 de lugar que ya conocen (집에 있어요, 회사에 가요). También vale 뭐가 있어요? señalando la mochila o el escritorio. Recuerda: en las salas no se ve tu pantalla; todo está en su hoja (parte 1, juego y minuto libre). Referencia: 한국어 2, lección 4, pág. 40, y lección 5, pág. 51 (이야기해요); guía, pág. 53.
Fuente: Nueva (tipo de actividad: 이야기해요, 한국어 2, lección 4, pág. 40, y lección 5, pág. 51)
Lámina 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21:36–21:37 (1 min). Explica el juego con un ejemplo rápido con un alumno. Ronda 1 (5 min, 있어요/없어요): cada uno anota en un papel 4 números del tablero sin mostrarlos; por turnos preguntan «___이/가 있어요?»; con «네, 있어요!» el que pregunta anota el acierto. Gana quien encuentra primero las 4 cosas del otro. Ronda 2 (4 min, 아니에요): uno piensa 1 cosa del tablero; el otro solo puede preguntar «___예요/이에요?» y la respuesta es «아니요, ___이/가 아니에요.» o «네!». Si adivina en 5 preguntas o menos, punto; luego cambian. Si alguien dice mal la partícula, el compañero dice «다시!» y se repite, sin castigo. En salas de 3, el tercero pregunta al que acaba de responder.
Fuente: Idea de la guía, pág. 44 (있어요? 없어요?: adivinar lo que tiene el otro) y pág. 56 (스무고개)
Lámina 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21:37 (al abrir salas). Pega en el chat este tablero en texto (está en el plan) y abre salas de 2 (una de 3 si son impares) con cierre automático a las 21:54 y aviso de 60 s. A las 21:42 manda por difusión «Parte 2 · 같이 해요! Ronda 1 (있어요/없어요), 5 min»; a las 21:47, «Ronda 2 · 아니에요, 4 min»; y a las 21:51, «Parte 3 · 자유 시간! Minuto libre, 3 min». Visita cada sala 2–3 minutos: escucha, no corrijas en el momento y anota 1–2 errores para L25.
Imagen: incluida (dibujo de la casa).
Fuente: Nueva
Lámina 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21:51–21:54, dentro de las salas (esta lámina la ven en su hoja). Solo coreano; si falta una palabra, la dicen en español y siguen en coreano. Si una sala se queda en silencio, entra y pregunta tú «가방에 뭐가 있어요?» a cada uno. A las 21:54 se cierran las salas solas.
Fuente: Nueva (formato de la casa: minuto libre)
Lámina 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21:55–21:56 (1 min). Vuelven: «잘했어요!». Cada frase en coro, 2 veces, con audio. La segunda vez, con gesto: niegas con la mano en 아니요. Si sobra tiempo, pregunta a uno «자동차가 있어요?» y que responda la verdad.
Fuente: Nueva
Lámina 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21:56–21:57:30 (1 min 30 s). Repasa los errores típicos y completa la última línea con 1 que oíste en las salas, sin decir quién. Mensaje: «Son errores normales de hispanohablante: en español todo es 'no' y 'tengo' lleva objeto; en coreano, no.»
Fuente: Nueva
Lámina 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21:57:30–21:59 (1 min 30 s). Muestra la hoja (ya está en el grupo de WhatsApp desde el martes 17: trae el tablero del juego). La tarea es corta: los 4 ejercicios, 5 frases sobre su mochila, 1 con 아니에요 y un audio de 20 segundos; foto y audio por privado antes del lunes 23 de noviembre. Responde los audios con una frase en coreano («와, 우산이 있어요!»). La próxima: miércoles 25 de noviembre, lección 6, 친구 집에서 장난감 배를 만들어요 (dónde se hace algo: 에서). Referencia: 한국어 2, lección 4, págs. 44–45, y lección 5, pág. 55 (써 봐요); guía, págs. 46–47 y 57.
Fuente: Nueva (tipo de actividad: 써 봐요, 한국어 2, lecciones 4 y 5)
Lámina 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21:59–22:00 (30 s). «La clase 6 abre con un quiz cortito de hoy: 있어요, 없어요, 아니에요 y 이/가.» (KO) «오늘 정말 잘했어요! 화이팅!» Con leve inclinación: «감사합니다!» → el grupo: «감사합니다!». A las 22:00, 'Finalizar reunión para todos' y detén la grabación.
Fuente: Nueva
Lámina 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PORTADA">
    <p:bg>
      <p:bgPr>
        <a:solidFill>
          <a:srgbClr val="0034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hingu/Desktop/ACADEMIASEULWEB/public/email/sell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60020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FFFFF"/>
                </a:solidFill>
              </a:rPr>
              <a:t>ACADEMIA SEÚL</a:t>
            </a: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40080" y="306324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44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640080" y="4160520"/>
            <a:ext cx="108813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rgbClr val="E8B84B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6" name="Text 1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3DA"/>
                </a:solidFill>
              </a:rPr>
              <a:t>Básico 2 (A1.2) · Semana 5 · Jay Kim (김재희) · Academia Seúl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rgbClr val="003478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pic>
        <p:nvPicPr>
          <p:cNvPr id="3" name="Image 0" descr="C:/Users/Chingu/Desktop/ACADEMIASEULWEB/public/email/sello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411480"/>
            <a:ext cx="502920" cy="502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DA0"/>
                </a:solidFill>
              </a:rPr>
              <a:t>Básico 2 (A1.2) · Semana 5 · Jay Kim (김재희) · Academia Seúl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CIERRE">
    <p:bg>
      <p:bgPr>
        <a:solidFill>
          <a:srgbClr val="423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hingu/Desktop/ACADEMIASEULWEB/public/email/sell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029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1691640"/>
            <a:ext cx="1072591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1463040" y="2971800"/>
            <a:ext cx="9262872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ext 0"/>
          <p:cNvSpPr txBox="1"/>
          <p:nvPr/>
        </p:nvSpPr>
        <p:spPr>
          <a:xfrm>
            <a:off x="731520" y="626364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D7F7"/>
                </a:solidFill>
              </a:rPr>
              <a:t>Básico 2 (A1.2) · Semana 5 · Jay Kim (김재희) · Academia Seúl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0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0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0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0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0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audio" Target="../media/media5.mp3"/><Relationship Id="rId13" Type="http://schemas.openxmlformats.org/officeDocument/2006/relationships/slideLayout" Target="../slideLayouts/slideLayout3.xml"/><Relationship Id="rId3" Type="http://schemas.microsoft.com/office/2007/relationships/media" Target="../media/media3.mp3"/><Relationship Id="rId7" Type="http://schemas.microsoft.com/office/2007/relationships/media" Target="../media/media5.mp3"/><Relationship Id="rId12" Type="http://schemas.openxmlformats.org/officeDocument/2006/relationships/audio" Target="../media/media7.mp3"/><Relationship Id="rId2" Type="http://schemas.openxmlformats.org/officeDocument/2006/relationships/audio" Target="../media/media2.mp3"/><Relationship Id="rId16" Type="http://schemas.openxmlformats.org/officeDocument/2006/relationships/image" Target="../media/image3.png"/><Relationship Id="rId1" Type="http://schemas.microsoft.com/office/2007/relationships/media" Target="../media/media2.mp3"/><Relationship Id="rId6" Type="http://schemas.openxmlformats.org/officeDocument/2006/relationships/audio" Target="../media/media4.mp3"/><Relationship Id="rId11" Type="http://schemas.microsoft.com/office/2007/relationships/media" Target="../media/media7.mp3"/><Relationship Id="rId5" Type="http://schemas.microsoft.com/office/2007/relationships/media" Target="../media/media4.mp3"/><Relationship Id="rId15" Type="http://schemas.openxmlformats.org/officeDocument/2006/relationships/image" Target="../media/image4.png"/><Relationship Id="rId10" Type="http://schemas.openxmlformats.org/officeDocument/2006/relationships/audio" Target="../media/media6.mp3"/><Relationship Id="rId4" Type="http://schemas.openxmlformats.org/officeDocument/2006/relationships/audio" Target="../media/media3.mp3"/><Relationship Id="rId9" Type="http://schemas.microsoft.com/office/2007/relationships/media" Target="../media/media6.mp3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audio" Target="../media/media11.mp3"/><Relationship Id="rId13" Type="http://schemas.microsoft.com/office/2007/relationships/media" Target="../media/media14.mp3"/><Relationship Id="rId18" Type="http://schemas.openxmlformats.org/officeDocument/2006/relationships/notesSlide" Target="../notesSlides/notesSlide6.xml"/><Relationship Id="rId26" Type="http://schemas.openxmlformats.org/officeDocument/2006/relationships/image" Target="../media/image11.png"/><Relationship Id="rId3" Type="http://schemas.microsoft.com/office/2007/relationships/media" Target="../media/media9.mp3"/><Relationship Id="rId21" Type="http://schemas.openxmlformats.org/officeDocument/2006/relationships/image" Target="../media/image6.png"/><Relationship Id="rId7" Type="http://schemas.microsoft.com/office/2007/relationships/media" Target="../media/media11.mp3"/><Relationship Id="rId12" Type="http://schemas.openxmlformats.org/officeDocument/2006/relationships/audio" Target="../media/media13.mp3"/><Relationship Id="rId17" Type="http://schemas.openxmlformats.org/officeDocument/2006/relationships/slideLayout" Target="../slideLayouts/slideLayout3.xml"/><Relationship Id="rId25" Type="http://schemas.openxmlformats.org/officeDocument/2006/relationships/image" Target="../media/image10.png"/><Relationship Id="rId2" Type="http://schemas.openxmlformats.org/officeDocument/2006/relationships/audio" Target="../media/media8.mp3"/><Relationship Id="rId16" Type="http://schemas.openxmlformats.org/officeDocument/2006/relationships/audio" Target="../media/media15.mp3"/><Relationship Id="rId20" Type="http://schemas.openxmlformats.org/officeDocument/2006/relationships/image" Target="../media/image3.png"/><Relationship Id="rId1" Type="http://schemas.microsoft.com/office/2007/relationships/media" Target="../media/media8.mp3"/><Relationship Id="rId6" Type="http://schemas.openxmlformats.org/officeDocument/2006/relationships/audio" Target="../media/media10.mp3"/><Relationship Id="rId11" Type="http://schemas.microsoft.com/office/2007/relationships/media" Target="../media/media13.mp3"/><Relationship Id="rId24" Type="http://schemas.openxmlformats.org/officeDocument/2006/relationships/image" Target="../media/image9.png"/><Relationship Id="rId5" Type="http://schemas.microsoft.com/office/2007/relationships/media" Target="../media/media10.mp3"/><Relationship Id="rId15" Type="http://schemas.microsoft.com/office/2007/relationships/media" Target="../media/media15.mp3"/><Relationship Id="rId23" Type="http://schemas.openxmlformats.org/officeDocument/2006/relationships/image" Target="../media/image8.png"/><Relationship Id="rId10" Type="http://schemas.openxmlformats.org/officeDocument/2006/relationships/audio" Target="../media/media12.mp3"/><Relationship Id="rId19" Type="http://schemas.openxmlformats.org/officeDocument/2006/relationships/image" Target="../media/image5.png"/><Relationship Id="rId4" Type="http://schemas.openxmlformats.org/officeDocument/2006/relationships/audio" Target="../media/media9.mp3"/><Relationship Id="rId9" Type="http://schemas.microsoft.com/office/2007/relationships/media" Target="../media/media12.mp3"/><Relationship Id="rId14" Type="http://schemas.openxmlformats.org/officeDocument/2006/relationships/audio" Target="../media/media14.mp3"/><Relationship Id="rId22" Type="http://schemas.openxmlformats.org/officeDocument/2006/relationships/image" Target="../media/image7.png"/><Relationship Id="rId27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6.mp3"/><Relationship Id="rId1" Type="http://schemas.microsoft.com/office/2007/relationships/media" Target="../media/media16.mp3"/><Relationship Id="rId6" Type="http://schemas.openxmlformats.org/officeDocument/2006/relationships/image" Target="../media/image3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7.mp3"/><Relationship Id="rId1" Type="http://schemas.microsoft.com/office/2007/relationships/media" Target="../media/media17.mp3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audio" Target="../media/media21.mp3"/><Relationship Id="rId13" Type="http://schemas.microsoft.com/office/2007/relationships/media" Target="../media/media24.mp3"/><Relationship Id="rId18" Type="http://schemas.openxmlformats.org/officeDocument/2006/relationships/notesSlide" Target="../notesSlides/notesSlide12.xml"/><Relationship Id="rId3" Type="http://schemas.microsoft.com/office/2007/relationships/media" Target="../media/media19.mp3"/><Relationship Id="rId7" Type="http://schemas.microsoft.com/office/2007/relationships/media" Target="../media/media21.mp3"/><Relationship Id="rId12" Type="http://schemas.openxmlformats.org/officeDocument/2006/relationships/audio" Target="../media/media23.mp3"/><Relationship Id="rId17" Type="http://schemas.openxmlformats.org/officeDocument/2006/relationships/slideLayout" Target="../slideLayouts/slideLayout3.xml"/><Relationship Id="rId2" Type="http://schemas.openxmlformats.org/officeDocument/2006/relationships/audio" Target="../media/media18.mp3"/><Relationship Id="rId16" Type="http://schemas.openxmlformats.org/officeDocument/2006/relationships/audio" Target="../media/media25.mp3"/><Relationship Id="rId20" Type="http://schemas.openxmlformats.org/officeDocument/2006/relationships/image" Target="../media/image3.png"/><Relationship Id="rId1" Type="http://schemas.microsoft.com/office/2007/relationships/media" Target="../media/media18.mp3"/><Relationship Id="rId6" Type="http://schemas.openxmlformats.org/officeDocument/2006/relationships/audio" Target="../media/media20.mp3"/><Relationship Id="rId11" Type="http://schemas.microsoft.com/office/2007/relationships/media" Target="../media/media23.mp3"/><Relationship Id="rId5" Type="http://schemas.microsoft.com/office/2007/relationships/media" Target="../media/media20.mp3"/><Relationship Id="rId15" Type="http://schemas.microsoft.com/office/2007/relationships/media" Target="../media/media25.mp3"/><Relationship Id="rId10" Type="http://schemas.openxmlformats.org/officeDocument/2006/relationships/audio" Target="../media/media22.mp3"/><Relationship Id="rId19" Type="http://schemas.openxmlformats.org/officeDocument/2006/relationships/image" Target="../media/image15.png"/><Relationship Id="rId4" Type="http://schemas.openxmlformats.org/officeDocument/2006/relationships/audio" Target="../media/media19.mp3"/><Relationship Id="rId9" Type="http://schemas.microsoft.com/office/2007/relationships/media" Target="../media/media22.mp3"/><Relationship Id="rId14" Type="http://schemas.openxmlformats.org/officeDocument/2006/relationships/audio" Target="../media/media24.mp3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audio" Target="../media/media29.mp3"/><Relationship Id="rId13" Type="http://schemas.microsoft.com/office/2007/relationships/media" Target="../media/media32.mp3"/><Relationship Id="rId18" Type="http://schemas.openxmlformats.org/officeDocument/2006/relationships/notesSlide" Target="../notesSlides/notesSlide13.xml"/><Relationship Id="rId26" Type="http://schemas.openxmlformats.org/officeDocument/2006/relationships/image" Target="../media/image22.png"/><Relationship Id="rId3" Type="http://schemas.microsoft.com/office/2007/relationships/media" Target="../media/media27.mp3"/><Relationship Id="rId21" Type="http://schemas.openxmlformats.org/officeDocument/2006/relationships/image" Target="../media/image17.png"/><Relationship Id="rId7" Type="http://schemas.microsoft.com/office/2007/relationships/media" Target="../media/media29.mp3"/><Relationship Id="rId12" Type="http://schemas.openxmlformats.org/officeDocument/2006/relationships/audio" Target="../media/media31.mp3"/><Relationship Id="rId17" Type="http://schemas.openxmlformats.org/officeDocument/2006/relationships/slideLayout" Target="../slideLayouts/slideLayout3.xml"/><Relationship Id="rId25" Type="http://schemas.openxmlformats.org/officeDocument/2006/relationships/image" Target="../media/image21.png"/><Relationship Id="rId2" Type="http://schemas.openxmlformats.org/officeDocument/2006/relationships/audio" Target="../media/media26.mp3"/><Relationship Id="rId16" Type="http://schemas.openxmlformats.org/officeDocument/2006/relationships/audio" Target="../media/media33.mp3"/><Relationship Id="rId20" Type="http://schemas.openxmlformats.org/officeDocument/2006/relationships/image" Target="../media/image3.png"/><Relationship Id="rId1" Type="http://schemas.microsoft.com/office/2007/relationships/media" Target="../media/media26.mp3"/><Relationship Id="rId6" Type="http://schemas.openxmlformats.org/officeDocument/2006/relationships/audio" Target="../media/media28.mp3"/><Relationship Id="rId11" Type="http://schemas.microsoft.com/office/2007/relationships/media" Target="../media/media31.mp3"/><Relationship Id="rId24" Type="http://schemas.openxmlformats.org/officeDocument/2006/relationships/image" Target="../media/image20.png"/><Relationship Id="rId5" Type="http://schemas.microsoft.com/office/2007/relationships/media" Target="../media/media28.mp3"/><Relationship Id="rId15" Type="http://schemas.microsoft.com/office/2007/relationships/media" Target="../media/media33.mp3"/><Relationship Id="rId23" Type="http://schemas.openxmlformats.org/officeDocument/2006/relationships/image" Target="../media/image19.png"/><Relationship Id="rId10" Type="http://schemas.openxmlformats.org/officeDocument/2006/relationships/audio" Target="../media/media30.mp3"/><Relationship Id="rId19" Type="http://schemas.openxmlformats.org/officeDocument/2006/relationships/image" Target="../media/image16.png"/><Relationship Id="rId4" Type="http://schemas.openxmlformats.org/officeDocument/2006/relationships/audio" Target="../media/media27.mp3"/><Relationship Id="rId9" Type="http://schemas.microsoft.com/office/2007/relationships/media" Target="../media/media30.mp3"/><Relationship Id="rId14" Type="http://schemas.openxmlformats.org/officeDocument/2006/relationships/audio" Target="../media/media32.mp3"/><Relationship Id="rId22" Type="http://schemas.openxmlformats.org/officeDocument/2006/relationships/image" Target="../media/image18.png"/><Relationship Id="rId27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18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7.mp3"/><Relationship Id="rId1" Type="http://schemas.microsoft.com/office/2007/relationships/media" Target="../media/media17.mp3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4.xml"/><Relationship Id="rId3" Type="http://schemas.microsoft.com/office/2007/relationships/media" Target="../media/media6.mp3"/><Relationship Id="rId7" Type="http://schemas.openxmlformats.org/officeDocument/2006/relationships/slideLayout" Target="../slideLayouts/slideLayout3.xml"/><Relationship Id="rId2" Type="http://schemas.openxmlformats.org/officeDocument/2006/relationships/audio" Target="../media/media34.mp3"/><Relationship Id="rId1" Type="http://schemas.microsoft.com/office/2007/relationships/media" Target="../media/media34.mp3"/><Relationship Id="rId6" Type="http://schemas.openxmlformats.org/officeDocument/2006/relationships/audio" Target="../media/media35.mp3"/><Relationship Id="rId5" Type="http://schemas.microsoft.com/office/2007/relationships/media" Target="../media/media35.mp3"/><Relationship Id="rId4" Type="http://schemas.openxmlformats.org/officeDocument/2006/relationships/audio" Target="../media/media6.mp3"/><Relationship Id="rId9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_ko"/>
          <p:cNvSpPr txBox="1"/>
          <p:nvPr/>
        </p:nvSpPr>
        <p:spPr>
          <a:xfrm>
            <a:off x="640080" y="169164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marL="0" indent="0" eaLnBrk="1">
              <a:buNone/>
            </a:pPr>
            <a:r>
              <a:rPr lang="ko-KR" altLang="en-US" sz="4200" b="1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장난감 기차가 있어요 </a:t>
            </a:r>
            <a:r>
              <a:rPr lang="en-US" sz="4200" b="1" dirty="0">
                <a:solidFill>
                  <a:srgbClr val="E8B84B"/>
                </a:solidFill>
              </a:rPr>
              <a:t>· </a:t>
            </a:r>
            <a:r>
              <a:rPr lang="ko-KR" altLang="en-US" sz="4200" b="1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구두가 아니에요</a:t>
            </a:r>
            <a:endParaRPr lang="en-US" sz="4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40080" y="3063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1">
              <a:buNone/>
            </a:pPr>
            <a:r>
              <a:rPr lang="en-US" sz="4400" b="1" dirty="0">
                <a:solidFill>
                  <a:srgbClr val="FFFFFF"/>
                </a:solidFill>
              </a:rPr>
              <a:t>Básico 2 · Clase 5</a:t>
            </a:r>
            <a:endParaRPr lang="en-US" sz="44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640080" y="416052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9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Básico 2 (A1.2) · 한국어 </a:t>
            </a:r>
            <a:r>
              <a:rPr lang="en-US" sz="1900" dirty="0">
                <a:solidFill>
                  <a:srgbClr val="E8B84B"/>
                </a:solidFill>
              </a:rPr>
              <a:t>2, lecciones 4 y 5 · Tener, no tener y «no es»</a:t>
            </a:r>
            <a:endParaRPr lang="en-US" sz="2200" dirty="0"/>
          </a:p>
          <a:p>
            <a:pPr marL="0" indent="0" eaLnBrk="1">
              <a:buNone/>
            </a:pPr>
            <a:r>
              <a:rPr lang="ko-KR" altLang="en-US" sz="19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오늘도 화이팅</a:t>
            </a:r>
            <a:r>
              <a:rPr lang="en-US" sz="1900" dirty="0">
                <a:solidFill>
                  <a:srgbClr val="E8B84B"/>
                </a:solidFill>
              </a:rPr>
              <a:t>!</a:t>
            </a:r>
            <a:endParaRPr lang="en-US" sz="2200" dirty="0"/>
          </a:p>
          <a:p>
            <a:pPr marL="0" indent="0" eaLnBrk="1">
              <a:buNone/>
            </a:pPr>
            <a:r>
              <a:rPr lang="en-US" sz="1900" dirty="0">
                <a:solidFill>
                  <a:srgbClr val="E8B84B"/>
                </a:solidFill>
              </a:rPr>
              <a:t>Miércoles 18 de noviembre de 2026 · 21:00 (hora de Chile)</a:t>
            </a:r>
            <a:endParaRPr lang="en-US" sz="2200" dirty="0"/>
          </a:p>
          <a:p>
            <a:pPr marL="0" indent="0" eaLnBrk="1">
              <a:buNone/>
            </a:pPr>
            <a:r>
              <a:rPr lang="ko-KR" altLang="en-US" sz="19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Jay Kim · 김재희 선생님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안녕하세요</a:t>
            </a:r>
            <a:r>
              <a:rPr lang="en-US" sz="3000" b="1" dirty="0">
                <a:solidFill>
                  <a:srgbClr val="4236F6"/>
                </a:solidFill>
              </a:rPr>
              <a:t>!  </a:t>
            </a:r>
            <a:r>
              <a:rPr lang="en-US" sz="3000" b="1" dirty="0">
                <a:solidFill>
                  <a:srgbClr val="003478"/>
                </a:solidFill>
              </a:rPr>
              <a:t>Mientras llegan</a:t>
            </a:r>
            <a:r>
              <a:rPr lang="en-US" sz="1500" b="1" i="1" dirty="0">
                <a:solidFill>
                  <a:srgbClr val="8A8DA0"/>
                </a:solidFill>
              </a:rPr>
              <a:t>   While everyone joins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아침에 뭘 해요</a:t>
            </a:r>
            <a:r>
              <a:rPr lang="en-US" sz="1800" i="1" dirty="0">
                <a:solidFill>
                  <a:srgbClr val="4236F6"/>
                </a:solidFill>
              </a:rPr>
              <a:t>?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Cámara encendida y tu nombre real en Zoom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 el chat, en 한글</a:t>
            </a:r>
            <a:r>
              <a:rPr lang="en-US" sz="2400" dirty="0">
                <a:solidFill>
                  <a:srgbClr val="14142B"/>
                </a:solidFill>
              </a:rPr>
              <a:t>: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아침에 </a:t>
            </a:r>
            <a:r>
              <a:rPr lang="en-US" sz="2400" dirty="0">
                <a:solidFill>
                  <a:srgbClr val="14142B"/>
                </a:solidFill>
              </a:rPr>
              <a:t>______.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Ejemplo: 아침에 운동해요</a:t>
            </a:r>
            <a:r>
              <a:rPr lang="en-US" sz="2400" dirty="0">
                <a:solidFill>
                  <a:srgbClr val="14142B"/>
                </a:solidFill>
              </a:rPr>
              <a:t>. 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아침에 자전거를 타요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Ten cerca tu mochila o tu estuche: hoy los usamos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Hoy: tener, no tener y «no es»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안녕하세요</a:t>
            </a:r>
            <a:r>
              <a:rPr lang="en-US" sz="4100" b="1" dirty="0">
                <a:solidFill>
                  <a:srgbClr val="4236F6"/>
                </a:solidFill>
              </a:rPr>
              <a:t>!</a:t>
            </a:r>
            <a:endParaRPr lang="en-US" sz="4100" dirty="0"/>
          </a:p>
        </p:txBody>
      </p:sp>
      <p:pic>
        <p:nvPicPr>
          <p:cNvPr id="7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601200" y="4983480"/>
            <a:ext cx="384048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복습 퀴즈  </a:t>
            </a:r>
            <a:r>
              <a:rPr lang="en-US" sz="3000" b="1" dirty="0">
                <a:solidFill>
                  <a:srgbClr val="003478"/>
                </a:solidFill>
              </a:rPr>
              <a:t>Quiz de la clase 4</a:t>
            </a:r>
            <a:r>
              <a:rPr lang="en-US" sz="1500" b="1" i="1" dirty="0">
                <a:solidFill>
                  <a:srgbClr val="8A8DA0"/>
                </a:solidFill>
              </a:rPr>
              <a:t>   Class 4 quiz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</a:t>
            </a:r>
            <a:r>
              <a:rPr lang="en-US" sz="1800" i="1" dirty="0">
                <a:solidFill>
                  <a:srgbClr val="4236F6"/>
                </a:solidFill>
              </a:rPr>
              <a:t>? · ¿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</a:t>
            </a:r>
            <a:r>
              <a:rPr lang="en-US" sz="1800" i="1" dirty="0">
                <a:solidFill>
                  <a:srgbClr val="4236F6"/>
                </a:solidFill>
              </a:rPr>
              <a:t>o nada? · ¿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 </a:t>
            </a:r>
            <a:r>
              <a:rPr lang="en-US" sz="1800" i="1" dirty="0">
                <a:solidFill>
                  <a:srgbClr val="4236F6"/>
                </a:solidFill>
              </a:rPr>
              <a:t>o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</a:t>
            </a:r>
            <a:r>
              <a:rPr lang="en-US" sz="1800" i="1" dirty="0">
                <a:solidFill>
                  <a:srgbClr val="4236F6"/>
                </a:solidFill>
              </a:rPr>
              <a:t>? · Responde en el chat; luego en coro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03454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345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씨는 언제 수영을 해요</a:t>
            </a:r>
            <a:r>
              <a:rPr lang="en-US" sz="1900" dirty="0">
                <a:solidFill>
                  <a:srgbClr val="14142B"/>
                </a:solidFill>
              </a:rPr>
              <a:t>? (7:00 de la mañana)</a:t>
            </a:r>
            <a:endParaRPr lang="en-US" sz="1900" dirty="0"/>
          </a:p>
        </p:txBody>
      </p:sp>
      <p:sp>
        <p:nvSpPr>
          <p:cNvPr id="7" name="rev_0_caja"/>
          <p:cNvSpPr/>
          <p:nvPr/>
        </p:nvSpPr>
        <p:spPr>
          <a:xfrm>
            <a:off x="7498080" y="2002536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0_txt"/>
          <p:cNvSpPr txBox="1"/>
          <p:nvPr/>
        </p:nvSpPr>
        <p:spPr>
          <a:xfrm>
            <a:off x="7589520" y="2002536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아침에 수영을 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275691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7569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688336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마테오 씨는 언제 운동해요</a:t>
            </a:r>
            <a:r>
              <a:rPr lang="en-US" sz="2300" dirty="0">
                <a:solidFill>
                  <a:srgbClr val="14142B"/>
                </a:solidFill>
              </a:rPr>
              <a:t>? (20:00)</a:t>
            </a:r>
            <a:endParaRPr lang="en-US" sz="2300" dirty="0"/>
          </a:p>
        </p:txBody>
      </p:sp>
      <p:sp>
        <p:nvSpPr>
          <p:cNvPr id="12" name="rev_1_caja"/>
          <p:cNvSpPr/>
          <p:nvPr/>
        </p:nvSpPr>
        <p:spPr>
          <a:xfrm>
            <a:off x="7498080" y="2724912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1_txt"/>
          <p:cNvSpPr txBox="1"/>
          <p:nvPr/>
        </p:nvSpPr>
        <p:spPr>
          <a:xfrm>
            <a:off x="7589520" y="2724912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저녁에 운동해요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347929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4792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410712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¿에 </a:t>
            </a:r>
            <a:r>
              <a:rPr lang="en-US" sz="2400" dirty="0">
                <a:solidFill>
                  <a:srgbClr val="14142B"/>
                </a:solidFill>
              </a:rPr>
              <a:t>o nada?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</a:t>
            </a:r>
            <a:r>
              <a:rPr lang="en-US" sz="2400" dirty="0">
                <a:solidFill>
                  <a:srgbClr val="14142B"/>
                </a:solidFill>
              </a:rPr>
              <a:t>___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17" name="rev_2_caja"/>
          <p:cNvSpPr/>
          <p:nvPr/>
        </p:nvSpPr>
        <p:spPr>
          <a:xfrm>
            <a:off x="7498080" y="3447288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2_txt"/>
          <p:cNvSpPr txBox="1"/>
          <p:nvPr/>
        </p:nvSpPr>
        <p:spPr>
          <a:xfrm>
            <a:off x="7589520" y="3447288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쉬어요</a:t>
            </a:r>
            <a:r>
              <a:rPr lang="en-US" sz="2200" b="1" dirty="0">
                <a:solidFill>
                  <a:srgbClr val="FFFFFF"/>
                </a:solidFill>
              </a:rPr>
              <a:t>. (sin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</a:t>
            </a:r>
            <a:r>
              <a:rPr lang="en-US" sz="2200" b="1" dirty="0">
                <a:solidFill>
                  <a:srgbClr val="FFFFFF"/>
                </a:solidFill>
              </a:rPr>
              <a:t>)</a:t>
            </a:r>
            <a:endParaRPr lang="en-US" sz="2200" dirty="0"/>
          </a:p>
        </p:txBody>
      </p:sp>
      <p:sp>
        <p:nvSpPr>
          <p:cNvPr id="19" name="num_3"/>
          <p:cNvSpPr/>
          <p:nvPr/>
        </p:nvSpPr>
        <p:spPr>
          <a:xfrm>
            <a:off x="548640" y="420166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2016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133088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¿에 </a:t>
            </a:r>
            <a:r>
              <a:rPr lang="en-US" sz="2300" dirty="0">
                <a:solidFill>
                  <a:srgbClr val="14142B"/>
                </a:solidFill>
              </a:rPr>
              <a:t>o nada? </a:t>
            </a: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주말</a:t>
            </a:r>
            <a:r>
              <a:rPr lang="en-US" sz="2300" dirty="0">
                <a:solidFill>
                  <a:srgbClr val="14142B"/>
                </a:solidFill>
              </a:rPr>
              <a:t>___ </a:t>
            </a: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자전거를 타요</a:t>
            </a:r>
            <a:r>
              <a:rPr lang="en-US" sz="2300" dirty="0">
                <a:solidFill>
                  <a:srgbClr val="14142B"/>
                </a:solidFill>
              </a:rPr>
              <a:t>.</a:t>
            </a:r>
            <a:endParaRPr lang="en-US" sz="2300" dirty="0"/>
          </a:p>
        </p:txBody>
      </p:sp>
      <p:sp>
        <p:nvSpPr>
          <p:cNvPr id="22" name="rev_3_caja"/>
          <p:cNvSpPr/>
          <p:nvPr/>
        </p:nvSpPr>
        <p:spPr>
          <a:xfrm>
            <a:off x="7498080" y="4169664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3_txt"/>
          <p:cNvSpPr txBox="1"/>
          <p:nvPr/>
        </p:nvSpPr>
        <p:spPr>
          <a:xfrm>
            <a:off x="7589520" y="4169664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주말에 자전거를 타요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24" name="num_4"/>
          <p:cNvSpPr/>
          <p:nvPr/>
        </p:nvSpPr>
        <p:spPr>
          <a:xfrm>
            <a:off x="548640" y="4924044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9240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4855464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2400" dirty="0">
                <a:solidFill>
                  <a:srgbClr val="14142B"/>
                </a:solidFill>
              </a:rPr>
              <a:t>«Mañana (el jueves) trabajo.»</a:t>
            </a:r>
            <a:endParaRPr lang="en-US" sz="2400" dirty="0"/>
          </a:p>
        </p:txBody>
      </p:sp>
      <p:sp>
        <p:nvSpPr>
          <p:cNvPr id="27" name="rev_4_caja"/>
          <p:cNvSpPr/>
          <p:nvPr/>
        </p:nvSpPr>
        <p:spPr>
          <a:xfrm>
            <a:off x="7498080" y="4892040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8" name="rev_4_txt"/>
          <p:cNvSpPr txBox="1"/>
          <p:nvPr/>
        </p:nvSpPr>
        <p:spPr>
          <a:xfrm>
            <a:off x="7589520" y="4892040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 일해요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29" name="num_5"/>
          <p:cNvSpPr/>
          <p:nvPr/>
        </p:nvSpPr>
        <p:spPr>
          <a:xfrm>
            <a:off x="548640" y="564642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56464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188720" y="5577840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요리해요</a:t>
            </a:r>
            <a:r>
              <a:rPr lang="en-US" sz="2400" dirty="0">
                <a:solidFill>
                  <a:srgbClr val="14142B"/>
                </a:solidFill>
              </a:rPr>
              <a:t>? (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도윤</a:t>
            </a:r>
            <a:r>
              <a:rPr lang="en-US" sz="2400" dirty="0">
                <a:solidFill>
                  <a:srgbClr val="14142B"/>
                </a:solidFill>
              </a:rPr>
              <a:t>, cocinero)</a:t>
            </a:r>
            <a:endParaRPr lang="en-US" sz="2400" dirty="0"/>
          </a:p>
        </p:txBody>
      </p:sp>
      <p:sp>
        <p:nvSpPr>
          <p:cNvPr id="32" name="rev_5_caja"/>
          <p:cNvSpPr/>
          <p:nvPr/>
        </p:nvSpPr>
        <p:spPr>
          <a:xfrm>
            <a:off x="7498080" y="5614416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3" name="rev_5_txt"/>
          <p:cNvSpPr txBox="1"/>
          <p:nvPr/>
        </p:nvSpPr>
        <p:spPr>
          <a:xfrm>
            <a:off x="7589520" y="5614416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도윤 씨가 요리해요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  <p:bldP spid="28" grpId="0" animBg="1"/>
      <p:bldP spid="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 </a:t>
            </a:r>
            <a:r>
              <a:rPr lang="en-US" sz="3000" b="1" dirty="0">
                <a:solidFill>
                  <a:srgbClr val="003478"/>
                </a:solidFill>
              </a:rPr>
              <a:t>Hoy: dos lecciones cortas</a:t>
            </a:r>
            <a:r>
              <a:rPr lang="en-US" sz="1500" b="1" i="1" dirty="0">
                <a:solidFill>
                  <a:srgbClr val="8A8DA0"/>
                </a:solidFill>
              </a:rPr>
              <a:t>   Today: two short lessons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Las dos usan el 이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en-US" sz="1800" i="1" dirty="0">
                <a:solidFill>
                  <a:srgbClr val="4236F6"/>
                </a:solidFill>
              </a:rPr>
              <a:t>de la clase 2</a:t>
            </a:r>
            <a:endParaRPr lang="en-US" sz="1800" dirty="0"/>
          </a:p>
        </p:txBody>
      </p:sp>
      <p:graphicFrame>
        <p:nvGraphicFramePr>
          <p:cNvPr id="5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5517390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Lección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En coreano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Para qué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 · 장난감 기차가 있어요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___이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/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 있어요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? ·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,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 /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아니요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,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Decir qué tienes y qué no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뭐가 있어요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Preguntar qué tiene alguien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 · 구두가 아니에요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___이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/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 아니에요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Decir que algo no es eso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Repaso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이게 뭐예요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? · ___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이에요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/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Ya lo saben de Básico 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선물 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 regalo de 서아</a:t>
            </a:r>
            <a:r>
              <a:rPr lang="ko-KR" altLang="en-US" sz="1500" b="1" i="1" dirty="0">
                <a:solidFill>
                  <a:srgbClr val="8A8DA0"/>
                </a:solidFill>
              </a:rPr>
              <a:t>   A gift for 서아</a:t>
            </a:r>
            <a:endParaRPr lang="en-US" sz="3000" dirty="0"/>
          </a:p>
        </p:txBody>
      </p:sp>
      <p:pic>
        <p:nvPicPr>
          <p:cNvPr id="3" name="imagen" descr="C:\Users\Chingu\AppData\Local\Temp\claude\C--Users-Chingu-Desktop-ACADEMIASEULWEB\d4111e1b-5523-44ea-97b2-b1a1d9545b9e\scratchpad\decks\cache\img_f54dd69e99fe8f19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54112" y="1508760"/>
            <a:ext cx="3886200" cy="4480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25880"/>
            <a:ext cx="6931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</a:t>
            </a:r>
            <a:r>
              <a:rPr lang="en-US" sz="1800" i="1" dirty="0">
                <a:solidFill>
                  <a:srgbClr val="4236F6"/>
                </a:solidFill>
              </a:rPr>
              <a:t>busca un regalo para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서아 </a:t>
            </a:r>
            <a:r>
              <a:rPr lang="en-US" sz="1800" i="1" dirty="0">
                <a:solidFill>
                  <a:srgbClr val="4236F6"/>
                </a:solidFill>
              </a:rPr>
              <a:t>(6 años), la hija de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도윤</a:t>
            </a:r>
            <a:endParaRPr lang="en-US" sz="1800" dirty="0"/>
          </a:p>
        </p:txBody>
      </p:sp>
      <p:sp>
        <p:nvSpPr>
          <p:cNvPr id="5" name="card_0"/>
          <p:cNvSpPr/>
          <p:nvPr/>
        </p:nvSpPr>
        <p:spPr>
          <a:xfrm>
            <a:off x="548640" y="1874520"/>
            <a:ext cx="1561338" cy="2034540"/>
          </a:xfrm>
          <a:prstGeom prst="roundRect">
            <a:avLst>
              <a:gd name="adj" fmla="val 8785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48640" y="2228393"/>
            <a:ext cx="1561338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서아는 곰 인형이 있어요</a:t>
            </a:r>
            <a:r>
              <a:rPr lang="en-US" sz="1600" b="1" dirty="0">
                <a:solidFill>
                  <a:srgbClr val="4236F6"/>
                </a:solidFill>
              </a:rPr>
              <a:t>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2920136"/>
            <a:ext cx="1415034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4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r>
              <a:rPr lang="en-US" sz="1400" dirty="0">
                <a:solidFill>
                  <a:srgbClr val="5C5F6B"/>
                </a:solidFill>
              </a:rPr>
              <a:t>: ¿</a:t>
            </a:r>
            <a:r>
              <a:rPr lang="ko-KR" altLang="en-US" sz="14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서아 </a:t>
            </a:r>
            <a:r>
              <a:rPr lang="en-US" sz="1400" dirty="0">
                <a:solidFill>
                  <a:srgbClr val="5C5F6B"/>
                </a:solidFill>
              </a:rPr>
              <a:t>tiene osito de peluche?</a:t>
            </a:r>
            <a:endParaRPr lang="en-US" sz="1400" dirty="0"/>
          </a:p>
        </p:txBody>
      </p:sp>
      <p:pic>
        <p:nvPicPr>
          <p:cNvPr id="8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707642" y="1947672"/>
            <a:ext cx="310896" cy="310896"/>
          </a:xfrm>
          <a:prstGeom prst="rect">
            <a:avLst/>
          </a:prstGeom>
        </p:spPr>
      </p:pic>
      <p:sp>
        <p:nvSpPr>
          <p:cNvPr id="9" name="card_1"/>
          <p:cNvSpPr/>
          <p:nvPr/>
        </p:nvSpPr>
        <p:spPr>
          <a:xfrm>
            <a:off x="2338578" y="1874520"/>
            <a:ext cx="1561338" cy="2034540"/>
          </a:xfrm>
          <a:prstGeom prst="roundRect">
            <a:avLst>
              <a:gd name="adj" fmla="val 8785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2338578" y="2228393"/>
            <a:ext cx="1561338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</a:t>
            </a:r>
            <a:r>
              <a:rPr lang="en-US" sz="1600" b="1" dirty="0">
                <a:solidFill>
                  <a:srgbClr val="4236F6"/>
                </a:solidFill>
              </a:rPr>
              <a:t>, </a:t>
            </a: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있어요</a:t>
            </a:r>
            <a:r>
              <a:rPr lang="en-US" sz="1600" b="1" dirty="0">
                <a:solidFill>
                  <a:srgbClr val="4236F6"/>
                </a:solidFill>
              </a:rPr>
              <a:t>.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2411730" y="2920136"/>
            <a:ext cx="1415034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도윤</a:t>
            </a:r>
            <a:r>
              <a:rPr lang="en-US" sz="1600" dirty="0">
                <a:solidFill>
                  <a:srgbClr val="5C5F6B"/>
                </a:solidFill>
              </a:rPr>
              <a:t>: Sí, tiene.</a:t>
            </a:r>
            <a:endParaRPr lang="en-US" sz="1600" dirty="0"/>
          </a:p>
        </p:txBody>
      </p:sp>
      <p:pic>
        <p:nvPicPr>
          <p:cNvPr id="12" name="Media 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3497580" y="1947672"/>
            <a:ext cx="310896" cy="310896"/>
          </a:xfrm>
          <a:prstGeom prst="rect">
            <a:avLst/>
          </a:prstGeom>
        </p:spPr>
      </p:pic>
      <p:sp>
        <p:nvSpPr>
          <p:cNvPr id="13" name="card_2"/>
          <p:cNvSpPr/>
          <p:nvPr/>
        </p:nvSpPr>
        <p:spPr>
          <a:xfrm>
            <a:off x="4128516" y="1874520"/>
            <a:ext cx="1561338" cy="2034540"/>
          </a:xfrm>
          <a:prstGeom prst="roundRect">
            <a:avLst>
              <a:gd name="adj" fmla="val 8785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>
            <a:off x="4128516" y="2228393"/>
            <a:ext cx="1561338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토끼 인형이 있어요</a:t>
            </a:r>
            <a:r>
              <a:rPr lang="en-US" sz="1600" b="1" dirty="0">
                <a:solidFill>
                  <a:srgbClr val="4236F6"/>
                </a:solidFill>
              </a:rPr>
              <a:t>?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201668" y="2920136"/>
            <a:ext cx="1415034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r>
              <a:rPr lang="en-US" sz="1600" dirty="0">
                <a:solidFill>
                  <a:srgbClr val="5C5F6B"/>
                </a:solidFill>
              </a:rPr>
              <a:t>: ¿Tiene conejo de peluche?</a:t>
            </a:r>
            <a:endParaRPr lang="en-US" sz="1600" dirty="0"/>
          </a:p>
        </p:txBody>
      </p:sp>
      <p:pic>
        <p:nvPicPr>
          <p:cNvPr id="20" name="Media 2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5287518" y="1947672"/>
            <a:ext cx="310896" cy="310896"/>
          </a:xfrm>
          <a:prstGeom prst="rect">
            <a:avLst/>
          </a:prstGeom>
        </p:spPr>
      </p:pic>
      <p:sp>
        <p:nvSpPr>
          <p:cNvPr id="17" name="card_3"/>
          <p:cNvSpPr/>
          <p:nvPr/>
        </p:nvSpPr>
        <p:spPr>
          <a:xfrm>
            <a:off x="5918454" y="1874520"/>
            <a:ext cx="1561338" cy="2034540"/>
          </a:xfrm>
          <a:prstGeom prst="roundRect">
            <a:avLst>
              <a:gd name="adj" fmla="val 8785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18" name="Text 12"/>
          <p:cNvSpPr txBox="1"/>
          <p:nvPr/>
        </p:nvSpPr>
        <p:spPr>
          <a:xfrm>
            <a:off x="5918454" y="2228393"/>
            <a:ext cx="1561338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</a:t>
            </a:r>
            <a:r>
              <a:rPr lang="en-US" sz="1600" b="1" dirty="0">
                <a:solidFill>
                  <a:srgbClr val="4236F6"/>
                </a:solidFill>
              </a:rPr>
              <a:t>, </a:t>
            </a: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있어요</a:t>
            </a:r>
            <a:r>
              <a:rPr lang="en-US" sz="1600" b="1" dirty="0">
                <a:solidFill>
                  <a:srgbClr val="4236F6"/>
                </a:solidFill>
              </a:rPr>
              <a:t>.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5991606" y="2920136"/>
            <a:ext cx="1415034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도윤</a:t>
            </a:r>
            <a:r>
              <a:rPr lang="en-US" sz="1600" dirty="0">
                <a:solidFill>
                  <a:srgbClr val="5C5F6B"/>
                </a:solidFill>
              </a:rPr>
              <a:t>: Sí, tiene.</a:t>
            </a:r>
            <a:endParaRPr lang="en-US" sz="1600" dirty="0"/>
          </a:p>
        </p:txBody>
      </p:sp>
      <p:pic>
        <p:nvPicPr>
          <p:cNvPr id="24" name="Media 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7077456" y="1947672"/>
            <a:ext cx="310896" cy="310896"/>
          </a:xfrm>
          <a:prstGeom prst="rect">
            <a:avLst/>
          </a:prstGeom>
        </p:spPr>
      </p:pic>
      <p:sp>
        <p:nvSpPr>
          <p:cNvPr id="21" name="card_4"/>
          <p:cNvSpPr/>
          <p:nvPr/>
        </p:nvSpPr>
        <p:spPr>
          <a:xfrm>
            <a:off x="1443609" y="4137660"/>
            <a:ext cx="1561338" cy="2034540"/>
          </a:xfrm>
          <a:prstGeom prst="roundRect">
            <a:avLst>
              <a:gd name="adj" fmla="val 8785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22" name="Text 15"/>
          <p:cNvSpPr txBox="1"/>
          <p:nvPr/>
        </p:nvSpPr>
        <p:spPr>
          <a:xfrm>
            <a:off x="1443609" y="4491533"/>
            <a:ext cx="1561338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장난감 기차가 있어요</a:t>
            </a:r>
            <a:r>
              <a:rPr lang="en-US" sz="1600" b="1" dirty="0">
                <a:solidFill>
                  <a:srgbClr val="4236F6"/>
                </a:solidFill>
              </a:rPr>
              <a:t>?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1516761" y="5183276"/>
            <a:ext cx="1415034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r>
              <a:rPr lang="en-US" sz="1600" dirty="0">
                <a:solidFill>
                  <a:srgbClr val="5C5F6B"/>
                </a:solidFill>
              </a:rPr>
              <a:t>: ¿Tiene tren de juguete?</a:t>
            </a:r>
            <a:endParaRPr lang="en-US" sz="1600" dirty="0"/>
          </a:p>
        </p:txBody>
      </p:sp>
      <p:pic>
        <p:nvPicPr>
          <p:cNvPr id="16" name="Media 4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2602611" y="4210812"/>
            <a:ext cx="310896" cy="310896"/>
          </a:xfrm>
          <a:prstGeom prst="rect">
            <a:avLst/>
          </a:prstGeom>
        </p:spPr>
      </p:pic>
      <p:sp>
        <p:nvSpPr>
          <p:cNvPr id="25" name="card_5"/>
          <p:cNvSpPr/>
          <p:nvPr/>
        </p:nvSpPr>
        <p:spPr>
          <a:xfrm>
            <a:off x="3233547" y="4137660"/>
            <a:ext cx="1561338" cy="2034540"/>
          </a:xfrm>
          <a:prstGeom prst="roundRect">
            <a:avLst>
              <a:gd name="adj" fmla="val 8785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26" name="Text 18"/>
          <p:cNvSpPr txBox="1"/>
          <p:nvPr/>
        </p:nvSpPr>
        <p:spPr>
          <a:xfrm>
            <a:off x="3233547" y="4491533"/>
            <a:ext cx="1561338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1600" b="1" dirty="0">
                <a:solidFill>
                  <a:srgbClr val="4236F6"/>
                </a:solidFill>
              </a:rPr>
              <a:t>, </a:t>
            </a: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없어요</a:t>
            </a:r>
            <a:r>
              <a:rPr lang="en-US" sz="1600" b="1" dirty="0">
                <a:solidFill>
                  <a:srgbClr val="4236F6"/>
                </a:solidFill>
              </a:rPr>
              <a:t>.</a:t>
            </a:r>
            <a:endParaRPr lang="en-US" sz="1600" dirty="0"/>
          </a:p>
        </p:txBody>
      </p:sp>
      <p:sp>
        <p:nvSpPr>
          <p:cNvPr id="27" name="Text 19"/>
          <p:cNvSpPr txBox="1"/>
          <p:nvPr/>
        </p:nvSpPr>
        <p:spPr>
          <a:xfrm>
            <a:off x="3306699" y="5183276"/>
            <a:ext cx="1415034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도윤</a:t>
            </a:r>
            <a:r>
              <a:rPr lang="en-US" sz="1600" dirty="0">
                <a:solidFill>
                  <a:srgbClr val="5C5F6B"/>
                </a:solidFill>
              </a:rPr>
              <a:t>: No, no tiene.</a:t>
            </a:r>
            <a:endParaRPr lang="en-US" sz="1600" dirty="0"/>
          </a:p>
        </p:txBody>
      </p:sp>
      <p:pic>
        <p:nvPicPr>
          <p:cNvPr id="28" name="Media 5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4392549" y="4210812"/>
            <a:ext cx="310896" cy="310896"/>
          </a:xfrm>
          <a:prstGeom prst="rect">
            <a:avLst/>
          </a:prstGeom>
        </p:spPr>
      </p:pic>
      <p:sp>
        <p:nvSpPr>
          <p:cNvPr id="29" name="card_6"/>
          <p:cNvSpPr/>
          <p:nvPr/>
        </p:nvSpPr>
        <p:spPr>
          <a:xfrm>
            <a:off x="5023485" y="4137660"/>
            <a:ext cx="1561338" cy="2034540"/>
          </a:xfrm>
          <a:prstGeom prst="roundRect">
            <a:avLst>
              <a:gd name="adj" fmla="val 8785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30" name="Text 21"/>
          <p:cNvSpPr txBox="1"/>
          <p:nvPr/>
        </p:nvSpPr>
        <p:spPr>
          <a:xfrm>
            <a:off x="5023485" y="4491533"/>
            <a:ext cx="1561338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좋아요</a:t>
            </a:r>
            <a:r>
              <a:rPr lang="en-US" sz="1600" b="1" dirty="0">
                <a:solidFill>
                  <a:srgbClr val="4236F6"/>
                </a:solidFill>
              </a:rPr>
              <a:t>! </a:t>
            </a: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그럼 선물은 장난감 기차예요</a:t>
            </a:r>
            <a:r>
              <a:rPr lang="en-US" sz="1600" b="1" dirty="0">
                <a:solidFill>
                  <a:srgbClr val="4236F6"/>
                </a:solidFill>
              </a:rPr>
              <a:t>!</a:t>
            </a:r>
            <a:endParaRPr lang="en-US" sz="1600" dirty="0"/>
          </a:p>
        </p:txBody>
      </p:sp>
      <p:sp>
        <p:nvSpPr>
          <p:cNvPr id="31" name="Text 22"/>
          <p:cNvSpPr txBox="1"/>
          <p:nvPr/>
        </p:nvSpPr>
        <p:spPr>
          <a:xfrm>
            <a:off x="5096637" y="5183276"/>
            <a:ext cx="1415034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1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r>
              <a:rPr lang="en-US" sz="1100" dirty="0">
                <a:solidFill>
                  <a:srgbClr val="5C5F6B"/>
                </a:solidFill>
              </a:rPr>
              <a:t>: ¡Perfecto! Entonces, el regalo: un tren de juguete.</a:t>
            </a:r>
            <a:endParaRPr lang="en-US" sz="1100" dirty="0"/>
          </a:p>
        </p:txBody>
      </p:sp>
      <p:pic>
        <p:nvPicPr>
          <p:cNvPr id="32" name="Media 6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6182487" y="4210812"/>
            <a:ext cx="310896" cy="310896"/>
          </a:xfrm>
          <a:prstGeom prst="rect">
            <a:avLst/>
          </a:prstGeom>
        </p:spPr>
      </p:pic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배워 봐요 </a:t>
            </a:r>
            <a:r>
              <a:rPr lang="en-US" sz="3000" b="1" dirty="0">
                <a:solidFill>
                  <a:srgbClr val="003478"/>
                </a:solidFill>
              </a:rPr>
              <a:t>· Juguetes</a:t>
            </a:r>
            <a:r>
              <a:rPr lang="en-US" sz="1500" b="1" i="1" dirty="0">
                <a:solidFill>
                  <a:srgbClr val="8A8DA0"/>
                </a:solidFill>
              </a:rPr>
              <a:t>   Let's learn · Toys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장난감 </a:t>
            </a:r>
            <a:r>
              <a:rPr lang="en-US" sz="1800" i="1" dirty="0">
                <a:solidFill>
                  <a:srgbClr val="4236F6"/>
                </a:solidFill>
              </a:rPr>
              <a:t>= juguete 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인형 </a:t>
            </a:r>
            <a:r>
              <a:rPr lang="en-US" sz="1800" i="1" dirty="0">
                <a:solidFill>
                  <a:srgbClr val="4236F6"/>
                </a:solidFill>
              </a:rPr>
              <a:t>= muñeco, peluche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87452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dibujo_0" descr="C:\Users\Chingu\AppData\Local\Temp\claude\C--Users-Chingu-Desktop-ACADEMIASEULWEB\d4111e1b-5523-44ea-97b2-b1a1d9545b9e\scratchpad\decks\cache\img_66406e89a6adf597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61084" y="1984248"/>
            <a:ext cx="976579" cy="97657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97911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장난감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386023"/>
            <a:ext cx="2601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[장난깜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3660343"/>
            <a:ext cx="2455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juguete</a:t>
            </a:r>
            <a:endParaRPr lang="en-US" sz="1600" dirty="0"/>
          </a:p>
        </p:txBody>
      </p:sp>
      <p:pic>
        <p:nvPicPr>
          <p:cNvPr id="9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2747772" y="1947672"/>
            <a:ext cx="310896" cy="310896"/>
          </a:xfrm>
          <a:prstGeom prst="rect">
            <a:avLst/>
          </a:prstGeom>
        </p:spPr>
      </p:pic>
      <p:sp>
        <p:nvSpPr>
          <p:cNvPr id="10" name="card_1"/>
          <p:cNvSpPr/>
          <p:nvPr/>
        </p:nvSpPr>
        <p:spPr>
          <a:xfrm>
            <a:off x="3378708" y="187452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1" name="dibujo_1" descr="C:\Users\Chingu\AppData\Local\Temp\claude\C--Users-Chingu-Desktop-ACADEMIASEULWEB\d4111e1b-5523-44ea-97b2-b1a1d9545b9e\scratchpad\decks\cache\img_673caa88364a5941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91152" y="1984248"/>
            <a:ext cx="976579" cy="976579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378708" y="297911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장난감 기차</a:t>
            </a:r>
            <a:endParaRPr lang="en-US" sz="2500" dirty="0"/>
          </a:p>
        </p:txBody>
      </p:sp>
      <p:sp>
        <p:nvSpPr>
          <p:cNvPr id="13" name="Text 8"/>
          <p:cNvSpPr txBox="1"/>
          <p:nvPr/>
        </p:nvSpPr>
        <p:spPr>
          <a:xfrm>
            <a:off x="3378708" y="3386023"/>
            <a:ext cx="2601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[장난깜 기차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3451860" y="3660343"/>
            <a:ext cx="2455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tren de juguete</a:t>
            </a:r>
            <a:endParaRPr lang="en-US" sz="1600" dirty="0"/>
          </a:p>
        </p:txBody>
      </p:sp>
      <p:pic>
        <p:nvPicPr>
          <p:cNvPr id="15" name="Media 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5577840" y="1947672"/>
            <a:ext cx="310896" cy="310896"/>
          </a:xfrm>
          <a:prstGeom prst="rect">
            <a:avLst/>
          </a:prstGeom>
        </p:spPr>
      </p:pic>
      <p:sp>
        <p:nvSpPr>
          <p:cNvPr id="16" name="card_2"/>
          <p:cNvSpPr/>
          <p:nvPr/>
        </p:nvSpPr>
        <p:spPr>
          <a:xfrm>
            <a:off x="6208776" y="187452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7" name="dibujo_2" descr="C:\Users\Chingu\AppData\Local\Temp\claude\C--Users-Chingu-Desktop-ACADEMIASEULWEB\d4111e1b-5523-44ea-97b2-b1a1d9545b9e\scratchpad\decks\cache\img_eb321051adf6a774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21220" y="1984248"/>
            <a:ext cx="976579" cy="976579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208776" y="297911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장난감 비행기</a:t>
            </a:r>
            <a:endParaRPr lang="en-US" sz="2500" dirty="0"/>
          </a:p>
        </p:txBody>
      </p:sp>
      <p:sp>
        <p:nvSpPr>
          <p:cNvPr id="19" name="Text 12"/>
          <p:cNvSpPr txBox="1"/>
          <p:nvPr/>
        </p:nvSpPr>
        <p:spPr>
          <a:xfrm>
            <a:off x="6208776" y="3386023"/>
            <a:ext cx="2601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[장난깜 비행기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6281928" y="3660343"/>
            <a:ext cx="2455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avión de juguete</a:t>
            </a:r>
            <a:endParaRPr lang="en-US" sz="1600" dirty="0"/>
          </a:p>
        </p:txBody>
      </p:sp>
      <p:pic>
        <p:nvPicPr>
          <p:cNvPr id="21" name="Media 2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8407908" y="1947672"/>
            <a:ext cx="310896" cy="310896"/>
          </a:xfrm>
          <a:prstGeom prst="rect">
            <a:avLst/>
          </a:prstGeom>
        </p:spPr>
      </p:pic>
      <p:sp>
        <p:nvSpPr>
          <p:cNvPr id="22" name="card_3"/>
          <p:cNvSpPr/>
          <p:nvPr/>
        </p:nvSpPr>
        <p:spPr>
          <a:xfrm>
            <a:off x="9038844" y="187452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3" name="dibujo_3" descr="C:\Users\Chingu\AppData\Local\Temp\claude\C--Users-Chingu-Desktop-ACADEMIASEULWEB\d4111e1b-5523-44ea-97b2-b1a1d9545b9e\scratchpad\decks\cache\img_419a9dabbd848d46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851288" y="1984248"/>
            <a:ext cx="976579" cy="976579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9038844" y="297911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장난감 자동차</a:t>
            </a:r>
            <a:endParaRPr lang="en-US" sz="2500" dirty="0"/>
          </a:p>
        </p:txBody>
      </p:sp>
      <p:sp>
        <p:nvSpPr>
          <p:cNvPr id="25" name="Text 16"/>
          <p:cNvSpPr txBox="1"/>
          <p:nvPr/>
        </p:nvSpPr>
        <p:spPr>
          <a:xfrm>
            <a:off x="9038844" y="3386023"/>
            <a:ext cx="2601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[장난깜 자동차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26" name="Text 17"/>
          <p:cNvSpPr txBox="1"/>
          <p:nvPr/>
        </p:nvSpPr>
        <p:spPr>
          <a:xfrm>
            <a:off x="9111996" y="3660343"/>
            <a:ext cx="2455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auto de juguete</a:t>
            </a:r>
            <a:endParaRPr lang="en-US" sz="1600" dirty="0"/>
          </a:p>
        </p:txBody>
      </p:sp>
      <p:pic>
        <p:nvPicPr>
          <p:cNvPr id="27" name="Media 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11237976" y="1947672"/>
            <a:ext cx="310896" cy="310896"/>
          </a:xfrm>
          <a:prstGeom prst="rect">
            <a:avLst/>
          </a:prstGeom>
        </p:spPr>
      </p:pic>
      <p:sp>
        <p:nvSpPr>
          <p:cNvPr id="28" name="card_4"/>
          <p:cNvSpPr/>
          <p:nvPr/>
        </p:nvSpPr>
        <p:spPr>
          <a:xfrm>
            <a:off x="548640" y="413766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9" name="dibujo_4" descr="C:\Users\Chingu\AppData\Local\Temp\claude\C--Users-Chingu-Desktop-ACADEMIASEULWEB\d4111e1b-5523-44ea-97b2-b1a1d9545b9e\scratchpad\decks\cache\img_35bf33a82adde197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61084" y="4247388"/>
            <a:ext cx="976579" cy="976579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548640" y="524225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인형</a:t>
            </a:r>
            <a:endParaRPr lang="en-US" sz="2500" dirty="0"/>
          </a:p>
        </p:txBody>
      </p:sp>
      <p:sp>
        <p:nvSpPr>
          <p:cNvPr id="31" name="Text 20"/>
          <p:cNvSpPr txBox="1"/>
          <p:nvPr/>
        </p:nvSpPr>
        <p:spPr>
          <a:xfrm>
            <a:off x="621792" y="5649163"/>
            <a:ext cx="2455164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muñeco, peluche</a:t>
            </a:r>
            <a:endParaRPr lang="en-US" sz="1600" dirty="0"/>
          </a:p>
        </p:txBody>
      </p:sp>
      <p:pic>
        <p:nvPicPr>
          <p:cNvPr id="37" name="Media 4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2747772" y="4210812"/>
            <a:ext cx="310896" cy="310896"/>
          </a:xfrm>
          <a:prstGeom prst="rect">
            <a:avLst/>
          </a:prstGeom>
        </p:spPr>
      </p:pic>
      <p:sp>
        <p:nvSpPr>
          <p:cNvPr id="33" name="card_5"/>
          <p:cNvSpPr/>
          <p:nvPr/>
        </p:nvSpPr>
        <p:spPr>
          <a:xfrm>
            <a:off x="3378708" y="413766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34" name="dibujo_5" descr="C:\Users\Chingu\AppData\Local\Temp\claude\C--Users-Chingu-Desktop-ACADEMIASEULWEB\d4111e1b-5523-44ea-97b2-b1a1d9545b9e\scratchpad\decks\cache\img_7cf60ad330f447fb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191152" y="4247388"/>
            <a:ext cx="976579" cy="976579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3378708" y="524225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곰 인형</a:t>
            </a:r>
            <a:endParaRPr lang="en-US" sz="2500" dirty="0"/>
          </a:p>
        </p:txBody>
      </p:sp>
      <p:sp>
        <p:nvSpPr>
          <p:cNvPr id="36" name="Text 23"/>
          <p:cNvSpPr txBox="1"/>
          <p:nvPr/>
        </p:nvSpPr>
        <p:spPr>
          <a:xfrm>
            <a:off x="3451860" y="5649163"/>
            <a:ext cx="2455164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osito de peluche</a:t>
            </a:r>
            <a:endParaRPr lang="en-US" sz="1600" dirty="0"/>
          </a:p>
        </p:txBody>
      </p:sp>
      <p:pic>
        <p:nvPicPr>
          <p:cNvPr id="42" name="Media 5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5577840" y="4210812"/>
            <a:ext cx="310896" cy="310896"/>
          </a:xfrm>
          <a:prstGeom prst="rect">
            <a:avLst/>
          </a:prstGeom>
        </p:spPr>
      </p:pic>
      <p:sp>
        <p:nvSpPr>
          <p:cNvPr id="38" name="card_6"/>
          <p:cNvSpPr/>
          <p:nvPr/>
        </p:nvSpPr>
        <p:spPr>
          <a:xfrm>
            <a:off x="6208776" y="413766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39" name="dibujo_6" descr="C:\Users\Chingu\AppData\Local\Temp\claude\C--Users-Chingu-Desktop-ACADEMIASEULWEB\d4111e1b-5523-44ea-97b2-b1a1d9545b9e\scratchpad\decks\cache\img_628c5a1da2990b83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021220" y="4247388"/>
            <a:ext cx="976579" cy="976579"/>
          </a:xfrm>
          <a:prstGeom prst="rect">
            <a:avLst/>
          </a:prstGeom>
        </p:spPr>
      </p:pic>
      <p:sp>
        <p:nvSpPr>
          <p:cNvPr id="40" name="Text 25"/>
          <p:cNvSpPr txBox="1"/>
          <p:nvPr/>
        </p:nvSpPr>
        <p:spPr>
          <a:xfrm>
            <a:off x="6208776" y="524225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토끼 인형</a:t>
            </a:r>
            <a:endParaRPr lang="en-US" sz="2500" dirty="0"/>
          </a:p>
        </p:txBody>
      </p:sp>
      <p:sp>
        <p:nvSpPr>
          <p:cNvPr id="41" name="Text 26"/>
          <p:cNvSpPr txBox="1"/>
          <p:nvPr/>
        </p:nvSpPr>
        <p:spPr>
          <a:xfrm>
            <a:off x="6281928" y="5649163"/>
            <a:ext cx="2455164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conejo de peluche</a:t>
            </a:r>
            <a:endParaRPr lang="en-US" sz="1600" dirty="0"/>
          </a:p>
        </p:txBody>
      </p:sp>
      <p:pic>
        <p:nvPicPr>
          <p:cNvPr id="47" name="Media 6">
            <a:hlinkClick r:id="" action="ppaction://media"/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8407908" y="4210812"/>
            <a:ext cx="310896" cy="310896"/>
          </a:xfrm>
          <a:prstGeom prst="rect">
            <a:avLst/>
          </a:prstGeom>
        </p:spPr>
      </p:pic>
      <p:sp>
        <p:nvSpPr>
          <p:cNvPr id="43" name="card_7"/>
          <p:cNvSpPr/>
          <p:nvPr/>
        </p:nvSpPr>
        <p:spPr>
          <a:xfrm>
            <a:off x="9038844" y="413766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44" name="dibujo_7" descr="C:\Users\Chingu\AppData\Local\Temp\claude\C--Users-Chingu-Desktop-ACADEMIASEULWEB\d4111e1b-5523-44ea-97b2-b1a1d9545b9e\scratchpad\decks\cache\img_9769696af67b4bfc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851288" y="4247388"/>
            <a:ext cx="976579" cy="976579"/>
          </a:xfrm>
          <a:prstGeom prst="rect">
            <a:avLst/>
          </a:prstGeom>
        </p:spPr>
      </p:pic>
      <p:sp>
        <p:nvSpPr>
          <p:cNvPr id="45" name="Text 28"/>
          <p:cNvSpPr txBox="1"/>
          <p:nvPr/>
        </p:nvSpPr>
        <p:spPr>
          <a:xfrm>
            <a:off x="9038844" y="524225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강아지 인형</a:t>
            </a:r>
            <a:endParaRPr lang="en-US" sz="2500" dirty="0"/>
          </a:p>
        </p:txBody>
      </p:sp>
      <p:sp>
        <p:nvSpPr>
          <p:cNvPr id="46" name="Text 29"/>
          <p:cNvSpPr txBox="1"/>
          <p:nvPr/>
        </p:nvSpPr>
        <p:spPr>
          <a:xfrm>
            <a:off x="9111996" y="5649163"/>
            <a:ext cx="2455164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perrito de peluche</a:t>
            </a:r>
            <a:endParaRPr lang="en-US" sz="1600" dirty="0"/>
          </a:p>
        </p:txBody>
      </p:sp>
      <p:pic>
        <p:nvPicPr>
          <p:cNvPr id="32" name="Media 7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11237976" y="4210812"/>
            <a:ext cx="310896" cy="310896"/>
          </a:xfrm>
          <a:prstGeom prst="rect">
            <a:avLst/>
          </a:prstGeom>
        </p:spPr>
      </p:pic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있어요 </a:t>
            </a:r>
            <a:r>
              <a:rPr lang="en-US" sz="2200" b="1" dirty="0">
                <a:solidFill>
                  <a:srgbClr val="4236F6"/>
                </a:solidFill>
              </a:rPr>
              <a:t>· </a:t>
            </a: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없어요  </a:t>
            </a:r>
            <a:r>
              <a:rPr lang="ko-KR" altLang="en-US" sz="22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Tener: 있어요 </a:t>
            </a:r>
            <a:r>
              <a:rPr lang="en-US" sz="2200" b="1" dirty="0">
                <a:solidFill>
                  <a:srgbClr val="003478"/>
                </a:solidFill>
              </a:rPr>
              <a:t>· No tener: </a:t>
            </a:r>
            <a:r>
              <a:rPr lang="ko-KR" altLang="en-US" sz="22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없어요</a:t>
            </a:r>
            <a:r>
              <a:rPr lang="en-US" sz="1500" b="1" i="1" dirty="0">
                <a:solidFill>
                  <a:srgbClr val="8A8DA0"/>
                </a:solidFill>
              </a:rPr>
              <a:t>   To have / not to have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 cosa lleva 이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en-US" sz="1800" i="1" dirty="0">
                <a:solidFill>
                  <a:srgbClr val="4236F6"/>
                </a:solidFill>
              </a:rPr>
              <a:t>(como en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</a:t>
            </a:r>
            <a:r>
              <a:rPr lang="en-US" sz="1800" i="1" dirty="0">
                <a:solidFill>
                  <a:srgbClr val="4236F6"/>
                </a:solidFill>
              </a:rPr>
              <a:t>) · nunca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endParaRPr lang="en-US" sz="1800" dirty="0"/>
          </a:p>
        </p:txBody>
      </p:sp>
      <p:sp>
        <p:nvSpPr>
          <p:cNvPr id="4" name="col_0"/>
          <p:cNvSpPr/>
          <p:nvPr/>
        </p:nvSpPr>
        <p:spPr>
          <a:xfrm>
            <a:off x="548640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2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있어요 </a:t>
            </a:r>
            <a:r>
              <a:rPr lang="en-US" sz="2000" b="1" dirty="0">
                <a:solidFill>
                  <a:srgbClr val="003478"/>
                </a:solidFill>
              </a:rPr>
              <a:t>= tengo · hay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___이</a:t>
            </a:r>
            <a:r>
              <a:rPr lang="en-US" sz="2800" b="1" dirty="0">
                <a:solidFill>
                  <a:srgbClr val="4236F6"/>
                </a:solidFill>
              </a:rPr>
              <a:t>/</a:t>
            </a: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있어요</a:t>
            </a:r>
            <a:endParaRPr lang="en-US" sz="2800" dirty="0"/>
          </a:p>
        </p:txBody>
      </p:sp>
      <p:sp>
        <p:nvSpPr>
          <p:cNvPr id="7" name="lista"/>
          <p:cNvSpPr txBox="1"/>
          <p:nvPr/>
        </p:nvSpPr>
        <p:spPr>
          <a:xfrm>
            <a:off x="731520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곰 인형이 있어요</a:t>
            </a:r>
            <a:r>
              <a:rPr lang="en-US" sz="1800" dirty="0">
                <a:solidFill>
                  <a:srgbClr val="14142B"/>
                </a:solidFill>
              </a:rPr>
              <a:t>.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장난감 기차가 있어요</a:t>
            </a:r>
            <a:r>
              <a:rPr lang="en-US" sz="1800" dirty="0">
                <a:solidFill>
                  <a:srgbClr val="14142B"/>
                </a:solidFill>
              </a:rPr>
              <a:t>.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자동차가 있어요</a:t>
            </a:r>
            <a:r>
              <a:rPr lang="en-US" sz="1800" dirty="0">
                <a:solidFill>
                  <a:srgbClr val="14142B"/>
                </a:solidFill>
              </a:rPr>
              <a:t>.</a:t>
            </a:r>
            <a:endParaRPr lang="en-US" sz="1800" dirty="0"/>
          </a:p>
        </p:txBody>
      </p:sp>
      <p:sp>
        <p:nvSpPr>
          <p:cNvPr id="8" name="col_1"/>
          <p:cNvSpPr/>
          <p:nvPr/>
        </p:nvSpPr>
        <p:spPr>
          <a:xfrm>
            <a:off x="4352544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2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없어요 </a:t>
            </a:r>
            <a:r>
              <a:rPr lang="en-US" sz="2000" b="1" dirty="0">
                <a:solidFill>
                  <a:srgbClr val="003478"/>
                </a:solidFill>
              </a:rPr>
              <a:t>= no tengo · no hay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___이</a:t>
            </a:r>
            <a:r>
              <a:rPr lang="en-US" sz="2800" b="1" dirty="0">
                <a:solidFill>
                  <a:srgbClr val="4236F6"/>
                </a:solidFill>
              </a:rPr>
              <a:t>/</a:t>
            </a: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없어요</a:t>
            </a:r>
            <a:endParaRPr lang="en-US" sz="2800" dirty="0"/>
          </a:p>
        </p:txBody>
      </p:sp>
      <p:sp>
        <p:nvSpPr>
          <p:cNvPr id="11" name="lista"/>
          <p:cNvSpPr txBox="1"/>
          <p:nvPr/>
        </p:nvSpPr>
        <p:spPr>
          <a:xfrm>
            <a:off x="4535424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곰 인형이 없어요</a:t>
            </a:r>
            <a:r>
              <a:rPr lang="en-US" sz="1800" dirty="0">
                <a:solidFill>
                  <a:srgbClr val="14142B"/>
                </a:solidFill>
              </a:rPr>
              <a:t>.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장난감 기차가 없어요</a:t>
            </a:r>
            <a:r>
              <a:rPr lang="en-US" sz="1800" dirty="0">
                <a:solidFill>
                  <a:srgbClr val="14142B"/>
                </a:solidFill>
              </a:rPr>
              <a:t>.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자동차가 없어요</a:t>
            </a:r>
            <a:r>
              <a:rPr lang="en-US" sz="1800" dirty="0">
                <a:solidFill>
                  <a:srgbClr val="14142B"/>
                </a:solidFill>
              </a:rPr>
              <a:t>.</a:t>
            </a:r>
            <a:endParaRPr lang="en-US" sz="1800" dirty="0"/>
          </a:p>
        </p:txBody>
      </p:sp>
      <p:sp>
        <p:nvSpPr>
          <p:cNvPr id="12" name="col_2"/>
          <p:cNvSpPr/>
          <p:nvPr/>
        </p:nvSpPr>
        <p:spPr>
          <a:xfrm>
            <a:off x="8156448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2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¿이 </a:t>
            </a:r>
            <a:r>
              <a:rPr lang="en-US" sz="2000" b="1" dirty="0">
                <a:solidFill>
                  <a:srgbClr val="003478"/>
                </a:solidFill>
              </a:rPr>
              <a:t>o </a:t>
            </a:r>
            <a:r>
              <a:rPr lang="ko-KR" altLang="en-US" sz="2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r>
              <a:rPr lang="en-US" sz="2000" b="1" dirty="0">
                <a:solidFill>
                  <a:srgbClr val="003478"/>
                </a:solidFill>
              </a:rPr>
              <a:t>?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받침 </a:t>
            </a:r>
            <a:r>
              <a:rPr lang="en-US" sz="2800" b="1" dirty="0">
                <a:solidFill>
                  <a:srgbClr val="4236F6"/>
                </a:solidFill>
              </a:rPr>
              <a:t>→ </a:t>
            </a: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</a:t>
            </a:r>
            <a:r>
              <a:rPr lang="en-US" sz="2800" b="1" dirty="0">
                <a:solidFill>
                  <a:srgbClr val="4236F6"/>
                </a:solidFill>
              </a:rPr>
              <a:t>·</a:t>
            </a:r>
            <a:endParaRPr lang="en-US" sz="2800" dirty="0"/>
          </a:p>
          <a:p>
            <a:pPr marL="0" indent="0" eaLnBrk="1">
              <a:buNone/>
            </a:pP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vocal → 가</a:t>
            </a:r>
            <a:endParaRPr lang="en-US" sz="2800" dirty="0"/>
          </a:p>
        </p:txBody>
      </p:sp>
      <p:sp>
        <p:nvSpPr>
          <p:cNvPr id="15" name="lista"/>
          <p:cNvSpPr txBox="1"/>
          <p:nvPr/>
        </p:nvSpPr>
        <p:spPr>
          <a:xfrm>
            <a:off x="8339328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인형이 </a:t>
            </a:r>
            <a:r>
              <a:rPr lang="en-US" sz="1800" dirty="0">
                <a:solidFill>
                  <a:srgbClr val="14142B"/>
                </a:solidFill>
              </a:rPr>
              <a:t>·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양말이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기차가 </a:t>
            </a:r>
            <a:r>
              <a:rPr lang="en-US" sz="1800" dirty="0">
                <a:solidFill>
                  <a:srgbClr val="14142B"/>
                </a:solidFill>
              </a:rPr>
              <a:t>·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자동차가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자동차를 있어요 </a:t>
            </a:r>
            <a:r>
              <a:rPr lang="en-US" sz="1800" dirty="0">
                <a:solidFill>
                  <a:srgbClr val="14142B"/>
                </a:solidFill>
              </a:rPr>
              <a:t>✗ →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자동차가 있어요 </a:t>
            </a:r>
            <a:r>
              <a:rPr lang="en-US" sz="1800" dirty="0">
                <a:solidFill>
                  <a:srgbClr val="14142B"/>
                </a:solidFill>
              </a:rPr>
              <a:t>✓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발음  </a:t>
            </a:r>
            <a:r>
              <a:rPr lang="en-US" sz="3000" b="1" dirty="0">
                <a:solidFill>
                  <a:srgbClr val="003478"/>
                </a:solidFill>
              </a:rPr>
              <a:t>Así suena</a:t>
            </a:r>
            <a:r>
              <a:rPr lang="en-US" sz="1500" b="1" i="1" dirty="0">
                <a:solidFill>
                  <a:srgbClr val="8A8DA0"/>
                </a:solidFill>
              </a:rPr>
              <a:t>   How it sounds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Lean en coro, dos veces</a:t>
            </a:r>
            <a:endParaRPr lang="en-US" sz="1800" dirty="0"/>
          </a:p>
        </p:txBody>
      </p:sp>
      <p:sp>
        <p:nvSpPr>
          <p:cNvPr id="4" name="tile_0"/>
          <p:cNvSpPr/>
          <p:nvPr/>
        </p:nvSpPr>
        <p:spPr>
          <a:xfrm>
            <a:off x="548640" y="1874520"/>
            <a:ext cx="2601468" cy="2377440"/>
          </a:xfrm>
          <a:prstGeom prst="roundRect">
            <a:avLst>
              <a:gd name="adj" fmla="val 5769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47672"/>
            <a:ext cx="2601468" cy="14740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있어요</a:t>
            </a:r>
            <a:endParaRPr lang="en-US" sz="59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396082"/>
            <a:ext cx="2510028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20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[이써요</a:t>
            </a:r>
            <a:r>
              <a:rPr lang="en-US" sz="2000" dirty="0">
                <a:solidFill>
                  <a:srgbClr val="5C5F6B"/>
                </a:solidFill>
              </a:rPr>
              <a:t>] · tengo, hay</a:t>
            </a:r>
            <a:endParaRPr lang="en-US" sz="2000" dirty="0"/>
          </a:p>
        </p:txBody>
      </p:sp>
      <p:sp>
        <p:nvSpPr>
          <p:cNvPr id="7" name="tile_1"/>
          <p:cNvSpPr/>
          <p:nvPr/>
        </p:nvSpPr>
        <p:spPr>
          <a:xfrm>
            <a:off x="3378708" y="1874520"/>
            <a:ext cx="2601468" cy="2377440"/>
          </a:xfrm>
          <a:prstGeom prst="roundRect">
            <a:avLst>
              <a:gd name="adj" fmla="val 5769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78708" y="1947672"/>
            <a:ext cx="2601468" cy="14740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없어요</a:t>
            </a:r>
            <a:endParaRPr lang="en-US" sz="5900" dirty="0"/>
          </a:p>
        </p:txBody>
      </p:sp>
      <p:sp>
        <p:nvSpPr>
          <p:cNvPr id="9" name="Text 7"/>
          <p:cNvSpPr txBox="1"/>
          <p:nvPr/>
        </p:nvSpPr>
        <p:spPr>
          <a:xfrm>
            <a:off x="3424428" y="3396082"/>
            <a:ext cx="2510028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20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[업써요</a:t>
            </a:r>
            <a:r>
              <a:rPr lang="en-US" sz="2000" dirty="0">
                <a:solidFill>
                  <a:srgbClr val="5C5F6B"/>
                </a:solidFill>
              </a:rPr>
              <a:t>] · no tengo, no hay</a:t>
            </a:r>
            <a:endParaRPr lang="en-US" sz="2000" dirty="0"/>
          </a:p>
        </p:txBody>
      </p:sp>
      <p:sp>
        <p:nvSpPr>
          <p:cNvPr id="10" name="tile_2"/>
          <p:cNvSpPr/>
          <p:nvPr/>
        </p:nvSpPr>
        <p:spPr>
          <a:xfrm>
            <a:off x="6208776" y="1874520"/>
            <a:ext cx="2601468" cy="2377440"/>
          </a:xfrm>
          <a:prstGeom prst="roundRect">
            <a:avLst>
              <a:gd name="adj" fmla="val 5769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08776" y="1947672"/>
            <a:ext cx="2601468" cy="14740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장난감</a:t>
            </a:r>
            <a:endParaRPr lang="en-US" sz="5900" dirty="0"/>
          </a:p>
        </p:txBody>
      </p:sp>
      <p:sp>
        <p:nvSpPr>
          <p:cNvPr id="12" name="Text 10"/>
          <p:cNvSpPr txBox="1"/>
          <p:nvPr/>
        </p:nvSpPr>
        <p:spPr>
          <a:xfrm>
            <a:off x="6254496" y="3396082"/>
            <a:ext cx="2510028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20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[장난깜</a:t>
            </a:r>
            <a:r>
              <a:rPr lang="en-US" sz="2000" dirty="0">
                <a:solidFill>
                  <a:srgbClr val="5C5F6B"/>
                </a:solidFill>
              </a:rPr>
              <a:t>] · juguete</a:t>
            </a:r>
            <a:endParaRPr lang="en-US" sz="2000" dirty="0"/>
          </a:p>
        </p:txBody>
      </p:sp>
      <p:sp>
        <p:nvSpPr>
          <p:cNvPr id="13" name="tile_3"/>
          <p:cNvSpPr/>
          <p:nvPr/>
        </p:nvSpPr>
        <p:spPr>
          <a:xfrm>
            <a:off x="9038844" y="1874520"/>
            <a:ext cx="2601468" cy="2377440"/>
          </a:xfrm>
          <a:prstGeom prst="roundRect">
            <a:avLst>
              <a:gd name="adj" fmla="val 5769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38844" y="1947672"/>
            <a:ext cx="2601468" cy="14740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선물은</a:t>
            </a:r>
            <a:endParaRPr lang="en-US" sz="5900" dirty="0"/>
          </a:p>
        </p:txBody>
      </p:sp>
      <p:sp>
        <p:nvSpPr>
          <p:cNvPr id="15" name="Text 13"/>
          <p:cNvSpPr txBox="1"/>
          <p:nvPr/>
        </p:nvSpPr>
        <p:spPr>
          <a:xfrm>
            <a:off x="9084564" y="3396082"/>
            <a:ext cx="2510028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20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[선무른</a:t>
            </a:r>
            <a:r>
              <a:rPr lang="en-US" sz="2000" dirty="0">
                <a:solidFill>
                  <a:srgbClr val="5C5F6B"/>
                </a:solidFill>
              </a:rPr>
              <a:t>] · el regalo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뭐가 있어요</a:t>
            </a:r>
            <a:r>
              <a:rPr lang="en-US" sz="3000" b="1" dirty="0">
                <a:solidFill>
                  <a:srgbClr val="4236F6"/>
                </a:solidFill>
              </a:rPr>
              <a:t>?  </a:t>
            </a:r>
            <a:r>
              <a:rPr lang="en-US" sz="3000" b="1" dirty="0">
                <a:solidFill>
                  <a:srgbClr val="003478"/>
                </a:solidFill>
              </a:rPr>
              <a:t>¿Qué tienes? ¿Qué hay?</a:t>
            </a:r>
            <a:r>
              <a:rPr lang="en-US" sz="1500" b="1" i="1" dirty="0">
                <a:solidFill>
                  <a:srgbClr val="8A8DA0"/>
                </a:solidFill>
              </a:rPr>
              <a:t>   What do you have?</a:t>
            </a:r>
            <a:endParaRPr lang="en-US" sz="3000" dirty="0"/>
          </a:p>
        </p:txBody>
      </p:sp>
      <p:pic>
        <p:nvPicPr>
          <p:cNvPr id="3" name="imagen" descr="C:\Users\Chingu\AppData\Local\Temp\claude\C--Users-Chingu-Desktop-ACADEMIASEULWEB\d4111e1b-5523-44ea-97b2-b1a1d9545b9e\scratchpad\decks\cache\img_f86aab53223e1c7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4112" y="1508760"/>
            <a:ext cx="3886200" cy="4480560"/>
          </a:xfrm>
          <a:prstGeom prst="rect">
            <a:avLst/>
          </a:prstGeom>
        </p:spPr>
      </p:pic>
      <p:sp>
        <p:nvSpPr>
          <p:cNvPr id="4" name="panel"/>
          <p:cNvSpPr/>
          <p:nvPr/>
        </p:nvSpPr>
        <p:spPr>
          <a:xfrm>
            <a:off x="548640" y="1645920"/>
            <a:ext cx="6931152" cy="3108960"/>
          </a:xfrm>
          <a:prstGeom prst="roundRect">
            <a:avLst>
              <a:gd name="adj" fmla="val 8824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5" name="frase_ko"/>
          <p:cNvSpPr txBox="1"/>
          <p:nvPr/>
        </p:nvSpPr>
        <p:spPr>
          <a:xfrm>
            <a:off x="731520" y="1828800"/>
            <a:ext cx="6565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6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뭐가 있어요</a:t>
            </a:r>
            <a:r>
              <a:rPr lang="en-US" sz="6400" b="1" dirty="0">
                <a:solidFill>
                  <a:srgbClr val="4236F6"/>
                </a:solidFill>
              </a:rPr>
              <a:t>?</a:t>
            </a:r>
            <a:endParaRPr lang="en-US" sz="64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3657600"/>
            <a:ext cx="5742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2400" dirty="0">
                <a:solidFill>
                  <a:srgbClr val="5C5F6B"/>
                </a:solidFill>
              </a:rPr>
              <a:t>¿Qué tienes? · ¿Qué hay?</a:t>
            </a:r>
            <a:endParaRPr lang="en-US" sz="2400" dirty="0"/>
          </a:p>
        </p:txBody>
      </p:sp>
      <p:pic>
        <p:nvPicPr>
          <p:cNvPr id="7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903720" y="4160520"/>
            <a:ext cx="384048" cy="384048"/>
          </a:xfrm>
          <a:prstGeom prst="rect">
            <a:avLst/>
          </a:prstGeom>
        </p:spPr>
      </p:pic>
      <p:sp>
        <p:nvSpPr>
          <p:cNvPr id="8" name="lista"/>
          <p:cNvSpPr txBox="1"/>
          <p:nvPr/>
        </p:nvSpPr>
        <p:spPr>
          <a:xfrm>
            <a:off x="548640" y="4937760"/>
            <a:ext cx="6931152" cy="1234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뭐 </a:t>
            </a:r>
            <a:r>
              <a:rPr lang="en-US" sz="1800" dirty="0">
                <a:solidFill>
                  <a:srgbClr val="14142B"/>
                </a:solidFill>
              </a:rPr>
              <a:t>+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en-US" sz="1800" dirty="0">
                <a:solidFill>
                  <a:srgbClr val="14142B"/>
                </a:solidFill>
              </a:rPr>
              <a:t>=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뭐가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연습해요 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 repisa de 서아</a:t>
            </a:r>
            <a:r>
              <a:rPr lang="ko-KR" altLang="en-US" sz="1500" b="1" i="1" dirty="0">
                <a:solidFill>
                  <a:srgbClr val="8A8DA0"/>
                </a:solidFill>
              </a:rPr>
              <a:t>   서아's toy shelf</a:t>
            </a:r>
            <a:endParaRPr lang="en-US" sz="3000" dirty="0"/>
          </a:p>
        </p:txBody>
      </p:sp>
      <p:pic>
        <p:nvPicPr>
          <p:cNvPr id="3" name="imagen" descr="C:\Users\Chingu\AppData\Local\Temp\claude\C--Users-Chingu-Desktop-ACADEMIASEULWEB\d4111e1b-5523-44ea-97b2-b1a1d9545b9e\scratchpad\decks\cache\img_4d30640713ea57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1508760"/>
            <a:ext cx="3886200" cy="4480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25880"/>
            <a:ext cx="6931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Mira la repisa: ¿있어요 </a:t>
            </a:r>
            <a:r>
              <a:rPr lang="en-US" sz="1800" i="1" dirty="0">
                <a:solidFill>
                  <a:srgbClr val="4236F6"/>
                </a:solidFill>
              </a:rPr>
              <a:t>o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없어요</a:t>
            </a:r>
            <a:r>
              <a:rPr lang="en-US" sz="1800" i="1" dirty="0">
                <a:solidFill>
                  <a:srgbClr val="4236F6"/>
                </a:solidFill>
              </a:rPr>
              <a:t>? · Responde en coro; la respuesta aparece con clic</a:t>
            </a:r>
            <a:endParaRPr lang="en-US" sz="1800" dirty="0"/>
          </a:p>
        </p:txBody>
      </p:sp>
      <p:sp>
        <p:nvSpPr>
          <p:cNvPr id="5" name="num_0"/>
          <p:cNvSpPr/>
          <p:nvPr/>
        </p:nvSpPr>
        <p:spPr>
          <a:xfrm>
            <a:off x="548640" y="203454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0345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965960"/>
            <a:ext cx="273551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1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곰 인형이 있어요</a:t>
            </a:r>
            <a:r>
              <a:rPr lang="en-US" sz="2100" dirty="0">
                <a:solidFill>
                  <a:srgbClr val="14142B"/>
                </a:solidFill>
              </a:rPr>
              <a:t>?</a:t>
            </a:r>
            <a:endParaRPr lang="en-US" sz="2100" dirty="0"/>
          </a:p>
        </p:txBody>
      </p:sp>
      <p:sp>
        <p:nvSpPr>
          <p:cNvPr id="8" name="rev_6_caja"/>
          <p:cNvSpPr/>
          <p:nvPr/>
        </p:nvSpPr>
        <p:spPr>
          <a:xfrm>
            <a:off x="4152839" y="2002536"/>
            <a:ext cx="3326953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9" name="rev_6_txt"/>
          <p:cNvSpPr txBox="1"/>
          <p:nvPr/>
        </p:nvSpPr>
        <p:spPr>
          <a:xfrm>
            <a:off x="4244279" y="2002536"/>
            <a:ext cx="3144073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</a:t>
            </a:r>
            <a:r>
              <a:rPr lang="en-US" sz="2200" b="1" dirty="0">
                <a:solidFill>
                  <a:srgbClr val="FFFFFF"/>
                </a:solidFill>
              </a:rPr>
              <a:t>,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10" name="num_1"/>
          <p:cNvSpPr/>
          <p:nvPr/>
        </p:nvSpPr>
        <p:spPr>
          <a:xfrm>
            <a:off x="548640" y="275691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7569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688336"/>
            <a:ext cx="273551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장난감 기차가 있어요</a:t>
            </a:r>
            <a:r>
              <a:rPr lang="en-US" sz="1900" dirty="0">
                <a:solidFill>
                  <a:srgbClr val="14142B"/>
                </a:solidFill>
              </a:rPr>
              <a:t>?</a:t>
            </a:r>
            <a:endParaRPr lang="en-US" sz="1900" dirty="0"/>
          </a:p>
        </p:txBody>
      </p:sp>
      <p:sp>
        <p:nvSpPr>
          <p:cNvPr id="13" name="rev_7_caja"/>
          <p:cNvSpPr/>
          <p:nvPr/>
        </p:nvSpPr>
        <p:spPr>
          <a:xfrm>
            <a:off x="4152839" y="2724912"/>
            <a:ext cx="3326953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4" name="rev_7_txt"/>
          <p:cNvSpPr txBox="1"/>
          <p:nvPr/>
        </p:nvSpPr>
        <p:spPr>
          <a:xfrm>
            <a:off x="4244279" y="2724912"/>
            <a:ext cx="3144073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2200" b="1" dirty="0">
                <a:solidFill>
                  <a:srgbClr val="FFFFFF"/>
                </a:solidFill>
              </a:rPr>
              <a:t>,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15" name="num_2"/>
          <p:cNvSpPr/>
          <p:nvPr/>
        </p:nvSpPr>
        <p:spPr>
          <a:xfrm>
            <a:off x="548640" y="347929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34792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3410712"/>
            <a:ext cx="273551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장난감 비행기가 있어요</a:t>
            </a:r>
            <a:r>
              <a:rPr lang="en-US" sz="1900" dirty="0">
                <a:solidFill>
                  <a:srgbClr val="14142B"/>
                </a:solidFill>
              </a:rPr>
              <a:t>?</a:t>
            </a:r>
            <a:endParaRPr lang="en-US" sz="1900" dirty="0"/>
          </a:p>
        </p:txBody>
      </p:sp>
      <p:sp>
        <p:nvSpPr>
          <p:cNvPr id="18" name="rev_8_caja"/>
          <p:cNvSpPr/>
          <p:nvPr/>
        </p:nvSpPr>
        <p:spPr>
          <a:xfrm>
            <a:off x="4152839" y="3447288"/>
            <a:ext cx="3326953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9" name="rev_8_txt"/>
          <p:cNvSpPr txBox="1"/>
          <p:nvPr/>
        </p:nvSpPr>
        <p:spPr>
          <a:xfrm>
            <a:off x="4244279" y="3447288"/>
            <a:ext cx="3144073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2200" b="1" dirty="0">
                <a:solidFill>
                  <a:srgbClr val="FFFFFF"/>
                </a:solidFill>
              </a:rPr>
              <a:t>,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20" name="num_3"/>
          <p:cNvSpPr/>
          <p:nvPr/>
        </p:nvSpPr>
        <p:spPr>
          <a:xfrm>
            <a:off x="548640" y="420166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42016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188720" y="4133088"/>
            <a:ext cx="273551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토끼 인형이 있어요</a:t>
            </a:r>
            <a:r>
              <a:rPr lang="en-US" sz="1900" dirty="0">
                <a:solidFill>
                  <a:srgbClr val="14142B"/>
                </a:solidFill>
              </a:rPr>
              <a:t>?</a:t>
            </a:r>
            <a:endParaRPr lang="en-US" sz="1900" dirty="0"/>
          </a:p>
        </p:txBody>
      </p:sp>
      <p:sp>
        <p:nvSpPr>
          <p:cNvPr id="23" name="rev_9_caja"/>
          <p:cNvSpPr/>
          <p:nvPr/>
        </p:nvSpPr>
        <p:spPr>
          <a:xfrm>
            <a:off x="4152839" y="4169664"/>
            <a:ext cx="3326953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4" name="rev_9_txt"/>
          <p:cNvSpPr txBox="1"/>
          <p:nvPr/>
        </p:nvSpPr>
        <p:spPr>
          <a:xfrm>
            <a:off x="4244279" y="4169664"/>
            <a:ext cx="3144073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</a:t>
            </a:r>
            <a:r>
              <a:rPr lang="en-US" sz="2200" b="1" dirty="0">
                <a:solidFill>
                  <a:srgbClr val="FFFFFF"/>
                </a:solidFill>
              </a:rPr>
              <a:t>,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25" name="num_4"/>
          <p:cNvSpPr/>
          <p:nvPr/>
        </p:nvSpPr>
        <p:spPr>
          <a:xfrm>
            <a:off x="548640" y="4924044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49240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188720" y="4855464"/>
            <a:ext cx="273551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강아지 인형이 있어요</a:t>
            </a:r>
            <a:r>
              <a:rPr lang="en-US" sz="1900" dirty="0">
                <a:solidFill>
                  <a:srgbClr val="14142B"/>
                </a:solidFill>
              </a:rPr>
              <a:t>?</a:t>
            </a:r>
            <a:endParaRPr lang="en-US" sz="1900" dirty="0"/>
          </a:p>
        </p:txBody>
      </p:sp>
      <p:sp>
        <p:nvSpPr>
          <p:cNvPr id="28" name="rev_10_caja"/>
          <p:cNvSpPr/>
          <p:nvPr/>
        </p:nvSpPr>
        <p:spPr>
          <a:xfrm>
            <a:off x="4152839" y="4892040"/>
            <a:ext cx="3326953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9" name="rev_10_txt"/>
          <p:cNvSpPr txBox="1"/>
          <p:nvPr/>
        </p:nvSpPr>
        <p:spPr>
          <a:xfrm>
            <a:off x="4244279" y="4892040"/>
            <a:ext cx="3144073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2200" b="1" dirty="0">
                <a:solidFill>
                  <a:srgbClr val="FFFFFF"/>
                </a:solidFill>
              </a:rPr>
              <a:t>,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30" name="num_5"/>
          <p:cNvSpPr/>
          <p:nvPr/>
        </p:nvSpPr>
        <p:spPr>
          <a:xfrm>
            <a:off x="548640" y="564642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48640" y="56464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1188720" y="5577840"/>
            <a:ext cx="273551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뭐가 있어요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</p:txBody>
      </p:sp>
      <p:sp>
        <p:nvSpPr>
          <p:cNvPr id="33" name="rev_11_caja"/>
          <p:cNvSpPr/>
          <p:nvPr/>
        </p:nvSpPr>
        <p:spPr>
          <a:xfrm>
            <a:off x="4152839" y="5614416"/>
            <a:ext cx="3326953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4" name="rev_11_txt"/>
          <p:cNvSpPr txBox="1"/>
          <p:nvPr/>
        </p:nvSpPr>
        <p:spPr>
          <a:xfrm>
            <a:off x="4244279" y="5614416"/>
            <a:ext cx="3144073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곰 인형하고 토끼 인형하고 장난감 자동차가 있어요</a:t>
            </a:r>
            <a:r>
              <a:rPr lang="en-US" sz="1500" b="1" dirty="0">
                <a:solidFill>
                  <a:srgbClr val="FFFFFF"/>
                </a:solidFill>
              </a:rPr>
              <a:t>.</a:t>
            </a:r>
            <a:endParaRPr lang="en-US" sz="15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  <p:bldP spid="19" grpId="0" animBg="1"/>
      <p:bldP spid="24" grpId="0" animBg="1"/>
      <p:bldP spid="29" grpId="0" animBg="1"/>
      <p:bldP spid="3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이야기해요  </a:t>
            </a:r>
            <a:r>
              <a:rPr lang="en-US" sz="3000" b="1" dirty="0">
                <a:solidFill>
                  <a:srgbClr val="003478"/>
                </a:solidFill>
              </a:rPr>
              <a:t>¿Y tú? ¿Tienes…?</a:t>
            </a:r>
            <a:r>
              <a:rPr lang="en-US" sz="1500" b="1" i="1" dirty="0">
                <a:solidFill>
                  <a:srgbClr val="8A8DA0"/>
                </a:solidFill>
              </a:rPr>
              <a:t>   And you? Do you have…?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</a:t>
            </a:r>
            <a:r>
              <a:rPr lang="en-US" sz="1800" i="1" dirty="0">
                <a:solidFill>
                  <a:srgbClr val="4236F6"/>
                </a:solidFill>
              </a:rPr>
              <a:t>,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있어요</a:t>
            </a:r>
            <a:r>
              <a:rPr lang="en-US" sz="1800" i="1" dirty="0">
                <a:solidFill>
                  <a:srgbClr val="4236F6"/>
                </a:solidFill>
              </a:rPr>
              <a:t>. /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1800" i="1" dirty="0">
                <a:solidFill>
                  <a:srgbClr val="4236F6"/>
                </a:solidFill>
              </a:rPr>
              <a:t>,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없어요</a:t>
            </a:r>
            <a:r>
              <a:rPr lang="en-US" sz="1800" i="1" dirty="0">
                <a:solidFill>
                  <a:srgbClr val="4236F6"/>
                </a:solidFill>
              </a:rPr>
              <a:t>.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자동차가 있어요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자전거가 있어요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강아지가 있어요</a:t>
            </a:r>
            <a:r>
              <a:rPr lang="en-US" sz="2400" dirty="0">
                <a:solidFill>
                  <a:srgbClr val="14142B"/>
                </a:solidFill>
              </a:rPr>
              <a:t>?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고양이가 있어요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동생이 있어요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친구가 있어요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Ojo: 자동차 </a:t>
            </a:r>
            <a:r>
              <a:rPr lang="en-US" sz="2400" dirty="0">
                <a:solidFill>
                  <a:srgbClr val="14142B"/>
                </a:solidFill>
              </a:rPr>
              <a:t>= auto de verdad 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장난감 자동차 </a:t>
            </a:r>
            <a:r>
              <a:rPr lang="en-US" sz="2400" dirty="0">
                <a:solidFill>
                  <a:srgbClr val="14142B"/>
                </a:solidFill>
              </a:rPr>
              <a:t>= de juguete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이야기해요</a:t>
            </a:r>
            <a:endParaRPr lang="en-US" sz="4600" dirty="0"/>
          </a:p>
        </p:txBody>
      </p:sp>
      <p:pic>
        <p:nvPicPr>
          <p:cNvPr id="7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601200" y="4983480"/>
            <a:ext cx="384048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이게 뭐예요</a:t>
            </a:r>
            <a:r>
              <a:rPr lang="en-US" sz="3000" b="1" dirty="0">
                <a:solidFill>
                  <a:srgbClr val="4236F6"/>
                </a:solidFill>
              </a:rPr>
              <a:t>?  </a:t>
            </a:r>
            <a:r>
              <a:rPr lang="en-US" sz="3000" b="1" dirty="0">
                <a:solidFill>
                  <a:srgbClr val="003478"/>
                </a:solidFill>
              </a:rPr>
              <a:t>¿Qué es esto?</a:t>
            </a:r>
            <a:r>
              <a:rPr lang="en-US" sz="1500" b="1" i="1" dirty="0">
                <a:solidFill>
                  <a:srgbClr val="8A8DA0"/>
                </a:solidFill>
              </a:rPr>
              <a:t>   What is this?</a:t>
            </a:r>
            <a:endParaRPr lang="en-US" sz="3000" dirty="0"/>
          </a:p>
        </p:txBody>
      </p:sp>
      <p:pic>
        <p:nvPicPr>
          <p:cNvPr id="3" name="imagen" descr="C:\Users\Chingu\AppData\Local\Temp\claude\C--Users-Chingu-Desktop-ACADEMIASEULWEB\d4111e1b-5523-44ea-97b2-b1a1d9545b9e\scratchpad\decks\cache\img_a1c5e489600f742f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54112" y="1508760"/>
            <a:ext cx="3886200" cy="4480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25880"/>
            <a:ext cx="6931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</a:t>
            </a:r>
            <a:r>
              <a:rPr lang="en-US" sz="1800" i="1" dirty="0">
                <a:solidFill>
                  <a:srgbClr val="4236F6"/>
                </a:solidFill>
              </a:rPr>
              <a:t>le manda a Mateo fotos muy de cerca</a:t>
            </a:r>
            <a:endParaRPr lang="en-US" sz="1800" dirty="0"/>
          </a:p>
        </p:txBody>
      </p:sp>
      <p:sp>
        <p:nvSpPr>
          <p:cNvPr id="5" name="card_0"/>
          <p:cNvSpPr/>
          <p:nvPr/>
        </p:nvSpPr>
        <p:spPr>
          <a:xfrm>
            <a:off x="548640" y="1874520"/>
            <a:ext cx="1561338" cy="2034540"/>
          </a:xfrm>
          <a:prstGeom prst="roundRect">
            <a:avLst>
              <a:gd name="adj" fmla="val 8785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48640" y="2228393"/>
            <a:ext cx="1561338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마테오 씨</a:t>
            </a:r>
            <a:r>
              <a:rPr lang="en-US" sz="1600" b="1" dirty="0">
                <a:solidFill>
                  <a:srgbClr val="4236F6"/>
                </a:solidFill>
              </a:rPr>
              <a:t>, </a:t>
            </a: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이게 뭐예요</a:t>
            </a:r>
            <a:r>
              <a:rPr lang="en-US" sz="1600" b="1" dirty="0">
                <a:solidFill>
                  <a:srgbClr val="4236F6"/>
                </a:solidFill>
              </a:rPr>
              <a:t>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2920136"/>
            <a:ext cx="1415034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4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r>
              <a:rPr lang="en-US" sz="1400" dirty="0">
                <a:solidFill>
                  <a:srgbClr val="5C5F6B"/>
                </a:solidFill>
              </a:rPr>
              <a:t>: Mateo, ¿qué es esto? (foto 1)</a:t>
            </a:r>
            <a:endParaRPr lang="en-US" sz="1400" dirty="0"/>
          </a:p>
        </p:txBody>
      </p:sp>
      <p:pic>
        <p:nvPicPr>
          <p:cNvPr id="8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1707642" y="1947672"/>
            <a:ext cx="310896" cy="310896"/>
          </a:xfrm>
          <a:prstGeom prst="rect">
            <a:avLst/>
          </a:prstGeom>
        </p:spPr>
      </p:pic>
      <p:sp>
        <p:nvSpPr>
          <p:cNvPr id="9" name="card_1"/>
          <p:cNvSpPr/>
          <p:nvPr/>
        </p:nvSpPr>
        <p:spPr>
          <a:xfrm>
            <a:off x="2338578" y="1874520"/>
            <a:ext cx="1561338" cy="2034540"/>
          </a:xfrm>
          <a:prstGeom prst="roundRect">
            <a:avLst>
              <a:gd name="adj" fmla="val 8785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2338578" y="2228393"/>
            <a:ext cx="1561338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</a:t>
            </a:r>
            <a:r>
              <a:rPr lang="en-US" sz="1600" b="1" dirty="0">
                <a:solidFill>
                  <a:srgbClr val="4236F6"/>
                </a:solidFill>
              </a:rPr>
              <a:t>… </a:t>
            </a: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모자예요</a:t>
            </a:r>
            <a:r>
              <a:rPr lang="en-US" sz="1600" b="1" dirty="0">
                <a:solidFill>
                  <a:srgbClr val="4236F6"/>
                </a:solidFill>
              </a:rPr>
              <a:t>?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2411730" y="2920136"/>
            <a:ext cx="1415034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Mateo: Mmm… ¿es un gorro?</a:t>
            </a:r>
            <a:endParaRPr lang="en-US" sz="1600" dirty="0"/>
          </a:p>
        </p:txBody>
      </p:sp>
      <p:pic>
        <p:nvPicPr>
          <p:cNvPr id="12" name="Media 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3497580" y="1947672"/>
            <a:ext cx="310896" cy="310896"/>
          </a:xfrm>
          <a:prstGeom prst="rect">
            <a:avLst/>
          </a:prstGeom>
        </p:spPr>
      </p:pic>
      <p:sp>
        <p:nvSpPr>
          <p:cNvPr id="13" name="card_2"/>
          <p:cNvSpPr/>
          <p:nvPr/>
        </p:nvSpPr>
        <p:spPr>
          <a:xfrm>
            <a:off x="4128516" y="1874520"/>
            <a:ext cx="1561338" cy="2034540"/>
          </a:xfrm>
          <a:prstGeom prst="roundRect">
            <a:avLst>
              <a:gd name="adj" fmla="val 8785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>
            <a:off x="4128516" y="2228393"/>
            <a:ext cx="1561338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1600" b="1" dirty="0">
                <a:solidFill>
                  <a:srgbClr val="4236F6"/>
                </a:solidFill>
              </a:rPr>
              <a:t>, </a:t>
            </a: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모자가 아니에요</a:t>
            </a:r>
            <a:r>
              <a:rPr lang="en-US" sz="1600" b="1" dirty="0">
                <a:solidFill>
                  <a:srgbClr val="4236F6"/>
                </a:solidFill>
              </a:rPr>
              <a:t>.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201668" y="2920136"/>
            <a:ext cx="1415034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r>
              <a:rPr lang="en-US" sz="1600" dirty="0">
                <a:solidFill>
                  <a:srgbClr val="5C5F6B"/>
                </a:solidFill>
              </a:rPr>
              <a:t>: No, no es un gorro.</a:t>
            </a:r>
            <a:endParaRPr lang="en-US" sz="1600" dirty="0"/>
          </a:p>
        </p:txBody>
      </p:sp>
      <p:pic>
        <p:nvPicPr>
          <p:cNvPr id="20" name="Media 2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5287518" y="1947672"/>
            <a:ext cx="310896" cy="310896"/>
          </a:xfrm>
          <a:prstGeom prst="rect">
            <a:avLst/>
          </a:prstGeom>
        </p:spPr>
      </p:pic>
      <p:sp>
        <p:nvSpPr>
          <p:cNvPr id="17" name="card_3"/>
          <p:cNvSpPr/>
          <p:nvPr/>
        </p:nvSpPr>
        <p:spPr>
          <a:xfrm>
            <a:off x="5918454" y="1874520"/>
            <a:ext cx="1561338" cy="2034540"/>
          </a:xfrm>
          <a:prstGeom prst="roundRect">
            <a:avLst>
              <a:gd name="adj" fmla="val 8785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18" name="Text 12"/>
          <p:cNvSpPr txBox="1"/>
          <p:nvPr/>
        </p:nvSpPr>
        <p:spPr>
          <a:xfrm>
            <a:off x="5918454" y="2228393"/>
            <a:ext cx="1561338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</a:t>
            </a:r>
            <a:r>
              <a:rPr lang="en-US" sz="1600" b="1" dirty="0">
                <a:solidFill>
                  <a:srgbClr val="4236F6"/>
                </a:solidFill>
              </a:rPr>
              <a:t>! </a:t>
            </a: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양말이에요</a:t>
            </a:r>
            <a:r>
              <a:rPr lang="en-US" sz="1600" b="1" dirty="0">
                <a:solidFill>
                  <a:srgbClr val="4236F6"/>
                </a:solidFill>
              </a:rPr>
              <a:t>?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5991606" y="2920136"/>
            <a:ext cx="1415034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Mateo: ¡Ah! ¿Son calcetines?</a:t>
            </a:r>
            <a:endParaRPr lang="en-US" sz="1600" dirty="0"/>
          </a:p>
        </p:txBody>
      </p:sp>
      <p:pic>
        <p:nvPicPr>
          <p:cNvPr id="24" name="Media 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7077456" y="1947672"/>
            <a:ext cx="310896" cy="310896"/>
          </a:xfrm>
          <a:prstGeom prst="rect">
            <a:avLst/>
          </a:prstGeom>
        </p:spPr>
      </p:pic>
      <p:sp>
        <p:nvSpPr>
          <p:cNvPr id="21" name="card_4"/>
          <p:cNvSpPr/>
          <p:nvPr/>
        </p:nvSpPr>
        <p:spPr>
          <a:xfrm>
            <a:off x="548640" y="4137660"/>
            <a:ext cx="1561338" cy="2034540"/>
          </a:xfrm>
          <a:prstGeom prst="roundRect">
            <a:avLst>
              <a:gd name="adj" fmla="val 8785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22" name="Text 15"/>
          <p:cNvSpPr txBox="1"/>
          <p:nvPr/>
        </p:nvSpPr>
        <p:spPr>
          <a:xfrm>
            <a:off x="548640" y="4491533"/>
            <a:ext cx="1561338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</a:t>
            </a:r>
            <a:r>
              <a:rPr lang="en-US" sz="1600" b="1" dirty="0">
                <a:solidFill>
                  <a:srgbClr val="4236F6"/>
                </a:solidFill>
              </a:rPr>
              <a:t>, </a:t>
            </a: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양말이에요</a:t>
            </a:r>
            <a:r>
              <a:rPr lang="en-US" sz="1600" b="1" dirty="0">
                <a:solidFill>
                  <a:srgbClr val="4236F6"/>
                </a:solidFill>
              </a:rPr>
              <a:t>!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621792" y="5183276"/>
            <a:ext cx="1415034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r>
              <a:rPr lang="en-US" sz="1600" dirty="0">
                <a:solidFill>
                  <a:srgbClr val="5C5F6B"/>
                </a:solidFill>
              </a:rPr>
              <a:t>: ¡Sí, son calcetines!</a:t>
            </a:r>
            <a:endParaRPr lang="en-US" sz="1600" dirty="0"/>
          </a:p>
        </p:txBody>
      </p:sp>
      <p:pic>
        <p:nvPicPr>
          <p:cNvPr id="16" name="Media 4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1707642" y="4210812"/>
            <a:ext cx="310896" cy="310896"/>
          </a:xfrm>
          <a:prstGeom prst="rect">
            <a:avLst/>
          </a:prstGeom>
        </p:spPr>
      </p:pic>
      <p:sp>
        <p:nvSpPr>
          <p:cNvPr id="25" name="card_5"/>
          <p:cNvSpPr/>
          <p:nvPr/>
        </p:nvSpPr>
        <p:spPr>
          <a:xfrm>
            <a:off x="2338578" y="4137660"/>
            <a:ext cx="1561338" cy="2034540"/>
          </a:xfrm>
          <a:prstGeom prst="roundRect">
            <a:avLst>
              <a:gd name="adj" fmla="val 8785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26" name="Text 18"/>
          <p:cNvSpPr txBox="1"/>
          <p:nvPr/>
        </p:nvSpPr>
        <p:spPr>
          <a:xfrm>
            <a:off x="2338578" y="4491533"/>
            <a:ext cx="1561338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이게 뭐예요</a:t>
            </a:r>
            <a:r>
              <a:rPr lang="en-US" sz="1600" b="1" dirty="0">
                <a:solidFill>
                  <a:srgbClr val="4236F6"/>
                </a:solidFill>
              </a:rPr>
              <a:t>?</a:t>
            </a:r>
            <a:endParaRPr lang="en-US" sz="1600" dirty="0"/>
          </a:p>
        </p:txBody>
      </p:sp>
      <p:sp>
        <p:nvSpPr>
          <p:cNvPr id="27" name="Text 19"/>
          <p:cNvSpPr txBox="1"/>
          <p:nvPr/>
        </p:nvSpPr>
        <p:spPr>
          <a:xfrm>
            <a:off x="2411730" y="5183276"/>
            <a:ext cx="1415034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r>
              <a:rPr lang="en-US" sz="1600" dirty="0">
                <a:solidFill>
                  <a:srgbClr val="5C5F6B"/>
                </a:solidFill>
              </a:rPr>
              <a:t>: ¿Qué es esto? (foto 2)</a:t>
            </a:r>
            <a:endParaRPr lang="en-US" sz="1600" dirty="0"/>
          </a:p>
        </p:txBody>
      </p:sp>
      <p:pic>
        <p:nvPicPr>
          <p:cNvPr id="28" name="Media 5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3497580" y="4210812"/>
            <a:ext cx="310896" cy="310896"/>
          </a:xfrm>
          <a:prstGeom prst="rect">
            <a:avLst/>
          </a:prstGeom>
        </p:spPr>
      </p:pic>
      <p:sp>
        <p:nvSpPr>
          <p:cNvPr id="29" name="card_6"/>
          <p:cNvSpPr/>
          <p:nvPr/>
        </p:nvSpPr>
        <p:spPr>
          <a:xfrm>
            <a:off x="4128516" y="4137660"/>
            <a:ext cx="1561338" cy="2034540"/>
          </a:xfrm>
          <a:prstGeom prst="roundRect">
            <a:avLst>
              <a:gd name="adj" fmla="val 8785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30" name="Text 21"/>
          <p:cNvSpPr txBox="1"/>
          <p:nvPr/>
        </p:nvSpPr>
        <p:spPr>
          <a:xfrm>
            <a:off x="4128516" y="4491533"/>
            <a:ext cx="1561338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휴대폰이에요</a:t>
            </a:r>
            <a:r>
              <a:rPr lang="en-US" sz="1600" b="1" dirty="0">
                <a:solidFill>
                  <a:srgbClr val="4236F6"/>
                </a:solidFill>
              </a:rPr>
              <a:t>?</a:t>
            </a:r>
            <a:endParaRPr lang="en-US" sz="1600" dirty="0"/>
          </a:p>
        </p:txBody>
      </p:sp>
      <p:sp>
        <p:nvSpPr>
          <p:cNvPr id="31" name="Text 22"/>
          <p:cNvSpPr txBox="1"/>
          <p:nvPr/>
        </p:nvSpPr>
        <p:spPr>
          <a:xfrm>
            <a:off x="4201668" y="5183276"/>
            <a:ext cx="1415034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Mateo: ¿Es un celular?</a:t>
            </a:r>
            <a:endParaRPr lang="en-US" sz="1600" dirty="0"/>
          </a:p>
        </p:txBody>
      </p:sp>
      <p:pic>
        <p:nvPicPr>
          <p:cNvPr id="32" name="Media 6">
            <a:hlinkClick r:id="" action="ppaction://media"/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5287518" y="4210812"/>
            <a:ext cx="310896" cy="310896"/>
          </a:xfrm>
          <a:prstGeom prst="rect">
            <a:avLst/>
          </a:prstGeom>
        </p:spPr>
      </p:pic>
      <p:sp>
        <p:nvSpPr>
          <p:cNvPr id="33" name="card_7"/>
          <p:cNvSpPr/>
          <p:nvPr/>
        </p:nvSpPr>
        <p:spPr>
          <a:xfrm>
            <a:off x="5918454" y="4137660"/>
            <a:ext cx="1561338" cy="2034540"/>
          </a:xfrm>
          <a:prstGeom prst="roundRect">
            <a:avLst>
              <a:gd name="adj" fmla="val 8785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34" name="Text 24"/>
          <p:cNvSpPr txBox="1"/>
          <p:nvPr/>
        </p:nvSpPr>
        <p:spPr>
          <a:xfrm>
            <a:off x="5918454" y="4491533"/>
            <a:ext cx="1561338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1600" b="1" dirty="0">
                <a:solidFill>
                  <a:srgbClr val="4236F6"/>
                </a:solidFill>
              </a:rPr>
              <a:t>, </a:t>
            </a: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휴대폰이 아니에요</a:t>
            </a:r>
            <a:r>
              <a:rPr lang="en-US" sz="1600" b="1" dirty="0">
                <a:solidFill>
                  <a:srgbClr val="4236F6"/>
                </a:solidFill>
              </a:rPr>
              <a:t>. </a:t>
            </a: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시계예요</a:t>
            </a:r>
            <a:r>
              <a:rPr lang="en-US" sz="1600" b="1" dirty="0">
                <a:solidFill>
                  <a:srgbClr val="4236F6"/>
                </a:solidFill>
              </a:rPr>
              <a:t>!</a:t>
            </a:r>
            <a:endParaRPr lang="en-US" sz="1600" dirty="0"/>
          </a:p>
        </p:txBody>
      </p:sp>
      <p:sp>
        <p:nvSpPr>
          <p:cNvPr id="35" name="Text 25"/>
          <p:cNvSpPr txBox="1"/>
          <p:nvPr/>
        </p:nvSpPr>
        <p:spPr>
          <a:xfrm>
            <a:off x="5991606" y="5183276"/>
            <a:ext cx="1415034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4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r>
              <a:rPr lang="en-US" sz="1400" dirty="0">
                <a:solidFill>
                  <a:srgbClr val="5C5F6B"/>
                </a:solidFill>
              </a:rPr>
              <a:t>: No, no es un celular. ¡Es un reloj!</a:t>
            </a:r>
            <a:endParaRPr lang="en-US" sz="1400" dirty="0"/>
          </a:p>
        </p:txBody>
      </p:sp>
      <p:pic>
        <p:nvPicPr>
          <p:cNvPr id="36" name="Media 7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7077456" y="4210812"/>
            <a:ext cx="310896" cy="310896"/>
          </a:xfrm>
          <a:prstGeom prst="rect">
            <a:avLst/>
          </a:prstGeom>
        </p:spPr>
      </p:pic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배워 봐요 </a:t>
            </a:r>
            <a:r>
              <a:rPr lang="en-US" sz="3000" b="1" dirty="0">
                <a:solidFill>
                  <a:srgbClr val="003478"/>
                </a:solidFill>
              </a:rPr>
              <a:t>· Ropa</a:t>
            </a:r>
            <a:r>
              <a:rPr lang="en-US" sz="1500" b="1" i="1" dirty="0">
                <a:solidFill>
                  <a:srgbClr val="8A8DA0"/>
                </a:solidFill>
              </a:rPr>
              <a:t>   Let's learn · Clothes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 hace falta el plural: 양말 </a:t>
            </a:r>
            <a:r>
              <a:rPr lang="en-US" sz="1800" i="1" dirty="0">
                <a:solidFill>
                  <a:srgbClr val="4236F6"/>
                </a:solidFill>
              </a:rPr>
              <a:t>= calcetines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87452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dibujo_0" descr="C:\Users\Chingu\AppData\Local\Temp\claude\C--Users-Chingu-Desktop-ACADEMIASEULWEB\d4111e1b-5523-44ea-97b2-b1a1d9545b9e\scratchpad\decks\cache\img_42fbc77724c1de7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61084" y="1984248"/>
            <a:ext cx="976579" cy="97657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97911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옷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3386023"/>
            <a:ext cx="2455164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ropa (extra)</a:t>
            </a:r>
            <a:endParaRPr lang="en-US" sz="1600" dirty="0"/>
          </a:p>
        </p:txBody>
      </p: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2747772" y="1947672"/>
            <a:ext cx="310896" cy="310896"/>
          </a:xfrm>
          <a:prstGeom prst="rect">
            <a:avLst/>
          </a:prstGeom>
        </p:spPr>
      </p:pic>
      <p:sp>
        <p:nvSpPr>
          <p:cNvPr id="9" name="card_1"/>
          <p:cNvSpPr/>
          <p:nvPr/>
        </p:nvSpPr>
        <p:spPr>
          <a:xfrm>
            <a:off x="3378708" y="187452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0" name="dibujo_1" descr="C:\Users\Chingu\AppData\Local\Temp\claude\C--Users-Chingu-Desktop-ACADEMIASEULWEB\d4111e1b-5523-44ea-97b2-b1a1d9545b9e\scratchpad\decks\cache\img_e497efcb57f3ab2a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91152" y="1984248"/>
            <a:ext cx="976579" cy="97657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378708" y="297911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치마</a:t>
            </a:r>
            <a:endParaRPr lang="en-US" sz="2500" dirty="0"/>
          </a:p>
        </p:txBody>
      </p:sp>
      <p:sp>
        <p:nvSpPr>
          <p:cNvPr id="12" name="Text 7"/>
          <p:cNvSpPr txBox="1"/>
          <p:nvPr/>
        </p:nvSpPr>
        <p:spPr>
          <a:xfrm>
            <a:off x="3451860" y="3386023"/>
            <a:ext cx="2455164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falda</a:t>
            </a:r>
            <a:endParaRPr lang="en-US" sz="1600" dirty="0"/>
          </a:p>
        </p:txBody>
      </p:sp>
      <p:pic>
        <p:nvPicPr>
          <p:cNvPr id="8" name="Media 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5577840" y="1947672"/>
            <a:ext cx="310896" cy="310896"/>
          </a:xfrm>
          <a:prstGeom prst="rect">
            <a:avLst/>
          </a:prstGeom>
        </p:spPr>
      </p:pic>
      <p:sp>
        <p:nvSpPr>
          <p:cNvPr id="14" name="card_2"/>
          <p:cNvSpPr/>
          <p:nvPr/>
        </p:nvSpPr>
        <p:spPr>
          <a:xfrm>
            <a:off x="6208776" y="187452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5" name="dibujo_2" descr="C:\Users\Chingu\AppData\Local\Temp\claude\C--Users-Chingu-Desktop-ACADEMIASEULWEB\d4111e1b-5523-44ea-97b2-b1a1d9545b9e\scratchpad\decks\cache\img_cfc6e8a6bde040d3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21220" y="1984248"/>
            <a:ext cx="976579" cy="976579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6208776" y="297911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바지</a:t>
            </a:r>
            <a:endParaRPr lang="en-US" sz="2500" dirty="0"/>
          </a:p>
        </p:txBody>
      </p:sp>
      <p:sp>
        <p:nvSpPr>
          <p:cNvPr id="17" name="Text 10"/>
          <p:cNvSpPr txBox="1"/>
          <p:nvPr/>
        </p:nvSpPr>
        <p:spPr>
          <a:xfrm>
            <a:off x="6281928" y="3386023"/>
            <a:ext cx="2455164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pantalón</a:t>
            </a:r>
            <a:endParaRPr lang="en-US" sz="1600" dirty="0"/>
          </a:p>
        </p:txBody>
      </p:sp>
      <p:pic>
        <p:nvPicPr>
          <p:cNvPr id="18" name="Media 2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8407908" y="1947672"/>
            <a:ext cx="310896" cy="310896"/>
          </a:xfrm>
          <a:prstGeom prst="rect">
            <a:avLst/>
          </a:prstGeom>
        </p:spPr>
      </p:pic>
      <p:sp>
        <p:nvSpPr>
          <p:cNvPr id="19" name="card_3"/>
          <p:cNvSpPr/>
          <p:nvPr/>
        </p:nvSpPr>
        <p:spPr>
          <a:xfrm>
            <a:off x="9038844" y="187452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0" name="dibujo_3" descr="C:\Users\Chingu\AppData\Local\Temp\claude\C--Users-Chingu-Desktop-ACADEMIASEULWEB\d4111e1b-5523-44ea-97b2-b1a1d9545b9e\scratchpad\decks\cache\img_f57bf5d87be8d00a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851288" y="1984248"/>
            <a:ext cx="976579" cy="976579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9038844" y="297911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운동화</a:t>
            </a:r>
            <a:endParaRPr lang="en-US" sz="2500" dirty="0"/>
          </a:p>
        </p:txBody>
      </p:sp>
      <p:sp>
        <p:nvSpPr>
          <p:cNvPr id="22" name="Text 13"/>
          <p:cNvSpPr txBox="1"/>
          <p:nvPr/>
        </p:nvSpPr>
        <p:spPr>
          <a:xfrm>
            <a:off x="9111996" y="3386023"/>
            <a:ext cx="2455164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500" dirty="0">
                <a:solidFill>
                  <a:srgbClr val="5C5F6B"/>
                </a:solidFill>
              </a:rPr>
              <a:t>zapatillas (tenis)</a:t>
            </a:r>
            <a:endParaRPr lang="en-US" sz="1500" dirty="0"/>
          </a:p>
        </p:txBody>
      </p:sp>
      <p:pic>
        <p:nvPicPr>
          <p:cNvPr id="23" name="Media 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11237976" y="1947672"/>
            <a:ext cx="310896" cy="310896"/>
          </a:xfrm>
          <a:prstGeom prst="rect">
            <a:avLst/>
          </a:prstGeom>
        </p:spPr>
      </p:pic>
      <p:sp>
        <p:nvSpPr>
          <p:cNvPr id="24" name="card_4"/>
          <p:cNvSpPr/>
          <p:nvPr/>
        </p:nvSpPr>
        <p:spPr>
          <a:xfrm>
            <a:off x="548640" y="413766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5" name="dibujo_4" descr="C:\Users\Chingu\AppData\Local\Temp\claude\C--Users-Chingu-Desktop-ACADEMIASEULWEB\d4111e1b-5523-44ea-97b2-b1a1d9545b9e\scratchpad\decks\cache\img_60c04b6f35e42539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61084" y="4247388"/>
            <a:ext cx="976579" cy="976579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548640" y="524225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구두</a:t>
            </a:r>
            <a:endParaRPr lang="en-US" sz="2500" dirty="0"/>
          </a:p>
        </p:txBody>
      </p:sp>
      <p:sp>
        <p:nvSpPr>
          <p:cNvPr id="27" name="Text 16"/>
          <p:cNvSpPr txBox="1"/>
          <p:nvPr/>
        </p:nvSpPr>
        <p:spPr>
          <a:xfrm>
            <a:off x="621792" y="5649163"/>
            <a:ext cx="2455164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500" dirty="0">
                <a:solidFill>
                  <a:srgbClr val="5C5F6B"/>
                </a:solidFill>
              </a:rPr>
              <a:t>zapatos (de vestir)</a:t>
            </a:r>
            <a:endParaRPr lang="en-US" sz="1500" dirty="0"/>
          </a:p>
        </p:txBody>
      </p:sp>
      <p:pic>
        <p:nvPicPr>
          <p:cNvPr id="33" name="Media 4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2747772" y="4210812"/>
            <a:ext cx="310896" cy="310896"/>
          </a:xfrm>
          <a:prstGeom prst="rect">
            <a:avLst/>
          </a:prstGeom>
        </p:spPr>
      </p:pic>
      <p:sp>
        <p:nvSpPr>
          <p:cNvPr id="29" name="card_5"/>
          <p:cNvSpPr/>
          <p:nvPr/>
        </p:nvSpPr>
        <p:spPr>
          <a:xfrm>
            <a:off x="3378708" y="413766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30" name="dibujo_5" descr="C:\Users\Chingu\AppData\Local\Temp\claude\C--Users-Chingu-Desktop-ACADEMIASEULWEB\d4111e1b-5523-44ea-97b2-b1a1d9545b9e\scratchpad\decks\cache\img_e7f16de37157496f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191152" y="4247388"/>
            <a:ext cx="976579" cy="976579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3378708" y="524225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양말</a:t>
            </a:r>
            <a:endParaRPr lang="en-US" sz="2500" dirty="0"/>
          </a:p>
        </p:txBody>
      </p:sp>
      <p:sp>
        <p:nvSpPr>
          <p:cNvPr id="32" name="Text 19"/>
          <p:cNvSpPr txBox="1"/>
          <p:nvPr/>
        </p:nvSpPr>
        <p:spPr>
          <a:xfrm>
            <a:off x="3451860" y="5649163"/>
            <a:ext cx="2455164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calcetines</a:t>
            </a:r>
            <a:endParaRPr lang="en-US" sz="1600" dirty="0"/>
          </a:p>
        </p:txBody>
      </p:sp>
      <p:pic>
        <p:nvPicPr>
          <p:cNvPr id="38" name="Media 5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5577840" y="4210812"/>
            <a:ext cx="310896" cy="310896"/>
          </a:xfrm>
          <a:prstGeom prst="rect">
            <a:avLst/>
          </a:prstGeom>
        </p:spPr>
      </p:pic>
      <p:sp>
        <p:nvSpPr>
          <p:cNvPr id="34" name="card_6"/>
          <p:cNvSpPr/>
          <p:nvPr/>
        </p:nvSpPr>
        <p:spPr>
          <a:xfrm>
            <a:off x="6208776" y="413766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35" name="dibujo_6" descr="C:\Users\Chingu\AppData\Local\Temp\claude\C--Users-Chingu-Desktop-ACADEMIASEULWEB\d4111e1b-5523-44ea-97b2-b1a1d9545b9e\scratchpad\decks\cache\img_2804442974094ebb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021220" y="4247388"/>
            <a:ext cx="976579" cy="976579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6208776" y="524225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안경</a:t>
            </a:r>
            <a:endParaRPr lang="en-US" sz="2500" dirty="0"/>
          </a:p>
        </p:txBody>
      </p:sp>
      <p:sp>
        <p:nvSpPr>
          <p:cNvPr id="37" name="Text 22"/>
          <p:cNvSpPr txBox="1"/>
          <p:nvPr/>
        </p:nvSpPr>
        <p:spPr>
          <a:xfrm>
            <a:off x="6281928" y="5649163"/>
            <a:ext cx="2455164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lentes, anteojos</a:t>
            </a:r>
            <a:endParaRPr lang="en-US" sz="1600" dirty="0"/>
          </a:p>
        </p:txBody>
      </p:sp>
      <p:pic>
        <p:nvPicPr>
          <p:cNvPr id="28" name="Media 6">
            <a:hlinkClick r:id="" action="ppaction://media"/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8407908" y="4210812"/>
            <a:ext cx="310896" cy="310896"/>
          </a:xfrm>
          <a:prstGeom prst="rect">
            <a:avLst/>
          </a:prstGeom>
        </p:spPr>
      </p:pic>
      <p:sp>
        <p:nvSpPr>
          <p:cNvPr id="39" name="card_7"/>
          <p:cNvSpPr/>
          <p:nvPr/>
        </p:nvSpPr>
        <p:spPr>
          <a:xfrm>
            <a:off x="9038844" y="413766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40" name="dibujo_7" descr="C:\Users\Chingu\AppData\Local\Temp\claude\C--Users-Chingu-Desktop-ACADEMIASEULWEB\d4111e1b-5523-44ea-97b2-b1a1d9545b9e\scratchpad\decks\cache\img_03731e08908ff8d0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851288" y="4247388"/>
            <a:ext cx="976579" cy="976579"/>
          </a:xfrm>
          <a:prstGeom prst="rect">
            <a:avLst/>
          </a:prstGeom>
        </p:spPr>
      </p:pic>
      <p:sp>
        <p:nvSpPr>
          <p:cNvPr id="41" name="Text 24"/>
          <p:cNvSpPr txBox="1"/>
          <p:nvPr/>
        </p:nvSpPr>
        <p:spPr>
          <a:xfrm>
            <a:off x="9038844" y="524225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모자</a:t>
            </a:r>
            <a:endParaRPr lang="en-US" sz="2500" dirty="0"/>
          </a:p>
        </p:txBody>
      </p:sp>
      <p:sp>
        <p:nvSpPr>
          <p:cNvPr id="42" name="Text 25"/>
          <p:cNvSpPr txBox="1"/>
          <p:nvPr/>
        </p:nvSpPr>
        <p:spPr>
          <a:xfrm>
            <a:off x="9111996" y="5649163"/>
            <a:ext cx="2455164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400" dirty="0">
                <a:solidFill>
                  <a:srgbClr val="5C5F6B"/>
                </a:solidFill>
              </a:rPr>
              <a:t>gorro, gorra, sombrero (repaso)</a:t>
            </a:r>
            <a:endParaRPr lang="en-US" sz="1400" dirty="0"/>
          </a:p>
        </p:txBody>
      </p:sp>
      <p:pic>
        <p:nvPicPr>
          <p:cNvPr id="43" name="Media 7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11237976" y="4210812"/>
            <a:ext cx="310896" cy="310896"/>
          </a:xfrm>
          <a:prstGeom prst="rect">
            <a:avLst/>
          </a:prstGeom>
        </p:spPr>
      </p:pic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이에요</a:t>
            </a:r>
            <a:r>
              <a:rPr lang="en-US" sz="3000" b="1" dirty="0">
                <a:solidFill>
                  <a:srgbClr val="4236F6"/>
                </a:solidFill>
              </a:rPr>
              <a:t>/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예요 </a:t>
            </a:r>
            <a:r>
              <a:rPr lang="en-US" sz="3000" b="1" dirty="0">
                <a:solidFill>
                  <a:srgbClr val="4236F6"/>
                </a:solidFill>
              </a:rPr>
              <a:t>→ 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lang="en-US" sz="3000" b="1" dirty="0">
                <a:solidFill>
                  <a:srgbClr val="4236F6"/>
                </a:solidFill>
              </a:rPr>
              <a:t>/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아니에요  </a:t>
            </a:r>
            <a:r>
              <a:rPr lang="en-US" sz="3000" b="1" dirty="0">
                <a:solidFill>
                  <a:srgbClr val="003478"/>
                </a:solidFill>
              </a:rPr>
              <a:t>Es · No es</a:t>
            </a:r>
            <a:r>
              <a:rPr lang="en-US" sz="1500" b="1" i="1" dirty="0">
                <a:solidFill>
                  <a:srgbClr val="8A8DA0"/>
                </a:solidFill>
              </a:rPr>
              <a:t>   It is / It isn't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Vocal → 예요 </a:t>
            </a:r>
            <a:r>
              <a:rPr lang="en-US" sz="1800" i="1" dirty="0">
                <a:solidFill>
                  <a:srgbClr val="4236F6"/>
                </a:solidFill>
              </a:rPr>
              <a:t>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아니에요 </a:t>
            </a:r>
            <a:r>
              <a:rPr lang="en-US" sz="1800" i="1" dirty="0">
                <a:solidFill>
                  <a:srgbClr val="4236F6"/>
                </a:solidFill>
              </a:rPr>
              <a:t>|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받침 </a:t>
            </a:r>
            <a:r>
              <a:rPr lang="en-US" sz="1800" i="1" dirty="0">
                <a:solidFill>
                  <a:srgbClr val="4236F6"/>
                </a:solidFill>
              </a:rPr>
              <a:t>→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이에요 </a:t>
            </a:r>
            <a:r>
              <a:rPr lang="en-US" sz="1800" i="1" dirty="0">
                <a:solidFill>
                  <a:srgbClr val="4236F6"/>
                </a:solidFill>
              </a:rPr>
              <a:t>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아니에요</a:t>
            </a:r>
            <a:endParaRPr lang="en-US" sz="1800" dirty="0"/>
          </a:p>
        </p:txBody>
      </p:sp>
      <p:graphicFrame>
        <p:nvGraphicFramePr>
          <p:cNvPr id="15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920106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Palabra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Sí 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No 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구두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구두예요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구두가 아니에요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운동화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운동화예요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운동화가 아니에요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치마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치마예요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치마가 아니에요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바지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바지예요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바지가 아니에요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모자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모자예요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모자가 아니에요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양말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양말이에요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양말이 아니에요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안경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안경이에요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안경이 아니에요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없어요 </a:t>
            </a:r>
            <a:r>
              <a:rPr lang="en-US" sz="3000" b="1" dirty="0">
                <a:solidFill>
                  <a:srgbClr val="4236F6"/>
                </a:solidFill>
              </a:rPr>
              <a:t>≠ 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아니에요 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¿없어요 </a:t>
            </a:r>
            <a:r>
              <a:rPr lang="en-US" sz="3000" b="1" dirty="0">
                <a:solidFill>
                  <a:srgbClr val="003478"/>
                </a:solidFill>
              </a:rPr>
              <a:t>o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아니에요</a:t>
            </a:r>
            <a:r>
              <a:rPr lang="en-US" sz="3000" b="1" dirty="0">
                <a:solidFill>
                  <a:srgbClr val="003478"/>
                </a:solidFill>
              </a:rPr>
              <a:t>?</a:t>
            </a:r>
            <a:r>
              <a:rPr lang="en-US" sz="1500" b="1" i="1" dirty="0">
                <a:solidFill>
                  <a:srgbClr val="8A8DA0"/>
                </a:solidFill>
              </a:rPr>
              <a:t>   Don't have / isn't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En español las dos son «no»; en coreano, no</a:t>
            </a:r>
            <a:endParaRPr lang="en-US" sz="1800" dirty="0"/>
          </a:p>
        </p:txBody>
      </p:sp>
      <p:sp>
        <p:nvSpPr>
          <p:cNvPr id="4" name="col_0"/>
          <p:cNvSpPr/>
          <p:nvPr/>
        </p:nvSpPr>
        <p:spPr>
          <a:xfrm>
            <a:off x="548640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2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없어요 </a:t>
            </a:r>
            <a:r>
              <a:rPr lang="en-US" sz="2000" b="1" dirty="0">
                <a:solidFill>
                  <a:srgbClr val="003478"/>
                </a:solidFill>
              </a:rPr>
              <a:t>= no tengo · no hay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3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안경이 없어요</a:t>
            </a:r>
            <a:endParaRPr lang="en-US" sz="3400" dirty="0"/>
          </a:p>
        </p:txBody>
      </p:sp>
      <p:sp>
        <p:nvSpPr>
          <p:cNvPr id="7" name="lista"/>
          <p:cNvSpPr txBox="1"/>
          <p:nvPr/>
        </p:nvSpPr>
        <p:spPr>
          <a:xfrm>
            <a:off x="731520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No tengo lentes.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자동차가 없어요</a:t>
            </a:r>
            <a:r>
              <a:rPr lang="en-US" sz="1800" dirty="0">
                <a:solidFill>
                  <a:srgbClr val="14142B"/>
                </a:solidFill>
              </a:rPr>
              <a:t>.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(no lo tengo)</a:t>
            </a:r>
            <a:endParaRPr lang="en-US" sz="1800" dirty="0"/>
          </a:p>
        </p:txBody>
      </p:sp>
      <p:sp>
        <p:nvSpPr>
          <p:cNvPr id="8" name="col_1"/>
          <p:cNvSpPr/>
          <p:nvPr/>
        </p:nvSpPr>
        <p:spPr>
          <a:xfrm>
            <a:off x="4352544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2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아니에요 </a:t>
            </a:r>
            <a:r>
              <a:rPr lang="en-US" sz="2000" b="1" dirty="0">
                <a:solidFill>
                  <a:srgbClr val="003478"/>
                </a:solidFill>
              </a:rPr>
              <a:t>= no es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안경이 아니에요</a:t>
            </a:r>
            <a:endParaRPr lang="en-US" sz="2900" dirty="0"/>
          </a:p>
        </p:txBody>
      </p:sp>
      <p:sp>
        <p:nvSpPr>
          <p:cNvPr id="11" name="lista"/>
          <p:cNvSpPr txBox="1"/>
          <p:nvPr/>
        </p:nvSpPr>
        <p:spPr>
          <a:xfrm>
            <a:off x="4535424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No son lentes.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구두가 아니에요</a:t>
            </a:r>
            <a:r>
              <a:rPr lang="en-US" sz="1800" dirty="0">
                <a:solidFill>
                  <a:srgbClr val="14142B"/>
                </a:solidFill>
              </a:rPr>
              <a:t>.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(es otra cosa)</a:t>
            </a:r>
            <a:endParaRPr lang="en-US" sz="1800" dirty="0"/>
          </a:p>
        </p:txBody>
      </p:sp>
      <p:sp>
        <p:nvSpPr>
          <p:cNvPr id="12" name="col_2"/>
          <p:cNvSpPr/>
          <p:nvPr/>
        </p:nvSpPr>
        <p:spPr>
          <a:xfrm>
            <a:off x="8156448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Sobre ti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</a:t>
            </a:r>
            <a:r>
              <a:rPr lang="en-US" sz="2800" b="1" dirty="0">
                <a:solidFill>
                  <a:srgbClr val="4236F6"/>
                </a:solidFill>
              </a:rPr>
              <a:t>___</a:t>
            </a: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lang="en-US" sz="2800" b="1" dirty="0">
                <a:solidFill>
                  <a:srgbClr val="4236F6"/>
                </a:solidFill>
              </a:rPr>
              <a:t>/</a:t>
            </a: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endParaRPr lang="en-US" sz="2800" dirty="0"/>
          </a:p>
          <a:p>
            <a:pPr marL="0" indent="0" eaLnBrk="1">
              <a:buNone/>
            </a:pP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아니에요</a:t>
            </a:r>
            <a:endParaRPr lang="en-US" sz="2800" dirty="0"/>
          </a:p>
        </p:txBody>
      </p:sp>
      <p:sp>
        <p:nvSpPr>
          <p:cNvPr id="15" name="lista"/>
          <p:cNvSpPr txBox="1"/>
          <p:nvPr/>
        </p:nvSpPr>
        <p:spPr>
          <a:xfrm>
            <a:off x="8339328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학생이 아니에요</a:t>
            </a:r>
            <a:r>
              <a:rPr lang="en-US" sz="1800" dirty="0">
                <a:solidFill>
                  <a:srgbClr val="14142B"/>
                </a:solidFill>
              </a:rPr>
              <a:t>.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선생님이에요</a:t>
            </a:r>
            <a:r>
              <a:rPr lang="en-US" sz="1800" dirty="0">
                <a:solidFill>
                  <a:srgbClr val="14142B"/>
                </a:solidFill>
              </a:rPr>
              <a:t>.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(lo dice Jay)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연습해요  </a:t>
            </a:r>
            <a:r>
              <a:rPr lang="en-US" sz="3000" b="1" dirty="0">
                <a:solidFill>
                  <a:srgbClr val="003478"/>
                </a:solidFill>
              </a:rPr>
              <a:t>¿O o X?</a:t>
            </a:r>
            <a:r>
              <a:rPr lang="en-US" sz="1500" b="1" i="1" dirty="0">
                <a:solidFill>
                  <a:srgbClr val="8A8DA0"/>
                </a:solidFill>
              </a:rPr>
              <a:t>   True or false?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Mira la foto: ¿está bien la frase? Si es X, corrígela · Escribe O o X en el chat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965960"/>
            <a:ext cx="35753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item_img_0" descr="C:\Users\Chingu\AppData\Local\Temp\claude\C--Users-Chingu-Desktop-ACADEMIASEULWEB\d4111e1b-5523-44ea-97b2-b1a1d9545b9e\scratchpad\decks\cache\img_60c04b6f35e425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649" y="2057400"/>
            <a:ext cx="691286" cy="691286"/>
          </a:xfrm>
          <a:prstGeom prst="rect">
            <a:avLst/>
          </a:prstGeom>
        </p:spPr>
      </p:pic>
      <p:sp>
        <p:nvSpPr>
          <p:cNvPr id="6" name="num_0"/>
          <p:cNvSpPr/>
          <p:nvPr/>
        </p:nvSpPr>
        <p:spPr>
          <a:xfrm>
            <a:off x="640080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794406"/>
            <a:ext cx="3392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(zapatos de vestir) · 운동화예요</a:t>
            </a:r>
            <a:r>
              <a:rPr lang="en-US" sz="1900" dirty="0">
                <a:solidFill>
                  <a:srgbClr val="14142B"/>
                </a:solidFill>
              </a:rPr>
              <a:t>.</a:t>
            </a:r>
            <a:endParaRPr lang="en-US" sz="1900" dirty="0"/>
          </a:p>
        </p:txBody>
      </p:sp>
      <p:sp>
        <p:nvSpPr>
          <p:cNvPr id="9" name="rev_12_caja"/>
          <p:cNvSpPr/>
          <p:nvPr/>
        </p:nvSpPr>
        <p:spPr>
          <a:xfrm>
            <a:off x="658368" y="3443630"/>
            <a:ext cx="3355848" cy="442570"/>
          </a:xfrm>
          <a:prstGeom prst="roundRect">
            <a:avLst>
              <a:gd name="adj" fmla="val 24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0" name="rev_12_txt"/>
          <p:cNvSpPr txBox="1"/>
          <p:nvPr/>
        </p:nvSpPr>
        <p:spPr>
          <a:xfrm>
            <a:off x="685800" y="3443630"/>
            <a:ext cx="3300984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(X) 운동화가 아니에요</a:t>
            </a:r>
            <a:r>
              <a:rPr lang="en-US" sz="1200" b="1" dirty="0">
                <a:solidFill>
                  <a:srgbClr val="FFFFFF"/>
                </a:solidFill>
              </a:rPr>
              <a:t>. </a:t>
            </a: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구두예요</a:t>
            </a:r>
            <a:r>
              <a:rPr lang="en-US" sz="1200" b="1" dirty="0">
                <a:solidFill>
                  <a:srgbClr val="FFFFFF"/>
                </a:solidFill>
              </a:rPr>
              <a:t>.</a:t>
            </a:r>
            <a:endParaRPr lang="en-US" sz="1200" dirty="0"/>
          </a:p>
        </p:txBody>
      </p:sp>
      <p:sp>
        <p:nvSpPr>
          <p:cNvPr id="11" name="card_1"/>
          <p:cNvSpPr/>
          <p:nvPr/>
        </p:nvSpPr>
        <p:spPr>
          <a:xfrm>
            <a:off x="4306824" y="1965960"/>
            <a:ext cx="35753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2" name="item_img_1" descr="C:\Users\Chingu\AppData\Local\Temp\claude\C--Users-Chingu-Desktop-ACADEMIASEULWEB\d4111e1b-5523-44ea-97b2-b1a1d9545b9e\scratchpad\decks\cache\img_a76e5c0d1b7f13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8833" y="2057400"/>
            <a:ext cx="691286" cy="691286"/>
          </a:xfrm>
          <a:prstGeom prst="rect">
            <a:avLst/>
          </a:prstGeom>
        </p:spPr>
      </p:pic>
      <p:sp>
        <p:nvSpPr>
          <p:cNvPr id="13" name="num_1"/>
          <p:cNvSpPr/>
          <p:nvPr/>
        </p:nvSpPr>
        <p:spPr>
          <a:xfrm>
            <a:off x="4398264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398264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398264" y="2794406"/>
            <a:ext cx="3392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(calcetines) · 양말이에요</a:t>
            </a:r>
            <a:r>
              <a:rPr lang="en-US" sz="1900" dirty="0">
                <a:solidFill>
                  <a:srgbClr val="14142B"/>
                </a:solidFill>
              </a:rPr>
              <a:t>.</a:t>
            </a:r>
            <a:endParaRPr lang="en-US" sz="1900" dirty="0"/>
          </a:p>
        </p:txBody>
      </p:sp>
      <p:sp>
        <p:nvSpPr>
          <p:cNvPr id="16" name="rev_13_caja"/>
          <p:cNvSpPr/>
          <p:nvPr/>
        </p:nvSpPr>
        <p:spPr>
          <a:xfrm>
            <a:off x="4416552" y="3443630"/>
            <a:ext cx="3355848" cy="442570"/>
          </a:xfrm>
          <a:prstGeom prst="roundRect">
            <a:avLst>
              <a:gd name="adj" fmla="val 24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7" name="rev_13_txt"/>
          <p:cNvSpPr txBox="1"/>
          <p:nvPr/>
        </p:nvSpPr>
        <p:spPr>
          <a:xfrm>
            <a:off x="4443984" y="3443630"/>
            <a:ext cx="3300984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(O) 네</a:t>
            </a:r>
            <a:r>
              <a:rPr lang="en-US" sz="1200" b="1" dirty="0">
                <a:solidFill>
                  <a:srgbClr val="FFFFFF"/>
                </a:solidFill>
              </a:rPr>
              <a:t>, </a:t>
            </a: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양말이에요</a:t>
            </a:r>
            <a:r>
              <a:rPr lang="en-US" sz="1200" b="1" dirty="0">
                <a:solidFill>
                  <a:srgbClr val="FFFFFF"/>
                </a:solidFill>
              </a:rPr>
              <a:t>.</a:t>
            </a:r>
            <a:endParaRPr lang="en-US" sz="1200" dirty="0"/>
          </a:p>
        </p:txBody>
      </p:sp>
      <p:sp>
        <p:nvSpPr>
          <p:cNvPr id="18" name="card_2"/>
          <p:cNvSpPr/>
          <p:nvPr/>
        </p:nvSpPr>
        <p:spPr>
          <a:xfrm>
            <a:off x="8065008" y="1965960"/>
            <a:ext cx="35753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9" name="item_img_2" descr="C:\Users\Chingu\AppData\Local\Temp\claude\C--Users-Chingu-Desktop-ACADEMIASEULWEB\d4111e1b-5523-44ea-97b2-b1a1d9545b9e\scratchpad\decks\cache\img_b8cc98ce093d3b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7017" y="2057400"/>
            <a:ext cx="691286" cy="691286"/>
          </a:xfrm>
          <a:prstGeom prst="rect">
            <a:avLst/>
          </a:prstGeom>
        </p:spPr>
      </p:pic>
      <p:sp>
        <p:nvSpPr>
          <p:cNvPr id="20" name="num_2"/>
          <p:cNvSpPr/>
          <p:nvPr/>
        </p:nvSpPr>
        <p:spPr>
          <a:xfrm>
            <a:off x="8156448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156448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8156448" y="2794406"/>
            <a:ext cx="3392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(pantalón) · 치마예요</a:t>
            </a:r>
            <a:r>
              <a:rPr lang="en-US" sz="1900" dirty="0">
                <a:solidFill>
                  <a:srgbClr val="14142B"/>
                </a:solidFill>
              </a:rPr>
              <a:t>.</a:t>
            </a:r>
            <a:endParaRPr lang="en-US" sz="1900" dirty="0"/>
          </a:p>
        </p:txBody>
      </p:sp>
      <p:sp>
        <p:nvSpPr>
          <p:cNvPr id="23" name="rev_14_caja"/>
          <p:cNvSpPr/>
          <p:nvPr/>
        </p:nvSpPr>
        <p:spPr>
          <a:xfrm>
            <a:off x="8174736" y="3443630"/>
            <a:ext cx="3355848" cy="442570"/>
          </a:xfrm>
          <a:prstGeom prst="roundRect">
            <a:avLst>
              <a:gd name="adj" fmla="val 24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4" name="rev_14_txt"/>
          <p:cNvSpPr txBox="1"/>
          <p:nvPr/>
        </p:nvSpPr>
        <p:spPr>
          <a:xfrm>
            <a:off x="8202168" y="3443630"/>
            <a:ext cx="3300984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(X) 치마가 아니에요</a:t>
            </a:r>
            <a:r>
              <a:rPr lang="en-US" sz="1200" b="1" dirty="0">
                <a:solidFill>
                  <a:srgbClr val="FFFFFF"/>
                </a:solidFill>
              </a:rPr>
              <a:t>. </a:t>
            </a: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바지예요</a:t>
            </a:r>
            <a:r>
              <a:rPr lang="en-US" sz="1200" b="1" dirty="0">
                <a:solidFill>
                  <a:srgbClr val="FFFFFF"/>
                </a:solidFill>
              </a:rPr>
              <a:t>.</a:t>
            </a:r>
            <a:endParaRPr lang="en-US" sz="1200" dirty="0"/>
          </a:p>
        </p:txBody>
      </p:sp>
      <p:sp>
        <p:nvSpPr>
          <p:cNvPr id="25" name="card_3"/>
          <p:cNvSpPr/>
          <p:nvPr/>
        </p:nvSpPr>
        <p:spPr>
          <a:xfrm>
            <a:off x="548640" y="4160520"/>
            <a:ext cx="35753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6" name="item_img_3" descr="C:\Users\Chingu\AppData\Local\Temp\claude\C--Users-Chingu-Desktop-ACADEMIASEULWEB\d4111e1b-5523-44ea-97b2-b1a1d9545b9e\scratchpad\decks\cache\img_2804442974094eb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649" y="4251960"/>
            <a:ext cx="691286" cy="691286"/>
          </a:xfrm>
          <a:prstGeom prst="rect">
            <a:avLst/>
          </a:prstGeom>
        </p:spPr>
      </p:pic>
      <p:sp>
        <p:nvSpPr>
          <p:cNvPr id="27" name="num_3"/>
          <p:cNvSpPr/>
          <p:nvPr/>
        </p:nvSpPr>
        <p:spPr>
          <a:xfrm>
            <a:off x="640080" y="425196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640080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640080" y="4988966"/>
            <a:ext cx="3392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(lentes) · 모자가 아니에요</a:t>
            </a:r>
            <a:r>
              <a:rPr lang="en-US" sz="1900" dirty="0">
                <a:solidFill>
                  <a:srgbClr val="14142B"/>
                </a:solidFill>
              </a:rPr>
              <a:t>.</a:t>
            </a:r>
            <a:endParaRPr lang="en-US" sz="1900" dirty="0"/>
          </a:p>
        </p:txBody>
      </p:sp>
      <p:sp>
        <p:nvSpPr>
          <p:cNvPr id="30" name="rev_15_caja"/>
          <p:cNvSpPr/>
          <p:nvPr/>
        </p:nvSpPr>
        <p:spPr>
          <a:xfrm>
            <a:off x="658368" y="5638190"/>
            <a:ext cx="3355848" cy="442570"/>
          </a:xfrm>
          <a:prstGeom prst="roundRect">
            <a:avLst>
              <a:gd name="adj" fmla="val 24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1" name="rev_15_txt"/>
          <p:cNvSpPr txBox="1"/>
          <p:nvPr/>
        </p:nvSpPr>
        <p:spPr>
          <a:xfrm>
            <a:off x="685800" y="5638190"/>
            <a:ext cx="3300984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(O) (네</a:t>
            </a:r>
            <a:r>
              <a:rPr lang="en-US" sz="1200" b="1" dirty="0">
                <a:solidFill>
                  <a:srgbClr val="FFFFFF"/>
                </a:solidFill>
              </a:rPr>
              <a:t>,) </a:t>
            </a: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모자가 아니에요</a:t>
            </a:r>
            <a:r>
              <a:rPr lang="en-US" sz="1200" b="1" dirty="0">
                <a:solidFill>
                  <a:srgbClr val="FFFFFF"/>
                </a:solidFill>
              </a:rPr>
              <a:t>. </a:t>
            </a: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안경이에요</a:t>
            </a:r>
            <a:r>
              <a:rPr lang="en-US" sz="1200" b="1" dirty="0">
                <a:solidFill>
                  <a:srgbClr val="FFFFFF"/>
                </a:solidFill>
              </a:rPr>
              <a:t>.</a:t>
            </a:r>
            <a:endParaRPr lang="en-US" sz="1200" dirty="0"/>
          </a:p>
        </p:txBody>
      </p:sp>
      <p:sp>
        <p:nvSpPr>
          <p:cNvPr id="32" name="card_4"/>
          <p:cNvSpPr/>
          <p:nvPr/>
        </p:nvSpPr>
        <p:spPr>
          <a:xfrm>
            <a:off x="4306824" y="4160520"/>
            <a:ext cx="35753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33" name="item_img_4" descr="C:\Users\Chingu\AppData\Local\Temp\claude\C--Users-Chingu-Desktop-ACADEMIASEULWEB\d4111e1b-5523-44ea-97b2-b1a1d9545b9e\scratchpad\decks\cache\img_03731e08908ff8d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8833" y="4251960"/>
            <a:ext cx="691286" cy="691286"/>
          </a:xfrm>
          <a:prstGeom prst="rect">
            <a:avLst/>
          </a:prstGeom>
        </p:spPr>
      </p:pic>
      <p:sp>
        <p:nvSpPr>
          <p:cNvPr id="34" name="num_4"/>
          <p:cNvSpPr/>
          <p:nvPr/>
        </p:nvSpPr>
        <p:spPr>
          <a:xfrm>
            <a:off x="4398264" y="425196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4398264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6" name="Text 29"/>
          <p:cNvSpPr txBox="1"/>
          <p:nvPr/>
        </p:nvSpPr>
        <p:spPr>
          <a:xfrm>
            <a:off x="4398264" y="4988966"/>
            <a:ext cx="3392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(gorro) · 양말이에요</a:t>
            </a:r>
            <a:r>
              <a:rPr lang="en-US" sz="1900" dirty="0">
                <a:solidFill>
                  <a:srgbClr val="14142B"/>
                </a:solidFill>
              </a:rPr>
              <a:t>.</a:t>
            </a:r>
            <a:endParaRPr lang="en-US" sz="1900" dirty="0"/>
          </a:p>
        </p:txBody>
      </p:sp>
      <p:sp>
        <p:nvSpPr>
          <p:cNvPr id="37" name="rev_16_caja"/>
          <p:cNvSpPr/>
          <p:nvPr/>
        </p:nvSpPr>
        <p:spPr>
          <a:xfrm>
            <a:off x="4416552" y="5638190"/>
            <a:ext cx="3355848" cy="442570"/>
          </a:xfrm>
          <a:prstGeom prst="roundRect">
            <a:avLst>
              <a:gd name="adj" fmla="val 24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8" name="rev_16_txt"/>
          <p:cNvSpPr txBox="1"/>
          <p:nvPr/>
        </p:nvSpPr>
        <p:spPr>
          <a:xfrm>
            <a:off x="4443984" y="5638190"/>
            <a:ext cx="3300984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(X) 양말이 아니에요</a:t>
            </a:r>
            <a:r>
              <a:rPr lang="en-US" sz="1200" b="1" dirty="0">
                <a:solidFill>
                  <a:srgbClr val="FFFFFF"/>
                </a:solidFill>
              </a:rPr>
              <a:t>. </a:t>
            </a: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모자예요</a:t>
            </a:r>
            <a:r>
              <a:rPr lang="en-US" sz="1200" b="1" dirty="0">
                <a:solidFill>
                  <a:srgbClr val="FFFFFF"/>
                </a:solidFill>
              </a:rPr>
              <a:t>.</a:t>
            </a:r>
            <a:endParaRPr lang="en-US" sz="1200" dirty="0"/>
          </a:p>
        </p:txBody>
      </p:sp>
      <p:sp>
        <p:nvSpPr>
          <p:cNvPr id="39" name="card_5"/>
          <p:cNvSpPr/>
          <p:nvPr/>
        </p:nvSpPr>
        <p:spPr>
          <a:xfrm>
            <a:off x="8065008" y="4160520"/>
            <a:ext cx="35753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40" name="item_img_5" descr="C:\Users\Chingu\AppData\Local\Temp\claude\C--Users-Chingu-Desktop-ACADEMIASEULWEB\d4111e1b-5523-44ea-97b2-b1a1d9545b9e\scratchpad\decks\cache\img_f3f98c96d53a121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7017" y="4251960"/>
            <a:ext cx="691286" cy="691286"/>
          </a:xfrm>
          <a:prstGeom prst="rect">
            <a:avLst/>
          </a:prstGeom>
        </p:spPr>
      </p:pic>
      <p:sp>
        <p:nvSpPr>
          <p:cNvPr id="41" name="num_5"/>
          <p:cNvSpPr/>
          <p:nvPr/>
        </p:nvSpPr>
        <p:spPr>
          <a:xfrm>
            <a:off x="8156448" y="425196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8156448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43" name="Text 35"/>
          <p:cNvSpPr txBox="1"/>
          <p:nvPr/>
        </p:nvSpPr>
        <p:spPr>
          <a:xfrm>
            <a:off x="8156448" y="4988966"/>
            <a:ext cx="3392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(falda) · 치마가 아니에요</a:t>
            </a:r>
            <a:r>
              <a:rPr lang="en-US" sz="1900" dirty="0">
                <a:solidFill>
                  <a:srgbClr val="14142B"/>
                </a:solidFill>
              </a:rPr>
              <a:t>.</a:t>
            </a:r>
            <a:endParaRPr lang="en-US" sz="1900" dirty="0"/>
          </a:p>
        </p:txBody>
      </p:sp>
      <p:sp>
        <p:nvSpPr>
          <p:cNvPr id="44" name="rev_17_caja"/>
          <p:cNvSpPr/>
          <p:nvPr/>
        </p:nvSpPr>
        <p:spPr>
          <a:xfrm>
            <a:off x="8174736" y="5638190"/>
            <a:ext cx="3355848" cy="442570"/>
          </a:xfrm>
          <a:prstGeom prst="roundRect">
            <a:avLst>
              <a:gd name="adj" fmla="val 24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45" name="rev_17_txt"/>
          <p:cNvSpPr txBox="1"/>
          <p:nvPr/>
        </p:nvSpPr>
        <p:spPr>
          <a:xfrm>
            <a:off x="8202168" y="5638190"/>
            <a:ext cx="3300984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(X) 아니요</a:t>
            </a:r>
            <a:r>
              <a:rPr lang="en-US" sz="1200" b="1" dirty="0">
                <a:solidFill>
                  <a:srgbClr val="FFFFFF"/>
                </a:solidFill>
              </a:rPr>
              <a:t>, </a:t>
            </a: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치마예요</a:t>
            </a: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7" grpId="0" animBg="1"/>
      <p:bldP spid="24" grpId="0" animBg="1"/>
      <p:bldP spid="31" grpId="0" animBg="1"/>
      <p:bldP spid="38" grpId="0" animBg="1"/>
      <p:bldP spid="4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 봐요  </a:t>
            </a:r>
            <a:r>
              <a:rPr lang="en-US" sz="3000" b="1" dirty="0">
                <a:solidFill>
                  <a:srgbClr val="003478"/>
                </a:solidFill>
              </a:rPr>
              <a:t>Escucha a Jay</a:t>
            </a:r>
            <a:r>
              <a:rPr lang="en-US" sz="1500" b="1" i="1" dirty="0">
                <a:solidFill>
                  <a:srgbClr val="8A8DA0"/>
                </a:solidFill>
              </a:rPr>
              <a:t>   Listen to Jay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Jay lee cada número 2 veces · tú escribes la letra en el chat · ¿A, B o C?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03454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345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¿Qué es? A 운동화 </a:t>
            </a:r>
            <a:r>
              <a:rPr lang="en-US" sz="2300" dirty="0">
                <a:solidFill>
                  <a:srgbClr val="14142B"/>
                </a:solidFill>
              </a:rPr>
              <a:t>· B </a:t>
            </a: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구두 </a:t>
            </a:r>
            <a:r>
              <a:rPr lang="en-US" sz="2300" dirty="0">
                <a:solidFill>
                  <a:srgbClr val="14142B"/>
                </a:solidFill>
              </a:rPr>
              <a:t>· C </a:t>
            </a: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양말</a:t>
            </a:r>
            <a:endParaRPr lang="en-US" sz="2300" dirty="0"/>
          </a:p>
        </p:txBody>
      </p:sp>
      <p:sp>
        <p:nvSpPr>
          <p:cNvPr id="7" name="rev_18_caja"/>
          <p:cNvSpPr/>
          <p:nvPr/>
        </p:nvSpPr>
        <p:spPr>
          <a:xfrm>
            <a:off x="7498080" y="2002536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18_txt"/>
          <p:cNvSpPr txBox="1"/>
          <p:nvPr/>
        </p:nvSpPr>
        <p:spPr>
          <a:xfrm>
            <a:off x="7589520" y="2002536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· 구두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275691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7569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688336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¿Qué tiene Jay? A 자동차 </a:t>
            </a:r>
            <a:r>
              <a:rPr lang="en-US" sz="1900" dirty="0">
                <a:solidFill>
                  <a:srgbClr val="14142B"/>
                </a:solidFill>
              </a:rPr>
              <a:t>· B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비행기 </a:t>
            </a:r>
            <a:r>
              <a:rPr lang="en-US" sz="1900" dirty="0">
                <a:solidFill>
                  <a:srgbClr val="14142B"/>
                </a:solidFill>
              </a:rPr>
              <a:t>· C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자전거</a:t>
            </a:r>
            <a:endParaRPr lang="en-US" sz="1900" dirty="0"/>
          </a:p>
        </p:txBody>
      </p:sp>
      <p:sp>
        <p:nvSpPr>
          <p:cNvPr id="12" name="rev_19_caja"/>
          <p:cNvSpPr/>
          <p:nvPr/>
        </p:nvSpPr>
        <p:spPr>
          <a:xfrm>
            <a:off x="7498080" y="2724912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19_txt"/>
          <p:cNvSpPr txBox="1"/>
          <p:nvPr/>
        </p:nvSpPr>
        <p:spPr>
          <a:xfrm>
            <a:off x="7589520" y="2724912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· 자전거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347929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4792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410712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¿Qué es? A 바지 </a:t>
            </a:r>
            <a:r>
              <a:rPr lang="en-US" sz="2400" dirty="0">
                <a:solidFill>
                  <a:srgbClr val="14142B"/>
                </a:solidFill>
              </a:rPr>
              <a:t>· B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치마 </a:t>
            </a:r>
            <a:r>
              <a:rPr lang="en-US" sz="2400" dirty="0">
                <a:solidFill>
                  <a:srgbClr val="14142B"/>
                </a:solidFill>
              </a:rPr>
              <a:t>· C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모자</a:t>
            </a:r>
            <a:endParaRPr lang="en-US" sz="2400" dirty="0"/>
          </a:p>
        </p:txBody>
      </p:sp>
      <p:sp>
        <p:nvSpPr>
          <p:cNvPr id="17" name="rev_20_caja"/>
          <p:cNvSpPr/>
          <p:nvPr/>
        </p:nvSpPr>
        <p:spPr>
          <a:xfrm>
            <a:off x="7498080" y="3447288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20_txt"/>
          <p:cNvSpPr txBox="1"/>
          <p:nvPr/>
        </p:nvSpPr>
        <p:spPr>
          <a:xfrm>
            <a:off x="7589520" y="3447288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· 바지</a:t>
            </a:r>
            <a:endParaRPr lang="en-US" sz="2200" dirty="0"/>
          </a:p>
        </p:txBody>
      </p:sp>
      <p:sp>
        <p:nvSpPr>
          <p:cNvPr id="19" name="num_3"/>
          <p:cNvSpPr/>
          <p:nvPr/>
        </p:nvSpPr>
        <p:spPr>
          <a:xfrm>
            <a:off x="548640" y="420166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2016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133088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¿Qué NO tiene 서아</a:t>
            </a:r>
            <a:r>
              <a:rPr lang="en-US" sz="1900" dirty="0">
                <a:solidFill>
                  <a:srgbClr val="14142B"/>
                </a:solidFill>
              </a:rPr>
              <a:t>? A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곰 인형 </a:t>
            </a:r>
            <a:r>
              <a:rPr lang="en-US" sz="1900" dirty="0">
                <a:solidFill>
                  <a:srgbClr val="14142B"/>
                </a:solidFill>
              </a:rPr>
              <a:t>· B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토끼 인형 </a:t>
            </a:r>
            <a:r>
              <a:rPr lang="en-US" sz="1900" dirty="0">
                <a:solidFill>
                  <a:srgbClr val="14142B"/>
                </a:solidFill>
              </a:rPr>
              <a:t>· C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장난감 기차</a:t>
            </a:r>
            <a:endParaRPr lang="en-US" sz="1900" dirty="0"/>
          </a:p>
        </p:txBody>
      </p:sp>
      <p:sp>
        <p:nvSpPr>
          <p:cNvPr id="22" name="rev_21_caja"/>
          <p:cNvSpPr/>
          <p:nvPr/>
        </p:nvSpPr>
        <p:spPr>
          <a:xfrm>
            <a:off x="7498080" y="4169664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21_txt"/>
          <p:cNvSpPr txBox="1"/>
          <p:nvPr/>
        </p:nvSpPr>
        <p:spPr>
          <a:xfrm>
            <a:off x="7589520" y="4169664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· 장난감 기차</a:t>
            </a:r>
            <a:endParaRPr lang="en-US" sz="2200" dirty="0"/>
          </a:p>
        </p:txBody>
      </p:sp>
      <p:sp>
        <p:nvSpPr>
          <p:cNvPr id="24" name="num_4"/>
          <p:cNvSpPr/>
          <p:nvPr/>
        </p:nvSpPr>
        <p:spPr>
          <a:xfrm>
            <a:off x="548640" y="4924044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9240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4855464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¿Qué NO tiene 하나</a:t>
            </a:r>
            <a:r>
              <a:rPr lang="en-US" sz="1900" dirty="0">
                <a:solidFill>
                  <a:srgbClr val="14142B"/>
                </a:solidFill>
              </a:rPr>
              <a:t>? A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안경 </a:t>
            </a:r>
            <a:r>
              <a:rPr lang="en-US" sz="1900" dirty="0">
                <a:solidFill>
                  <a:srgbClr val="14142B"/>
                </a:solidFill>
              </a:rPr>
              <a:t>· B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 </a:t>
            </a:r>
            <a:r>
              <a:rPr lang="en-US" sz="1900" dirty="0">
                <a:solidFill>
                  <a:srgbClr val="14142B"/>
                </a:solidFill>
              </a:rPr>
              <a:t>· C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가방</a:t>
            </a:r>
            <a:endParaRPr lang="en-US" sz="1900" dirty="0"/>
          </a:p>
        </p:txBody>
      </p:sp>
      <p:sp>
        <p:nvSpPr>
          <p:cNvPr id="27" name="rev_22_caja"/>
          <p:cNvSpPr/>
          <p:nvPr/>
        </p:nvSpPr>
        <p:spPr>
          <a:xfrm>
            <a:off x="7498080" y="4892040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8" name="rev_22_txt"/>
          <p:cNvSpPr txBox="1"/>
          <p:nvPr/>
        </p:nvSpPr>
        <p:spPr>
          <a:xfrm>
            <a:off x="7589520" y="4892040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· 안경</a:t>
            </a:r>
            <a:endParaRPr lang="en-US" sz="2200" dirty="0"/>
          </a:p>
        </p:txBody>
      </p:sp>
      <p:sp>
        <p:nvSpPr>
          <p:cNvPr id="29" name="num_5"/>
          <p:cNvSpPr/>
          <p:nvPr/>
        </p:nvSpPr>
        <p:spPr>
          <a:xfrm>
            <a:off x="548640" y="564642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56464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188720" y="5577840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¿Qué tiene 도윤</a:t>
            </a:r>
            <a:r>
              <a:rPr lang="en-US" sz="1900" dirty="0">
                <a:solidFill>
                  <a:srgbClr val="14142B"/>
                </a:solidFill>
              </a:rPr>
              <a:t>? A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고양이 </a:t>
            </a:r>
            <a:r>
              <a:rPr lang="en-US" sz="1900" dirty="0">
                <a:solidFill>
                  <a:srgbClr val="14142B"/>
                </a:solidFill>
              </a:rPr>
              <a:t>· B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강아지 </a:t>
            </a:r>
            <a:r>
              <a:rPr lang="en-US" sz="1900" dirty="0">
                <a:solidFill>
                  <a:srgbClr val="14142B"/>
                </a:solidFill>
              </a:rPr>
              <a:t>· C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강아지 인형</a:t>
            </a:r>
            <a:endParaRPr lang="en-US" sz="1900" dirty="0"/>
          </a:p>
        </p:txBody>
      </p:sp>
      <p:sp>
        <p:nvSpPr>
          <p:cNvPr id="32" name="rev_23_caja"/>
          <p:cNvSpPr/>
          <p:nvPr/>
        </p:nvSpPr>
        <p:spPr>
          <a:xfrm>
            <a:off x="7498080" y="5614416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3" name="rev_23_txt"/>
          <p:cNvSpPr txBox="1"/>
          <p:nvPr/>
        </p:nvSpPr>
        <p:spPr>
          <a:xfrm>
            <a:off x="7589520" y="5614416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· 강아지 </a:t>
            </a:r>
            <a:r>
              <a:rPr lang="en-US" sz="2200" b="1" dirty="0">
                <a:solidFill>
                  <a:srgbClr val="FFFFFF"/>
                </a:solidFill>
              </a:rPr>
              <a:t>(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콩이</a:t>
            </a:r>
            <a:r>
              <a:rPr lang="en-US" sz="2200" b="1" dirty="0">
                <a:solidFill>
                  <a:srgbClr val="FFFFFF"/>
                </a:solidFill>
              </a:rPr>
              <a:t>)</a:t>
            </a:r>
            <a:endParaRPr lang="en-US" sz="22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  <p:bldP spid="28" grpId="0" animBg="1"/>
      <p:bldP spid="3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있어요</a:t>
            </a:r>
            <a:r>
              <a:rPr lang="en-US" sz="2600" b="1" dirty="0">
                <a:solidFill>
                  <a:srgbClr val="4236F6"/>
                </a:solidFill>
              </a:rPr>
              <a:t>?  </a:t>
            </a:r>
            <a:r>
              <a:rPr lang="en-US" sz="2600" b="1" dirty="0">
                <a:solidFill>
                  <a:srgbClr val="003478"/>
                </a:solidFill>
              </a:rPr>
              <a:t>Drill en cadena: ¿tienes…?</a:t>
            </a:r>
            <a:r>
              <a:rPr lang="en-US" sz="1500" b="1" i="1" dirty="0">
                <a:solidFill>
                  <a:srgbClr val="8A8DA0"/>
                </a:solidFill>
              </a:rPr>
              <a:t>   Chain drill: do you have…?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→ B: ___이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있어요</a:t>
            </a:r>
            <a:r>
              <a:rPr lang="en-US" sz="1800" i="1" dirty="0">
                <a:solidFill>
                  <a:srgbClr val="4236F6"/>
                </a:solidFill>
              </a:rPr>
              <a:t>? · B responde y pregunta a C</a:t>
            </a:r>
            <a:endParaRPr lang="en-US" sz="1800" dirty="0"/>
          </a:p>
        </p:txBody>
      </p:sp>
      <p:sp>
        <p:nvSpPr>
          <p:cNvPr id="4" name="tile_0"/>
          <p:cNvSpPr/>
          <p:nvPr/>
        </p:nvSpPr>
        <p:spPr>
          <a:xfrm>
            <a:off x="548640" y="1874520"/>
            <a:ext cx="2601468" cy="1714500"/>
          </a:xfrm>
          <a:prstGeom prst="roundRect">
            <a:avLst>
              <a:gd name="adj" fmla="val 8000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47672"/>
            <a:ext cx="2601468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자동차</a:t>
            </a:r>
            <a:endParaRPr lang="en-US" sz="59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971800"/>
            <a:ext cx="2510028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400" dirty="0">
                <a:solidFill>
                  <a:srgbClr val="5C5F6B"/>
                </a:solidFill>
              </a:rPr>
              <a:t>auto</a:t>
            </a:r>
            <a:endParaRPr lang="en-US" sz="1400" dirty="0"/>
          </a:p>
        </p:txBody>
      </p:sp>
      <p:sp>
        <p:nvSpPr>
          <p:cNvPr id="7" name="tile_1"/>
          <p:cNvSpPr/>
          <p:nvPr/>
        </p:nvSpPr>
        <p:spPr>
          <a:xfrm>
            <a:off x="3378708" y="1874520"/>
            <a:ext cx="2601468" cy="1714500"/>
          </a:xfrm>
          <a:prstGeom prst="roundRect">
            <a:avLst>
              <a:gd name="adj" fmla="val 8000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78708" y="1947672"/>
            <a:ext cx="2601468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자전거</a:t>
            </a:r>
            <a:endParaRPr lang="en-US" sz="5900" dirty="0"/>
          </a:p>
        </p:txBody>
      </p:sp>
      <p:sp>
        <p:nvSpPr>
          <p:cNvPr id="9" name="Text 7"/>
          <p:cNvSpPr txBox="1"/>
          <p:nvPr/>
        </p:nvSpPr>
        <p:spPr>
          <a:xfrm>
            <a:off x="3424428" y="2971800"/>
            <a:ext cx="2510028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400" dirty="0">
                <a:solidFill>
                  <a:srgbClr val="5C5F6B"/>
                </a:solidFill>
              </a:rPr>
              <a:t>bicicleta</a:t>
            </a:r>
            <a:endParaRPr lang="en-US" sz="1400" dirty="0"/>
          </a:p>
        </p:txBody>
      </p:sp>
      <p:sp>
        <p:nvSpPr>
          <p:cNvPr id="10" name="tile_2"/>
          <p:cNvSpPr/>
          <p:nvPr/>
        </p:nvSpPr>
        <p:spPr>
          <a:xfrm>
            <a:off x="6208776" y="1874520"/>
            <a:ext cx="2601468" cy="1714500"/>
          </a:xfrm>
          <a:prstGeom prst="roundRect">
            <a:avLst>
              <a:gd name="adj" fmla="val 8000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08776" y="1947672"/>
            <a:ext cx="2601468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강아지</a:t>
            </a:r>
            <a:endParaRPr lang="en-US" sz="5900" dirty="0"/>
          </a:p>
        </p:txBody>
      </p:sp>
      <p:sp>
        <p:nvSpPr>
          <p:cNvPr id="12" name="Text 10"/>
          <p:cNvSpPr txBox="1"/>
          <p:nvPr/>
        </p:nvSpPr>
        <p:spPr>
          <a:xfrm>
            <a:off x="6254496" y="2971800"/>
            <a:ext cx="2510028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400" dirty="0">
                <a:solidFill>
                  <a:srgbClr val="5C5F6B"/>
                </a:solidFill>
              </a:rPr>
              <a:t>perro</a:t>
            </a:r>
            <a:endParaRPr lang="en-US" sz="1400" dirty="0"/>
          </a:p>
        </p:txBody>
      </p:sp>
      <p:sp>
        <p:nvSpPr>
          <p:cNvPr id="13" name="tile_3"/>
          <p:cNvSpPr/>
          <p:nvPr/>
        </p:nvSpPr>
        <p:spPr>
          <a:xfrm>
            <a:off x="9038844" y="1874520"/>
            <a:ext cx="2601468" cy="1714500"/>
          </a:xfrm>
          <a:prstGeom prst="roundRect">
            <a:avLst>
              <a:gd name="adj" fmla="val 8000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38844" y="1947672"/>
            <a:ext cx="2601468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고양이</a:t>
            </a:r>
            <a:endParaRPr lang="en-US" sz="5900" dirty="0"/>
          </a:p>
        </p:txBody>
      </p:sp>
      <p:sp>
        <p:nvSpPr>
          <p:cNvPr id="15" name="Text 13"/>
          <p:cNvSpPr txBox="1"/>
          <p:nvPr/>
        </p:nvSpPr>
        <p:spPr>
          <a:xfrm>
            <a:off x="9084564" y="2971800"/>
            <a:ext cx="2510028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400" dirty="0">
                <a:solidFill>
                  <a:srgbClr val="5C5F6B"/>
                </a:solidFill>
              </a:rPr>
              <a:t>gato</a:t>
            </a:r>
            <a:endParaRPr lang="en-US" sz="1400" dirty="0"/>
          </a:p>
        </p:txBody>
      </p:sp>
      <p:sp>
        <p:nvSpPr>
          <p:cNvPr id="16" name="tile_4"/>
          <p:cNvSpPr/>
          <p:nvPr/>
        </p:nvSpPr>
        <p:spPr>
          <a:xfrm>
            <a:off x="548640" y="3817620"/>
            <a:ext cx="2601468" cy="1714500"/>
          </a:xfrm>
          <a:prstGeom prst="roundRect">
            <a:avLst>
              <a:gd name="adj" fmla="val 8000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890772"/>
            <a:ext cx="2601468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안경</a:t>
            </a:r>
            <a:endParaRPr lang="en-US" sz="59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4914900"/>
            <a:ext cx="2510028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400" dirty="0">
                <a:solidFill>
                  <a:srgbClr val="5C5F6B"/>
                </a:solidFill>
              </a:rPr>
              <a:t>lentes</a:t>
            </a:r>
            <a:endParaRPr lang="en-US" sz="1400" dirty="0"/>
          </a:p>
        </p:txBody>
      </p:sp>
      <p:sp>
        <p:nvSpPr>
          <p:cNvPr id="19" name="tile_5"/>
          <p:cNvSpPr/>
          <p:nvPr/>
        </p:nvSpPr>
        <p:spPr>
          <a:xfrm>
            <a:off x="3378708" y="3817620"/>
            <a:ext cx="2601468" cy="1714500"/>
          </a:xfrm>
          <a:prstGeom prst="roundRect">
            <a:avLst>
              <a:gd name="adj" fmla="val 8000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78708" y="3890772"/>
            <a:ext cx="2601468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우산</a:t>
            </a:r>
            <a:endParaRPr lang="en-US" sz="5900" dirty="0"/>
          </a:p>
        </p:txBody>
      </p:sp>
      <p:sp>
        <p:nvSpPr>
          <p:cNvPr id="21" name="Text 19"/>
          <p:cNvSpPr txBox="1"/>
          <p:nvPr/>
        </p:nvSpPr>
        <p:spPr>
          <a:xfrm>
            <a:off x="3424428" y="4914900"/>
            <a:ext cx="2510028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400" dirty="0">
                <a:solidFill>
                  <a:srgbClr val="5C5F6B"/>
                </a:solidFill>
              </a:rPr>
              <a:t>paraguas</a:t>
            </a:r>
            <a:endParaRPr lang="en-US" sz="1400" dirty="0"/>
          </a:p>
        </p:txBody>
      </p:sp>
      <p:sp>
        <p:nvSpPr>
          <p:cNvPr id="22" name="tile_6"/>
          <p:cNvSpPr/>
          <p:nvPr/>
        </p:nvSpPr>
        <p:spPr>
          <a:xfrm>
            <a:off x="6208776" y="3817620"/>
            <a:ext cx="2601468" cy="1714500"/>
          </a:xfrm>
          <a:prstGeom prst="roundRect">
            <a:avLst>
              <a:gd name="adj" fmla="val 8000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08776" y="3890772"/>
            <a:ext cx="2601468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운동화</a:t>
            </a:r>
            <a:endParaRPr lang="en-US" sz="5900" dirty="0"/>
          </a:p>
        </p:txBody>
      </p:sp>
      <p:sp>
        <p:nvSpPr>
          <p:cNvPr id="24" name="Text 22"/>
          <p:cNvSpPr txBox="1"/>
          <p:nvPr/>
        </p:nvSpPr>
        <p:spPr>
          <a:xfrm>
            <a:off x="6254496" y="4914900"/>
            <a:ext cx="2510028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400" dirty="0">
                <a:solidFill>
                  <a:srgbClr val="5C5F6B"/>
                </a:solidFill>
              </a:rPr>
              <a:t>zapatillas</a:t>
            </a:r>
            <a:endParaRPr lang="en-US" sz="1400" dirty="0"/>
          </a:p>
        </p:txBody>
      </p:sp>
      <p:sp>
        <p:nvSpPr>
          <p:cNvPr id="25" name="tile_7"/>
          <p:cNvSpPr/>
          <p:nvPr/>
        </p:nvSpPr>
        <p:spPr>
          <a:xfrm>
            <a:off x="9038844" y="3817620"/>
            <a:ext cx="2601468" cy="1714500"/>
          </a:xfrm>
          <a:prstGeom prst="roundRect">
            <a:avLst>
              <a:gd name="adj" fmla="val 8000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038844" y="3890772"/>
            <a:ext cx="2601468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모자</a:t>
            </a:r>
            <a:endParaRPr lang="en-US" sz="5900" dirty="0"/>
          </a:p>
        </p:txBody>
      </p:sp>
      <p:sp>
        <p:nvSpPr>
          <p:cNvPr id="27" name="Text 25"/>
          <p:cNvSpPr txBox="1"/>
          <p:nvPr/>
        </p:nvSpPr>
        <p:spPr>
          <a:xfrm>
            <a:off x="9084564" y="4914900"/>
            <a:ext cx="2510028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400" dirty="0">
                <a:solidFill>
                  <a:srgbClr val="5C5F6B"/>
                </a:solidFill>
              </a:rPr>
              <a:t>gorro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6692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6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</a:t>
            </a:r>
            <a:r>
              <a:rPr lang="en-US" sz="1600" dirty="0">
                <a:solidFill>
                  <a:srgbClr val="14142B"/>
                </a:solidFill>
              </a:rPr>
              <a:t>, </a:t>
            </a:r>
            <a:r>
              <a:rPr lang="ko-KR" altLang="en-US" sz="16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있어요</a:t>
            </a:r>
            <a:r>
              <a:rPr lang="en-US" sz="1600" dirty="0">
                <a:solidFill>
                  <a:srgbClr val="14142B"/>
                </a:solidFill>
              </a:rPr>
              <a:t>. / </a:t>
            </a:r>
            <a:r>
              <a:rPr lang="ko-KR" altLang="en-US" sz="16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1600" dirty="0">
                <a:solidFill>
                  <a:srgbClr val="14142B"/>
                </a:solidFill>
              </a:rPr>
              <a:t>, </a:t>
            </a:r>
            <a:r>
              <a:rPr lang="ko-KR" altLang="en-US" sz="16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없어요</a:t>
            </a:r>
            <a:r>
              <a:rPr lang="en-US" sz="1600" dirty="0">
                <a:solidFill>
                  <a:srgbClr val="14142B"/>
                </a:solidFill>
              </a:rPr>
              <a:t>.</a:t>
            </a:r>
            <a:endParaRPr lang="en-US" sz="16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아니에요</a:t>
            </a:r>
            <a:r>
              <a:rPr lang="en-US" sz="3000" b="1" dirty="0">
                <a:solidFill>
                  <a:srgbClr val="4236F6"/>
                </a:solidFill>
              </a:rPr>
              <a:t>! 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Equipo 이 </a:t>
            </a:r>
            <a:r>
              <a:rPr lang="en-US" sz="3000" b="1" dirty="0">
                <a:solidFill>
                  <a:srgbClr val="003478"/>
                </a:solidFill>
              </a:rPr>
              <a:t>vs. equipo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r>
              <a:rPr lang="ko-KR" altLang="en-US" sz="1500" b="1" i="1" dirty="0">
                <a:solidFill>
                  <a:srgbClr val="8A8DA0"/>
                </a:solidFill>
              </a:rPr>
              <a:t>   Team 이 vs. team 가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Jay dice una palabra · responde el equipo de esa partícula</a:t>
            </a:r>
            <a:endParaRPr lang="en-US" sz="1800" dirty="0"/>
          </a:p>
        </p:txBody>
      </p:sp>
      <p:sp>
        <p:nvSpPr>
          <p:cNvPr id="4" name="tile_0"/>
          <p:cNvSpPr/>
          <p:nvPr/>
        </p:nvSpPr>
        <p:spPr>
          <a:xfrm>
            <a:off x="548640" y="1874520"/>
            <a:ext cx="2601468" cy="1714500"/>
          </a:xfrm>
          <a:prstGeom prst="roundRect">
            <a:avLst>
              <a:gd name="adj" fmla="val 8000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47672"/>
            <a:ext cx="2601468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양말</a:t>
            </a:r>
            <a:endParaRPr lang="en-US" sz="59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971800"/>
            <a:ext cx="2510028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400" dirty="0">
                <a:solidFill>
                  <a:srgbClr val="5C5F6B"/>
                </a:solidFill>
              </a:rPr>
              <a:t>calcetines</a:t>
            </a:r>
            <a:endParaRPr lang="en-US" sz="1400" dirty="0"/>
          </a:p>
        </p:txBody>
      </p:sp>
      <p:sp>
        <p:nvSpPr>
          <p:cNvPr id="7" name="tile_1"/>
          <p:cNvSpPr/>
          <p:nvPr/>
        </p:nvSpPr>
        <p:spPr>
          <a:xfrm>
            <a:off x="3378708" y="1874520"/>
            <a:ext cx="2601468" cy="1714500"/>
          </a:xfrm>
          <a:prstGeom prst="roundRect">
            <a:avLst>
              <a:gd name="adj" fmla="val 8000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78708" y="1947672"/>
            <a:ext cx="2601468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바지</a:t>
            </a:r>
            <a:endParaRPr lang="en-US" sz="5900" dirty="0"/>
          </a:p>
        </p:txBody>
      </p:sp>
      <p:sp>
        <p:nvSpPr>
          <p:cNvPr id="9" name="Text 7"/>
          <p:cNvSpPr txBox="1"/>
          <p:nvPr/>
        </p:nvSpPr>
        <p:spPr>
          <a:xfrm>
            <a:off x="3424428" y="2971800"/>
            <a:ext cx="2510028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400" dirty="0">
                <a:solidFill>
                  <a:srgbClr val="5C5F6B"/>
                </a:solidFill>
              </a:rPr>
              <a:t>pantalón</a:t>
            </a:r>
            <a:endParaRPr lang="en-US" sz="1400" dirty="0"/>
          </a:p>
        </p:txBody>
      </p:sp>
      <p:sp>
        <p:nvSpPr>
          <p:cNvPr id="10" name="tile_2"/>
          <p:cNvSpPr/>
          <p:nvPr/>
        </p:nvSpPr>
        <p:spPr>
          <a:xfrm>
            <a:off x="6208776" y="1874520"/>
            <a:ext cx="2601468" cy="1714500"/>
          </a:xfrm>
          <a:prstGeom prst="roundRect">
            <a:avLst>
              <a:gd name="adj" fmla="val 8000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08776" y="1947672"/>
            <a:ext cx="2601468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안경</a:t>
            </a:r>
            <a:endParaRPr lang="en-US" sz="5900" dirty="0"/>
          </a:p>
        </p:txBody>
      </p:sp>
      <p:sp>
        <p:nvSpPr>
          <p:cNvPr id="12" name="Text 10"/>
          <p:cNvSpPr txBox="1"/>
          <p:nvPr/>
        </p:nvSpPr>
        <p:spPr>
          <a:xfrm>
            <a:off x="6254496" y="2971800"/>
            <a:ext cx="2510028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400" dirty="0">
                <a:solidFill>
                  <a:srgbClr val="5C5F6B"/>
                </a:solidFill>
              </a:rPr>
              <a:t>lentes</a:t>
            </a:r>
            <a:endParaRPr lang="en-US" sz="1400" dirty="0"/>
          </a:p>
        </p:txBody>
      </p:sp>
      <p:sp>
        <p:nvSpPr>
          <p:cNvPr id="13" name="tile_3"/>
          <p:cNvSpPr/>
          <p:nvPr/>
        </p:nvSpPr>
        <p:spPr>
          <a:xfrm>
            <a:off x="9038844" y="1874520"/>
            <a:ext cx="2601468" cy="1714500"/>
          </a:xfrm>
          <a:prstGeom prst="roundRect">
            <a:avLst>
              <a:gd name="adj" fmla="val 8000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38844" y="1947672"/>
            <a:ext cx="2601468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구두</a:t>
            </a:r>
            <a:endParaRPr lang="en-US" sz="5900" dirty="0"/>
          </a:p>
        </p:txBody>
      </p:sp>
      <p:sp>
        <p:nvSpPr>
          <p:cNvPr id="15" name="Text 13"/>
          <p:cNvSpPr txBox="1"/>
          <p:nvPr/>
        </p:nvSpPr>
        <p:spPr>
          <a:xfrm>
            <a:off x="9084564" y="2971800"/>
            <a:ext cx="2510028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400" dirty="0">
                <a:solidFill>
                  <a:srgbClr val="5C5F6B"/>
                </a:solidFill>
              </a:rPr>
              <a:t>zapatos</a:t>
            </a:r>
            <a:endParaRPr lang="en-US" sz="1400" dirty="0"/>
          </a:p>
        </p:txBody>
      </p:sp>
      <p:sp>
        <p:nvSpPr>
          <p:cNvPr id="16" name="tile_4"/>
          <p:cNvSpPr/>
          <p:nvPr/>
        </p:nvSpPr>
        <p:spPr>
          <a:xfrm>
            <a:off x="548640" y="3817620"/>
            <a:ext cx="2601468" cy="1714500"/>
          </a:xfrm>
          <a:prstGeom prst="roundRect">
            <a:avLst>
              <a:gd name="adj" fmla="val 8000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890772"/>
            <a:ext cx="2601468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가방</a:t>
            </a:r>
            <a:endParaRPr lang="en-US" sz="59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4914900"/>
            <a:ext cx="2510028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400" dirty="0">
                <a:solidFill>
                  <a:srgbClr val="5C5F6B"/>
                </a:solidFill>
              </a:rPr>
              <a:t>mochila</a:t>
            </a:r>
            <a:endParaRPr lang="en-US" sz="1400" dirty="0"/>
          </a:p>
        </p:txBody>
      </p:sp>
      <p:sp>
        <p:nvSpPr>
          <p:cNvPr id="19" name="tile_5"/>
          <p:cNvSpPr/>
          <p:nvPr/>
        </p:nvSpPr>
        <p:spPr>
          <a:xfrm>
            <a:off x="3378708" y="3817620"/>
            <a:ext cx="2601468" cy="1714500"/>
          </a:xfrm>
          <a:prstGeom prst="roundRect">
            <a:avLst>
              <a:gd name="adj" fmla="val 8000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78708" y="3890772"/>
            <a:ext cx="2601468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치마</a:t>
            </a:r>
            <a:endParaRPr lang="en-US" sz="5900" dirty="0"/>
          </a:p>
        </p:txBody>
      </p:sp>
      <p:sp>
        <p:nvSpPr>
          <p:cNvPr id="21" name="Text 19"/>
          <p:cNvSpPr txBox="1"/>
          <p:nvPr/>
        </p:nvSpPr>
        <p:spPr>
          <a:xfrm>
            <a:off x="3424428" y="4914900"/>
            <a:ext cx="2510028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400" dirty="0">
                <a:solidFill>
                  <a:srgbClr val="5C5F6B"/>
                </a:solidFill>
              </a:rPr>
              <a:t>falda</a:t>
            </a:r>
            <a:endParaRPr lang="en-US" sz="1400" dirty="0"/>
          </a:p>
        </p:txBody>
      </p:sp>
      <p:sp>
        <p:nvSpPr>
          <p:cNvPr id="22" name="tile_6"/>
          <p:cNvSpPr/>
          <p:nvPr/>
        </p:nvSpPr>
        <p:spPr>
          <a:xfrm>
            <a:off x="6208776" y="3817620"/>
            <a:ext cx="2601468" cy="1714500"/>
          </a:xfrm>
          <a:prstGeom prst="roundRect">
            <a:avLst>
              <a:gd name="adj" fmla="val 8000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08776" y="3890772"/>
            <a:ext cx="2601468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</a:t>
            </a:r>
            <a:endParaRPr lang="en-US" sz="5900" dirty="0"/>
          </a:p>
        </p:txBody>
      </p:sp>
      <p:sp>
        <p:nvSpPr>
          <p:cNvPr id="24" name="Text 22"/>
          <p:cNvSpPr txBox="1"/>
          <p:nvPr/>
        </p:nvSpPr>
        <p:spPr>
          <a:xfrm>
            <a:off x="6254496" y="4914900"/>
            <a:ext cx="2510028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400" dirty="0">
                <a:solidFill>
                  <a:srgbClr val="5C5F6B"/>
                </a:solidFill>
              </a:rPr>
              <a:t>celular</a:t>
            </a:r>
            <a:endParaRPr lang="en-US" sz="1400" dirty="0"/>
          </a:p>
        </p:txBody>
      </p:sp>
      <p:sp>
        <p:nvSpPr>
          <p:cNvPr id="25" name="tile_7"/>
          <p:cNvSpPr/>
          <p:nvPr/>
        </p:nvSpPr>
        <p:spPr>
          <a:xfrm>
            <a:off x="9038844" y="3817620"/>
            <a:ext cx="2601468" cy="1714500"/>
          </a:xfrm>
          <a:prstGeom prst="roundRect">
            <a:avLst>
              <a:gd name="adj" fmla="val 8000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038844" y="3890772"/>
            <a:ext cx="2601468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</a:t>
            </a:r>
            <a:endParaRPr lang="en-US" sz="5900" dirty="0"/>
          </a:p>
        </p:txBody>
      </p:sp>
      <p:sp>
        <p:nvSpPr>
          <p:cNvPr id="27" name="Text 25"/>
          <p:cNvSpPr txBox="1"/>
          <p:nvPr/>
        </p:nvSpPr>
        <p:spPr>
          <a:xfrm>
            <a:off x="9084564" y="4914900"/>
            <a:ext cx="2510028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400" dirty="0">
                <a:solidFill>
                  <a:srgbClr val="5C5F6B"/>
                </a:solidFill>
              </a:rPr>
              <a:t>reloj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6692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6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Equipo 이</a:t>
            </a:r>
            <a:r>
              <a:rPr lang="en-US" sz="1600" dirty="0">
                <a:solidFill>
                  <a:srgbClr val="14142B"/>
                </a:solidFill>
              </a:rPr>
              <a:t>: ___</a:t>
            </a:r>
            <a:r>
              <a:rPr lang="ko-KR" altLang="en-US" sz="16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아니에요</a:t>
            </a:r>
            <a:r>
              <a:rPr lang="en-US" sz="1600" dirty="0">
                <a:solidFill>
                  <a:srgbClr val="14142B"/>
                </a:solidFill>
              </a:rPr>
              <a:t>! · Equipo </a:t>
            </a:r>
            <a:r>
              <a:rPr lang="ko-KR" altLang="en-US" sz="16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r>
              <a:rPr lang="en-US" sz="1600" dirty="0">
                <a:solidFill>
                  <a:srgbClr val="14142B"/>
                </a:solidFill>
              </a:rPr>
              <a:t>: ___</a:t>
            </a:r>
            <a:r>
              <a:rPr lang="ko-KR" altLang="en-US" sz="16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아니에요</a:t>
            </a:r>
            <a:r>
              <a:rPr lang="en-US" sz="1600" dirty="0">
                <a:solidFill>
                  <a:srgbClr val="14142B"/>
                </a:solidFill>
              </a:rPr>
              <a:t>!</a:t>
            </a:r>
            <a:endParaRPr lang="en-US" sz="16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이야기해요 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Sala, parte 1: 뭐가 있어요</a:t>
            </a:r>
            <a:r>
              <a:rPr lang="en-US" sz="3000" b="1" dirty="0">
                <a:solidFill>
                  <a:srgbClr val="003478"/>
                </a:solidFill>
              </a:rPr>
              <a:t>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5 minutos · en parejas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muestra su mochila · B: 가방에 뭐가 있어요</a:t>
            </a:r>
            <a:r>
              <a:rPr lang="en-US" sz="2200" dirty="0">
                <a:solidFill>
                  <a:srgbClr val="14142B"/>
                </a:solidFill>
              </a:rPr>
              <a:t>?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안경이 있어요</a:t>
            </a:r>
            <a:r>
              <a:rPr lang="en-US" sz="2200" dirty="0">
                <a:solidFill>
                  <a:srgbClr val="14142B"/>
                </a:solidFill>
              </a:rPr>
              <a:t>.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휴대폰이 있어요</a:t>
            </a:r>
            <a:r>
              <a:rPr lang="en-US" sz="2200" dirty="0">
                <a:solidFill>
                  <a:srgbClr val="14142B"/>
                </a:solidFill>
              </a:rPr>
              <a:t>.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열쇠가 있어요</a:t>
            </a:r>
            <a:r>
              <a:rPr lang="en-US" sz="2200" dirty="0">
                <a:solidFill>
                  <a:srgbClr val="14142B"/>
                </a:solidFill>
              </a:rPr>
              <a:t>.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adivina: 우산이 있어요</a:t>
            </a:r>
            <a:r>
              <a:rPr lang="en-US" sz="2200" dirty="0">
                <a:solidFill>
                  <a:srgbClr val="14142B"/>
                </a:solidFill>
              </a:rPr>
              <a:t>? → A: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2200" dirty="0">
                <a:solidFill>
                  <a:srgbClr val="14142B"/>
                </a:solidFill>
              </a:rPr>
              <a:t>,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없어요</a:t>
            </a:r>
            <a:r>
              <a:rPr lang="en-US" sz="2200" dirty="0">
                <a:solidFill>
                  <a:srgbClr val="14142B"/>
                </a:solidFill>
              </a:rPr>
              <a:t>.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muestra una cosa muy de cerca: 이게 뭐예요</a:t>
            </a:r>
            <a:r>
              <a:rPr lang="en-US" sz="2200" dirty="0">
                <a:solidFill>
                  <a:srgbClr val="14142B"/>
                </a:solidFill>
              </a:rPr>
              <a:t>? → B: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컵이에요</a:t>
            </a:r>
            <a:r>
              <a:rPr lang="en-US" sz="2200" dirty="0">
                <a:solidFill>
                  <a:srgbClr val="14142B"/>
                </a:solidFill>
              </a:rPr>
              <a:t>? → A: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2200" dirty="0">
                <a:solidFill>
                  <a:srgbClr val="14142B"/>
                </a:solidFill>
              </a:rPr>
              <a:t>,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컵이 아니에요</a:t>
            </a:r>
            <a:r>
              <a:rPr lang="en-US" sz="2200" dirty="0">
                <a:solidFill>
                  <a:srgbClr val="14142B"/>
                </a:solidFill>
              </a:rPr>
              <a:t>.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A los 2 minutos y medio, cambien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Útiles: 안경 </a:t>
            </a:r>
            <a:r>
              <a:rPr lang="en-US" sz="2200" dirty="0">
                <a:solidFill>
                  <a:srgbClr val="14142B"/>
                </a:solidFill>
              </a:rPr>
              <a:t>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 </a:t>
            </a:r>
            <a:r>
              <a:rPr lang="en-US" sz="2200" dirty="0">
                <a:solidFill>
                  <a:srgbClr val="14142B"/>
                </a:solidFill>
              </a:rPr>
              <a:t>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컵 </a:t>
            </a:r>
            <a:r>
              <a:rPr lang="en-US" sz="2200" dirty="0">
                <a:solidFill>
                  <a:srgbClr val="14142B"/>
                </a:solidFill>
              </a:rPr>
              <a:t>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 </a:t>
            </a:r>
            <a:r>
              <a:rPr lang="en-US" sz="2200" dirty="0">
                <a:solidFill>
                  <a:srgbClr val="14142B"/>
                </a:solidFill>
              </a:rPr>
              <a:t>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공책 </a:t>
            </a:r>
            <a:r>
              <a:rPr lang="en-US" sz="2200" dirty="0">
                <a:solidFill>
                  <a:srgbClr val="14142B"/>
                </a:solidFill>
              </a:rPr>
              <a:t>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연필 </a:t>
            </a:r>
            <a:r>
              <a:rPr lang="en-US" sz="2200" dirty="0">
                <a:solidFill>
                  <a:srgbClr val="14142B"/>
                </a:solidFill>
              </a:rPr>
              <a:t>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열쇠 </a:t>
            </a:r>
            <a:r>
              <a:rPr lang="en-US" sz="2200" dirty="0">
                <a:solidFill>
                  <a:srgbClr val="14142B"/>
                </a:solidFill>
              </a:rPr>
              <a:t>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우산 </a:t>
            </a:r>
            <a:r>
              <a:rPr lang="en-US" sz="2200" dirty="0">
                <a:solidFill>
                  <a:srgbClr val="14142B"/>
                </a:solidFill>
              </a:rPr>
              <a:t>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</a:t>
            </a:r>
            <a:endParaRPr lang="en-US" sz="22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이야기해요</a:t>
            </a:r>
            <a:endParaRPr lang="en-US" sz="4600" dirty="0"/>
          </a:p>
        </p:txBody>
      </p:sp>
      <p:pic>
        <p:nvPicPr>
          <p:cNvPr id="7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601200" y="4983480"/>
            <a:ext cx="384048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같이 해요  </a:t>
            </a:r>
            <a:r>
              <a:rPr lang="en-US" sz="3000" b="1" dirty="0">
                <a:solidFill>
                  <a:srgbClr val="003478"/>
                </a:solidFill>
              </a:rPr>
              <a:t>Sala, parte 2: la maleta secreta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9 minutos · el tablero está en la lámina siguiente y en tu hoja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Ronda 1 · Cada uno anota en secreto 4 números del tablero: es lo que hay en su maleta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turnos: 장난감 자동차가 있어요</a:t>
            </a:r>
            <a:r>
              <a:rPr lang="en-US" sz="2000" dirty="0">
                <a:solidFill>
                  <a:srgbClr val="14142B"/>
                </a:solidFill>
              </a:rPr>
              <a:t>? →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</a:t>
            </a:r>
            <a:r>
              <a:rPr lang="en-US" sz="2000" dirty="0">
                <a:solidFill>
                  <a:srgbClr val="14142B"/>
                </a:solidFill>
              </a:rPr>
              <a:t>,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있어요</a:t>
            </a:r>
            <a:r>
              <a:rPr lang="en-US" sz="2000" dirty="0">
                <a:solidFill>
                  <a:srgbClr val="14142B"/>
                </a:solidFill>
              </a:rPr>
              <a:t>! /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2000" dirty="0">
                <a:solidFill>
                  <a:srgbClr val="14142B"/>
                </a:solidFill>
              </a:rPr>
              <a:t>,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없어요</a:t>
            </a:r>
            <a:r>
              <a:rPr lang="en-US" sz="2000" dirty="0">
                <a:solidFill>
                  <a:srgbClr val="14142B"/>
                </a:solidFill>
              </a:rPr>
              <a:t>.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Gana quien encuentra primero las 4 cosas del otro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Ronda 2 · Uno piensa 1 cosa; el otro pregunta: 양말이에요</a:t>
            </a:r>
            <a:r>
              <a:rPr lang="en-US" sz="2000" dirty="0">
                <a:solidFill>
                  <a:srgbClr val="14142B"/>
                </a:solidFill>
              </a:rPr>
              <a:t>? →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2000" dirty="0">
                <a:solidFill>
                  <a:srgbClr val="14142B"/>
                </a:solidFill>
              </a:rPr>
              <a:t>,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양말이 아니에요</a:t>
            </a:r>
            <a:r>
              <a:rPr lang="en-US" sz="2000" dirty="0">
                <a:solidFill>
                  <a:srgbClr val="14142B"/>
                </a:solidFill>
              </a:rPr>
              <a:t>.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Máximo 5 preguntas: si adivinas, punto; luego cambian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¿Partícula mal? El otro dice «다시</a:t>
            </a:r>
            <a:r>
              <a:rPr lang="en-US" sz="2000" dirty="0">
                <a:solidFill>
                  <a:srgbClr val="14142B"/>
                </a:solidFill>
              </a:rPr>
              <a:t>!» y se repite</a:t>
            </a:r>
            <a:endParaRPr lang="en-US" sz="20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8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같이</a:t>
            </a:r>
            <a:endParaRPr lang="en-US" sz="8600" dirty="0"/>
          </a:p>
          <a:p>
            <a:pPr marL="0" indent="0" algn="ctr" eaLnBrk="1">
              <a:buNone/>
            </a:pPr>
            <a:r>
              <a:rPr lang="ko-KR" altLang="en-US" sz="8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해요</a:t>
            </a:r>
            <a:endParaRPr lang="en-US" sz="8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같이 해요  </a:t>
            </a:r>
            <a:r>
              <a:rPr lang="en-US" sz="3000" b="1" dirty="0">
                <a:solidFill>
                  <a:srgbClr val="003478"/>
                </a:solidFill>
              </a:rPr>
              <a:t>Tablero de juego</a:t>
            </a:r>
            <a:r>
              <a:rPr lang="en-US" sz="1500" b="1" i="1" dirty="0">
                <a:solidFill>
                  <a:srgbClr val="8A8DA0"/>
                </a:solidFill>
              </a:rPr>
              <a:t>   Game board</a:t>
            </a:r>
            <a:endParaRPr lang="en-US" sz="3000" dirty="0"/>
          </a:p>
        </p:txBody>
      </p:sp>
      <p:pic>
        <p:nvPicPr>
          <p:cNvPr id="3" name="imagen" descr="C:\Users\Chingu\AppData\Local\Temp\claude\C--Users-Chingu-Desktop-ACADEMIASEULWEB\d4111e1b-5523-44ea-97b2-b1a1d9545b9e\scratchpad\decks\cache\img_102db864248803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1508760"/>
            <a:ext cx="3886200" cy="4480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25880"/>
            <a:ext cx="6931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Toma una captura: en las salas no se ve esta pantalla</a:t>
            </a:r>
            <a:endParaRPr lang="en-US" sz="1800" dirty="0"/>
          </a:p>
        </p:txBody>
      </p:sp>
      <p:graphicFrame>
        <p:nvGraphicFramePr>
          <p:cNvPr id="23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052547"/>
              </p:ext>
            </p:extLst>
          </p:nvPr>
        </p:nvGraphicFramePr>
        <p:xfrm>
          <a:off x="548640" y="1874520"/>
          <a:ext cx="6931152" cy="914400"/>
        </p:xfrm>
        <a:graphic>
          <a:graphicData uri="http://schemas.openxmlformats.org/drawingml/2006/table">
            <a:tbl>
              <a:tblPr/>
              <a:tblGrid>
                <a:gridCol w="2310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03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0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1–4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5–8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9–12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장난감 기차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 토끼 인형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 운동화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장난감 비행기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 강아지 인형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 구두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 장난감 자동차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 치마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 양말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 곰 인형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 바지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 안경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 시간  </a:t>
            </a:r>
            <a:r>
              <a:rPr lang="en-US" sz="2200" b="1" dirty="0">
                <a:solidFill>
                  <a:srgbClr val="003478"/>
                </a:solidFill>
              </a:rPr>
              <a:t>Sala, parte 3: minuto libre</a:t>
            </a:r>
            <a:r>
              <a:rPr lang="en-US" sz="1500" b="1" i="1" dirty="0">
                <a:solidFill>
                  <a:srgbClr val="8A8DA0"/>
                </a:solidFill>
              </a:rPr>
              <a:t>   Breakout room, part 3: free talk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3 minutos · solo en coreano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Hablen de lo que quieran con lo de hoy y lo de antes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뭐가 있어요</a:t>
            </a:r>
            <a:r>
              <a:rPr lang="en-US" sz="2200" dirty="0">
                <a:solidFill>
                  <a:srgbClr val="14142B"/>
                </a:solidFill>
              </a:rPr>
              <a:t>? · ___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lang="en-US" sz="2200" dirty="0">
                <a:solidFill>
                  <a:srgbClr val="14142B"/>
                </a:solidFill>
              </a:rPr>
              <a:t>/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있어요</a:t>
            </a:r>
            <a:r>
              <a:rPr lang="en-US" sz="2200" dirty="0">
                <a:solidFill>
                  <a:srgbClr val="14142B"/>
                </a:solidFill>
              </a:rPr>
              <a:t>? 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이게 뭐예요</a:t>
            </a:r>
            <a:r>
              <a:rPr lang="en-US" sz="2200" dirty="0">
                <a:solidFill>
                  <a:srgbClr val="14142B"/>
                </a:solidFill>
              </a:rPr>
              <a:t>?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운동해요</a:t>
            </a:r>
            <a:r>
              <a:rPr lang="en-US" sz="2200" dirty="0">
                <a:solidFill>
                  <a:srgbClr val="14142B"/>
                </a:solidFill>
              </a:rPr>
              <a:t>? 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주말에 뭘 해요</a:t>
            </a:r>
            <a:r>
              <a:rPr lang="en-US" sz="2200" dirty="0">
                <a:solidFill>
                  <a:srgbClr val="14142B"/>
                </a:solidFill>
              </a:rPr>
              <a:t>? 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요리해요</a:t>
            </a:r>
            <a:r>
              <a:rPr lang="en-US" sz="2200" dirty="0">
                <a:solidFill>
                  <a:srgbClr val="14142B"/>
                </a:solidFill>
              </a:rPr>
              <a:t>?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¿No sale una palabra? Dila en español y sigue en coreano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A las 21:54 las salas se cierran solas</a:t>
            </a:r>
            <a:endParaRPr lang="en-US" sz="22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8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</a:t>
            </a:r>
            <a:endParaRPr lang="en-US" sz="8600" dirty="0"/>
          </a:p>
          <a:p>
            <a:pPr marL="0" indent="0" algn="ctr" eaLnBrk="1">
              <a:buNone/>
            </a:pPr>
            <a:r>
              <a:rPr lang="ko-KR" altLang="en-US" sz="8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endParaRPr lang="en-US" sz="8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문장  </a:t>
            </a:r>
            <a:r>
              <a:rPr lang="en-US" sz="3000" b="1" dirty="0">
                <a:solidFill>
                  <a:srgbClr val="003478"/>
                </a:solidFill>
              </a:rPr>
              <a:t>3 frases clave</a:t>
            </a:r>
            <a:r>
              <a:rPr lang="en-US" sz="1500" b="1" i="1" dirty="0">
                <a:solidFill>
                  <a:srgbClr val="8A8DA0"/>
                </a:solidFill>
              </a:rPr>
              <a:t>   3 key sentences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En coro, dos veces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874520"/>
            <a:ext cx="3544824" cy="4297680"/>
          </a:xfrm>
          <a:prstGeom prst="roundRect">
            <a:avLst>
              <a:gd name="adj" fmla="val 3869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499970"/>
            <a:ext cx="3544824" cy="14612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자동차가 있어요</a:t>
            </a:r>
            <a:r>
              <a:rPr lang="en-US" sz="3000" b="1" dirty="0">
                <a:solidFill>
                  <a:srgbClr val="4236F6"/>
                </a:solidFill>
              </a:rPr>
              <a:t>?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3961181"/>
            <a:ext cx="3398520" cy="2137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¿Tienes auto?</a:t>
            </a:r>
            <a:endParaRPr lang="en-US" sz="1600" dirty="0"/>
          </a:p>
        </p:txBody>
      </p:sp>
      <p:pic>
        <p:nvPicPr>
          <p:cNvPr id="7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3691128" y="1947672"/>
            <a:ext cx="310896" cy="310896"/>
          </a:xfrm>
          <a:prstGeom prst="rect">
            <a:avLst/>
          </a:prstGeom>
        </p:spPr>
      </p:pic>
      <p:sp>
        <p:nvSpPr>
          <p:cNvPr id="8" name="card_1"/>
          <p:cNvSpPr/>
          <p:nvPr/>
        </p:nvSpPr>
        <p:spPr>
          <a:xfrm>
            <a:off x="4322064" y="1874520"/>
            <a:ext cx="3544824" cy="4297680"/>
          </a:xfrm>
          <a:prstGeom prst="roundRect">
            <a:avLst>
              <a:gd name="adj" fmla="val 3869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322064" y="2499970"/>
            <a:ext cx="3544824" cy="14612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3000" b="1" dirty="0">
                <a:solidFill>
                  <a:srgbClr val="4236F6"/>
                </a:solidFill>
              </a:rPr>
              <a:t>, 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없어요</a:t>
            </a:r>
            <a:r>
              <a:rPr lang="en-US" sz="3000" b="1" dirty="0">
                <a:solidFill>
                  <a:srgbClr val="4236F6"/>
                </a:solidFill>
              </a:rPr>
              <a:t>.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4395216" y="3961181"/>
            <a:ext cx="3398520" cy="2137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No, no tengo.</a:t>
            </a:r>
            <a:endParaRPr lang="en-US" sz="1600" dirty="0"/>
          </a:p>
        </p:txBody>
      </p:sp>
      <p:pic>
        <p:nvPicPr>
          <p:cNvPr id="11" name="Media 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7464552" y="1947672"/>
            <a:ext cx="310896" cy="310896"/>
          </a:xfrm>
          <a:prstGeom prst="rect">
            <a:avLst/>
          </a:prstGeom>
        </p:spPr>
      </p:pic>
      <p:sp>
        <p:nvSpPr>
          <p:cNvPr id="12" name="card_2"/>
          <p:cNvSpPr/>
          <p:nvPr/>
        </p:nvSpPr>
        <p:spPr>
          <a:xfrm>
            <a:off x="8095488" y="1874520"/>
            <a:ext cx="3544824" cy="4297680"/>
          </a:xfrm>
          <a:prstGeom prst="roundRect">
            <a:avLst>
              <a:gd name="adj" fmla="val 3869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8095488" y="2499970"/>
            <a:ext cx="3544824" cy="14612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모자가 아니에요</a:t>
            </a:r>
            <a:r>
              <a:rPr lang="en-US" sz="3000" b="1" dirty="0">
                <a:solidFill>
                  <a:srgbClr val="4236F6"/>
                </a:solidFill>
              </a:rPr>
              <a:t>.</a:t>
            </a:r>
            <a:endParaRPr lang="en-US" sz="3000" dirty="0"/>
          </a:p>
          <a:p>
            <a:pPr marL="0" indent="0" algn="ctr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양말이에요</a:t>
            </a:r>
            <a:r>
              <a:rPr lang="en-US" sz="3000" b="1" dirty="0">
                <a:solidFill>
                  <a:srgbClr val="4236F6"/>
                </a:solidFill>
              </a:rPr>
              <a:t>.</a:t>
            </a:r>
            <a:endParaRPr lang="en-US" sz="3000" dirty="0"/>
          </a:p>
        </p:txBody>
      </p:sp>
      <p:sp>
        <p:nvSpPr>
          <p:cNvPr id="14" name="Text 10"/>
          <p:cNvSpPr txBox="1"/>
          <p:nvPr/>
        </p:nvSpPr>
        <p:spPr>
          <a:xfrm>
            <a:off x="8168640" y="3961181"/>
            <a:ext cx="3398520" cy="2137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No es un gorro. Son calcetines.</a:t>
            </a:r>
            <a:endParaRPr lang="en-US" sz="1600" dirty="0"/>
          </a:p>
        </p:txBody>
      </p:sp>
      <p:pic>
        <p:nvPicPr>
          <p:cNvPr id="15" name="Media 2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237976" y="1947672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말해요  </a:t>
            </a:r>
            <a:r>
              <a:rPr lang="en-US" sz="3000" b="1" dirty="0">
                <a:solidFill>
                  <a:srgbClr val="003478"/>
                </a:solidFill>
              </a:rPr>
              <a:t>Errores del día</a:t>
            </a:r>
            <a:r>
              <a:rPr lang="en-US" sz="1500" b="1" i="1" dirty="0">
                <a:solidFill>
                  <a:srgbClr val="8A8DA0"/>
                </a:solidFill>
              </a:rPr>
              <a:t>   Today's mistakes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Normales y fáciles de arreglar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자동차를 있어요 </a:t>
            </a:r>
            <a:r>
              <a:rPr lang="en-US" sz="2400" dirty="0">
                <a:solidFill>
                  <a:srgbClr val="14142B"/>
                </a:solidFill>
              </a:rPr>
              <a:t>✗ →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자동차가 있어요 </a:t>
            </a:r>
            <a:r>
              <a:rPr lang="en-US" sz="2400" dirty="0">
                <a:solidFill>
                  <a:srgbClr val="14142B"/>
                </a:solidFill>
              </a:rPr>
              <a:t>✓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있어요 </a:t>
            </a:r>
            <a:r>
              <a:rPr lang="en-US" sz="2400" dirty="0">
                <a:solidFill>
                  <a:srgbClr val="14142B"/>
                </a:solidFill>
              </a:rPr>
              <a:t>✗ →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없어요 </a:t>
            </a:r>
            <a:r>
              <a:rPr lang="en-US" sz="2400" dirty="0">
                <a:solidFill>
                  <a:srgbClr val="14142B"/>
                </a:solidFill>
              </a:rPr>
              <a:t>✓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양말가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바지이 </a:t>
            </a:r>
            <a:r>
              <a:rPr lang="en-US" sz="2400" dirty="0">
                <a:solidFill>
                  <a:srgbClr val="14142B"/>
                </a:solidFill>
              </a:rPr>
              <a:t>✗ →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양말이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바지가 </a:t>
            </a:r>
            <a:r>
              <a:rPr lang="en-US" sz="2400" dirty="0">
                <a:solidFill>
                  <a:srgbClr val="14142B"/>
                </a:solidFill>
              </a:rPr>
              <a:t>✓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안경이 없어요 </a:t>
            </a:r>
            <a:r>
              <a:rPr lang="en-US" sz="2400" dirty="0">
                <a:solidFill>
                  <a:srgbClr val="14142B"/>
                </a:solidFill>
              </a:rPr>
              <a:t>(no tengo lentes) ≠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안경이 아니에요 </a:t>
            </a:r>
            <a:r>
              <a:rPr lang="en-US" sz="2400" dirty="0">
                <a:solidFill>
                  <a:srgbClr val="14142B"/>
                </a:solidFill>
              </a:rPr>
              <a:t>(no son lentes)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 escribe 아니에요 </a:t>
            </a:r>
            <a:r>
              <a:rPr lang="en-US" sz="2400" dirty="0">
                <a:solidFill>
                  <a:srgbClr val="14142B"/>
                </a:solidFill>
              </a:rPr>
              <a:t>(nunca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아니예요</a:t>
            </a:r>
            <a:r>
              <a:rPr lang="en-US" sz="2400" dirty="0">
                <a:solidFill>
                  <a:srgbClr val="14142B"/>
                </a:solidFill>
              </a:rPr>
              <a:t>) · sin -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</a:t>
            </a:r>
            <a:r>
              <a:rPr lang="en-US" sz="2400" dirty="0">
                <a:solidFill>
                  <a:srgbClr val="14142B"/>
                </a:solidFill>
              </a:rPr>
              <a:t>: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양말</a:t>
            </a:r>
            <a:r>
              <a:rPr lang="en-US" sz="2400" dirty="0">
                <a:solidFill>
                  <a:srgbClr val="14142B"/>
                </a:solidFill>
              </a:rPr>
              <a:t>,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구두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Hoy en las salas: ___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7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</a:t>
            </a:r>
            <a:endParaRPr lang="en-US" sz="7700" dirty="0"/>
          </a:p>
          <a:p>
            <a:pPr marL="0" indent="0" algn="ctr" eaLnBrk="1">
              <a:buNone/>
            </a:pPr>
            <a:r>
              <a:rPr lang="ko-KR" altLang="en-US" sz="7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말해요</a:t>
            </a:r>
            <a:endParaRPr lang="en-US" sz="7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써 봐요  </a:t>
            </a:r>
            <a:r>
              <a:rPr lang="en-US" sz="3000" b="1" dirty="0">
                <a:solidFill>
                  <a:srgbClr val="003478"/>
                </a:solidFill>
              </a:rPr>
              <a:t>Tarea</a:t>
            </a:r>
            <a:r>
              <a:rPr lang="en-US" sz="1500" b="1" i="1" dirty="0">
                <a:solidFill>
                  <a:srgbClr val="8A8DA0"/>
                </a:solidFill>
              </a:rPr>
              <a:t>   Homework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En tu hoja de la clase 5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Ejercicios 1 a 4 de la hoja (10 minutos)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 mochila: 5 frases, 3 con 있어요 </a:t>
            </a:r>
            <a:r>
              <a:rPr lang="en-US" sz="2200" dirty="0">
                <a:solidFill>
                  <a:srgbClr val="14142B"/>
                </a:solidFill>
              </a:rPr>
              <a:t>y 2 con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없어요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frase con 아니에요 </a:t>
            </a:r>
            <a:r>
              <a:rPr lang="en-US" sz="2200" dirty="0">
                <a:solidFill>
                  <a:srgbClr val="14142B"/>
                </a:solidFill>
              </a:rPr>
              <a:t>(ej.: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강아지가 아니에요</a:t>
            </a:r>
            <a:r>
              <a:rPr lang="en-US" sz="2200" dirty="0">
                <a:solidFill>
                  <a:srgbClr val="14142B"/>
                </a:solidFill>
              </a:rPr>
              <a:t>.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강아지 인형이에요</a:t>
            </a:r>
            <a:r>
              <a:rPr lang="en-US" sz="2200" dirty="0">
                <a:solidFill>
                  <a:srgbClr val="14142B"/>
                </a:solidFill>
              </a:rPr>
              <a:t>.)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Foto de la hoja + audio de 20 s (가방에 뭐가 있어요</a:t>
            </a:r>
            <a:r>
              <a:rPr lang="en-US" sz="2200" dirty="0">
                <a:solidFill>
                  <a:srgbClr val="14142B"/>
                </a:solidFill>
              </a:rPr>
              <a:t>?), por privado antes del lunes 23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Próxima clase: miércoles 25 de noviembre · lección 6</a:t>
            </a:r>
            <a:endParaRPr lang="en-US" sz="22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7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써 봐요</a:t>
            </a:r>
            <a:endParaRPr lang="en-US" sz="7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169164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r>
              <a:rPr lang="en-US" sz="3000" b="1" dirty="0">
                <a:solidFill>
                  <a:srgbClr val="FFFFFF"/>
                </a:solidFill>
              </a:rPr>
              <a:t>! </a:t>
            </a:r>
            <a:r>
              <a:rPr lang="ko-KR" alt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화이팅</a:t>
            </a:r>
            <a:r>
              <a:rPr lang="en-US" sz="3000" b="1" dirty="0">
                <a:solidFill>
                  <a:srgbClr val="FFFFFF"/>
                </a:solidFill>
              </a:rPr>
              <a:t>!  ¡Gracias! ¡Ánimo!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2" hasCustomPrompt="1"/>
          </p:nvPr>
        </p:nvSpPr>
        <p:spPr>
          <a:xfrm>
            <a:off x="1463040" y="2971800"/>
            <a:ext cx="92628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800" dirty="0">
                <a:solidFill>
                  <a:srgbClr val="FFFFFF"/>
                </a:solidFill>
              </a:rPr>
              <a:t>La clase 6 abre con un quiz de hoy</a:t>
            </a:r>
            <a:endParaRPr lang="en-US" sz="2200" dirty="0"/>
          </a:p>
          <a:p>
            <a:pPr marL="0" indent="0" algn="ctr" eaLnBrk="1">
              <a:buNone/>
            </a:pPr>
            <a:r>
              <a:rPr lang="ko-KR" alt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Quiz: 있어요 </a:t>
            </a:r>
            <a:r>
              <a:rPr lang="en-US" sz="1800" dirty="0">
                <a:solidFill>
                  <a:srgbClr val="FFFFFF"/>
                </a:solidFill>
              </a:rPr>
              <a:t>· </a:t>
            </a:r>
            <a:r>
              <a:rPr lang="ko-KR" alt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없어요 </a:t>
            </a:r>
            <a:r>
              <a:rPr lang="en-US" sz="1800" dirty="0">
                <a:solidFill>
                  <a:srgbClr val="FFFFFF"/>
                </a:solidFill>
              </a:rPr>
              <a:t>· </a:t>
            </a:r>
            <a:r>
              <a:rPr lang="ko-KR" alt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아니에요 </a:t>
            </a:r>
            <a:r>
              <a:rPr lang="en-US" sz="1800" dirty="0">
                <a:solidFill>
                  <a:srgbClr val="FFFFFF"/>
                </a:solidFill>
              </a:rPr>
              <a:t>· ¿</a:t>
            </a:r>
            <a:r>
              <a:rPr lang="ko-KR" alt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</a:t>
            </a:r>
            <a:r>
              <a:rPr lang="en-US" sz="1800" dirty="0">
                <a:solidFill>
                  <a:srgbClr val="FFFFFF"/>
                </a:solidFill>
              </a:rPr>
              <a:t>o </a:t>
            </a:r>
            <a:r>
              <a:rPr lang="ko-KR" alt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r>
              <a:rPr lang="en-US" sz="1800" dirty="0">
                <a:solidFill>
                  <a:srgbClr val="FFFFFF"/>
                </a:solidFill>
              </a:rPr>
              <a:t>?</a:t>
            </a:r>
            <a:endParaRPr lang="en-US" sz="2200" dirty="0"/>
          </a:p>
          <a:p>
            <a:pPr marL="0" indent="0" algn="ctr" eaLnBrk="1">
              <a:buNone/>
            </a:pPr>
            <a:r>
              <a:rPr lang="en-US" sz="1800" dirty="0">
                <a:solidFill>
                  <a:srgbClr val="FFFFFF"/>
                </a:solidFill>
              </a:rPr>
              <a:t>Clase 6 · miércoles 25 de noviembre · 21:00 (hora de Chile)</a:t>
            </a:r>
            <a:endParaRPr lang="en-US" sz="2200" dirty="0"/>
          </a:p>
          <a:p>
            <a:pPr marL="0" indent="0" algn="ctr" eaLnBrk="1">
              <a:buNone/>
            </a:pPr>
            <a:r>
              <a:rPr lang="ko-KR" alt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정말 잘했어요</a:t>
            </a:r>
            <a:r>
              <a:rPr lang="en-US" sz="1800" dirty="0">
                <a:solidFill>
                  <a:srgbClr val="FFFFFF"/>
                </a:solidFill>
              </a:rPr>
              <a:t>!</a:t>
            </a:r>
            <a:endParaRPr lang="en-US" sz="2200" dirty="0"/>
          </a:p>
          <a:p>
            <a:pPr marL="0" indent="0" algn="ctr" eaLnBrk="1">
              <a:buNone/>
            </a:pPr>
            <a:r>
              <a:rPr lang="ko-KR" alt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 </a:t>
            </a:r>
            <a:r>
              <a:rPr lang="en-US" sz="1800" dirty="0">
                <a:solidFill>
                  <a:srgbClr val="FFFFFF"/>
                </a:solidFill>
              </a:rPr>
              <a:t>· </a:t>
            </a:r>
            <a:r>
              <a:rPr lang="ko-KR" alt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화이팅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ademia Seul">
  <a:themeElements>
    <a:clrScheme name="Academia Seul">
      <a:dk1>
        <a:srgbClr val="14142B"/>
      </a:dk1>
      <a:lt1>
        <a:srgbClr val="FFFFFF"/>
      </a:lt1>
      <a:dk2>
        <a:srgbClr val="003478"/>
      </a:dk2>
      <a:lt2>
        <a:srgbClr val="F1F0FE"/>
      </a:lt2>
      <a:accent1>
        <a:srgbClr val="4236F6"/>
      </a:accent1>
      <a:accent2>
        <a:srgbClr val="E8B84B"/>
      </a:accent2>
      <a:accent3>
        <a:srgbClr val="003478"/>
      </a:accent3>
      <a:accent4>
        <a:srgbClr val="8A83FF"/>
      </a:accent4>
      <a:accent5>
        <a:srgbClr val="5C5F6B"/>
      </a:accent5>
      <a:accent6>
        <a:srgbClr val="B8962E"/>
      </a:accent6>
      <a:hlink>
        <a:srgbClr val="4236F6"/>
      </a:hlink>
      <a:folHlink>
        <a:srgbClr val="003478"/>
      </a:folHlink>
    </a:clrScheme>
    <a:fontScheme name="Academia Seu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6096</Words>
  <Application>Microsoft Office PowerPoint</Application>
  <PresentationFormat>Widescreen</PresentationFormat>
  <Paragraphs>465</Paragraphs>
  <Slides>27</Slides>
  <Notes>27</Notes>
  <HiddenSlides>0</HiddenSlides>
  <MMClips>38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Malgun Gothic</vt:lpstr>
      <vt:lpstr>Arial</vt:lpstr>
      <vt:lpstr>Academia Seul</vt:lpstr>
      <vt:lpstr>Básico 2 · Clase 5</vt:lpstr>
      <vt:lpstr>안녕하세요!  Mientras llegan   While everyone joins</vt:lpstr>
      <vt:lpstr>복습 퀴즈  Quiz de la clase 4   Class 4 quiz</vt:lpstr>
      <vt:lpstr>오늘  Hoy: dos lecciones cortas   Today: two short lessons</vt:lpstr>
      <vt:lpstr>선물  El regalo de 서아   A gift for 서아</vt:lpstr>
      <vt:lpstr>배워 봐요 · Juguetes   Let's learn · Toys</vt:lpstr>
      <vt:lpstr>있어요 · 없어요  Tener: 있어요 · No tener: 없어요   To have / not to have</vt:lpstr>
      <vt:lpstr>발음  Así suena   How it sounds</vt:lpstr>
      <vt:lpstr>뭐가 있어요?  ¿Qué tienes? ¿Qué hay?   What do you have?</vt:lpstr>
      <vt:lpstr>연습해요  La repisa de 서아   서아's toy shelf</vt:lpstr>
      <vt:lpstr>이야기해요  ¿Y tú? ¿Tienes…?   And you? Do you have…?</vt:lpstr>
      <vt:lpstr>이게 뭐예요?  ¿Qué es esto?   What is this?</vt:lpstr>
      <vt:lpstr>배워 봐요 · Ropa   Let's learn · Clothes</vt:lpstr>
      <vt:lpstr>이에요/예요 → 이/가 아니에요  Es · No es   It is / It isn't</vt:lpstr>
      <vt:lpstr>없어요 ≠ 아니에요  ¿없어요 o 아니에요?   Don't have / isn't</vt:lpstr>
      <vt:lpstr>연습해요  ¿O o X?   True or false?</vt:lpstr>
      <vt:lpstr>들어 봐요  Escucha a Jay   Listen to Jay</vt:lpstr>
      <vt:lpstr>있어요?  Drill en cadena: ¿tienes…?   Chain drill: do you have…?</vt:lpstr>
      <vt:lpstr>아니에요!  Equipo 이 vs. equipo 가   Team 이 vs. team 가</vt:lpstr>
      <vt:lpstr>이야기해요  Sala, parte 1: 뭐가 있어요?</vt:lpstr>
      <vt:lpstr>같이 해요  Sala, parte 2: la maleta secreta</vt:lpstr>
      <vt:lpstr>같이 해요  Tablero de juego   Game board</vt:lpstr>
      <vt:lpstr>자유 시간  Sala, parte 3: minuto libre   Breakout room, part 3: free talk</vt:lpstr>
      <vt:lpstr>오늘의 문장  3 frases clave   3 key sentences</vt:lpstr>
      <vt:lpstr>이렇게 말해요  Errores del día   Today's mistakes</vt:lpstr>
      <vt:lpstr>써 봐요  Tarea   Homework</vt:lpstr>
      <vt:lpstr>감사합니다! 화이팅!  ¡Gracias! ¡Ánimo!</vt:lpstr>
    </vt:vector>
  </TitlesOfParts>
  <Company>Academia Seúl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Básico 2 (A1.2) · Semana 5 · 장난감 기차가 있어요 · 구두가 아니에요 — Tener, no tener y decir que algo no es</dc:title>
  <dc:subject>PptxGenJS Presentation</dc:subject>
  <dc:creator>Academia Seúl</dc:creator>
  <cp:lastModifiedBy>Jae Hee Kim</cp:lastModifiedBy>
  <cp:revision>2</cp:revision>
  <dcterms:created xsi:type="dcterms:W3CDTF">2026-10-22T12:13:54Z</dcterms:created>
  <dcterms:modified xsi:type="dcterms:W3CDTF">2026-10-22T12:14:42Z</dcterms:modified>
</cp:coreProperties>
</file>