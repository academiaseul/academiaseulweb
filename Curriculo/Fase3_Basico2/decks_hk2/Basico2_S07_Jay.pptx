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7" id="{8AB9293C-AE67-F57E-27F5-4715E3C72D4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95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21:00–21:01 (1 min). Inicia la grabación en la nube. Saluda a cada uno por su nombre al entrar («안녕하세요, ___ 씨!»). Anuncia: «Hoy es el día de los números: dos lecciones del libro, la 7 y la 8. Al final van a poder contar hasta 10, decir cuántas cosas hay y cuántos años tiene alguien.» Recuerda que la hoja de la clase 7 está en el grupo de WhatsApp (la van a necesitar en las salas). Referencia: 한국어 2, lecciones 7 y 8, págs. 66–85 (guía del profesor, págs. 68–87).
Fuente: Portada de la plantilla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21:01–21:05 (4 min). Antes del quiz (20 s): agradece las tareas que llegaron y di el error más común, sin nombres (cada una ya la corregiste por WhatsApp). Pregunta en coreano a uno por uno («___ 씨?»); quien va llegando responde en el chat. La respuesta aparece con clic y todos la repiten. En la 1 también vale 빵집에서 사요 (lo más común en el habla). En la 3, la 4 y la 5 vale cualquier respuesta con 에서 y el verbo bien dicho (치마를 사요 · 카페에서 공부해요 · 김밥을 만들어요). Si alguien dice «빵 가게에 사요», di tú «빵 가게에서 사요» sin explicar y que lo repita. La 6 es la que se anunció al cierre de la clase 6 (에 o 에서): es la tercera frase clave de esa clase. Cierre (20 s): señala el subtítulo: «빵을 몇 개 사요? ¿Cuántos panes compras? Hoy aprendemos a responder eso.» Referencia: 한국어 2, lección 6, págs. 56–65.
Fuente: Nueva (repaso de la lección 6)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21:05–21:07 (2 min). Primera vez sin texto: «no lean, solo escuchen» (oculta la lámina o mira a cámara) y pon el audio de cada línea, o léelas tú con voces. Pregunta en español: «¿Qué números oyeron?» (seguramente 하나 둘 셋 넷, 두, 세, 여섯). Segunda vez con el texto en pantalla. No expliques nada todavía; solo deja la pista: «¿Se fijaron? 서아 cuenta 넷, pero después dice 네 개. En 15 minutos les cuento por qué.» Al decir «두 개 있어요», 도윤 saca las manzanas de la bolsa (haz el gesto). Personajes: 도윤 (cocinero, papá de 서아), 서아 (6 años), 콩이 (el perrito), Valentina y Mateo, de visita. Referencia: 한국어 2, lección 8, pág. 76 (본문: misma función, diálogo nuevo).
Imagen: incluida (dibujo de la casa).
Fuente: Nueva (escena original con los personajes de la casa)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21:07–21:08 (1 min). Los de julio ya los vieron: «¿Quién se acuerda?» y que el grupo los diga antes del audio. Luego: escuchar → repetir en coro dos veces → tú dices la cifra en español y ellos en coreano. Ojo: 이 (2) suena igual que el 이 de 이게 y que la partícula 이: «el contexto los separa». Opcional (15 s, sáltalo si vas justo): 사 (4) suena como 死 (사, muerte); por eso en muchos ascensores coreanos el 4.º piso aparece como F. Es lo mismo que pasa con el rojo. Referencia: 한국어 2, lección 7, pág. 67.
Imagen: incluida (dibujo de la casa).
Fuente: Nueva (vocabulario de la lección 7)
Lámina 4a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21:08–21:09 (1 min). Igual que L4a. Juego relámpago: dices dos cifras rápidas en español («siete, dos») y responden «칠, 이». Una vuelta en coro de 일 a 십. Referencia: 한국어 2, lección 7, pág. 67.
Imagen: incluida (dibujo de la casa).
Fuente: Nueva (vocabulario de la lección 7)
Lámina 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21:09–21:11 (2 min). «El coreano tiene DOS juegos de números. Los de recién son para leer cifras; estos son para contar.» Escuchar → repetir mostrando los dedos en cámara (un dedo por número). Pronunciación: 셋 [섿] y 넷 [넫]: la ㅅ final no suena como s, es una t cortada; lo mismo en 다섯 [다섣]. Truco para recordar: 하나 es también el nombre de nuestro personaje, y significa «uno». Es el título de la lección 7: 하나, 둘, 셋, 넷. Referencia: 한국어 2, lección 7, págs. 66 y 68.
Imagen: incluida (dibujo de la casa).
Fuente: Nueva (vocabulario de la lección 7)
Lámina 5a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21:11–21:12 (1 min). Igual que L5a. 여덟 se escribe con ㄼ pero suena [여덜]: «la ㅂ aquí es muda». Cuenta en coro de 1 a 10 con palmas y después al revés: 열, 아홉, 여덟… Ojo con 일 (1, del otro juego) y 열 (10): ㅣ y ㅕ. Referencia: 한국어 2, lección 7, pág. 68.
Imagen: incluida (dibujo de la casa).
Fuente: Nueva (vocabulario de la lección 7)
Lámina 5b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21:12–21:13 (1 min). Lectura en cadena por filas: tú dices la cifra, un alumno dice la columna del medio y el siguiente la de la derecha. Explicación en una frase: «Dos juegos: 일, 이, 삼 para leer cifras —teléfonos, claves—; 하나, 둘, 셋 para contar cosas y decir la edad.» No entres en fechas, precios ni horas: vienen más adelante. Referencia: 한국어 2, lección 7, págs. 67–68; guía, pág. 70 (explicar en la lengua del alumno que los dos juegos se leen distinto).
Fuente: Nueva (idea de la guía, pág. 70)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21:13–21:14 (1 min). Señala cada columna. «El 0, en teléfonos y claves, es 공 (palabra extra de hoy).» Pregunta rápida en español y responden con la columna: «¿El teléfono de un amigo?» (일, 이, 삼) · «¿Cuántos cafés tomas al día?» (하나, 둘, 셋). Referencia: 한국어 2, lección 7; guía, pág. 73 (idea del número de teléfono).
Fuente: Nueva (idea de la guía, pág. 73)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21:14–21:15 (1 min). Dices la palabra en coreano y todos muestran el número con los dedos a la vez (así ves quién duda); clic para la respuesta. Mezcla a propósito los dos juegos. Referencia: 한국어 2, lección 7, pág. 69 (연결해 보세요: mismo tipo de ejercicio, ítems nuevos).
Fuente: Idea del libro, pág. 69 (tipo de ejercicio); ítems nuevos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21:15–21:17 (2 min). Nombra a uno por ítem; el resto repite. En un teléfono las cifras se leen de a una y el guion a veces suena 에 (공일공에 일이삼사에 오육칠팔): acéptalo, no lo exijas. En el 5 también vale 구영육 (en claves y códigos se oyen 공 y 영). El 6 es el paso «sobre ti»: una o dos personas dictan su clave inventada (nunca un teléfono real). El 010-1234-5678 es un número de ejemplo (el formato de los celulares coreanos), no uno real. Si vas atrasado, solo los ítems 1, 2, 4 y 6 (el 6 con una sola persona). Referencia: 한국어 2, lección 7; guía, pág. 73 (친구 집 전화 번호).
Fuente: Nueva (idea de la guía, pág. 73)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21:17–21:19 (2 min). «Para contar cosas, el coreano pone una palabrita después del número: 개, “unidad”.» Escuchar → repetir. Fíjate en las cuatro primeras: 한, 두, 세, 네 (no 하나, 둘, 셋, 넷). No lo expliques aún: «¿Qué cambió?» → alguien dirá que se acortan. Dato para reír: 개 también significa «perro». Por eso «이 개» (el error de usar 이 para 2 cosas) a un coreano le suena a «este perro». Pronunciación: después de 다섯, 여섯, 일곱 y 여덟 la ㄱ de 개 suena tensa: [다섣깨], [일곱깨], [여덜깨]. También se tensan: 아홉 개 [아홉깨] y 열 개 [열깨]. Las cuatro primeras no cambian: 한 개, 두 개, 세 개, 네 개. Referencia: 한국어 2, lección 8, pág. 77.
Imagen: incluida (dibujo de la casa).
Fuente: Nueva (vocabulario de la lección 8)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21:19–21:20 (1 min). Igual que L10. 몇 = «¿cuántos?» y siempre va con su palabra de unidad detrás: 몇 개 (cosas), 몇 살 (edad). Pronunciación: 몇 살 [멷쌀]: la ㅊ final suena como t cortada y tensa la ㅅ. Nota cultural (20 s, opcional): desde junio de 2023, por ley, en Corea la edad oficial es la internacional (만 나이), la misma que en Chile; en la conversación, algunos coreanos todavía dicen la «edad coreana». Referencia: 한국어 2, lección 8, pág. 77.
Imagen: incluida (dibujo de la casa).
Fuente: Nueva (vocabulario de la lección 8)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21:20–21:21 (1 min). En español, dos frases: «Cuando va 개 o 살 detrás, los cuatro primeros se acortan: 하나 → 한, 둘 → 두, 셋 → 세, 넷 → 네. Desde 다섯 no cambia nada.» Comparación que funciona: «Es como en español: “tengo uno”, pero “tengo UN perro”.» Coro con la columna del medio. Vuelve a la escena: «서아 contaba 넷 y decía 네 개. ¡Ahora ya saben por qué!» Referencia: 한국어 2, lección 8, pág. 77; guía, pág. 79 (변하는 것, 변하지 않는 것).
Fuente: Idea de la guía, pág. 79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21:21–21:23 (2 min). Paso 1, escuchar (audio o tú); paso 2, repetir en coro preguntas y respuestas. Explicación en una frase: «이/가 있어요 ya lo saben de la clase 5; solo agregamos 몇 개 antes de 있어요.» Señala el orden: en español, «dos manzanas»; en coreano, «manzana – dos – unidad»: 사과 두 개. Con cero no hay número: 시계가 없어요 (repaso de la lección 4; también vale 없어요 o 하나도 없어요). Con 1 también vale 하나 있어요, sin 개; lo que está mal es «하나 개». Pronunciación: 몇 개 [멷깨], 있어요 [이써요]. Referencia: 한국어 2, lección 8, pág. 78.
Fuente: Nueva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21:23–21:24 (1 min). Escuchar → repetir la pregunta y la respuesta («세 살이에요»). «살 termina en ㄹ, así que siempre va 이에요: 세 살이에요, nunca 세 살예요.» Para preguntar por otro: nombre + 은/는 + 몇 살이에요? (서아는 · 콩이는). Pronunciación: 몇 살이에요 [멷싸리에요]. Ojo cultural: a un adulto que no conoces no se le pregunta así, tan directo (hay una forma más formal que veremos más adelante); para niños y mascotas, perfecto; entre adultos, solo con confianza y edades parecidas (en clase, siempre voluntario). Para hablar de ti: 저는 ___ 살이에요 (el título de la lección 8; 서아 lo dijo en la escena). Referencia: 한국어 2, lección 8, págs. 76 y 78.
Imagen: incluida (dibujo de la casa).
Fuente: Nueva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21:24–21:26 (2 min). Lees la pregunta y nombras a alguien; clic para la respuesta y todos la repiten. El 6 es la trampa: con cero, 연필이 없어요 (también vale 없어요 o 하나도 없어요). En el 3 también vale 하나 있어요. Si alguien dice 넷 개 o 하나 개, di tú «네 개» / «한 개» y que repita, sin explicar. Referencia: 한국어 2, lección 8, págs. 79–80 (mismo tipo de ejercicio, ítems nuevos).
Imagen: incluida (dibujo de la casa).
Fuente: Idea del libro, págs. 79–80 (tipo de ejercicio); ítems nuevos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21:26–21:27 (1 min). En cadena: quien responde lee la siguiente pregunta y nombra al compañero («___ 씨?»). Si alguien dice 셋 살 o 넷 살, di «세 살 / 네 살» y que repita. Referencia: 한국어 2, lección 8, pág. 79; guía, pág. 81 (활동지 8-1: edades de animales).
Imagen: incluida (dibujo de la casa).
Fuente: Idea de la guía, pág. 81; ítems nuevos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21:27–21:28 (1 min). Paso 4, «sobre ti». Cada uno responde UNA pregunta en el chat, todos al mismo tiempo (30 s). Lees 2 respuestas en voz alta y sus autores las dicen. Errores: dices la forma correcta en coreano, el autor repite, sin explicar. Si alguien cuenta animales con 개 (강아지가 두 개), corrige suave: «개 es para cosas; los animales tienen su propia palabra, que veremos más adelante» (ver dudas). Referencia: 한국어 2, lección 8, pág. 81 (이야기해요).
Fuente: Nueva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hora fija (PLAN B, 1 min): solo si vas adelantado o si alguien ya preguntó cómo decir su edad; si no, las edades de los personajes van en el mensaje del grupo de WhatsApp. «스물 = 20, 서른 = 30, y se suman como en español: 스물 + 다섯 = 25.» Delante de 살, 스물 se acorta a 스무, igual que 하나 → 한; y en 서른세 살, el 셋 también se acorta. Pronunciación: 스물여덟 [스물려덜] (es la norma: 표준발음법 제29항 붙임 2). Decir la edad propia es voluntario: «Si no quieren decir su edad, usen la de un personaje.» Si alguien tiene 40 o más y quiere decirla, se la escribes por chat privado (마흔, 쉰…); no va en la lámina para no pasar de 3 palabras extra. Referencia: no está en el libro (ampliación para adultos).
Imagen: incluida (dibujo de la casa).
Fuente: Nueva (extra para adultos)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21:28–21:30 (2 min). Lee cada ítem dos veces, a velocidad normal, sin mostrar la respuesta; esperan 5 segundos y escriben la cifra en el chat; clic para revelar. Guion (para ti): 1) 칠이공오 · 2) 삼구팔일 · 3) 발렌티나 씨 고양이는 아홉 살이에요 · 4) 마테오 씨는 빵을 다섯 개 사요 · 5) 도윤 씨 집에 사과가 열 개 있어요 · 6) 콩이는 세 살이에요. 네 살이 아니에요. El 6 es el par difícil 세 / 네: no exageres, que lo distingan de verdad. Si 3 o más se equivocan, repite los ítems 3 a 6. Referencia: 한국어 2, lección 7, pág. 72 y lección 8, pág. 82 (mismo tipo de actividad; guion nuevo, no el del libro, pág. 107).
Fuente: Nueva (formato de las págs. 72 y 82 del libro; guion original)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21:30–21:33 (3 min). Ritmo rápido, sin explicar. Si alguien pregunta: en las cuentas regresivas de Año Nuevo o de un lanzamiento, los coreanos suelen usar los sino-coreanos (…삼, 이, 일!); aquí usamos 열, 아홉… para practicar el juego nativo. Rondas 1 y 2 con todos a la vez (ves en la galería quién duda). Rondas 3 a 5 nombrando a uno por uno. En la 4, cada uno dice su número y nombra al siguiente («___ 씨!»); si alguien se traba, el grupo lo ayuda en coro. Referencia: guía, pág. 70 (mostrar números con los dedos) y pág. 74 (몇 개예요?: mostrar la cantidad con objetos).
Fuente: Idea de la guía, págs. 70 y 74 (adaptada a Zoom)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21:33–21:35 (2 min). Cada alumno lee dos seguidas en voz alta. Escucha: 넷 [넫] / 네 개 · 셋 [섿] / 세 살 · 여덟 [여덜] / 여덟 개 [여덜깨] · 열 / 열 살 [열쌀] · 몇 개 [멷깨] · 몇 살 [멷쌀]. Si alguien lee 넷 개, di «네 개» y que repita. Sobra tiempo: segunda vuelta de abajo hacia arriba.
Fuente: Nueva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21:35–21:36: explicas L22, L23 y L24 en un minuto en total y abres salas de 2 (si son impares, un trío) por 19 minutos, con aviso de 60 s antes de cerrar. Ojo: el chat de la sala principal no se ve dentro de las salas; por eso las consignas están en la hoja del alumno. Usa «Difundir mensaje» para marcar los cambios: 21:41 «2번! 가게 게임» · 21:48 «3번! 나이 게임» · 21:52 «4번! 자유 시간» (los números son los de la hoja, «Para la sala de Zoom»). Si no saben el nombre del objeto: 이거 몇 개 있어요? (también vale: 이거 몇 개예요?, lo más natural cuando las cosas están a la vista en la cámara). Visita cada sala unos 2 minutos y anota errores para L26. Este bloque: 21:36–21:41. Referencia: 한국어 2, lección 8, pág. 81 (이야기해요); guía, págs. 80 y 83 («'개'가 좋아하는 물건들» y «내 방에는요»: contar objetos reales).
Fuente: Idea de la guía, págs. 80 y 83 (objetos reales en lugar de dibujos)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21:41–21:48 (7 min). Pide que escriban su «tienda» ANTES de abrir las salas (30 s, mientras explicas), para no perder tiempo adentro. En trío: A pregunta a B, B a C y C a A. Ojo: «네?» (¿cómo?) choca con 네 (4) en «네 개»; por eso quien repite muestra también el número con los dedos. Gana quien sume más puntos; empate = 가위바위보. Cuando entres a una sala, pregunta tú: «바나나가 몇 개 있어요?». Referencia: 한국어 2, lección 8, págs. 81 y 84 (contar los objetos de una tienda y de un árbol); guía, pág. 86 (둘이서 받아쓰기: dictado en parejas).
Fuente: Nueva (idea de la guía, pág. 86: 둘이서 받아쓰기, adaptada a Zoom)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21:48–21:55 (4 + 3 min). Repasa 이/가 아니에요 de la clase 5: «다섯 살이 아니에요». La edad es secreta, real o inventada: no valen 서아 ni 콩이 (sus edades ya se dijeron). Ojo con el 4: «네 살이에요?» → «네, 네 살이에요!»: el primer 네 es «sí» y el segundo es 4 (lo distingue el 살 que va detrás). Úsalo como chiste para que lo recuerden. Si hicieron el bonus (L18), también vale un adulto inventado de 20 a 39 años. Minuto libre 21:52–21:55: lo que quieran, en coreano; tú pasas por las salas que no visitaste. A las 21:54, aviso de cierre (60 s). Referencia: guía, pág. 81 (활동지 8-1: edades) y 한국어 2, lección 5 (아니에요).
Fuente: Nueva (idea de la guía, pág. 81)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21:55–21:57 (2 min). De vuelta en la sala principal: «¿Qué tal las salas? ¿Quién ganó la tienda?» (30 s). Coro: audio o tú, ellos repiten dos veces cada frase; la tercera vez dices solo la pregunta y ellos responden. Referencia: 한국어 2, lecciones 7 y 8.
Fuente: Nueva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21:57–21:58 (1 min). Reemplaza o suma los errores que anotaste en las salas, sin nombrar a nadie. Dato: «이 개» a un coreano le suena a «este perro» (개 también es perro). Lee cada par: «Así no… así sí», y el grupo repite solo la forma buena.
Fuente: Nueva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21:58–21:59 (1 min). Muestra la hoja en pantalla 10 segundos. «En la clase 8 vemos la última lección, repasamos todo y cerramos el curso.» Referencia: 한국어 2, lección 7, págs. 74–75 y lección 8, págs. 84–85 (써 봐요: escribir números, cantidades y edades).
Fuente: Nueva (tipo de actividad del libro: 써 봐요)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21:59–22:00 (30 s). «La clase 8 abre con un quiz cortito de números.» (KO) «오늘 정말 잘했어요! 화이팅!» Luego, con leve inclinación: «감사합니다!» → el grupo: «감사합니다!». A las 22:00: «Finalizar reunión para todos».
Fuente: Nueva
Lámina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7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7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7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microsoft.com/office/2007/relationships/media" Target="../media/media7.mp3"/><Relationship Id="rId18" Type="http://schemas.openxmlformats.org/officeDocument/2006/relationships/image" Target="../media/image4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audio" Target="../media/media6.mp3"/><Relationship Id="rId17" Type="http://schemas.openxmlformats.org/officeDocument/2006/relationships/image" Target="../media/image3.png"/><Relationship Id="rId2" Type="http://schemas.openxmlformats.org/officeDocument/2006/relationships/audio" Target="../media/media1.mp3"/><Relationship Id="rId16" Type="http://schemas.openxmlformats.org/officeDocument/2006/relationships/notesSlide" Target="../notesSlides/notesSlide3.xml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microsoft.com/office/2007/relationships/media" Target="../media/media6.mp3"/><Relationship Id="rId5" Type="http://schemas.microsoft.com/office/2007/relationships/media" Target="../media/media3.mp3"/><Relationship Id="rId15" Type="http://schemas.openxmlformats.org/officeDocument/2006/relationships/slideLayout" Target="../slideLayouts/slideLayout3.xml"/><Relationship Id="rId10" Type="http://schemas.openxmlformats.org/officeDocument/2006/relationships/audio" Target="../media/media5.mp3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audio" Target="../media/media7.mp3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11.mp3"/><Relationship Id="rId13" Type="http://schemas.openxmlformats.org/officeDocument/2006/relationships/image" Target="../media/image5.png"/><Relationship Id="rId18" Type="http://schemas.openxmlformats.org/officeDocument/2006/relationships/image" Target="../media/image9.png"/><Relationship Id="rId3" Type="http://schemas.microsoft.com/office/2007/relationships/media" Target="../media/media9.mp3"/><Relationship Id="rId7" Type="http://schemas.microsoft.com/office/2007/relationships/media" Target="../media/media11.mp3"/><Relationship Id="rId12" Type="http://schemas.openxmlformats.org/officeDocument/2006/relationships/notesSlide" Target="../notesSlides/notesSlide4.xml"/><Relationship Id="rId17" Type="http://schemas.openxmlformats.org/officeDocument/2006/relationships/image" Target="../media/image8.png"/><Relationship Id="rId2" Type="http://schemas.openxmlformats.org/officeDocument/2006/relationships/audio" Target="../media/media8.mp3"/><Relationship Id="rId16" Type="http://schemas.openxmlformats.org/officeDocument/2006/relationships/image" Target="../media/image7.png"/><Relationship Id="rId1" Type="http://schemas.microsoft.com/office/2007/relationships/media" Target="../media/media8.mp3"/><Relationship Id="rId6" Type="http://schemas.openxmlformats.org/officeDocument/2006/relationships/audio" Target="../media/media10.mp3"/><Relationship Id="rId11" Type="http://schemas.openxmlformats.org/officeDocument/2006/relationships/slideLayout" Target="../slideLayouts/slideLayout3.xml"/><Relationship Id="rId5" Type="http://schemas.microsoft.com/office/2007/relationships/media" Target="../media/media10.mp3"/><Relationship Id="rId15" Type="http://schemas.openxmlformats.org/officeDocument/2006/relationships/image" Target="../media/image6.png"/><Relationship Id="rId10" Type="http://schemas.openxmlformats.org/officeDocument/2006/relationships/audio" Target="../media/media12.mp3"/><Relationship Id="rId4" Type="http://schemas.openxmlformats.org/officeDocument/2006/relationships/audio" Target="../media/media9.mp3"/><Relationship Id="rId9" Type="http://schemas.microsoft.com/office/2007/relationships/media" Target="../media/media12.mp3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16.mp3"/><Relationship Id="rId13" Type="http://schemas.openxmlformats.org/officeDocument/2006/relationships/image" Target="../media/image10.png"/><Relationship Id="rId18" Type="http://schemas.openxmlformats.org/officeDocument/2006/relationships/image" Target="../media/image14.png"/><Relationship Id="rId3" Type="http://schemas.microsoft.com/office/2007/relationships/media" Target="../media/media14.mp3"/><Relationship Id="rId7" Type="http://schemas.microsoft.com/office/2007/relationships/media" Target="../media/media16.mp3"/><Relationship Id="rId12" Type="http://schemas.openxmlformats.org/officeDocument/2006/relationships/notesSlide" Target="../notesSlides/notesSlide5.xml"/><Relationship Id="rId17" Type="http://schemas.openxmlformats.org/officeDocument/2006/relationships/image" Target="../media/image13.png"/><Relationship Id="rId2" Type="http://schemas.openxmlformats.org/officeDocument/2006/relationships/audio" Target="../media/media13.mp3"/><Relationship Id="rId16" Type="http://schemas.openxmlformats.org/officeDocument/2006/relationships/image" Target="../media/image12.png"/><Relationship Id="rId1" Type="http://schemas.microsoft.com/office/2007/relationships/media" Target="../media/media13.mp3"/><Relationship Id="rId6" Type="http://schemas.openxmlformats.org/officeDocument/2006/relationships/audio" Target="../media/media15.mp3"/><Relationship Id="rId11" Type="http://schemas.openxmlformats.org/officeDocument/2006/relationships/slideLayout" Target="../slideLayouts/slideLayout3.xml"/><Relationship Id="rId5" Type="http://schemas.microsoft.com/office/2007/relationships/media" Target="../media/media15.mp3"/><Relationship Id="rId15" Type="http://schemas.openxmlformats.org/officeDocument/2006/relationships/image" Target="../media/image11.png"/><Relationship Id="rId10" Type="http://schemas.openxmlformats.org/officeDocument/2006/relationships/audio" Target="../media/media17.mp3"/><Relationship Id="rId4" Type="http://schemas.openxmlformats.org/officeDocument/2006/relationships/audio" Target="../media/media14.mp3"/><Relationship Id="rId9" Type="http://schemas.microsoft.com/office/2007/relationships/media" Target="../media/media17.mp3"/><Relationship Id="rId1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21.mp3"/><Relationship Id="rId13" Type="http://schemas.openxmlformats.org/officeDocument/2006/relationships/image" Target="../media/image15.png"/><Relationship Id="rId18" Type="http://schemas.openxmlformats.org/officeDocument/2006/relationships/image" Target="../media/image19.png"/><Relationship Id="rId3" Type="http://schemas.microsoft.com/office/2007/relationships/media" Target="../media/media19.mp3"/><Relationship Id="rId7" Type="http://schemas.microsoft.com/office/2007/relationships/media" Target="../media/media21.mp3"/><Relationship Id="rId12" Type="http://schemas.openxmlformats.org/officeDocument/2006/relationships/notesSlide" Target="../notesSlides/notesSlide6.xml"/><Relationship Id="rId17" Type="http://schemas.openxmlformats.org/officeDocument/2006/relationships/image" Target="../media/image18.png"/><Relationship Id="rId2" Type="http://schemas.openxmlformats.org/officeDocument/2006/relationships/audio" Target="../media/media18.mp3"/><Relationship Id="rId16" Type="http://schemas.openxmlformats.org/officeDocument/2006/relationships/image" Target="../media/image17.png"/><Relationship Id="rId1" Type="http://schemas.microsoft.com/office/2007/relationships/media" Target="../media/media18.mp3"/><Relationship Id="rId6" Type="http://schemas.openxmlformats.org/officeDocument/2006/relationships/audio" Target="../media/media20.mp3"/><Relationship Id="rId11" Type="http://schemas.openxmlformats.org/officeDocument/2006/relationships/slideLayout" Target="../slideLayouts/slideLayout3.xml"/><Relationship Id="rId5" Type="http://schemas.microsoft.com/office/2007/relationships/media" Target="../media/media20.mp3"/><Relationship Id="rId15" Type="http://schemas.openxmlformats.org/officeDocument/2006/relationships/image" Target="../media/image16.png"/><Relationship Id="rId10" Type="http://schemas.openxmlformats.org/officeDocument/2006/relationships/audio" Target="../media/media22.mp3"/><Relationship Id="rId4" Type="http://schemas.openxmlformats.org/officeDocument/2006/relationships/audio" Target="../media/media19.mp3"/><Relationship Id="rId9" Type="http://schemas.microsoft.com/office/2007/relationships/media" Target="../media/media22.mp3"/><Relationship Id="rId1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media26.mp3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microsoft.com/office/2007/relationships/media" Target="../media/media24.mp3"/><Relationship Id="rId7" Type="http://schemas.microsoft.com/office/2007/relationships/media" Target="../media/media26.mp3"/><Relationship Id="rId12" Type="http://schemas.openxmlformats.org/officeDocument/2006/relationships/notesSlide" Target="../notesSlides/notesSlide7.xml"/><Relationship Id="rId17" Type="http://schemas.openxmlformats.org/officeDocument/2006/relationships/image" Target="../media/image23.png"/><Relationship Id="rId2" Type="http://schemas.openxmlformats.org/officeDocument/2006/relationships/audio" Target="../media/media23.mp3"/><Relationship Id="rId16" Type="http://schemas.openxmlformats.org/officeDocument/2006/relationships/image" Target="../media/image22.png"/><Relationship Id="rId1" Type="http://schemas.microsoft.com/office/2007/relationships/media" Target="../media/media23.mp3"/><Relationship Id="rId6" Type="http://schemas.openxmlformats.org/officeDocument/2006/relationships/audio" Target="../media/media25.mp3"/><Relationship Id="rId11" Type="http://schemas.openxmlformats.org/officeDocument/2006/relationships/slideLayout" Target="../slideLayouts/slideLayout3.xml"/><Relationship Id="rId5" Type="http://schemas.microsoft.com/office/2007/relationships/media" Target="../media/media25.mp3"/><Relationship Id="rId15" Type="http://schemas.openxmlformats.org/officeDocument/2006/relationships/image" Target="../media/image21.png"/><Relationship Id="rId10" Type="http://schemas.openxmlformats.org/officeDocument/2006/relationships/audio" Target="../media/media27.mp3"/><Relationship Id="rId4" Type="http://schemas.openxmlformats.org/officeDocument/2006/relationships/audio" Target="../media/media24.mp3"/><Relationship Id="rId9" Type="http://schemas.microsoft.com/office/2007/relationships/media" Target="../media/media27.mp3"/><Relationship Id="rId1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31.mp3"/><Relationship Id="rId13" Type="http://schemas.microsoft.com/office/2007/relationships/media" Target="../media/media34.mp3"/><Relationship Id="rId18" Type="http://schemas.openxmlformats.org/officeDocument/2006/relationships/notesSlide" Target="../notesSlides/notesSlide12.xml"/><Relationship Id="rId26" Type="http://schemas.openxmlformats.org/officeDocument/2006/relationships/image" Target="../media/image31.png"/><Relationship Id="rId3" Type="http://schemas.microsoft.com/office/2007/relationships/media" Target="../media/media29.mp3"/><Relationship Id="rId21" Type="http://schemas.openxmlformats.org/officeDocument/2006/relationships/image" Target="../media/image26.png"/><Relationship Id="rId7" Type="http://schemas.microsoft.com/office/2007/relationships/media" Target="../media/media31.mp3"/><Relationship Id="rId12" Type="http://schemas.openxmlformats.org/officeDocument/2006/relationships/audio" Target="../media/media33.mp3"/><Relationship Id="rId17" Type="http://schemas.openxmlformats.org/officeDocument/2006/relationships/slideLayout" Target="../slideLayouts/slideLayout3.xml"/><Relationship Id="rId25" Type="http://schemas.openxmlformats.org/officeDocument/2006/relationships/image" Target="../media/image30.png"/><Relationship Id="rId2" Type="http://schemas.openxmlformats.org/officeDocument/2006/relationships/audio" Target="../media/media28.mp3"/><Relationship Id="rId16" Type="http://schemas.openxmlformats.org/officeDocument/2006/relationships/audio" Target="../media/media35.mp3"/><Relationship Id="rId20" Type="http://schemas.openxmlformats.org/officeDocument/2006/relationships/image" Target="../media/image4.png"/><Relationship Id="rId1" Type="http://schemas.microsoft.com/office/2007/relationships/media" Target="../media/media28.mp3"/><Relationship Id="rId6" Type="http://schemas.openxmlformats.org/officeDocument/2006/relationships/audio" Target="../media/media30.mp3"/><Relationship Id="rId11" Type="http://schemas.microsoft.com/office/2007/relationships/media" Target="../media/media33.mp3"/><Relationship Id="rId24" Type="http://schemas.openxmlformats.org/officeDocument/2006/relationships/image" Target="../media/image29.png"/><Relationship Id="rId5" Type="http://schemas.microsoft.com/office/2007/relationships/media" Target="../media/media30.mp3"/><Relationship Id="rId15" Type="http://schemas.microsoft.com/office/2007/relationships/media" Target="../media/media35.mp3"/><Relationship Id="rId23" Type="http://schemas.openxmlformats.org/officeDocument/2006/relationships/image" Target="../media/image28.png"/><Relationship Id="rId10" Type="http://schemas.openxmlformats.org/officeDocument/2006/relationships/audio" Target="../media/media32.mp3"/><Relationship Id="rId19" Type="http://schemas.openxmlformats.org/officeDocument/2006/relationships/image" Target="../media/image25.png"/><Relationship Id="rId4" Type="http://schemas.openxmlformats.org/officeDocument/2006/relationships/audio" Target="../media/media29.mp3"/><Relationship Id="rId9" Type="http://schemas.microsoft.com/office/2007/relationships/media" Target="../media/media32.mp3"/><Relationship Id="rId14" Type="http://schemas.openxmlformats.org/officeDocument/2006/relationships/audio" Target="../media/media34.mp3"/><Relationship Id="rId22" Type="http://schemas.openxmlformats.org/officeDocument/2006/relationships/image" Target="../media/image27.png"/><Relationship Id="rId27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audio" Target="../media/media39.mp3"/><Relationship Id="rId13" Type="http://schemas.microsoft.com/office/2007/relationships/media" Target="../media/media42.mp3"/><Relationship Id="rId18" Type="http://schemas.openxmlformats.org/officeDocument/2006/relationships/notesSlide" Target="../notesSlides/notesSlide13.xml"/><Relationship Id="rId26" Type="http://schemas.openxmlformats.org/officeDocument/2006/relationships/image" Target="../media/image39.png"/><Relationship Id="rId3" Type="http://schemas.microsoft.com/office/2007/relationships/media" Target="../media/media37.mp3"/><Relationship Id="rId21" Type="http://schemas.openxmlformats.org/officeDocument/2006/relationships/image" Target="../media/image34.png"/><Relationship Id="rId7" Type="http://schemas.microsoft.com/office/2007/relationships/media" Target="../media/media39.mp3"/><Relationship Id="rId12" Type="http://schemas.openxmlformats.org/officeDocument/2006/relationships/audio" Target="../media/media41.mp3"/><Relationship Id="rId17" Type="http://schemas.openxmlformats.org/officeDocument/2006/relationships/slideLayout" Target="../slideLayouts/slideLayout3.xml"/><Relationship Id="rId25" Type="http://schemas.openxmlformats.org/officeDocument/2006/relationships/image" Target="../media/image38.png"/><Relationship Id="rId2" Type="http://schemas.openxmlformats.org/officeDocument/2006/relationships/audio" Target="../media/media36.mp3"/><Relationship Id="rId16" Type="http://schemas.openxmlformats.org/officeDocument/2006/relationships/audio" Target="../media/media43.mp3"/><Relationship Id="rId20" Type="http://schemas.openxmlformats.org/officeDocument/2006/relationships/image" Target="../media/image4.png"/><Relationship Id="rId1" Type="http://schemas.microsoft.com/office/2007/relationships/media" Target="../media/media36.mp3"/><Relationship Id="rId6" Type="http://schemas.openxmlformats.org/officeDocument/2006/relationships/audio" Target="../media/media38.mp3"/><Relationship Id="rId11" Type="http://schemas.microsoft.com/office/2007/relationships/media" Target="../media/media41.mp3"/><Relationship Id="rId24" Type="http://schemas.openxmlformats.org/officeDocument/2006/relationships/image" Target="../media/image37.png"/><Relationship Id="rId5" Type="http://schemas.microsoft.com/office/2007/relationships/media" Target="../media/media38.mp3"/><Relationship Id="rId15" Type="http://schemas.microsoft.com/office/2007/relationships/media" Target="../media/media43.mp3"/><Relationship Id="rId23" Type="http://schemas.openxmlformats.org/officeDocument/2006/relationships/image" Target="../media/image36.png"/><Relationship Id="rId10" Type="http://schemas.openxmlformats.org/officeDocument/2006/relationships/audio" Target="../media/media40.mp3"/><Relationship Id="rId19" Type="http://schemas.openxmlformats.org/officeDocument/2006/relationships/image" Target="../media/image33.png"/><Relationship Id="rId4" Type="http://schemas.openxmlformats.org/officeDocument/2006/relationships/audio" Target="../media/media37.mp3"/><Relationship Id="rId9" Type="http://schemas.microsoft.com/office/2007/relationships/media" Target="../media/media40.mp3"/><Relationship Id="rId14" Type="http://schemas.openxmlformats.org/officeDocument/2006/relationships/audio" Target="../media/media42.mp3"/><Relationship Id="rId22" Type="http://schemas.openxmlformats.org/officeDocument/2006/relationships/image" Target="../media/image35.png"/><Relationship Id="rId27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4.png"/><Relationship Id="rId5" Type="http://schemas.openxmlformats.org/officeDocument/2006/relationships/image" Target="../media/image41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8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47.mp3"/><Relationship Id="rId13" Type="http://schemas.openxmlformats.org/officeDocument/2006/relationships/image" Target="../media/image52.png"/><Relationship Id="rId18" Type="http://schemas.openxmlformats.org/officeDocument/2006/relationships/image" Target="../media/image56.png"/><Relationship Id="rId3" Type="http://schemas.microsoft.com/office/2007/relationships/media" Target="../media/media45.mp3"/><Relationship Id="rId7" Type="http://schemas.microsoft.com/office/2007/relationships/media" Target="../media/media47.mp3"/><Relationship Id="rId12" Type="http://schemas.openxmlformats.org/officeDocument/2006/relationships/notesSlide" Target="../notesSlides/notesSlide20.xml"/><Relationship Id="rId17" Type="http://schemas.openxmlformats.org/officeDocument/2006/relationships/image" Target="../media/image55.png"/><Relationship Id="rId2" Type="http://schemas.openxmlformats.org/officeDocument/2006/relationships/audio" Target="../media/media44.mp3"/><Relationship Id="rId16" Type="http://schemas.openxmlformats.org/officeDocument/2006/relationships/image" Target="../media/image54.png"/><Relationship Id="rId1" Type="http://schemas.microsoft.com/office/2007/relationships/media" Target="../media/media44.mp3"/><Relationship Id="rId6" Type="http://schemas.openxmlformats.org/officeDocument/2006/relationships/audio" Target="../media/media46.mp3"/><Relationship Id="rId11" Type="http://schemas.openxmlformats.org/officeDocument/2006/relationships/slideLayout" Target="../slideLayouts/slideLayout3.xml"/><Relationship Id="rId5" Type="http://schemas.microsoft.com/office/2007/relationships/media" Target="../media/media46.mp3"/><Relationship Id="rId15" Type="http://schemas.openxmlformats.org/officeDocument/2006/relationships/image" Target="../media/image53.png"/><Relationship Id="rId10" Type="http://schemas.openxmlformats.org/officeDocument/2006/relationships/audio" Target="../media/media48.mp3"/><Relationship Id="rId4" Type="http://schemas.openxmlformats.org/officeDocument/2006/relationships/audio" Target="../media/media45.mp3"/><Relationship Id="rId9" Type="http://schemas.microsoft.com/office/2007/relationships/media" Target="../media/media48.mp3"/><Relationship Id="rId1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3" Type="http://schemas.microsoft.com/office/2007/relationships/media" Target="../media/media51.mp3"/><Relationship Id="rId7" Type="http://schemas.openxmlformats.org/officeDocument/2006/relationships/slideLayout" Target="../slideLayouts/slideLayout3.xml"/><Relationship Id="rId2" Type="http://schemas.openxmlformats.org/officeDocument/2006/relationships/audio" Target="../media/media50.mp3"/><Relationship Id="rId1" Type="http://schemas.microsoft.com/office/2007/relationships/media" Target="../media/media50.mp3"/><Relationship Id="rId6" Type="http://schemas.openxmlformats.org/officeDocument/2006/relationships/audio" Target="../media/media52.mp3"/><Relationship Id="rId5" Type="http://schemas.microsoft.com/office/2007/relationships/media" Target="../media/media52.mp3"/><Relationship Id="rId4" Type="http://schemas.openxmlformats.org/officeDocument/2006/relationships/audio" Target="../media/media51.mp3"/><Relationship Id="rId9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2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 있어요</a:t>
            </a:r>
            <a:r>
              <a:rPr lang="en-US" sz="6200" b="1" dirty="0">
                <a:solidFill>
                  <a:srgbClr val="E8B84B"/>
                </a:solidFill>
              </a:rPr>
              <a:t>? </a:t>
            </a:r>
            <a:r>
              <a:rPr lang="ko-KR" altLang="en-US" sz="62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6200" b="1" dirty="0">
                <a:solidFill>
                  <a:srgbClr val="E8B84B"/>
                </a:solidFill>
              </a:rPr>
              <a:t>?</a:t>
            </a:r>
            <a:endParaRPr lang="en-US" sz="6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Básico 2 · Clase 7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Básico 2 (A1.2) · 한국어 </a:t>
            </a:r>
            <a:r>
              <a:rPr lang="en-US" sz="1600" dirty="0">
                <a:solidFill>
                  <a:srgbClr val="E8B84B"/>
                </a:solidFill>
              </a:rPr>
              <a:t>2, lecciones 7 y 8 (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600" dirty="0">
                <a:solidFill>
                  <a:srgbClr val="E8B84B"/>
                </a:solidFill>
              </a:rPr>
              <a:t>,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1600" dirty="0">
                <a:solidFill>
                  <a:srgbClr val="E8B84B"/>
                </a:solidFill>
              </a:rPr>
              <a:t>,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1600" dirty="0">
                <a:solidFill>
                  <a:srgbClr val="E8B84B"/>
                </a:solidFill>
              </a:rPr>
              <a:t>,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 </a:t>
            </a:r>
            <a:r>
              <a:rPr lang="en-US" sz="1600" dirty="0">
                <a:solidFill>
                  <a:srgbClr val="E8B84B"/>
                </a:solidFill>
              </a:rPr>
              <a:t>· </a:t>
            </a: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여섯 살이에요</a:t>
            </a:r>
            <a:r>
              <a:rPr lang="en-US" sz="1600" dirty="0">
                <a:solidFill>
                  <a:srgbClr val="E8B84B"/>
                </a:solidFill>
              </a:rPr>
              <a:t>) · Números, cuántos hay y la edad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숫자를 배워요</a:t>
            </a:r>
            <a:r>
              <a:rPr lang="en-US" sz="1600" dirty="0">
                <a:solidFill>
                  <a:srgbClr val="E8B84B"/>
                </a:solidFill>
              </a:rPr>
              <a:t>!</a:t>
            </a:r>
            <a:endParaRPr lang="en-US" sz="2200" dirty="0"/>
          </a:p>
          <a:p>
            <a:pPr marL="0" indent="0" eaLnBrk="1">
              <a:buNone/>
            </a:pPr>
            <a:r>
              <a:rPr lang="en-US" sz="1600" dirty="0">
                <a:solidFill>
                  <a:srgbClr val="E8B84B"/>
                </a:solidFill>
              </a:rPr>
              <a:t>Miércoles 2 de diciembre de 2026 · 21:00 (hora de Chile)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16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Kim · 김재희 선생님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퀴즈  </a:t>
            </a:r>
            <a:r>
              <a:rPr lang="en-US" sz="3000" b="1" dirty="0">
                <a:solidFill>
                  <a:srgbClr val="003478"/>
                </a:solidFill>
              </a:rPr>
              <a:t>Quiz de la clase 6</a:t>
            </a:r>
            <a:r>
              <a:rPr lang="en-US" sz="1500" b="1" i="1" dirty="0">
                <a:solidFill>
                  <a:srgbClr val="8A8DA0"/>
                </a:solidFill>
              </a:rPr>
              <a:t>   Class 6 quiz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N에서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사요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만들어요 </a:t>
            </a:r>
            <a:r>
              <a:rPr lang="en-US" sz="1800" i="1" dirty="0">
                <a:solidFill>
                  <a:srgbClr val="4236F6"/>
                </a:solidFill>
              </a:rPr>
              <a:t>— y hoy: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빵을 몇 개 사요</a:t>
            </a:r>
            <a:r>
              <a:rPr lang="en-US" sz="1800" i="1" dirty="0">
                <a:solidFill>
                  <a:srgbClr val="4236F6"/>
                </a:solidFill>
              </a:rPr>
              <a:t>? · Responde en voz alta o en el chat (en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r>
              <a:rPr lang="en-US" sz="1800" i="1" dirty="0">
                <a:solidFill>
                  <a:srgbClr val="4236F6"/>
                </a:solidFill>
              </a:rPr>
              <a:t>)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빵을 어디에서 사요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6702552" y="200253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6793992" y="200253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 가게에서 사요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꽃을 어디에서 사요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2" name="rev_1_caja"/>
          <p:cNvSpPr/>
          <p:nvPr/>
        </p:nvSpPr>
        <p:spPr>
          <a:xfrm>
            <a:off x="6702552" y="2724912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6793992" y="272491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꽃집에서 사요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 가게에서 뭐 사요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7" name="rev_2_caja"/>
          <p:cNvSpPr/>
          <p:nvPr/>
        </p:nvSpPr>
        <p:spPr>
          <a:xfrm>
            <a:off x="6702552" y="3447288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6793992" y="3447288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바지를 사요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한국어를 공부해요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2" name="rev_3_caja"/>
          <p:cNvSpPr/>
          <p:nvPr/>
        </p:nvSpPr>
        <p:spPr>
          <a:xfrm>
            <a:off x="6702552" y="4169664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6793992" y="4169664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 공부해요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 뭐 만들어요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27" name="rev_4_caja"/>
          <p:cNvSpPr/>
          <p:nvPr/>
        </p:nvSpPr>
        <p:spPr>
          <a:xfrm>
            <a:off x="6702552" y="4892040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_txt"/>
          <p:cNvSpPr txBox="1"/>
          <p:nvPr/>
        </p:nvSpPr>
        <p:spPr>
          <a:xfrm>
            <a:off x="6793992" y="4892040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빵을 만들어요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r>
              <a:rPr lang="en-US" sz="1900" dirty="0">
                <a:solidFill>
                  <a:srgbClr val="14142B"/>
                </a:solidFill>
              </a:rPr>
              <a:t>___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en-US" sz="1900" dirty="0">
                <a:solidFill>
                  <a:srgbClr val="14142B"/>
                </a:solidFill>
              </a:rPr>
              <a:t>.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r>
              <a:rPr lang="en-US" sz="1900" dirty="0">
                <a:solidFill>
                  <a:srgbClr val="14142B"/>
                </a:solidFill>
              </a:rPr>
              <a:t>___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마셔요</a:t>
            </a:r>
            <a:r>
              <a:rPr lang="en-US" sz="1900" dirty="0">
                <a:solidFill>
                  <a:srgbClr val="14142B"/>
                </a:solidFill>
              </a:rPr>
              <a:t>.</a:t>
            </a:r>
            <a:endParaRPr lang="en-US" sz="1900" dirty="0"/>
          </a:p>
        </p:txBody>
      </p:sp>
      <p:sp>
        <p:nvSpPr>
          <p:cNvPr id="32" name="rev_5_caja"/>
          <p:cNvSpPr/>
          <p:nvPr/>
        </p:nvSpPr>
        <p:spPr>
          <a:xfrm>
            <a:off x="6702552" y="561441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5_txt"/>
          <p:cNvSpPr txBox="1"/>
          <p:nvPr/>
        </p:nvSpPr>
        <p:spPr>
          <a:xfrm>
            <a:off x="6793992" y="561441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카페에 가요</a:t>
            </a:r>
            <a:r>
              <a:rPr lang="en-US" sz="1800" b="1" dirty="0">
                <a:solidFill>
                  <a:srgbClr val="FFFFFF"/>
                </a:solidFill>
              </a:rPr>
              <a:t>.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카페에서 커피를 마셔요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Domingo en casa de 도윤</a:t>
            </a:r>
            <a:r>
              <a:rPr lang="ko-KR" altLang="en-US" sz="1500" b="1" i="1" dirty="0">
                <a:solidFill>
                  <a:srgbClr val="8A8DA0"/>
                </a:solidFill>
              </a:rPr>
              <a:t>   Sunday at 도윤's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f32ebfc9f1559b4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Escucha dos veces: ¿qué números oyes?</a:t>
            </a:r>
            <a:endParaRPr lang="en-US" sz="1800" dirty="0"/>
          </a:p>
        </p:txBody>
      </p:sp>
      <p:sp>
        <p:nvSpPr>
          <p:cNvPr id="5" name="card_0"/>
          <p:cNvSpPr/>
          <p:nvPr/>
        </p:nvSpPr>
        <p:spPr>
          <a:xfrm>
            <a:off x="548640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1600" b="1" dirty="0">
                <a:solidFill>
                  <a:srgbClr val="4236F6"/>
                </a:solidFill>
              </a:rPr>
              <a:t>,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r>
              <a:rPr lang="en-US" sz="1600" b="1" dirty="0">
                <a:solidFill>
                  <a:srgbClr val="4236F6"/>
                </a:solidFill>
              </a:rPr>
              <a:t>! </a:t>
            </a: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 네 개 있어요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</a:t>
            </a:r>
            <a:r>
              <a:rPr lang="en-US" sz="1300" dirty="0">
                <a:solidFill>
                  <a:srgbClr val="5C5F6B"/>
                </a:solidFill>
              </a:rPr>
              <a:t>· ¡Uno, dos, tres, cuatro! Hay cuatro panes.</a:t>
            </a:r>
            <a:endParaRPr lang="en-US" sz="13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707642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2338578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2338578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사과가 몇 개 있어요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411730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Mateo · ¿Cuántas manzanas hay?</a:t>
            </a:r>
            <a:endParaRPr lang="en-US" sz="1600" dirty="0"/>
          </a:p>
        </p:txBody>
      </p:sp>
      <p:pic>
        <p:nvPicPr>
          <p:cNvPr id="12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497580" y="1947672"/>
            <a:ext cx="310896" cy="310896"/>
          </a:xfrm>
          <a:prstGeom prst="rect">
            <a:avLst/>
          </a:prstGeom>
        </p:spPr>
      </p:pic>
      <p:sp>
        <p:nvSpPr>
          <p:cNvPr id="13" name="card_2"/>
          <p:cNvSpPr/>
          <p:nvPr/>
        </p:nvSpPr>
        <p:spPr>
          <a:xfrm>
            <a:off x="4128516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128516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개 있어요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201668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</a:t>
            </a:r>
            <a:r>
              <a:rPr lang="en-US" sz="1600" dirty="0">
                <a:solidFill>
                  <a:srgbClr val="5C5F6B"/>
                </a:solidFill>
              </a:rPr>
              <a:t>· Hay dos.</a:t>
            </a:r>
            <a:endParaRPr lang="en-US" sz="1600" dirty="0"/>
          </a:p>
        </p:txBody>
      </p:sp>
      <p:pic>
        <p:nvPicPr>
          <p:cNvPr id="20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5287518" y="1947672"/>
            <a:ext cx="310896" cy="310896"/>
          </a:xfrm>
          <a:prstGeom prst="rect">
            <a:avLst/>
          </a:prstGeom>
        </p:spPr>
      </p:pic>
      <p:sp>
        <p:nvSpPr>
          <p:cNvPr id="17" name="card_3"/>
          <p:cNvSpPr/>
          <p:nvPr/>
        </p:nvSpPr>
        <p:spPr>
          <a:xfrm>
            <a:off x="5918454" y="187452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5918454" y="222839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콩이는 몇 살이에요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991606" y="292013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Valentina · ¿Cuántos años tiene 콩이</a:t>
            </a:r>
            <a:r>
              <a:rPr lang="en-US" sz="1400" dirty="0">
                <a:solidFill>
                  <a:srgbClr val="5C5F6B"/>
                </a:solidFill>
              </a:rPr>
              <a:t>?</a:t>
            </a:r>
            <a:endParaRPr lang="en-US" sz="1400" dirty="0"/>
          </a:p>
        </p:txBody>
      </p:sp>
      <p:pic>
        <p:nvPicPr>
          <p:cNvPr id="24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077456" y="1947672"/>
            <a:ext cx="310896" cy="310896"/>
          </a:xfrm>
          <a:prstGeom prst="rect">
            <a:avLst/>
          </a:prstGeom>
        </p:spPr>
      </p:pic>
      <p:sp>
        <p:nvSpPr>
          <p:cNvPr id="21" name="card_4"/>
          <p:cNvSpPr/>
          <p:nvPr/>
        </p:nvSpPr>
        <p:spPr>
          <a:xfrm>
            <a:off x="1443609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1443609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살이에요</a:t>
            </a:r>
            <a:r>
              <a:rPr lang="en-US" sz="1600" b="1" dirty="0">
                <a:solidFill>
                  <a:srgbClr val="4236F6"/>
                </a:solidFill>
              </a:rPr>
              <a:t>.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516761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</a:t>
            </a:r>
            <a:r>
              <a:rPr lang="en-US" sz="1600" dirty="0">
                <a:solidFill>
                  <a:srgbClr val="5C5F6B"/>
                </a:solidFill>
              </a:rPr>
              <a:t>· Tiene tres.</a:t>
            </a:r>
            <a:endParaRPr lang="en-US" sz="1600" dirty="0"/>
          </a:p>
        </p:txBody>
      </p:sp>
      <p:pic>
        <p:nvPicPr>
          <p:cNvPr id="16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2602611" y="4210812"/>
            <a:ext cx="310896" cy="310896"/>
          </a:xfrm>
          <a:prstGeom prst="rect">
            <a:avLst/>
          </a:prstGeom>
        </p:spPr>
      </p:pic>
      <p:sp>
        <p:nvSpPr>
          <p:cNvPr id="25" name="card_5"/>
          <p:cNvSpPr/>
          <p:nvPr/>
        </p:nvSpPr>
        <p:spPr>
          <a:xfrm>
            <a:off x="3233547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3233547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서아는 몇 살이에요</a:t>
            </a:r>
            <a:r>
              <a:rPr lang="en-US" sz="1600" b="1" dirty="0">
                <a:solidFill>
                  <a:srgbClr val="4236F6"/>
                </a:solidFill>
              </a:rPr>
              <a:t>?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3306699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Mateo · ¿Y 서아</a:t>
            </a:r>
            <a:r>
              <a:rPr lang="en-US" sz="1400" dirty="0">
                <a:solidFill>
                  <a:srgbClr val="5C5F6B"/>
                </a:solidFill>
              </a:rPr>
              <a:t>, cuántos años tiene?</a:t>
            </a:r>
            <a:endParaRPr lang="en-US" sz="1400" dirty="0"/>
          </a:p>
        </p:txBody>
      </p:sp>
      <p:pic>
        <p:nvPicPr>
          <p:cNvPr id="28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4392549" y="4210812"/>
            <a:ext cx="310896" cy="310896"/>
          </a:xfrm>
          <a:prstGeom prst="rect">
            <a:avLst/>
          </a:prstGeom>
        </p:spPr>
      </p:pic>
      <p:sp>
        <p:nvSpPr>
          <p:cNvPr id="29" name="card_6"/>
          <p:cNvSpPr/>
          <p:nvPr/>
        </p:nvSpPr>
        <p:spPr>
          <a:xfrm>
            <a:off x="5023485" y="4137660"/>
            <a:ext cx="1561338" cy="2034540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30" name="Text 21"/>
          <p:cNvSpPr txBox="1"/>
          <p:nvPr/>
        </p:nvSpPr>
        <p:spPr>
          <a:xfrm>
            <a:off x="5023485" y="4491533"/>
            <a:ext cx="156133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여섯 살이에요</a:t>
            </a:r>
            <a:r>
              <a:rPr lang="en-US" sz="1600" b="1" dirty="0">
                <a:solidFill>
                  <a:srgbClr val="4236F6"/>
                </a:solidFill>
              </a:rPr>
              <a:t>!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5096637" y="5183276"/>
            <a:ext cx="141503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</a:t>
            </a:r>
            <a:r>
              <a:rPr lang="en-US" sz="1600" dirty="0">
                <a:solidFill>
                  <a:srgbClr val="5C5F6B"/>
                </a:solidFill>
              </a:rPr>
              <a:t>· ¡Yo tengo seis años!</a:t>
            </a:r>
            <a:endParaRPr lang="en-US" sz="1600" dirty="0"/>
          </a:p>
        </p:txBody>
      </p:sp>
      <p:pic>
        <p:nvPicPr>
          <p:cNvPr id="32" name="Media 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6182487" y="4210812"/>
            <a:ext cx="310896" cy="310896"/>
          </a:xfrm>
          <a:prstGeom prst="rect">
            <a:avLst/>
          </a:prstGeom>
        </p:spPr>
      </p:pic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r>
              <a:rPr lang="en-US" sz="2600" b="1" dirty="0">
                <a:solidFill>
                  <a:srgbClr val="4236F6"/>
                </a:solidFill>
              </a:rPr>
              <a:t>,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600" b="1" dirty="0">
                <a:solidFill>
                  <a:srgbClr val="4236F6"/>
                </a:solidFill>
              </a:rPr>
              <a:t>,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  </a:t>
            </a:r>
            <a:r>
              <a:rPr lang="en-US" sz="2600" b="1" dirty="0">
                <a:solidFill>
                  <a:srgbClr val="003478"/>
                </a:solidFill>
              </a:rPr>
              <a:t>Números para leer cifras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Para teléfonos, claves y códigos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05046b0756ca90c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1 · uno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80937e47021944c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2 · dos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7663a9a3461ed85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3 · tres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2435352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fcc6b6598d9a6ad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9474" y="424738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2435352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2508504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4 · cuatro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6208776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img_5e1044c0e690489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2898" y="4247388"/>
            <a:ext cx="976579" cy="976579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208776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2500" dirty="0"/>
          </a:p>
        </p:txBody>
      </p:sp>
      <p:sp>
        <p:nvSpPr>
          <p:cNvPr id="27" name="Text 16"/>
          <p:cNvSpPr txBox="1"/>
          <p:nvPr/>
        </p:nvSpPr>
        <p:spPr>
          <a:xfrm>
            <a:off x="6281928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5 · cinco</a:t>
            </a:r>
            <a:endParaRPr lang="en-US" sz="1600" dirty="0"/>
          </a:p>
        </p:txBody>
      </p:sp>
      <p:pic>
        <p:nvPicPr>
          <p:cNvPr id="28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351264" y="4210812"/>
            <a:ext cx="310896" cy="310896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r>
              <a:rPr lang="en-US" sz="2600" b="1" dirty="0">
                <a:solidFill>
                  <a:srgbClr val="4236F6"/>
                </a:solidFill>
              </a:rPr>
              <a:t>,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</a:t>
            </a:r>
            <a:r>
              <a:rPr lang="en-US" sz="2600" b="1" dirty="0">
                <a:solidFill>
                  <a:srgbClr val="4236F6"/>
                </a:solidFill>
              </a:rPr>
              <a:t>,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 </a:t>
            </a:r>
            <a:r>
              <a:rPr lang="en-US" sz="2600" b="1" dirty="0">
                <a:solidFill>
                  <a:srgbClr val="003478"/>
                </a:solidFill>
              </a:rPr>
              <a:t>Números para leer cifras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Para teléfonos, claves y códigos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e9656b5f6973c3d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6 · seis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7ff0c7ce071e20f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7 · siete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2ff23b273e0d8e7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8 · ocho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2435352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279f19be3265228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9474" y="424738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2435352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2508504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9 · nueve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6208776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img_59fd4dd6b657ecb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2898" y="4247388"/>
            <a:ext cx="976579" cy="976579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208776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</a:t>
            </a:r>
            <a:endParaRPr lang="en-US" sz="2500" dirty="0"/>
          </a:p>
        </p:txBody>
      </p:sp>
      <p:sp>
        <p:nvSpPr>
          <p:cNvPr id="27" name="Text 16"/>
          <p:cNvSpPr txBox="1"/>
          <p:nvPr/>
        </p:nvSpPr>
        <p:spPr>
          <a:xfrm>
            <a:off x="6281928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10 · diez</a:t>
            </a:r>
            <a:endParaRPr lang="en-US" sz="1600" dirty="0"/>
          </a:p>
        </p:txBody>
      </p:sp>
      <p:pic>
        <p:nvPicPr>
          <p:cNvPr id="28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351264" y="4210812"/>
            <a:ext cx="310896" cy="310896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2600" b="1" dirty="0">
                <a:solidFill>
                  <a:srgbClr val="4236F6"/>
                </a:solidFill>
              </a:rPr>
              <a:t>,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2600" b="1" dirty="0">
                <a:solidFill>
                  <a:srgbClr val="4236F6"/>
                </a:solidFill>
              </a:rPr>
              <a:t>,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 </a:t>
            </a:r>
            <a:r>
              <a:rPr lang="en-US" sz="2600" b="1" dirty="0">
                <a:solidFill>
                  <a:srgbClr val="003478"/>
                </a:solidFill>
              </a:rPr>
              <a:t>Números para contar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 números nativos (하나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1800" i="1" dirty="0">
                <a:solidFill>
                  <a:srgbClr val="4236F6"/>
                </a:solidFill>
              </a:rPr>
              <a:t>): para contar cosas y decir la edad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821a460dd31a2cc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1 · uno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422abde859e9430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2 · dos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fada3294c293978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8095488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[섿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8168640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3 · tres</a:t>
            </a:r>
            <a:endParaRPr lang="en-US" sz="1600" dirty="0"/>
          </a:p>
        </p:txBody>
      </p:sp>
      <p:pic>
        <p:nvPicPr>
          <p:cNvPr id="19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0" name="card_3"/>
          <p:cNvSpPr/>
          <p:nvPr/>
        </p:nvSpPr>
        <p:spPr>
          <a:xfrm>
            <a:off x="2435352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1" name="dibujo_3" descr="C:\Users\Chingu\AppData\Local\Temp\claude\C--Users-Chingu-Desktop-ACADEMIASEULWEB\d4111e1b-5523-44ea-97b2-b1a1d9545b9e\scratchpad\decks\cache\img_78dd180b1e97c53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9474" y="4247388"/>
            <a:ext cx="976579" cy="976579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2435352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2500" dirty="0"/>
          </a:p>
        </p:txBody>
      </p:sp>
      <p:sp>
        <p:nvSpPr>
          <p:cNvPr id="23" name="Text 14"/>
          <p:cNvSpPr txBox="1"/>
          <p:nvPr/>
        </p:nvSpPr>
        <p:spPr>
          <a:xfrm>
            <a:off x="2435352" y="564916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[넫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2508504" y="592348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4 · cuatro</a:t>
            </a:r>
            <a:endParaRPr lang="en-US" sz="1600" dirty="0"/>
          </a:p>
        </p:txBody>
      </p:sp>
      <p:pic>
        <p:nvPicPr>
          <p:cNvPr id="31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26" name="card_4"/>
          <p:cNvSpPr/>
          <p:nvPr/>
        </p:nvSpPr>
        <p:spPr>
          <a:xfrm>
            <a:off x="6208776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7" name="dibujo_4" descr="C:\Users\Chingu\AppData\Local\Temp\claude\C--Users-Chingu-Desktop-ACADEMIASEULWEB\d4111e1b-5523-44ea-97b2-b1a1d9545b9e\scratchpad\decks\cache\img_2a184812a8c5f4f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2898" y="4247388"/>
            <a:ext cx="976579" cy="976579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208776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</a:t>
            </a:r>
            <a:endParaRPr lang="en-US" sz="2500" dirty="0"/>
          </a:p>
        </p:txBody>
      </p:sp>
      <p:sp>
        <p:nvSpPr>
          <p:cNvPr id="29" name="Text 18"/>
          <p:cNvSpPr txBox="1"/>
          <p:nvPr/>
        </p:nvSpPr>
        <p:spPr>
          <a:xfrm>
            <a:off x="6208776" y="564916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[다섣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6281928" y="592348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5 · cinco</a:t>
            </a:r>
            <a:endParaRPr lang="en-US" sz="1600" dirty="0"/>
          </a:p>
        </p:txBody>
      </p:sp>
      <p:pic>
        <p:nvPicPr>
          <p:cNvPr id="32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351264" y="42108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</a:t>
            </a:r>
            <a:r>
              <a:rPr lang="en-US" sz="2200" b="1" dirty="0">
                <a:solidFill>
                  <a:srgbClr val="4236F6"/>
                </a:solidFill>
              </a:rPr>
              <a:t>·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</a:t>
            </a:r>
            <a:r>
              <a:rPr lang="en-US" sz="2200" b="1" dirty="0">
                <a:solidFill>
                  <a:srgbClr val="4236F6"/>
                </a:solidFill>
              </a:rPr>
              <a:t>…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 </a:t>
            </a:r>
            <a:r>
              <a:rPr lang="en-US" sz="2200" b="1" dirty="0">
                <a:solidFill>
                  <a:srgbClr val="003478"/>
                </a:solidFill>
              </a:rPr>
              <a:t>Números para contar (2)</a:t>
            </a:r>
            <a:r>
              <a:rPr lang="en-US" sz="1500" b="1" i="1" dirty="0">
                <a:solidFill>
                  <a:srgbClr val="8A8DA0"/>
                </a:solidFill>
              </a:rPr>
              <a:t>   Native Korean numbers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 números nativos (하나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1800" i="1" dirty="0">
                <a:solidFill>
                  <a:srgbClr val="4236F6"/>
                </a:solidFill>
              </a:rPr>
              <a:t>): para contar cosas y decir la edad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261d35c0a5be5fc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[여섣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6 · seis</a:t>
            </a:r>
            <a:endParaRPr lang="en-US" sz="1600" dirty="0"/>
          </a:p>
        </p:txBody>
      </p:sp>
      <p:pic>
        <p:nvPicPr>
          <p:cNvPr id="9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10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1" name="dibujo_1" descr="C:\Users\Chingu\AppData\Local\Temp\claude\C--Users-Chingu-Desktop-ACADEMIASEULWEB\d4111e1b-5523-44ea-97b2-b1a1d9545b9e\scratchpad\decks\cache\img_9f89f9a759722f8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4395216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7 · siete</a:t>
            </a:r>
            <a:endParaRPr lang="en-US" sz="1600" dirty="0"/>
          </a:p>
        </p:txBody>
      </p:sp>
      <p:pic>
        <p:nvPicPr>
          <p:cNvPr id="14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5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6" name="dibujo_2" descr="C:\Users\Chingu\AppData\Local\Temp\claude\C--Users-Chingu-Desktop-ACADEMIASEULWEB\d4111e1b-5523-44ea-97b2-b1a1d9545b9e\scratchpad\decks\cache\img_95be899dd49f19b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</a:t>
            </a:r>
            <a:endParaRPr lang="en-US" sz="2500" dirty="0"/>
          </a:p>
        </p:txBody>
      </p:sp>
      <p:sp>
        <p:nvSpPr>
          <p:cNvPr id="18" name="Text 11"/>
          <p:cNvSpPr txBox="1"/>
          <p:nvPr/>
        </p:nvSpPr>
        <p:spPr>
          <a:xfrm>
            <a:off x="8095488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[여덜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8168640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8 · ocho</a:t>
            </a:r>
            <a:endParaRPr lang="en-US" sz="1600" dirty="0"/>
          </a:p>
        </p:txBody>
      </p:sp>
      <p:pic>
        <p:nvPicPr>
          <p:cNvPr id="30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1" name="card_3"/>
          <p:cNvSpPr/>
          <p:nvPr/>
        </p:nvSpPr>
        <p:spPr>
          <a:xfrm>
            <a:off x="2435352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2" name="dibujo_3" descr="C:\Users\Chingu\AppData\Local\Temp\claude\C--Users-Chingu-Desktop-ACADEMIASEULWEB\d4111e1b-5523-44ea-97b2-b1a1d9545b9e\scratchpad\decks\cache\img_a931c1c2723a91a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9474" y="4247388"/>
            <a:ext cx="976579" cy="976579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435352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</a:t>
            </a:r>
            <a:endParaRPr lang="en-US" sz="2500" dirty="0"/>
          </a:p>
        </p:txBody>
      </p:sp>
      <p:sp>
        <p:nvSpPr>
          <p:cNvPr id="24" name="Text 15"/>
          <p:cNvSpPr txBox="1"/>
          <p:nvPr/>
        </p:nvSpPr>
        <p:spPr>
          <a:xfrm>
            <a:off x="2508504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9 · nueve</a:t>
            </a:r>
            <a:endParaRPr lang="en-US" sz="1600" dirty="0"/>
          </a:p>
        </p:txBody>
      </p:sp>
      <p:pic>
        <p:nvPicPr>
          <p:cNvPr id="31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26" name="card_4"/>
          <p:cNvSpPr/>
          <p:nvPr/>
        </p:nvSpPr>
        <p:spPr>
          <a:xfrm>
            <a:off x="6208776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7" name="dibujo_4" descr="C:\Users\Chingu\AppData\Local\Temp\claude\C--Users-Chingu-Desktop-ACADEMIASEULWEB\d4111e1b-5523-44ea-97b2-b1a1d9545b9e\scratchpad\decks\cache\img_114d4d56403a8c1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2898" y="4247388"/>
            <a:ext cx="976579" cy="976579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208776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2500" dirty="0"/>
          </a:p>
        </p:txBody>
      </p:sp>
      <p:sp>
        <p:nvSpPr>
          <p:cNvPr id="29" name="Text 18"/>
          <p:cNvSpPr txBox="1"/>
          <p:nvPr/>
        </p:nvSpPr>
        <p:spPr>
          <a:xfrm>
            <a:off x="6281928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10 · diez</a:t>
            </a:r>
            <a:endParaRPr lang="en-US" sz="1600" dirty="0"/>
          </a:p>
        </p:txBody>
      </p:sp>
      <p:pic>
        <p:nvPicPr>
          <p:cNvPr id="20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351264" y="42108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r>
              <a:rPr lang="en-US" sz="2200" b="1" dirty="0">
                <a:solidFill>
                  <a:srgbClr val="4236F6"/>
                </a:solidFill>
              </a:rPr>
              <a:t>,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200" b="1" dirty="0">
                <a:solidFill>
                  <a:srgbClr val="4236F6"/>
                </a:solidFill>
              </a:rPr>
              <a:t>,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 </a:t>
            </a:r>
            <a:r>
              <a:rPr lang="en-US" sz="2200" b="1" dirty="0">
                <a:solidFill>
                  <a:srgbClr val="4236F6"/>
                </a:solidFill>
              </a:rPr>
              <a:t>·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2200" b="1" dirty="0">
                <a:solidFill>
                  <a:srgbClr val="4236F6"/>
                </a:solidFill>
              </a:rPr>
              <a:t>,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2200" b="1" dirty="0">
                <a:solidFill>
                  <a:srgbClr val="4236F6"/>
                </a:solidFill>
              </a:rPr>
              <a:t>,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 </a:t>
            </a:r>
            <a:r>
              <a:rPr lang="en-US" sz="2200" b="1" dirty="0">
                <a:solidFill>
                  <a:srgbClr val="003478"/>
                </a:solidFill>
              </a:rPr>
              <a:t>Dos juegos de números</a:t>
            </a:r>
            <a:r>
              <a:rPr lang="en-US" sz="1500" b="1" i="1" dirty="0">
                <a:solidFill>
                  <a:srgbClr val="8A8DA0"/>
                </a:solidFill>
              </a:rPr>
              <a:t>   Two sets of numbers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 </a:t>
            </a:r>
            <a:r>
              <a:rPr lang="en-US" sz="1800" i="1" dirty="0">
                <a:solidFill>
                  <a:srgbClr val="4236F6"/>
                </a:solidFill>
              </a:rPr>
              <a:t>→ leer cifras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</a:t>
            </a:r>
            <a:r>
              <a:rPr lang="en-US" sz="1800" i="1" dirty="0">
                <a:solidFill>
                  <a:srgbClr val="4236F6"/>
                </a:solidFill>
              </a:rPr>
              <a:t>→ contar cosas y decir la edad</a:t>
            </a:r>
            <a:endParaRPr lang="en-US" sz="1800" dirty="0"/>
          </a:p>
        </p:txBody>
      </p:sp>
      <p:graphicFrame>
        <p:nvGraphicFramePr>
          <p:cNvPr id="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361624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Cifra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Para leer cifras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Para contar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넷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다섯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육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여섯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일곱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여덟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아홉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십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r>
              <a:rPr lang="en-US" sz="3000" b="1" dirty="0">
                <a:solidFill>
                  <a:srgbClr val="4236F6"/>
                </a:solidFill>
              </a:rPr>
              <a:t>?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¿Cuál uso?</a:t>
            </a:r>
            <a:r>
              <a:rPr lang="en-US" sz="1500" b="1" i="1" dirty="0">
                <a:solidFill>
                  <a:srgbClr val="8A8DA0"/>
                </a:solidFill>
              </a:rPr>
              <a:t>   Which one do I use?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en teléfonos y claves = 공 </a:t>
            </a:r>
            <a:r>
              <a:rPr lang="en-US" sz="1800" i="1" dirty="0">
                <a:solidFill>
                  <a:srgbClr val="4236F6"/>
                </a:solidFill>
              </a:rPr>
              <a:t>(extra)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Para leer cifras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</a:t>
            </a:r>
            <a:r>
              <a:rPr lang="en-US" sz="5400" b="1" dirty="0">
                <a:solidFill>
                  <a:srgbClr val="4236F6"/>
                </a:solidFill>
              </a:rPr>
              <a:t>· 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5400" b="1" dirty="0">
                <a:solidFill>
                  <a:srgbClr val="4236F6"/>
                </a:solidFill>
              </a:rPr>
              <a:t>· 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Teléfono: 공일공</a:t>
            </a:r>
            <a:r>
              <a:rPr lang="en-US" sz="2000" dirty="0">
                <a:solidFill>
                  <a:srgbClr val="14142B"/>
                </a:solidFill>
              </a:rPr>
              <a:t>…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Claves y códigos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(Más adelante: precios y fechas)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Para contar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5400" b="1" dirty="0">
                <a:solidFill>
                  <a:srgbClr val="4236F6"/>
                </a:solidFill>
              </a:rPr>
              <a:t>· 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</a:t>
            </a:r>
            <a:r>
              <a:rPr lang="en-US" sz="5400" b="1" dirty="0">
                <a:solidFill>
                  <a:srgbClr val="4236F6"/>
                </a:solidFill>
              </a:rPr>
              <a:t>· 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Contar: 하나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2000" dirty="0">
                <a:solidFill>
                  <a:srgbClr val="14142B"/>
                </a:solidFill>
              </a:rPr>
              <a:t>!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Cosas: ___ 개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Edad: ___ 살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¿Qué número es?</a:t>
            </a:r>
            <a:r>
              <a:rPr lang="en-US" sz="1500" b="1" i="1" dirty="0">
                <a:solidFill>
                  <a:srgbClr val="8A8DA0"/>
                </a:solidFill>
              </a:rPr>
              <a:t>   Which number is 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Los dos juegos, mezclados · Muéstralo con los dedos en cámara (o escribe la cifra en el chat)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</a:t>
            </a:r>
            <a:endParaRPr lang="en-US" sz="2400" dirty="0"/>
          </a:p>
        </p:txBody>
      </p:sp>
      <p:sp>
        <p:nvSpPr>
          <p:cNvPr id="7" name="rev_6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6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</a:t>
            </a:r>
            <a:endParaRPr lang="en-US" sz="2400" dirty="0"/>
          </a:p>
        </p:txBody>
      </p:sp>
      <p:sp>
        <p:nvSpPr>
          <p:cNvPr id="12" name="rev_7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7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9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2400" dirty="0"/>
          </a:p>
        </p:txBody>
      </p:sp>
      <p:sp>
        <p:nvSpPr>
          <p:cNvPr id="17" name="rev_8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8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endParaRPr lang="en-US" sz="2400" dirty="0"/>
          </a:p>
        </p:txBody>
      </p:sp>
      <p:sp>
        <p:nvSpPr>
          <p:cNvPr id="22" name="rev_9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9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2400" dirty="0"/>
          </a:p>
        </p:txBody>
      </p:sp>
      <p:sp>
        <p:nvSpPr>
          <p:cNvPr id="27" name="rev_10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10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400" dirty="0"/>
          </a:p>
        </p:txBody>
      </p:sp>
      <p:sp>
        <p:nvSpPr>
          <p:cNvPr id="32" name="rev_11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11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¿일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en-US" sz="1500" b="1" i="1" dirty="0">
                <a:solidFill>
                  <a:srgbClr val="8A8DA0"/>
                </a:solidFill>
              </a:rPr>
              <a:t>   Sino or native?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Teléfonos y claves: cifra por cifra · Contar: 하나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</a:t>
            </a:r>
            <a:r>
              <a:rPr lang="en-US" sz="1800" i="1" dirty="0">
                <a:solidFill>
                  <a:srgbClr val="4236F6"/>
                </a:solidFill>
              </a:rPr>
              <a:t>· Léelo en voz alta con el juego de números que corresponde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A la cuenta de tres: 1, 2, 3</a:t>
            </a:r>
            <a:endParaRPr lang="en-US" sz="2400" dirty="0"/>
          </a:p>
        </p:txBody>
      </p:sp>
      <p:sp>
        <p:nvSpPr>
          <p:cNvPr id="7" name="rev_12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2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Clave de la puerta: 4 2 8 1</a:t>
            </a:r>
            <a:endParaRPr lang="en-US" sz="2400" dirty="0"/>
          </a:p>
        </p:txBody>
      </p:sp>
      <p:sp>
        <p:nvSpPr>
          <p:cNvPr id="12" name="rev_13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3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사이팔일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100" dirty="0">
                <a:solidFill>
                  <a:srgbClr val="14142B"/>
                </a:solidFill>
              </a:rPr>
              <a:t>Celular de ejemplo: 010-1234-5678</a:t>
            </a:r>
            <a:endParaRPr lang="en-US" sz="2100" dirty="0"/>
          </a:p>
        </p:txBody>
      </p:sp>
      <p:sp>
        <p:nvSpPr>
          <p:cNvPr id="17" name="rev_14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4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공일공</a:t>
            </a:r>
            <a:r>
              <a:rPr lang="en-US" sz="2100" b="1" dirty="0">
                <a:solidFill>
                  <a:srgbClr val="FFFFFF"/>
                </a:solidFill>
              </a:rPr>
              <a:t>, </a:t>
            </a: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일이삼사</a:t>
            </a:r>
            <a:r>
              <a:rPr lang="en-US" sz="2100" b="1" dirty="0">
                <a:solidFill>
                  <a:srgbClr val="FFFFFF"/>
                </a:solidFill>
              </a:rPr>
              <a:t>, </a:t>
            </a: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오육칠팔</a:t>
            </a:r>
            <a:endParaRPr lang="en-US" sz="21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Contar galletas: 1 2 3 4 5</a:t>
            </a:r>
            <a:endParaRPr lang="en-US" sz="2400" dirty="0"/>
          </a:p>
        </p:txBody>
      </p:sp>
      <p:sp>
        <p:nvSpPr>
          <p:cNvPr id="22" name="rev_15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5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400" dirty="0">
                <a:solidFill>
                  <a:srgbClr val="14142B"/>
                </a:solidFill>
              </a:rPr>
              <a:t>Código del casillero: 9 0 6</a:t>
            </a:r>
            <a:endParaRPr lang="en-US" sz="2400" dirty="0"/>
          </a:p>
        </p:txBody>
      </p:sp>
      <p:sp>
        <p:nvSpPr>
          <p:cNvPr id="27" name="rev_16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16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구공육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dirty="0">
                <a:solidFill>
                  <a:srgbClr val="14142B"/>
                </a:solidFill>
              </a:rPr>
              <a:t>Tu turno: inventa una clave de 4 cifras y díctala; el grupo la escribe en el chat</a:t>
            </a:r>
            <a:endParaRPr lang="en-US" sz="1800" dirty="0"/>
          </a:p>
        </p:txBody>
      </p:sp>
      <p:sp>
        <p:nvSpPr>
          <p:cNvPr id="32" name="rev_17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17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(libre, p. ej. 오칠삼공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 </a:t>
            </a:r>
            <a:r>
              <a:rPr lang="ko-KR" altLang="en-US" sz="26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¿Cuántas cosas? ___ 개</a:t>
            </a:r>
            <a:r>
              <a:rPr lang="ko-KR" altLang="en-US" sz="1500" b="1" i="1" dirty="0">
                <a:solidFill>
                  <a:srgbClr val="8A8DA0"/>
                </a:solidFill>
              </a:rPr>
              <a:t>   Counting things with 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sz="1800" i="1" dirty="0">
                <a:solidFill>
                  <a:srgbClr val="4236F6"/>
                </a:solidFill>
              </a:rPr>
              <a:t>= unidad (para cosas) · número para contar +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cd6f9b90297eb3b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61084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개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1 cosa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3378708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10f00e635a377edc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1152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78708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개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3451860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2 cosas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6208776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4e98555a5040ec4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122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208776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개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6281928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3 cosas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9038844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2ca81bc475447429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1288" y="198424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038844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개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9111996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4 cosas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548640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img_86fa25d3ca3465d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61084" y="4247388"/>
            <a:ext cx="976579" cy="976579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48640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 개</a:t>
            </a:r>
            <a:endParaRPr lang="en-US" sz="2500" dirty="0"/>
          </a:p>
        </p:txBody>
      </p:sp>
      <p:sp>
        <p:nvSpPr>
          <p:cNvPr id="27" name="Text 16"/>
          <p:cNvSpPr txBox="1"/>
          <p:nvPr/>
        </p:nvSpPr>
        <p:spPr>
          <a:xfrm>
            <a:off x="548640" y="564916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[다섣깨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8" name="Text 17"/>
          <p:cNvSpPr txBox="1"/>
          <p:nvPr/>
        </p:nvSpPr>
        <p:spPr>
          <a:xfrm>
            <a:off x="621792" y="592348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5 cosas</a:t>
            </a:r>
            <a:endParaRPr lang="en-US" sz="1600" dirty="0"/>
          </a:p>
        </p:txBody>
      </p:sp>
      <p:pic>
        <p:nvPicPr>
          <p:cNvPr id="29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4210812"/>
            <a:ext cx="310896" cy="310896"/>
          </a:xfrm>
          <a:prstGeom prst="rect">
            <a:avLst/>
          </a:prstGeom>
        </p:spPr>
      </p:pic>
      <p:sp>
        <p:nvSpPr>
          <p:cNvPr id="30" name="card_5"/>
          <p:cNvSpPr/>
          <p:nvPr/>
        </p:nvSpPr>
        <p:spPr>
          <a:xfrm>
            <a:off x="3378708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1" name="dibujo_5" descr="C:\Users\Chingu\AppData\Local\Temp\claude\C--Users-Chingu-Desktop-ACADEMIASEULWEB\d4111e1b-5523-44ea-97b2-b1a1d9545b9e\scratchpad\decks\cache\img_51ede8ac1d2636f9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91152" y="4247388"/>
            <a:ext cx="976579" cy="976579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3378708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개</a:t>
            </a:r>
            <a:endParaRPr lang="en-US" sz="2500" dirty="0"/>
          </a:p>
        </p:txBody>
      </p:sp>
      <p:sp>
        <p:nvSpPr>
          <p:cNvPr id="33" name="Text 20"/>
          <p:cNvSpPr txBox="1"/>
          <p:nvPr/>
        </p:nvSpPr>
        <p:spPr>
          <a:xfrm>
            <a:off x="3378708" y="564916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[여섣깨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34" name="Text 21"/>
          <p:cNvSpPr txBox="1"/>
          <p:nvPr/>
        </p:nvSpPr>
        <p:spPr>
          <a:xfrm>
            <a:off x="3451860" y="592348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6 cosas</a:t>
            </a:r>
            <a:endParaRPr lang="en-US" sz="1600" dirty="0"/>
          </a:p>
        </p:txBody>
      </p:sp>
      <p:pic>
        <p:nvPicPr>
          <p:cNvPr id="35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36" name="card_6"/>
          <p:cNvSpPr/>
          <p:nvPr/>
        </p:nvSpPr>
        <p:spPr>
          <a:xfrm>
            <a:off x="6208776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7" name="dibujo_6" descr="C:\Users\Chingu\AppData\Local\Temp\claude\C--Users-Chingu-Desktop-ACADEMIASEULWEB\d4111e1b-5523-44ea-97b2-b1a1d9545b9e\scratchpad\decks\cache\img_5b4d59005c1241e7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21220" y="4247388"/>
            <a:ext cx="976579" cy="97657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6208776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 개</a:t>
            </a:r>
            <a:endParaRPr lang="en-US" sz="2500" dirty="0"/>
          </a:p>
        </p:txBody>
      </p:sp>
      <p:sp>
        <p:nvSpPr>
          <p:cNvPr id="39" name="Text 24"/>
          <p:cNvSpPr txBox="1"/>
          <p:nvPr/>
        </p:nvSpPr>
        <p:spPr>
          <a:xfrm>
            <a:off x="6208776" y="564916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[일곱깨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40" name="Text 25"/>
          <p:cNvSpPr txBox="1"/>
          <p:nvPr/>
        </p:nvSpPr>
        <p:spPr>
          <a:xfrm>
            <a:off x="6281928" y="592348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7 cosas</a:t>
            </a:r>
            <a:endParaRPr lang="en-US" sz="1600" dirty="0"/>
          </a:p>
        </p:txBody>
      </p:sp>
      <p:pic>
        <p:nvPicPr>
          <p:cNvPr id="41" name="Media 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4210812"/>
            <a:ext cx="310896" cy="310896"/>
          </a:xfrm>
          <a:prstGeom prst="rect">
            <a:avLst/>
          </a:prstGeom>
        </p:spPr>
      </p:pic>
      <p:sp>
        <p:nvSpPr>
          <p:cNvPr id="42" name="card_7"/>
          <p:cNvSpPr/>
          <p:nvPr/>
        </p:nvSpPr>
        <p:spPr>
          <a:xfrm>
            <a:off x="9038844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3" name="dibujo_7" descr="C:\Users\Chingu\AppData\Local\Temp\claude\C--Users-Chingu-Desktop-ACADEMIASEULWEB\d4111e1b-5523-44ea-97b2-b1a1d9545b9e\scratchpad\decks\cache\img_104830af85da3fb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51288" y="4247388"/>
            <a:ext cx="976579" cy="976579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9038844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 개</a:t>
            </a:r>
            <a:endParaRPr lang="en-US" sz="2500" dirty="0"/>
          </a:p>
        </p:txBody>
      </p:sp>
      <p:sp>
        <p:nvSpPr>
          <p:cNvPr id="45" name="Text 28"/>
          <p:cNvSpPr txBox="1"/>
          <p:nvPr/>
        </p:nvSpPr>
        <p:spPr>
          <a:xfrm>
            <a:off x="9038844" y="564916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[여덜깨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46" name="Text 29"/>
          <p:cNvSpPr txBox="1"/>
          <p:nvPr/>
        </p:nvSpPr>
        <p:spPr>
          <a:xfrm>
            <a:off x="9111996" y="592348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8 cosas</a:t>
            </a:r>
            <a:endParaRPr lang="en-US" sz="1600" dirty="0"/>
          </a:p>
        </p:txBody>
      </p:sp>
      <p:pic>
        <p:nvPicPr>
          <p:cNvPr id="47" name="Media 7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 봐요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¿Cuántos años? ___ 살</a:t>
            </a:r>
            <a:r>
              <a:rPr lang="ko-KR" altLang="en-US" sz="1500" b="1" i="1" dirty="0">
                <a:solidFill>
                  <a:srgbClr val="8A8DA0"/>
                </a:solidFill>
              </a:rPr>
              <a:t>   Saying age with 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 </a:t>
            </a:r>
            <a:r>
              <a:rPr lang="en-US" sz="1800" i="1" dirty="0">
                <a:solidFill>
                  <a:srgbClr val="4236F6"/>
                </a:solidFill>
              </a:rPr>
              <a:t>= años de edad · número para contar +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c0d171280a18f0c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61084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살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1 año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3378708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fd39d44407f8b39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1152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78708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살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3451860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2 años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6208776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img_e59ede47e0f6861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1220" y="1984248"/>
            <a:ext cx="976579" cy="97657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208776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살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6281928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3 años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9038844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6687f63fc52196f9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1288" y="1984248"/>
            <a:ext cx="976579" cy="97657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038844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살</a:t>
            </a:r>
            <a:endParaRPr lang="en-US" sz="2500" dirty="0"/>
          </a:p>
        </p:txBody>
      </p:sp>
      <p:sp>
        <p:nvSpPr>
          <p:cNvPr id="22" name="Text 13"/>
          <p:cNvSpPr txBox="1"/>
          <p:nvPr/>
        </p:nvSpPr>
        <p:spPr>
          <a:xfrm>
            <a:off x="9111996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4 años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548640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img_21cbe336939cdddc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61084" y="4247388"/>
            <a:ext cx="976579" cy="976579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48640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 살</a:t>
            </a:r>
            <a:endParaRPr lang="en-US" sz="2500" dirty="0"/>
          </a:p>
        </p:txBody>
      </p:sp>
      <p:sp>
        <p:nvSpPr>
          <p:cNvPr id="27" name="Text 16"/>
          <p:cNvSpPr txBox="1"/>
          <p:nvPr/>
        </p:nvSpPr>
        <p:spPr>
          <a:xfrm>
            <a:off x="548640" y="564916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[다섣쌀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8" name="Text 17"/>
          <p:cNvSpPr txBox="1"/>
          <p:nvPr/>
        </p:nvSpPr>
        <p:spPr>
          <a:xfrm>
            <a:off x="621792" y="592348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5 años</a:t>
            </a:r>
            <a:endParaRPr lang="en-US" sz="1600" dirty="0"/>
          </a:p>
        </p:txBody>
      </p:sp>
      <p:pic>
        <p:nvPicPr>
          <p:cNvPr id="29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2747772" y="4210812"/>
            <a:ext cx="310896" cy="310896"/>
          </a:xfrm>
          <a:prstGeom prst="rect">
            <a:avLst/>
          </a:prstGeom>
        </p:spPr>
      </p:pic>
      <p:sp>
        <p:nvSpPr>
          <p:cNvPr id="30" name="card_5"/>
          <p:cNvSpPr/>
          <p:nvPr/>
        </p:nvSpPr>
        <p:spPr>
          <a:xfrm>
            <a:off x="3378708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1" name="dibujo_5" descr="C:\Users\Chingu\AppData\Local\Temp\claude\C--Users-Chingu-Desktop-ACADEMIASEULWEB\d4111e1b-5523-44ea-97b2-b1a1d9545b9e\scratchpad\decks\cache\img_91ecff084907dd2a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91152" y="4247388"/>
            <a:ext cx="976579" cy="976579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3378708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살</a:t>
            </a:r>
            <a:endParaRPr lang="en-US" sz="2500" dirty="0"/>
          </a:p>
        </p:txBody>
      </p:sp>
      <p:sp>
        <p:nvSpPr>
          <p:cNvPr id="33" name="Text 20"/>
          <p:cNvSpPr txBox="1"/>
          <p:nvPr/>
        </p:nvSpPr>
        <p:spPr>
          <a:xfrm>
            <a:off x="3378708" y="564916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[여섣쌀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34" name="Text 21"/>
          <p:cNvSpPr txBox="1"/>
          <p:nvPr/>
        </p:nvSpPr>
        <p:spPr>
          <a:xfrm>
            <a:off x="3451860" y="592348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6 años</a:t>
            </a:r>
            <a:endParaRPr lang="en-US" sz="1600" dirty="0"/>
          </a:p>
        </p:txBody>
      </p:sp>
      <p:pic>
        <p:nvPicPr>
          <p:cNvPr id="35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36" name="card_6"/>
          <p:cNvSpPr/>
          <p:nvPr/>
        </p:nvSpPr>
        <p:spPr>
          <a:xfrm>
            <a:off x="6208776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7" name="dibujo_6" descr="C:\Users\Chingu\AppData\Local\Temp\claude\C--Users-Chingu-Desktop-ACADEMIASEULWEB\d4111e1b-5523-44ea-97b2-b1a1d9545b9e\scratchpad\decks\cache\img_af8c416b8aa24f9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21220" y="4247388"/>
            <a:ext cx="976579" cy="97657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6208776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 살</a:t>
            </a:r>
            <a:endParaRPr lang="en-US" sz="2500" dirty="0"/>
          </a:p>
        </p:txBody>
      </p:sp>
      <p:sp>
        <p:nvSpPr>
          <p:cNvPr id="39" name="Text 24"/>
          <p:cNvSpPr txBox="1"/>
          <p:nvPr/>
        </p:nvSpPr>
        <p:spPr>
          <a:xfrm>
            <a:off x="6208776" y="564916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[열쌀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40" name="Text 25"/>
          <p:cNvSpPr txBox="1"/>
          <p:nvPr/>
        </p:nvSpPr>
        <p:spPr>
          <a:xfrm>
            <a:off x="6281928" y="592348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10 años</a:t>
            </a:r>
            <a:endParaRPr lang="en-US" sz="1600" dirty="0"/>
          </a:p>
        </p:txBody>
      </p:sp>
      <p:pic>
        <p:nvPicPr>
          <p:cNvPr id="41" name="Media 6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407908" y="4210812"/>
            <a:ext cx="310896" cy="310896"/>
          </a:xfrm>
          <a:prstGeom prst="rect">
            <a:avLst/>
          </a:prstGeom>
        </p:spPr>
      </p:pic>
      <p:sp>
        <p:nvSpPr>
          <p:cNvPr id="42" name="card_7"/>
          <p:cNvSpPr/>
          <p:nvPr/>
        </p:nvSpPr>
        <p:spPr>
          <a:xfrm>
            <a:off x="9038844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3" name="dibujo_7" descr="C:\Users\Chingu\AppData\Local\Temp\claude\C--Users-Chingu-Desktop-ACADEMIASEULWEB\d4111e1b-5523-44ea-97b2-b1a1d9545b9e\scratchpad\decks\cache\img_9f58d5cdfbdc0c93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51288" y="4247388"/>
            <a:ext cx="976579" cy="976579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9038844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</a:t>
            </a:r>
            <a:endParaRPr lang="en-US" sz="2500" dirty="0"/>
          </a:p>
        </p:txBody>
      </p:sp>
      <p:sp>
        <p:nvSpPr>
          <p:cNvPr id="45" name="Text 28"/>
          <p:cNvSpPr txBox="1"/>
          <p:nvPr/>
        </p:nvSpPr>
        <p:spPr>
          <a:xfrm>
            <a:off x="9038844" y="5649163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[멷쌀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46" name="Text 29"/>
          <p:cNvSpPr txBox="1"/>
          <p:nvPr/>
        </p:nvSpPr>
        <p:spPr>
          <a:xfrm>
            <a:off x="9111996" y="5923483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¿cuántos años?</a:t>
            </a:r>
            <a:endParaRPr lang="en-US" sz="1600" dirty="0"/>
          </a:p>
        </p:txBody>
      </p:sp>
      <p:pic>
        <p:nvPicPr>
          <p:cNvPr id="47" name="Media 7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2600" b="1" dirty="0">
                <a:solidFill>
                  <a:srgbClr val="4236F6"/>
                </a:solidFill>
              </a:rPr>
              <a:t>→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 </a:t>
            </a:r>
            <a:r>
              <a:rPr lang="en-US" sz="2600" b="1" dirty="0">
                <a:solidFill>
                  <a:srgbClr val="003478"/>
                </a:solidFill>
              </a:rPr>
              <a:t>Cuatro números se acortan</a:t>
            </a:r>
            <a:r>
              <a:rPr lang="en-US" sz="1500" b="1" i="1" dirty="0">
                <a:solidFill>
                  <a:srgbClr val="8A8DA0"/>
                </a:solidFill>
              </a:rPr>
              <a:t>   Four numbers get shorter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Delante de 개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</a:t>
            </a:r>
            <a:r>
              <a:rPr lang="en-US" sz="1800" i="1" dirty="0">
                <a:solidFill>
                  <a:srgbClr val="4236F6"/>
                </a:solidFill>
              </a:rPr>
              <a:t>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1800" i="1" dirty="0">
                <a:solidFill>
                  <a:srgbClr val="4236F6"/>
                </a:solidFill>
              </a:rPr>
              <a:t>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</a:t>
            </a:r>
            <a:r>
              <a:rPr lang="en-US" sz="1800" i="1" dirty="0">
                <a:solidFill>
                  <a:srgbClr val="4236F6"/>
                </a:solidFill>
              </a:rPr>
              <a:t>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</a:t>
            </a:r>
            <a:r>
              <a:rPr lang="en-US" sz="1800" i="1" dirty="0">
                <a:solidFill>
                  <a:srgbClr val="4236F6"/>
                </a:solidFill>
              </a:rPr>
              <a:t>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 </a:t>
            </a:r>
            <a:r>
              <a:rPr lang="en-US" sz="1800" i="1" dirty="0">
                <a:solidFill>
                  <a:srgbClr val="4236F6"/>
                </a:solidFill>
              </a:rPr>
              <a:t>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r>
              <a:rPr lang="en-US" sz="1800" i="1" dirty="0">
                <a:solidFill>
                  <a:srgbClr val="4236F6"/>
                </a:solidFill>
              </a:rPr>
              <a:t>(como «uno» → «un»)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Contando en voz alta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셋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28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1800" dirty="0">
                <a:solidFill>
                  <a:srgbClr val="14142B"/>
                </a:solidFill>
              </a:rPr>
              <a:t>,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1800" dirty="0">
                <a:solidFill>
                  <a:srgbClr val="14142B"/>
                </a:solidFill>
              </a:rPr>
              <a:t>,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1800" dirty="0">
                <a:solidFill>
                  <a:srgbClr val="14142B"/>
                </a:solidFill>
              </a:rPr>
              <a:t>,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r>
              <a:rPr lang="en-US" sz="1800" dirty="0">
                <a:solidFill>
                  <a:srgbClr val="14142B"/>
                </a:solidFill>
              </a:rPr>
              <a:t>!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«uno, dos, tres»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개 </a:t>
            </a:r>
            <a:r>
              <a:rPr lang="en-US" sz="2000" b="1" dirty="0">
                <a:solidFill>
                  <a:srgbClr val="003478"/>
                </a:solidFill>
              </a:rPr>
              <a:t>o </a:t>
            </a: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endParaRPr lang="en-US" sz="28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개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살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개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살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Desde 다섯</a:t>
            </a:r>
            <a:r>
              <a:rPr lang="en-US" sz="2000" b="1" dirty="0">
                <a:solidFill>
                  <a:srgbClr val="003478"/>
                </a:solidFill>
              </a:rPr>
              <a:t>: igual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</a:t>
            </a:r>
            <a:r>
              <a:rPr lang="en-US" sz="2900" b="1" dirty="0">
                <a:solidFill>
                  <a:srgbClr val="4236F6"/>
                </a:solidFill>
              </a:rPr>
              <a:t>· </a:t>
            </a: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</a:t>
            </a:r>
            <a:r>
              <a:rPr lang="en-US" sz="2900" b="1" dirty="0">
                <a:solidFill>
                  <a:srgbClr val="4236F6"/>
                </a:solidFill>
              </a:rPr>
              <a:t>… </a:t>
            </a: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29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 개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살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 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 있어요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¿Cuántos hay?</a:t>
            </a:r>
            <a:r>
              <a:rPr lang="en-US" sz="1500" b="1" i="1" dirty="0">
                <a:solidFill>
                  <a:srgbClr val="8A8DA0"/>
                </a:solidFill>
              </a:rPr>
              <a:t>   How many are there?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Orden: cosa → número → 개 </a:t>
            </a:r>
            <a:r>
              <a:rPr lang="en-US" sz="1800" i="1" dirty="0">
                <a:solidFill>
                  <a:srgbClr val="4236F6"/>
                </a:solidFill>
              </a:rPr>
              <a:t>(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 두 개</a:t>
            </a:r>
            <a:r>
              <a:rPr lang="en-US" sz="1800" i="1" dirty="0">
                <a:solidFill>
                  <a:srgbClr val="4236F6"/>
                </a:solidFill>
              </a:rPr>
              <a:t>), al revés que «dos manzanas»</a:t>
            </a:r>
            <a:endParaRPr lang="en-US" sz="1800" dirty="0"/>
          </a:p>
        </p:txBody>
      </p:sp>
      <p:graphicFrame>
        <p:nvGraphicFramePr>
          <p:cNvPr id="1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61533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Respuesta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(cosa)이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 몇 개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(número) 개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빵이 몇 개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 개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바나나가 몇 개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 개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사과가 몇 개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일곱 개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시계가 몇 개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시계가 없어요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¿Cuántos años tiene?</a:t>
            </a:r>
            <a:r>
              <a:rPr lang="en-US" sz="1500" b="1" i="1" dirty="0">
                <a:solidFill>
                  <a:srgbClr val="8A8DA0"/>
                </a:solidFill>
              </a:rPr>
              <a:t>   How old is…?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549bad771f5235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콩이는 몇 살이에요</a:t>
            </a:r>
            <a:r>
              <a:rPr lang="en-US" sz="5000" b="1" dirty="0">
                <a:solidFill>
                  <a:srgbClr val="4236F6"/>
                </a:solidFill>
              </a:rPr>
              <a:t>?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¿Cuántos años tiene 콩이</a:t>
            </a:r>
            <a:r>
              <a:rPr lang="en-US" sz="2400" dirty="0">
                <a:solidFill>
                  <a:srgbClr val="5C5F6B"/>
                </a:solidFill>
              </a:rPr>
              <a:t>?</a:t>
            </a:r>
            <a:endParaRPr lang="en-US" sz="24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03720" y="4160520"/>
            <a:ext cx="384048" cy="384048"/>
          </a:xfrm>
          <a:prstGeom prst="rect">
            <a:avLst/>
          </a:prstGeom>
        </p:spPr>
      </p:pic>
      <p:sp>
        <p:nvSpPr>
          <p:cNvPr id="8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Respuesta: ___ 살이에요</a:t>
            </a:r>
            <a:r>
              <a:rPr lang="en-US" sz="1800" dirty="0">
                <a:solidFill>
                  <a:srgbClr val="14142B"/>
                </a:solidFill>
              </a:rPr>
              <a:t>. 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 </a:t>
            </a:r>
            <a:r>
              <a:rPr lang="en-US" sz="1800" dirty="0">
                <a:solidFill>
                  <a:srgbClr val="14142B"/>
                </a:solidFill>
              </a:rPr>
              <a:t>termina en consonante → siempre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¿Cuántos hay?</a:t>
            </a:r>
            <a:r>
              <a:rPr lang="en-US" sz="1500" b="1" i="1" dirty="0">
                <a:solidFill>
                  <a:srgbClr val="8A8DA0"/>
                </a:solidFill>
              </a:rPr>
              <a:t>   How many?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Responde con 개 </a:t>
            </a:r>
            <a:r>
              <a:rPr lang="en-US" sz="1800" i="1" dirty="0">
                <a:solidFill>
                  <a:srgbClr val="4236F6"/>
                </a:solidFill>
              </a:rPr>
              <a:t>· el número va entre paréntesis · Responde en voz alta: ___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있어요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dd18bd4d15786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31" y="2057400"/>
            <a:ext cx="972922" cy="972922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 </a:t>
            </a:r>
            <a:r>
              <a:rPr lang="en-US" sz="1500" dirty="0">
                <a:solidFill>
                  <a:srgbClr val="14142B"/>
                </a:solidFill>
              </a:rPr>
              <a:t>(4) ·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 몇 개 있어요</a:t>
            </a:r>
            <a:r>
              <a:rPr lang="en-US" sz="1500" dirty="0">
                <a:solidFill>
                  <a:srgbClr val="14142B"/>
                </a:solidFill>
              </a:rPr>
              <a:t>?</a:t>
            </a:r>
            <a:endParaRPr lang="en-US" sz="1500" dirty="0"/>
          </a:p>
        </p:txBody>
      </p:sp>
      <p:sp>
        <p:nvSpPr>
          <p:cNvPr id="9" name="rev_18_caja"/>
          <p:cNvSpPr/>
          <p:nvPr/>
        </p:nvSpPr>
        <p:spPr>
          <a:xfrm>
            <a:off x="658368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18_txt"/>
          <p:cNvSpPr txBox="1"/>
          <p:nvPr/>
        </p:nvSpPr>
        <p:spPr>
          <a:xfrm>
            <a:off x="685800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개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card_1"/>
          <p:cNvSpPr/>
          <p:nvPr/>
        </p:nvSpPr>
        <p:spPr>
          <a:xfrm>
            <a:off x="4306824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3754a182f5d4a6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015" y="2057400"/>
            <a:ext cx="972922" cy="972922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439826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9826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398264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 </a:t>
            </a:r>
            <a:r>
              <a:rPr lang="en-US" sz="1500" dirty="0">
                <a:solidFill>
                  <a:srgbClr val="14142B"/>
                </a:solidFill>
              </a:rPr>
              <a:t>(2) ·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컵이 몇 개 있어요</a:t>
            </a:r>
            <a:r>
              <a:rPr lang="en-US" sz="1500" dirty="0">
                <a:solidFill>
                  <a:srgbClr val="14142B"/>
                </a:solidFill>
              </a:rPr>
              <a:t>?</a:t>
            </a:r>
            <a:endParaRPr lang="en-US" sz="1500" dirty="0"/>
          </a:p>
        </p:txBody>
      </p:sp>
      <p:sp>
        <p:nvSpPr>
          <p:cNvPr id="16" name="rev_19_caja"/>
          <p:cNvSpPr/>
          <p:nvPr/>
        </p:nvSpPr>
        <p:spPr>
          <a:xfrm>
            <a:off x="4416552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19_txt"/>
          <p:cNvSpPr txBox="1"/>
          <p:nvPr/>
        </p:nvSpPr>
        <p:spPr>
          <a:xfrm>
            <a:off x="4443984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개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8" name="card_2"/>
          <p:cNvSpPr/>
          <p:nvPr/>
        </p:nvSpPr>
        <p:spPr>
          <a:xfrm>
            <a:off x="8065008" y="196596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8a85855262580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6199" y="2057400"/>
            <a:ext cx="972922" cy="972922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815644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15644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6448" y="307604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 </a:t>
            </a:r>
            <a:r>
              <a:rPr lang="en-US" sz="1500" dirty="0">
                <a:solidFill>
                  <a:srgbClr val="14142B"/>
                </a:solidFill>
              </a:rPr>
              <a:t>(1) ·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우유가 몇 개 있어요</a:t>
            </a:r>
            <a:r>
              <a:rPr lang="en-US" sz="1500" dirty="0">
                <a:solidFill>
                  <a:srgbClr val="14142B"/>
                </a:solidFill>
              </a:rPr>
              <a:t>?</a:t>
            </a:r>
            <a:endParaRPr lang="en-US" sz="1500" dirty="0"/>
          </a:p>
        </p:txBody>
      </p:sp>
      <p:sp>
        <p:nvSpPr>
          <p:cNvPr id="23" name="rev_20_caja"/>
          <p:cNvSpPr/>
          <p:nvPr/>
        </p:nvSpPr>
        <p:spPr>
          <a:xfrm>
            <a:off x="8174736" y="352409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20_txt"/>
          <p:cNvSpPr txBox="1"/>
          <p:nvPr/>
        </p:nvSpPr>
        <p:spPr>
          <a:xfrm>
            <a:off x="8202168" y="352409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개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card_3"/>
          <p:cNvSpPr/>
          <p:nvPr/>
        </p:nvSpPr>
        <p:spPr>
          <a:xfrm>
            <a:off x="548640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4aa2ec0718d0d3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831" y="4251960"/>
            <a:ext cx="972922" cy="972922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640080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008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 </a:t>
            </a:r>
            <a:r>
              <a:rPr lang="en-US" sz="1500" dirty="0">
                <a:solidFill>
                  <a:srgbClr val="14142B"/>
                </a:solidFill>
              </a:rPr>
              <a:t>(9) ·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사과가 몇 개 있어요</a:t>
            </a:r>
            <a:r>
              <a:rPr lang="en-US" sz="1500" dirty="0">
                <a:solidFill>
                  <a:srgbClr val="14142B"/>
                </a:solidFill>
              </a:rPr>
              <a:t>?</a:t>
            </a:r>
            <a:endParaRPr lang="en-US" sz="1500" dirty="0"/>
          </a:p>
        </p:txBody>
      </p:sp>
      <p:sp>
        <p:nvSpPr>
          <p:cNvPr id="30" name="rev_21_caja"/>
          <p:cNvSpPr/>
          <p:nvPr/>
        </p:nvSpPr>
        <p:spPr>
          <a:xfrm>
            <a:off x="658368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21_txt"/>
          <p:cNvSpPr txBox="1"/>
          <p:nvPr/>
        </p:nvSpPr>
        <p:spPr>
          <a:xfrm>
            <a:off x="685800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 개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32" name="card_4"/>
          <p:cNvSpPr/>
          <p:nvPr/>
        </p:nvSpPr>
        <p:spPr>
          <a:xfrm>
            <a:off x="4306824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ee403ff9c827967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8015" y="4251960"/>
            <a:ext cx="972922" cy="972922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4398264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398264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4398264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 </a:t>
            </a:r>
            <a:r>
              <a:rPr lang="en-US" sz="1500" dirty="0">
                <a:solidFill>
                  <a:srgbClr val="14142B"/>
                </a:solidFill>
              </a:rPr>
              <a:t>(3) ·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의자가 몇 개 있어요</a:t>
            </a:r>
            <a:r>
              <a:rPr lang="en-US" sz="1500" dirty="0">
                <a:solidFill>
                  <a:srgbClr val="14142B"/>
                </a:solidFill>
              </a:rPr>
              <a:t>?</a:t>
            </a:r>
            <a:endParaRPr lang="en-US" sz="1500" dirty="0"/>
          </a:p>
        </p:txBody>
      </p:sp>
      <p:sp>
        <p:nvSpPr>
          <p:cNvPr id="37" name="rev_22_caja"/>
          <p:cNvSpPr/>
          <p:nvPr/>
        </p:nvSpPr>
        <p:spPr>
          <a:xfrm>
            <a:off x="4416552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22_txt"/>
          <p:cNvSpPr txBox="1"/>
          <p:nvPr/>
        </p:nvSpPr>
        <p:spPr>
          <a:xfrm>
            <a:off x="4443984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개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39" name="card_5"/>
          <p:cNvSpPr/>
          <p:nvPr/>
        </p:nvSpPr>
        <p:spPr>
          <a:xfrm>
            <a:off x="8065008" y="4160520"/>
            <a:ext cx="35753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0" name="item_img_5" descr="C:\Users\Chingu\AppData\Local\Temp\claude\C--Users-Chingu-Desktop-ACADEMIASEULWEB\d4111e1b-5523-44ea-97b2-b1a1d9545b9e\scratchpad\decks\cache\img_ebef2c3c48ed138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6199" y="4251960"/>
            <a:ext cx="972922" cy="972922"/>
          </a:xfrm>
          <a:prstGeom prst="rect">
            <a:avLst/>
          </a:prstGeom>
        </p:spPr>
      </p:pic>
      <p:sp>
        <p:nvSpPr>
          <p:cNvPr id="41" name="num_5"/>
          <p:cNvSpPr/>
          <p:nvPr/>
        </p:nvSpPr>
        <p:spPr>
          <a:xfrm>
            <a:off x="8156448" y="425196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15644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8156448" y="5270602"/>
            <a:ext cx="3392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 </a:t>
            </a:r>
            <a:r>
              <a:rPr lang="en-US" sz="1500" dirty="0">
                <a:solidFill>
                  <a:srgbClr val="14142B"/>
                </a:solidFill>
              </a:rPr>
              <a:t>(0) ·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연필이 몇 개 있어요</a:t>
            </a:r>
            <a:r>
              <a:rPr lang="en-US" sz="1500" dirty="0">
                <a:solidFill>
                  <a:srgbClr val="14142B"/>
                </a:solidFill>
              </a:rPr>
              <a:t>?</a:t>
            </a:r>
            <a:endParaRPr lang="en-US" sz="1500" dirty="0"/>
          </a:p>
        </p:txBody>
      </p:sp>
      <p:sp>
        <p:nvSpPr>
          <p:cNvPr id="44" name="rev_23_caja"/>
          <p:cNvSpPr/>
          <p:nvPr/>
        </p:nvSpPr>
        <p:spPr>
          <a:xfrm>
            <a:off x="8174736" y="5718658"/>
            <a:ext cx="3355848" cy="362102"/>
          </a:xfrm>
          <a:prstGeom prst="roundRect">
            <a:avLst>
              <a:gd name="adj" fmla="val 3030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45" name="rev_23_txt"/>
          <p:cNvSpPr txBox="1"/>
          <p:nvPr/>
        </p:nvSpPr>
        <p:spPr>
          <a:xfrm>
            <a:off x="8202168" y="5718658"/>
            <a:ext cx="33009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연필이 없어요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  <p:bldP spid="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연습해요  </a:t>
            </a:r>
            <a:r>
              <a:rPr lang="en-US" sz="3000" b="1" dirty="0">
                <a:solidFill>
                  <a:srgbClr val="003478"/>
                </a:solidFill>
              </a:rPr>
              <a:t>¿Cuántos años tiene?</a:t>
            </a:r>
            <a:r>
              <a:rPr lang="en-US" sz="1500" b="1" i="1" dirty="0">
                <a:solidFill>
                  <a:srgbClr val="8A8DA0"/>
                </a:solidFill>
              </a:rPr>
              <a:t>   How old?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Responde con 살이에요 </a:t>
            </a:r>
            <a:r>
              <a:rPr lang="en-US" sz="1800" i="1" dirty="0">
                <a:solidFill>
                  <a:srgbClr val="4236F6"/>
                </a:solidFill>
              </a:rPr>
              <a:t>· En cadena: respondes y le haces la siguiente pregunta a un compañero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5b4ba8f37b31ef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" y="2057400"/>
            <a:ext cx="1828800" cy="1828800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</a:t>
            </a:r>
            <a:r>
              <a:rPr lang="en-US" sz="1900" dirty="0">
                <a:solidFill>
                  <a:srgbClr val="14142B"/>
                </a:solidFill>
              </a:rPr>
              <a:t>(6) 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서아는 몇 살이에요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9" name="rev_24_caja"/>
          <p:cNvSpPr/>
          <p:nvPr/>
        </p:nvSpPr>
        <p:spPr>
          <a:xfrm>
            <a:off x="65836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24_txt"/>
          <p:cNvSpPr txBox="1"/>
          <p:nvPr/>
        </p:nvSpPr>
        <p:spPr>
          <a:xfrm>
            <a:off x="68580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살이에요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11" name="card_1"/>
          <p:cNvSpPr/>
          <p:nvPr/>
        </p:nvSpPr>
        <p:spPr>
          <a:xfrm>
            <a:off x="280355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8ccc5e7909e480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166" y="2057400"/>
            <a:ext cx="1828800" cy="1828800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289499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9499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89499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 </a:t>
            </a:r>
            <a:r>
              <a:rPr lang="en-US" sz="1900" dirty="0">
                <a:solidFill>
                  <a:srgbClr val="14142B"/>
                </a:solidFill>
              </a:rPr>
              <a:t>(3) 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콩이는 몇 살이에요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16" name="rev_25_caja"/>
          <p:cNvSpPr/>
          <p:nvPr/>
        </p:nvSpPr>
        <p:spPr>
          <a:xfrm>
            <a:off x="291327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25_txt"/>
          <p:cNvSpPr txBox="1"/>
          <p:nvPr/>
        </p:nvSpPr>
        <p:spPr>
          <a:xfrm>
            <a:off x="294071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살이에요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18" name="card_2"/>
          <p:cNvSpPr/>
          <p:nvPr/>
        </p:nvSpPr>
        <p:spPr>
          <a:xfrm>
            <a:off x="505846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e55f77236b9258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076" y="2057400"/>
            <a:ext cx="1828800" cy="1828800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514990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4990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14990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 </a:t>
            </a:r>
            <a:r>
              <a:rPr lang="en-US" sz="1900" dirty="0">
                <a:solidFill>
                  <a:srgbClr val="14142B"/>
                </a:solidFill>
              </a:rPr>
              <a:t>(2) 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강아지는 몇 살이에요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23" name="rev_26_caja"/>
          <p:cNvSpPr/>
          <p:nvPr/>
        </p:nvSpPr>
        <p:spPr>
          <a:xfrm>
            <a:off x="516818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26_txt"/>
          <p:cNvSpPr txBox="1"/>
          <p:nvPr/>
        </p:nvSpPr>
        <p:spPr>
          <a:xfrm>
            <a:off x="519562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살이에요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card_3"/>
          <p:cNvSpPr/>
          <p:nvPr/>
        </p:nvSpPr>
        <p:spPr>
          <a:xfrm>
            <a:off x="731337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bcaef8a1b3bcec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986" y="2057400"/>
            <a:ext cx="1828800" cy="1828800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740481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40481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40481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</a:t>
            </a:r>
            <a:r>
              <a:rPr lang="en-US" sz="1900" dirty="0">
                <a:solidFill>
                  <a:srgbClr val="14142B"/>
                </a:solidFill>
              </a:rPr>
              <a:t>(8) 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고양이는 몇 살이에요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30" name="rev_27_caja"/>
          <p:cNvSpPr/>
          <p:nvPr/>
        </p:nvSpPr>
        <p:spPr>
          <a:xfrm>
            <a:off x="742309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27_txt"/>
          <p:cNvSpPr txBox="1"/>
          <p:nvPr/>
        </p:nvSpPr>
        <p:spPr>
          <a:xfrm>
            <a:off x="745053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 살이에요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32" name="card_4"/>
          <p:cNvSpPr/>
          <p:nvPr/>
        </p:nvSpPr>
        <p:spPr>
          <a:xfrm>
            <a:off x="9568282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e991fb6336559bb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9897" y="2057400"/>
            <a:ext cx="1828800" cy="1828800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9659722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659722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9659722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친구 </a:t>
            </a:r>
            <a:r>
              <a:rPr lang="en-US" sz="1900" dirty="0">
                <a:solidFill>
                  <a:srgbClr val="14142B"/>
                </a:solidFill>
              </a:rPr>
              <a:t>(7) · </a:t>
            </a: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서아 친구는 몇 살이에요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37" name="rev_28_caja"/>
          <p:cNvSpPr/>
          <p:nvPr/>
        </p:nvSpPr>
        <p:spPr>
          <a:xfrm>
            <a:off x="9678010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28_txt"/>
          <p:cNvSpPr txBox="1"/>
          <p:nvPr/>
        </p:nvSpPr>
        <p:spPr>
          <a:xfrm>
            <a:off x="9705442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 살이에요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¿Y ustedes?</a:t>
            </a:r>
            <a:r>
              <a:rPr lang="en-US" sz="1500" b="1" i="1" dirty="0">
                <a:solidFill>
                  <a:srgbClr val="8A8DA0"/>
                </a:solidFill>
              </a:rPr>
              <a:t>   And you?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Responde en el chat, en 한글</a:t>
            </a:r>
            <a:r>
              <a:rPr lang="en-US" sz="1800" i="1" dirty="0">
                <a:solidFill>
                  <a:srgbClr val="4236F6"/>
                </a:solidFill>
              </a:rPr>
              <a:t>: ___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있어요</a:t>
            </a:r>
            <a:r>
              <a:rPr lang="en-US" sz="1800" i="1" dirty="0">
                <a:solidFill>
                  <a:srgbClr val="4236F6"/>
                </a:solidFill>
              </a:rPr>
              <a:t>. / ___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살이에요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가방에 뭐가 있어요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 의자가 몇 개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책상에 연필이 몇 개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강아지가 있어요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있어요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sabes el nombre de algo: 이거 몇 개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여러분은요</a:t>
            </a:r>
            <a:r>
              <a:rPr lang="en-US" sz="4100" b="1" dirty="0">
                <a:solidFill>
                  <a:srgbClr val="4236F6"/>
                </a:solidFill>
              </a:rPr>
              <a:t>?</a:t>
            </a:r>
            <a:endParaRPr lang="en-US" sz="4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  </a:t>
            </a:r>
            <a:r>
              <a:rPr lang="en-US" sz="3000" b="1" dirty="0">
                <a:solidFill>
                  <a:srgbClr val="003478"/>
                </a:solidFill>
              </a:rPr>
              <a:t>Bonus: edades de adultos</a:t>
            </a:r>
            <a:r>
              <a:rPr lang="en-US" sz="1500" b="1" i="1" dirty="0">
                <a:solidFill>
                  <a:srgbClr val="8A8DA0"/>
                </a:solidFill>
              </a:rPr>
              <a:t>   Bonus: adult 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Extra: 스물 </a:t>
            </a:r>
            <a:r>
              <a:rPr lang="en-US" sz="1800" i="1" dirty="0">
                <a:solidFill>
                  <a:srgbClr val="4236F6"/>
                </a:solidFill>
              </a:rPr>
              <a:t>(20) 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 살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 </a:t>
            </a:r>
            <a:r>
              <a:rPr lang="en-US" sz="1800" i="1" dirty="0">
                <a:solidFill>
                  <a:srgbClr val="4236F6"/>
                </a:solidFill>
              </a:rPr>
              <a:t>(30) · se suman como en español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2d4688f24d086e2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2762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 살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años (extra: 스물 </a:t>
            </a:r>
            <a:r>
              <a:rPr lang="en-US" sz="1400" dirty="0">
                <a:solidFill>
                  <a:srgbClr val="5C5F6B"/>
                </a:solidFill>
              </a:rPr>
              <a:t>→ </a:t>
            </a: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</a:t>
            </a:r>
            <a:r>
              <a:rPr lang="en-US" sz="1400" dirty="0">
                <a:solidFill>
                  <a:srgbClr val="5C5F6B"/>
                </a:solidFill>
              </a:rPr>
              <a:t>, como </a:t>
            </a: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1400" dirty="0">
                <a:solidFill>
                  <a:srgbClr val="5C5F6B"/>
                </a:solidFill>
              </a:rPr>
              <a:t>→ </a:t>
            </a: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</a:t>
            </a:r>
            <a:r>
              <a:rPr lang="en-US" sz="1400" dirty="0">
                <a:solidFill>
                  <a:srgbClr val="5C5F6B"/>
                </a:solidFill>
              </a:rPr>
              <a:t>)</a:t>
            </a:r>
            <a:endParaRPr lang="en-US" sz="14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img_d5582d9940394a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6186" y="1984248"/>
            <a:ext cx="976579" cy="97657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22064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스물다섯 살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4322064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[스물다섣쌀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395216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Mateo · 25 años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5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6" name="dibujo_2" descr="C:\Users\Chingu\AppData\Local\Temp\claude\C--Users-Chingu-Desktop-ACADEMIASEULWEB\d4111e1b-5523-44ea-97b2-b1a1d9545b9e\scratchpad\decks\cache\img_c388cc8c19adcc2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610" y="1984248"/>
            <a:ext cx="976579" cy="976579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95488" y="297911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스물여덟 살</a:t>
            </a:r>
            <a:endParaRPr lang="en-US" sz="2500" dirty="0"/>
          </a:p>
        </p:txBody>
      </p:sp>
      <p:sp>
        <p:nvSpPr>
          <p:cNvPr id="18" name="Text 11"/>
          <p:cNvSpPr txBox="1"/>
          <p:nvPr/>
        </p:nvSpPr>
        <p:spPr>
          <a:xfrm>
            <a:off x="8095488" y="3386023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[스물려덜쌀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8168640" y="3660343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</a:t>
            </a:r>
            <a:r>
              <a:rPr lang="en-US" sz="1600" dirty="0">
                <a:solidFill>
                  <a:srgbClr val="5C5F6B"/>
                </a:solidFill>
              </a:rPr>
              <a:t>· 28 años</a:t>
            </a:r>
            <a:endParaRPr lang="en-US" sz="1600" dirty="0"/>
          </a:p>
        </p:txBody>
      </p:sp>
      <p:pic>
        <p:nvPicPr>
          <p:cNvPr id="30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1" name="card_3"/>
          <p:cNvSpPr/>
          <p:nvPr/>
        </p:nvSpPr>
        <p:spPr>
          <a:xfrm>
            <a:off x="2435352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2" name="dibujo_3" descr="C:\Users\Chingu\AppData\Local\Temp\claude\C--Users-Chingu-Desktop-ACADEMIASEULWEB\d4111e1b-5523-44ea-97b2-b1a1d9545b9e\scratchpad\decks\cache\img_f38a2c0e3e8885d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9474" y="4247388"/>
            <a:ext cx="976579" cy="976579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435352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 살</a:t>
            </a:r>
            <a:endParaRPr lang="en-US" sz="2500" dirty="0"/>
          </a:p>
        </p:txBody>
      </p:sp>
      <p:sp>
        <p:nvSpPr>
          <p:cNvPr id="24" name="Text 15"/>
          <p:cNvSpPr txBox="1"/>
          <p:nvPr/>
        </p:nvSpPr>
        <p:spPr>
          <a:xfrm>
            <a:off x="2508504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Valentina · 30 años (extra: 서른</a:t>
            </a:r>
            <a:r>
              <a:rPr lang="en-US" sz="1400" dirty="0">
                <a:solidFill>
                  <a:srgbClr val="5C5F6B"/>
                </a:solidFill>
              </a:rPr>
              <a:t>)</a:t>
            </a:r>
            <a:endParaRPr lang="en-US" sz="1400" dirty="0"/>
          </a:p>
        </p:txBody>
      </p:sp>
      <p:pic>
        <p:nvPicPr>
          <p:cNvPr id="31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577840" y="4210812"/>
            <a:ext cx="310896" cy="310896"/>
          </a:xfrm>
          <a:prstGeom prst="rect">
            <a:avLst/>
          </a:prstGeom>
        </p:spPr>
      </p:pic>
      <p:sp>
        <p:nvSpPr>
          <p:cNvPr id="26" name="card_4"/>
          <p:cNvSpPr/>
          <p:nvPr/>
        </p:nvSpPr>
        <p:spPr>
          <a:xfrm>
            <a:off x="6208776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7" name="dibujo_4" descr="C:\Users\Chingu\AppData\Local\Temp\claude\C--Users-Chingu-Desktop-ACADEMIASEULWEB\d4111e1b-5523-44ea-97b2-b1a1d9545b9e\scratchpad\decks\cache\img_c37bb49b34aa5ab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2898" y="4247388"/>
            <a:ext cx="976579" cy="976579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208776" y="5242255"/>
            <a:ext cx="35448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서른세 살</a:t>
            </a:r>
            <a:endParaRPr lang="en-US" sz="2500" dirty="0"/>
          </a:p>
        </p:txBody>
      </p:sp>
      <p:sp>
        <p:nvSpPr>
          <p:cNvPr id="29" name="Text 18"/>
          <p:cNvSpPr txBox="1"/>
          <p:nvPr/>
        </p:nvSpPr>
        <p:spPr>
          <a:xfrm>
            <a:off x="6281928" y="5649163"/>
            <a:ext cx="339852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</a:t>
            </a:r>
            <a:r>
              <a:rPr lang="en-US" sz="1600" dirty="0">
                <a:solidFill>
                  <a:srgbClr val="5C5F6B"/>
                </a:solidFill>
              </a:rPr>
              <a:t>· 33 años (</a:t>
            </a: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</a:t>
            </a:r>
            <a:r>
              <a:rPr lang="en-US" sz="1600" dirty="0">
                <a:solidFill>
                  <a:srgbClr val="5C5F6B"/>
                </a:solidFill>
              </a:rPr>
              <a:t>→ </a:t>
            </a: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</a:t>
            </a:r>
            <a:r>
              <a:rPr lang="en-US" sz="1600" dirty="0">
                <a:solidFill>
                  <a:srgbClr val="5C5F6B"/>
                </a:solidFill>
              </a:rPr>
              <a:t>)</a:t>
            </a:r>
            <a:endParaRPr lang="en-US" sz="1600" dirty="0"/>
          </a:p>
        </p:txBody>
      </p:sp>
      <p:pic>
        <p:nvPicPr>
          <p:cNvPr id="20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351264" y="42108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 봐요  </a:t>
            </a:r>
            <a:r>
              <a:rPr lang="en-US" sz="3000" b="1" dirty="0">
                <a:solidFill>
                  <a:srgbClr val="003478"/>
                </a:solidFill>
              </a:rPr>
              <a:t>Escucha a Jay</a:t>
            </a:r>
            <a:r>
              <a:rPr lang="en-US" sz="1500" b="1" i="1" dirty="0">
                <a:solidFill>
                  <a:srgbClr val="8A8DA0"/>
                </a:solidFill>
              </a:rPr>
              <a:t>   Listen to Jay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Jay lo dice dos veces · escribe solo la cifra en el chat · Escucha y escribe el número en el chat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Clave de la puerta de 하나 </a:t>
            </a:r>
            <a:r>
              <a:rPr lang="en-US" sz="1900" dirty="0">
                <a:solidFill>
                  <a:srgbClr val="14142B"/>
                </a:solidFill>
              </a:rPr>
              <a:t>(4 cifras)</a:t>
            </a:r>
            <a:endParaRPr lang="en-US" sz="1900" dirty="0"/>
          </a:p>
        </p:txBody>
      </p:sp>
      <p:sp>
        <p:nvSpPr>
          <p:cNvPr id="7" name="rev_29_caja"/>
          <p:cNvSpPr/>
          <p:nvPr/>
        </p:nvSpPr>
        <p:spPr>
          <a:xfrm>
            <a:off x="6702552" y="200253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9_txt"/>
          <p:cNvSpPr txBox="1"/>
          <p:nvPr/>
        </p:nvSpPr>
        <p:spPr>
          <a:xfrm>
            <a:off x="6793992" y="200253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칠이공오 </a:t>
            </a:r>
            <a:r>
              <a:rPr lang="en-US" sz="2200" b="1" dirty="0">
                <a:solidFill>
                  <a:srgbClr val="FFFFFF"/>
                </a:solidFill>
              </a:rPr>
              <a:t>→ 7205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900" dirty="0">
                <a:solidFill>
                  <a:srgbClr val="14142B"/>
                </a:solidFill>
              </a:rPr>
              <a:t>Clave del Wi-Fi del café (4 cifras)</a:t>
            </a:r>
            <a:endParaRPr lang="en-US" sz="1900" dirty="0"/>
          </a:p>
        </p:txBody>
      </p:sp>
      <p:sp>
        <p:nvSpPr>
          <p:cNvPr id="12" name="rev_30_caja"/>
          <p:cNvSpPr/>
          <p:nvPr/>
        </p:nvSpPr>
        <p:spPr>
          <a:xfrm>
            <a:off x="6702552" y="2724912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30_txt"/>
          <p:cNvSpPr txBox="1"/>
          <p:nvPr/>
        </p:nvSpPr>
        <p:spPr>
          <a:xfrm>
            <a:off x="6793992" y="272491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삼구팔일 </a:t>
            </a:r>
            <a:r>
              <a:rPr lang="en-US" sz="2200" b="1" dirty="0">
                <a:solidFill>
                  <a:srgbClr val="FFFFFF"/>
                </a:solidFill>
              </a:rPr>
              <a:t>→ 3981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900" dirty="0">
                <a:solidFill>
                  <a:srgbClr val="14142B"/>
                </a:solidFill>
              </a:rPr>
              <a:t>¿Cuántos años tiene el gato de Valentina?</a:t>
            </a:r>
            <a:endParaRPr lang="en-US" sz="1900" dirty="0"/>
          </a:p>
        </p:txBody>
      </p:sp>
      <p:sp>
        <p:nvSpPr>
          <p:cNvPr id="17" name="rev_31_caja"/>
          <p:cNvSpPr/>
          <p:nvPr/>
        </p:nvSpPr>
        <p:spPr>
          <a:xfrm>
            <a:off x="6702552" y="3447288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31_txt"/>
          <p:cNvSpPr txBox="1"/>
          <p:nvPr/>
        </p:nvSpPr>
        <p:spPr>
          <a:xfrm>
            <a:off x="6793992" y="3447288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씨 고양이는 아홉 살이에요</a:t>
            </a:r>
            <a:r>
              <a:rPr lang="en-US" sz="1700" b="1" dirty="0">
                <a:solidFill>
                  <a:srgbClr val="FFFFFF"/>
                </a:solidFill>
              </a:rPr>
              <a:t>. → 9</a:t>
            </a:r>
            <a:endParaRPr lang="en-US" sz="17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¿Cuántos panes compra Mateo?</a:t>
            </a:r>
            <a:endParaRPr lang="en-US" sz="2200" dirty="0"/>
          </a:p>
        </p:txBody>
      </p:sp>
      <p:sp>
        <p:nvSpPr>
          <p:cNvPr id="22" name="rev_32_caja"/>
          <p:cNvSpPr/>
          <p:nvPr/>
        </p:nvSpPr>
        <p:spPr>
          <a:xfrm>
            <a:off x="6702552" y="4169664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2_txt"/>
          <p:cNvSpPr txBox="1"/>
          <p:nvPr/>
        </p:nvSpPr>
        <p:spPr>
          <a:xfrm>
            <a:off x="6793992" y="4169664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마테오 씨는 빵을 다섯 개 사요</a:t>
            </a:r>
            <a:r>
              <a:rPr lang="en-US" sz="2000" b="1" dirty="0">
                <a:solidFill>
                  <a:srgbClr val="FFFFFF"/>
                </a:solidFill>
              </a:rPr>
              <a:t>. → 5</a:t>
            </a:r>
            <a:endParaRPr lang="en-US" sz="20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¿Cuántas manzanas hay en la casa de 도윤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27" name="rev_33_caja"/>
          <p:cNvSpPr/>
          <p:nvPr/>
        </p:nvSpPr>
        <p:spPr>
          <a:xfrm>
            <a:off x="6702552" y="4892040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33_txt"/>
          <p:cNvSpPr txBox="1"/>
          <p:nvPr/>
        </p:nvSpPr>
        <p:spPr>
          <a:xfrm>
            <a:off x="6793992" y="4892040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도윤 씨 집에 사과가 열 개 있어요</a:t>
            </a:r>
            <a:r>
              <a:rPr lang="en-US" sz="1800" b="1" dirty="0">
                <a:solidFill>
                  <a:srgbClr val="FFFFFF"/>
                </a:solidFill>
              </a:rPr>
              <a:t>. → 10</a:t>
            </a:r>
            <a:endParaRPr lang="en-US" sz="18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</a:t>
            </a:r>
            <a:r>
              <a:rPr lang="en-US" sz="2400" dirty="0">
                <a:solidFill>
                  <a:srgbClr val="14142B"/>
                </a:solidFill>
              </a:rPr>
              <a:t>: ¿3 o 4 años?</a:t>
            </a:r>
            <a:endParaRPr lang="en-US" sz="2400" dirty="0"/>
          </a:p>
        </p:txBody>
      </p:sp>
      <p:sp>
        <p:nvSpPr>
          <p:cNvPr id="32" name="rev_34_caja"/>
          <p:cNvSpPr/>
          <p:nvPr/>
        </p:nvSpPr>
        <p:spPr>
          <a:xfrm>
            <a:off x="6702552" y="561441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34_txt"/>
          <p:cNvSpPr txBox="1"/>
          <p:nvPr/>
        </p:nvSpPr>
        <p:spPr>
          <a:xfrm>
            <a:off x="6793992" y="561441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콩이는 세 살이에요</a:t>
            </a:r>
            <a:r>
              <a:rPr lang="en-US" sz="1600" b="1" dirty="0">
                <a:solidFill>
                  <a:srgbClr val="FFFFFF"/>
                </a:solidFill>
              </a:rPr>
              <a:t>.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살이 아니에요</a:t>
            </a:r>
            <a:r>
              <a:rPr lang="en-US" sz="1600" b="1" dirty="0">
                <a:solidFill>
                  <a:srgbClr val="FFFFFF"/>
                </a:solidFill>
              </a:rPr>
              <a:t>. → 3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2600" b="1" dirty="0">
                <a:solidFill>
                  <a:srgbClr val="4236F6"/>
                </a:solidFill>
              </a:rPr>
              <a:t>,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2600" b="1" dirty="0">
                <a:solidFill>
                  <a:srgbClr val="4236F6"/>
                </a:solidFill>
              </a:rPr>
              <a:t>,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2600" b="1" dirty="0">
                <a:solidFill>
                  <a:srgbClr val="4236F6"/>
                </a:solidFill>
              </a:rPr>
              <a:t>!  </a:t>
            </a:r>
            <a:r>
              <a:rPr lang="en-US" sz="2600" b="1" dirty="0">
                <a:solidFill>
                  <a:srgbClr val="003478"/>
                </a:solidFill>
              </a:rPr>
              <a:t>Drill: dedos en cámara</a:t>
            </a:r>
            <a:r>
              <a:rPr lang="en-US" sz="1500" b="1" i="1" dirty="0">
                <a:solidFill>
                  <a:srgbClr val="8A8DA0"/>
                </a:solidFill>
              </a:rPr>
              <a:t>   Drill: fingers on camera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Rápido y sin miedo · cámaras encendidas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Jay muestra dedos → dices el número: 하나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2200" dirty="0">
                <a:solidFill>
                  <a:srgbClr val="14142B"/>
                </a:solidFill>
              </a:rPr>
              <a:t>…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Jay dice «일곱 개</a:t>
            </a:r>
            <a:r>
              <a:rPr lang="en-US" sz="2200" dirty="0">
                <a:solidFill>
                  <a:srgbClr val="14142B"/>
                </a:solidFill>
              </a:rPr>
              <a:t>!» → muestras 7 dedos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Jay dice una cifra (칠</a:t>
            </a:r>
            <a:r>
              <a:rPr lang="en-US" sz="2200" dirty="0">
                <a:solidFill>
                  <a:srgbClr val="14142B"/>
                </a:solidFill>
              </a:rPr>
              <a:t>) → dices el número para contar (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</a:t>
            </a:r>
            <a:r>
              <a:rPr lang="en-US" sz="2200" dirty="0">
                <a:solidFill>
                  <a:srgbClr val="14142B"/>
                </a:solidFill>
              </a:rPr>
              <a:t>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Cuenta regresiva en cadena: 열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</a:t>
            </a:r>
            <a:r>
              <a:rPr lang="en-US" sz="2200" dirty="0">
                <a:solidFill>
                  <a:srgbClr val="14142B"/>
                </a:solidFill>
              </a:rPr>
              <a:t>… y nombras al siguiente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Jay dice «셋 </a:t>
            </a:r>
            <a:r>
              <a:rPr lang="en-US" sz="2200" dirty="0">
                <a:solidFill>
                  <a:srgbClr val="14142B"/>
                </a:solidFill>
              </a:rPr>
              <a:t>+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</a:t>
            </a:r>
            <a:r>
              <a:rPr lang="en-US" sz="2200" dirty="0">
                <a:solidFill>
                  <a:srgbClr val="14142B"/>
                </a:solidFill>
              </a:rPr>
              <a:t>» → respondes «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살</a:t>
            </a:r>
            <a:r>
              <a:rPr lang="en-US" sz="2200" dirty="0">
                <a:solidFill>
                  <a:srgbClr val="14142B"/>
                </a:solidFill>
              </a:rPr>
              <a:t>!»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6700" b="1" dirty="0">
                <a:solidFill>
                  <a:srgbClr val="4236F6"/>
                </a:solidFill>
              </a:rPr>
              <a:t>,</a:t>
            </a:r>
            <a:endParaRPr lang="en-US" sz="6700" dirty="0"/>
          </a:p>
          <a:p>
            <a:pPr marL="0" indent="0" algn="ctr" eaLnBrk="1">
              <a:buNone/>
            </a:pPr>
            <a:r>
              <a:rPr lang="ko-KR" altLang="en-US" sz="6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6700" b="1" dirty="0">
                <a:solidFill>
                  <a:srgbClr val="4236F6"/>
                </a:solidFill>
              </a:rPr>
              <a:t>, </a:t>
            </a:r>
            <a:r>
              <a:rPr lang="ko-KR" altLang="en-US" sz="6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6700" b="1" dirty="0">
                <a:solidFill>
                  <a:srgbClr val="4236F6"/>
                </a:solidFill>
              </a:rPr>
              <a:t>!</a:t>
            </a:r>
            <a:endParaRPr lang="en-US" sz="6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봐요  </a:t>
            </a:r>
            <a:r>
              <a:rPr lang="en-US" sz="3000" b="1" dirty="0">
                <a:solidFill>
                  <a:srgbClr val="003478"/>
                </a:solidFill>
              </a:rPr>
              <a:t>Lectura en cadena</a:t>
            </a:r>
            <a:r>
              <a:rPr lang="en-US" sz="1500" b="1" i="1" dirty="0">
                <a:solidFill>
                  <a:srgbClr val="8A8DA0"/>
                </a:solidFill>
              </a:rPr>
              <a:t>   Chain reading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Cada uno lee dos, en el orden de la lista de Zoom</a:t>
            </a:r>
            <a:endParaRPr lang="en-US" sz="1800" dirty="0"/>
          </a:p>
        </p:txBody>
      </p:sp>
      <p:sp>
        <p:nvSpPr>
          <p:cNvPr id="4" name="tile_0"/>
          <p:cNvSpPr/>
          <p:nvPr/>
        </p:nvSpPr>
        <p:spPr>
          <a:xfrm>
            <a:off x="548640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4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17662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4</a:t>
            </a:r>
            <a:endParaRPr lang="en-US" sz="1700" dirty="0"/>
          </a:p>
        </p:txBody>
      </p:sp>
      <p:sp>
        <p:nvSpPr>
          <p:cNvPr id="7" name="tile_1"/>
          <p:cNvSpPr/>
          <p:nvPr/>
        </p:nvSpPr>
        <p:spPr>
          <a:xfrm>
            <a:off x="2812694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2694" y="194767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개</a:t>
            </a:r>
            <a:endParaRPr lang="en-US" sz="4100" dirty="0"/>
          </a:p>
        </p:txBody>
      </p:sp>
      <p:sp>
        <p:nvSpPr>
          <p:cNvPr id="9" name="Text 7"/>
          <p:cNvSpPr txBox="1"/>
          <p:nvPr/>
        </p:nvSpPr>
        <p:spPr>
          <a:xfrm>
            <a:off x="2858414" y="317662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4 cosas</a:t>
            </a:r>
            <a:endParaRPr lang="en-US" sz="1700" dirty="0"/>
          </a:p>
        </p:txBody>
      </p:sp>
      <p:sp>
        <p:nvSpPr>
          <p:cNvPr id="10" name="tile_2"/>
          <p:cNvSpPr/>
          <p:nvPr/>
        </p:nvSpPr>
        <p:spPr>
          <a:xfrm>
            <a:off x="5076749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6749" y="194767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4100" dirty="0"/>
          </a:p>
        </p:txBody>
      </p:sp>
      <p:sp>
        <p:nvSpPr>
          <p:cNvPr id="12" name="Text 10"/>
          <p:cNvSpPr txBox="1"/>
          <p:nvPr/>
        </p:nvSpPr>
        <p:spPr>
          <a:xfrm>
            <a:off x="5122469" y="317662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ile_3"/>
          <p:cNvSpPr/>
          <p:nvPr/>
        </p:nvSpPr>
        <p:spPr>
          <a:xfrm>
            <a:off x="7340803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0803" y="194767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살</a:t>
            </a:r>
            <a:endParaRPr lang="en-US" sz="4100" dirty="0"/>
          </a:p>
        </p:txBody>
      </p:sp>
      <p:sp>
        <p:nvSpPr>
          <p:cNvPr id="15" name="Text 13"/>
          <p:cNvSpPr txBox="1"/>
          <p:nvPr/>
        </p:nvSpPr>
        <p:spPr>
          <a:xfrm>
            <a:off x="7386523" y="317662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3 años</a:t>
            </a:r>
            <a:endParaRPr lang="en-US" sz="1700" dirty="0"/>
          </a:p>
        </p:txBody>
      </p:sp>
      <p:sp>
        <p:nvSpPr>
          <p:cNvPr id="16" name="tile_4"/>
          <p:cNvSpPr/>
          <p:nvPr/>
        </p:nvSpPr>
        <p:spPr>
          <a:xfrm>
            <a:off x="9604858" y="187452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4858" y="194767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</a:t>
            </a:r>
            <a:endParaRPr lang="en-US" sz="4100" dirty="0"/>
          </a:p>
        </p:txBody>
      </p:sp>
      <p:sp>
        <p:nvSpPr>
          <p:cNvPr id="18" name="Text 16"/>
          <p:cNvSpPr txBox="1"/>
          <p:nvPr/>
        </p:nvSpPr>
        <p:spPr>
          <a:xfrm>
            <a:off x="9650578" y="317662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8</a:t>
            </a:r>
            <a:endParaRPr lang="en-US" sz="1700" dirty="0"/>
          </a:p>
        </p:txBody>
      </p:sp>
      <p:sp>
        <p:nvSpPr>
          <p:cNvPr id="19" name="tile_5"/>
          <p:cNvSpPr/>
          <p:nvPr/>
        </p:nvSpPr>
        <p:spPr>
          <a:xfrm>
            <a:off x="548640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1081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 개</a:t>
            </a:r>
            <a:endParaRPr lang="en-US" sz="4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43976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8 cosas</a:t>
            </a:r>
            <a:endParaRPr lang="en-US" sz="1700" dirty="0"/>
          </a:p>
        </p:txBody>
      </p:sp>
      <p:sp>
        <p:nvSpPr>
          <p:cNvPr id="22" name="tile_6"/>
          <p:cNvSpPr/>
          <p:nvPr/>
        </p:nvSpPr>
        <p:spPr>
          <a:xfrm>
            <a:off x="2812694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12694" y="421081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4100" dirty="0"/>
          </a:p>
        </p:txBody>
      </p:sp>
      <p:sp>
        <p:nvSpPr>
          <p:cNvPr id="24" name="Text 22"/>
          <p:cNvSpPr txBox="1"/>
          <p:nvPr/>
        </p:nvSpPr>
        <p:spPr>
          <a:xfrm>
            <a:off x="2858414" y="543976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10</a:t>
            </a:r>
            <a:endParaRPr lang="en-US" sz="1700" dirty="0"/>
          </a:p>
        </p:txBody>
      </p:sp>
      <p:sp>
        <p:nvSpPr>
          <p:cNvPr id="25" name="tile_7"/>
          <p:cNvSpPr/>
          <p:nvPr/>
        </p:nvSpPr>
        <p:spPr>
          <a:xfrm>
            <a:off x="5076749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76749" y="421081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 살</a:t>
            </a:r>
            <a:endParaRPr lang="en-US" sz="4100" dirty="0"/>
          </a:p>
        </p:txBody>
      </p:sp>
      <p:sp>
        <p:nvSpPr>
          <p:cNvPr id="27" name="Text 25"/>
          <p:cNvSpPr txBox="1"/>
          <p:nvPr/>
        </p:nvSpPr>
        <p:spPr>
          <a:xfrm>
            <a:off x="5122469" y="543976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10 años</a:t>
            </a:r>
            <a:endParaRPr lang="en-US" sz="1700" dirty="0"/>
          </a:p>
        </p:txBody>
      </p:sp>
      <p:sp>
        <p:nvSpPr>
          <p:cNvPr id="28" name="tile_8"/>
          <p:cNvSpPr/>
          <p:nvPr/>
        </p:nvSpPr>
        <p:spPr>
          <a:xfrm>
            <a:off x="7340803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40803" y="421081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</a:t>
            </a:r>
            <a:endParaRPr lang="en-US" sz="4100" dirty="0"/>
          </a:p>
        </p:txBody>
      </p:sp>
      <p:sp>
        <p:nvSpPr>
          <p:cNvPr id="30" name="Text 28"/>
          <p:cNvSpPr txBox="1"/>
          <p:nvPr/>
        </p:nvSpPr>
        <p:spPr>
          <a:xfrm>
            <a:off x="7386523" y="543976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¿cuántos?</a:t>
            </a:r>
            <a:endParaRPr lang="en-US" sz="1700" dirty="0"/>
          </a:p>
        </p:txBody>
      </p:sp>
      <p:sp>
        <p:nvSpPr>
          <p:cNvPr id="31" name="tile_9"/>
          <p:cNvSpPr/>
          <p:nvPr/>
        </p:nvSpPr>
        <p:spPr>
          <a:xfrm>
            <a:off x="9604858" y="4137660"/>
            <a:ext cx="2035454" cy="2034540"/>
          </a:xfrm>
          <a:prstGeom prst="roundRect">
            <a:avLst>
              <a:gd name="adj" fmla="val 6742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04858" y="4210812"/>
            <a:ext cx="2035454" cy="12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</a:t>
            </a:r>
            <a:endParaRPr lang="en-US" sz="4100" dirty="0"/>
          </a:p>
        </p:txBody>
      </p:sp>
      <p:sp>
        <p:nvSpPr>
          <p:cNvPr id="33" name="Text 31"/>
          <p:cNvSpPr txBox="1"/>
          <p:nvPr/>
        </p:nvSpPr>
        <p:spPr>
          <a:xfrm>
            <a:off x="9650578" y="5439766"/>
            <a:ext cx="194401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700" dirty="0">
                <a:solidFill>
                  <a:srgbClr val="5C5F6B"/>
                </a:solidFill>
              </a:rPr>
              <a:t>¿cuántos años?</a:t>
            </a:r>
            <a:endParaRPr lang="en-US" sz="17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  </a:t>
            </a:r>
            <a:r>
              <a:rPr lang="en-US" sz="3000" b="1" dirty="0">
                <a:solidFill>
                  <a:srgbClr val="003478"/>
                </a:solidFill>
              </a:rPr>
              <a:t>Salas · 1. Mi escritorio y mi casa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5 minutos · en parejas · las frases están en tu hoja («Para la sala de Zoom»)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Muestra a la cámara 3 cosas de tu escritorio o tu bolso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 pareja pregunta: 연필이 몇 개 있어요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Respondes: 두 개 있어요</a:t>
            </a:r>
            <a:r>
              <a:rPr lang="en-US" sz="2200" dirty="0">
                <a:solidFill>
                  <a:srgbClr val="14142B"/>
                </a:solidFill>
              </a:rPr>
              <a:t>. 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연필이 없어요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Luego: 집에 의자가 몇 개 있어요</a:t>
            </a:r>
            <a:r>
              <a:rPr lang="en-US" sz="2200" dirty="0">
                <a:solidFill>
                  <a:srgbClr val="14142B"/>
                </a:solidFill>
              </a:rPr>
              <a:t>?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시계가 몇 개 있어요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Y: 강아지가 있어요</a:t>
            </a:r>
            <a:r>
              <a:rPr lang="en-US" sz="2200" dirty="0">
                <a:solidFill>
                  <a:srgbClr val="14142B"/>
                </a:solidFill>
              </a:rPr>
              <a:t>?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있어요</a:t>
            </a:r>
            <a:r>
              <a:rPr lang="en-US" sz="2200" dirty="0">
                <a:solidFill>
                  <a:srgbClr val="14142B"/>
                </a:solidFill>
              </a:rPr>
              <a:t>?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¿No sabes el nombre? 이거 몇 개 있어요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이야기해요</a:t>
            </a:r>
            <a:endParaRPr lang="en-US" sz="4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01200" y="498348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해요 </a:t>
            </a:r>
            <a:r>
              <a:rPr lang="en-US" sz="2200" b="1" dirty="0">
                <a:solidFill>
                  <a:srgbClr val="4236F6"/>
                </a:solidFill>
              </a:rPr>
              <a:t>·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가게  </a:t>
            </a:r>
            <a:r>
              <a:rPr lang="en-US" sz="2200" b="1" dirty="0">
                <a:solidFill>
                  <a:srgbClr val="003478"/>
                </a:solidFill>
              </a:rPr>
              <a:t>Salas · 2. Juego: la tienda secreta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7 minutos · 1 punto por cada número correcto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Antes de entrar, en un papel y sin mostrar: 4 cosas con un número del 0 al 10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Elige de esta lista: 빵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바나나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모자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인형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pregunta: 빵이 몇 개 있어요</a:t>
            </a:r>
            <a:r>
              <a:rPr lang="en-US" sz="2000" dirty="0">
                <a:solidFill>
                  <a:srgbClr val="14142B"/>
                </a:solidFill>
              </a:rPr>
              <a:t>? → B: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개 있어요</a:t>
            </a:r>
            <a:r>
              <a:rPr lang="en-US" sz="2000" dirty="0">
                <a:solidFill>
                  <a:srgbClr val="14142B"/>
                </a:solidFill>
              </a:rPr>
              <a:t>. /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 없어요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A anota el número. Cuatro preguntas y cambian.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¿No entendiste? Di «네</a:t>
            </a:r>
            <a:r>
              <a:rPr lang="en-US" sz="2000" dirty="0">
                <a:solidFill>
                  <a:srgbClr val="14142B"/>
                </a:solidFill>
              </a:rPr>
              <a:t>?» y tu pareja repite la frase y muestra el número con los dedos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Al final, papeles a la cámara: 1 punto por número correcto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해요</a:t>
            </a:r>
            <a:endParaRPr lang="en-US" sz="4500" dirty="0"/>
          </a:p>
          <a:p>
            <a:pPr marL="0" indent="0" algn="ctr" eaLnBrk="1">
              <a:buNone/>
            </a:pPr>
            <a:r>
              <a:rPr lang="ko-KR" altLang="en-US" sz="45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우리 가게</a:t>
            </a:r>
            <a:endParaRPr lang="en-US" sz="4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Salas · 3. Adivina la edad + minuto libre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4 minutos de juego + 3 minutos libres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dice de quién habla (우리 강아지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고양이 </a:t>
            </a:r>
            <a:r>
              <a:rPr lang="en-US" sz="2000" dirty="0">
                <a:solidFill>
                  <a:srgbClr val="14142B"/>
                </a:solidFill>
              </a:rPr>
              <a:t>· un niño de su familia) y piensa una edad secreta del 1 al 10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adivina: 다섯 살이에요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아니요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 살이 아니에요</a:t>
            </a:r>
            <a:r>
              <a:rPr lang="en-US" sz="2000" dirty="0">
                <a:solidFill>
                  <a:srgbClr val="14142B"/>
                </a:solidFill>
              </a:rPr>
              <a:t>. (pulgar arriba = más · pulgar abajo = menos)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여섯 살이에요</a:t>
            </a:r>
            <a:r>
              <a:rPr lang="en-US" sz="2000" dirty="0">
                <a:solidFill>
                  <a:srgbClr val="14142B"/>
                </a:solidFill>
              </a:rPr>
              <a:t>? → A: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살이에요</a:t>
            </a:r>
            <a:r>
              <a:rPr lang="en-US" sz="2000" dirty="0">
                <a:solidFill>
                  <a:srgbClr val="14142B"/>
                </a:solidFill>
              </a:rPr>
              <a:t>!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Menos intentos = gana. Cambian.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Minuto libre (3 min): tu casa con 몇 개 </a:t>
            </a:r>
            <a:r>
              <a:rPr lang="en-US" sz="2000" dirty="0">
                <a:solidFill>
                  <a:srgbClr val="14142B"/>
                </a:solidFill>
              </a:rPr>
              <a:t>o tu familia con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해요 </a:t>
            </a:r>
            <a:r>
              <a:rPr lang="en-US" sz="3900" b="1" dirty="0">
                <a:solidFill>
                  <a:srgbClr val="4236F6"/>
                </a:solidFill>
              </a:rPr>
              <a:t>·</a:t>
            </a:r>
            <a:endParaRPr lang="en-US" sz="3900" dirty="0"/>
          </a:p>
          <a:p>
            <a:pPr marL="0" indent="0" algn="ctr" eaLnBrk="1">
              <a:buNone/>
            </a:pPr>
            <a:r>
              <a:rPr lang="ko-KR" altLang="en-US" sz="3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3900" b="1" dirty="0">
                <a:solidFill>
                  <a:srgbClr val="4236F6"/>
                </a:solidFill>
              </a:rPr>
              <a:t>?</a:t>
            </a:r>
            <a:endParaRPr lang="en-US" sz="3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문장  </a:t>
            </a:r>
            <a:r>
              <a:rPr lang="en-US" sz="3000" b="1" dirty="0">
                <a:solidFill>
                  <a:srgbClr val="003478"/>
                </a:solidFill>
              </a:rPr>
              <a:t>3 frases clave</a:t>
            </a:r>
            <a:r>
              <a:rPr lang="en-US" sz="1500" b="1" i="1" dirty="0">
                <a:solidFill>
                  <a:srgbClr val="8A8DA0"/>
                </a:solidFill>
              </a:rPr>
              <a:t>   3 key phrases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coro, dos veces cada una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 있어요</a:t>
            </a:r>
            <a:r>
              <a:rPr lang="en-US" sz="3400" b="1" dirty="0">
                <a:solidFill>
                  <a:srgbClr val="4236F6"/>
                </a:solidFill>
              </a:rPr>
              <a:t>?</a:t>
            </a:r>
            <a:endParaRPr lang="en-US" sz="3400" dirty="0"/>
          </a:p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개 있어요</a:t>
            </a:r>
            <a:r>
              <a:rPr lang="en-US" sz="3400" b="1" dirty="0">
                <a:solidFill>
                  <a:srgbClr val="4236F6"/>
                </a:solidFill>
              </a:rPr>
              <a:t>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61181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[멷깨 이써요</a:t>
            </a:r>
            <a:r>
              <a:rPr lang="en-US" sz="1300" dirty="0">
                <a:solidFill>
                  <a:srgbClr val="8A8DA0"/>
                </a:solidFill>
              </a:rPr>
              <a:t>? 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개 이써요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4235501"/>
            <a:ext cx="3398520" cy="1863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¿Cuántos hay? Hay cuatro.</a:t>
            </a:r>
            <a:endParaRPr lang="en-US" sz="16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4322064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322064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살이에요</a:t>
            </a:r>
            <a:r>
              <a:rPr lang="en-US" sz="3400" b="1" dirty="0">
                <a:solidFill>
                  <a:srgbClr val="4236F6"/>
                </a:solidFill>
              </a:rPr>
              <a:t>?</a:t>
            </a:r>
            <a:endParaRPr lang="en-US" sz="3400" dirty="0"/>
          </a:p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살이에요</a:t>
            </a:r>
            <a:r>
              <a:rPr lang="en-US" sz="3400" b="1" dirty="0">
                <a:solidFill>
                  <a:srgbClr val="4236F6"/>
                </a:solidFill>
              </a:rPr>
              <a:t>.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4322064" y="3961181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[멷싸리에요</a:t>
            </a:r>
            <a:r>
              <a:rPr lang="en-US" sz="1300" dirty="0">
                <a:solidFill>
                  <a:srgbClr val="8A8DA0"/>
                </a:solidFill>
              </a:rPr>
              <a:t>? 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여섣싸리에요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395216" y="4235501"/>
            <a:ext cx="3398520" cy="1863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¿Cuántos años tiene? Tiene seis.</a:t>
            </a:r>
            <a:endParaRPr lang="en-US" sz="1600" dirty="0"/>
          </a:p>
        </p:txBody>
      </p:sp>
      <p:pic>
        <p:nvPicPr>
          <p:cNvPr id="13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464552" y="194767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095488" y="2499970"/>
            <a:ext cx="3544824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3400" b="1" dirty="0">
                <a:solidFill>
                  <a:srgbClr val="4236F6"/>
                </a:solidFill>
              </a:rPr>
              <a:t>, </a:t>
            </a: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</a:t>
            </a:r>
            <a:r>
              <a:rPr lang="en-US" sz="3400" b="1" dirty="0">
                <a:solidFill>
                  <a:srgbClr val="4236F6"/>
                </a:solidFill>
              </a:rPr>
              <a:t>,</a:t>
            </a:r>
            <a:endParaRPr lang="en-US" sz="3400" dirty="0"/>
          </a:p>
          <a:p>
            <a:pPr marL="0" indent="0" algn="ctr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r>
              <a:rPr lang="en-US" sz="3400" b="1" dirty="0">
                <a:solidFill>
                  <a:srgbClr val="4236F6"/>
                </a:solidFill>
              </a:rPr>
              <a:t>, </a:t>
            </a: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r>
              <a:rPr lang="en-US" sz="3400" b="1" dirty="0">
                <a:solidFill>
                  <a:srgbClr val="4236F6"/>
                </a:solidFill>
              </a:rPr>
              <a:t>, </a:t>
            </a: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</a:t>
            </a:r>
            <a:r>
              <a:rPr lang="en-US" sz="3400" b="1" dirty="0">
                <a:solidFill>
                  <a:srgbClr val="4236F6"/>
                </a:solidFill>
              </a:rPr>
              <a:t>!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8168640" y="3961181"/>
            <a:ext cx="339852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¡Uno, dos, tres, cuatro, cinco! (para contar)</a:t>
            </a:r>
            <a:endParaRPr lang="en-US" sz="1600" dirty="0"/>
          </a:p>
        </p:txBody>
      </p:sp>
      <p:pic>
        <p:nvPicPr>
          <p:cNvPr id="17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말해요  </a:t>
            </a:r>
            <a:r>
              <a:rPr lang="en-US" sz="3000" b="1" dirty="0">
                <a:solidFill>
                  <a:srgbClr val="003478"/>
                </a:solidFill>
              </a:rPr>
              <a:t>Errores del día</a:t>
            </a:r>
            <a:r>
              <a:rPr lang="en-US" sz="1500" b="1" i="1" dirty="0">
                <a:solidFill>
                  <a:srgbClr val="8A8DA0"/>
                </a:solidFill>
              </a:rPr>
              <a:t>   Today's mistakes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Cambia o suma los que oíste en las salas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Así no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5400" b="1" dirty="0">
                <a:solidFill>
                  <a:srgbClr val="4236F6"/>
                </a:solidFill>
              </a:rPr>
              <a:t>✗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개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개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 살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개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개 사과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Así sí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5400" b="1" dirty="0">
                <a:solidFill>
                  <a:srgbClr val="4236F6"/>
                </a:solidFill>
              </a:rPr>
              <a:t>✓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개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개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살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개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 두 개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Para recordar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sz="5400" b="1" dirty="0">
                <a:solidFill>
                  <a:srgbClr val="4236F6"/>
                </a:solidFill>
              </a:rPr>
              <a:t>· 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</a:t>
            </a:r>
            <a:endParaRPr lang="en-US" sz="54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r>
              <a:rPr lang="en-US" sz="1800" dirty="0">
                <a:solidFill>
                  <a:srgbClr val="14142B"/>
                </a:solidFill>
              </a:rPr>
              <a:t>: cosas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</a:t>
            </a:r>
            <a:r>
              <a:rPr lang="en-US" sz="1800" dirty="0">
                <a:solidFill>
                  <a:srgbClr val="14142B"/>
                </a:solidFill>
              </a:rPr>
              <a:t>: edad (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살이에요</a:t>
            </a:r>
            <a:r>
              <a:rPr lang="en-US" sz="1800" dirty="0">
                <a:solidFill>
                  <a:srgbClr val="14142B"/>
                </a:solidFill>
              </a:rPr>
              <a:t>)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Animales: otra palabra (más adelante)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  </a:t>
            </a:r>
            <a:r>
              <a:rPr lang="en-US" sz="3000" b="1" dirty="0">
                <a:solidFill>
                  <a:srgbClr val="003478"/>
                </a:solidFill>
              </a:rPr>
              <a:t>Tarea</a:t>
            </a:r>
            <a:r>
              <a:rPr lang="en-US" sz="1500" b="1" i="1" dirty="0">
                <a:solidFill>
                  <a:srgbClr val="8A8DA0"/>
                </a:solidFill>
              </a:rPr>
              <a:t>  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Todo está en tu hoja de la clase 7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Hoja de la clase 7: ejercicios 1 a 4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frases sobre tu casa: 우리 집에 </a:t>
            </a:r>
            <a:r>
              <a:rPr lang="en-US" sz="2000" dirty="0">
                <a:solidFill>
                  <a:srgbClr val="14142B"/>
                </a:solidFill>
              </a:rPr>
              <a:t>___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000" dirty="0">
                <a:solidFill>
                  <a:srgbClr val="14142B"/>
                </a:solidFill>
              </a:rPr>
              <a:t>/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000" dirty="0">
                <a:solidFill>
                  <a:srgbClr val="14142B"/>
                </a:solidFill>
              </a:rPr>
              <a:t>___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있어요</a:t>
            </a:r>
            <a:r>
              <a:rPr lang="en-US" sz="2000" dirty="0">
                <a:solidFill>
                  <a:srgbClr val="14142B"/>
                </a:solidFill>
              </a:rPr>
              <a:t>. (solo cosas: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</a:t>
            </a:r>
            <a:r>
              <a:rPr lang="en-US" sz="2000" dirty="0">
                <a:solidFill>
                  <a:srgbClr val="14142B"/>
                </a:solidFill>
              </a:rPr>
              <a:t>…)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+ 1 frase con una edad: 우리 강아지는 </a:t>
            </a:r>
            <a:r>
              <a:rPr lang="en-US" sz="2000" dirty="0">
                <a:solidFill>
                  <a:srgbClr val="14142B"/>
                </a:solidFill>
              </a:rPr>
              <a:t>___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살이에요</a:t>
            </a:r>
            <a:r>
              <a:rPr lang="en-US" sz="2000" dirty="0">
                <a:solidFill>
                  <a:srgbClr val="14142B"/>
                </a:solidFill>
              </a:rPr>
              <a:t>. (o un niño de tu familia)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Foto de la hoja por privado antes del lunes 7 · opcional: un audio leyendo tus frases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Clase 8: miércoles 9 de diciembre, 21:00 · 코끼리는 커요 </a:t>
            </a:r>
            <a:r>
              <a:rPr lang="en-US" sz="2000" dirty="0">
                <a:solidFill>
                  <a:srgbClr val="14142B"/>
                </a:solidFill>
              </a:rPr>
              <a:t>+ repaso + cierre del curso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 봐요</a:t>
            </a:r>
            <a:endParaRPr lang="en-US" sz="7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3000" b="1" dirty="0">
                <a:solidFill>
                  <a:srgbClr val="FFFFFF"/>
                </a:solidFill>
              </a:rPr>
              <a:t>!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¡Gracias! ¡Ánimo!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FFFFFF"/>
                </a:solidFill>
              </a:rPr>
              <a:t>La clase 8 abre con un quiz de números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 cortito: 몇 개</a:t>
            </a:r>
            <a:r>
              <a:rPr lang="en-US" sz="2200" dirty="0">
                <a:solidFill>
                  <a:srgbClr val="FFFFFF"/>
                </a:solidFill>
              </a:rPr>
              <a:t>? ·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살</a:t>
            </a:r>
            <a:r>
              <a:rPr lang="en-US" sz="2200" dirty="0">
                <a:solidFill>
                  <a:srgbClr val="FFFFFF"/>
                </a:solidFill>
              </a:rPr>
              <a:t>? · ¿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</a:t>
            </a:r>
            <a:r>
              <a:rPr lang="en-US" sz="2200" dirty="0">
                <a:solidFill>
                  <a:srgbClr val="FFFFFF"/>
                </a:solidFill>
              </a:rPr>
              <a:t>o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sz="2200" dirty="0">
                <a:solidFill>
                  <a:srgbClr val="FFFFFF"/>
                </a:solidFill>
              </a:rPr>
              <a:t>?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잘했어요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</a:t>
            </a:r>
            <a:r>
              <a:rPr lang="en-US" sz="2200" dirty="0">
                <a:solidFill>
                  <a:srgbClr val="FFFFFF"/>
                </a:solidFill>
              </a:rPr>
              <a:t>·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6665</Words>
  <Application>Microsoft Office PowerPoint</Application>
  <PresentationFormat>Widescreen</PresentationFormat>
  <Paragraphs>532</Paragraphs>
  <Slides>30</Slides>
  <Notes>30</Notes>
  <HiddenSlides>0</HiddenSlides>
  <MMClips>53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Malgun Gothic</vt:lpstr>
      <vt:lpstr>Arial</vt:lpstr>
      <vt:lpstr>Academia Seul</vt:lpstr>
      <vt:lpstr>Básico 2 · Clase 7</vt:lpstr>
      <vt:lpstr>복습 퀴즈  Quiz de la clase 6   Class 6 quiz</vt:lpstr>
      <vt:lpstr>본문  Domingo en casa de 도윤   Sunday at 도윤's</vt:lpstr>
      <vt:lpstr>배워 봐요 · 일, 이, 삼  Números para leer cifras (1)</vt:lpstr>
      <vt:lpstr>배워 봐요 · 육, 칠, 팔  Números para leer cifras (2)</vt:lpstr>
      <vt:lpstr>배워 봐요 · 하나, 둘, 셋  Números para contar (1)</vt:lpstr>
      <vt:lpstr>배워 봐요 · 여섯 … 열  Números para contar (2)   Native Korean numbers (2)</vt:lpstr>
      <vt:lpstr>일, 이, 삼 · 하나, 둘, 셋  Dos juegos de números   Two sets of numbers</vt:lpstr>
      <vt:lpstr>일? 하나?  ¿Cuál uso?   Which one do I use?</vt:lpstr>
      <vt:lpstr>연습해요  ¿Qué número es?   Which number is it?</vt:lpstr>
      <vt:lpstr>연습해요  ¿일 o 하나?   Sino or native?</vt:lpstr>
      <vt:lpstr>배워 봐요 · 개  ¿Cuántas cosas? ___ 개   Counting things with 개</vt:lpstr>
      <vt:lpstr>배워 봐요 · 살  ¿Cuántos años? ___ 살   Saying age with 살</vt:lpstr>
      <vt:lpstr>하나 → 한  Cuatro números se acortan   Four numbers get shorter</vt:lpstr>
      <vt:lpstr>몇 개 있어요?  ¿Cuántos hay?   How many are there?</vt:lpstr>
      <vt:lpstr>몇 살이에요?  ¿Cuántos años tiene?   How old is…?</vt:lpstr>
      <vt:lpstr>연습해요  ¿Cuántos hay?   How many?</vt:lpstr>
      <vt:lpstr>연습해요  ¿Cuántos años tiene?   How old?</vt:lpstr>
      <vt:lpstr>여러분은요?  ¿Y ustedes?   And you?</vt:lpstr>
      <vt:lpstr>스물 · 서른  Bonus: edades de adultos   Bonus: adult ages</vt:lpstr>
      <vt:lpstr>들어 봐요  Escucha a Jay   Listen to Jay</vt:lpstr>
      <vt:lpstr>하나, 둘, 셋!  Drill: dedos en cámara   Drill: fingers on camera</vt:lpstr>
      <vt:lpstr>읽어 봐요  Lectura en cadena   Chain reading</vt:lpstr>
      <vt:lpstr>이야기해요  Salas · 1. Mi escritorio y mi casa</vt:lpstr>
      <vt:lpstr>같이 해요 · 우리 가게  Salas · 2. Juego: la tienda secreta</vt:lpstr>
      <vt:lpstr>Salas · 3. Adivina la edad + minuto libre</vt:lpstr>
      <vt:lpstr>오늘의 문장  3 frases clave   3 key phrases</vt:lpstr>
      <vt:lpstr>이렇게 말해요  Errores del día   Today's mistakes</vt:lpstr>
      <vt:lpstr>써 봐요  Tarea   Homework</vt:lpstr>
      <vt:lpstr>감사합니다! 화이팅!  ¡Gracias! ¡Ánimo!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7 · 하나, 둘, 셋, 넷 · 저는 여섯 살이에요 · Números, cuántos hay y la edad</dc:title>
  <dc:subject>PptxGenJS Presentation</dc:subject>
  <dc:creator>Academia Seúl</dc:creator>
  <cp:lastModifiedBy>Jae Hee Kim</cp:lastModifiedBy>
  <cp:revision>2</cp:revision>
  <dcterms:created xsi:type="dcterms:W3CDTF">2026-10-22T12:14:04Z</dcterms:created>
  <dcterms:modified xsi:type="dcterms:W3CDTF">2026-10-22T12:14:53Z</dcterms:modified>
</cp:coreProperties>
</file>