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mana 6" id="{6354ACCB-50CD-0DA0-9015-6443A0B4BE2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8013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21:00–21:01 (1 min). Abre la sala 3 minutos antes e inicia la grabación en la nube. Saluda a cada uno por su nombre («안녕하세요, ___ 씨!»). Mientras llegan, pregunta a 2: «내일 뭐 해요?» y acepta respuestas cortas (회사에 가요, 일해요…). «Hoy aprendemos a decir DÓNDE hacemos las cosas. La palabra clave es 에서.» Pasa a L2. Referencia: 한국어 2, lección 6, págs. 56–65 (guía, págs. 58–67).
Fuente: Portada de la plantilla
Lámina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21:01–21:04 (3 min). Antes del quiz (20 s): agradece las tareas que llegaron y di el error más común, sin nombres (cada una ya la corregiste por WhatsApp). Repaso de la clase 5 (lecciones 4 y 5: tener o no tener, y no ser). Lee cada ítem, deja 5–8 segundos, nombra a un alumno y revela con clic. En el 3 muestra el dibujo de las zapatillas. En el 6 cada uno responde sobre sí mismo: 2–3 voces. Si alguien dice «양말가 아니에요», di bien la frase («양말이 아니에요») y que la repita, sin explicar. Anota quién falla 이/가: lo retomas en L12 («에서, en cambio, nunca cambia»). Referencia: 한국어 2, lecciones 4 y 5, págs. 36–55.
Imagen: incluida (dibujo de la casa).
Fuente: Nueva
Lámina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21:04–21:05 (1 min). Lee las frases en coreano, con ritmo; el grupo solo escucha. «Al final de la clase van a decir todo esto sin mirar.» No expliques 에서 todavía: lo descubren en la escena. Referencia: 한국어 2, lección 6 (objetivo de la lección: guía, pág. 58).
Fuente: Nueva (objetivo de la lección: guía, pág. 58)
Lámina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21:05–21:07 (2 min). Muestra la imagen y pregunta en coreano: «누구예요?» (발렌티나, 도윤, 서아, 콩이). Lee tú el diálogo de L5 dos veces, haciendo las dos voces (o pausa el uso compartido de Zoom, ve a L5 y reproduce sus clips; reanuda el uso compartido en L5). Que respondan las 3 preguntas en español o en coreano, como puedan; no corrijas todavía. Si alguien dice «¡pera!», ríete: es justo el chiste de la escena. Referencia: 한국어 2, lección 6, pág. 56 (escena de apertura; aquí es una escena nueva, con los personajes del curso). Guía, pág. 58: hablar de la imagen y leer frase por frase.
Imagen: incluida (dibujo de la casa).
Fuente: Nueva (tipo de actividad: escena de apertura, guía pág. 58)
Lámina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21:07–21:10 (3 min). Ahora con texto. 1) Lee cada línea (o pon su clip) y el grupo repite en coro; marca con la voz 에 y 에서. 2) Lectura por roles: tú eres 도윤 y el grupo es Valentina; luego al revés. Pregunta rápida: «En la línea 2 dice 빵 가게에, y en la 3, 빵 가게에서. ¿Qué cambia?» Recoge hipótesis; la respuesta llega en L11. El chiste: 배 es «pera» (la vieron en Básico 1) y también «barco». Pronunciación: 만들어요 [만드러요], 장난감 [장난깜]. Aquí 하고 significa «con» (서아하고 = con 서아). Es un uso nuevo: en la clase 3 solo vimos «y» (아빠하고 엄마). Basta con entenderlo y hoy no se practica. 아침에 viene de la lección 3. Referencia: 한국어 2, lección 6, pág. 56 (lectura por roles: guía, pág. 58).
Imagen pendiente: Opcional. La miniatura de la videollamada no va como imagen de la lámina: el generador la pondría a la derecha y achicaría las 7 tarjetas del diálogo. Si la quieres, pega a mano en la esquina superior derecha, a unos 1,3 pulgadas de ancho, el PNG Curriculo/fuente/decks/img_hk2/B2S6/_png/L4_slide.png (la misma ilustración de L4).
Fuente: Nueva
Lámina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21:10–21:11 (1 min). Pregunta en coreano, nombra a un alumno por pregunta y revela con clic. Pide la frase completa (en la 1, con el lugar): si dice solo «빵 가게», devuélvele «빵 가게에 가요» y que la repita. La 4 recicla 만들어요 con su objeto. Referencia: 한국어 2, lección 6, pág. 56 (preguntas sobre la escena: guía, pág. 58).
Fuente: Nueva
Lámina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21:11–21:13 (2 min). Como sugiere la guía: cada palabra 2–3 veces con su imagen y el grupo repite; después señalas solo el dibujo y la dicen ellos. Pronunciación: 동물원 [동무뤈] (la ㄹ pasa a la sílaba siguiente), 옷 가게 [옫까게], 꽃집 [꼳찝]. Para los chilenos: «매일 빵을 사요?» (la marraqueta vive en la 빵 가게). 수영장 sale en el libro (lección 6, págs. 59, 60, 64 y 65; 하나 nada en la 수영장). 마트 es extra, útil para adultos. En la calle se dice más 빵집 [빵찝] (como 꽃집); 빵 가게, la palabra del libro, se entiende igual. Referencia: 한국어 2, lección 6, pág. 57 (guía, pág. 59).
Imagen: incluida (dibujo de la casa).
Fuente: Idea de la guía, pág. 59
Lámina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21:13–21:15 (2 min). Igual que L7: oír, repetir, decir con la imagen. Los verbos, siempre con su objeto (guía, pág. 59): «빵을 사요 · 꽃을 사요 · 옷을 사요» y «김밥을 만들어요 · 장난감 배를 만들어요». Ojo: 사요 (comprar, 사다) no es 살아요 (vivir, 살다): 마트에서 사요, 칠레에 살아요. Liga: 꽃을 [꼬츨], 옷을 [오슬]. Extras de la clase (2): 마트 y 김밥 (수영장 es del libro). 꽃 y 옷 salen de las palabras de L7, y 배, del título de la lección. 동물 se entiende desde 동물원 (동물 + 원); no se enseña aparte. Referencia: 한국어 2, lección 6, pág. 57 (guía, pág. 59).
Imagen: incluida (dibujo de la casa).
Fuente: Idea de la guía, pág. 59
Lámina 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Opcional: solo si vas adelantado; si no, sáltala. Lectura relámpago: señalas una y el grupo la lee en coro; después 2 alumnos solos. Recuérdales que también saben 방 (pieza) y 동네 (barrio). Estos lugares más los nuevos son todo lo que necesitan hoy. Referencia: las tarjetas de la guía (활동지 6-1, pág. 127) suman 공원 y 학교 a los lugares nuevos.
Imagen: incluida (dibujo de la casa).
Fuente: Idea de la guía, pág. 127 (활동지 6-1)
Lámina 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21:15–21:16 (1 min). Ronda rápida: lees las cosas y el grupo responde con el lugar + 에 있어요. Acepta otras respuestas lógicas (빵 → 마트에 있어요 ✓). Esto prepara el contraste: «estar» va con 에; ahora vemos qué pasa cuando HACEMOS algo en ese lugar. Pronunciación: 학교 [학꾜] (y 식당 [식땅], que sale en L12). Si te sobran 15 s, cierre con una idea de la guía (pág. 59, punto 5: hablar de dónde se ven estos lugares en el barrio): «동네에 빵 가게가 있어요?» — 네, 있어요. / 아니요, 없어요. Referencia: 한국어 2, lección 6, pág. 57.
Imagen: incluida (dibujo de la casa).
Fuente: Nueva; cierre con una idea de la guía, pág. 59 (punto 5)
Lámina 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21:16–21:18 (2 min). Pasos 1 y 2 (escuchar y repetir): di la frase 2 veces, el grupo la repite 2 veces en coro y luego 2 alumnos solos. Recién ahí pregunta: «¿Qué está pegado a 빵 가게?» → 에서. Explicación en una frase: «에서 marca el lugar donde HACES algo: comprar, trabajar, comer, estudiar.» Referencia: 한국어 2, lección 6, pág. 58 (la guía, pág. 60, pide destacar 에서 con otro color; aquí va en azul).
Imagen: incluida (dibujo de la casa).
Fuente: Idea de la guía, pág. 60
Lámina 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21:18–21:19 (1 min). Primero lee la primera frase de cada columna (집에서 쉬어요 · 회사에서 일해요 · 어디에서 일해요?) y el grupo la repite 2 veces; las otras quedan en pantalla. Después: «Buena noticia: 에서 no cambia.» A diferencia de 이/가 o 을/를, no hay que mirar el 받침. Va pegado al lugar, sin espacio (집에서, no «집 에서»). La pregunta es 어디 + 에서 + el mismo verbo. En la calle van a oír 어디서, la forma corta; con 어디에서 basta. Cierra con el orden de la frase: «El lugar va antes de la acción; el verbo cierra la frase.» Pronunciación: 집에서 [지베서], 식당에서 [식땅에서], 꽃집에서 [꼳찌베서]. Referencia: 한국어 2, lección 6, pág. 58 (guía, pág. 60).
Fuente: Nueva
Lámina 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Opcional: solo si vas adelantado; si no, sáltala (la idea del orden ya la dijiste en L12). Presenta a los personajes del curso con la tabla: 하나 trabaja en una oficina y nada, 도윤 es cocinero, Valentina estudia coreano, Mateo hace ejercicio y 서아 tiene 6 años. Lee 2 filas y pide las otras a los alumnos. «En español decimos 'compro pan en la panadería', con el lugar al final; en coreano el lugar va antes y el verbo cierra la frase.» Si alguien omite el sujeto (회사에서 일해요), está bien: en coreano se omite mucho. La última fila es el título de la lección. Referencia: 한국어 2, lección 6, pág. 58.
Fuente: Nueva
Lámina 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21:19–21:21 (2 min). Primero, sin explicar, di la columna 3 dos veces con gestos (dos dedos que caminan: 카페에 가요 → tomar café: 카페에서 커피를 마셔요) y el grupo la repite 2 veces. Luego la pregunta clave: «¿Hay una acción en ese lugar? → 에서. ¿Solo voy, vengo o estoy? → 에.» Recuerda la escena: 빵 가게에 가요 → 빵 가게에서 빵을 사요. Si alguien pregunta por 회사에서 와요 («vengo de la oficina»): «Sí, 에서 también puede ser 'desde', pero eso viene más adelante; hoy, 에서 = donde haces algo.» Referencia: 한국어 2, lección 6, págs. 56 y 58.
Imagen: incluida (dibujo de la casa).
Fuente: Nueva
Lámina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21:21–21:22 (1 min). Ráfaga: lees la frase con un «mmm» en el hueco y el grupo dice 에 o 에서 en coro; revela con clic. Si se dividen, pregunta: «¿Hay acción ahí o solo voy o estoy?». El 3 y el 6 son las trampas (있어요 y 가요 piden 에). Referencia: 한국어 2, lección 6, pág. 59 (tipo de actividad: 연습해요).
Fuente: Nueva
Lámina 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21:22–21:24 (2 min). Paso 4 (sobre ti). Primero tú, como sugiere la guía (pág. 62), con tu día real: «저는 집에서 일해요. 동네 빵 가게에서 빵을 사요. 공원에서 운동해요.» Cada alumno elige 1 pregunta y escribe la respuesta en el chat (40 s). Eliges 3 del chat y sus autores la dicen en voz alta; si hay un error, la dices bien en coreano, sin explicar, y el autor la repite. Si el lugar que quieren no está en la lista (gimnasio, metro…), escríbelo en 한글 en el chat: es una palabra a pedido, no se enseña ni se evalúa. Referencia: 한국어 2, lección 6; idea de la guía, pág. 62.
Fuente: Idea de la guía, pág. 62
Lámina 16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21:24–21:27 (3 min). Una tarjeta por alumno, en orden. Pregunta en coreano y espera la frase completa (lugar + 에서 + acción); revela con clic y todos la repiten. Acepta variantes correctas: 2 · 식당에서 일해요 / 식당에서 김밥을 만들어요 · 1 · 수영장에서 수영을 해요 · 5 · 동물원에서 동물을 봐요 · 6 · 침대에서 자요 / 집에서 자요 (침대 es de Básico 1). 사진을 찍어요 viene de la lección 2. Si sobra tiempo, un alumno hace la pregunta y otro responde. Referencia: 한국어 2, lección 6, págs. 59–60 (연습해요: unir dibujo y frase y escribir la respuesta; guía, págs. 61–62).
Imagen: incluida (dibujo de la casa).
Fuente: Nueva (tipo de actividad: 연습해요, pág. 59)
Lámina 17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21:27–21:28 (1 min). Al revés: muestras la respuesta. Los ítems 1 y 3, en pareja: un alumno hace la pregunta y otro responde con SU verdad, no con la del ejemplo («어디에서 운동해요?» — «저는 집에서 운동해요.»). Los ítems 2 y 4, en coro: todos dicen la pregunta. La clave: copiar el verbo y cambiar el lugar por 어디에서. Referencia: 한국어 2, lección 6, pág. 60 (preguntas con 어디에서).
Fuente: Nueva
Lámina 18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21:28–21:31 (3 min). Lo haces tú en vivo; el texto que lees está solo aquí y en el plan. Lee cada parte 2 veces, a velocidad natural pero clara; todos escriben a, b o c en el chat y recién ahí revelas. 1) «저는 아침에 동네 빵 가게에 가요. 빵 가게에서 빵하고 우유를 사요.» 2) «하나 씨는 아침에 수영장에 가요. 수영장에서 수영해요. 그리고 회사에서 일해요.» (하나 nada en la mañana, como en la clase 4) 3) «마테오 씨는 내일 옷 가게에 가요. 옷 가게에서 바지를 사요.» 4) «도윤 씨는 식당에서 일해요. 오늘은 집에 있어요. 집에서 김밥을 만들어요.» Al final, el grupo repite la frase con 에서 de cada parte (la guía, pág. 64, pide leer después del profe). Referencia: 한국어 2, lección 6, pág. 62 (들어 봐요; guía, pág. 64). El guion del libro no se usa: este es nuevo.
Fuente: Nueva (tipo de actividad: 들어 봐요, pág. 62)
Lámina 19</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21:31–21:34 (3 min). Drill en cadena, con ritmo. Tú dices la acción («커피를 마셔요!») y nombras a A; A dice la frase con un lugar («카페에서 커피를 마셔요.») y le pregunta a B: «___ 씨는 어디에서 커피를 마셔요?»; B responde con su verdad y tú das la acción siguiente. Revela el modelo solo si alguien se traba; cualquier lugar lógico vale (집에서 커피를 마셔요 ✓). Mínimo 2 vueltas al grupo. Corrige solo 에 / 에서, repitiendo bien la frase.
Fuente: Idea de la guía, págs. 59 (활동지 6-1: un lugar → qué se hace ahí) y 60 (장소 말하기: una actividad → dónde), en cadena
Lámina 20</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21:34–21:35 (1 min). Explica las 3 partes en 40 segundos, mostrando L22, L23 y L24 de pasada (están en la hoja, parte 4). Arma parejas mezclando a ex-alumnos de julio con quienes leen menos; con número impar, un trío. Abre las salas a las 21:35 en punto, con cierre automático a las 21:54 y 60 s de cuenta regresiva. Mensajes de difusión: 21:41 «같이 해요! Mímica» y 21:51 «Minuto libre: 내일 뭐 해요?». Si hay solo 2 o 3 alumnos conectados, no abras salas: juega con todos en la sala principal. Referencia: 한국어 2, lección 6, págs. 61 y 63 (이야기해요 y 같이 해요; guía, págs. 63 y 65).
Fuente: Nueva
Lámina 21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Salas, 21:35–21:41 (6 min). Ronda 1: A hace las 5 preguntas y B responde; ronda 2: al revés. Cada respuesta con lugar + 에서 + acción. El paréntesis significa: el objeto, solo si lo hay (운동해요 · 빵을 사요). Las dos últimas unen 에 y 에서 (내일 어디에 가요? → 거기에서 뭘 해요?). Al pasar por las salas, escucha y corrige solo 에 / 에서; anota errores para L26. Idea de la guía, pág. 63: primero el profe pregunta, después las parejas, y el profe corrige pronunciación y forma. Referencia: 한국어 2, lección 6, pág. 61.
Fuente: Idea de la guía, pág. 63
Lámina 22</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Salas, 21:41–21:51 (10 min). Basado en la idea de la guía (pág. 65, mímica en grupos), pero en parejas y por cámara. A actúa una tarjeta sin hablar y sin mostrar la hoja; B adivina en forma de pregunta («카페에서 커피를 마셔요?»). A confirma («네, 맞아요!») o corrige («아니요, 집에서 마셔요!»). Cambian de rol en cada tarjeta. Ronda 2, si terminan: inventan una nueva, fuera de la lista. Sin cámara: A da 2 pistas en coreano (꽃… 사요…) y B adivina igual. En el cierre pregunta en español quién ganó, solo por diversión. Referencia: 한국어 2, lección 6, pág. 63 (같이 해요; guía, pág. 65).
Fuente: Idea de la guía, pág. 65
Lámina 23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21:34–21:35 (10 s, dentro de L21). Muéstrala 10 segundos antes de abrir las salas y pégala en el chat como texto por si alguien no tiene la hoja abierta. La 12 es la frase del título de la lección. Referencia: 한국어 2, lección 6, págs. 56 y 63.
Fuente: Nueva
Lámina 24</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Salas, 21:51–21:54 (3 min). Conversación libre sobre «mañana», con 에 y 에서. A las 21:54 cierra las salas (60 s de cuenta regresiva); a las 21:55, todos en la sala principal.
Fuente: Nueva
Lámina 25</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21:55–21:56 (1 min). Los 3 errores típicos de hoy; cambia uno por el que más oíste en las salas (por ejemplo, 꽃을 leído [꼬들] en vez de [꼬츨], o «만들아요» en vez de 만들어요). Ojo: [꼬슬] se oye mucho entre nativos de Seúl; modela [꼬츨], que es la forma estándar, pero no lo corrijas como error. Lee la columna correcta y el grupo repite. Sin nombres: «escuché esto en las salas».
Fuente: Nueva
Lámina 26</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21:56–21:58 (2 min). Coro: dices cada frase y el grupo la repite 2 veces; la tercera vez la dicen sin mirar (oculta la pantalla un segundo). Son las mismas de la hoja y del mensaje de WhatsApp. Si queda tiempo, cierre de repaso (idea de la guía, pág. 67: una pregunta, muchas respuestas): preguntas «카페에서 뭘 해요?» y aceptas varias (커피를 마셔요, 공부해요, 친구하고 이야기해요…). Referencia: 한국어 2, lección 6.
Fuente: Idea de la guía, pág. 67
Lámina 27</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21:58–21:59 (1 min). Muestra dónde está cada parte en la hoja. La foto de la hoja va por privado antes del lunes 30 de noviembre. El audio es opcional: 30 segundos, 3 frases con 에서. Responde cada audio con una nota de voz corta («잘했어요!») y como máximo una corrección. Referencia: 한국어 2, lección 6, págs. 64–65 (써 봐요; guía, págs. 66–67).
Fuente: Nueva (tipo de actividad: 써 봐요, págs. 64–65)
Lámina 28</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21:59–22:00 (30 s). «La próxima clase abre con un quiz de 에 o 에서, y empezamos los números: 하나, 둘, 셋, 넷.» (KO) «오늘 정말 잘했어요! 화이팅!» Con leve inclinación: «감사합니다!» → el grupo: «감사합니다!». A las 22:00, «Finalizar reunión para todos».
Fuente: Nueva
Lámina 29</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Opcional, 3 min. Dicta en este orden: 게 · 꽃 · 원 · 빵 · 동 · 옷 · 집 · 가 · 물, con una pista para 3 de ellas: «꽃, con ㅊ» (o dentro de 꽃을 [꼬츨]), «옷, con ㅅ» (o 옷을 [오슬]) y «게, el de 가게, con ㅔ». Aisladas, 꽃 y 옷 suenan [꼳] y [옫], y en el coreano de Seúl 게 y 개 suenan igual. Ellos arman: 동물원 · 꽃집 · 빵 가게 · 옷 가게 (가 y 게 sirven dos veces). Idea de la guía, pág. 66 (dictado de sílabas que se combinan en palabras).
Fuente: Idea de la guía, pág. 66
Lámina Extra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_PORTADA">
    <p:bg>
      <p:bgPr>
        <a:solidFill>
          <a:srgbClr val="003478"/>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640080" y="548640"/>
            <a:ext cx="822960" cy="822960"/>
          </a:xfrm>
          <a:prstGeom prst="rect">
            <a:avLst/>
          </a:prstGeom>
        </p:spPr>
      </p:pic>
      <p:sp>
        <p:nvSpPr>
          <p:cNvPr id="3" name="Text 0"/>
          <p:cNvSpPr txBox="1"/>
          <p:nvPr/>
        </p:nvSpPr>
        <p:spPr>
          <a:xfrm>
            <a:off x="1600200" y="713232"/>
            <a:ext cx="5486400" cy="457200"/>
          </a:xfrm>
          <a:prstGeom prst="rect">
            <a:avLst/>
          </a:prstGeom>
          <a:noFill/>
          <a:ln/>
        </p:spPr>
        <p:txBody>
          <a:bodyPr wrap="square" lIns="0" tIns="0" rIns="0" bIns="0" rtlCol="0" anchor="ctr"/>
          <a:lstStyle/>
          <a:p>
            <a:pPr marL="0" indent="0">
              <a:buNone/>
            </a:pPr>
            <a:r>
              <a:rPr lang="en-US" sz="1400" b="1" kern="0" spc="600" dirty="0">
                <a:solidFill>
                  <a:srgbClr val="FFFFFF"/>
                </a:solidFill>
              </a:rPr>
              <a:t>ACADEMIA SEÚL</a:t>
            </a:r>
            <a:endParaRPr lang="en-US" sz="1400" dirty="0"/>
          </a:p>
        </p:txBody>
      </p:sp>
      <p:sp>
        <p:nvSpPr>
          <p:cNvPr id="4" name="Text 1"/>
          <p:cNvSpPr>
            <a:spLocks noGrp="1"/>
          </p:cNvSpPr>
          <p:nvPr>
            <p:ph type="title" idx="102" hasCustomPrompt="1"/>
          </p:nvPr>
        </p:nvSpPr>
        <p:spPr>
          <a:xfrm>
            <a:off x="640080" y="3063240"/>
            <a:ext cx="10881360" cy="914400"/>
          </a:xfrm>
          <a:prstGeom prst="rect">
            <a:avLst/>
          </a:prstGeom>
          <a:noFill/>
          <a:ln/>
        </p:spPr>
        <p:txBody>
          <a:bodyPr wrap="square" rtlCol="0"/>
          <a:lstStyle>
            <a:lvl1pPr marL="0" indent="0">
              <a:buNone/>
              <a:defRPr lang="en-US" sz="4400" b="1" dirty="0">
                <a:solidFill>
                  <a:srgbClr val="FFFFFF"/>
                </a:solidFill>
              </a:defRPr>
            </a:lvl1pPr>
          </a:lstStyle>
          <a:p>
            <a:pPr marL="0" indent="0">
              <a:buNone/>
            </a:pPr>
            <a:endParaRPr lang="en-US" sz="4400" dirty="0"/>
          </a:p>
        </p:txBody>
      </p:sp>
      <p:sp>
        <p:nvSpPr>
          <p:cNvPr id="5" name="Text 1"/>
          <p:cNvSpPr>
            <a:spLocks noGrp="1"/>
          </p:cNvSpPr>
          <p:nvPr>
            <p:ph type="body" idx="103" hasCustomPrompt="1"/>
          </p:nvPr>
        </p:nvSpPr>
        <p:spPr>
          <a:xfrm>
            <a:off x="640080" y="4160520"/>
            <a:ext cx="10881360" cy="1828800"/>
          </a:xfrm>
          <a:prstGeom prst="rect">
            <a:avLst/>
          </a:prstGeom>
          <a:noFill/>
          <a:ln/>
        </p:spPr>
        <p:txBody>
          <a:bodyPr wrap="square" rtlCol="0"/>
          <a:lstStyle>
            <a:lvl1pPr marL="0" indent="0">
              <a:buNone/>
              <a:defRPr lang="en-US" sz="2200" dirty="0">
                <a:solidFill>
                  <a:srgbClr val="E8B84B"/>
                </a:solidFill>
              </a:defRPr>
            </a:lvl1pPr>
          </a:lstStyle>
          <a:p>
            <a:pPr marL="0" indent="0">
              <a:buNone/>
            </a:pPr>
            <a:endParaRPr lang="en-US" sz="2200" dirty="0"/>
          </a:p>
        </p:txBody>
      </p:sp>
      <p:sp>
        <p:nvSpPr>
          <p:cNvPr id="6" name="Text 1"/>
          <p:cNvSpPr txBox="1"/>
          <p:nvPr/>
        </p:nvSpPr>
        <p:spPr>
          <a:xfrm>
            <a:off x="640080" y="6172200"/>
            <a:ext cx="10881360" cy="365760"/>
          </a:xfrm>
          <a:prstGeom prst="rect">
            <a:avLst/>
          </a:prstGeom>
          <a:noFill/>
          <a:ln/>
        </p:spPr>
        <p:txBody>
          <a:bodyPr wrap="square" lIns="0" tIns="0" rIns="0" bIns="0" rtlCol="0" anchor="ctr"/>
          <a:lstStyle/>
          <a:p>
            <a:pPr marL="0" indent="0">
              <a:buNone/>
            </a:pPr>
            <a:r>
              <a:rPr lang="en-US" sz="1200" dirty="0">
                <a:solidFill>
                  <a:srgbClr val="B9C3DA"/>
                </a:solidFill>
              </a:rPr>
              <a:t>Básico 2 (A1.2) · Semana 6 · Jay Kim (김재희) · Academia Seúl</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_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rtlCol="0"/>
          <a:lstStyle>
            <a:lvl1pPr marL="0" indent="0">
              <a:buNone/>
              <a:defRPr lang="en-US" sz="3000" b="1" dirty="0">
                <a:solidFill>
                  <a:srgbClr val="003478"/>
                </a:solidFill>
              </a:defRPr>
            </a:lvl1pPr>
          </a:lstStyle>
          <a:p>
            <a:pPr marL="0" indent="0">
              <a:buNone/>
            </a:pPr>
            <a:endParaRPr lang="en-US" sz="3000" dirty="0"/>
          </a:p>
        </p:txBody>
      </p:sp>
      <p:pic>
        <p:nvPicPr>
          <p:cNvPr id="3" name="Image 0" descr="C:/Users/Chingu/Desktop/ACADEMIASEULWEB/public/email/sello-azul.png"/>
          <p:cNvPicPr>
            <a:picLocks noChangeAspect="1"/>
          </p:cNvPicPr>
          <p:nvPr/>
        </p:nvPicPr>
        <p:blipFill>
          <a:blip r:embed="rId2"/>
          <a:stretch>
            <a:fillRect/>
          </a:stretch>
        </p:blipFill>
        <p:spPr>
          <a:xfrm>
            <a:off x="11201400" y="411480"/>
            <a:ext cx="502920" cy="502920"/>
          </a:xfrm>
          <a:prstGeom prst="rect">
            <a:avLst/>
          </a:prstGeom>
        </p:spPr>
      </p:pic>
      <p:sp>
        <p:nvSpPr>
          <p:cNvPr id="4" name="Text 0"/>
          <p:cNvSpPr txBox="1"/>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rgbClr val="8A8DA0"/>
                </a:solidFill>
              </a:rPr>
              <a:t>Básico 2 (A1.2) · Semana 6 · Jay Kim (김재희) · Academia Seúl</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S_CIERRE">
    <p:bg>
      <p:bgPr>
        <a:solidFill>
          <a:srgbClr val="4236F6"/>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5641848" y="502920"/>
            <a:ext cx="914400" cy="914400"/>
          </a:xfrm>
          <a:prstGeom prst="rect">
            <a:avLst/>
          </a:prstGeom>
        </p:spPr>
      </p:pic>
      <p:sp>
        <p:nvSpPr>
          <p:cNvPr id="3" name="Text 0"/>
          <p:cNvSpPr>
            <a:spLocks noGrp="1"/>
          </p:cNvSpPr>
          <p:nvPr>
            <p:ph type="title" idx="101" hasCustomPrompt="1"/>
          </p:nvPr>
        </p:nvSpPr>
        <p:spPr>
          <a:xfrm>
            <a:off x="731520" y="1691640"/>
            <a:ext cx="10725912" cy="1097280"/>
          </a:xfrm>
          <a:prstGeom prst="rect">
            <a:avLst/>
          </a:prstGeom>
          <a:noFill/>
          <a:ln/>
        </p:spPr>
        <p:txBody>
          <a:bodyPr wrap="square" rtlCol="0"/>
          <a:lstStyle>
            <a:lvl1pPr marL="0" indent="0" algn="ctr">
              <a:buNone/>
              <a:defRPr lang="en-US" sz="4000" b="1" dirty="0">
                <a:solidFill>
                  <a:srgbClr val="FFFFFF"/>
                </a:solidFill>
              </a:defRPr>
            </a:lvl1pPr>
          </a:lstStyle>
          <a:p>
            <a:pPr marL="0" indent="0" algn="ctr">
              <a:buNone/>
            </a:pPr>
            <a:endParaRPr lang="en-US" sz="4000" dirty="0"/>
          </a:p>
        </p:txBody>
      </p:sp>
      <p:sp>
        <p:nvSpPr>
          <p:cNvPr id="4" name="Text 0"/>
          <p:cNvSpPr>
            <a:spLocks noGrp="1"/>
          </p:cNvSpPr>
          <p:nvPr>
            <p:ph type="body" idx="102" hasCustomPrompt="1"/>
          </p:nvPr>
        </p:nvSpPr>
        <p:spPr>
          <a:xfrm>
            <a:off x="1463040" y="2971800"/>
            <a:ext cx="9262872" cy="2926080"/>
          </a:xfrm>
          <a:prstGeom prst="rect">
            <a:avLst/>
          </a:prstGeom>
          <a:noFill/>
          <a:ln/>
        </p:spPr>
        <p:txBody>
          <a:bodyPr wrap="square" rtlCol="0"/>
          <a:lstStyle>
            <a:lvl1pPr marL="0" indent="0">
              <a:buNone/>
              <a:defRPr lang="en-US" sz="2200" dirty="0">
                <a:solidFill>
                  <a:srgbClr val="FFFFFF"/>
                </a:solidFill>
              </a:defRPr>
            </a:lvl1pPr>
          </a:lstStyle>
          <a:p>
            <a:pPr marL="0" indent="0">
              <a:buNone/>
            </a:pPr>
            <a:endParaRPr lang="en-US" sz="2200" dirty="0"/>
          </a:p>
        </p:txBody>
      </p:sp>
      <p:sp>
        <p:nvSpPr>
          <p:cNvPr id="5" name="Text 0"/>
          <p:cNvSpPr txBox="1"/>
          <p:nvPr/>
        </p:nvSpPr>
        <p:spPr>
          <a:xfrm>
            <a:off x="731520" y="6263640"/>
            <a:ext cx="10725912" cy="320040"/>
          </a:xfrm>
          <a:prstGeom prst="rect">
            <a:avLst/>
          </a:prstGeom>
          <a:noFill/>
          <a:ln/>
        </p:spPr>
        <p:txBody>
          <a:bodyPr wrap="square" lIns="0" tIns="0" rIns="0" bIns="0" rtlCol="0" anchor="ctr"/>
          <a:lstStyle/>
          <a:p>
            <a:pPr marL="0" indent="0" algn="ctr">
              <a:buNone/>
            </a:pPr>
            <a:r>
              <a:rPr lang="en-US" sz="1100" dirty="0">
                <a:solidFill>
                  <a:srgbClr val="D9D7F7"/>
                </a:solidFill>
              </a:rPr>
              <a:t>Básico 2 (A1.2) · Semana 6 · Jay Kim (김재희) · Academia Seúl</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0"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0"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0"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0"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audio" Target="../media/media4.mp3"/><Relationship Id="rId13" Type="http://schemas.microsoft.com/office/2007/relationships/media" Target="../media/media7.mp3"/><Relationship Id="rId3" Type="http://schemas.microsoft.com/office/2007/relationships/media" Target="../media/media2.mp3"/><Relationship Id="rId7" Type="http://schemas.microsoft.com/office/2007/relationships/media" Target="../media/media4.mp3"/><Relationship Id="rId12" Type="http://schemas.openxmlformats.org/officeDocument/2006/relationships/audio" Target="../media/media6.mp3"/><Relationship Id="rId17" Type="http://schemas.openxmlformats.org/officeDocument/2006/relationships/image" Target="../media/image5.png"/><Relationship Id="rId2" Type="http://schemas.openxmlformats.org/officeDocument/2006/relationships/audio" Target="../media/media1.mp3"/><Relationship Id="rId16" Type="http://schemas.openxmlformats.org/officeDocument/2006/relationships/notesSlide" Target="../notesSlides/notesSlide5.xml"/><Relationship Id="rId1" Type="http://schemas.microsoft.com/office/2007/relationships/media" Target="../media/media1.mp3"/><Relationship Id="rId6" Type="http://schemas.openxmlformats.org/officeDocument/2006/relationships/audio" Target="../media/media3.mp3"/><Relationship Id="rId11" Type="http://schemas.microsoft.com/office/2007/relationships/media" Target="../media/media6.mp3"/><Relationship Id="rId5" Type="http://schemas.microsoft.com/office/2007/relationships/media" Target="../media/media3.mp3"/><Relationship Id="rId15" Type="http://schemas.openxmlformats.org/officeDocument/2006/relationships/slideLayout" Target="../slideLayouts/slideLayout3.xml"/><Relationship Id="rId10" Type="http://schemas.openxmlformats.org/officeDocument/2006/relationships/audio" Target="../media/media5.mp3"/><Relationship Id="rId4" Type="http://schemas.openxmlformats.org/officeDocument/2006/relationships/audio" Target="../media/media2.mp3"/><Relationship Id="rId9" Type="http://schemas.microsoft.com/office/2007/relationships/media" Target="../media/media5.mp3"/><Relationship Id="rId14" Type="http://schemas.openxmlformats.org/officeDocument/2006/relationships/audio" Target="../media/media7.mp3"/></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audio" Target="../media/media11.mp3"/><Relationship Id="rId13" Type="http://schemas.openxmlformats.org/officeDocument/2006/relationships/slideLayout" Target="../slideLayouts/slideLayout3.xml"/><Relationship Id="rId18" Type="http://schemas.openxmlformats.org/officeDocument/2006/relationships/image" Target="../media/image8.png"/><Relationship Id="rId3" Type="http://schemas.microsoft.com/office/2007/relationships/media" Target="../media/media9.mp3"/><Relationship Id="rId21" Type="http://schemas.openxmlformats.org/officeDocument/2006/relationships/image" Target="../media/image11.png"/><Relationship Id="rId7" Type="http://schemas.microsoft.com/office/2007/relationships/media" Target="../media/media11.mp3"/><Relationship Id="rId12" Type="http://schemas.openxmlformats.org/officeDocument/2006/relationships/audio" Target="../media/media13.mp3"/><Relationship Id="rId17" Type="http://schemas.openxmlformats.org/officeDocument/2006/relationships/image" Target="../media/image7.png"/><Relationship Id="rId2" Type="http://schemas.openxmlformats.org/officeDocument/2006/relationships/audio" Target="../media/media8.mp3"/><Relationship Id="rId16" Type="http://schemas.openxmlformats.org/officeDocument/2006/relationships/image" Target="../media/image5.png"/><Relationship Id="rId20" Type="http://schemas.openxmlformats.org/officeDocument/2006/relationships/image" Target="../media/image10.png"/><Relationship Id="rId1" Type="http://schemas.microsoft.com/office/2007/relationships/media" Target="../media/media8.mp3"/><Relationship Id="rId6" Type="http://schemas.openxmlformats.org/officeDocument/2006/relationships/audio" Target="../media/media10.mp3"/><Relationship Id="rId11" Type="http://schemas.microsoft.com/office/2007/relationships/media" Target="../media/media13.mp3"/><Relationship Id="rId5" Type="http://schemas.microsoft.com/office/2007/relationships/media" Target="../media/media10.mp3"/><Relationship Id="rId15" Type="http://schemas.openxmlformats.org/officeDocument/2006/relationships/image" Target="../media/image6.png"/><Relationship Id="rId10" Type="http://schemas.openxmlformats.org/officeDocument/2006/relationships/audio" Target="../media/media12.mp3"/><Relationship Id="rId19" Type="http://schemas.openxmlformats.org/officeDocument/2006/relationships/image" Target="../media/image9.png"/><Relationship Id="rId4" Type="http://schemas.openxmlformats.org/officeDocument/2006/relationships/audio" Target="../media/media9.mp3"/><Relationship Id="rId9" Type="http://schemas.microsoft.com/office/2007/relationships/media" Target="../media/media12.mp3"/><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audio" Target="../media/media17.mp3"/><Relationship Id="rId13" Type="http://schemas.microsoft.com/office/2007/relationships/media" Target="../media/media20.mp3"/><Relationship Id="rId18" Type="http://schemas.openxmlformats.org/officeDocument/2006/relationships/image" Target="../media/image5.png"/><Relationship Id="rId3" Type="http://schemas.microsoft.com/office/2007/relationships/media" Target="../media/media15.mp3"/><Relationship Id="rId21" Type="http://schemas.openxmlformats.org/officeDocument/2006/relationships/image" Target="../media/image15.png"/><Relationship Id="rId7" Type="http://schemas.microsoft.com/office/2007/relationships/media" Target="../media/media17.mp3"/><Relationship Id="rId12" Type="http://schemas.openxmlformats.org/officeDocument/2006/relationships/audio" Target="../media/media19.mp3"/><Relationship Id="rId17" Type="http://schemas.openxmlformats.org/officeDocument/2006/relationships/image" Target="../media/image12.png"/><Relationship Id="rId2" Type="http://schemas.openxmlformats.org/officeDocument/2006/relationships/audio" Target="../media/media14.mp3"/><Relationship Id="rId16" Type="http://schemas.openxmlformats.org/officeDocument/2006/relationships/notesSlide" Target="../notesSlides/notesSlide8.xml"/><Relationship Id="rId20" Type="http://schemas.openxmlformats.org/officeDocument/2006/relationships/image" Target="../media/image14.png"/><Relationship Id="rId1" Type="http://schemas.microsoft.com/office/2007/relationships/media" Target="../media/media14.mp3"/><Relationship Id="rId6" Type="http://schemas.openxmlformats.org/officeDocument/2006/relationships/audio" Target="../media/media16.mp3"/><Relationship Id="rId11" Type="http://schemas.microsoft.com/office/2007/relationships/media" Target="../media/media19.mp3"/><Relationship Id="rId24" Type="http://schemas.openxmlformats.org/officeDocument/2006/relationships/image" Target="../media/image18.png"/><Relationship Id="rId5" Type="http://schemas.microsoft.com/office/2007/relationships/media" Target="../media/media16.mp3"/><Relationship Id="rId15" Type="http://schemas.openxmlformats.org/officeDocument/2006/relationships/slideLayout" Target="../slideLayouts/slideLayout3.xml"/><Relationship Id="rId23" Type="http://schemas.openxmlformats.org/officeDocument/2006/relationships/image" Target="../media/image17.png"/><Relationship Id="rId10" Type="http://schemas.openxmlformats.org/officeDocument/2006/relationships/audio" Target="../media/media18.mp3"/><Relationship Id="rId19" Type="http://schemas.openxmlformats.org/officeDocument/2006/relationships/image" Target="../media/image13.png"/><Relationship Id="rId4" Type="http://schemas.openxmlformats.org/officeDocument/2006/relationships/audio" Target="../media/media15.mp3"/><Relationship Id="rId9" Type="http://schemas.microsoft.com/office/2007/relationships/media" Target="../media/media18.mp3"/><Relationship Id="rId14" Type="http://schemas.openxmlformats.org/officeDocument/2006/relationships/audio" Target="../media/media20.mp3"/><Relationship Id="rId22"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16.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5.png"/><Relationship Id="rId5" Type="http://schemas.openxmlformats.org/officeDocument/2006/relationships/image" Target="../media/image3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3" Type="http://schemas.microsoft.com/office/2007/relationships/media" Target="../media/media21.mp3"/><Relationship Id="rId7"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audio" Target="../media/media24.mp3"/><Relationship Id="rId5" Type="http://schemas.microsoft.com/office/2007/relationships/media" Target="../media/media24.mp3"/><Relationship Id="rId4" Type="http://schemas.openxmlformats.org/officeDocument/2006/relationships/audio" Target="../media/media21.mp3"/><Relationship Id="rId9" Type="http://schemas.openxmlformats.org/officeDocument/2006/relationships/image" Target="../media/image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ulo_ko"/>
          <p:cNvSpPr txBox="1"/>
          <p:nvPr/>
        </p:nvSpPr>
        <p:spPr>
          <a:xfrm>
            <a:off x="640080" y="1691640"/>
            <a:ext cx="10881360" cy="1280160"/>
          </a:xfrm>
          <a:prstGeom prst="rect">
            <a:avLst/>
          </a:prstGeom>
          <a:noFill/>
          <a:ln/>
        </p:spPr>
        <p:txBody>
          <a:bodyPr wrap="square" lIns="0" tIns="0" rIns="0" bIns="0" rtlCol="0" anchor="b">
            <a:normAutofit/>
          </a:bodyPr>
          <a:lstStyle/>
          <a:p>
            <a:pPr marL="0" indent="0" eaLnBrk="1">
              <a:buNone/>
            </a:pPr>
            <a:r>
              <a:rPr lang="ko-KR" altLang="en-US" sz="5000" b="1" dirty="0">
                <a:solidFill>
                  <a:srgbClr val="E8B84B"/>
                </a:solidFill>
                <a:latin typeface="Malgun Gothic" pitchFamily="34" charset="0"/>
                <a:ea typeface="Malgun Gothic" pitchFamily="34" charset="-122"/>
                <a:cs typeface="Malgun Gothic" pitchFamily="34" charset="-120"/>
              </a:rPr>
              <a:t>친구 집에서 장난감 배를 만들어요</a:t>
            </a:r>
            <a:endParaRPr lang="en-US" sz="5000" dirty="0"/>
          </a:p>
        </p:txBody>
      </p:sp>
      <p:sp>
        <p:nvSpPr>
          <p:cNvPr id="3" name="Text 1"/>
          <p:cNvSpPr>
            <a:spLocks noGrp="1"/>
          </p:cNvSpPr>
          <p:nvPr>
            <p:ph type="title" idx="102" hasCustomPrompt="1"/>
          </p:nvPr>
        </p:nvSpPr>
        <p:spPr>
          <a:xfrm>
            <a:off x="640080" y="3063240"/>
            <a:ext cx="10881360" cy="914400"/>
          </a:xfrm>
          <a:prstGeom prst="rect">
            <a:avLst/>
          </a:prstGeom>
          <a:noFill/>
          <a:ln/>
        </p:spPr>
        <p:txBody>
          <a:bodyPr wrap="square" lIns="0" tIns="0" rIns="0" bIns="0" rtlCol="0" anchor="t"/>
          <a:lstStyle/>
          <a:p>
            <a:pPr marL="0" indent="0" algn="l" eaLnBrk="1">
              <a:buNone/>
            </a:pPr>
            <a:r>
              <a:rPr lang="en-US" sz="4400" b="1" dirty="0">
                <a:solidFill>
                  <a:srgbClr val="FFFFFF"/>
                </a:solidFill>
              </a:rPr>
              <a:t>Básico 2 · Clase 6</a:t>
            </a:r>
            <a:endParaRPr lang="en-US" sz="4400" dirty="0"/>
          </a:p>
        </p:txBody>
      </p:sp>
      <p:sp>
        <p:nvSpPr>
          <p:cNvPr id="4" name="Text 1"/>
          <p:cNvSpPr>
            <a:spLocks noGrp="1"/>
          </p:cNvSpPr>
          <p:nvPr>
            <p:ph type="body" idx="103" hasCustomPrompt="1"/>
          </p:nvPr>
        </p:nvSpPr>
        <p:spPr>
          <a:xfrm>
            <a:off x="640080" y="4160520"/>
            <a:ext cx="10881360" cy="1828800"/>
          </a:xfrm>
          <a:prstGeom prst="rect">
            <a:avLst/>
          </a:prstGeom>
          <a:noFill/>
          <a:ln/>
        </p:spPr>
        <p:txBody>
          <a:bodyPr wrap="square" lIns="0" tIns="0" rIns="0" bIns="0" rtlCol="0" anchor="t">
            <a:normAutofit/>
          </a:bodyPr>
          <a:lstStyle/>
          <a:p>
            <a:pPr marL="0" indent="0" eaLnBrk="1">
              <a:buNone/>
            </a:pPr>
            <a:r>
              <a:rPr lang="ko-KR" altLang="en-US" sz="1900" dirty="0">
                <a:solidFill>
                  <a:srgbClr val="E8B84B"/>
                </a:solidFill>
                <a:latin typeface="Malgun Gothic" pitchFamily="34" charset="0"/>
                <a:ea typeface="Malgun Gothic" pitchFamily="34" charset="-122"/>
                <a:cs typeface="Malgun Gothic" pitchFamily="34" charset="-120"/>
              </a:rPr>
              <a:t>Lección 6 · 친구 집에서 장난감 배를 만들어요</a:t>
            </a:r>
            <a:endParaRPr lang="en-US" sz="2200" dirty="0"/>
          </a:p>
          <a:p>
            <a:pPr marL="0" indent="0" eaLnBrk="1">
              <a:buNone/>
            </a:pPr>
            <a:r>
              <a:rPr lang="ko-KR" altLang="en-US" sz="1900" dirty="0">
                <a:solidFill>
                  <a:srgbClr val="E8B84B"/>
                </a:solidFill>
                <a:latin typeface="Malgun Gothic" pitchFamily="34" charset="0"/>
                <a:ea typeface="Malgun Gothic" pitchFamily="34" charset="-122"/>
                <a:cs typeface="Malgun Gothic" pitchFamily="34" charset="-120"/>
              </a:rPr>
              <a:t>오늘은 어디에서 뭘 해요</a:t>
            </a:r>
            <a:r>
              <a:rPr lang="en-US" sz="1900" dirty="0">
                <a:solidFill>
                  <a:srgbClr val="E8B84B"/>
                </a:solidFill>
              </a:rPr>
              <a:t>?</a:t>
            </a:r>
            <a:endParaRPr lang="en-US" sz="2200" dirty="0"/>
          </a:p>
          <a:p>
            <a:pPr marL="0" indent="0" eaLnBrk="1">
              <a:buNone/>
            </a:pPr>
            <a:r>
              <a:rPr lang="en-US" sz="1900" dirty="0">
                <a:solidFill>
                  <a:srgbClr val="E8B84B"/>
                </a:solidFill>
              </a:rPr>
              <a:t>Miércoles 25 de noviembre de 2026 · 21:00 (hora de Chile)</a:t>
            </a:r>
            <a:endParaRPr lang="en-US" sz="2200" dirty="0"/>
          </a:p>
          <a:p>
            <a:pPr marL="0" indent="0" eaLnBrk="1">
              <a:buNone/>
            </a:pPr>
            <a:r>
              <a:rPr lang="ko-KR" altLang="en-US" sz="1900" dirty="0">
                <a:solidFill>
                  <a:srgbClr val="E8B84B"/>
                </a:solidFill>
                <a:latin typeface="Malgun Gothic" pitchFamily="34" charset="0"/>
                <a:ea typeface="Malgun Gothic" pitchFamily="34" charset="-122"/>
                <a:cs typeface="Malgun Gothic" pitchFamily="34" charset="-120"/>
              </a:rPr>
              <a:t>Jay Kim · 김재희 선생님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복습 퀴즈  </a:t>
            </a:r>
            <a:r>
              <a:rPr lang="en-US" sz="3000" b="1" dirty="0">
                <a:solidFill>
                  <a:srgbClr val="003478"/>
                </a:solidFill>
              </a:rPr>
              <a:t>Quiz de la clase 5</a:t>
            </a:r>
            <a:r>
              <a:rPr lang="en-US" sz="1500" b="1" i="1" dirty="0">
                <a:solidFill>
                  <a:srgbClr val="8A8DA0"/>
                </a:solidFill>
              </a:rPr>
              <a:t>   Class 5 quiz</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있어요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없어요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이</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가 아니에요 </a:t>
            </a:r>
            <a:r>
              <a:rPr lang="en-US" sz="1800" i="1" dirty="0">
                <a:solidFill>
                  <a:srgbClr val="4236F6"/>
                </a:solidFill>
              </a:rPr>
              <a:t>· Responde en voz alta o en el chat; la respuesta sale con clic</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856232" y="1965960"/>
            <a:ext cx="4617720" cy="594360"/>
          </a:xfrm>
          <a:prstGeom prst="rect">
            <a:avLst/>
          </a:prstGeom>
          <a:noFill/>
          <a:ln/>
        </p:spPr>
        <p:txBody>
          <a:bodyPr wrap="square" lIns="0" tIns="0" rIns="0" bIns="0" rtlCol="0" anchor="ctr">
            <a:normAutofit/>
          </a:bodyPr>
          <a:lstStyle/>
          <a:p>
            <a:pPr marL="0" indent="0" eaLnBrk="1">
              <a:buNone/>
            </a:pPr>
            <a:r>
              <a:rPr lang="en-US" sz="1900" dirty="0">
                <a:solidFill>
                  <a:srgbClr val="14142B"/>
                </a:solidFill>
              </a:rPr>
              <a:t>¿Cómo se dice? «Tengo un auto de juguete.»</a:t>
            </a:r>
            <a:endParaRPr lang="en-US" sz="1900" dirty="0"/>
          </a:p>
        </p:txBody>
      </p:sp>
      <p:sp>
        <p:nvSpPr>
          <p:cNvPr id="7" name="rev_0_caja"/>
          <p:cNvSpPr/>
          <p:nvPr/>
        </p:nvSpPr>
        <p:spPr>
          <a:xfrm>
            <a:off x="6702552" y="2002536"/>
            <a:ext cx="4937760" cy="521208"/>
          </a:xfrm>
          <a:prstGeom prst="roundRect">
            <a:avLst>
              <a:gd name="adj" fmla="val 21053"/>
            </a:avLst>
          </a:prstGeom>
          <a:solidFill>
            <a:srgbClr val="4236F6"/>
          </a:solidFill>
          <a:ln w="12700">
            <a:solidFill>
              <a:srgbClr val="4236F6"/>
            </a:solidFill>
            <a:prstDash val="solid"/>
          </a:ln>
        </p:spPr>
      </p:sp>
      <p:sp>
        <p:nvSpPr>
          <p:cNvPr id="8" name="rev_0_txt"/>
          <p:cNvSpPr txBox="1"/>
          <p:nvPr/>
        </p:nvSpPr>
        <p:spPr>
          <a:xfrm>
            <a:off x="6793992" y="2002536"/>
            <a:ext cx="4754880"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장난감 자동차가 있어요</a:t>
            </a:r>
            <a:r>
              <a:rPr lang="en-US" sz="2200" b="1" dirty="0">
                <a:solidFill>
                  <a:srgbClr val="FFFFFF"/>
                </a:solidFill>
              </a:rPr>
              <a:t>.</a:t>
            </a:r>
            <a:endParaRPr lang="en-US" sz="22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856232" y="2688336"/>
            <a:ext cx="4617720" cy="594360"/>
          </a:xfrm>
          <a:prstGeom prst="rect">
            <a:avLst/>
          </a:prstGeom>
          <a:noFill/>
          <a:ln/>
        </p:spPr>
        <p:txBody>
          <a:bodyPr wrap="square" lIns="0" tIns="0" rIns="0" bIns="0" rtlCol="0" anchor="ctr">
            <a:normAutofit/>
          </a:bodyPr>
          <a:lstStyle/>
          <a:p>
            <a:pPr marL="0" indent="0" eaLnBrk="1">
              <a:buNone/>
            </a:pPr>
            <a:r>
              <a:rPr lang="en-US" sz="1900" dirty="0">
                <a:solidFill>
                  <a:srgbClr val="14142B"/>
                </a:solidFill>
              </a:rPr>
              <a:t>¿Cómo se dice? «No tengo calcetines.»</a:t>
            </a:r>
            <a:endParaRPr lang="en-US" sz="1900" dirty="0"/>
          </a:p>
        </p:txBody>
      </p:sp>
      <p:sp>
        <p:nvSpPr>
          <p:cNvPr id="12" name="rev_1_caja"/>
          <p:cNvSpPr/>
          <p:nvPr/>
        </p:nvSpPr>
        <p:spPr>
          <a:xfrm>
            <a:off x="6702552" y="2724912"/>
            <a:ext cx="4937760" cy="521208"/>
          </a:xfrm>
          <a:prstGeom prst="roundRect">
            <a:avLst>
              <a:gd name="adj" fmla="val 21053"/>
            </a:avLst>
          </a:prstGeom>
          <a:solidFill>
            <a:srgbClr val="4236F6"/>
          </a:solidFill>
          <a:ln w="12700">
            <a:solidFill>
              <a:srgbClr val="4236F6"/>
            </a:solidFill>
            <a:prstDash val="solid"/>
          </a:ln>
        </p:spPr>
      </p:sp>
      <p:sp>
        <p:nvSpPr>
          <p:cNvPr id="13" name="rev_1_txt"/>
          <p:cNvSpPr txBox="1"/>
          <p:nvPr/>
        </p:nvSpPr>
        <p:spPr>
          <a:xfrm>
            <a:off x="6793992" y="2724912"/>
            <a:ext cx="4754880"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양말이 없어요</a:t>
            </a:r>
            <a:r>
              <a:rPr lang="en-US" sz="2200" b="1" dirty="0">
                <a:solidFill>
                  <a:srgbClr val="FFFFFF"/>
                </a:solidFill>
              </a:rPr>
              <a:t>.</a:t>
            </a:r>
            <a:endParaRPr lang="en-US" sz="22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pic>
        <p:nvPicPr>
          <p:cNvPr id="16" name="item_img_2" descr="C:\Users\Chingu\AppData\Local\Temp\claude\C--Users-Chingu-Desktop-ACADEMIASEULWEB\d4111e1b-5523-44ea-97b2-b1a1d9545b9e\scratchpad\decks\cache\img_b2b8deb95d9af3be.png"/>
          <p:cNvPicPr>
            <a:picLocks noChangeAspect="1"/>
          </p:cNvPicPr>
          <p:nvPr/>
        </p:nvPicPr>
        <p:blipFill>
          <a:blip r:embed="rId3"/>
          <a:stretch>
            <a:fillRect/>
          </a:stretch>
        </p:blipFill>
        <p:spPr>
          <a:xfrm>
            <a:off x="1115568" y="3429000"/>
            <a:ext cx="557784" cy="557784"/>
          </a:xfrm>
          <a:prstGeom prst="rect">
            <a:avLst/>
          </a:prstGeom>
        </p:spPr>
      </p:pic>
      <p:sp>
        <p:nvSpPr>
          <p:cNvPr id="17" name="Text 14"/>
          <p:cNvSpPr txBox="1"/>
          <p:nvPr/>
        </p:nvSpPr>
        <p:spPr>
          <a:xfrm>
            <a:off x="1856232" y="3410712"/>
            <a:ext cx="4617720" cy="594360"/>
          </a:xfrm>
          <a:prstGeom prst="rect">
            <a:avLst/>
          </a:prstGeom>
          <a:noFill/>
          <a:ln/>
        </p:spPr>
        <p:txBody>
          <a:bodyPr wrap="square" lIns="0" tIns="0" rIns="0" bIns="0" rtlCol="0" anchor="ctr">
            <a:normAutofit/>
          </a:bodyPr>
          <a:lstStyle/>
          <a:p>
            <a:pPr marL="0" indent="0" eaLnBrk="1">
              <a:buNone/>
            </a:pPr>
            <a:r>
              <a:rPr lang="ko-KR" altLang="en-US" sz="2000" dirty="0">
                <a:solidFill>
                  <a:srgbClr val="14142B"/>
                </a:solidFill>
                <a:latin typeface="Malgun Gothic" pitchFamily="34" charset="0"/>
                <a:ea typeface="Malgun Gothic" pitchFamily="34" charset="-122"/>
                <a:cs typeface="Malgun Gothic" pitchFamily="34" charset="-120"/>
              </a:rPr>
              <a:t>(zapatillas) 이거 양말이에요</a:t>
            </a:r>
            <a:r>
              <a:rPr lang="en-US" sz="2000" dirty="0">
                <a:solidFill>
                  <a:srgbClr val="14142B"/>
                </a:solidFill>
              </a:rPr>
              <a:t>?</a:t>
            </a:r>
            <a:endParaRPr lang="en-US" sz="2000" dirty="0"/>
          </a:p>
        </p:txBody>
      </p:sp>
      <p:sp>
        <p:nvSpPr>
          <p:cNvPr id="18" name="rev_2_caja"/>
          <p:cNvSpPr/>
          <p:nvPr/>
        </p:nvSpPr>
        <p:spPr>
          <a:xfrm>
            <a:off x="6702552" y="3447288"/>
            <a:ext cx="4937760" cy="521208"/>
          </a:xfrm>
          <a:prstGeom prst="roundRect">
            <a:avLst>
              <a:gd name="adj" fmla="val 21053"/>
            </a:avLst>
          </a:prstGeom>
          <a:solidFill>
            <a:srgbClr val="4236F6"/>
          </a:solidFill>
          <a:ln w="12700">
            <a:solidFill>
              <a:srgbClr val="4236F6"/>
            </a:solidFill>
            <a:prstDash val="solid"/>
          </a:ln>
        </p:spPr>
      </p:sp>
      <p:sp>
        <p:nvSpPr>
          <p:cNvPr id="19" name="rev_2_txt"/>
          <p:cNvSpPr txBox="1"/>
          <p:nvPr/>
        </p:nvSpPr>
        <p:spPr>
          <a:xfrm>
            <a:off x="6793992" y="3447288"/>
            <a:ext cx="4754880" cy="521208"/>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아니요</a:t>
            </a:r>
            <a:r>
              <a:rPr lang="en-US" sz="1800" b="1" dirty="0">
                <a:solidFill>
                  <a:srgbClr val="FFFFFF"/>
                </a:solidFill>
              </a:rPr>
              <a:t>, </a:t>
            </a:r>
            <a:r>
              <a:rPr lang="ko-KR" altLang="en-US" sz="1800" b="1" dirty="0">
                <a:solidFill>
                  <a:srgbClr val="FFFFFF"/>
                </a:solidFill>
                <a:latin typeface="Malgun Gothic" pitchFamily="34" charset="0"/>
                <a:ea typeface="Malgun Gothic" pitchFamily="34" charset="-122"/>
                <a:cs typeface="Malgun Gothic" pitchFamily="34" charset="-120"/>
              </a:rPr>
              <a:t>양말이 아니에요</a:t>
            </a:r>
            <a:r>
              <a:rPr lang="en-US" sz="1800" b="1" dirty="0">
                <a:solidFill>
                  <a:srgbClr val="FFFFFF"/>
                </a:solidFill>
              </a:rPr>
              <a:t>. </a:t>
            </a:r>
            <a:r>
              <a:rPr lang="ko-KR" altLang="en-US" sz="1800" b="1" dirty="0">
                <a:solidFill>
                  <a:srgbClr val="FFFFFF"/>
                </a:solidFill>
                <a:latin typeface="Malgun Gothic" pitchFamily="34" charset="0"/>
                <a:ea typeface="Malgun Gothic" pitchFamily="34" charset="-122"/>
                <a:cs typeface="Malgun Gothic" pitchFamily="34" charset="-120"/>
              </a:rPr>
              <a:t>운동화예요</a:t>
            </a:r>
            <a:r>
              <a:rPr lang="en-US" sz="1800" b="1" dirty="0">
                <a:solidFill>
                  <a:srgbClr val="FFFFFF"/>
                </a:solidFill>
              </a:rPr>
              <a:t>.</a:t>
            </a:r>
            <a:endParaRPr lang="en-US" sz="1800" dirty="0"/>
          </a:p>
        </p:txBody>
      </p:sp>
      <p:sp>
        <p:nvSpPr>
          <p:cNvPr id="20"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1"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2" name="Text 19"/>
          <p:cNvSpPr txBox="1"/>
          <p:nvPr/>
        </p:nvSpPr>
        <p:spPr>
          <a:xfrm>
            <a:off x="1856232" y="4133088"/>
            <a:ext cx="4617720" cy="594360"/>
          </a:xfrm>
          <a:prstGeom prst="rect">
            <a:avLst/>
          </a:prstGeom>
          <a:noFill/>
          <a:ln/>
        </p:spPr>
        <p:txBody>
          <a:bodyPr wrap="square" lIns="0" tIns="0" rIns="0" bIns="0" rtlCol="0" anchor="ctr">
            <a:normAutofit/>
          </a:bodyPr>
          <a:lstStyle/>
          <a:p>
            <a:pPr marL="0" indent="0" eaLnBrk="1">
              <a:buNone/>
            </a:pPr>
            <a:r>
              <a:rPr lang="ko-KR" altLang="en-US" sz="2200" dirty="0">
                <a:solidFill>
                  <a:srgbClr val="14142B"/>
                </a:solidFill>
                <a:latin typeface="Malgun Gothic" pitchFamily="34" charset="0"/>
                <a:ea typeface="Malgun Gothic" pitchFamily="34" charset="-122"/>
                <a:cs typeface="Malgun Gothic" pitchFamily="34" charset="-120"/>
              </a:rPr>
              <a:t>치마</a:t>
            </a:r>
            <a:r>
              <a:rPr lang="en-US" sz="2200" dirty="0">
                <a:solidFill>
                  <a:srgbClr val="14142B"/>
                </a:solidFill>
              </a:rPr>
              <a:t>___ </a:t>
            </a:r>
            <a:r>
              <a:rPr lang="ko-KR" altLang="en-US" sz="2200" dirty="0">
                <a:solidFill>
                  <a:srgbClr val="14142B"/>
                </a:solidFill>
                <a:latin typeface="Malgun Gothic" pitchFamily="34" charset="0"/>
                <a:ea typeface="Malgun Gothic" pitchFamily="34" charset="-122"/>
                <a:cs typeface="Malgun Gothic" pitchFamily="34" charset="-120"/>
              </a:rPr>
              <a:t>아니에요</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바지예요</a:t>
            </a:r>
            <a:r>
              <a:rPr lang="en-US" sz="2200" dirty="0">
                <a:solidFill>
                  <a:srgbClr val="14142B"/>
                </a:solidFill>
              </a:rPr>
              <a:t>.</a:t>
            </a:r>
            <a:endParaRPr lang="en-US" sz="2200" dirty="0"/>
          </a:p>
        </p:txBody>
      </p:sp>
      <p:sp>
        <p:nvSpPr>
          <p:cNvPr id="23" name="rev_3_caja"/>
          <p:cNvSpPr/>
          <p:nvPr/>
        </p:nvSpPr>
        <p:spPr>
          <a:xfrm>
            <a:off x="6702552" y="4169664"/>
            <a:ext cx="4937760" cy="521208"/>
          </a:xfrm>
          <a:prstGeom prst="roundRect">
            <a:avLst>
              <a:gd name="adj" fmla="val 21053"/>
            </a:avLst>
          </a:prstGeom>
          <a:solidFill>
            <a:srgbClr val="4236F6"/>
          </a:solidFill>
          <a:ln w="12700">
            <a:solidFill>
              <a:srgbClr val="4236F6"/>
            </a:solidFill>
            <a:prstDash val="solid"/>
          </a:ln>
        </p:spPr>
      </p:sp>
      <p:sp>
        <p:nvSpPr>
          <p:cNvPr id="24" name="rev_3_txt"/>
          <p:cNvSpPr txBox="1"/>
          <p:nvPr/>
        </p:nvSpPr>
        <p:spPr>
          <a:xfrm>
            <a:off x="6793992" y="4169664"/>
            <a:ext cx="4754880"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가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치마가 아니에요</a:t>
            </a:r>
            <a:r>
              <a:rPr lang="en-US" sz="2200" b="1" dirty="0">
                <a:solidFill>
                  <a:srgbClr val="FFFFFF"/>
                </a:solidFill>
              </a:rPr>
              <a:t>.</a:t>
            </a:r>
            <a:endParaRPr lang="en-US" sz="2200" dirty="0"/>
          </a:p>
        </p:txBody>
      </p:sp>
      <p:sp>
        <p:nvSpPr>
          <p:cNvPr id="25"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6"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7" name="Text 24"/>
          <p:cNvSpPr txBox="1"/>
          <p:nvPr/>
        </p:nvSpPr>
        <p:spPr>
          <a:xfrm>
            <a:off x="1856232" y="4855464"/>
            <a:ext cx="461772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토끼 인형</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있어요</a:t>
            </a:r>
            <a:r>
              <a:rPr lang="en-US" sz="2400" dirty="0">
                <a:solidFill>
                  <a:srgbClr val="14142B"/>
                </a:solidFill>
              </a:rPr>
              <a:t>.</a:t>
            </a:r>
            <a:endParaRPr lang="en-US" sz="2400" dirty="0"/>
          </a:p>
        </p:txBody>
      </p:sp>
      <p:sp>
        <p:nvSpPr>
          <p:cNvPr id="28" name="rev_4_caja"/>
          <p:cNvSpPr/>
          <p:nvPr/>
        </p:nvSpPr>
        <p:spPr>
          <a:xfrm>
            <a:off x="6702552" y="4892040"/>
            <a:ext cx="4937760" cy="521208"/>
          </a:xfrm>
          <a:prstGeom prst="roundRect">
            <a:avLst>
              <a:gd name="adj" fmla="val 21053"/>
            </a:avLst>
          </a:prstGeom>
          <a:solidFill>
            <a:srgbClr val="4236F6"/>
          </a:solidFill>
          <a:ln w="12700">
            <a:solidFill>
              <a:srgbClr val="4236F6"/>
            </a:solidFill>
            <a:prstDash val="solid"/>
          </a:ln>
        </p:spPr>
      </p:sp>
      <p:sp>
        <p:nvSpPr>
          <p:cNvPr id="29" name="rev_4_txt"/>
          <p:cNvSpPr txBox="1"/>
          <p:nvPr/>
        </p:nvSpPr>
        <p:spPr>
          <a:xfrm>
            <a:off x="6793992" y="4892040"/>
            <a:ext cx="4754880"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이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토끼 인형이 있어요</a:t>
            </a:r>
            <a:r>
              <a:rPr lang="en-US" sz="2200" b="1" dirty="0">
                <a:solidFill>
                  <a:srgbClr val="FFFFFF"/>
                </a:solidFill>
              </a:rPr>
              <a:t>.</a:t>
            </a:r>
            <a:endParaRPr lang="en-US" sz="2200" dirty="0"/>
          </a:p>
        </p:txBody>
      </p:sp>
      <p:sp>
        <p:nvSpPr>
          <p:cNvPr id="30"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1"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2" name="Text 29"/>
          <p:cNvSpPr txBox="1"/>
          <p:nvPr/>
        </p:nvSpPr>
        <p:spPr>
          <a:xfrm>
            <a:off x="1856232" y="5577840"/>
            <a:ext cx="4617720" cy="594360"/>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(sobre ti) 안경이 있어요</a:t>
            </a:r>
            <a:r>
              <a:rPr lang="en-US" sz="2300" dirty="0">
                <a:solidFill>
                  <a:srgbClr val="14142B"/>
                </a:solidFill>
              </a:rPr>
              <a:t>?</a:t>
            </a:r>
            <a:endParaRPr lang="en-US" sz="2300" dirty="0"/>
          </a:p>
        </p:txBody>
      </p:sp>
      <p:sp>
        <p:nvSpPr>
          <p:cNvPr id="33" name="rev_5_caja"/>
          <p:cNvSpPr/>
          <p:nvPr/>
        </p:nvSpPr>
        <p:spPr>
          <a:xfrm>
            <a:off x="6702552" y="5614416"/>
            <a:ext cx="4937760" cy="521208"/>
          </a:xfrm>
          <a:prstGeom prst="roundRect">
            <a:avLst>
              <a:gd name="adj" fmla="val 21053"/>
            </a:avLst>
          </a:prstGeom>
          <a:solidFill>
            <a:srgbClr val="4236F6"/>
          </a:solidFill>
          <a:ln w="12700">
            <a:solidFill>
              <a:srgbClr val="4236F6"/>
            </a:solidFill>
            <a:prstDash val="solid"/>
          </a:ln>
        </p:spPr>
      </p:sp>
      <p:sp>
        <p:nvSpPr>
          <p:cNvPr id="34" name="rev_5_txt"/>
          <p:cNvSpPr txBox="1"/>
          <p:nvPr/>
        </p:nvSpPr>
        <p:spPr>
          <a:xfrm>
            <a:off x="6793992" y="5614416"/>
            <a:ext cx="4754880"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네</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있어요</a:t>
            </a:r>
            <a:r>
              <a:rPr lang="en-US" sz="2200" b="1" dirty="0">
                <a:solidFill>
                  <a:srgbClr val="FFFFFF"/>
                </a:solidFill>
              </a:rPr>
              <a:t>. / </a:t>
            </a:r>
            <a:r>
              <a:rPr lang="ko-KR" altLang="en-US" sz="2200" b="1" dirty="0">
                <a:solidFill>
                  <a:srgbClr val="FFFFFF"/>
                </a:solidFill>
                <a:latin typeface="Malgun Gothic" pitchFamily="34" charset="0"/>
                <a:ea typeface="Malgun Gothic" pitchFamily="34" charset="-122"/>
                <a:cs typeface="Malgun Gothic" pitchFamily="34" charset="-120"/>
              </a:rPr>
              <a:t>아니요</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없어요</a:t>
            </a:r>
            <a:r>
              <a:rPr lang="en-US" sz="2200" b="1" dirty="0">
                <a:solidFill>
                  <a:srgbClr val="FFFFFF"/>
                </a:solidFill>
              </a:rPr>
              <a:t>.</a:t>
            </a:r>
            <a:endParaRPr lang="en-US" sz="2200" dirty="0"/>
          </a:p>
        </p:txBody>
      </p:sp>
      <p:sp>
        <p:nvSpPr>
          <p:cNvPr id="3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9" grpId="0" animBg="1"/>
      <p:bldP spid="24" grpId="0" animBg="1"/>
      <p:bldP spid="29"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오늘의 목표  </a:t>
            </a:r>
            <a:r>
              <a:rPr lang="en-US" sz="2600" b="1" dirty="0">
                <a:solidFill>
                  <a:srgbClr val="003478"/>
                </a:solidFill>
              </a:rPr>
              <a:t>Hoy vas a poder decir…</a:t>
            </a:r>
            <a:r>
              <a:rPr lang="en-US" sz="1500" b="1" i="1" dirty="0">
                <a:solidFill>
                  <a:srgbClr val="8A8DA0"/>
                </a:solidFill>
              </a:rPr>
              <a:t>   Today you'll be able to say…</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Lugar + 에서 </a:t>
            </a:r>
            <a:r>
              <a:rPr lang="en-US" sz="1800" i="1" dirty="0">
                <a:solidFill>
                  <a:srgbClr val="4236F6"/>
                </a:solidFill>
              </a:rPr>
              <a:t>+ lo que haces ahí</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빵 가게에서 빵을 사요</a:t>
            </a:r>
            <a:r>
              <a:rPr lang="en-US" sz="2800" dirty="0">
                <a:solidFill>
                  <a:srgbClr val="14142B"/>
                </a:solidFill>
              </a:rPr>
              <a:t>. — Compro pan en la panadería.</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집에서 김밥을 만들어요</a:t>
            </a:r>
            <a:r>
              <a:rPr lang="en-US" sz="2800" dirty="0">
                <a:solidFill>
                  <a:srgbClr val="14142B"/>
                </a:solidFill>
              </a:rPr>
              <a:t>. — Hago kimbap en casa.</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어디에서 운동해요</a:t>
            </a:r>
            <a:r>
              <a:rPr lang="en-US" sz="2800" dirty="0">
                <a:solidFill>
                  <a:srgbClr val="14142B"/>
                </a:solidFill>
              </a:rPr>
              <a:t>? — </a:t>
            </a:r>
            <a:r>
              <a:rPr lang="ko-KR" altLang="en-US" sz="2800" dirty="0">
                <a:solidFill>
                  <a:srgbClr val="14142B"/>
                </a:solidFill>
                <a:latin typeface="Malgun Gothic" pitchFamily="34" charset="0"/>
                <a:ea typeface="Malgun Gothic" pitchFamily="34" charset="-122"/>
                <a:cs typeface="Malgun Gothic" pitchFamily="34" charset="-120"/>
              </a:rPr>
              <a:t>공원에서 운동해요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회사에 가요</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회사에서 일해요</a:t>
            </a:r>
            <a:r>
              <a:rPr lang="en-US" sz="2800" dirty="0">
                <a:solidFill>
                  <a:srgbClr val="14142B"/>
                </a:solidFill>
              </a:rPr>
              <a:t>. — </a:t>
            </a:r>
            <a:r>
              <a:rPr lang="ko-KR" altLang="en-US" sz="2800" dirty="0">
                <a:solidFill>
                  <a:srgbClr val="14142B"/>
                </a:solidFill>
                <a:latin typeface="Malgun Gothic" pitchFamily="34" charset="0"/>
                <a:ea typeface="Malgun Gothic" pitchFamily="34" charset="-122"/>
                <a:cs typeface="Malgun Gothic" pitchFamily="34" charset="-120"/>
              </a:rPr>
              <a:t>에 </a:t>
            </a:r>
            <a:r>
              <a:rPr lang="en-US" sz="2800" dirty="0">
                <a:solidFill>
                  <a:srgbClr val="14142B"/>
                </a:solidFill>
              </a:rPr>
              <a:t>y </a:t>
            </a:r>
            <a:r>
              <a:rPr lang="ko-KR" altLang="en-US" sz="2800" dirty="0">
                <a:solidFill>
                  <a:srgbClr val="14142B"/>
                </a:solidFill>
                <a:latin typeface="Malgun Gothic" pitchFamily="34" charset="0"/>
                <a:ea typeface="Malgun Gothic" pitchFamily="34" charset="-122"/>
                <a:cs typeface="Malgun Gothic" pitchFamily="34" charset="-120"/>
              </a:rPr>
              <a:t>에서</a:t>
            </a:r>
            <a:r>
              <a:rPr lang="en-US" sz="2800" dirty="0">
                <a:solidFill>
                  <a:srgbClr val="14142B"/>
                </a:solidFill>
              </a:rPr>
              <a:t>, sin confundirlos</a:t>
            </a:r>
            <a:endParaRPr lang="en-US" sz="2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오늘의</a:t>
            </a:r>
            <a:endParaRPr lang="en-US" sz="7700" dirty="0"/>
          </a:p>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목표</a:t>
            </a:r>
            <a:endParaRPr lang="en-US" sz="7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들어 보세요  </a:t>
            </a:r>
            <a:r>
              <a:rPr lang="ko-KR" altLang="en-US" sz="3000" b="1" dirty="0">
                <a:solidFill>
                  <a:srgbClr val="003478"/>
                </a:solidFill>
                <a:latin typeface="Malgun Gothic" pitchFamily="34" charset="0"/>
                <a:ea typeface="Malgun Gothic" pitchFamily="34" charset="-122"/>
                <a:cs typeface="Malgun Gothic" pitchFamily="34" charset="-120"/>
              </a:rPr>
              <a:t>Escucha: el plan de 도윤</a:t>
            </a:r>
            <a:r>
              <a:rPr lang="ko-KR" altLang="en-US" sz="1500" b="1" i="1" dirty="0">
                <a:solidFill>
                  <a:srgbClr val="8A8DA0"/>
                </a:solidFill>
              </a:rPr>
              <a:t>   Listen: 도윤's plan</a:t>
            </a:r>
            <a:endParaRPr lang="en-US" sz="3000" dirty="0"/>
          </a:p>
        </p:txBody>
      </p:sp>
      <p:sp>
        <p:nvSpPr>
          <p:cNvPr id="3" name="Text 1"/>
          <p:cNvSpPr txBox="1"/>
          <p:nvPr/>
        </p:nvSpPr>
        <p:spPr>
          <a:xfrm>
            <a:off x="548640" y="1325880"/>
            <a:ext cx="566928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Primero sin texto · 2 veces</a:t>
            </a:r>
            <a:endParaRPr lang="en-US" sz="1800" dirty="0"/>
          </a:p>
        </p:txBody>
      </p:sp>
      <p:sp>
        <p:nvSpPr>
          <p:cNvPr id="4" name="lista"/>
          <p:cNvSpPr txBox="1"/>
          <p:nvPr/>
        </p:nvSpPr>
        <p:spPr>
          <a:xfrm>
            <a:off x="548640" y="1965960"/>
            <a:ext cx="566928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Valentina (de visita en Santiago) llama a 도윤 </a:t>
            </a:r>
            <a:r>
              <a:rPr lang="en-US" sz="2800" dirty="0">
                <a:solidFill>
                  <a:srgbClr val="14142B"/>
                </a:solidFill>
              </a:rPr>
              <a:t>por video</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1. ¿Adónde va 도윤 </a:t>
            </a:r>
            <a:r>
              <a:rPr lang="en-US" sz="2800" dirty="0">
                <a:solidFill>
                  <a:srgbClr val="14142B"/>
                </a:solidFill>
              </a:rPr>
              <a:t>mañana en la mañana?</a:t>
            </a:r>
            <a:endParaRPr lang="en-US" sz="2800" dirty="0"/>
          </a:p>
          <a:p>
            <a:pPr marL="228600" indent="-228600" eaLnBrk="1">
              <a:spcAft>
                <a:spcPts val="800"/>
              </a:spcAft>
              <a:buSzPct val="100000"/>
              <a:buChar char="•"/>
            </a:pPr>
            <a:r>
              <a:rPr lang="en-US" sz="2800" dirty="0">
                <a:solidFill>
                  <a:srgbClr val="14142B"/>
                </a:solidFill>
              </a:rPr>
              <a:t>2. ¿Qué compra ahí?</a:t>
            </a:r>
            <a:endParaRPr lang="en-US" sz="2800" dirty="0"/>
          </a:p>
          <a:p>
            <a:pPr marL="228600" indent="-228600" eaLnBrk="1">
              <a:spcAft>
                <a:spcPts val="800"/>
              </a:spcAft>
              <a:buSzPct val="100000"/>
              <a:buChar char="•"/>
            </a:pPr>
            <a:r>
              <a:rPr lang="en-US" sz="2800" dirty="0">
                <a:solidFill>
                  <a:srgbClr val="14142B"/>
                </a:solidFill>
              </a:rPr>
              <a:t>3. ¿Qué hace en casa?</a:t>
            </a:r>
            <a:endParaRPr lang="en-US" sz="2800" dirty="0"/>
          </a:p>
        </p:txBody>
      </p:sp>
      <p:sp>
        <p:nvSpPr>
          <p:cNvPr id="5"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6" name="imagen" descr="C:\Users\Chingu\AppData\Local\Temp\claude\C--Users-Chingu-Desktop-ACADEMIASEULWEB\d4111e1b-5523-44ea-97b2-b1a1d9545b9e\scratchpad\decks\cache\img_e42919da85396d09.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본문  </a:t>
            </a:r>
            <a:r>
              <a:rPr lang="en-US" sz="3000" b="1" dirty="0">
                <a:solidFill>
                  <a:srgbClr val="003478"/>
                </a:solidFill>
              </a:rPr>
              <a:t>La escena</a:t>
            </a:r>
            <a:r>
              <a:rPr lang="en-US" sz="1500" b="1" i="1" dirty="0">
                <a:solidFill>
                  <a:srgbClr val="8A8DA0"/>
                </a:solidFill>
              </a:rPr>
              <a:t>   The scene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Escucha · repite · lee en pareja con Jay</a:t>
            </a:r>
            <a:endParaRPr lang="en-US" sz="1800" dirty="0"/>
          </a:p>
        </p:txBody>
      </p:sp>
      <p:sp>
        <p:nvSpPr>
          <p:cNvPr id="4" name="card_0"/>
          <p:cNvSpPr/>
          <p:nvPr/>
        </p:nvSpPr>
        <p:spPr>
          <a:xfrm>
            <a:off x="548640"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5" name="Text 3"/>
          <p:cNvSpPr txBox="1"/>
          <p:nvPr/>
        </p:nvSpPr>
        <p:spPr>
          <a:xfrm>
            <a:off x="548640" y="2228393"/>
            <a:ext cx="2601468" cy="691744"/>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도윤 씨</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내일 뭐 해요</a:t>
            </a:r>
            <a:r>
              <a:rPr lang="en-US" sz="1600" b="1" dirty="0">
                <a:solidFill>
                  <a:srgbClr val="4236F6"/>
                </a:solidFill>
              </a:rPr>
              <a:t>?</a:t>
            </a:r>
            <a:endParaRPr lang="en-US" sz="1600" dirty="0"/>
          </a:p>
        </p:txBody>
      </p:sp>
      <p:sp>
        <p:nvSpPr>
          <p:cNvPr id="6" name="Text 4"/>
          <p:cNvSpPr txBox="1"/>
          <p:nvPr/>
        </p:nvSpPr>
        <p:spPr>
          <a:xfrm>
            <a:off x="621792" y="2920136"/>
            <a:ext cx="2455164" cy="91577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Valentina · 도윤</a:t>
            </a:r>
            <a:r>
              <a:rPr lang="en-US" sz="1600" dirty="0">
                <a:solidFill>
                  <a:srgbClr val="5C5F6B"/>
                </a:solidFill>
              </a:rPr>
              <a:t>, ¿qué haces mañana?</a:t>
            </a:r>
            <a:endParaRPr lang="en-US" sz="16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2747772" y="1947672"/>
            <a:ext cx="310896" cy="310896"/>
          </a:xfrm>
          <a:prstGeom prst="rect">
            <a:avLst/>
          </a:prstGeom>
        </p:spPr>
      </p:pic>
      <p:sp>
        <p:nvSpPr>
          <p:cNvPr id="8" name="card_1"/>
          <p:cNvSpPr/>
          <p:nvPr/>
        </p:nvSpPr>
        <p:spPr>
          <a:xfrm>
            <a:off x="3378708"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9" name="Text 6"/>
          <p:cNvSpPr txBox="1"/>
          <p:nvPr/>
        </p:nvSpPr>
        <p:spPr>
          <a:xfrm>
            <a:off x="3378708" y="2228393"/>
            <a:ext cx="2601468" cy="691744"/>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아침에 서아하고 빵 가게에 가요</a:t>
            </a:r>
            <a:r>
              <a:rPr lang="en-US" sz="1600" b="1" dirty="0">
                <a:solidFill>
                  <a:srgbClr val="4236F6"/>
                </a:solidFill>
              </a:rPr>
              <a:t>.</a:t>
            </a:r>
            <a:endParaRPr lang="en-US" sz="1600" dirty="0"/>
          </a:p>
        </p:txBody>
      </p:sp>
      <p:sp>
        <p:nvSpPr>
          <p:cNvPr id="10" name="Text 7"/>
          <p:cNvSpPr txBox="1"/>
          <p:nvPr/>
        </p:nvSpPr>
        <p:spPr>
          <a:xfrm>
            <a:off x="3451860" y="2920136"/>
            <a:ext cx="2455164" cy="91577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도윤 </a:t>
            </a:r>
            <a:r>
              <a:rPr lang="en-US" sz="1600" dirty="0">
                <a:solidFill>
                  <a:srgbClr val="5C5F6B"/>
                </a:solidFill>
              </a:rPr>
              <a:t>· En la mañana voy a la panadería con </a:t>
            </a:r>
            <a:r>
              <a:rPr lang="ko-KR" altLang="en-US" sz="1600" dirty="0">
                <a:solidFill>
                  <a:srgbClr val="5C5F6B"/>
                </a:solidFill>
                <a:latin typeface="Malgun Gothic" pitchFamily="34" charset="0"/>
                <a:ea typeface="Malgun Gothic" pitchFamily="34" charset="-122"/>
                <a:cs typeface="Malgun Gothic" pitchFamily="34" charset="-120"/>
              </a:rPr>
              <a:t>서아</a:t>
            </a:r>
            <a:r>
              <a:rPr lang="en-US" sz="1600" dirty="0">
                <a:solidFill>
                  <a:srgbClr val="5C5F6B"/>
                </a:solidFill>
              </a:rPr>
              <a:t>.</a:t>
            </a:r>
            <a:endParaRPr lang="en-US" sz="1600" dirty="0"/>
          </a:p>
        </p:txBody>
      </p:sp>
      <p:pic>
        <p:nvPicPr>
          <p:cNvPr id="11"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7"/>
          <a:stretch>
            <a:fillRect/>
          </a:stretch>
        </p:blipFill>
        <p:spPr>
          <a:xfrm>
            <a:off x="5577840" y="1947672"/>
            <a:ext cx="310896" cy="310896"/>
          </a:xfrm>
          <a:prstGeom prst="rect">
            <a:avLst/>
          </a:prstGeom>
        </p:spPr>
      </p:pic>
      <p:sp>
        <p:nvSpPr>
          <p:cNvPr id="12" name="card_2"/>
          <p:cNvSpPr/>
          <p:nvPr/>
        </p:nvSpPr>
        <p:spPr>
          <a:xfrm>
            <a:off x="6208776"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3" name="Text 9"/>
          <p:cNvSpPr txBox="1"/>
          <p:nvPr/>
        </p:nvSpPr>
        <p:spPr>
          <a:xfrm>
            <a:off x="6208776" y="2228393"/>
            <a:ext cx="2601468" cy="691744"/>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4236F6"/>
                </a:solidFill>
                <a:latin typeface="Malgun Gothic" pitchFamily="34" charset="0"/>
                <a:ea typeface="Malgun Gothic" pitchFamily="34" charset="-122"/>
                <a:cs typeface="Malgun Gothic" pitchFamily="34" charset="-120"/>
              </a:rPr>
              <a:t>빵 가게에서 뭘 사요</a:t>
            </a:r>
            <a:r>
              <a:rPr lang="en-US" sz="1800" b="1" dirty="0">
                <a:solidFill>
                  <a:srgbClr val="4236F6"/>
                </a:solidFill>
              </a:rPr>
              <a:t>?</a:t>
            </a:r>
            <a:endParaRPr lang="en-US" sz="1800" dirty="0"/>
          </a:p>
        </p:txBody>
      </p:sp>
      <p:sp>
        <p:nvSpPr>
          <p:cNvPr id="14" name="Text 10"/>
          <p:cNvSpPr txBox="1"/>
          <p:nvPr/>
        </p:nvSpPr>
        <p:spPr>
          <a:xfrm>
            <a:off x="6281928" y="2920136"/>
            <a:ext cx="2455164" cy="915772"/>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Valentina · ¿Qué compras en la panadería?</a:t>
            </a:r>
            <a:endParaRPr lang="en-US" sz="1600" dirty="0"/>
          </a:p>
        </p:txBody>
      </p:sp>
      <p:pic>
        <p:nvPicPr>
          <p:cNvPr id="19"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7"/>
          <a:stretch>
            <a:fillRect/>
          </a:stretch>
        </p:blipFill>
        <p:spPr>
          <a:xfrm>
            <a:off x="8407908" y="1947672"/>
            <a:ext cx="310896" cy="310896"/>
          </a:xfrm>
          <a:prstGeom prst="rect">
            <a:avLst/>
          </a:prstGeom>
        </p:spPr>
      </p:pic>
      <p:sp>
        <p:nvSpPr>
          <p:cNvPr id="16" name="card_3"/>
          <p:cNvSpPr/>
          <p:nvPr/>
        </p:nvSpPr>
        <p:spPr>
          <a:xfrm>
            <a:off x="9038844"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7" name="Text 12"/>
          <p:cNvSpPr txBox="1"/>
          <p:nvPr/>
        </p:nvSpPr>
        <p:spPr>
          <a:xfrm>
            <a:off x="9038844" y="2228393"/>
            <a:ext cx="2601468" cy="691744"/>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4236F6"/>
                </a:solidFill>
                <a:latin typeface="Malgun Gothic" pitchFamily="34" charset="0"/>
                <a:ea typeface="Malgun Gothic" pitchFamily="34" charset="-122"/>
                <a:cs typeface="Malgun Gothic" pitchFamily="34" charset="-120"/>
              </a:rPr>
              <a:t>빵하고 우유를 사요</a:t>
            </a:r>
            <a:r>
              <a:rPr lang="en-US" sz="1800" b="1" dirty="0">
                <a:solidFill>
                  <a:srgbClr val="4236F6"/>
                </a:solidFill>
              </a:rPr>
              <a:t>.</a:t>
            </a:r>
            <a:endParaRPr lang="en-US" sz="1800" dirty="0"/>
          </a:p>
        </p:txBody>
      </p:sp>
      <p:sp>
        <p:nvSpPr>
          <p:cNvPr id="18" name="Text 13"/>
          <p:cNvSpPr txBox="1"/>
          <p:nvPr/>
        </p:nvSpPr>
        <p:spPr>
          <a:xfrm>
            <a:off x="9111996" y="2920136"/>
            <a:ext cx="2455164" cy="91577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도윤 </a:t>
            </a:r>
            <a:r>
              <a:rPr lang="en-US" sz="1600" dirty="0">
                <a:solidFill>
                  <a:srgbClr val="5C5F6B"/>
                </a:solidFill>
              </a:rPr>
              <a:t>· Compro pan y leche.</a:t>
            </a:r>
            <a:endParaRPr lang="en-US" sz="1600" dirty="0"/>
          </a:p>
        </p:txBody>
      </p:sp>
      <p:pic>
        <p:nvPicPr>
          <p:cNvPr id="24"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7"/>
          <a:stretch>
            <a:fillRect/>
          </a:stretch>
        </p:blipFill>
        <p:spPr>
          <a:xfrm>
            <a:off x="11237976" y="1947672"/>
            <a:ext cx="310896" cy="310896"/>
          </a:xfrm>
          <a:prstGeom prst="rect">
            <a:avLst/>
          </a:prstGeom>
        </p:spPr>
      </p:pic>
      <p:sp>
        <p:nvSpPr>
          <p:cNvPr id="20" name="card_4"/>
          <p:cNvSpPr/>
          <p:nvPr/>
        </p:nvSpPr>
        <p:spPr>
          <a:xfrm>
            <a:off x="1963674"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21" name="Text 15"/>
          <p:cNvSpPr txBox="1"/>
          <p:nvPr/>
        </p:nvSpPr>
        <p:spPr>
          <a:xfrm>
            <a:off x="1963674" y="4491533"/>
            <a:ext cx="2601468" cy="691744"/>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그리고 집에서 배를 만들어요</a:t>
            </a:r>
            <a:r>
              <a:rPr lang="en-US" sz="1600" b="1" dirty="0">
                <a:solidFill>
                  <a:srgbClr val="4236F6"/>
                </a:solidFill>
              </a:rPr>
              <a:t>.</a:t>
            </a:r>
            <a:endParaRPr lang="en-US" sz="1600" dirty="0"/>
          </a:p>
        </p:txBody>
      </p:sp>
      <p:sp>
        <p:nvSpPr>
          <p:cNvPr id="22" name="Text 16"/>
          <p:cNvSpPr txBox="1"/>
          <p:nvPr/>
        </p:nvSpPr>
        <p:spPr>
          <a:xfrm>
            <a:off x="1963674" y="5183276"/>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[만드러요</a:t>
            </a:r>
            <a:r>
              <a:rPr lang="en-US" sz="1300" dirty="0">
                <a:solidFill>
                  <a:srgbClr val="8A8DA0"/>
                </a:solidFill>
              </a:rPr>
              <a:t>]</a:t>
            </a:r>
            <a:endParaRPr lang="en-US" sz="1300" dirty="0"/>
          </a:p>
        </p:txBody>
      </p:sp>
      <p:sp>
        <p:nvSpPr>
          <p:cNvPr id="23" name="Text 17"/>
          <p:cNvSpPr txBox="1"/>
          <p:nvPr/>
        </p:nvSpPr>
        <p:spPr>
          <a:xfrm>
            <a:off x="2036826" y="5457596"/>
            <a:ext cx="2455164" cy="64145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도윤 </a:t>
            </a:r>
            <a:r>
              <a:rPr lang="en-US" sz="1600" dirty="0">
                <a:solidFill>
                  <a:srgbClr val="5C5F6B"/>
                </a:solidFill>
              </a:rPr>
              <a:t>· Y en casa hacemos un </a:t>
            </a:r>
            <a:r>
              <a:rPr lang="ko-KR" altLang="en-US" sz="1600" dirty="0">
                <a:solidFill>
                  <a:srgbClr val="5C5F6B"/>
                </a:solidFill>
                <a:latin typeface="Malgun Gothic" pitchFamily="34" charset="0"/>
                <a:ea typeface="Malgun Gothic" pitchFamily="34" charset="-122"/>
                <a:cs typeface="Malgun Gothic" pitchFamily="34" charset="-120"/>
              </a:rPr>
              <a:t>배</a:t>
            </a:r>
            <a:r>
              <a:rPr lang="en-US" sz="1600" dirty="0">
                <a:solidFill>
                  <a:srgbClr val="5C5F6B"/>
                </a:solidFill>
              </a:rPr>
              <a:t>.</a:t>
            </a:r>
            <a:endParaRPr lang="en-US" sz="1600" dirty="0"/>
          </a:p>
        </p:txBody>
      </p:sp>
      <p:pic>
        <p:nvPicPr>
          <p:cNvPr id="15"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7"/>
          <a:stretch>
            <a:fillRect/>
          </a:stretch>
        </p:blipFill>
        <p:spPr>
          <a:xfrm>
            <a:off x="4162806" y="4210812"/>
            <a:ext cx="310896" cy="310896"/>
          </a:xfrm>
          <a:prstGeom prst="rect">
            <a:avLst/>
          </a:prstGeom>
        </p:spPr>
      </p:pic>
      <p:sp>
        <p:nvSpPr>
          <p:cNvPr id="25" name="card_5"/>
          <p:cNvSpPr/>
          <p:nvPr/>
        </p:nvSpPr>
        <p:spPr>
          <a:xfrm>
            <a:off x="4793742"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26" name="Text 19"/>
          <p:cNvSpPr txBox="1"/>
          <p:nvPr/>
        </p:nvSpPr>
        <p:spPr>
          <a:xfrm>
            <a:off x="4793742" y="4491533"/>
            <a:ext cx="2601468" cy="691744"/>
          </a:xfrm>
          <a:prstGeom prst="rect">
            <a:avLst/>
          </a:prstGeom>
          <a:noFill/>
          <a:ln/>
        </p:spPr>
        <p:txBody>
          <a:bodyPr wrap="square" lIns="0" tIns="0" rIns="0" bIns="0" rtlCol="0" anchor="ctr">
            <a:normAutofit/>
          </a:bodyPr>
          <a:lstStyle/>
          <a:p>
            <a:pPr marL="0" indent="0" algn="ctr" eaLnBrk="1">
              <a:buNone/>
            </a:pPr>
            <a:r>
              <a:rPr lang="ko-KR" altLang="en-US" sz="2100" b="1" dirty="0">
                <a:solidFill>
                  <a:srgbClr val="4236F6"/>
                </a:solidFill>
                <a:latin typeface="Malgun Gothic" pitchFamily="34" charset="0"/>
                <a:ea typeface="Malgun Gothic" pitchFamily="34" charset="-122"/>
                <a:cs typeface="Malgun Gothic" pitchFamily="34" charset="-120"/>
              </a:rPr>
              <a:t>배요</a:t>
            </a:r>
            <a:r>
              <a:rPr lang="en-US" sz="2100" b="1" dirty="0">
                <a:solidFill>
                  <a:srgbClr val="4236F6"/>
                </a:solidFill>
              </a:rPr>
              <a:t>? </a:t>
            </a:r>
            <a:r>
              <a:rPr lang="ko-KR" altLang="en-US" sz="2100" b="1" dirty="0">
                <a:solidFill>
                  <a:srgbClr val="4236F6"/>
                </a:solidFill>
                <a:latin typeface="Malgun Gothic" pitchFamily="34" charset="0"/>
                <a:ea typeface="Malgun Gothic" pitchFamily="34" charset="-122"/>
                <a:cs typeface="Malgun Gothic" pitchFamily="34" charset="-120"/>
              </a:rPr>
              <a:t>과일이요</a:t>
            </a:r>
            <a:r>
              <a:rPr lang="en-US" sz="2100" b="1" dirty="0">
                <a:solidFill>
                  <a:srgbClr val="4236F6"/>
                </a:solidFill>
              </a:rPr>
              <a:t>?</a:t>
            </a:r>
            <a:endParaRPr lang="en-US" sz="2100" dirty="0"/>
          </a:p>
        </p:txBody>
      </p:sp>
      <p:sp>
        <p:nvSpPr>
          <p:cNvPr id="27" name="Text 20"/>
          <p:cNvSpPr txBox="1"/>
          <p:nvPr/>
        </p:nvSpPr>
        <p:spPr>
          <a:xfrm>
            <a:off x="4866894" y="5183276"/>
            <a:ext cx="2455164" cy="91577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Valentina · ¿배</a:t>
            </a:r>
            <a:r>
              <a:rPr lang="en-US" sz="1600" dirty="0">
                <a:solidFill>
                  <a:srgbClr val="5C5F6B"/>
                </a:solidFill>
              </a:rPr>
              <a:t>? ¿La fruta, la pera?</a:t>
            </a:r>
            <a:endParaRPr lang="en-US" sz="1600" dirty="0"/>
          </a:p>
        </p:txBody>
      </p:sp>
      <p:pic>
        <p:nvPicPr>
          <p:cNvPr id="28"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7"/>
          <a:stretch>
            <a:fillRect/>
          </a:stretch>
        </p:blipFill>
        <p:spPr>
          <a:xfrm>
            <a:off x="6992874" y="4210812"/>
            <a:ext cx="310896" cy="310896"/>
          </a:xfrm>
          <a:prstGeom prst="rect">
            <a:avLst/>
          </a:prstGeom>
        </p:spPr>
      </p:pic>
      <p:sp>
        <p:nvSpPr>
          <p:cNvPr id="29" name="card_6"/>
          <p:cNvSpPr/>
          <p:nvPr/>
        </p:nvSpPr>
        <p:spPr>
          <a:xfrm>
            <a:off x="7623810"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30" name="Text 22"/>
          <p:cNvSpPr txBox="1"/>
          <p:nvPr/>
        </p:nvSpPr>
        <p:spPr>
          <a:xfrm>
            <a:off x="7623810" y="4491533"/>
            <a:ext cx="2601468" cy="691744"/>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하하</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아니요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장난감 배요</a:t>
            </a:r>
            <a:r>
              <a:rPr lang="en-US" sz="1600" b="1" dirty="0">
                <a:solidFill>
                  <a:srgbClr val="4236F6"/>
                </a:solidFill>
              </a:rPr>
              <a:t>.</a:t>
            </a:r>
            <a:endParaRPr lang="en-US" sz="1600" dirty="0"/>
          </a:p>
        </p:txBody>
      </p:sp>
      <p:sp>
        <p:nvSpPr>
          <p:cNvPr id="31" name="Text 23"/>
          <p:cNvSpPr txBox="1"/>
          <p:nvPr/>
        </p:nvSpPr>
        <p:spPr>
          <a:xfrm>
            <a:off x="7623810" y="5183276"/>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[장난깜 배요</a:t>
            </a:r>
            <a:r>
              <a:rPr lang="en-US" sz="1300" dirty="0">
                <a:solidFill>
                  <a:srgbClr val="8A8DA0"/>
                </a:solidFill>
              </a:rPr>
              <a:t>]</a:t>
            </a:r>
            <a:endParaRPr lang="en-US" sz="1300" dirty="0"/>
          </a:p>
        </p:txBody>
      </p:sp>
      <p:sp>
        <p:nvSpPr>
          <p:cNvPr id="32" name="Text 24"/>
          <p:cNvSpPr txBox="1"/>
          <p:nvPr/>
        </p:nvSpPr>
        <p:spPr>
          <a:xfrm>
            <a:off x="7696962" y="5457596"/>
            <a:ext cx="2455164" cy="641452"/>
          </a:xfrm>
          <a:prstGeom prst="rect">
            <a:avLst/>
          </a:prstGeom>
          <a:noFill/>
          <a:ln/>
        </p:spPr>
        <p:txBody>
          <a:bodyPr wrap="square" lIns="0" tIns="0" rIns="0" bIns="0" rtlCol="0" anchor="t">
            <a:normAutofit/>
          </a:bodyPr>
          <a:lstStyle/>
          <a:p>
            <a:pPr marL="0" indent="0" algn="ctr" eaLnBrk="1">
              <a:buNone/>
            </a:pPr>
            <a:r>
              <a:rPr lang="ko-KR" altLang="en-US" sz="1400" dirty="0">
                <a:solidFill>
                  <a:srgbClr val="5C5F6B"/>
                </a:solidFill>
                <a:latin typeface="Malgun Gothic" pitchFamily="34" charset="0"/>
                <a:ea typeface="Malgun Gothic" pitchFamily="34" charset="-122"/>
                <a:cs typeface="Malgun Gothic" pitchFamily="34" charset="-120"/>
              </a:rPr>
              <a:t>도윤 </a:t>
            </a:r>
            <a:r>
              <a:rPr lang="en-US" sz="1400" dirty="0">
                <a:solidFill>
                  <a:srgbClr val="5C5F6B"/>
                </a:solidFill>
              </a:rPr>
              <a:t>· ¡Jaja, no! Un barquito de juguete.</a:t>
            </a:r>
            <a:endParaRPr lang="en-US" sz="1400" dirty="0"/>
          </a:p>
        </p:txBody>
      </p:sp>
      <p:pic>
        <p:nvPicPr>
          <p:cNvPr id="33" name="Media 6">
            <a:hlinkClick r:id="" action="ppaction://media"/>
          </p:cNvPr>
          <p:cNvPicPr>
            <a:picLocks noChangeAspect="1"/>
          </p:cNvPicPr>
          <p:nvPr>
            <a:audioFile r:link="rId14"/>
            <p:extLst>
              <p:ext uri="{DAA4B4D4-6D71-4841-9C94-3DE7FCFB9230}">
                <p14:media xmlns:p14="http://schemas.microsoft.com/office/powerpoint/2010/main" r:embed="rId13"/>
              </p:ext>
            </p:extLst>
          </p:nvPr>
        </p:nvPicPr>
        <p:blipFill>
          <a:blip r:embed="rId17"/>
          <a:stretch>
            <a:fillRect/>
          </a:stretch>
        </p:blipFill>
        <p:spPr>
          <a:xfrm>
            <a:off x="9822942" y="4210812"/>
            <a:ext cx="310896" cy="310896"/>
          </a:xfrm>
          <a:prstGeom prst="rect">
            <a:avLst/>
          </a:prstGeom>
        </p:spPr>
      </p:pic>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¿Entendiste?</a:t>
            </a:r>
            <a:r>
              <a:rPr lang="en-US" sz="1500" b="1" i="1" dirty="0">
                <a:solidFill>
                  <a:srgbClr val="8A8DA0"/>
                </a:solidFill>
              </a:rPr>
              <a:t>   Did you get it?</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Responde con la frase completa · Jay pregunta en coreano; la respuesta sale con clic</a:t>
            </a:r>
            <a:endParaRPr lang="en-US" sz="1800" dirty="0"/>
          </a:p>
        </p:txBody>
      </p:sp>
      <p:sp>
        <p:nvSpPr>
          <p:cNvPr id="4" name="num_0"/>
          <p:cNvSpPr/>
          <p:nvPr/>
        </p:nvSpPr>
        <p:spPr>
          <a:xfrm>
            <a:off x="548640" y="217170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7170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도윤 씨는 내일 아침에 어디에 가요</a:t>
            </a:r>
            <a:r>
              <a:rPr lang="en-US" sz="2400" dirty="0">
                <a:solidFill>
                  <a:srgbClr val="14142B"/>
                </a:solidFill>
              </a:rPr>
              <a:t>?</a:t>
            </a:r>
            <a:endParaRPr lang="en-US" sz="2400" dirty="0"/>
          </a:p>
        </p:txBody>
      </p:sp>
      <p:sp>
        <p:nvSpPr>
          <p:cNvPr id="7" name="rev_6_caja"/>
          <p:cNvSpPr/>
          <p:nvPr/>
        </p:nvSpPr>
        <p:spPr>
          <a:xfrm>
            <a:off x="7498080" y="2002536"/>
            <a:ext cx="4142232" cy="795528"/>
          </a:xfrm>
          <a:prstGeom prst="roundRect">
            <a:avLst>
              <a:gd name="adj" fmla="val 13793"/>
            </a:avLst>
          </a:prstGeom>
          <a:solidFill>
            <a:srgbClr val="4236F6"/>
          </a:solidFill>
          <a:ln w="12700">
            <a:solidFill>
              <a:srgbClr val="4236F6"/>
            </a:solidFill>
            <a:prstDash val="solid"/>
          </a:ln>
        </p:spPr>
      </p:sp>
      <p:sp>
        <p:nvSpPr>
          <p:cNvPr id="8" name="rev_6_txt"/>
          <p:cNvSpPr txBox="1"/>
          <p:nvPr/>
        </p:nvSpPr>
        <p:spPr>
          <a:xfrm>
            <a:off x="7589520" y="2002536"/>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빵 가게에 가요</a:t>
            </a:r>
            <a:r>
              <a:rPr lang="en-US" sz="2200" b="1" dirty="0">
                <a:solidFill>
                  <a:srgbClr val="FFFFFF"/>
                </a:solidFill>
              </a:rPr>
              <a:t>.</a:t>
            </a:r>
            <a:endParaRPr lang="en-US" sz="2200" dirty="0"/>
          </a:p>
        </p:txBody>
      </p:sp>
      <p:sp>
        <p:nvSpPr>
          <p:cNvPr id="9" name="num_1"/>
          <p:cNvSpPr/>
          <p:nvPr/>
        </p:nvSpPr>
        <p:spPr>
          <a:xfrm>
            <a:off x="548640" y="316839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16839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962656"/>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빵 가게에서 뭘 사요</a:t>
            </a:r>
            <a:r>
              <a:rPr lang="en-US" sz="2400" dirty="0">
                <a:solidFill>
                  <a:srgbClr val="14142B"/>
                </a:solidFill>
              </a:rPr>
              <a:t>?</a:t>
            </a:r>
            <a:endParaRPr lang="en-US" sz="2400" dirty="0"/>
          </a:p>
        </p:txBody>
      </p:sp>
      <p:sp>
        <p:nvSpPr>
          <p:cNvPr id="12" name="rev_7_caja"/>
          <p:cNvSpPr/>
          <p:nvPr/>
        </p:nvSpPr>
        <p:spPr>
          <a:xfrm>
            <a:off x="7498080" y="2999232"/>
            <a:ext cx="4142232" cy="795528"/>
          </a:xfrm>
          <a:prstGeom prst="roundRect">
            <a:avLst>
              <a:gd name="adj" fmla="val 13793"/>
            </a:avLst>
          </a:prstGeom>
          <a:solidFill>
            <a:srgbClr val="4236F6"/>
          </a:solidFill>
          <a:ln w="12700">
            <a:solidFill>
              <a:srgbClr val="4236F6"/>
            </a:solidFill>
            <a:prstDash val="solid"/>
          </a:ln>
        </p:spPr>
      </p:sp>
      <p:sp>
        <p:nvSpPr>
          <p:cNvPr id="13" name="rev_7_txt"/>
          <p:cNvSpPr txBox="1"/>
          <p:nvPr/>
        </p:nvSpPr>
        <p:spPr>
          <a:xfrm>
            <a:off x="7589520" y="2999232"/>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빵하고 우유를 사요</a:t>
            </a:r>
            <a:r>
              <a:rPr lang="en-US" sz="2200" b="1" dirty="0">
                <a:solidFill>
                  <a:srgbClr val="FFFFFF"/>
                </a:solidFill>
              </a:rPr>
              <a:t>.</a:t>
            </a:r>
            <a:endParaRPr lang="en-US" sz="2200" dirty="0"/>
          </a:p>
        </p:txBody>
      </p:sp>
      <p:sp>
        <p:nvSpPr>
          <p:cNvPr id="14" name="num_2"/>
          <p:cNvSpPr/>
          <p:nvPr/>
        </p:nvSpPr>
        <p:spPr>
          <a:xfrm>
            <a:off x="548640" y="41650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1650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959352"/>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어디에서 장난감 배를 만들어요</a:t>
            </a:r>
            <a:r>
              <a:rPr lang="en-US" sz="2400" dirty="0">
                <a:solidFill>
                  <a:srgbClr val="14142B"/>
                </a:solidFill>
              </a:rPr>
              <a:t>?</a:t>
            </a:r>
            <a:endParaRPr lang="en-US" sz="2400" dirty="0"/>
          </a:p>
        </p:txBody>
      </p:sp>
      <p:sp>
        <p:nvSpPr>
          <p:cNvPr id="17" name="rev_8_caja"/>
          <p:cNvSpPr/>
          <p:nvPr/>
        </p:nvSpPr>
        <p:spPr>
          <a:xfrm>
            <a:off x="7498080" y="3995928"/>
            <a:ext cx="4142232" cy="795528"/>
          </a:xfrm>
          <a:prstGeom prst="roundRect">
            <a:avLst>
              <a:gd name="adj" fmla="val 13793"/>
            </a:avLst>
          </a:prstGeom>
          <a:solidFill>
            <a:srgbClr val="4236F6"/>
          </a:solidFill>
          <a:ln w="12700">
            <a:solidFill>
              <a:srgbClr val="4236F6"/>
            </a:solidFill>
            <a:prstDash val="solid"/>
          </a:ln>
        </p:spPr>
      </p:sp>
      <p:sp>
        <p:nvSpPr>
          <p:cNvPr id="18" name="rev_8_txt"/>
          <p:cNvSpPr txBox="1"/>
          <p:nvPr/>
        </p:nvSpPr>
        <p:spPr>
          <a:xfrm>
            <a:off x="7589520" y="3995928"/>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집에서 만들어요</a:t>
            </a:r>
            <a:r>
              <a:rPr lang="en-US" sz="2200" b="1" dirty="0">
                <a:solidFill>
                  <a:srgbClr val="FFFFFF"/>
                </a:solidFill>
              </a:rPr>
              <a:t>.</a:t>
            </a:r>
            <a:endParaRPr lang="en-US" sz="2200" dirty="0"/>
          </a:p>
        </p:txBody>
      </p:sp>
      <p:sp>
        <p:nvSpPr>
          <p:cNvPr id="19" name="num_3"/>
          <p:cNvSpPr/>
          <p:nvPr/>
        </p:nvSpPr>
        <p:spPr>
          <a:xfrm>
            <a:off x="548640" y="516178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516178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956048"/>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도윤 씨는 집에서 뭘 만들어요</a:t>
            </a:r>
            <a:r>
              <a:rPr lang="en-US" sz="2400" dirty="0">
                <a:solidFill>
                  <a:srgbClr val="14142B"/>
                </a:solidFill>
              </a:rPr>
              <a:t>?</a:t>
            </a:r>
            <a:endParaRPr lang="en-US" sz="2400" dirty="0"/>
          </a:p>
        </p:txBody>
      </p:sp>
      <p:sp>
        <p:nvSpPr>
          <p:cNvPr id="22" name="rev_9_caja"/>
          <p:cNvSpPr/>
          <p:nvPr/>
        </p:nvSpPr>
        <p:spPr>
          <a:xfrm>
            <a:off x="7498080" y="4992624"/>
            <a:ext cx="4142232" cy="795528"/>
          </a:xfrm>
          <a:prstGeom prst="roundRect">
            <a:avLst>
              <a:gd name="adj" fmla="val 13793"/>
            </a:avLst>
          </a:prstGeom>
          <a:solidFill>
            <a:srgbClr val="4236F6"/>
          </a:solidFill>
          <a:ln w="12700">
            <a:solidFill>
              <a:srgbClr val="4236F6"/>
            </a:solidFill>
            <a:prstDash val="solid"/>
          </a:ln>
        </p:spPr>
      </p:sp>
      <p:sp>
        <p:nvSpPr>
          <p:cNvPr id="23" name="rev_9_txt"/>
          <p:cNvSpPr txBox="1"/>
          <p:nvPr/>
        </p:nvSpPr>
        <p:spPr>
          <a:xfrm>
            <a:off x="7589520" y="4992624"/>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장난감 배를 만들어요</a:t>
            </a:r>
            <a:r>
              <a:rPr lang="en-US" sz="2200" b="1" dirty="0">
                <a:solidFill>
                  <a:srgbClr val="FFFFFF"/>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배워 봐요  </a:t>
            </a:r>
            <a:r>
              <a:rPr lang="en-US" sz="3000" b="1" dirty="0">
                <a:solidFill>
                  <a:srgbClr val="003478"/>
                </a:solidFill>
              </a:rPr>
              <a:t>Lugares nuevos</a:t>
            </a:r>
            <a:r>
              <a:rPr lang="en-US" sz="1500" b="1" i="1" dirty="0">
                <a:solidFill>
                  <a:srgbClr val="8A8DA0"/>
                </a:solidFill>
              </a:rPr>
              <a:t>   New places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Escucha 2 veces · repite · después, solo con la imagen</a:t>
            </a:r>
            <a:endParaRPr lang="en-US" sz="1800" dirty="0"/>
          </a:p>
        </p:txBody>
      </p:sp>
      <p:sp>
        <p:nvSpPr>
          <p:cNvPr id="4" name="card_0"/>
          <p:cNvSpPr/>
          <p:nvPr/>
        </p:nvSpPr>
        <p:spPr>
          <a:xfrm>
            <a:off x="548640"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img_9a3c061370a13605.png"/>
          <p:cNvPicPr>
            <a:picLocks noChangeAspect="1"/>
          </p:cNvPicPr>
          <p:nvPr/>
        </p:nvPicPr>
        <p:blipFill>
          <a:blip r:embed="rId15"/>
          <a:stretch>
            <a:fillRect/>
          </a:stretch>
        </p:blipFill>
        <p:spPr>
          <a:xfrm>
            <a:off x="1832762" y="1984248"/>
            <a:ext cx="976579" cy="976579"/>
          </a:xfrm>
          <a:prstGeom prst="rect">
            <a:avLst/>
          </a:prstGeom>
        </p:spPr>
      </p:pic>
      <p:sp>
        <p:nvSpPr>
          <p:cNvPr id="6" name="Text 3"/>
          <p:cNvSpPr txBox="1"/>
          <p:nvPr/>
        </p:nvSpPr>
        <p:spPr>
          <a:xfrm>
            <a:off x="548640"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동물원</a:t>
            </a:r>
            <a:endParaRPr lang="en-US" sz="2500" dirty="0"/>
          </a:p>
        </p:txBody>
      </p:sp>
      <p:sp>
        <p:nvSpPr>
          <p:cNvPr id="7" name="Text 4"/>
          <p:cNvSpPr txBox="1"/>
          <p:nvPr/>
        </p:nvSpPr>
        <p:spPr>
          <a:xfrm>
            <a:off x="548640" y="3386023"/>
            <a:ext cx="3544824"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[동무뤈</a:t>
            </a:r>
            <a:r>
              <a:rPr lang="en-US" sz="1300" dirty="0">
                <a:solidFill>
                  <a:srgbClr val="8A8DA0"/>
                </a:solidFill>
              </a:rPr>
              <a:t>]</a:t>
            </a:r>
            <a:endParaRPr lang="en-US" sz="1300" dirty="0"/>
          </a:p>
        </p:txBody>
      </p:sp>
      <p:sp>
        <p:nvSpPr>
          <p:cNvPr id="8" name="Text 5"/>
          <p:cNvSpPr txBox="1"/>
          <p:nvPr/>
        </p:nvSpPr>
        <p:spPr>
          <a:xfrm>
            <a:off x="621792"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zoológico</a:t>
            </a:r>
            <a:endParaRPr lang="en-US" sz="1600" dirty="0"/>
          </a:p>
        </p:txBody>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6"/>
          <a:stretch>
            <a:fillRect/>
          </a:stretch>
        </p:blipFill>
        <p:spPr>
          <a:xfrm>
            <a:off x="3691128" y="1947672"/>
            <a:ext cx="310896" cy="310896"/>
          </a:xfrm>
          <a:prstGeom prst="rect">
            <a:avLst/>
          </a:prstGeom>
        </p:spPr>
      </p:pic>
      <p:sp>
        <p:nvSpPr>
          <p:cNvPr id="10" name="card_1"/>
          <p:cNvSpPr/>
          <p:nvPr/>
        </p:nvSpPr>
        <p:spPr>
          <a:xfrm>
            <a:off x="4322064"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1" name="dibujo_1" descr="C:\Users\Chingu\AppData\Local\Temp\claude\C--Users-Chingu-Desktop-ACADEMIASEULWEB\d4111e1b-5523-44ea-97b2-b1a1d9545b9e\scratchpad\decks\cache\img_052c67b83c8b306c.png"/>
          <p:cNvPicPr>
            <a:picLocks noChangeAspect="1"/>
          </p:cNvPicPr>
          <p:nvPr/>
        </p:nvPicPr>
        <p:blipFill>
          <a:blip r:embed="rId17"/>
          <a:stretch>
            <a:fillRect/>
          </a:stretch>
        </p:blipFill>
        <p:spPr>
          <a:xfrm>
            <a:off x="5606186" y="1984248"/>
            <a:ext cx="976579" cy="976579"/>
          </a:xfrm>
          <a:prstGeom prst="rect">
            <a:avLst/>
          </a:prstGeom>
        </p:spPr>
      </p:pic>
      <p:sp>
        <p:nvSpPr>
          <p:cNvPr id="12" name="Text 7"/>
          <p:cNvSpPr txBox="1"/>
          <p:nvPr/>
        </p:nvSpPr>
        <p:spPr>
          <a:xfrm>
            <a:off x="4322064"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빵 가게</a:t>
            </a:r>
            <a:endParaRPr lang="en-US" sz="2500" dirty="0"/>
          </a:p>
        </p:txBody>
      </p:sp>
      <p:sp>
        <p:nvSpPr>
          <p:cNvPr id="13" name="Text 8"/>
          <p:cNvSpPr txBox="1"/>
          <p:nvPr/>
        </p:nvSpPr>
        <p:spPr>
          <a:xfrm>
            <a:off x="4322064" y="3386023"/>
            <a:ext cx="3544824"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[빵까게</a:t>
            </a:r>
            <a:r>
              <a:rPr lang="en-US" sz="1300" dirty="0">
                <a:solidFill>
                  <a:srgbClr val="8A8DA0"/>
                </a:solidFill>
              </a:rPr>
              <a:t>]</a:t>
            </a:r>
            <a:endParaRPr lang="en-US" sz="1300" dirty="0"/>
          </a:p>
        </p:txBody>
      </p:sp>
      <p:sp>
        <p:nvSpPr>
          <p:cNvPr id="14" name="Text 9"/>
          <p:cNvSpPr txBox="1"/>
          <p:nvPr/>
        </p:nvSpPr>
        <p:spPr>
          <a:xfrm>
            <a:off x="4395216"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panadería</a:t>
            </a:r>
            <a:endParaRPr lang="en-US" sz="1600" dirty="0"/>
          </a:p>
        </p:txBody>
      </p:sp>
      <p:pic>
        <p:nvPicPr>
          <p:cNvPr id="15"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6"/>
          <a:stretch>
            <a:fillRect/>
          </a:stretch>
        </p:blipFill>
        <p:spPr>
          <a:xfrm>
            <a:off x="7464552" y="1947672"/>
            <a:ext cx="310896" cy="310896"/>
          </a:xfrm>
          <a:prstGeom prst="rect">
            <a:avLst/>
          </a:prstGeom>
        </p:spPr>
      </p:pic>
      <p:sp>
        <p:nvSpPr>
          <p:cNvPr id="16" name="card_2"/>
          <p:cNvSpPr/>
          <p:nvPr/>
        </p:nvSpPr>
        <p:spPr>
          <a:xfrm>
            <a:off x="8095488"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7" name="dibujo_2" descr="C:\Users\Chingu\AppData\Local\Temp\claude\C--Users-Chingu-Desktop-ACADEMIASEULWEB\d4111e1b-5523-44ea-97b2-b1a1d9545b9e\scratchpad\decks\cache\img_6575a670e6787e79.png"/>
          <p:cNvPicPr>
            <a:picLocks noChangeAspect="1"/>
          </p:cNvPicPr>
          <p:nvPr/>
        </p:nvPicPr>
        <p:blipFill>
          <a:blip r:embed="rId18"/>
          <a:stretch>
            <a:fillRect/>
          </a:stretch>
        </p:blipFill>
        <p:spPr>
          <a:xfrm>
            <a:off x="9379610" y="1984248"/>
            <a:ext cx="976579" cy="976579"/>
          </a:xfrm>
          <a:prstGeom prst="rect">
            <a:avLst/>
          </a:prstGeom>
        </p:spPr>
      </p:pic>
      <p:sp>
        <p:nvSpPr>
          <p:cNvPr id="18" name="Text 11"/>
          <p:cNvSpPr txBox="1"/>
          <p:nvPr/>
        </p:nvSpPr>
        <p:spPr>
          <a:xfrm>
            <a:off x="8095488"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옷 가게</a:t>
            </a:r>
            <a:endParaRPr lang="en-US" sz="2500" dirty="0"/>
          </a:p>
        </p:txBody>
      </p:sp>
      <p:sp>
        <p:nvSpPr>
          <p:cNvPr id="19" name="Text 12"/>
          <p:cNvSpPr txBox="1"/>
          <p:nvPr/>
        </p:nvSpPr>
        <p:spPr>
          <a:xfrm>
            <a:off x="8095488" y="3386023"/>
            <a:ext cx="3544824"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[옫까게</a:t>
            </a:r>
            <a:r>
              <a:rPr lang="en-US" sz="1300" dirty="0">
                <a:solidFill>
                  <a:srgbClr val="8A8DA0"/>
                </a:solidFill>
              </a:rPr>
              <a:t>]</a:t>
            </a:r>
            <a:endParaRPr lang="en-US" sz="1300" dirty="0"/>
          </a:p>
        </p:txBody>
      </p:sp>
      <p:sp>
        <p:nvSpPr>
          <p:cNvPr id="20" name="Text 13"/>
          <p:cNvSpPr txBox="1"/>
          <p:nvPr/>
        </p:nvSpPr>
        <p:spPr>
          <a:xfrm>
            <a:off x="8168640"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tienda de ropa</a:t>
            </a:r>
            <a:endParaRPr lang="en-US" sz="1600" dirty="0"/>
          </a:p>
        </p:txBody>
      </p:sp>
      <p:pic>
        <p:nvPicPr>
          <p:cNvPr id="21"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6"/>
          <a:stretch>
            <a:fillRect/>
          </a:stretch>
        </p:blipFill>
        <p:spPr>
          <a:xfrm>
            <a:off x="11237976" y="1947672"/>
            <a:ext cx="310896" cy="310896"/>
          </a:xfrm>
          <a:prstGeom prst="rect">
            <a:avLst/>
          </a:prstGeom>
        </p:spPr>
      </p:pic>
      <p:sp>
        <p:nvSpPr>
          <p:cNvPr id="22" name="card_3"/>
          <p:cNvSpPr/>
          <p:nvPr/>
        </p:nvSpPr>
        <p:spPr>
          <a:xfrm>
            <a:off x="548640"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3" name="dibujo_3" descr="C:\Users\Chingu\AppData\Local\Temp\claude\C--Users-Chingu-Desktop-ACADEMIASEULWEB\d4111e1b-5523-44ea-97b2-b1a1d9545b9e\scratchpad\decks\cache\img_b9cf68bac4a6fdcc.png"/>
          <p:cNvPicPr>
            <a:picLocks noChangeAspect="1"/>
          </p:cNvPicPr>
          <p:nvPr/>
        </p:nvPicPr>
        <p:blipFill>
          <a:blip r:embed="rId19"/>
          <a:stretch>
            <a:fillRect/>
          </a:stretch>
        </p:blipFill>
        <p:spPr>
          <a:xfrm>
            <a:off x="1832762" y="4247388"/>
            <a:ext cx="976579" cy="976579"/>
          </a:xfrm>
          <a:prstGeom prst="rect">
            <a:avLst/>
          </a:prstGeom>
        </p:spPr>
      </p:pic>
      <p:sp>
        <p:nvSpPr>
          <p:cNvPr id="24" name="Text 15"/>
          <p:cNvSpPr txBox="1"/>
          <p:nvPr/>
        </p:nvSpPr>
        <p:spPr>
          <a:xfrm>
            <a:off x="548640"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꽃집</a:t>
            </a:r>
            <a:endParaRPr lang="en-US" sz="2500" dirty="0"/>
          </a:p>
        </p:txBody>
      </p:sp>
      <p:sp>
        <p:nvSpPr>
          <p:cNvPr id="25" name="Text 16"/>
          <p:cNvSpPr txBox="1"/>
          <p:nvPr/>
        </p:nvSpPr>
        <p:spPr>
          <a:xfrm>
            <a:off x="548640" y="5649163"/>
            <a:ext cx="3544824"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[꼳찝</a:t>
            </a:r>
            <a:r>
              <a:rPr lang="en-US" sz="1300" dirty="0">
                <a:solidFill>
                  <a:srgbClr val="8A8DA0"/>
                </a:solidFill>
              </a:rPr>
              <a:t>]</a:t>
            </a:r>
            <a:endParaRPr lang="en-US" sz="1300" dirty="0"/>
          </a:p>
        </p:txBody>
      </p:sp>
      <p:sp>
        <p:nvSpPr>
          <p:cNvPr id="26" name="Text 17"/>
          <p:cNvSpPr txBox="1"/>
          <p:nvPr/>
        </p:nvSpPr>
        <p:spPr>
          <a:xfrm>
            <a:off x="621792" y="592348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florería</a:t>
            </a:r>
            <a:endParaRPr lang="en-US" sz="1600" dirty="0"/>
          </a:p>
        </p:txBody>
      </p:sp>
      <p:pic>
        <p:nvPicPr>
          <p:cNvPr id="27"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6"/>
          <a:stretch>
            <a:fillRect/>
          </a:stretch>
        </p:blipFill>
        <p:spPr>
          <a:xfrm>
            <a:off x="3691128" y="4210812"/>
            <a:ext cx="310896" cy="310896"/>
          </a:xfrm>
          <a:prstGeom prst="rect">
            <a:avLst/>
          </a:prstGeom>
        </p:spPr>
      </p:pic>
      <p:sp>
        <p:nvSpPr>
          <p:cNvPr id="28" name="card_4"/>
          <p:cNvSpPr/>
          <p:nvPr/>
        </p:nvSpPr>
        <p:spPr>
          <a:xfrm>
            <a:off x="4322064"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9" name="dibujo_4" descr="C:\Users\Chingu\AppData\Local\Temp\claude\C--Users-Chingu-Desktop-ACADEMIASEULWEB\d4111e1b-5523-44ea-97b2-b1a1d9545b9e\scratchpad\decks\cache\img_40b29fe758c9c49b.png"/>
          <p:cNvPicPr>
            <a:picLocks noChangeAspect="1"/>
          </p:cNvPicPr>
          <p:nvPr/>
        </p:nvPicPr>
        <p:blipFill>
          <a:blip r:embed="rId20"/>
          <a:stretch>
            <a:fillRect/>
          </a:stretch>
        </p:blipFill>
        <p:spPr>
          <a:xfrm>
            <a:off x="5606186" y="4247388"/>
            <a:ext cx="976579" cy="976579"/>
          </a:xfrm>
          <a:prstGeom prst="rect">
            <a:avLst/>
          </a:prstGeom>
        </p:spPr>
      </p:pic>
      <p:sp>
        <p:nvSpPr>
          <p:cNvPr id="30" name="Text 19"/>
          <p:cNvSpPr txBox="1"/>
          <p:nvPr/>
        </p:nvSpPr>
        <p:spPr>
          <a:xfrm>
            <a:off x="4322064"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수영장</a:t>
            </a:r>
            <a:endParaRPr lang="en-US" sz="2500" dirty="0"/>
          </a:p>
        </p:txBody>
      </p:sp>
      <p:sp>
        <p:nvSpPr>
          <p:cNvPr id="31" name="Text 20"/>
          <p:cNvSpPr txBox="1"/>
          <p:nvPr/>
        </p:nvSpPr>
        <p:spPr>
          <a:xfrm>
            <a:off x="4395216" y="564916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piscina</a:t>
            </a:r>
            <a:endParaRPr lang="en-US" sz="1600" dirty="0"/>
          </a:p>
        </p:txBody>
      </p:sp>
      <p:pic>
        <p:nvPicPr>
          <p:cNvPr id="32"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6"/>
          <a:stretch>
            <a:fillRect/>
          </a:stretch>
        </p:blipFill>
        <p:spPr>
          <a:xfrm>
            <a:off x="7464552" y="4210812"/>
            <a:ext cx="310896" cy="310896"/>
          </a:xfrm>
          <a:prstGeom prst="rect">
            <a:avLst/>
          </a:prstGeom>
        </p:spPr>
      </p:pic>
      <p:sp>
        <p:nvSpPr>
          <p:cNvPr id="33" name="card_5"/>
          <p:cNvSpPr/>
          <p:nvPr/>
        </p:nvSpPr>
        <p:spPr>
          <a:xfrm>
            <a:off x="8095488"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4" name="dibujo_5" descr="C:\Users\Chingu\AppData\Local\Temp\claude\C--Users-Chingu-Desktop-ACADEMIASEULWEB\d4111e1b-5523-44ea-97b2-b1a1d9545b9e\scratchpad\decks\cache\img_95d13a20658d86b2.png"/>
          <p:cNvPicPr>
            <a:picLocks noChangeAspect="1"/>
          </p:cNvPicPr>
          <p:nvPr/>
        </p:nvPicPr>
        <p:blipFill>
          <a:blip r:embed="rId21"/>
          <a:stretch>
            <a:fillRect/>
          </a:stretch>
        </p:blipFill>
        <p:spPr>
          <a:xfrm>
            <a:off x="9379610" y="4247388"/>
            <a:ext cx="976579" cy="976579"/>
          </a:xfrm>
          <a:prstGeom prst="rect">
            <a:avLst/>
          </a:prstGeom>
        </p:spPr>
      </p:pic>
      <p:sp>
        <p:nvSpPr>
          <p:cNvPr id="35" name="Text 22"/>
          <p:cNvSpPr txBox="1"/>
          <p:nvPr/>
        </p:nvSpPr>
        <p:spPr>
          <a:xfrm>
            <a:off x="8095488"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마트</a:t>
            </a:r>
            <a:endParaRPr lang="en-US" sz="2500" dirty="0"/>
          </a:p>
        </p:txBody>
      </p:sp>
      <p:sp>
        <p:nvSpPr>
          <p:cNvPr id="36" name="Text 23"/>
          <p:cNvSpPr txBox="1"/>
          <p:nvPr/>
        </p:nvSpPr>
        <p:spPr>
          <a:xfrm>
            <a:off x="8168640" y="564916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supermercado (extra)</a:t>
            </a:r>
            <a:endParaRPr lang="en-US" sz="1600" dirty="0"/>
          </a:p>
        </p:txBody>
      </p:sp>
      <p:pic>
        <p:nvPicPr>
          <p:cNvPr id="37"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6"/>
          <a:stretch>
            <a:fillRect/>
          </a:stretch>
        </p:blipFill>
        <p:spPr>
          <a:xfrm>
            <a:off x="11237976" y="4210812"/>
            <a:ext cx="310896" cy="310896"/>
          </a:xfrm>
          <a:prstGeom prst="rect">
            <a:avLst/>
          </a:prstGeom>
        </p:spPr>
      </p:pic>
      <p:sp>
        <p:nvSpPr>
          <p:cNvPr id="3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배워 봐요  </a:t>
            </a:r>
            <a:r>
              <a:rPr lang="en-US" sz="3000" b="1" dirty="0">
                <a:solidFill>
                  <a:srgbClr val="003478"/>
                </a:solidFill>
              </a:rPr>
              <a:t>Acciones y pistas</a:t>
            </a:r>
            <a:r>
              <a:rPr lang="en-US" sz="1500" b="1" i="1" dirty="0">
                <a:solidFill>
                  <a:srgbClr val="8A8DA0"/>
                </a:solidFill>
              </a:rPr>
              <a:t>   Actions and clues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꽃집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꽃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집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옷 가게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옷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가게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동물원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동물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원</a:t>
            </a:r>
            <a:endParaRPr lang="en-US" sz="1800" dirty="0"/>
          </a:p>
        </p:txBody>
      </p:sp>
      <p:sp>
        <p:nvSpPr>
          <p:cNvPr id="4" name="card_0"/>
          <p:cNvSpPr/>
          <p:nvPr/>
        </p:nvSpPr>
        <p:spPr>
          <a:xfrm>
            <a:off x="548640"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img_127a7cb7a3fc361c.png"/>
          <p:cNvPicPr>
            <a:picLocks noChangeAspect="1"/>
          </p:cNvPicPr>
          <p:nvPr/>
        </p:nvPicPr>
        <p:blipFill>
          <a:blip r:embed="rId17"/>
          <a:stretch>
            <a:fillRect/>
          </a:stretch>
        </p:blipFill>
        <p:spPr>
          <a:xfrm>
            <a:off x="1361084" y="1984248"/>
            <a:ext cx="976579" cy="976579"/>
          </a:xfrm>
          <a:prstGeom prst="rect">
            <a:avLst/>
          </a:prstGeom>
        </p:spPr>
      </p:pic>
      <p:sp>
        <p:nvSpPr>
          <p:cNvPr id="6" name="Text 3"/>
          <p:cNvSpPr txBox="1"/>
          <p:nvPr/>
        </p:nvSpPr>
        <p:spPr>
          <a:xfrm>
            <a:off x="548640" y="297911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사요</a:t>
            </a:r>
            <a:endParaRPr lang="en-US" sz="2500" dirty="0"/>
          </a:p>
        </p:txBody>
      </p:sp>
      <p:sp>
        <p:nvSpPr>
          <p:cNvPr id="7" name="Text 4"/>
          <p:cNvSpPr txBox="1"/>
          <p:nvPr/>
        </p:nvSpPr>
        <p:spPr>
          <a:xfrm>
            <a:off x="621792" y="3386023"/>
            <a:ext cx="2455164" cy="449885"/>
          </a:xfrm>
          <a:prstGeom prst="rect">
            <a:avLst/>
          </a:prstGeom>
          <a:noFill/>
          <a:ln/>
        </p:spPr>
        <p:txBody>
          <a:bodyPr wrap="square" lIns="0" tIns="0" rIns="0" bIns="0" rtlCol="0" anchor="t">
            <a:normAutofit/>
          </a:bodyPr>
          <a:lstStyle/>
          <a:p>
            <a:pPr marL="0" indent="0" algn="ctr" eaLnBrk="1">
              <a:buNone/>
            </a:pPr>
            <a:r>
              <a:rPr lang="ko-KR" altLang="en-US" sz="1400" dirty="0">
                <a:solidFill>
                  <a:srgbClr val="5C5F6B"/>
                </a:solidFill>
                <a:latin typeface="Malgun Gothic" pitchFamily="34" charset="0"/>
                <a:ea typeface="Malgun Gothic" pitchFamily="34" charset="-122"/>
                <a:cs typeface="Malgun Gothic" pitchFamily="34" charset="-120"/>
              </a:rPr>
              <a:t>compro, compra (사다</a:t>
            </a:r>
            <a:r>
              <a:rPr lang="en-US" sz="1400" dirty="0">
                <a:solidFill>
                  <a:srgbClr val="5C5F6B"/>
                </a:solidFill>
              </a:rPr>
              <a:t>)</a:t>
            </a:r>
            <a:endParaRPr lang="en-US" sz="1400" dirty="0"/>
          </a:p>
        </p:txBody>
      </p:sp>
      <p:pic>
        <p:nvPicPr>
          <p:cNvPr id="14"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2747772" y="1947672"/>
            <a:ext cx="310896" cy="310896"/>
          </a:xfrm>
          <a:prstGeom prst="rect">
            <a:avLst/>
          </a:prstGeom>
        </p:spPr>
      </p:pic>
      <p:sp>
        <p:nvSpPr>
          <p:cNvPr id="9" name="card_1"/>
          <p:cNvSpPr/>
          <p:nvPr/>
        </p:nvSpPr>
        <p:spPr>
          <a:xfrm>
            <a:off x="3378708"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0" name="dibujo_1" descr="C:\Users\Chingu\AppData\Local\Temp\claude\C--Users-Chingu-Desktop-ACADEMIASEULWEB\d4111e1b-5523-44ea-97b2-b1a1d9545b9e\scratchpad\decks\cache\img_f92844f87e27c59b.png"/>
          <p:cNvPicPr>
            <a:picLocks noChangeAspect="1"/>
          </p:cNvPicPr>
          <p:nvPr/>
        </p:nvPicPr>
        <p:blipFill>
          <a:blip r:embed="rId19"/>
          <a:stretch>
            <a:fillRect/>
          </a:stretch>
        </p:blipFill>
        <p:spPr>
          <a:xfrm>
            <a:off x="4191152" y="1984248"/>
            <a:ext cx="976579" cy="976579"/>
          </a:xfrm>
          <a:prstGeom prst="rect">
            <a:avLst/>
          </a:prstGeom>
        </p:spPr>
      </p:pic>
      <p:sp>
        <p:nvSpPr>
          <p:cNvPr id="11" name="Text 6"/>
          <p:cNvSpPr txBox="1"/>
          <p:nvPr/>
        </p:nvSpPr>
        <p:spPr>
          <a:xfrm>
            <a:off x="3378708" y="297911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만들어요</a:t>
            </a:r>
            <a:endParaRPr lang="en-US" sz="2500" dirty="0"/>
          </a:p>
        </p:txBody>
      </p:sp>
      <p:sp>
        <p:nvSpPr>
          <p:cNvPr id="12" name="Text 7"/>
          <p:cNvSpPr txBox="1"/>
          <p:nvPr/>
        </p:nvSpPr>
        <p:spPr>
          <a:xfrm>
            <a:off x="3378708" y="3386023"/>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[만드러요</a:t>
            </a:r>
            <a:r>
              <a:rPr lang="en-US" sz="1300" dirty="0">
                <a:solidFill>
                  <a:srgbClr val="8A8DA0"/>
                </a:solidFill>
              </a:rPr>
              <a:t>]</a:t>
            </a:r>
            <a:endParaRPr lang="en-US" sz="1300" dirty="0"/>
          </a:p>
        </p:txBody>
      </p:sp>
      <p:sp>
        <p:nvSpPr>
          <p:cNvPr id="13" name="Text 8"/>
          <p:cNvSpPr txBox="1"/>
          <p:nvPr/>
        </p:nvSpPr>
        <p:spPr>
          <a:xfrm>
            <a:off x="3451860" y="3660343"/>
            <a:ext cx="2455164" cy="274320"/>
          </a:xfrm>
          <a:prstGeom prst="rect">
            <a:avLst/>
          </a:prstGeom>
          <a:noFill/>
          <a:ln/>
        </p:spPr>
        <p:txBody>
          <a:bodyPr wrap="square" lIns="0" tIns="0" rIns="0" bIns="0" rtlCol="0" anchor="t">
            <a:normAutofit/>
          </a:bodyPr>
          <a:lstStyle/>
          <a:p>
            <a:pPr marL="0" indent="0" algn="ctr" eaLnBrk="1">
              <a:buNone/>
            </a:pPr>
            <a:r>
              <a:rPr lang="ko-KR" altLang="en-US" sz="1000" dirty="0">
                <a:solidFill>
                  <a:srgbClr val="5C5F6B"/>
                </a:solidFill>
                <a:latin typeface="Malgun Gothic" pitchFamily="34" charset="0"/>
                <a:ea typeface="Malgun Gothic" pitchFamily="34" charset="-122"/>
                <a:cs typeface="Malgun Gothic" pitchFamily="34" charset="-120"/>
              </a:rPr>
              <a:t>hago, preparo, fabrico (만들다</a:t>
            </a:r>
            <a:r>
              <a:rPr lang="en-US" sz="1000" dirty="0">
                <a:solidFill>
                  <a:srgbClr val="5C5F6B"/>
                </a:solidFill>
              </a:rPr>
              <a:t>)</a:t>
            </a:r>
            <a:endParaRPr lang="en-US" sz="1000" dirty="0"/>
          </a:p>
        </p:txBody>
      </p:sp>
      <p:pic>
        <p:nvPicPr>
          <p:cNvPr id="8"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5577840" y="1947672"/>
            <a:ext cx="310896" cy="310896"/>
          </a:xfrm>
          <a:prstGeom prst="rect">
            <a:avLst/>
          </a:prstGeom>
        </p:spPr>
      </p:pic>
      <p:sp>
        <p:nvSpPr>
          <p:cNvPr id="15" name="card_2"/>
          <p:cNvSpPr/>
          <p:nvPr/>
        </p:nvSpPr>
        <p:spPr>
          <a:xfrm>
            <a:off x="6208776"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6" name="dibujo_2" descr="C:\Users\Chingu\AppData\Local\Temp\claude\C--Users-Chingu-Desktop-ACADEMIASEULWEB\d4111e1b-5523-44ea-97b2-b1a1d9545b9e\scratchpad\decks\cache\img_0879d0f35db7967f.png"/>
          <p:cNvPicPr>
            <a:picLocks noChangeAspect="1"/>
          </p:cNvPicPr>
          <p:nvPr/>
        </p:nvPicPr>
        <p:blipFill>
          <a:blip r:embed="rId20"/>
          <a:stretch>
            <a:fillRect/>
          </a:stretch>
        </p:blipFill>
        <p:spPr>
          <a:xfrm>
            <a:off x="7021220" y="1984248"/>
            <a:ext cx="976579" cy="976579"/>
          </a:xfrm>
          <a:prstGeom prst="rect">
            <a:avLst/>
          </a:prstGeom>
        </p:spPr>
      </p:pic>
      <p:sp>
        <p:nvSpPr>
          <p:cNvPr id="17" name="Text 10"/>
          <p:cNvSpPr txBox="1"/>
          <p:nvPr/>
        </p:nvSpPr>
        <p:spPr>
          <a:xfrm>
            <a:off x="6208776" y="297911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장난감 배</a:t>
            </a:r>
            <a:endParaRPr lang="en-US" sz="2500" dirty="0"/>
          </a:p>
        </p:txBody>
      </p:sp>
      <p:sp>
        <p:nvSpPr>
          <p:cNvPr id="18" name="Text 11"/>
          <p:cNvSpPr txBox="1"/>
          <p:nvPr/>
        </p:nvSpPr>
        <p:spPr>
          <a:xfrm>
            <a:off x="6208776" y="3386023"/>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[장난깜 배</a:t>
            </a:r>
            <a:r>
              <a:rPr lang="en-US" sz="1300" dirty="0">
                <a:solidFill>
                  <a:srgbClr val="8A8DA0"/>
                </a:solidFill>
              </a:rPr>
              <a:t>]</a:t>
            </a:r>
            <a:endParaRPr lang="en-US" sz="1300" dirty="0"/>
          </a:p>
        </p:txBody>
      </p:sp>
      <p:sp>
        <p:nvSpPr>
          <p:cNvPr id="19" name="Text 12"/>
          <p:cNvSpPr txBox="1"/>
          <p:nvPr/>
        </p:nvSpPr>
        <p:spPr>
          <a:xfrm>
            <a:off x="6281928" y="3660343"/>
            <a:ext cx="2455164" cy="274320"/>
          </a:xfrm>
          <a:prstGeom prst="rect">
            <a:avLst/>
          </a:prstGeom>
          <a:noFill/>
          <a:ln/>
        </p:spPr>
        <p:txBody>
          <a:bodyPr wrap="square" lIns="0" tIns="0" rIns="0" bIns="0" rtlCol="0" anchor="t">
            <a:normAutofit/>
          </a:bodyPr>
          <a:lstStyle/>
          <a:p>
            <a:pPr marL="0" indent="0" algn="ctr" eaLnBrk="1">
              <a:buNone/>
            </a:pPr>
            <a:r>
              <a:rPr lang="en-US" sz="1500" dirty="0">
                <a:solidFill>
                  <a:srgbClr val="5C5F6B"/>
                </a:solidFill>
              </a:rPr>
              <a:t>barquito de juguete</a:t>
            </a:r>
            <a:endParaRPr lang="en-US" sz="1500" dirty="0"/>
          </a:p>
        </p:txBody>
      </p:sp>
      <p:pic>
        <p:nvPicPr>
          <p:cNvPr id="31"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8"/>
          <a:stretch>
            <a:fillRect/>
          </a:stretch>
        </p:blipFill>
        <p:spPr>
          <a:xfrm>
            <a:off x="8407908" y="1947672"/>
            <a:ext cx="310896" cy="310896"/>
          </a:xfrm>
          <a:prstGeom prst="rect">
            <a:avLst/>
          </a:prstGeom>
        </p:spPr>
      </p:pic>
      <p:sp>
        <p:nvSpPr>
          <p:cNvPr id="21" name="card_3"/>
          <p:cNvSpPr/>
          <p:nvPr/>
        </p:nvSpPr>
        <p:spPr>
          <a:xfrm>
            <a:off x="9038844" y="187452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2" name="dibujo_3" descr="C:\Users\Chingu\AppData\Local\Temp\claude\C--Users-Chingu-Desktop-ACADEMIASEULWEB\d4111e1b-5523-44ea-97b2-b1a1d9545b9e\scratchpad\decks\cache\img_d9cc92f1c9b474fe.png"/>
          <p:cNvPicPr>
            <a:picLocks noChangeAspect="1"/>
          </p:cNvPicPr>
          <p:nvPr/>
        </p:nvPicPr>
        <p:blipFill>
          <a:blip r:embed="rId21"/>
          <a:stretch>
            <a:fillRect/>
          </a:stretch>
        </p:blipFill>
        <p:spPr>
          <a:xfrm>
            <a:off x="9851288" y="1984248"/>
            <a:ext cx="976579" cy="976579"/>
          </a:xfrm>
          <a:prstGeom prst="rect">
            <a:avLst/>
          </a:prstGeom>
        </p:spPr>
      </p:pic>
      <p:sp>
        <p:nvSpPr>
          <p:cNvPr id="23" name="Text 14"/>
          <p:cNvSpPr txBox="1"/>
          <p:nvPr/>
        </p:nvSpPr>
        <p:spPr>
          <a:xfrm>
            <a:off x="9038844" y="297911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배</a:t>
            </a:r>
            <a:endParaRPr lang="en-US" sz="2500" dirty="0"/>
          </a:p>
        </p:txBody>
      </p:sp>
      <p:sp>
        <p:nvSpPr>
          <p:cNvPr id="24" name="Text 15"/>
          <p:cNvSpPr txBox="1"/>
          <p:nvPr/>
        </p:nvSpPr>
        <p:spPr>
          <a:xfrm>
            <a:off x="9111996" y="3386023"/>
            <a:ext cx="2455164" cy="449885"/>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barco (¡y también pera!)</a:t>
            </a:r>
            <a:endParaRPr lang="en-US" sz="1400" dirty="0"/>
          </a:p>
        </p:txBody>
      </p:sp>
      <p:pic>
        <p:nvPicPr>
          <p:cNvPr id="37"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8"/>
          <a:stretch>
            <a:fillRect/>
          </a:stretch>
        </p:blipFill>
        <p:spPr>
          <a:xfrm>
            <a:off x="11237976" y="1947672"/>
            <a:ext cx="310896" cy="310896"/>
          </a:xfrm>
          <a:prstGeom prst="rect">
            <a:avLst/>
          </a:prstGeom>
        </p:spPr>
      </p:pic>
      <p:sp>
        <p:nvSpPr>
          <p:cNvPr id="26" name="card_4"/>
          <p:cNvSpPr/>
          <p:nvPr/>
        </p:nvSpPr>
        <p:spPr>
          <a:xfrm>
            <a:off x="1963674"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7" name="dibujo_4" descr="C:\Users\Chingu\AppData\Local\Temp\claude\C--Users-Chingu-Desktop-ACADEMIASEULWEB\d4111e1b-5523-44ea-97b2-b1a1d9545b9e\scratchpad\decks\cache\img_0be19e53db2d37ee.png"/>
          <p:cNvPicPr>
            <a:picLocks noChangeAspect="1"/>
          </p:cNvPicPr>
          <p:nvPr/>
        </p:nvPicPr>
        <p:blipFill>
          <a:blip r:embed="rId22"/>
          <a:stretch>
            <a:fillRect/>
          </a:stretch>
        </p:blipFill>
        <p:spPr>
          <a:xfrm>
            <a:off x="2776118" y="4247388"/>
            <a:ext cx="976579" cy="976579"/>
          </a:xfrm>
          <a:prstGeom prst="rect">
            <a:avLst/>
          </a:prstGeom>
        </p:spPr>
      </p:pic>
      <p:sp>
        <p:nvSpPr>
          <p:cNvPr id="28" name="Text 17"/>
          <p:cNvSpPr txBox="1"/>
          <p:nvPr/>
        </p:nvSpPr>
        <p:spPr>
          <a:xfrm>
            <a:off x="1963674" y="524225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꽃</a:t>
            </a:r>
            <a:endParaRPr lang="en-US" sz="2500" dirty="0"/>
          </a:p>
        </p:txBody>
      </p:sp>
      <p:sp>
        <p:nvSpPr>
          <p:cNvPr id="29" name="Text 18"/>
          <p:cNvSpPr txBox="1"/>
          <p:nvPr/>
        </p:nvSpPr>
        <p:spPr>
          <a:xfrm>
            <a:off x="1963674" y="5649163"/>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[꼳</a:t>
            </a:r>
            <a:r>
              <a:rPr lang="en-US" sz="1300" dirty="0">
                <a:solidFill>
                  <a:srgbClr val="8A8DA0"/>
                </a:solidFill>
              </a:rPr>
              <a:t>] · </a:t>
            </a:r>
            <a:r>
              <a:rPr lang="ko-KR" altLang="en-US" sz="1300" dirty="0">
                <a:solidFill>
                  <a:srgbClr val="8A8DA0"/>
                </a:solidFill>
                <a:latin typeface="Malgun Gothic" pitchFamily="34" charset="0"/>
                <a:ea typeface="Malgun Gothic" pitchFamily="34" charset="-122"/>
                <a:cs typeface="Malgun Gothic" pitchFamily="34" charset="-120"/>
              </a:rPr>
              <a:t>꽃을 </a:t>
            </a:r>
            <a:r>
              <a:rPr lang="en-US" sz="1300" dirty="0">
                <a:solidFill>
                  <a:srgbClr val="8A8DA0"/>
                </a:solidFill>
              </a:rPr>
              <a:t>[</a:t>
            </a:r>
            <a:r>
              <a:rPr lang="ko-KR" altLang="en-US" sz="1300" dirty="0">
                <a:solidFill>
                  <a:srgbClr val="8A8DA0"/>
                </a:solidFill>
                <a:latin typeface="Malgun Gothic" pitchFamily="34" charset="0"/>
                <a:ea typeface="Malgun Gothic" pitchFamily="34" charset="-122"/>
                <a:cs typeface="Malgun Gothic" pitchFamily="34" charset="-120"/>
              </a:rPr>
              <a:t>꼬츨</a:t>
            </a:r>
            <a:r>
              <a:rPr lang="en-US" sz="1300" dirty="0">
                <a:solidFill>
                  <a:srgbClr val="8A8DA0"/>
                </a:solidFill>
              </a:rPr>
              <a:t>]</a:t>
            </a:r>
            <a:endParaRPr lang="en-US" sz="1300" dirty="0"/>
          </a:p>
        </p:txBody>
      </p:sp>
      <p:sp>
        <p:nvSpPr>
          <p:cNvPr id="30" name="Text 19"/>
          <p:cNvSpPr txBox="1"/>
          <p:nvPr/>
        </p:nvSpPr>
        <p:spPr>
          <a:xfrm>
            <a:off x="2036826" y="592348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flor</a:t>
            </a:r>
            <a:endParaRPr lang="en-US" sz="1600" dirty="0"/>
          </a:p>
        </p:txBody>
      </p:sp>
      <p:pic>
        <p:nvPicPr>
          <p:cNvPr id="20"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8"/>
          <a:stretch>
            <a:fillRect/>
          </a:stretch>
        </p:blipFill>
        <p:spPr>
          <a:xfrm>
            <a:off x="4162806" y="4210812"/>
            <a:ext cx="310896" cy="310896"/>
          </a:xfrm>
          <a:prstGeom prst="rect">
            <a:avLst/>
          </a:prstGeom>
        </p:spPr>
      </p:pic>
      <p:sp>
        <p:nvSpPr>
          <p:cNvPr id="32" name="card_5"/>
          <p:cNvSpPr/>
          <p:nvPr/>
        </p:nvSpPr>
        <p:spPr>
          <a:xfrm>
            <a:off x="4793742"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3" name="dibujo_5" descr="C:\Users\Chingu\AppData\Local\Temp\claude\C--Users-Chingu-Desktop-ACADEMIASEULWEB\d4111e1b-5523-44ea-97b2-b1a1d9545b9e\scratchpad\decks\cache\img_b231eaf546555aec.png"/>
          <p:cNvPicPr>
            <a:picLocks noChangeAspect="1"/>
          </p:cNvPicPr>
          <p:nvPr/>
        </p:nvPicPr>
        <p:blipFill>
          <a:blip r:embed="rId23"/>
          <a:stretch>
            <a:fillRect/>
          </a:stretch>
        </p:blipFill>
        <p:spPr>
          <a:xfrm>
            <a:off x="5606186" y="4247388"/>
            <a:ext cx="976579" cy="976579"/>
          </a:xfrm>
          <a:prstGeom prst="rect">
            <a:avLst/>
          </a:prstGeom>
        </p:spPr>
      </p:pic>
      <p:sp>
        <p:nvSpPr>
          <p:cNvPr id="34" name="Text 21"/>
          <p:cNvSpPr txBox="1"/>
          <p:nvPr/>
        </p:nvSpPr>
        <p:spPr>
          <a:xfrm>
            <a:off x="4793742" y="524225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옷</a:t>
            </a:r>
            <a:endParaRPr lang="en-US" sz="2500" dirty="0"/>
          </a:p>
        </p:txBody>
      </p:sp>
      <p:sp>
        <p:nvSpPr>
          <p:cNvPr id="35" name="Text 22"/>
          <p:cNvSpPr txBox="1"/>
          <p:nvPr/>
        </p:nvSpPr>
        <p:spPr>
          <a:xfrm>
            <a:off x="4793742" y="5649163"/>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[옫</a:t>
            </a:r>
            <a:r>
              <a:rPr lang="en-US" sz="1300" dirty="0">
                <a:solidFill>
                  <a:srgbClr val="8A8DA0"/>
                </a:solidFill>
              </a:rPr>
              <a:t>] · </a:t>
            </a:r>
            <a:r>
              <a:rPr lang="ko-KR" altLang="en-US" sz="1300" dirty="0">
                <a:solidFill>
                  <a:srgbClr val="8A8DA0"/>
                </a:solidFill>
                <a:latin typeface="Malgun Gothic" pitchFamily="34" charset="0"/>
                <a:ea typeface="Malgun Gothic" pitchFamily="34" charset="-122"/>
                <a:cs typeface="Malgun Gothic" pitchFamily="34" charset="-120"/>
              </a:rPr>
              <a:t>옷을 </a:t>
            </a:r>
            <a:r>
              <a:rPr lang="en-US" sz="1300" dirty="0">
                <a:solidFill>
                  <a:srgbClr val="8A8DA0"/>
                </a:solidFill>
              </a:rPr>
              <a:t>[</a:t>
            </a:r>
            <a:r>
              <a:rPr lang="ko-KR" altLang="en-US" sz="1300" dirty="0">
                <a:solidFill>
                  <a:srgbClr val="8A8DA0"/>
                </a:solidFill>
                <a:latin typeface="Malgun Gothic" pitchFamily="34" charset="0"/>
                <a:ea typeface="Malgun Gothic" pitchFamily="34" charset="-122"/>
                <a:cs typeface="Malgun Gothic" pitchFamily="34" charset="-120"/>
              </a:rPr>
              <a:t>오슬</a:t>
            </a:r>
            <a:r>
              <a:rPr lang="en-US" sz="1300" dirty="0">
                <a:solidFill>
                  <a:srgbClr val="8A8DA0"/>
                </a:solidFill>
              </a:rPr>
              <a:t>]</a:t>
            </a:r>
            <a:endParaRPr lang="en-US" sz="1300" dirty="0"/>
          </a:p>
        </p:txBody>
      </p:sp>
      <p:sp>
        <p:nvSpPr>
          <p:cNvPr id="36" name="Text 23"/>
          <p:cNvSpPr txBox="1"/>
          <p:nvPr/>
        </p:nvSpPr>
        <p:spPr>
          <a:xfrm>
            <a:off x="4866894" y="592348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ropa</a:t>
            </a:r>
            <a:endParaRPr lang="en-US" sz="1600" dirty="0"/>
          </a:p>
        </p:txBody>
      </p:sp>
      <p:pic>
        <p:nvPicPr>
          <p:cNvPr id="43"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8"/>
          <a:stretch>
            <a:fillRect/>
          </a:stretch>
        </p:blipFill>
        <p:spPr>
          <a:xfrm>
            <a:off x="6992874" y="4210812"/>
            <a:ext cx="310896" cy="310896"/>
          </a:xfrm>
          <a:prstGeom prst="rect">
            <a:avLst/>
          </a:prstGeom>
        </p:spPr>
      </p:pic>
      <p:sp>
        <p:nvSpPr>
          <p:cNvPr id="38" name="card_6"/>
          <p:cNvSpPr/>
          <p:nvPr/>
        </p:nvSpPr>
        <p:spPr>
          <a:xfrm>
            <a:off x="7623810" y="4137660"/>
            <a:ext cx="2601468"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9" name="dibujo_6" descr="C:\Users\Chingu\AppData\Local\Temp\claude\C--Users-Chingu-Desktop-ACADEMIASEULWEB\d4111e1b-5523-44ea-97b2-b1a1d9545b9e\scratchpad\decks\cache\img_6ef45e615bfb71f8.png"/>
          <p:cNvPicPr>
            <a:picLocks noChangeAspect="1"/>
          </p:cNvPicPr>
          <p:nvPr/>
        </p:nvPicPr>
        <p:blipFill>
          <a:blip r:embed="rId24"/>
          <a:stretch>
            <a:fillRect/>
          </a:stretch>
        </p:blipFill>
        <p:spPr>
          <a:xfrm>
            <a:off x="8436254" y="4247388"/>
            <a:ext cx="976579" cy="976579"/>
          </a:xfrm>
          <a:prstGeom prst="rect">
            <a:avLst/>
          </a:prstGeom>
        </p:spPr>
      </p:pic>
      <p:sp>
        <p:nvSpPr>
          <p:cNvPr id="40" name="Text 25"/>
          <p:cNvSpPr txBox="1"/>
          <p:nvPr/>
        </p:nvSpPr>
        <p:spPr>
          <a:xfrm>
            <a:off x="7623810" y="5242255"/>
            <a:ext cx="2601468"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김밥</a:t>
            </a:r>
            <a:endParaRPr lang="en-US" sz="2500" dirty="0"/>
          </a:p>
        </p:txBody>
      </p:sp>
      <p:sp>
        <p:nvSpPr>
          <p:cNvPr id="41" name="Text 26"/>
          <p:cNvSpPr txBox="1"/>
          <p:nvPr/>
        </p:nvSpPr>
        <p:spPr>
          <a:xfrm>
            <a:off x="7623810" y="5649163"/>
            <a:ext cx="2601468"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[김빱</a:t>
            </a:r>
            <a:r>
              <a:rPr lang="en-US" sz="1300" dirty="0">
                <a:solidFill>
                  <a:srgbClr val="8A8DA0"/>
                </a:solidFill>
              </a:rPr>
              <a:t>]</a:t>
            </a:r>
            <a:endParaRPr lang="en-US" sz="1300" dirty="0"/>
          </a:p>
        </p:txBody>
      </p:sp>
      <p:sp>
        <p:nvSpPr>
          <p:cNvPr id="42" name="Text 27"/>
          <p:cNvSpPr txBox="1"/>
          <p:nvPr/>
        </p:nvSpPr>
        <p:spPr>
          <a:xfrm>
            <a:off x="7696962" y="5923483"/>
            <a:ext cx="2455164"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kimbap (extra)</a:t>
            </a:r>
            <a:endParaRPr lang="en-US" sz="1600" dirty="0"/>
          </a:p>
        </p:txBody>
      </p:sp>
      <p:pic>
        <p:nvPicPr>
          <p:cNvPr id="44" name="Media 6">
            <a:hlinkClick r:id="" action="ppaction://media"/>
          </p:cNvPr>
          <p:cNvPicPr>
            <a:picLocks noChangeAspect="1"/>
          </p:cNvPicPr>
          <p:nvPr>
            <a:audioFile r:link="rId14"/>
            <p:extLst>
              <p:ext uri="{DAA4B4D4-6D71-4841-9C94-3DE7FCFB9230}">
                <p14:media xmlns:p14="http://schemas.microsoft.com/office/powerpoint/2010/main" r:embed="rId13"/>
              </p:ext>
            </p:extLst>
          </p:nvPr>
        </p:nvPicPr>
        <p:blipFill>
          <a:blip r:embed="rId18"/>
          <a:stretch>
            <a:fillRect/>
          </a:stretch>
        </p:blipFill>
        <p:spPr>
          <a:xfrm>
            <a:off x="9822942" y="4210812"/>
            <a:ext cx="310896" cy="310896"/>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읽어 봐요  </a:t>
            </a:r>
            <a:r>
              <a:rPr lang="en-US" sz="3000" b="1" dirty="0">
                <a:solidFill>
                  <a:srgbClr val="003478"/>
                </a:solidFill>
              </a:rPr>
              <a:t>Lugares que ya conoces</a:t>
            </a:r>
            <a:r>
              <a:rPr lang="en-US" sz="1500" b="1" i="1" dirty="0">
                <a:solidFill>
                  <a:srgbClr val="8A8DA0"/>
                </a:solidFill>
              </a:rPr>
              <a:t>   Places you already know</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Opcional · de Básico 1: léelos en voz alta</a:t>
            </a:r>
            <a:endParaRPr lang="en-US" sz="1800" dirty="0"/>
          </a:p>
        </p:txBody>
      </p:sp>
      <p:sp>
        <p:nvSpPr>
          <p:cNvPr id="4" name="tile_0"/>
          <p:cNvSpPr/>
          <p:nvPr/>
        </p:nvSpPr>
        <p:spPr>
          <a:xfrm>
            <a:off x="548640" y="1874520"/>
            <a:ext cx="3544824" cy="2034540"/>
          </a:xfrm>
          <a:prstGeom prst="roundRect">
            <a:avLst>
              <a:gd name="adj" fmla="val 6742"/>
            </a:avLst>
          </a:prstGeom>
          <a:solidFill>
            <a:srgbClr val="F1F0FE"/>
          </a:solidFill>
          <a:ln w="12700">
            <a:solidFill>
              <a:srgbClr val="D9D7F7"/>
            </a:solidFill>
            <a:prstDash val="solid"/>
          </a:ln>
        </p:spPr>
      </p:sp>
      <p:pic>
        <p:nvPicPr>
          <p:cNvPr id="5" name="glifo_img_0" descr="C:\Users\Chingu\AppData\Local\Temp\claude\C--Users-Chingu-Desktop-ACADEMIASEULWEB\d4111e1b-5523-44ea-97b2-b1a1d9545b9e\scratchpad\decks\cache\img_3374480fcf466346.png"/>
          <p:cNvPicPr>
            <a:picLocks noChangeAspect="1"/>
          </p:cNvPicPr>
          <p:nvPr/>
        </p:nvPicPr>
        <p:blipFill>
          <a:blip r:embed="rId3"/>
          <a:stretch>
            <a:fillRect/>
          </a:stretch>
        </p:blipFill>
        <p:spPr>
          <a:xfrm>
            <a:off x="621792" y="1929384"/>
            <a:ext cx="1261415" cy="1261415"/>
          </a:xfrm>
          <a:prstGeom prst="rect">
            <a:avLst/>
          </a:prstGeom>
        </p:spPr>
      </p:pic>
      <p:sp>
        <p:nvSpPr>
          <p:cNvPr id="6" name="Text 3"/>
          <p:cNvSpPr txBox="1"/>
          <p:nvPr/>
        </p:nvSpPr>
        <p:spPr>
          <a:xfrm>
            <a:off x="1901495" y="1929384"/>
            <a:ext cx="2155393"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집</a:t>
            </a:r>
            <a:endParaRPr lang="en-US" sz="7300" dirty="0"/>
          </a:p>
        </p:txBody>
      </p:sp>
      <p:sp>
        <p:nvSpPr>
          <p:cNvPr id="7" name="Text 4"/>
          <p:cNvSpPr txBox="1"/>
          <p:nvPr/>
        </p:nvSpPr>
        <p:spPr>
          <a:xfrm>
            <a:off x="594360" y="326395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casa</a:t>
            </a:r>
            <a:endParaRPr lang="en-US" sz="1700" dirty="0"/>
          </a:p>
        </p:txBody>
      </p:sp>
      <p:sp>
        <p:nvSpPr>
          <p:cNvPr id="8" name="tile_1"/>
          <p:cNvSpPr/>
          <p:nvPr/>
        </p:nvSpPr>
        <p:spPr>
          <a:xfrm>
            <a:off x="4322064" y="1874520"/>
            <a:ext cx="3544824" cy="2034540"/>
          </a:xfrm>
          <a:prstGeom prst="roundRect">
            <a:avLst>
              <a:gd name="adj" fmla="val 6742"/>
            </a:avLst>
          </a:prstGeom>
          <a:solidFill>
            <a:srgbClr val="F1F0FE"/>
          </a:solidFill>
          <a:ln w="12700">
            <a:solidFill>
              <a:srgbClr val="D9D7F7"/>
            </a:solidFill>
            <a:prstDash val="solid"/>
          </a:ln>
        </p:spPr>
      </p:sp>
      <p:pic>
        <p:nvPicPr>
          <p:cNvPr id="9" name="glifo_img_1" descr="C:\Users\Chingu\AppData\Local\Temp\claude\C--Users-Chingu-Desktop-ACADEMIASEULWEB\d4111e1b-5523-44ea-97b2-b1a1d9545b9e\scratchpad\decks\cache\img_df5dc0b88dfe9008.png"/>
          <p:cNvPicPr>
            <a:picLocks noChangeAspect="1"/>
          </p:cNvPicPr>
          <p:nvPr/>
        </p:nvPicPr>
        <p:blipFill>
          <a:blip r:embed="rId4"/>
          <a:stretch>
            <a:fillRect/>
          </a:stretch>
        </p:blipFill>
        <p:spPr>
          <a:xfrm>
            <a:off x="4395216" y="1929384"/>
            <a:ext cx="1261415" cy="1261415"/>
          </a:xfrm>
          <a:prstGeom prst="rect">
            <a:avLst/>
          </a:prstGeom>
        </p:spPr>
      </p:pic>
      <p:sp>
        <p:nvSpPr>
          <p:cNvPr id="10" name="Text 6"/>
          <p:cNvSpPr txBox="1"/>
          <p:nvPr/>
        </p:nvSpPr>
        <p:spPr>
          <a:xfrm>
            <a:off x="5674919" y="1929384"/>
            <a:ext cx="2155393"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회사</a:t>
            </a:r>
            <a:endParaRPr lang="en-US" sz="7300" dirty="0"/>
          </a:p>
        </p:txBody>
      </p:sp>
      <p:sp>
        <p:nvSpPr>
          <p:cNvPr id="11" name="Text 7"/>
          <p:cNvSpPr txBox="1"/>
          <p:nvPr/>
        </p:nvSpPr>
        <p:spPr>
          <a:xfrm>
            <a:off x="4367784" y="326395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oficina, empresa</a:t>
            </a:r>
            <a:endParaRPr lang="en-US" sz="1700" dirty="0"/>
          </a:p>
        </p:txBody>
      </p:sp>
      <p:sp>
        <p:nvSpPr>
          <p:cNvPr id="12" name="tile_2"/>
          <p:cNvSpPr/>
          <p:nvPr/>
        </p:nvSpPr>
        <p:spPr>
          <a:xfrm>
            <a:off x="8095488" y="1874520"/>
            <a:ext cx="3544824" cy="2034540"/>
          </a:xfrm>
          <a:prstGeom prst="roundRect">
            <a:avLst>
              <a:gd name="adj" fmla="val 6742"/>
            </a:avLst>
          </a:prstGeom>
          <a:solidFill>
            <a:srgbClr val="F1F0FE"/>
          </a:solidFill>
          <a:ln w="12700">
            <a:solidFill>
              <a:srgbClr val="D9D7F7"/>
            </a:solidFill>
            <a:prstDash val="solid"/>
          </a:ln>
        </p:spPr>
      </p:sp>
      <p:pic>
        <p:nvPicPr>
          <p:cNvPr id="13" name="glifo_img_2" descr="C:\Users\Chingu\AppData\Local\Temp\claude\C--Users-Chingu-Desktop-ACADEMIASEULWEB\d4111e1b-5523-44ea-97b2-b1a1d9545b9e\scratchpad\decks\cache\img_d6a9ee37c037d628.png"/>
          <p:cNvPicPr>
            <a:picLocks noChangeAspect="1"/>
          </p:cNvPicPr>
          <p:nvPr/>
        </p:nvPicPr>
        <p:blipFill>
          <a:blip r:embed="rId5"/>
          <a:stretch>
            <a:fillRect/>
          </a:stretch>
        </p:blipFill>
        <p:spPr>
          <a:xfrm>
            <a:off x="8168640" y="1929384"/>
            <a:ext cx="1261415" cy="1261415"/>
          </a:xfrm>
          <a:prstGeom prst="rect">
            <a:avLst/>
          </a:prstGeom>
        </p:spPr>
      </p:pic>
      <p:sp>
        <p:nvSpPr>
          <p:cNvPr id="14" name="Text 9"/>
          <p:cNvSpPr txBox="1"/>
          <p:nvPr/>
        </p:nvSpPr>
        <p:spPr>
          <a:xfrm>
            <a:off x="9448343" y="1929384"/>
            <a:ext cx="2155393"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카페</a:t>
            </a:r>
            <a:endParaRPr lang="en-US" sz="7300" dirty="0"/>
          </a:p>
        </p:txBody>
      </p:sp>
      <p:sp>
        <p:nvSpPr>
          <p:cNvPr id="15" name="Text 10"/>
          <p:cNvSpPr txBox="1"/>
          <p:nvPr/>
        </p:nvSpPr>
        <p:spPr>
          <a:xfrm>
            <a:off x="8141208" y="326395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café, cafetería</a:t>
            </a:r>
            <a:endParaRPr lang="en-US" sz="1700" dirty="0"/>
          </a:p>
        </p:txBody>
      </p:sp>
      <p:sp>
        <p:nvSpPr>
          <p:cNvPr id="16" name="tile_3"/>
          <p:cNvSpPr/>
          <p:nvPr/>
        </p:nvSpPr>
        <p:spPr>
          <a:xfrm>
            <a:off x="548640" y="4137660"/>
            <a:ext cx="3544824" cy="2034540"/>
          </a:xfrm>
          <a:prstGeom prst="roundRect">
            <a:avLst>
              <a:gd name="adj" fmla="val 6742"/>
            </a:avLst>
          </a:prstGeom>
          <a:solidFill>
            <a:srgbClr val="F1F0FE"/>
          </a:solidFill>
          <a:ln w="12700">
            <a:solidFill>
              <a:srgbClr val="D9D7F7"/>
            </a:solidFill>
            <a:prstDash val="solid"/>
          </a:ln>
        </p:spPr>
      </p:sp>
      <p:pic>
        <p:nvPicPr>
          <p:cNvPr id="17" name="glifo_img_3" descr="C:\Users\Chingu\AppData\Local\Temp\claude\C--Users-Chingu-Desktop-ACADEMIASEULWEB\d4111e1b-5523-44ea-97b2-b1a1d9545b9e\scratchpad\decks\cache\img_5c8804b5949ff66d.png"/>
          <p:cNvPicPr>
            <a:picLocks noChangeAspect="1"/>
          </p:cNvPicPr>
          <p:nvPr/>
        </p:nvPicPr>
        <p:blipFill>
          <a:blip r:embed="rId6"/>
          <a:stretch>
            <a:fillRect/>
          </a:stretch>
        </p:blipFill>
        <p:spPr>
          <a:xfrm>
            <a:off x="621792" y="4192524"/>
            <a:ext cx="1261415" cy="1261415"/>
          </a:xfrm>
          <a:prstGeom prst="rect">
            <a:avLst/>
          </a:prstGeom>
        </p:spPr>
      </p:pic>
      <p:sp>
        <p:nvSpPr>
          <p:cNvPr id="18" name="Text 12"/>
          <p:cNvSpPr txBox="1"/>
          <p:nvPr/>
        </p:nvSpPr>
        <p:spPr>
          <a:xfrm>
            <a:off x="1901495" y="4192524"/>
            <a:ext cx="2155393"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식당</a:t>
            </a:r>
            <a:endParaRPr lang="en-US" sz="7300" dirty="0"/>
          </a:p>
        </p:txBody>
      </p:sp>
      <p:sp>
        <p:nvSpPr>
          <p:cNvPr id="19" name="Text 13"/>
          <p:cNvSpPr txBox="1"/>
          <p:nvPr/>
        </p:nvSpPr>
        <p:spPr>
          <a:xfrm>
            <a:off x="594360" y="552709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restaurante</a:t>
            </a:r>
            <a:endParaRPr lang="en-US" sz="1700" dirty="0"/>
          </a:p>
        </p:txBody>
      </p:sp>
      <p:sp>
        <p:nvSpPr>
          <p:cNvPr id="20" name="tile_4"/>
          <p:cNvSpPr/>
          <p:nvPr/>
        </p:nvSpPr>
        <p:spPr>
          <a:xfrm>
            <a:off x="4322064" y="4137660"/>
            <a:ext cx="3544824" cy="2034540"/>
          </a:xfrm>
          <a:prstGeom prst="roundRect">
            <a:avLst>
              <a:gd name="adj" fmla="val 6742"/>
            </a:avLst>
          </a:prstGeom>
          <a:solidFill>
            <a:srgbClr val="F1F0FE"/>
          </a:solidFill>
          <a:ln w="12700">
            <a:solidFill>
              <a:srgbClr val="D9D7F7"/>
            </a:solidFill>
            <a:prstDash val="solid"/>
          </a:ln>
        </p:spPr>
      </p:sp>
      <p:pic>
        <p:nvPicPr>
          <p:cNvPr id="21" name="glifo_img_4" descr="C:\Users\Chingu\AppData\Local\Temp\claude\C--Users-Chingu-Desktop-ACADEMIASEULWEB\d4111e1b-5523-44ea-97b2-b1a1d9545b9e\scratchpad\decks\cache\img_3dba05f205fab00a.png"/>
          <p:cNvPicPr>
            <a:picLocks noChangeAspect="1"/>
          </p:cNvPicPr>
          <p:nvPr/>
        </p:nvPicPr>
        <p:blipFill>
          <a:blip r:embed="rId7"/>
          <a:stretch>
            <a:fillRect/>
          </a:stretch>
        </p:blipFill>
        <p:spPr>
          <a:xfrm>
            <a:off x="4395216" y="4192524"/>
            <a:ext cx="1261415" cy="1261415"/>
          </a:xfrm>
          <a:prstGeom prst="rect">
            <a:avLst/>
          </a:prstGeom>
        </p:spPr>
      </p:pic>
      <p:sp>
        <p:nvSpPr>
          <p:cNvPr id="22" name="Text 15"/>
          <p:cNvSpPr txBox="1"/>
          <p:nvPr/>
        </p:nvSpPr>
        <p:spPr>
          <a:xfrm>
            <a:off x="5674919" y="4192524"/>
            <a:ext cx="2155393"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공원</a:t>
            </a:r>
            <a:endParaRPr lang="en-US" sz="7300" dirty="0"/>
          </a:p>
        </p:txBody>
      </p:sp>
      <p:sp>
        <p:nvSpPr>
          <p:cNvPr id="23" name="Text 16"/>
          <p:cNvSpPr txBox="1"/>
          <p:nvPr/>
        </p:nvSpPr>
        <p:spPr>
          <a:xfrm>
            <a:off x="4367784" y="552709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parque</a:t>
            </a:r>
            <a:endParaRPr lang="en-US" sz="1700" dirty="0"/>
          </a:p>
        </p:txBody>
      </p:sp>
      <p:sp>
        <p:nvSpPr>
          <p:cNvPr id="24" name="tile_5"/>
          <p:cNvSpPr/>
          <p:nvPr/>
        </p:nvSpPr>
        <p:spPr>
          <a:xfrm>
            <a:off x="8095488" y="4137660"/>
            <a:ext cx="3544824" cy="2034540"/>
          </a:xfrm>
          <a:prstGeom prst="roundRect">
            <a:avLst>
              <a:gd name="adj" fmla="val 6742"/>
            </a:avLst>
          </a:prstGeom>
          <a:solidFill>
            <a:srgbClr val="F1F0FE"/>
          </a:solidFill>
          <a:ln w="12700">
            <a:solidFill>
              <a:srgbClr val="D9D7F7"/>
            </a:solidFill>
            <a:prstDash val="solid"/>
          </a:ln>
        </p:spPr>
      </p:sp>
      <p:pic>
        <p:nvPicPr>
          <p:cNvPr id="25" name="glifo_img_5" descr="C:\Users\Chingu\AppData\Local\Temp\claude\C--Users-Chingu-Desktop-ACADEMIASEULWEB\d4111e1b-5523-44ea-97b2-b1a1d9545b9e\scratchpad\decks\cache\img_0be5544fa0677a11.png"/>
          <p:cNvPicPr>
            <a:picLocks noChangeAspect="1"/>
          </p:cNvPicPr>
          <p:nvPr/>
        </p:nvPicPr>
        <p:blipFill>
          <a:blip r:embed="rId8"/>
          <a:stretch>
            <a:fillRect/>
          </a:stretch>
        </p:blipFill>
        <p:spPr>
          <a:xfrm>
            <a:off x="8168640" y="4192524"/>
            <a:ext cx="1261415" cy="1261415"/>
          </a:xfrm>
          <a:prstGeom prst="rect">
            <a:avLst/>
          </a:prstGeom>
        </p:spPr>
      </p:pic>
      <p:sp>
        <p:nvSpPr>
          <p:cNvPr id="26" name="Text 18"/>
          <p:cNvSpPr txBox="1"/>
          <p:nvPr/>
        </p:nvSpPr>
        <p:spPr>
          <a:xfrm>
            <a:off x="9448343" y="4192524"/>
            <a:ext cx="2155393" cy="1261415"/>
          </a:xfrm>
          <a:prstGeom prst="rect">
            <a:avLst/>
          </a:prstGeom>
          <a:noFill/>
          <a:ln/>
        </p:spPr>
        <p:txBody>
          <a:bodyPr wrap="square" lIns="0" tIns="0" rIns="0" bIns="0" rtlCol="0" anchor="ctr">
            <a:normAutofit/>
          </a:bodyPr>
          <a:lstStyle/>
          <a:p>
            <a:pPr marL="0" indent="0" algn="ctr" eaLnBrk="1">
              <a:buNone/>
            </a:pPr>
            <a:r>
              <a:rPr lang="ko-KR" altLang="en-US" sz="7300" b="1" dirty="0">
                <a:solidFill>
                  <a:srgbClr val="4236F6"/>
                </a:solidFill>
                <a:latin typeface="Malgun Gothic" pitchFamily="34" charset="0"/>
                <a:ea typeface="Malgun Gothic" pitchFamily="34" charset="-122"/>
                <a:cs typeface="Malgun Gothic" pitchFamily="34" charset="-120"/>
              </a:rPr>
              <a:t>학교</a:t>
            </a:r>
            <a:endParaRPr lang="en-US" sz="7300" dirty="0"/>
          </a:p>
        </p:txBody>
      </p:sp>
      <p:sp>
        <p:nvSpPr>
          <p:cNvPr id="27" name="Text 19"/>
          <p:cNvSpPr txBox="1"/>
          <p:nvPr/>
        </p:nvSpPr>
        <p:spPr>
          <a:xfrm>
            <a:off x="8141208" y="552709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colegio, escuela</a:t>
            </a:r>
            <a:endParaRPr lang="en-US" sz="1700" dirty="0"/>
          </a:p>
        </p:txBody>
      </p:sp>
      <p:sp>
        <p:nvSpPr>
          <p:cNvPr id="2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어디에 있어요</a:t>
            </a:r>
            <a:r>
              <a:rPr lang="en-US" sz="3000" b="1" dirty="0">
                <a:solidFill>
                  <a:srgbClr val="4236F6"/>
                </a:solidFill>
              </a:rPr>
              <a:t>?  </a:t>
            </a:r>
            <a:r>
              <a:rPr lang="en-US" sz="3000" b="1" dirty="0">
                <a:solidFill>
                  <a:srgbClr val="003478"/>
                </a:solidFill>
              </a:rPr>
              <a:t>¿Dónde está?</a:t>
            </a:r>
            <a:r>
              <a:rPr lang="en-US" sz="1500" b="1" i="1" dirty="0">
                <a:solidFill>
                  <a:srgbClr val="8A8DA0"/>
                </a:solidFill>
              </a:rPr>
              <a:t>   Where is it?</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Responde: ___에 있어요</a:t>
            </a:r>
            <a:r>
              <a:rPr lang="en-US" sz="1800" i="1" dirty="0">
                <a:solidFill>
                  <a:srgbClr val="4236F6"/>
                </a:solidFill>
              </a:rPr>
              <a:t>. (el </a:t>
            </a:r>
            <a:r>
              <a:rPr lang="ko-KR" altLang="en-US" sz="1800" i="1" dirty="0">
                <a:solidFill>
                  <a:srgbClr val="4236F6"/>
                </a:solidFill>
                <a:latin typeface="Malgun Gothic" pitchFamily="34" charset="0"/>
                <a:ea typeface="Malgun Gothic" pitchFamily="34" charset="-122"/>
                <a:cs typeface="Malgun Gothic" pitchFamily="34" charset="-120"/>
              </a:rPr>
              <a:t>에 </a:t>
            </a:r>
            <a:r>
              <a:rPr lang="en-US" sz="1800" i="1" dirty="0">
                <a:solidFill>
                  <a:srgbClr val="4236F6"/>
                </a:solidFill>
              </a:rPr>
              <a:t>de «estar» que ya conoces) · ¿En qué lugar están estas cosas?</a:t>
            </a:r>
            <a:endParaRPr lang="en-US" sz="1800" dirty="0"/>
          </a:p>
        </p:txBody>
      </p:sp>
      <p:sp>
        <p:nvSpPr>
          <p:cNvPr id="4" name="card_0"/>
          <p:cNvSpPr/>
          <p:nvPr/>
        </p:nvSpPr>
        <p:spPr>
          <a:xfrm>
            <a:off x="548640"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item_img_0" descr="C:\Users\Chingu\AppData\Local\Temp\claude\C--Users-Chingu-Desktop-ACADEMIASEULWEB\d4111e1b-5523-44ea-97b2-b1a1d9545b9e\scratchpad\decks\cache\img_4d5b03a2ae599983.png"/>
          <p:cNvPicPr>
            <a:picLocks noChangeAspect="1"/>
          </p:cNvPicPr>
          <p:nvPr/>
        </p:nvPicPr>
        <p:blipFill>
          <a:blip r:embed="rId3"/>
          <a:stretch>
            <a:fillRect/>
          </a:stretch>
        </p:blipFill>
        <p:spPr>
          <a:xfrm>
            <a:off x="1849831" y="2057400"/>
            <a:ext cx="972922" cy="972922"/>
          </a:xfrm>
          <a:prstGeom prst="rect">
            <a:avLst/>
          </a:prstGeom>
        </p:spPr>
      </p:pic>
      <p:sp>
        <p:nvSpPr>
          <p:cNvPr id="6" name="num_0"/>
          <p:cNvSpPr/>
          <p:nvPr/>
        </p:nvSpPr>
        <p:spPr>
          <a:xfrm>
            <a:off x="640080" y="2057400"/>
            <a:ext cx="420624" cy="420624"/>
          </a:xfrm>
          <a:prstGeom prst="ellipse">
            <a:avLst/>
          </a:prstGeom>
          <a:solidFill>
            <a:srgbClr val="003478"/>
          </a:solidFill>
          <a:ln w="19050">
            <a:solidFill>
              <a:srgbClr val="FFFFFF"/>
            </a:solidFill>
            <a:prstDash val="solid"/>
          </a:ln>
        </p:spPr>
      </p:sp>
      <p:sp>
        <p:nvSpPr>
          <p:cNvPr id="7" name="Text 4"/>
          <p:cNvSpPr txBox="1"/>
          <p:nvPr/>
        </p:nvSpPr>
        <p:spPr>
          <a:xfrm>
            <a:off x="640080"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1</a:t>
            </a:r>
            <a:endParaRPr lang="en-US" sz="1500" dirty="0"/>
          </a:p>
        </p:txBody>
      </p:sp>
      <p:sp>
        <p:nvSpPr>
          <p:cNvPr id="8" name="Text 5"/>
          <p:cNvSpPr txBox="1"/>
          <p:nvPr/>
        </p:nvSpPr>
        <p:spPr>
          <a:xfrm>
            <a:off x="640080" y="3076042"/>
            <a:ext cx="3392424" cy="402336"/>
          </a:xfrm>
          <a:prstGeom prst="rect">
            <a:avLst/>
          </a:prstGeom>
          <a:noFill/>
          <a:ln/>
        </p:spPr>
        <p:txBody>
          <a:bodyPr wrap="square" lIns="0" tIns="0" rIns="0" bIns="0" rtlCol="0" anchor="ctr">
            <a:normAutofit/>
          </a:bodyPr>
          <a:lstStyle/>
          <a:p>
            <a:pPr marL="0" indent="0" algn="ctr" eaLnBrk="1">
              <a:buNone/>
            </a:pPr>
            <a:r>
              <a:rPr lang="ko-KR" altLang="en-US" sz="2100" dirty="0">
                <a:solidFill>
                  <a:srgbClr val="14142B"/>
                </a:solidFill>
                <a:latin typeface="Malgun Gothic" pitchFamily="34" charset="0"/>
                <a:ea typeface="Malgun Gothic" pitchFamily="34" charset="-122"/>
                <a:cs typeface="Malgun Gothic" pitchFamily="34" charset="-120"/>
              </a:rPr>
              <a:t>바지 </a:t>
            </a:r>
            <a:r>
              <a:rPr lang="en-US" sz="2100" dirty="0">
                <a:solidFill>
                  <a:srgbClr val="14142B"/>
                </a:solidFill>
              </a:rPr>
              <a:t>· </a:t>
            </a:r>
            <a:r>
              <a:rPr lang="ko-KR" altLang="en-US" sz="2100" dirty="0">
                <a:solidFill>
                  <a:srgbClr val="14142B"/>
                </a:solidFill>
                <a:latin typeface="Malgun Gothic" pitchFamily="34" charset="0"/>
                <a:ea typeface="Malgun Gothic" pitchFamily="34" charset="-122"/>
                <a:cs typeface="Malgun Gothic" pitchFamily="34" charset="-120"/>
              </a:rPr>
              <a:t>치마 </a:t>
            </a:r>
            <a:r>
              <a:rPr lang="en-US" sz="2100" dirty="0">
                <a:solidFill>
                  <a:srgbClr val="14142B"/>
                </a:solidFill>
              </a:rPr>
              <a:t>· </a:t>
            </a:r>
            <a:r>
              <a:rPr lang="ko-KR" altLang="en-US" sz="2100" dirty="0">
                <a:solidFill>
                  <a:srgbClr val="14142B"/>
                </a:solidFill>
                <a:latin typeface="Malgun Gothic" pitchFamily="34" charset="0"/>
                <a:ea typeface="Malgun Gothic" pitchFamily="34" charset="-122"/>
                <a:cs typeface="Malgun Gothic" pitchFamily="34" charset="-120"/>
              </a:rPr>
              <a:t>양말</a:t>
            </a:r>
            <a:endParaRPr lang="en-US" sz="2100" dirty="0"/>
          </a:p>
        </p:txBody>
      </p:sp>
      <p:sp>
        <p:nvSpPr>
          <p:cNvPr id="9" name="rev_10_caja"/>
          <p:cNvSpPr/>
          <p:nvPr/>
        </p:nvSpPr>
        <p:spPr>
          <a:xfrm>
            <a:off x="658368" y="3524098"/>
            <a:ext cx="3355848" cy="362102"/>
          </a:xfrm>
          <a:prstGeom prst="roundRect">
            <a:avLst>
              <a:gd name="adj" fmla="val 30303"/>
            </a:avLst>
          </a:prstGeom>
          <a:solidFill>
            <a:srgbClr val="4236F6"/>
          </a:solidFill>
          <a:ln w="12700">
            <a:solidFill>
              <a:srgbClr val="4236F6"/>
            </a:solidFill>
            <a:prstDash val="solid"/>
          </a:ln>
        </p:spPr>
      </p:sp>
      <p:sp>
        <p:nvSpPr>
          <p:cNvPr id="10" name="rev_10_txt"/>
          <p:cNvSpPr txBox="1"/>
          <p:nvPr/>
        </p:nvSpPr>
        <p:spPr>
          <a:xfrm>
            <a:off x="685800" y="352409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옷 가게에 있어요</a:t>
            </a:r>
            <a:r>
              <a:rPr lang="en-US" sz="1800" b="1" dirty="0">
                <a:solidFill>
                  <a:srgbClr val="FFFFFF"/>
                </a:solidFill>
              </a:rPr>
              <a:t>.</a:t>
            </a:r>
            <a:endParaRPr lang="en-US" sz="1800" dirty="0"/>
          </a:p>
        </p:txBody>
      </p:sp>
      <p:sp>
        <p:nvSpPr>
          <p:cNvPr id="11" name="card_1"/>
          <p:cNvSpPr/>
          <p:nvPr/>
        </p:nvSpPr>
        <p:spPr>
          <a:xfrm>
            <a:off x="4306824"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2" name="item_img_1" descr="C:\Users\Chingu\AppData\Local\Temp\claude\C--Users-Chingu-Desktop-ACADEMIASEULWEB\d4111e1b-5523-44ea-97b2-b1a1d9545b9e\scratchpad\decks\cache\img_d1706db066479094.png"/>
          <p:cNvPicPr>
            <a:picLocks noChangeAspect="1"/>
          </p:cNvPicPr>
          <p:nvPr/>
        </p:nvPicPr>
        <p:blipFill>
          <a:blip r:embed="rId4"/>
          <a:stretch>
            <a:fillRect/>
          </a:stretch>
        </p:blipFill>
        <p:spPr>
          <a:xfrm>
            <a:off x="5608015" y="2057400"/>
            <a:ext cx="972922" cy="972922"/>
          </a:xfrm>
          <a:prstGeom prst="rect">
            <a:avLst/>
          </a:prstGeom>
        </p:spPr>
      </p:pic>
      <p:sp>
        <p:nvSpPr>
          <p:cNvPr id="13" name="num_1"/>
          <p:cNvSpPr/>
          <p:nvPr/>
        </p:nvSpPr>
        <p:spPr>
          <a:xfrm>
            <a:off x="4398264" y="2057400"/>
            <a:ext cx="420624" cy="420624"/>
          </a:xfrm>
          <a:prstGeom prst="ellipse">
            <a:avLst/>
          </a:prstGeom>
          <a:solidFill>
            <a:srgbClr val="003478"/>
          </a:solidFill>
          <a:ln w="19050">
            <a:solidFill>
              <a:srgbClr val="FFFFFF"/>
            </a:solidFill>
            <a:prstDash val="solid"/>
          </a:ln>
        </p:spPr>
      </p:sp>
      <p:sp>
        <p:nvSpPr>
          <p:cNvPr id="14" name="Text 10"/>
          <p:cNvSpPr txBox="1"/>
          <p:nvPr/>
        </p:nvSpPr>
        <p:spPr>
          <a:xfrm>
            <a:off x="4398264"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2</a:t>
            </a:r>
            <a:endParaRPr lang="en-US" sz="1500" dirty="0"/>
          </a:p>
        </p:txBody>
      </p:sp>
      <p:sp>
        <p:nvSpPr>
          <p:cNvPr id="15" name="Text 11"/>
          <p:cNvSpPr txBox="1"/>
          <p:nvPr/>
        </p:nvSpPr>
        <p:spPr>
          <a:xfrm>
            <a:off x="4398264" y="3076042"/>
            <a:ext cx="3392424" cy="402336"/>
          </a:xfrm>
          <a:prstGeom prst="rect">
            <a:avLst/>
          </a:prstGeom>
          <a:noFill/>
          <a:ln/>
        </p:spPr>
        <p:txBody>
          <a:bodyPr wrap="square" lIns="0" tIns="0" rIns="0" bIns="0" rtlCol="0" anchor="ctr">
            <a:normAutofit/>
          </a:bodyPr>
          <a:lstStyle/>
          <a:p>
            <a:pPr marL="0" indent="0" algn="ctr" eaLnBrk="1">
              <a:buNone/>
            </a:pPr>
            <a:r>
              <a:rPr lang="ko-KR" altLang="en-US" sz="2100" dirty="0">
                <a:solidFill>
                  <a:srgbClr val="14142B"/>
                </a:solidFill>
                <a:latin typeface="Malgun Gothic" pitchFamily="34" charset="0"/>
                <a:ea typeface="Malgun Gothic" pitchFamily="34" charset="-122"/>
                <a:cs typeface="Malgun Gothic" pitchFamily="34" charset="-120"/>
              </a:rPr>
              <a:t>빵</a:t>
            </a:r>
            <a:endParaRPr lang="en-US" sz="2100" dirty="0"/>
          </a:p>
        </p:txBody>
      </p:sp>
      <p:sp>
        <p:nvSpPr>
          <p:cNvPr id="16" name="rev_11_caja"/>
          <p:cNvSpPr/>
          <p:nvPr/>
        </p:nvSpPr>
        <p:spPr>
          <a:xfrm>
            <a:off x="4416552" y="3524098"/>
            <a:ext cx="3355848" cy="362102"/>
          </a:xfrm>
          <a:prstGeom prst="roundRect">
            <a:avLst>
              <a:gd name="adj" fmla="val 30303"/>
            </a:avLst>
          </a:prstGeom>
          <a:solidFill>
            <a:srgbClr val="4236F6"/>
          </a:solidFill>
          <a:ln w="12700">
            <a:solidFill>
              <a:srgbClr val="4236F6"/>
            </a:solidFill>
            <a:prstDash val="solid"/>
          </a:ln>
        </p:spPr>
      </p:sp>
      <p:sp>
        <p:nvSpPr>
          <p:cNvPr id="17" name="rev_11_txt"/>
          <p:cNvSpPr txBox="1"/>
          <p:nvPr/>
        </p:nvSpPr>
        <p:spPr>
          <a:xfrm>
            <a:off x="4443984" y="352409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빵 가게에 있어요</a:t>
            </a:r>
            <a:r>
              <a:rPr lang="en-US" sz="1800" b="1" dirty="0">
                <a:solidFill>
                  <a:srgbClr val="FFFFFF"/>
                </a:solidFill>
              </a:rPr>
              <a:t>.</a:t>
            </a:r>
            <a:endParaRPr lang="en-US" sz="1800" dirty="0"/>
          </a:p>
        </p:txBody>
      </p:sp>
      <p:sp>
        <p:nvSpPr>
          <p:cNvPr id="18" name="card_2"/>
          <p:cNvSpPr/>
          <p:nvPr/>
        </p:nvSpPr>
        <p:spPr>
          <a:xfrm>
            <a:off x="8065008"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9" name="item_img_2" descr="C:\Users\Chingu\AppData\Local\Temp\claude\C--Users-Chingu-Desktop-ACADEMIASEULWEB\d4111e1b-5523-44ea-97b2-b1a1d9545b9e\scratchpad\decks\cache\img_d96c534bf66de9ea.png"/>
          <p:cNvPicPr>
            <a:picLocks noChangeAspect="1"/>
          </p:cNvPicPr>
          <p:nvPr/>
        </p:nvPicPr>
        <p:blipFill>
          <a:blip r:embed="rId5"/>
          <a:stretch>
            <a:fillRect/>
          </a:stretch>
        </p:blipFill>
        <p:spPr>
          <a:xfrm>
            <a:off x="9366199" y="2057400"/>
            <a:ext cx="972922" cy="972922"/>
          </a:xfrm>
          <a:prstGeom prst="rect">
            <a:avLst/>
          </a:prstGeom>
        </p:spPr>
      </p:pic>
      <p:sp>
        <p:nvSpPr>
          <p:cNvPr id="20" name="num_2"/>
          <p:cNvSpPr/>
          <p:nvPr/>
        </p:nvSpPr>
        <p:spPr>
          <a:xfrm>
            <a:off x="8156448" y="2057400"/>
            <a:ext cx="420624" cy="420624"/>
          </a:xfrm>
          <a:prstGeom prst="ellipse">
            <a:avLst/>
          </a:prstGeom>
          <a:solidFill>
            <a:srgbClr val="003478"/>
          </a:solidFill>
          <a:ln w="19050">
            <a:solidFill>
              <a:srgbClr val="FFFFFF"/>
            </a:solidFill>
            <a:prstDash val="solid"/>
          </a:ln>
        </p:spPr>
      </p:sp>
      <p:sp>
        <p:nvSpPr>
          <p:cNvPr id="21" name="Text 16"/>
          <p:cNvSpPr txBox="1"/>
          <p:nvPr/>
        </p:nvSpPr>
        <p:spPr>
          <a:xfrm>
            <a:off x="8156448"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3</a:t>
            </a:r>
            <a:endParaRPr lang="en-US" sz="1500" dirty="0"/>
          </a:p>
        </p:txBody>
      </p:sp>
      <p:sp>
        <p:nvSpPr>
          <p:cNvPr id="22" name="Text 17"/>
          <p:cNvSpPr txBox="1"/>
          <p:nvPr/>
        </p:nvSpPr>
        <p:spPr>
          <a:xfrm>
            <a:off x="8156448" y="3076042"/>
            <a:ext cx="3392424" cy="402336"/>
          </a:xfrm>
          <a:prstGeom prst="rect">
            <a:avLst/>
          </a:prstGeom>
          <a:noFill/>
          <a:ln/>
        </p:spPr>
        <p:txBody>
          <a:bodyPr wrap="square" lIns="0" tIns="0" rIns="0" bIns="0" rtlCol="0" anchor="ctr">
            <a:normAutofit/>
          </a:bodyPr>
          <a:lstStyle/>
          <a:p>
            <a:pPr marL="0" indent="0" algn="ctr" eaLnBrk="1">
              <a:buNone/>
            </a:pPr>
            <a:r>
              <a:rPr lang="ko-KR" altLang="en-US" sz="2100" dirty="0">
                <a:solidFill>
                  <a:srgbClr val="14142B"/>
                </a:solidFill>
                <a:latin typeface="Malgun Gothic" pitchFamily="34" charset="0"/>
                <a:ea typeface="Malgun Gothic" pitchFamily="34" charset="-122"/>
                <a:cs typeface="Malgun Gothic" pitchFamily="34" charset="-120"/>
              </a:rPr>
              <a:t>꽃</a:t>
            </a:r>
            <a:endParaRPr lang="en-US" sz="2100" dirty="0"/>
          </a:p>
        </p:txBody>
      </p:sp>
      <p:sp>
        <p:nvSpPr>
          <p:cNvPr id="23" name="rev_12_caja"/>
          <p:cNvSpPr/>
          <p:nvPr/>
        </p:nvSpPr>
        <p:spPr>
          <a:xfrm>
            <a:off x="8174736" y="3524098"/>
            <a:ext cx="3355848" cy="362102"/>
          </a:xfrm>
          <a:prstGeom prst="roundRect">
            <a:avLst>
              <a:gd name="adj" fmla="val 30303"/>
            </a:avLst>
          </a:prstGeom>
          <a:solidFill>
            <a:srgbClr val="4236F6"/>
          </a:solidFill>
          <a:ln w="12700">
            <a:solidFill>
              <a:srgbClr val="4236F6"/>
            </a:solidFill>
            <a:prstDash val="solid"/>
          </a:ln>
        </p:spPr>
      </p:sp>
      <p:sp>
        <p:nvSpPr>
          <p:cNvPr id="24" name="rev_12_txt"/>
          <p:cNvSpPr txBox="1"/>
          <p:nvPr/>
        </p:nvSpPr>
        <p:spPr>
          <a:xfrm>
            <a:off x="8202168" y="352409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꽃집에 있어요</a:t>
            </a:r>
            <a:r>
              <a:rPr lang="en-US" sz="1800" b="1" dirty="0">
                <a:solidFill>
                  <a:srgbClr val="FFFFFF"/>
                </a:solidFill>
              </a:rPr>
              <a:t>.</a:t>
            </a:r>
            <a:endParaRPr lang="en-US" sz="1800" dirty="0"/>
          </a:p>
        </p:txBody>
      </p:sp>
      <p:sp>
        <p:nvSpPr>
          <p:cNvPr id="25" name="card_3"/>
          <p:cNvSpPr/>
          <p:nvPr/>
        </p:nvSpPr>
        <p:spPr>
          <a:xfrm>
            <a:off x="548640"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6" name="item_img_3" descr="C:\Users\Chingu\AppData\Local\Temp\claude\C--Users-Chingu-Desktop-ACADEMIASEULWEB\d4111e1b-5523-44ea-97b2-b1a1d9545b9e\scratchpad\decks\cache\img_0286d625e508b3f9.png"/>
          <p:cNvPicPr>
            <a:picLocks noChangeAspect="1"/>
          </p:cNvPicPr>
          <p:nvPr/>
        </p:nvPicPr>
        <p:blipFill>
          <a:blip r:embed="rId6"/>
          <a:stretch>
            <a:fillRect/>
          </a:stretch>
        </p:blipFill>
        <p:spPr>
          <a:xfrm>
            <a:off x="1849831" y="4251960"/>
            <a:ext cx="972922" cy="972922"/>
          </a:xfrm>
          <a:prstGeom prst="rect">
            <a:avLst/>
          </a:prstGeom>
        </p:spPr>
      </p:pic>
      <p:sp>
        <p:nvSpPr>
          <p:cNvPr id="27" name="num_3"/>
          <p:cNvSpPr/>
          <p:nvPr/>
        </p:nvSpPr>
        <p:spPr>
          <a:xfrm>
            <a:off x="640080" y="4251960"/>
            <a:ext cx="420624" cy="420624"/>
          </a:xfrm>
          <a:prstGeom prst="ellipse">
            <a:avLst/>
          </a:prstGeom>
          <a:solidFill>
            <a:srgbClr val="003478"/>
          </a:solidFill>
          <a:ln w="19050">
            <a:solidFill>
              <a:srgbClr val="FFFFFF"/>
            </a:solidFill>
            <a:prstDash val="solid"/>
          </a:ln>
        </p:spPr>
      </p:sp>
      <p:sp>
        <p:nvSpPr>
          <p:cNvPr id="28" name="Text 22"/>
          <p:cNvSpPr txBox="1"/>
          <p:nvPr/>
        </p:nvSpPr>
        <p:spPr>
          <a:xfrm>
            <a:off x="640080"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4</a:t>
            </a:r>
            <a:endParaRPr lang="en-US" sz="1500" dirty="0"/>
          </a:p>
        </p:txBody>
      </p:sp>
      <p:sp>
        <p:nvSpPr>
          <p:cNvPr id="29" name="Text 23"/>
          <p:cNvSpPr txBox="1"/>
          <p:nvPr/>
        </p:nvSpPr>
        <p:spPr>
          <a:xfrm>
            <a:off x="640080" y="5270602"/>
            <a:ext cx="3392424" cy="402336"/>
          </a:xfrm>
          <a:prstGeom prst="rect">
            <a:avLst/>
          </a:prstGeom>
          <a:noFill/>
          <a:ln/>
        </p:spPr>
        <p:txBody>
          <a:bodyPr wrap="square" lIns="0" tIns="0" rIns="0" bIns="0" rtlCol="0" anchor="ctr">
            <a:normAutofit/>
          </a:bodyPr>
          <a:lstStyle/>
          <a:p>
            <a:pPr marL="0" indent="0" algn="ctr" eaLnBrk="1">
              <a:buNone/>
            </a:pPr>
            <a:r>
              <a:rPr lang="ko-KR" altLang="en-US" sz="2100" dirty="0">
                <a:solidFill>
                  <a:srgbClr val="14142B"/>
                </a:solidFill>
                <a:latin typeface="Malgun Gothic" pitchFamily="34" charset="0"/>
                <a:ea typeface="Malgun Gothic" pitchFamily="34" charset="-122"/>
                <a:cs typeface="Malgun Gothic" pitchFamily="34" charset="-120"/>
              </a:rPr>
              <a:t>동물</a:t>
            </a:r>
            <a:endParaRPr lang="en-US" sz="2100" dirty="0"/>
          </a:p>
        </p:txBody>
      </p:sp>
      <p:sp>
        <p:nvSpPr>
          <p:cNvPr id="30" name="rev_13_caja"/>
          <p:cNvSpPr/>
          <p:nvPr/>
        </p:nvSpPr>
        <p:spPr>
          <a:xfrm>
            <a:off x="658368" y="5718658"/>
            <a:ext cx="3355848" cy="362102"/>
          </a:xfrm>
          <a:prstGeom prst="roundRect">
            <a:avLst>
              <a:gd name="adj" fmla="val 30303"/>
            </a:avLst>
          </a:prstGeom>
          <a:solidFill>
            <a:srgbClr val="4236F6"/>
          </a:solidFill>
          <a:ln w="12700">
            <a:solidFill>
              <a:srgbClr val="4236F6"/>
            </a:solidFill>
            <a:prstDash val="solid"/>
          </a:ln>
        </p:spPr>
      </p:sp>
      <p:sp>
        <p:nvSpPr>
          <p:cNvPr id="31" name="rev_13_txt"/>
          <p:cNvSpPr txBox="1"/>
          <p:nvPr/>
        </p:nvSpPr>
        <p:spPr>
          <a:xfrm>
            <a:off x="685800" y="571865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동물원에 있어요</a:t>
            </a:r>
            <a:r>
              <a:rPr lang="en-US" sz="1800" b="1" dirty="0">
                <a:solidFill>
                  <a:srgbClr val="FFFFFF"/>
                </a:solidFill>
              </a:rPr>
              <a:t>.</a:t>
            </a:r>
            <a:endParaRPr lang="en-US" sz="1800" dirty="0"/>
          </a:p>
        </p:txBody>
      </p:sp>
      <p:sp>
        <p:nvSpPr>
          <p:cNvPr id="32" name="card_4"/>
          <p:cNvSpPr/>
          <p:nvPr/>
        </p:nvSpPr>
        <p:spPr>
          <a:xfrm>
            <a:off x="4306824"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3" name="item_img_4" descr="C:\Users\Chingu\AppData\Local\Temp\claude\C--Users-Chingu-Desktop-ACADEMIASEULWEB\d4111e1b-5523-44ea-97b2-b1a1d9545b9e\scratchpad\decks\cache\img_cff8d6bef81101b4.png"/>
          <p:cNvPicPr>
            <a:picLocks noChangeAspect="1"/>
          </p:cNvPicPr>
          <p:nvPr/>
        </p:nvPicPr>
        <p:blipFill>
          <a:blip r:embed="rId7"/>
          <a:stretch>
            <a:fillRect/>
          </a:stretch>
        </p:blipFill>
        <p:spPr>
          <a:xfrm>
            <a:off x="5608015" y="4251960"/>
            <a:ext cx="972922" cy="972922"/>
          </a:xfrm>
          <a:prstGeom prst="rect">
            <a:avLst/>
          </a:prstGeom>
        </p:spPr>
      </p:pic>
      <p:sp>
        <p:nvSpPr>
          <p:cNvPr id="34" name="num_4"/>
          <p:cNvSpPr/>
          <p:nvPr/>
        </p:nvSpPr>
        <p:spPr>
          <a:xfrm>
            <a:off x="4398264" y="4251960"/>
            <a:ext cx="420624" cy="420624"/>
          </a:xfrm>
          <a:prstGeom prst="ellipse">
            <a:avLst/>
          </a:prstGeom>
          <a:solidFill>
            <a:srgbClr val="003478"/>
          </a:solidFill>
          <a:ln w="19050">
            <a:solidFill>
              <a:srgbClr val="FFFFFF"/>
            </a:solidFill>
            <a:prstDash val="solid"/>
          </a:ln>
        </p:spPr>
      </p:sp>
      <p:sp>
        <p:nvSpPr>
          <p:cNvPr id="35" name="Text 28"/>
          <p:cNvSpPr txBox="1"/>
          <p:nvPr/>
        </p:nvSpPr>
        <p:spPr>
          <a:xfrm>
            <a:off x="4398264"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5</a:t>
            </a:r>
            <a:endParaRPr lang="en-US" sz="1500" dirty="0"/>
          </a:p>
        </p:txBody>
      </p:sp>
      <p:sp>
        <p:nvSpPr>
          <p:cNvPr id="36" name="Text 29"/>
          <p:cNvSpPr txBox="1"/>
          <p:nvPr/>
        </p:nvSpPr>
        <p:spPr>
          <a:xfrm>
            <a:off x="4398264" y="5270602"/>
            <a:ext cx="3392424" cy="402336"/>
          </a:xfrm>
          <a:prstGeom prst="rect">
            <a:avLst/>
          </a:prstGeom>
          <a:noFill/>
          <a:ln/>
        </p:spPr>
        <p:txBody>
          <a:bodyPr wrap="square" lIns="0" tIns="0" rIns="0" bIns="0" rtlCol="0" anchor="ctr">
            <a:normAutofit/>
          </a:bodyPr>
          <a:lstStyle/>
          <a:p>
            <a:pPr marL="0" indent="0" algn="ctr" eaLnBrk="1">
              <a:buNone/>
            </a:pPr>
            <a:r>
              <a:rPr lang="ko-KR" altLang="en-US" sz="2100" dirty="0">
                <a:solidFill>
                  <a:srgbClr val="14142B"/>
                </a:solidFill>
                <a:latin typeface="Malgun Gothic" pitchFamily="34" charset="0"/>
                <a:ea typeface="Malgun Gothic" pitchFamily="34" charset="-122"/>
                <a:cs typeface="Malgun Gothic" pitchFamily="34" charset="-120"/>
              </a:rPr>
              <a:t>우유 </a:t>
            </a:r>
            <a:r>
              <a:rPr lang="en-US" sz="2100" dirty="0">
                <a:solidFill>
                  <a:srgbClr val="14142B"/>
                </a:solidFill>
              </a:rPr>
              <a:t>· </a:t>
            </a:r>
            <a:r>
              <a:rPr lang="ko-KR" altLang="en-US" sz="2100" dirty="0">
                <a:solidFill>
                  <a:srgbClr val="14142B"/>
                </a:solidFill>
                <a:latin typeface="Malgun Gothic" pitchFamily="34" charset="0"/>
                <a:ea typeface="Malgun Gothic" pitchFamily="34" charset="-122"/>
                <a:cs typeface="Malgun Gothic" pitchFamily="34" charset="-120"/>
              </a:rPr>
              <a:t>라면 </a:t>
            </a:r>
            <a:r>
              <a:rPr lang="en-US" sz="2100" dirty="0">
                <a:solidFill>
                  <a:srgbClr val="14142B"/>
                </a:solidFill>
              </a:rPr>
              <a:t>· </a:t>
            </a:r>
            <a:r>
              <a:rPr lang="ko-KR" altLang="en-US" sz="2100" dirty="0">
                <a:solidFill>
                  <a:srgbClr val="14142B"/>
                </a:solidFill>
                <a:latin typeface="Malgun Gothic" pitchFamily="34" charset="0"/>
                <a:ea typeface="Malgun Gothic" pitchFamily="34" charset="-122"/>
                <a:cs typeface="Malgun Gothic" pitchFamily="34" charset="-120"/>
              </a:rPr>
              <a:t>물</a:t>
            </a:r>
            <a:endParaRPr lang="en-US" sz="2100" dirty="0"/>
          </a:p>
        </p:txBody>
      </p:sp>
      <p:sp>
        <p:nvSpPr>
          <p:cNvPr id="37" name="rev_14_caja"/>
          <p:cNvSpPr/>
          <p:nvPr/>
        </p:nvSpPr>
        <p:spPr>
          <a:xfrm>
            <a:off x="4416552" y="5718658"/>
            <a:ext cx="3355848" cy="362102"/>
          </a:xfrm>
          <a:prstGeom prst="roundRect">
            <a:avLst>
              <a:gd name="adj" fmla="val 30303"/>
            </a:avLst>
          </a:prstGeom>
          <a:solidFill>
            <a:srgbClr val="4236F6"/>
          </a:solidFill>
          <a:ln w="12700">
            <a:solidFill>
              <a:srgbClr val="4236F6"/>
            </a:solidFill>
            <a:prstDash val="solid"/>
          </a:ln>
        </p:spPr>
      </p:sp>
      <p:sp>
        <p:nvSpPr>
          <p:cNvPr id="38" name="rev_14_txt"/>
          <p:cNvSpPr txBox="1"/>
          <p:nvPr/>
        </p:nvSpPr>
        <p:spPr>
          <a:xfrm>
            <a:off x="4443984" y="571865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마트에 있어요</a:t>
            </a:r>
            <a:r>
              <a:rPr lang="en-US" sz="1800" b="1" dirty="0">
                <a:solidFill>
                  <a:srgbClr val="FFFFFF"/>
                </a:solidFill>
              </a:rPr>
              <a:t>.</a:t>
            </a:r>
            <a:endParaRPr lang="en-US" sz="1800" dirty="0"/>
          </a:p>
        </p:txBody>
      </p:sp>
      <p:sp>
        <p:nvSpPr>
          <p:cNvPr id="39" name="card_5"/>
          <p:cNvSpPr/>
          <p:nvPr/>
        </p:nvSpPr>
        <p:spPr>
          <a:xfrm>
            <a:off x="8065008"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0" name="item_img_5" descr="C:\Users\Chingu\AppData\Local\Temp\claude\C--Users-Chingu-Desktop-ACADEMIASEULWEB\d4111e1b-5523-44ea-97b2-b1a1d9545b9e\scratchpad\decks\cache\img_2a6b68d53a3698ec.png"/>
          <p:cNvPicPr>
            <a:picLocks noChangeAspect="1"/>
          </p:cNvPicPr>
          <p:nvPr/>
        </p:nvPicPr>
        <p:blipFill>
          <a:blip r:embed="rId8"/>
          <a:stretch>
            <a:fillRect/>
          </a:stretch>
        </p:blipFill>
        <p:spPr>
          <a:xfrm>
            <a:off x="9366199" y="4251960"/>
            <a:ext cx="972922" cy="972922"/>
          </a:xfrm>
          <a:prstGeom prst="rect">
            <a:avLst/>
          </a:prstGeom>
        </p:spPr>
      </p:pic>
      <p:sp>
        <p:nvSpPr>
          <p:cNvPr id="41" name="num_5"/>
          <p:cNvSpPr/>
          <p:nvPr/>
        </p:nvSpPr>
        <p:spPr>
          <a:xfrm>
            <a:off x="8156448" y="4251960"/>
            <a:ext cx="420624" cy="420624"/>
          </a:xfrm>
          <a:prstGeom prst="ellipse">
            <a:avLst/>
          </a:prstGeom>
          <a:solidFill>
            <a:srgbClr val="003478"/>
          </a:solidFill>
          <a:ln w="19050">
            <a:solidFill>
              <a:srgbClr val="FFFFFF"/>
            </a:solidFill>
            <a:prstDash val="solid"/>
          </a:ln>
        </p:spPr>
      </p:sp>
      <p:sp>
        <p:nvSpPr>
          <p:cNvPr id="42" name="Text 34"/>
          <p:cNvSpPr txBox="1"/>
          <p:nvPr/>
        </p:nvSpPr>
        <p:spPr>
          <a:xfrm>
            <a:off x="8156448"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6</a:t>
            </a:r>
            <a:endParaRPr lang="en-US" sz="1500" dirty="0"/>
          </a:p>
        </p:txBody>
      </p:sp>
      <p:sp>
        <p:nvSpPr>
          <p:cNvPr id="43" name="Text 35"/>
          <p:cNvSpPr txBox="1"/>
          <p:nvPr/>
        </p:nvSpPr>
        <p:spPr>
          <a:xfrm>
            <a:off x="8156448" y="5270602"/>
            <a:ext cx="3392424" cy="402336"/>
          </a:xfrm>
          <a:prstGeom prst="rect">
            <a:avLst/>
          </a:prstGeom>
          <a:noFill/>
          <a:ln/>
        </p:spPr>
        <p:txBody>
          <a:bodyPr wrap="square" lIns="0" tIns="0" rIns="0" bIns="0" rtlCol="0" anchor="ctr">
            <a:normAutofit/>
          </a:bodyPr>
          <a:lstStyle/>
          <a:p>
            <a:pPr marL="0" indent="0" algn="ctr" eaLnBrk="1">
              <a:buNone/>
            </a:pPr>
            <a:r>
              <a:rPr lang="ko-KR" altLang="en-US" sz="2100" dirty="0">
                <a:solidFill>
                  <a:srgbClr val="14142B"/>
                </a:solidFill>
                <a:latin typeface="Malgun Gothic" pitchFamily="34" charset="0"/>
                <a:ea typeface="Malgun Gothic" pitchFamily="34" charset="-122"/>
                <a:cs typeface="Malgun Gothic" pitchFamily="34" charset="-120"/>
              </a:rPr>
              <a:t>학생 </a:t>
            </a:r>
            <a:r>
              <a:rPr lang="en-US" sz="2100" dirty="0">
                <a:solidFill>
                  <a:srgbClr val="14142B"/>
                </a:solidFill>
              </a:rPr>
              <a:t>· </a:t>
            </a:r>
            <a:r>
              <a:rPr lang="ko-KR" altLang="en-US" sz="2100" dirty="0">
                <a:solidFill>
                  <a:srgbClr val="14142B"/>
                </a:solidFill>
                <a:latin typeface="Malgun Gothic" pitchFamily="34" charset="0"/>
                <a:ea typeface="Malgun Gothic" pitchFamily="34" charset="-122"/>
                <a:cs typeface="Malgun Gothic" pitchFamily="34" charset="-120"/>
              </a:rPr>
              <a:t>공책 </a:t>
            </a:r>
            <a:r>
              <a:rPr lang="en-US" sz="2100" dirty="0">
                <a:solidFill>
                  <a:srgbClr val="14142B"/>
                </a:solidFill>
              </a:rPr>
              <a:t>· </a:t>
            </a:r>
            <a:r>
              <a:rPr lang="ko-KR" altLang="en-US" sz="2100" dirty="0">
                <a:solidFill>
                  <a:srgbClr val="14142B"/>
                </a:solidFill>
                <a:latin typeface="Malgun Gothic" pitchFamily="34" charset="0"/>
                <a:ea typeface="Malgun Gothic" pitchFamily="34" charset="-122"/>
                <a:cs typeface="Malgun Gothic" pitchFamily="34" charset="-120"/>
              </a:rPr>
              <a:t>연필</a:t>
            </a:r>
            <a:endParaRPr lang="en-US" sz="2100" dirty="0"/>
          </a:p>
        </p:txBody>
      </p:sp>
      <p:sp>
        <p:nvSpPr>
          <p:cNvPr id="44" name="rev_15_caja"/>
          <p:cNvSpPr/>
          <p:nvPr/>
        </p:nvSpPr>
        <p:spPr>
          <a:xfrm>
            <a:off x="8174736" y="5718658"/>
            <a:ext cx="3355848" cy="362102"/>
          </a:xfrm>
          <a:prstGeom prst="roundRect">
            <a:avLst>
              <a:gd name="adj" fmla="val 30303"/>
            </a:avLst>
          </a:prstGeom>
          <a:solidFill>
            <a:srgbClr val="4236F6"/>
          </a:solidFill>
          <a:ln w="12700">
            <a:solidFill>
              <a:srgbClr val="4236F6"/>
            </a:solidFill>
            <a:prstDash val="solid"/>
          </a:ln>
        </p:spPr>
      </p:sp>
      <p:sp>
        <p:nvSpPr>
          <p:cNvPr id="45" name="rev_15_txt"/>
          <p:cNvSpPr txBox="1"/>
          <p:nvPr/>
        </p:nvSpPr>
        <p:spPr>
          <a:xfrm>
            <a:off x="8202168" y="571865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학교에 있어요</a:t>
            </a:r>
            <a:r>
              <a:rPr lang="en-US" sz="1800" b="1" dirty="0">
                <a:solidFill>
                  <a:srgbClr val="FFFFFF"/>
                </a:solidFill>
              </a:rPr>
              <a:t>.</a:t>
            </a:r>
            <a:endParaRPr lang="en-US" sz="1800" dirty="0"/>
          </a:p>
        </p:txBody>
      </p:sp>
      <p:sp>
        <p:nvSpPr>
          <p:cNvPr id="46"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P spid="24" grpId="0" animBg="1"/>
      <p:bldP spid="31" grpId="0" animBg="1"/>
      <p:bldP spid="38"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에서  </a:t>
            </a:r>
            <a:r>
              <a:rPr lang="en-US" sz="3000" b="1" dirty="0">
                <a:solidFill>
                  <a:srgbClr val="003478"/>
                </a:solidFill>
              </a:rPr>
              <a:t>La frase de hoy</a:t>
            </a:r>
            <a:r>
              <a:rPr lang="en-US" sz="1500" b="1" i="1" dirty="0">
                <a:solidFill>
                  <a:srgbClr val="8A8DA0"/>
                </a:solidFill>
              </a:rPr>
              <a:t>   Today's sentence</a:t>
            </a:r>
            <a:endParaRPr lang="en-US" sz="3000" dirty="0"/>
          </a:p>
        </p:txBody>
      </p:sp>
      <p:pic>
        <p:nvPicPr>
          <p:cNvPr id="3" name="imagen" descr="C:\Users\Chingu\AppData\Local\Temp\claude\C--Users-Chingu-Desktop-ACADEMIASEULWEB\d4111e1b-5523-44ea-97b2-b1a1d9545b9e\scratchpad\decks\cache\img_06050986ef4f66be.png"/>
          <p:cNvPicPr>
            <a:picLocks noChangeAspect="1"/>
          </p:cNvPicPr>
          <p:nvPr/>
        </p:nvPicPr>
        <p:blipFill>
          <a:blip r:embed="rId5"/>
          <a:stretch>
            <a:fillRect/>
          </a:stretch>
        </p:blipFill>
        <p:spPr>
          <a:xfrm>
            <a:off x="7754112" y="1508760"/>
            <a:ext cx="3886200" cy="4480560"/>
          </a:xfrm>
          <a:prstGeom prst="rect">
            <a:avLst/>
          </a:prstGeom>
        </p:spPr>
      </p:pic>
      <p:sp>
        <p:nvSpPr>
          <p:cNvPr id="4" name="panel"/>
          <p:cNvSpPr/>
          <p:nvPr/>
        </p:nvSpPr>
        <p:spPr>
          <a:xfrm>
            <a:off x="548640" y="1645920"/>
            <a:ext cx="6931152" cy="3108960"/>
          </a:xfrm>
          <a:prstGeom prst="roundRect">
            <a:avLst>
              <a:gd name="adj" fmla="val 8824"/>
            </a:avLst>
          </a:prstGeom>
          <a:solidFill>
            <a:srgbClr val="F1F0FE"/>
          </a:solidFill>
          <a:ln w="12700">
            <a:solidFill>
              <a:srgbClr val="F1F0FE"/>
            </a:solidFill>
            <a:prstDash val="solid"/>
          </a:ln>
        </p:spPr>
      </p:sp>
      <p:sp>
        <p:nvSpPr>
          <p:cNvPr id="5" name="frase_ko"/>
          <p:cNvSpPr txBox="1"/>
          <p:nvPr/>
        </p:nvSpPr>
        <p:spPr>
          <a:xfrm>
            <a:off x="731520" y="1828800"/>
            <a:ext cx="6565392" cy="1828800"/>
          </a:xfrm>
          <a:prstGeom prst="rect">
            <a:avLst/>
          </a:prstGeom>
          <a:noFill/>
          <a:ln/>
        </p:spPr>
        <p:txBody>
          <a:bodyPr wrap="square" lIns="0" tIns="0" rIns="0" bIns="0" rtlCol="0" anchor="ctr">
            <a:normAutofit/>
          </a:bodyPr>
          <a:lstStyle/>
          <a:p>
            <a:pPr marL="0" indent="0" algn="ctr" eaLnBrk="1">
              <a:buNone/>
            </a:pPr>
            <a:r>
              <a:rPr lang="ko-KR" altLang="en-US" sz="5700" b="1" dirty="0">
                <a:solidFill>
                  <a:srgbClr val="003478"/>
                </a:solidFill>
                <a:latin typeface="Malgun Gothic" pitchFamily="34" charset="0"/>
                <a:ea typeface="Malgun Gothic" pitchFamily="34" charset="-122"/>
                <a:cs typeface="Malgun Gothic" pitchFamily="34" charset="-120"/>
              </a:rPr>
              <a:t>빵 가게</a:t>
            </a:r>
            <a:r>
              <a:rPr lang="ko-KR" altLang="en-US" sz="5700" b="1" dirty="0">
                <a:solidFill>
                  <a:srgbClr val="4236F6"/>
                </a:solidFill>
                <a:latin typeface="Malgun Gothic" pitchFamily="34" charset="0"/>
                <a:ea typeface="Malgun Gothic" pitchFamily="34" charset="-122"/>
                <a:cs typeface="Malgun Gothic" pitchFamily="34" charset="-120"/>
              </a:rPr>
              <a:t>에서</a:t>
            </a:r>
            <a:endParaRPr lang="en-US" sz="5700" dirty="0"/>
          </a:p>
          <a:p>
            <a:pPr marL="0" indent="0" algn="ctr" eaLnBrk="1">
              <a:buNone/>
            </a:pPr>
            <a:r>
              <a:rPr lang="ko-KR" altLang="en-US" sz="5700" b="1" dirty="0">
                <a:solidFill>
                  <a:srgbClr val="003478"/>
                </a:solidFill>
                <a:latin typeface="Malgun Gothic" pitchFamily="34" charset="0"/>
                <a:ea typeface="Malgun Gothic" pitchFamily="34" charset="-122"/>
                <a:cs typeface="Malgun Gothic" pitchFamily="34" charset="-120"/>
              </a:rPr>
              <a:t>빵을 사요</a:t>
            </a:r>
            <a:r>
              <a:rPr lang="en-US" sz="5700" b="1" dirty="0">
                <a:solidFill>
                  <a:srgbClr val="003478"/>
                </a:solidFill>
              </a:rPr>
              <a:t>.</a:t>
            </a:r>
            <a:endParaRPr lang="en-US" sz="5700" dirty="0"/>
          </a:p>
        </p:txBody>
      </p:sp>
      <p:sp>
        <p:nvSpPr>
          <p:cNvPr id="6" name="Text 3"/>
          <p:cNvSpPr txBox="1"/>
          <p:nvPr/>
        </p:nvSpPr>
        <p:spPr>
          <a:xfrm>
            <a:off x="1051560" y="3657600"/>
            <a:ext cx="5742432" cy="822960"/>
          </a:xfrm>
          <a:prstGeom prst="rect">
            <a:avLst/>
          </a:prstGeom>
          <a:noFill/>
          <a:ln/>
        </p:spPr>
        <p:txBody>
          <a:bodyPr wrap="square" lIns="0" tIns="0" rIns="0" bIns="0" rtlCol="0" anchor="t">
            <a:normAutofit/>
          </a:bodyPr>
          <a:lstStyle/>
          <a:p>
            <a:pPr marL="0" indent="0" algn="ctr" eaLnBrk="1">
              <a:buNone/>
            </a:pPr>
            <a:r>
              <a:rPr lang="en-US" sz="2400" dirty="0">
                <a:solidFill>
                  <a:srgbClr val="5C5F6B"/>
                </a:solidFill>
              </a:rPr>
              <a:t>Compro pan en la panadería.</a:t>
            </a:r>
            <a:endParaRPr lang="en-US" sz="24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903720" y="4160520"/>
            <a:ext cx="384048" cy="384048"/>
          </a:xfrm>
          <a:prstGeom prst="rect">
            <a:avLst/>
          </a:prstGeom>
        </p:spPr>
      </p:pic>
      <p:sp>
        <p:nvSpPr>
          <p:cNvPr id="8" name="lista"/>
          <p:cNvSpPr txBox="1"/>
          <p:nvPr/>
        </p:nvSpPr>
        <p:spPr>
          <a:xfrm>
            <a:off x="548640" y="4937760"/>
            <a:ext cx="6931152"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Escucha · repite · ¿qué está pegado a 빵 가게</a:t>
            </a:r>
            <a:r>
              <a:rPr lang="en-US" sz="1800" dirty="0">
                <a:solidFill>
                  <a:srgbClr val="14142B"/>
                </a:solidFill>
              </a:rPr>
              <a: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N에서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어디에서  </a:t>
            </a:r>
            <a:r>
              <a:rPr lang="ko-KR" altLang="en-US" sz="3000" b="1" dirty="0">
                <a:solidFill>
                  <a:srgbClr val="003478"/>
                </a:solidFill>
                <a:latin typeface="Malgun Gothic" pitchFamily="34" charset="0"/>
                <a:ea typeface="Malgun Gothic" pitchFamily="34" charset="-122"/>
                <a:cs typeface="Malgun Gothic" pitchFamily="34" charset="-120"/>
              </a:rPr>
              <a:t>에서 </a:t>
            </a:r>
            <a:r>
              <a:rPr lang="en-US" sz="3000" b="1" dirty="0">
                <a:solidFill>
                  <a:srgbClr val="003478"/>
                </a:solidFill>
              </a:rPr>
              <a:t>no cambia</a:t>
            </a:r>
            <a:r>
              <a:rPr lang="ko-KR" altLang="en-US" sz="1500" b="1" i="1" dirty="0">
                <a:solidFill>
                  <a:srgbClr val="8A8DA0"/>
                </a:solidFill>
              </a:rPr>
              <a:t>   에서 never changes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Con o sin 받침</a:t>
            </a:r>
            <a:r>
              <a:rPr lang="en-US" sz="1800" i="1" dirty="0">
                <a:solidFill>
                  <a:srgbClr val="4236F6"/>
                </a:solidFill>
              </a:rPr>
              <a:t>, siempre </a:t>
            </a:r>
            <a:r>
              <a:rPr lang="ko-KR" altLang="en-US" sz="1800" i="1" dirty="0">
                <a:solidFill>
                  <a:srgbClr val="4236F6"/>
                </a:solidFill>
                <a:latin typeface="Malgun Gothic" pitchFamily="34" charset="0"/>
                <a:ea typeface="Malgun Gothic" pitchFamily="34" charset="-122"/>
                <a:cs typeface="Malgun Gothic" pitchFamily="34" charset="-120"/>
              </a:rPr>
              <a:t>에서 </a:t>
            </a:r>
            <a:r>
              <a:rPr lang="en-US" sz="1800" i="1" dirty="0">
                <a:solidFill>
                  <a:srgbClr val="4236F6"/>
                </a:solidFill>
              </a:rPr>
              <a:t>· pegado al lugar, sin espacio</a:t>
            </a:r>
            <a:endParaRPr lang="en-US" sz="1800" dirty="0"/>
          </a:p>
        </p:txBody>
      </p:sp>
      <p:sp>
        <p:nvSpPr>
          <p:cNvPr id="4" name="col_0"/>
          <p:cNvSpPr/>
          <p:nvPr/>
        </p:nvSpPr>
        <p:spPr>
          <a:xfrm>
            <a:off x="548640" y="1874520"/>
            <a:ext cx="3483864" cy="4297680"/>
          </a:xfrm>
          <a:prstGeom prst="roundRect">
            <a:avLst>
              <a:gd name="adj" fmla="val 3937"/>
            </a:avLst>
          </a:prstGeom>
          <a:solidFill>
            <a:srgbClr val="F1F0FE"/>
          </a:solidFill>
          <a:ln w="12700">
            <a:solidFill>
              <a:srgbClr val="D9D7F7"/>
            </a:solidFill>
            <a:prstDash val="solid"/>
          </a:ln>
        </p:spPr>
      </p:sp>
      <p:sp>
        <p:nvSpPr>
          <p:cNvPr id="5" name="Text 3"/>
          <p:cNvSpPr txBox="1"/>
          <p:nvPr/>
        </p:nvSpPr>
        <p:spPr>
          <a:xfrm>
            <a:off x="777240"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Termina en consonante</a:t>
            </a:r>
            <a:endParaRPr lang="en-US" sz="2000" dirty="0"/>
          </a:p>
        </p:txBody>
      </p:sp>
      <p:sp>
        <p:nvSpPr>
          <p:cNvPr id="6" name="Text 4"/>
          <p:cNvSpPr txBox="1"/>
          <p:nvPr/>
        </p:nvSpPr>
        <p:spPr>
          <a:xfrm>
            <a:off x="777240" y="2651760"/>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집에서</a:t>
            </a:r>
            <a:endParaRPr lang="en-US" sz="5400" dirty="0"/>
          </a:p>
        </p:txBody>
      </p:sp>
      <p:sp>
        <p:nvSpPr>
          <p:cNvPr id="7" name="lista"/>
          <p:cNvSpPr txBox="1"/>
          <p:nvPr/>
        </p:nvSpPr>
        <p:spPr>
          <a:xfrm>
            <a:off x="731520"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집에서 쉬어요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식당에서 밥을 먹어요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꽃집에서 꽃을 사요</a:t>
            </a:r>
            <a:endParaRPr lang="en-US" sz="1800" dirty="0"/>
          </a:p>
        </p:txBody>
      </p:sp>
      <p:sp>
        <p:nvSpPr>
          <p:cNvPr id="8" name="col_1"/>
          <p:cNvSpPr/>
          <p:nvPr/>
        </p:nvSpPr>
        <p:spPr>
          <a:xfrm>
            <a:off x="4352544" y="1874520"/>
            <a:ext cx="3483864" cy="4297680"/>
          </a:xfrm>
          <a:prstGeom prst="roundRect">
            <a:avLst>
              <a:gd name="adj" fmla="val 3937"/>
            </a:avLst>
          </a:prstGeom>
          <a:solidFill>
            <a:srgbClr val="FFFFFF"/>
          </a:solidFill>
          <a:ln w="12700">
            <a:solidFill>
              <a:srgbClr val="D9D7F7"/>
            </a:solidFill>
            <a:prstDash val="solid"/>
          </a:ln>
        </p:spPr>
      </p:sp>
      <p:sp>
        <p:nvSpPr>
          <p:cNvPr id="9" name="Text 7"/>
          <p:cNvSpPr txBox="1"/>
          <p:nvPr/>
        </p:nvSpPr>
        <p:spPr>
          <a:xfrm>
            <a:off x="4581144"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Termina en vocal</a:t>
            </a:r>
            <a:endParaRPr lang="en-US" sz="2000" dirty="0"/>
          </a:p>
        </p:txBody>
      </p:sp>
      <p:sp>
        <p:nvSpPr>
          <p:cNvPr id="10" name="Text 8"/>
          <p:cNvSpPr txBox="1"/>
          <p:nvPr/>
        </p:nvSpPr>
        <p:spPr>
          <a:xfrm>
            <a:off x="4581144" y="2651760"/>
            <a:ext cx="3026664" cy="914400"/>
          </a:xfrm>
          <a:prstGeom prst="rect">
            <a:avLst/>
          </a:prstGeom>
          <a:noFill/>
          <a:ln/>
        </p:spPr>
        <p:txBody>
          <a:bodyPr wrap="square" lIns="0" tIns="0" rIns="0" bIns="0" rtlCol="0" anchor="ctr">
            <a:normAutofit/>
          </a:bodyPr>
          <a:lstStyle/>
          <a:p>
            <a:pPr marL="0" indent="0" eaLnBrk="1">
              <a:buNone/>
            </a:pPr>
            <a:r>
              <a:rPr lang="ko-KR" altLang="en-US" sz="5300" b="1" dirty="0">
                <a:solidFill>
                  <a:srgbClr val="4236F6"/>
                </a:solidFill>
                <a:latin typeface="Malgun Gothic" pitchFamily="34" charset="0"/>
                <a:ea typeface="Malgun Gothic" pitchFamily="34" charset="-122"/>
                <a:cs typeface="Malgun Gothic" pitchFamily="34" charset="-120"/>
              </a:rPr>
              <a:t>회사에서</a:t>
            </a:r>
            <a:endParaRPr lang="en-US" sz="5300" dirty="0"/>
          </a:p>
        </p:txBody>
      </p:sp>
      <p:sp>
        <p:nvSpPr>
          <p:cNvPr id="11" name="lista"/>
          <p:cNvSpPr txBox="1"/>
          <p:nvPr/>
        </p:nvSpPr>
        <p:spPr>
          <a:xfrm>
            <a:off x="4535424"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회사에서 일해요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카페에서 커피를 마셔요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빵 가게에서 빵을 사요</a:t>
            </a:r>
            <a:endParaRPr lang="en-US" sz="1800" dirty="0"/>
          </a:p>
        </p:txBody>
      </p:sp>
      <p:sp>
        <p:nvSpPr>
          <p:cNvPr id="12" name="col_2"/>
          <p:cNvSpPr/>
          <p:nvPr/>
        </p:nvSpPr>
        <p:spPr>
          <a:xfrm>
            <a:off x="8156448" y="1874520"/>
            <a:ext cx="3483864" cy="4297680"/>
          </a:xfrm>
          <a:prstGeom prst="roundRect">
            <a:avLst>
              <a:gd name="adj" fmla="val 3937"/>
            </a:avLst>
          </a:prstGeom>
          <a:solidFill>
            <a:srgbClr val="F1F0FE"/>
          </a:solidFill>
          <a:ln w="12700">
            <a:solidFill>
              <a:srgbClr val="D9D7F7"/>
            </a:solidFill>
            <a:prstDash val="solid"/>
          </a:ln>
        </p:spPr>
      </p:sp>
      <p:sp>
        <p:nvSpPr>
          <p:cNvPr id="13" name="Text 11"/>
          <p:cNvSpPr txBox="1"/>
          <p:nvPr/>
        </p:nvSpPr>
        <p:spPr>
          <a:xfrm>
            <a:off x="8385048"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La pregunta</a:t>
            </a:r>
            <a:endParaRPr lang="en-US" sz="2000" dirty="0"/>
          </a:p>
        </p:txBody>
      </p:sp>
      <p:sp>
        <p:nvSpPr>
          <p:cNvPr id="14" name="Text 12"/>
          <p:cNvSpPr txBox="1"/>
          <p:nvPr/>
        </p:nvSpPr>
        <p:spPr>
          <a:xfrm>
            <a:off x="8385048" y="2651760"/>
            <a:ext cx="3026664" cy="914400"/>
          </a:xfrm>
          <a:prstGeom prst="rect">
            <a:avLst/>
          </a:prstGeom>
          <a:noFill/>
          <a:ln/>
        </p:spPr>
        <p:txBody>
          <a:bodyPr wrap="square" lIns="0" tIns="0" rIns="0" bIns="0" rtlCol="0" anchor="ctr">
            <a:normAutofit/>
          </a:bodyPr>
          <a:lstStyle/>
          <a:p>
            <a:pPr marL="0" indent="0" eaLnBrk="1">
              <a:buNone/>
            </a:pPr>
            <a:r>
              <a:rPr lang="ko-KR" altLang="en-US" sz="4600" b="1" dirty="0">
                <a:solidFill>
                  <a:srgbClr val="4236F6"/>
                </a:solidFill>
                <a:latin typeface="Malgun Gothic" pitchFamily="34" charset="0"/>
                <a:ea typeface="Malgun Gothic" pitchFamily="34" charset="-122"/>
                <a:cs typeface="Malgun Gothic" pitchFamily="34" charset="-120"/>
              </a:rPr>
              <a:t>어디에서</a:t>
            </a:r>
            <a:r>
              <a:rPr lang="en-US" sz="4600" b="1" dirty="0">
                <a:solidFill>
                  <a:srgbClr val="4236F6"/>
                </a:solidFill>
              </a:rPr>
              <a:t>?</a:t>
            </a:r>
            <a:endParaRPr lang="en-US" sz="4600" dirty="0"/>
          </a:p>
        </p:txBody>
      </p:sp>
      <p:sp>
        <p:nvSpPr>
          <p:cNvPr id="15" name="lista"/>
          <p:cNvSpPr txBox="1"/>
          <p:nvPr/>
        </p:nvSpPr>
        <p:spPr>
          <a:xfrm>
            <a:off x="8339328"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어디에서 일해요</a:t>
            </a:r>
            <a:r>
              <a:rPr lang="en-US" sz="1800" dirty="0">
                <a:solidFill>
                  <a:srgbClr val="14142B"/>
                </a:solidFill>
              </a:rPr>
              <a:t>?</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어디에서 빵을 사요</a:t>
            </a:r>
            <a:r>
              <a:rPr lang="en-US" sz="1800" dirty="0">
                <a:solidFill>
                  <a:srgbClr val="14142B"/>
                </a:solidFill>
              </a:rPr>
              <a:t>?</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Al hablar: 어디서</a:t>
            </a:r>
            <a:r>
              <a:rPr lang="en-US" sz="1800" dirty="0">
                <a:solidFill>
                  <a:srgbClr val="14142B"/>
                </a:solidFill>
              </a:rPr>
              <a: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누가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어디에서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뭘  </a:t>
            </a:r>
            <a:r>
              <a:rPr lang="en-US" sz="3000" b="1" dirty="0">
                <a:solidFill>
                  <a:srgbClr val="003478"/>
                </a:solidFill>
              </a:rPr>
              <a:t>El orden de la frase</a:t>
            </a:r>
            <a:r>
              <a:rPr lang="en-US" sz="1500" b="1" i="1" dirty="0">
                <a:solidFill>
                  <a:srgbClr val="8A8DA0"/>
                </a:solidFill>
              </a:rPr>
              <a:t>   Word order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Opcional · el lugar va antes de la acción; el verbo, siempre al final</a:t>
            </a:r>
            <a:endParaRPr lang="en-US" sz="1800" dirty="0"/>
          </a:p>
        </p:txBody>
      </p:sp>
      <p:graphicFrame>
        <p:nvGraphicFramePr>
          <p:cNvPr id="14" name="tabla"/>
          <p:cNvGraphicFramePr>
            <a:graphicFrameLocks noGrp="1"/>
          </p:cNvGraphicFramePr>
          <p:nvPr>
            <p:extLst>
              <p:ext uri="{D42A27DB-BD31-4B8C-83A1-F6EECF244321}">
                <p14:modId xmlns:p14="http://schemas.microsoft.com/office/powerpoint/2010/main" val="1184605694"/>
              </p:ext>
            </p:extLst>
          </p:nvPr>
        </p:nvGraphicFramePr>
        <p:xfrm>
          <a:off x="548640" y="1874520"/>
          <a:ext cx="11091672" cy="914400"/>
        </p:xfrm>
        <a:graphic>
          <a:graphicData uri="http://schemas.openxmlformats.org/drawingml/2006/table">
            <a:tbl>
              <a:tblPr/>
              <a:tblGrid>
                <a:gridCol w="2772918">
                  <a:extLst>
                    <a:ext uri="{9D8B030D-6E8A-4147-A177-3AD203B41FA5}">
                      <a16:colId xmlns:a16="http://schemas.microsoft.com/office/drawing/2014/main" val="20000"/>
                    </a:ext>
                  </a:extLst>
                </a:gridCol>
                <a:gridCol w="2772918">
                  <a:extLst>
                    <a:ext uri="{9D8B030D-6E8A-4147-A177-3AD203B41FA5}">
                      <a16:colId xmlns:a16="http://schemas.microsoft.com/office/drawing/2014/main" val="20001"/>
                    </a:ext>
                  </a:extLst>
                </a:gridCol>
                <a:gridCol w="2772918">
                  <a:extLst>
                    <a:ext uri="{9D8B030D-6E8A-4147-A177-3AD203B41FA5}">
                      <a16:colId xmlns:a16="http://schemas.microsoft.com/office/drawing/2014/main" val="20002"/>
                    </a:ext>
                  </a:extLst>
                </a:gridCol>
                <a:gridCol w="2772918">
                  <a:extLst>
                    <a:ext uri="{9D8B030D-6E8A-4147-A177-3AD203B41FA5}">
                      <a16:colId xmlns:a16="http://schemas.microsoft.com/office/drawing/2014/main" val="20003"/>
                    </a:ext>
                  </a:extLst>
                </a:gridCol>
              </a:tblGrid>
              <a:tr h="566928">
                <a:tc>
                  <a:txBody>
                    <a:bodyPr/>
                    <a:lstStyle/>
                    <a:p>
                      <a:pPr marL="0" indent="0" eaLnBrk="1">
                        <a:buNone/>
                      </a:pPr>
                      <a:r>
                        <a:rPr lang="en-US" sz="1800" b="1" dirty="0">
                          <a:solidFill>
                            <a:srgbClr val="FFFFFF"/>
                          </a:solidFill>
                        </a:rPr>
                        <a:t>¿Quién?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800" b="1" dirty="0">
                          <a:solidFill>
                            <a:srgbClr val="FFFFFF"/>
                          </a:solidFill>
                          <a:latin typeface="Malgun Gothic" pitchFamily="34" charset="0"/>
                          <a:ea typeface="Malgun Gothic" pitchFamily="34" charset="-122"/>
                          <a:cs typeface="Malgun Gothic" pitchFamily="34" charset="-120"/>
                        </a:rPr>
                        <a:t>¿Dónde? (에서</a:t>
                      </a:r>
                      <a:r>
                        <a:rPr lang="en-US" sz="1800" b="1" dirty="0">
                          <a:solidFill>
                            <a:srgbClr val="FFFFFF"/>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800" b="1" dirty="0">
                          <a:solidFill>
                            <a:srgbClr val="FFFFFF"/>
                          </a:solidFill>
                          <a:latin typeface="Malgun Gothic" pitchFamily="34" charset="0"/>
                          <a:ea typeface="Malgun Gothic" pitchFamily="34" charset="-122"/>
                          <a:cs typeface="Malgun Gothic" pitchFamily="34" charset="-120"/>
                        </a:rPr>
                        <a:t>¿Qué? (을</a:t>
                      </a:r>
                      <a:r>
                        <a:rPr lang="en-US" sz="1800" b="1" dirty="0">
                          <a:solidFill>
                            <a:srgbClr val="FFFFFF"/>
                          </a:solidFill>
                        </a:rPr>
                        <a:t>/</a:t>
                      </a:r>
                      <a:r>
                        <a:rPr lang="ko-KR" altLang="en-US" sz="1800" b="1" dirty="0">
                          <a:solidFill>
                            <a:srgbClr val="FFFFFF"/>
                          </a:solidFill>
                          <a:latin typeface="Malgun Gothic" pitchFamily="34" charset="0"/>
                          <a:ea typeface="Malgun Gothic" pitchFamily="34" charset="-122"/>
                          <a:cs typeface="Malgun Gothic" pitchFamily="34" charset="-120"/>
                        </a:rPr>
                        <a:t>를</a:t>
                      </a:r>
                      <a:r>
                        <a:rPr lang="en-US" sz="1800" b="1" dirty="0">
                          <a:solidFill>
                            <a:srgbClr val="FFFFFF"/>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Verbo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저는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회사에서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일해요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하나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수영장에서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수영해요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도윤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식당에서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김밥을</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만들어요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발렌티나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카페에서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한국어를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공부해요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마테오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공원에서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운동해요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서아는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친구 집에서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장난감 배를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만들어요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에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에서  </a:t>
            </a:r>
            <a:r>
              <a:rPr lang="ko-KR" altLang="en-US" sz="3000" b="1" dirty="0">
                <a:solidFill>
                  <a:srgbClr val="003478"/>
                </a:solidFill>
                <a:latin typeface="Malgun Gothic" pitchFamily="34" charset="0"/>
                <a:ea typeface="Malgun Gothic" pitchFamily="34" charset="-122"/>
                <a:cs typeface="Malgun Gothic" pitchFamily="34" charset="-120"/>
              </a:rPr>
              <a:t>¿에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에서</a:t>
            </a:r>
            <a:r>
              <a:rPr lang="en-US" sz="3000" b="1" dirty="0">
                <a:solidFill>
                  <a:srgbClr val="003478"/>
                </a:solidFill>
              </a:rPr>
              <a:t>?</a:t>
            </a:r>
            <a:r>
              <a:rPr lang="ko-KR" altLang="en-US" sz="1500" b="1" i="1" dirty="0">
                <a:solidFill>
                  <a:srgbClr val="8A8DA0"/>
                </a:solidFill>
              </a:rPr>
              <a:t>   에 or 에서?</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En español los dos son «en»; en coreano, no</a:t>
            </a:r>
            <a:endParaRPr lang="en-US" sz="1800" dirty="0"/>
          </a:p>
        </p:txBody>
      </p:sp>
      <p:sp>
        <p:nvSpPr>
          <p:cNvPr id="4" name="col_0"/>
          <p:cNvSpPr/>
          <p:nvPr/>
        </p:nvSpPr>
        <p:spPr>
          <a:xfrm>
            <a:off x="548640" y="1874520"/>
            <a:ext cx="3483864" cy="4297680"/>
          </a:xfrm>
          <a:prstGeom prst="roundRect">
            <a:avLst>
              <a:gd name="adj" fmla="val 3937"/>
            </a:avLst>
          </a:prstGeom>
          <a:solidFill>
            <a:srgbClr val="F1F0FE"/>
          </a:solidFill>
          <a:ln w="12700">
            <a:solidFill>
              <a:srgbClr val="D9D7F7"/>
            </a:solidFill>
            <a:prstDash val="solid"/>
          </a:ln>
        </p:spPr>
      </p:sp>
      <p:sp>
        <p:nvSpPr>
          <p:cNvPr id="5" name="Text 3"/>
          <p:cNvSpPr txBox="1"/>
          <p:nvPr/>
        </p:nvSpPr>
        <p:spPr>
          <a:xfrm>
            <a:off x="777240" y="2057400"/>
            <a:ext cx="3026664"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에 </a:t>
            </a:r>
            <a:r>
              <a:rPr lang="en-US" sz="2000" b="1" dirty="0">
                <a:solidFill>
                  <a:srgbClr val="003478"/>
                </a:solidFill>
              </a:rPr>
              <a:t>· ir, venir, estar</a:t>
            </a:r>
            <a:endParaRPr lang="en-US" sz="2000" dirty="0"/>
          </a:p>
        </p:txBody>
      </p:sp>
      <p:sp>
        <p:nvSpPr>
          <p:cNvPr id="6" name="Text 4"/>
          <p:cNvSpPr txBox="1"/>
          <p:nvPr/>
        </p:nvSpPr>
        <p:spPr>
          <a:xfrm>
            <a:off x="777240"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에 가요 </a:t>
            </a:r>
            <a:r>
              <a:rPr lang="en-US" sz="2800" b="1" dirty="0">
                <a:solidFill>
                  <a:srgbClr val="4236F6"/>
                </a:solidFill>
              </a:rPr>
              <a:t>·</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에 있어요</a:t>
            </a:r>
            <a:endParaRPr lang="en-US" sz="2800" dirty="0"/>
          </a:p>
        </p:txBody>
      </p:sp>
      <p:sp>
        <p:nvSpPr>
          <p:cNvPr id="7" name="lista"/>
          <p:cNvSpPr txBox="1"/>
          <p:nvPr/>
        </p:nvSpPr>
        <p:spPr>
          <a:xfrm>
            <a:off x="731520"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회사에 가요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집에 있어요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카페에 와요</a:t>
            </a:r>
            <a:endParaRPr lang="en-US" sz="1800" dirty="0"/>
          </a:p>
        </p:txBody>
      </p:sp>
      <p:sp>
        <p:nvSpPr>
          <p:cNvPr id="8" name="col_1"/>
          <p:cNvSpPr/>
          <p:nvPr/>
        </p:nvSpPr>
        <p:spPr>
          <a:xfrm>
            <a:off x="4352544" y="1874520"/>
            <a:ext cx="3483864" cy="4297680"/>
          </a:xfrm>
          <a:prstGeom prst="roundRect">
            <a:avLst>
              <a:gd name="adj" fmla="val 3937"/>
            </a:avLst>
          </a:prstGeom>
          <a:solidFill>
            <a:srgbClr val="FFFFFF"/>
          </a:solidFill>
          <a:ln w="12700">
            <a:solidFill>
              <a:srgbClr val="D9D7F7"/>
            </a:solidFill>
            <a:prstDash val="solid"/>
          </a:ln>
        </p:spPr>
      </p:sp>
      <p:sp>
        <p:nvSpPr>
          <p:cNvPr id="9" name="Text 7"/>
          <p:cNvSpPr txBox="1"/>
          <p:nvPr/>
        </p:nvSpPr>
        <p:spPr>
          <a:xfrm>
            <a:off x="4581144" y="2057400"/>
            <a:ext cx="3026664"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에서 </a:t>
            </a:r>
            <a:r>
              <a:rPr lang="en-US" sz="2000" b="1" dirty="0">
                <a:solidFill>
                  <a:srgbClr val="003478"/>
                </a:solidFill>
              </a:rPr>
              <a:t>· hacer algo ahí</a:t>
            </a:r>
            <a:endParaRPr lang="en-US" sz="2000" dirty="0"/>
          </a:p>
        </p:txBody>
      </p:sp>
      <p:sp>
        <p:nvSpPr>
          <p:cNvPr id="10" name="Text 8"/>
          <p:cNvSpPr txBox="1"/>
          <p:nvPr/>
        </p:nvSpPr>
        <p:spPr>
          <a:xfrm>
            <a:off x="4581144" y="2651760"/>
            <a:ext cx="3026664" cy="914400"/>
          </a:xfrm>
          <a:prstGeom prst="rect">
            <a:avLst/>
          </a:prstGeom>
          <a:noFill/>
          <a:ln/>
        </p:spPr>
        <p:txBody>
          <a:bodyPr wrap="square" lIns="0" tIns="0" rIns="0" bIns="0" rtlCol="0" anchor="ctr">
            <a:normAutofit/>
          </a:bodyPr>
          <a:lstStyle/>
          <a:p>
            <a:pPr marL="0" indent="0" eaLnBrk="1">
              <a:buNone/>
            </a:pPr>
            <a:r>
              <a:rPr lang="ko-KR" altLang="en-US" sz="3200" b="1" dirty="0">
                <a:solidFill>
                  <a:srgbClr val="4236F6"/>
                </a:solidFill>
                <a:latin typeface="Malgun Gothic" pitchFamily="34" charset="0"/>
                <a:ea typeface="Malgun Gothic" pitchFamily="34" charset="-122"/>
                <a:cs typeface="Malgun Gothic" pitchFamily="34" charset="-120"/>
              </a:rPr>
              <a:t>에서 </a:t>
            </a:r>
            <a:r>
              <a:rPr lang="en-US" sz="3200" b="1" dirty="0">
                <a:solidFill>
                  <a:srgbClr val="4236F6"/>
                </a:solidFill>
              </a:rPr>
              <a:t>+ acción</a:t>
            </a:r>
            <a:endParaRPr lang="en-US" sz="3200" dirty="0"/>
          </a:p>
        </p:txBody>
      </p:sp>
      <p:sp>
        <p:nvSpPr>
          <p:cNvPr id="11" name="lista"/>
          <p:cNvSpPr txBox="1"/>
          <p:nvPr/>
        </p:nvSpPr>
        <p:spPr>
          <a:xfrm>
            <a:off x="4535424"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회사에서 일해요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집에서 쉬어요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카페에서 공부해요</a:t>
            </a:r>
            <a:endParaRPr lang="en-US" sz="1800" dirty="0"/>
          </a:p>
        </p:txBody>
      </p:sp>
      <p:sp>
        <p:nvSpPr>
          <p:cNvPr id="12" name="col_2"/>
          <p:cNvSpPr/>
          <p:nvPr/>
        </p:nvSpPr>
        <p:spPr>
          <a:xfrm>
            <a:off x="8156448" y="1874520"/>
            <a:ext cx="3483864" cy="4297680"/>
          </a:xfrm>
          <a:prstGeom prst="roundRect">
            <a:avLst>
              <a:gd name="adj" fmla="val 3937"/>
            </a:avLst>
          </a:prstGeom>
          <a:solidFill>
            <a:srgbClr val="F1F0FE"/>
          </a:solidFill>
          <a:ln w="12700">
            <a:solidFill>
              <a:srgbClr val="D9D7F7"/>
            </a:solidFill>
            <a:prstDash val="solid"/>
          </a:ln>
        </p:spPr>
      </p:sp>
      <p:sp>
        <p:nvSpPr>
          <p:cNvPr id="13" name="Text 11"/>
          <p:cNvSpPr txBox="1"/>
          <p:nvPr/>
        </p:nvSpPr>
        <p:spPr>
          <a:xfrm>
            <a:off x="8385048"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Juntos</a:t>
            </a:r>
            <a:endParaRPr lang="en-US" sz="2000" dirty="0"/>
          </a:p>
        </p:txBody>
      </p:sp>
      <p:pic>
        <p:nvPicPr>
          <p:cNvPr id="14" name="col_img_2" descr="C:\Users\Chingu\AppData\Local\Temp\claude\C--Users-Chingu-Desktop-ACADEMIASEULWEB\d4111e1b-5523-44ea-97b2-b1a1d9545b9e\scratchpad\decks\cache\img_f8078d4b0dee992d.png"/>
          <p:cNvPicPr>
            <a:picLocks noChangeAspect="1"/>
          </p:cNvPicPr>
          <p:nvPr/>
        </p:nvPicPr>
        <p:blipFill>
          <a:blip r:embed="rId3"/>
          <a:stretch>
            <a:fillRect/>
          </a:stretch>
        </p:blipFill>
        <p:spPr>
          <a:xfrm>
            <a:off x="8385048" y="2651760"/>
            <a:ext cx="3026664" cy="1375756"/>
          </a:xfrm>
          <a:prstGeom prst="rect">
            <a:avLst/>
          </a:prstGeom>
        </p:spPr>
      </p:pic>
      <p:sp>
        <p:nvSpPr>
          <p:cNvPr id="15" name="Text 12"/>
          <p:cNvSpPr txBox="1"/>
          <p:nvPr/>
        </p:nvSpPr>
        <p:spPr>
          <a:xfrm>
            <a:off x="8385048" y="4118956"/>
            <a:ext cx="3026664" cy="914400"/>
          </a:xfrm>
          <a:prstGeom prst="rect">
            <a:avLst/>
          </a:prstGeom>
          <a:noFill/>
          <a:ln/>
        </p:spPr>
        <p:txBody>
          <a:bodyPr wrap="square" lIns="0" tIns="0" rIns="0" bIns="0" rtlCol="0" anchor="ctr">
            <a:normAutofit/>
          </a:bodyPr>
          <a:lstStyle/>
          <a:p>
            <a:pPr marL="0" indent="0" eaLnBrk="1">
              <a:buNone/>
            </a:pPr>
            <a:r>
              <a:rPr lang="ko-KR" altLang="en-US" sz="5100" b="1" dirty="0">
                <a:solidFill>
                  <a:srgbClr val="4236F6"/>
                </a:solidFill>
                <a:latin typeface="Malgun Gothic" pitchFamily="34" charset="0"/>
                <a:ea typeface="Malgun Gothic" pitchFamily="34" charset="-122"/>
                <a:cs typeface="Malgun Gothic" pitchFamily="34" charset="-120"/>
              </a:rPr>
              <a:t>에 </a:t>
            </a:r>
            <a:r>
              <a:rPr lang="en-US" sz="5100" b="1" dirty="0">
                <a:solidFill>
                  <a:srgbClr val="4236F6"/>
                </a:solidFill>
              </a:rPr>
              <a:t>→ </a:t>
            </a:r>
            <a:r>
              <a:rPr lang="ko-KR" altLang="en-US" sz="5100" b="1" dirty="0">
                <a:solidFill>
                  <a:srgbClr val="4236F6"/>
                </a:solidFill>
                <a:latin typeface="Malgun Gothic" pitchFamily="34" charset="0"/>
                <a:ea typeface="Malgun Gothic" pitchFamily="34" charset="-122"/>
                <a:cs typeface="Malgun Gothic" pitchFamily="34" charset="-120"/>
              </a:rPr>
              <a:t>에서</a:t>
            </a:r>
            <a:endParaRPr lang="en-US" sz="5100" dirty="0"/>
          </a:p>
        </p:txBody>
      </p:sp>
      <p:sp>
        <p:nvSpPr>
          <p:cNvPr id="16" name="lista"/>
          <p:cNvSpPr txBox="1"/>
          <p:nvPr/>
        </p:nvSpPr>
        <p:spPr>
          <a:xfrm>
            <a:off x="8339328" y="5124796"/>
            <a:ext cx="3118104" cy="910244"/>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카페에 가요</a:t>
            </a:r>
            <a:r>
              <a:rPr lang="en-US" sz="1800" dirty="0">
                <a:solidFill>
                  <a:srgbClr val="14142B"/>
                </a:solidFill>
              </a:rPr>
              <a:t>.</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카페에서 커피를 마셔요</a:t>
            </a:r>
            <a:r>
              <a:rPr lang="en-US" sz="1800" dirty="0">
                <a:solidFill>
                  <a:srgbClr val="14142B"/>
                </a:solidFill>
              </a:rPr>
              <a: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연습해요  </a:t>
            </a:r>
            <a:r>
              <a:rPr lang="ko-KR" altLang="en-US" sz="3000" b="1" dirty="0">
                <a:solidFill>
                  <a:srgbClr val="003478"/>
                </a:solidFill>
                <a:latin typeface="Malgun Gothic" pitchFamily="34" charset="0"/>
                <a:ea typeface="Malgun Gothic" pitchFamily="34" charset="-122"/>
                <a:cs typeface="Malgun Gothic" pitchFamily="34" charset="-120"/>
              </a:rPr>
              <a:t>¿에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에서</a:t>
            </a:r>
            <a:r>
              <a:rPr lang="en-US" sz="3000" b="1" dirty="0">
                <a:solidFill>
                  <a:srgbClr val="003478"/>
                </a:solidFill>
              </a:rPr>
              <a:t>?</a:t>
            </a:r>
            <a:r>
              <a:rPr lang="ko-KR" altLang="en-US" sz="1500" b="1" i="1" dirty="0">
                <a:solidFill>
                  <a:srgbClr val="8A8DA0"/>
                </a:solidFill>
              </a:rPr>
              <a:t>   에 or 에서?</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¿Hay acción ahí? → 에서 </a:t>
            </a:r>
            <a:r>
              <a:rPr lang="en-US" sz="1800" i="1" dirty="0">
                <a:solidFill>
                  <a:srgbClr val="4236F6"/>
                </a:solidFill>
              </a:rPr>
              <a:t>· Completa en coro: ¿</a:t>
            </a:r>
            <a:r>
              <a:rPr lang="ko-KR" altLang="en-US" sz="1800" i="1" dirty="0">
                <a:solidFill>
                  <a:srgbClr val="4236F6"/>
                </a:solidFill>
                <a:latin typeface="Malgun Gothic" pitchFamily="34" charset="0"/>
                <a:ea typeface="Malgun Gothic" pitchFamily="34" charset="-122"/>
                <a:cs typeface="Malgun Gothic" pitchFamily="34" charset="-120"/>
              </a:rPr>
              <a:t>에 </a:t>
            </a:r>
            <a:r>
              <a:rPr lang="en-US" sz="1800" i="1" dirty="0">
                <a:solidFill>
                  <a:srgbClr val="4236F6"/>
                </a:solidFill>
              </a:rPr>
              <a:t>o </a:t>
            </a:r>
            <a:r>
              <a:rPr lang="ko-KR" altLang="en-US" sz="1800" i="1" dirty="0">
                <a:solidFill>
                  <a:srgbClr val="4236F6"/>
                </a:solidFill>
                <a:latin typeface="Malgun Gothic" pitchFamily="34" charset="0"/>
                <a:ea typeface="Malgun Gothic" pitchFamily="34" charset="-122"/>
                <a:cs typeface="Malgun Gothic" pitchFamily="34" charset="-120"/>
              </a:rPr>
              <a:t>에서</a:t>
            </a:r>
            <a:r>
              <a:rPr lang="en-US" sz="1800" i="1" dirty="0">
                <a:solidFill>
                  <a:srgbClr val="4236F6"/>
                </a:solidFill>
              </a:rPr>
              <a:t>?</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내일 마트</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가요</a:t>
            </a:r>
            <a:r>
              <a:rPr lang="en-US" sz="2400" dirty="0">
                <a:solidFill>
                  <a:srgbClr val="14142B"/>
                </a:solidFill>
              </a:rPr>
              <a:t>.</a:t>
            </a:r>
            <a:endParaRPr lang="en-US" sz="2400" dirty="0"/>
          </a:p>
        </p:txBody>
      </p:sp>
      <p:sp>
        <p:nvSpPr>
          <p:cNvPr id="7" name="rev_16_caja"/>
          <p:cNvSpPr/>
          <p:nvPr/>
        </p:nvSpPr>
        <p:spPr>
          <a:xfrm>
            <a:off x="7498080" y="2002536"/>
            <a:ext cx="4142232" cy="521208"/>
          </a:xfrm>
          <a:prstGeom prst="roundRect">
            <a:avLst>
              <a:gd name="adj" fmla="val 21053"/>
            </a:avLst>
          </a:prstGeom>
          <a:solidFill>
            <a:srgbClr val="4236F6"/>
          </a:solidFill>
          <a:ln w="12700">
            <a:solidFill>
              <a:srgbClr val="4236F6"/>
            </a:solidFill>
            <a:prstDash val="solid"/>
          </a:ln>
        </p:spPr>
      </p:sp>
      <p:sp>
        <p:nvSpPr>
          <p:cNvPr id="8" name="rev_16_txt"/>
          <p:cNvSpPr txBox="1"/>
          <p:nvPr/>
        </p:nvSpPr>
        <p:spPr>
          <a:xfrm>
            <a:off x="7589520" y="200253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에</a:t>
            </a:r>
            <a:endParaRPr lang="en-US" sz="22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688336"/>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마트</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우유를 사요</a:t>
            </a:r>
            <a:r>
              <a:rPr lang="en-US" sz="2400" dirty="0">
                <a:solidFill>
                  <a:srgbClr val="14142B"/>
                </a:solidFill>
              </a:rPr>
              <a:t>.</a:t>
            </a:r>
            <a:endParaRPr lang="en-US" sz="2400" dirty="0"/>
          </a:p>
        </p:txBody>
      </p:sp>
      <p:sp>
        <p:nvSpPr>
          <p:cNvPr id="12" name="rev_17_caja"/>
          <p:cNvSpPr/>
          <p:nvPr/>
        </p:nvSpPr>
        <p:spPr>
          <a:xfrm>
            <a:off x="7498080" y="2724912"/>
            <a:ext cx="4142232" cy="521208"/>
          </a:xfrm>
          <a:prstGeom prst="roundRect">
            <a:avLst>
              <a:gd name="adj" fmla="val 21053"/>
            </a:avLst>
          </a:prstGeom>
          <a:solidFill>
            <a:srgbClr val="4236F6"/>
          </a:solidFill>
          <a:ln w="12700">
            <a:solidFill>
              <a:srgbClr val="4236F6"/>
            </a:solidFill>
            <a:prstDash val="solid"/>
          </a:ln>
        </p:spPr>
      </p:sp>
      <p:sp>
        <p:nvSpPr>
          <p:cNvPr id="13" name="rev_17_txt"/>
          <p:cNvSpPr txBox="1"/>
          <p:nvPr/>
        </p:nvSpPr>
        <p:spPr>
          <a:xfrm>
            <a:off x="7589520" y="2724912"/>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에서</a:t>
            </a:r>
            <a:endParaRPr lang="en-US" sz="22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410712"/>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하나 씨는 지금 집</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있어요</a:t>
            </a:r>
            <a:r>
              <a:rPr lang="en-US" sz="2400" dirty="0">
                <a:solidFill>
                  <a:srgbClr val="14142B"/>
                </a:solidFill>
              </a:rPr>
              <a:t>.</a:t>
            </a:r>
            <a:endParaRPr lang="en-US" sz="2400" dirty="0"/>
          </a:p>
        </p:txBody>
      </p:sp>
      <p:sp>
        <p:nvSpPr>
          <p:cNvPr id="17" name="rev_18_caja"/>
          <p:cNvSpPr/>
          <p:nvPr/>
        </p:nvSpPr>
        <p:spPr>
          <a:xfrm>
            <a:off x="7498080" y="3447288"/>
            <a:ext cx="4142232" cy="521208"/>
          </a:xfrm>
          <a:prstGeom prst="roundRect">
            <a:avLst>
              <a:gd name="adj" fmla="val 21053"/>
            </a:avLst>
          </a:prstGeom>
          <a:solidFill>
            <a:srgbClr val="4236F6"/>
          </a:solidFill>
          <a:ln w="12700">
            <a:solidFill>
              <a:srgbClr val="4236F6"/>
            </a:solidFill>
            <a:prstDash val="solid"/>
          </a:ln>
        </p:spPr>
      </p:sp>
      <p:sp>
        <p:nvSpPr>
          <p:cNvPr id="18" name="rev_18_txt"/>
          <p:cNvSpPr txBox="1"/>
          <p:nvPr/>
        </p:nvSpPr>
        <p:spPr>
          <a:xfrm>
            <a:off x="7589520" y="3447288"/>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에</a:t>
            </a:r>
            <a:endParaRPr lang="en-US" sz="2200" dirty="0"/>
          </a:p>
        </p:txBody>
      </p:sp>
      <p:sp>
        <p:nvSpPr>
          <p:cNvPr id="19"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133088"/>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도윤 씨는 식당</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일해요</a:t>
            </a:r>
            <a:r>
              <a:rPr lang="en-US" sz="2400" dirty="0">
                <a:solidFill>
                  <a:srgbClr val="14142B"/>
                </a:solidFill>
              </a:rPr>
              <a:t>.</a:t>
            </a:r>
            <a:endParaRPr lang="en-US" sz="2400" dirty="0"/>
          </a:p>
        </p:txBody>
      </p:sp>
      <p:sp>
        <p:nvSpPr>
          <p:cNvPr id="22" name="rev_19_caja"/>
          <p:cNvSpPr/>
          <p:nvPr/>
        </p:nvSpPr>
        <p:spPr>
          <a:xfrm>
            <a:off x="7498080" y="4169664"/>
            <a:ext cx="4142232" cy="521208"/>
          </a:xfrm>
          <a:prstGeom prst="roundRect">
            <a:avLst>
              <a:gd name="adj" fmla="val 21053"/>
            </a:avLst>
          </a:prstGeom>
          <a:solidFill>
            <a:srgbClr val="4236F6"/>
          </a:solidFill>
          <a:ln w="12700">
            <a:solidFill>
              <a:srgbClr val="4236F6"/>
            </a:solidFill>
            <a:prstDash val="solid"/>
          </a:ln>
        </p:spPr>
      </p:sp>
      <p:sp>
        <p:nvSpPr>
          <p:cNvPr id="23" name="rev_19_txt"/>
          <p:cNvSpPr txBox="1"/>
          <p:nvPr/>
        </p:nvSpPr>
        <p:spPr>
          <a:xfrm>
            <a:off x="7589520" y="4169664"/>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에서</a:t>
            </a:r>
            <a:endParaRPr lang="en-US" sz="2200" dirty="0"/>
          </a:p>
        </p:txBody>
      </p:sp>
      <p:sp>
        <p:nvSpPr>
          <p:cNvPr id="24"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4855464"/>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꽃집</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꽃을 사요</a:t>
            </a:r>
            <a:r>
              <a:rPr lang="en-US" sz="2400" dirty="0">
                <a:solidFill>
                  <a:srgbClr val="14142B"/>
                </a:solidFill>
              </a:rPr>
              <a:t>.</a:t>
            </a:r>
            <a:endParaRPr lang="en-US" sz="2400" dirty="0"/>
          </a:p>
        </p:txBody>
      </p:sp>
      <p:sp>
        <p:nvSpPr>
          <p:cNvPr id="27" name="rev_20_caja"/>
          <p:cNvSpPr/>
          <p:nvPr/>
        </p:nvSpPr>
        <p:spPr>
          <a:xfrm>
            <a:off x="7498080" y="4892040"/>
            <a:ext cx="4142232" cy="521208"/>
          </a:xfrm>
          <a:prstGeom prst="roundRect">
            <a:avLst>
              <a:gd name="adj" fmla="val 21053"/>
            </a:avLst>
          </a:prstGeom>
          <a:solidFill>
            <a:srgbClr val="4236F6"/>
          </a:solidFill>
          <a:ln w="12700">
            <a:solidFill>
              <a:srgbClr val="4236F6"/>
            </a:solidFill>
            <a:prstDash val="solid"/>
          </a:ln>
        </p:spPr>
      </p:sp>
      <p:sp>
        <p:nvSpPr>
          <p:cNvPr id="28" name="rev_20_txt"/>
          <p:cNvSpPr txBox="1"/>
          <p:nvPr/>
        </p:nvSpPr>
        <p:spPr>
          <a:xfrm>
            <a:off x="7589520" y="4892040"/>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에서</a:t>
            </a:r>
            <a:endParaRPr lang="en-US" sz="2200" dirty="0"/>
          </a:p>
        </p:txBody>
      </p:sp>
      <p:sp>
        <p:nvSpPr>
          <p:cNvPr id="29"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0"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1" name="Text 29"/>
          <p:cNvSpPr txBox="1"/>
          <p:nvPr/>
        </p:nvSpPr>
        <p:spPr>
          <a:xfrm>
            <a:off x="1188720" y="557784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서아는 학교</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가요</a:t>
            </a:r>
            <a:r>
              <a:rPr lang="en-US" sz="2400" dirty="0">
                <a:solidFill>
                  <a:srgbClr val="14142B"/>
                </a:solidFill>
              </a:rPr>
              <a:t>.</a:t>
            </a:r>
            <a:endParaRPr lang="en-US" sz="2400" dirty="0"/>
          </a:p>
        </p:txBody>
      </p:sp>
      <p:sp>
        <p:nvSpPr>
          <p:cNvPr id="32" name="rev_21_caja"/>
          <p:cNvSpPr/>
          <p:nvPr/>
        </p:nvSpPr>
        <p:spPr>
          <a:xfrm>
            <a:off x="7498080" y="5614416"/>
            <a:ext cx="4142232" cy="521208"/>
          </a:xfrm>
          <a:prstGeom prst="roundRect">
            <a:avLst>
              <a:gd name="adj" fmla="val 21053"/>
            </a:avLst>
          </a:prstGeom>
          <a:solidFill>
            <a:srgbClr val="4236F6"/>
          </a:solidFill>
          <a:ln w="12700">
            <a:solidFill>
              <a:srgbClr val="4236F6"/>
            </a:solidFill>
            <a:prstDash val="solid"/>
          </a:ln>
        </p:spPr>
      </p:sp>
      <p:sp>
        <p:nvSpPr>
          <p:cNvPr id="33" name="rev_21_txt"/>
          <p:cNvSpPr txBox="1"/>
          <p:nvPr/>
        </p:nvSpPr>
        <p:spPr>
          <a:xfrm>
            <a:off x="7589520" y="561441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에</a:t>
            </a:r>
            <a:endParaRPr lang="en-US" sz="22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여러분은요</a:t>
            </a:r>
            <a:r>
              <a:rPr lang="en-US" sz="3000" b="1" dirty="0">
                <a:solidFill>
                  <a:srgbClr val="4236F6"/>
                </a:solidFill>
              </a:rPr>
              <a:t>?  </a:t>
            </a:r>
            <a:r>
              <a:rPr lang="en-US" sz="3000" b="1" dirty="0">
                <a:solidFill>
                  <a:srgbClr val="003478"/>
                </a:solidFill>
              </a:rPr>
              <a:t>Ahora tú</a:t>
            </a:r>
            <a:r>
              <a:rPr lang="en-US" sz="1500" b="1" i="1" dirty="0">
                <a:solidFill>
                  <a:srgbClr val="8A8DA0"/>
                </a:solidFill>
              </a:rPr>
              <a:t>   Now you</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Escribe 1 respuesta en el chat y luego dila en voz alta</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어디에서 한국어를 공부해요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어디에서 커피를 마셔요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어디에서 빵을 사요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어디에서 운동해요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Modelo: 저는 집에서 한국어를 공부해요</a:t>
            </a:r>
            <a:r>
              <a:rPr lang="en-US" sz="2400" dirty="0">
                <a:solidFill>
                  <a:srgbClr val="14142B"/>
                </a:solidFill>
              </a:rPr>
              <a:t>.</a:t>
            </a:r>
            <a:endParaRPr lang="en-US" sz="24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4100" b="1" dirty="0">
                <a:solidFill>
                  <a:srgbClr val="4236F6"/>
                </a:solidFill>
                <a:latin typeface="Malgun Gothic" pitchFamily="34" charset="0"/>
                <a:ea typeface="Malgun Gothic" pitchFamily="34" charset="-122"/>
                <a:cs typeface="Malgun Gothic" pitchFamily="34" charset="-120"/>
              </a:rPr>
              <a:t>여러분은요</a:t>
            </a:r>
            <a:r>
              <a:rPr lang="en-US" sz="4100" b="1" dirty="0">
                <a:solidFill>
                  <a:srgbClr val="4236F6"/>
                </a:solidFill>
              </a:rPr>
              <a:t>?</a:t>
            </a:r>
            <a:endParaRPr lang="en-US" sz="4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연습해요  </a:t>
            </a:r>
            <a:r>
              <a:rPr lang="en-US" sz="3000" b="1" dirty="0">
                <a:solidFill>
                  <a:srgbClr val="003478"/>
                </a:solidFill>
              </a:rPr>
              <a:t>¿Dónde y qué?</a:t>
            </a:r>
            <a:r>
              <a:rPr lang="en-US" sz="1500" b="1" i="1" dirty="0">
                <a:solidFill>
                  <a:srgbClr val="8A8DA0"/>
                </a:solidFill>
              </a:rPr>
              <a:t>   Where and what?</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어디에서 뭘 해요</a:t>
            </a:r>
            <a:r>
              <a:rPr lang="en-US" sz="1800" i="1" dirty="0">
                <a:solidFill>
                  <a:srgbClr val="4236F6"/>
                </a:solidFill>
              </a:rPr>
              <a:t>? · Mira el dibujo y di la frase completa · Responde: lugar + </a:t>
            </a:r>
            <a:r>
              <a:rPr lang="ko-KR" altLang="en-US" sz="1800" i="1" dirty="0">
                <a:solidFill>
                  <a:srgbClr val="4236F6"/>
                </a:solidFill>
                <a:latin typeface="Malgun Gothic" pitchFamily="34" charset="0"/>
                <a:ea typeface="Malgun Gothic" pitchFamily="34" charset="-122"/>
                <a:cs typeface="Malgun Gothic" pitchFamily="34" charset="-120"/>
              </a:rPr>
              <a:t>에서 </a:t>
            </a:r>
            <a:r>
              <a:rPr lang="en-US" sz="1800" i="1" dirty="0">
                <a:solidFill>
                  <a:srgbClr val="4236F6"/>
                </a:solidFill>
              </a:rPr>
              <a:t>+ acción</a:t>
            </a:r>
            <a:endParaRPr lang="en-US" sz="1800" dirty="0"/>
          </a:p>
        </p:txBody>
      </p:sp>
      <p:sp>
        <p:nvSpPr>
          <p:cNvPr id="4" name="card_0"/>
          <p:cNvSpPr/>
          <p:nvPr/>
        </p:nvSpPr>
        <p:spPr>
          <a:xfrm>
            <a:off x="548640"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item_img_0" descr="C:\Users\Chingu\AppData\Local\Temp\claude\C--Users-Chingu-Desktop-ACADEMIASEULWEB\d4111e1b-5523-44ea-97b2-b1a1d9545b9e\scratchpad\decks\cache\img_b55ba33ecfc8a004.png"/>
          <p:cNvPicPr>
            <a:picLocks noChangeAspect="1"/>
          </p:cNvPicPr>
          <p:nvPr/>
        </p:nvPicPr>
        <p:blipFill>
          <a:blip r:embed="rId3"/>
          <a:stretch>
            <a:fillRect/>
          </a:stretch>
        </p:blipFill>
        <p:spPr>
          <a:xfrm>
            <a:off x="1849831" y="2057400"/>
            <a:ext cx="972922" cy="972922"/>
          </a:xfrm>
          <a:prstGeom prst="rect">
            <a:avLst/>
          </a:prstGeom>
        </p:spPr>
      </p:pic>
      <p:sp>
        <p:nvSpPr>
          <p:cNvPr id="6" name="num_0"/>
          <p:cNvSpPr/>
          <p:nvPr/>
        </p:nvSpPr>
        <p:spPr>
          <a:xfrm>
            <a:off x="640080" y="2057400"/>
            <a:ext cx="420624" cy="420624"/>
          </a:xfrm>
          <a:prstGeom prst="ellipse">
            <a:avLst/>
          </a:prstGeom>
          <a:solidFill>
            <a:srgbClr val="003478"/>
          </a:solidFill>
          <a:ln w="19050">
            <a:solidFill>
              <a:srgbClr val="FFFFFF"/>
            </a:solidFill>
            <a:prstDash val="solid"/>
          </a:ln>
        </p:spPr>
      </p:sp>
      <p:sp>
        <p:nvSpPr>
          <p:cNvPr id="7" name="Text 4"/>
          <p:cNvSpPr txBox="1"/>
          <p:nvPr/>
        </p:nvSpPr>
        <p:spPr>
          <a:xfrm>
            <a:off x="640080"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1</a:t>
            </a:r>
            <a:endParaRPr lang="en-US" sz="1500" dirty="0"/>
          </a:p>
        </p:txBody>
      </p:sp>
      <p:sp>
        <p:nvSpPr>
          <p:cNvPr id="8" name="Text 5"/>
          <p:cNvSpPr txBox="1"/>
          <p:nvPr/>
        </p:nvSpPr>
        <p:spPr>
          <a:xfrm>
            <a:off x="640080" y="3076042"/>
            <a:ext cx="3392424" cy="402336"/>
          </a:xfrm>
          <a:prstGeom prst="rect">
            <a:avLst/>
          </a:prstGeom>
          <a:noFill/>
          <a:ln/>
        </p:spPr>
        <p:txBody>
          <a:bodyPr wrap="square" lIns="0" tIns="0" rIns="0" bIns="0" rtlCol="0" anchor="ctr">
            <a:normAutofit/>
          </a:bodyPr>
          <a:lstStyle/>
          <a:p>
            <a:pPr marL="0" indent="0" algn="ctr" eaLnBrk="1">
              <a:buNone/>
            </a:pPr>
            <a:r>
              <a:rPr lang="ko-KR" altLang="en-US" sz="1300" dirty="0">
                <a:solidFill>
                  <a:srgbClr val="14142B"/>
                </a:solidFill>
                <a:latin typeface="Malgun Gothic" pitchFamily="34" charset="0"/>
                <a:ea typeface="Malgun Gothic" pitchFamily="34" charset="-122"/>
                <a:cs typeface="Malgun Gothic" pitchFamily="34" charset="-120"/>
              </a:rPr>
              <a:t>하나 씨는 어디에서 뭘 해요</a:t>
            </a:r>
            <a:r>
              <a:rPr lang="en-US" sz="1300" dirty="0">
                <a:solidFill>
                  <a:srgbClr val="14142B"/>
                </a:solidFill>
              </a:rPr>
              <a:t>?</a:t>
            </a:r>
            <a:endParaRPr lang="en-US" sz="1300" dirty="0"/>
          </a:p>
        </p:txBody>
      </p:sp>
      <p:sp>
        <p:nvSpPr>
          <p:cNvPr id="9" name="rev_22_caja"/>
          <p:cNvSpPr/>
          <p:nvPr/>
        </p:nvSpPr>
        <p:spPr>
          <a:xfrm>
            <a:off x="658368" y="3524098"/>
            <a:ext cx="3355848" cy="362102"/>
          </a:xfrm>
          <a:prstGeom prst="roundRect">
            <a:avLst>
              <a:gd name="adj" fmla="val 30303"/>
            </a:avLst>
          </a:prstGeom>
          <a:solidFill>
            <a:srgbClr val="4236F6"/>
          </a:solidFill>
          <a:ln w="12700">
            <a:solidFill>
              <a:srgbClr val="4236F6"/>
            </a:solidFill>
            <a:prstDash val="solid"/>
          </a:ln>
        </p:spPr>
      </p:sp>
      <p:sp>
        <p:nvSpPr>
          <p:cNvPr id="10" name="rev_22_txt"/>
          <p:cNvSpPr txBox="1"/>
          <p:nvPr/>
        </p:nvSpPr>
        <p:spPr>
          <a:xfrm>
            <a:off x="685800" y="3524098"/>
            <a:ext cx="3300984" cy="362102"/>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수영장에서 수영해요</a:t>
            </a:r>
            <a:r>
              <a:rPr lang="en-US" sz="1700" b="1" dirty="0">
                <a:solidFill>
                  <a:srgbClr val="FFFFFF"/>
                </a:solidFill>
              </a:rPr>
              <a:t>.</a:t>
            </a:r>
            <a:endParaRPr lang="en-US" sz="1700" dirty="0"/>
          </a:p>
        </p:txBody>
      </p:sp>
      <p:sp>
        <p:nvSpPr>
          <p:cNvPr id="11" name="card_1"/>
          <p:cNvSpPr/>
          <p:nvPr/>
        </p:nvSpPr>
        <p:spPr>
          <a:xfrm>
            <a:off x="4306824"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2" name="item_img_1" descr="C:\Users\Chingu\AppData\Local\Temp\claude\C--Users-Chingu-Desktop-ACADEMIASEULWEB\d4111e1b-5523-44ea-97b2-b1a1d9545b9e\scratchpad\decks\cache\img_1422baab0bb8d01b.png"/>
          <p:cNvPicPr>
            <a:picLocks noChangeAspect="1"/>
          </p:cNvPicPr>
          <p:nvPr/>
        </p:nvPicPr>
        <p:blipFill>
          <a:blip r:embed="rId4"/>
          <a:stretch>
            <a:fillRect/>
          </a:stretch>
        </p:blipFill>
        <p:spPr>
          <a:xfrm>
            <a:off x="5608015" y="2057400"/>
            <a:ext cx="972922" cy="972922"/>
          </a:xfrm>
          <a:prstGeom prst="rect">
            <a:avLst/>
          </a:prstGeom>
        </p:spPr>
      </p:pic>
      <p:sp>
        <p:nvSpPr>
          <p:cNvPr id="13" name="num_1"/>
          <p:cNvSpPr/>
          <p:nvPr/>
        </p:nvSpPr>
        <p:spPr>
          <a:xfrm>
            <a:off x="4398264" y="2057400"/>
            <a:ext cx="420624" cy="420624"/>
          </a:xfrm>
          <a:prstGeom prst="ellipse">
            <a:avLst/>
          </a:prstGeom>
          <a:solidFill>
            <a:srgbClr val="003478"/>
          </a:solidFill>
          <a:ln w="19050">
            <a:solidFill>
              <a:srgbClr val="FFFFFF"/>
            </a:solidFill>
            <a:prstDash val="solid"/>
          </a:ln>
        </p:spPr>
      </p:sp>
      <p:sp>
        <p:nvSpPr>
          <p:cNvPr id="14" name="Text 10"/>
          <p:cNvSpPr txBox="1"/>
          <p:nvPr/>
        </p:nvSpPr>
        <p:spPr>
          <a:xfrm>
            <a:off x="4398264"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2</a:t>
            </a:r>
            <a:endParaRPr lang="en-US" sz="1500" dirty="0"/>
          </a:p>
        </p:txBody>
      </p:sp>
      <p:sp>
        <p:nvSpPr>
          <p:cNvPr id="15" name="Text 11"/>
          <p:cNvSpPr txBox="1"/>
          <p:nvPr/>
        </p:nvSpPr>
        <p:spPr>
          <a:xfrm>
            <a:off x="4398264" y="3076042"/>
            <a:ext cx="3392424" cy="402336"/>
          </a:xfrm>
          <a:prstGeom prst="rect">
            <a:avLst/>
          </a:prstGeom>
          <a:noFill/>
          <a:ln/>
        </p:spPr>
        <p:txBody>
          <a:bodyPr wrap="square" lIns="0" tIns="0" rIns="0" bIns="0" rtlCol="0" anchor="ctr">
            <a:normAutofit/>
          </a:bodyPr>
          <a:lstStyle/>
          <a:p>
            <a:pPr marL="0" indent="0" algn="ctr" eaLnBrk="1">
              <a:buNone/>
            </a:pPr>
            <a:r>
              <a:rPr lang="ko-KR" altLang="en-US" sz="1300" dirty="0">
                <a:solidFill>
                  <a:srgbClr val="14142B"/>
                </a:solidFill>
                <a:latin typeface="Malgun Gothic" pitchFamily="34" charset="0"/>
                <a:ea typeface="Malgun Gothic" pitchFamily="34" charset="-122"/>
                <a:cs typeface="Malgun Gothic" pitchFamily="34" charset="-120"/>
              </a:rPr>
              <a:t>도윤 씨는 어디에서 뭘 해요</a:t>
            </a:r>
            <a:r>
              <a:rPr lang="en-US" sz="1300" dirty="0">
                <a:solidFill>
                  <a:srgbClr val="14142B"/>
                </a:solidFill>
              </a:rPr>
              <a:t>?</a:t>
            </a:r>
            <a:endParaRPr lang="en-US" sz="1300" dirty="0"/>
          </a:p>
        </p:txBody>
      </p:sp>
      <p:sp>
        <p:nvSpPr>
          <p:cNvPr id="16" name="rev_23_caja"/>
          <p:cNvSpPr/>
          <p:nvPr/>
        </p:nvSpPr>
        <p:spPr>
          <a:xfrm>
            <a:off x="4416552" y="3524098"/>
            <a:ext cx="3355848" cy="362102"/>
          </a:xfrm>
          <a:prstGeom prst="roundRect">
            <a:avLst>
              <a:gd name="adj" fmla="val 30303"/>
            </a:avLst>
          </a:prstGeom>
          <a:solidFill>
            <a:srgbClr val="4236F6"/>
          </a:solidFill>
          <a:ln w="12700">
            <a:solidFill>
              <a:srgbClr val="4236F6"/>
            </a:solidFill>
            <a:prstDash val="solid"/>
          </a:ln>
        </p:spPr>
      </p:sp>
      <p:sp>
        <p:nvSpPr>
          <p:cNvPr id="17" name="rev_23_txt"/>
          <p:cNvSpPr txBox="1"/>
          <p:nvPr/>
        </p:nvSpPr>
        <p:spPr>
          <a:xfrm>
            <a:off x="4443984" y="3524098"/>
            <a:ext cx="3300984" cy="362102"/>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식당에서 요리해요</a:t>
            </a:r>
            <a:r>
              <a:rPr lang="en-US" sz="1700" b="1" dirty="0">
                <a:solidFill>
                  <a:srgbClr val="FFFFFF"/>
                </a:solidFill>
              </a:rPr>
              <a:t>.</a:t>
            </a:r>
            <a:endParaRPr lang="en-US" sz="1700" dirty="0"/>
          </a:p>
        </p:txBody>
      </p:sp>
      <p:sp>
        <p:nvSpPr>
          <p:cNvPr id="18" name="card_2"/>
          <p:cNvSpPr/>
          <p:nvPr/>
        </p:nvSpPr>
        <p:spPr>
          <a:xfrm>
            <a:off x="8065008"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9" name="item_img_2" descr="C:\Users\Chingu\AppData\Local\Temp\claude\C--Users-Chingu-Desktop-ACADEMIASEULWEB\d4111e1b-5523-44ea-97b2-b1a1d9545b9e\scratchpad\decks\cache\img_ea8c9251117b6259.png"/>
          <p:cNvPicPr>
            <a:picLocks noChangeAspect="1"/>
          </p:cNvPicPr>
          <p:nvPr/>
        </p:nvPicPr>
        <p:blipFill>
          <a:blip r:embed="rId5"/>
          <a:stretch>
            <a:fillRect/>
          </a:stretch>
        </p:blipFill>
        <p:spPr>
          <a:xfrm>
            <a:off x="9366199" y="2057400"/>
            <a:ext cx="972922" cy="972922"/>
          </a:xfrm>
          <a:prstGeom prst="rect">
            <a:avLst/>
          </a:prstGeom>
        </p:spPr>
      </p:pic>
      <p:sp>
        <p:nvSpPr>
          <p:cNvPr id="20" name="num_2"/>
          <p:cNvSpPr/>
          <p:nvPr/>
        </p:nvSpPr>
        <p:spPr>
          <a:xfrm>
            <a:off x="8156448" y="2057400"/>
            <a:ext cx="420624" cy="420624"/>
          </a:xfrm>
          <a:prstGeom prst="ellipse">
            <a:avLst/>
          </a:prstGeom>
          <a:solidFill>
            <a:srgbClr val="003478"/>
          </a:solidFill>
          <a:ln w="19050">
            <a:solidFill>
              <a:srgbClr val="FFFFFF"/>
            </a:solidFill>
            <a:prstDash val="solid"/>
          </a:ln>
        </p:spPr>
      </p:sp>
      <p:sp>
        <p:nvSpPr>
          <p:cNvPr id="21" name="Text 16"/>
          <p:cNvSpPr txBox="1"/>
          <p:nvPr/>
        </p:nvSpPr>
        <p:spPr>
          <a:xfrm>
            <a:off x="8156448"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3</a:t>
            </a:r>
            <a:endParaRPr lang="en-US" sz="1500" dirty="0"/>
          </a:p>
        </p:txBody>
      </p:sp>
      <p:sp>
        <p:nvSpPr>
          <p:cNvPr id="22" name="Text 17"/>
          <p:cNvSpPr txBox="1"/>
          <p:nvPr/>
        </p:nvSpPr>
        <p:spPr>
          <a:xfrm>
            <a:off x="8156448" y="3076042"/>
            <a:ext cx="3392424" cy="402336"/>
          </a:xfrm>
          <a:prstGeom prst="rect">
            <a:avLst/>
          </a:prstGeom>
          <a:noFill/>
          <a:ln/>
        </p:spPr>
        <p:txBody>
          <a:bodyPr wrap="square" lIns="0" tIns="0" rIns="0" bIns="0" rtlCol="0" anchor="ctr">
            <a:normAutofit/>
          </a:bodyPr>
          <a:lstStyle/>
          <a:p>
            <a:pPr marL="0" indent="0" algn="ctr" eaLnBrk="1">
              <a:buNone/>
            </a:pPr>
            <a:r>
              <a:rPr lang="ko-KR" altLang="en-US" sz="1300" dirty="0">
                <a:solidFill>
                  <a:srgbClr val="14142B"/>
                </a:solidFill>
                <a:latin typeface="Malgun Gothic" pitchFamily="34" charset="0"/>
                <a:ea typeface="Malgun Gothic" pitchFamily="34" charset="-122"/>
                <a:cs typeface="Malgun Gothic" pitchFamily="34" charset="-120"/>
              </a:rPr>
              <a:t>발렌티나 씨는 어디에서 뭘 해요</a:t>
            </a:r>
            <a:r>
              <a:rPr lang="en-US" sz="1300" dirty="0">
                <a:solidFill>
                  <a:srgbClr val="14142B"/>
                </a:solidFill>
              </a:rPr>
              <a:t>?</a:t>
            </a:r>
            <a:endParaRPr lang="en-US" sz="1300" dirty="0"/>
          </a:p>
        </p:txBody>
      </p:sp>
      <p:sp>
        <p:nvSpPr>
          <p:cNvPr id="23" name="rev_24_caja"/>
          <p:cNvSpPr/>
          <p:nvPr/>
        </p:nvSpPr>
        <p:spPr>
          <a:xfrm>
            <a:off x="8174736" y="3524098"/>
            <a:ext cx="3355848" cy="362102"/>
          </a:xfrm>
          <a:prstGeom prst="roundRect">
            <a:avLst>
              <a:gd name="adj" fmla="val 30303"/>
            </a:avLst>
          </a:prstGeom>
          <a:solidFill>
            <a:srgbClr val="4236F6"/>
          </a:solidFill>
          <a:ln w="12700">
            <a:solidFill>
              <a:srgbClr val="4236F6"/>
            </a:solidFill>
            <a:prstDash val="solid"/>
          </a:ln>
        </p:spPr>
      </p:sp>
      <p:sp>
        <p:nvSpPr>
          <p:cNvPr id="24" name="rev_24_txt"/>
          <p:cNvSpPr txBox="1"/>
          <p:nvPr/>
        </p:nvSpPr>
        <p:spPr>
          <a:xfrm>
            <a:off x="8202168" y="3524098"/>
            <a:ext cx="3300984" cy="362102"/>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꽃집에서 꽃을 사요</a:t>
            </a:r>
            <a:r>
              <a:rPr lang="en-US" sz="1700" b="1" dirty="0">
                <a:solidFill>
                  <a:srgbClr val="FFFFFF"/>
                </a:solidFill>
              </a:rPr>
              <a:t>.</a:t>
            </a:r>
            <a:endParaRPr lang="en-US" sz="1700" dirty="0"/>
          </a:p>
        </p:txBody>
      </p:sp>
      <p:sp>
        <p:nvSpPr>
          <p:cNvPr id="25" name="card_3"/>
          <p:cNvSpPr/>
          <p:nvPr/>
        </p:nvSpPr>
        <p:spPr>
          <a:xfrm>
            <a:off x="548640"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6" name="item_img_3" descr="C:\Users\Chingu\AppData\Local\Temp\claude\C--Users-Chingu-Desktop-ACADEMIASEULWEB\d4111e1b-5523-44ea-97b2-b1a1d9545b9e\scratchpad\decks\cache\img_369b80cd57b109ab.png"/>
          <p:cNvPicPr>
            <a:picLocks noChangeAspect="1"/>
          </p:cNvPicPr>
          <p:nvPr/>
        </p:nvPicPr>
        <p:blipFill>
          <a:blip r:embed="rId6"/>
          <a:stretch>
            <a:fillRect/>
          </a:stretch>
        </p:blipFill>
        <p:spPr>
          <a:xfrm>
            <a:off x="1849831" y="4251960"/>
            <a:ext cx="972922" cy="972922"/>
          </a:xfrm>
          <a:prstGeom prst="rect">
            <a:avLst/>
          </a:prstGeom>
        </p:spPr>
      </p:pic>
      <p:sp>
        <p:nvSpPr>
          <p:cNvPr id="27" name="num_3"/>
          <p:cNvSpPr/>
          <p:nvPr/>
        </p:nvSpPr>
        <p:spPr>
          <a:xfrm>
            <a:off x="640080" y="4251960"/>
            <a:ext cx="420624" cy="420624"/>
          </a:xfrm>
          <a:prstGeom prst="ellipse">
            <a:avLst/>
          </a:prstGeom>
          <a:solidFill>
            <a:srgbClr val="003478"/>
          </a:solidFill>
          <a:ln w="19050">
            <a:solidFill>
              <a:srgbClr val="FFFFFF"/>
            </a:solidFill>
            <a:prstDash val="solid"/>
          </a:ln>
        </p:spPr>
      </p:sp>
      <p:sp>
        <p:nvSpPr>
          <p:cNvPr id="28" name="Text 22"/>
          <p:cNvSpPr txBox="1"/>
          <p:nvPr/>
        </p:nvSpPr>
        <p:spPr>
          <a:xfrm>
            <a:off x="640080"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4</a:t>
            </a:r>
            <a:endParaRPr lang="en-US" sz="1500" dirty="0"/>
          </a:p>
        </p:txBody>
      </p:sp>
      <p:sp>
        <p:nvSpPr>
          <p:cNvPr id="29" name="Text 23"/>
          <p:cNvSpPr txBox="1"/>
          <p:nvPr/>
        </p:nvSpPr>
        <p:spPr>
          <a:xfrm>
            <a:off x="640080" y="5270602"/>
            <a:ext cx="3392424" cy="402336"/>
          </a:xfrm>
          <a:prstGeom prst="rect">
            <a:avLst/>
          </a:prstGeom>
          <a:noFill/>
          <a:ln/>
        </p:spPr>
        <p:txBody>
          <a:bodyPr wrap="square" lIns="0" tIns="0" rIns="0" bIns="0" rtlCol="0" anchor="ctr">
            <a:normAutofit/>
          </a:bodyPr>
          <a:lstStyle/>
          <a:p>
            <a:pPr marL="0" indent="0" algn="ctr" eaLnBrk="1">
              <a:buNone/>
            </a:pPr>
            <a:r>
              <a:rPr lang="ko-KR" altLang="en-US" sz="1300" dirty="0">
                <a:solidFill>
                  <a:srgbClr val="14142B"/>
                </a:solidFill>
                <a:latin typeface="Malgun Gothic" pitchFamily="34" charset="0"/>
                <a:ea typeface="Malgun Gothic" pitchFamily="34" charset="-122"/>
                <a:cs typeface="Malgun Gothic" pitchFamily="34" charset="-120"/>
              </a:rPr>
              <a:t>마테오 씨는 어디에서 뭘 해요</a:t>
            </a:r>
            <a:r>
              <a:rPr lang="en-US" sz="1300" dirty="0">
                <a:solidFill>
                  <a:srgbClr val="14142B"/>
                </a:solidFill>
              </a:rPr>
              <a:t>?</a:t>
            </a:r>
            <a:endParaRPr lang="en-US" sz="1300" dirty="0"/>
          </a:p>
        </p:txBody>
      </p:sp>
      <p:sp>
        <p:nvSpPr>
          <p:cNvPr id="30" name="rev_25_caja"/>
          <p:cNvSpPr/>
          <p:nvPr/>
        </p:nvSpPr>
        <p:spPr>
          <a:xfrm>
            <a:off x="658368" y="5718658"/>
            <a:ext cx="3355848" cy="362102"/>
          </a:xfrm>
          <a:prstGeom prst="roundRect">
            <a:avLst>
              <a:gd name="adj" fmla="val 30303"/>
            </a:avLst>
          </a:prstGeom>
          <a:solidFill>
            <a:srgbClr val="4236F6"/>
          </a:solidFill>
          <a:ln w="12700">
            <a:solidFill>
              <a:srgbClr val="4236F6"/>
            </a:solidFill>
            <a:prstDash val="solid"/>
          </a:ln>
        </p:spPr>
      </p:sp>
      <p:sp>
        <p:nvSpPr>
          <p:cNvPr id="31" name="rev_25_txt"/>
          <p:cNvSpPr txBox="1"/>
          <p:nvPr/>
        </p:nvSpPr>
        <p:spPr>
          <a:xfrm>
            <a:off x="685800" y="5718658"/>
            <a:ext cx="3300984" cy="362102"/>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공원에서 운동해요</a:t>
            </a:r>
            <a:r>
              <a:rPr lang="en-US" sz="1700" b="1" dirty="0">
                <a:solidFill>
                  <a:srgbClr val="FFFFFF"/>
                </a:solidFill>
              </a:rPr>
              <a:t>.</a:t>
            </a:r>
            <a:endParaRPr lang="en-US" sz="1700" dirty="0"/>
          </a:p>
        </p:txBody>
      </p:sp>
      <p:sp>
        <p:nvSpPr>
          <p:cNvPr id="32" name="card_4"/>
          <p:cNvSpPr/>
          <p:nvPr/>
        </p:nvSpPr>
        <p:spPr>
          <a:xfrm>
            <a:off x="4306824"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3" name="item_img_4" descr="C:\Users\Chingu\AppData\Local\Temp\claude\C--Users-Chingu-Desktop-ACADEMIASEULWEB\d4111e1b-5523-44ea-97b2-b1a1d9545b9e\scratchpad\decks\cache\img_7e4de9016991b89f.png"/>
          <p:cNvPicPr>
            <a:picLocks noChangeAspect="1"/>
          </p:cNvPicPr>
          <p:nvPr/>
        </p:nvPicPr>
        <p:blipFill>
          <a:blip r:embed="rId7"/>
          <a:stretch>
            <a:fillRect/>
          </a:stretch>
        </p:blipFill>
        <p:spPr>
          <a:xfrm>
            <a:off x="5608015" y="4251960"/>
            <a:ext cx="972922" cy="972922"/>
          </a:xfrm>
          <a:prstGeom prst="rect">
            <a:avLst/>
          </a:prstGeom>
        </p:spPr>
      </p:pic>
      <p:sp>
        <p:nvSpPr>
          <p:cNvPr id="34" name="num_4"/>
          <p:cNvSpPr/>
          <p:nvPr/>
        </p:nvSpPr>
        <p:spPr>
          <a:xfrm>
            <a:off x="4398264" y="4251960"/>
            <a:ext cx="420624" cy="420624"/>
          </a:xfrm>
          <a:prstGeom prst="ellipse">
            <a:avLst/>
          </a:prstGeom>
          <a:solidFill>
            <a:srgbClr val="003478"/>
          </a:solidFill>
          <a:ln w="19050">
            <a:solidFill>
              <a:srgbClr val="FFFFFF"/>
            </a:solidFill>
            <a:prstDash val="solid"/>
          </a:ln>
        </p:spPr>
      </p:sp>
      <p:sp>
        <p:nvSpPr>
          <p:cNvPr id="35" name="Text 28"/>
          <p:cNvSpPr txBox="1"/>
          <p:nvPr/>
        </p:nvSpPr>
        <p:spPr>
          <a:xfrm>
            <a:off x="4398264"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5</a:t>
            </a:r>
            <a:endParaRPr lang="en-US" sz="1500" dirty="0"/>
          </a:p>
        </p:txBody>
      </p:sp>
      <p:sp>
        <p:nvSpPr>
          <p:cNvPr id="36" name="Text 29"/>
          <p:cNvSpPr txBox="1"/>
          <p:nvPr/>
        </p:nvSpPr>
        <p:spPr>
          <a:xfrm>
            <a:off x="4398264" y="5270602"/>
            <a:ext cx="3392424" cy="402336"/>
          </a:xfrm>
          <a:prstGeom prst="rect">
            <a:avLst/>
          </a:prstGeom>
          <a:noFill/>
          <a:ln/>
        </p:spPr>
        <p:txBody>
          <a:bodyPr wrap="square" lIns="0" tIns="0" rIns="0" bIns="0" rtlCol="0" anchor="ctr">
            <a:normAutofit/>
          </a:bodyPr>
          <a:lstStyle/>
          <a:p>
            <a:pPr marL="0" indent="0" algn="ctr" eaLnBrk="1">
              <a:buNone/>
            </a:pPr>
            <a:r>
              <a:rPr lang="ko-KR" altLang="en-US" sz="1300" dirty="0">
                <a:solidFill>
                  <a:srgbClr val="14142B"/>
                </a:solidFill>
                <a:latin typeface="Malgun Gothic" pitchFamily="34" charset="0"/>
                <a:ea typeface="Malgun Gothic" pitchFamily="34" charset="-122"/>
                <a:cs typeface="Malgun Gothic" pitchFamily="34" charset="-120"/>
              </a:rPr>
              <a:t>서아는 어디에서 뭘 해요</a:t>
            </a:r>
            <a:r>
              <a:rPr lang="en-US" sz="1300" dirty="0">
                <a:solidFill>
                  <a:srgbClr val="14142B"/>
                </a:solidFill>
              </a:rPr>
              <a:t>?</a:t>
            </a:r>
            <a:endParaRPr lang="en-US" sz="1300" dirty="0"/>
          </a:p>
        </p:txBody>
      </p:sp>
      <p:sp>
        <p:nvSpPr>
          <p:cNvPr id="37" name="rev_26_caja"/>
          <p:cNvSpPr/>
          <p:nvPr/>
        </p:nvSpPr>
        <p:spPr>
          <a:xfrm>
            <a:off x="4416552" y="5718658"/>
            <a:ext cx="3355848" cy="362102"/>
          </a:xfrm>
          <a:prstGeom prst="roundRect">
            <a:avLst>
              <a:gd name="adj" fmla="val 30303"/>
            </a:avLst>
          </a:prstGeom>
          <a:solidFill>
            <a:srgbClr val="4236F6"/>
          </a:solidFill>
          <a:ln w="12700">
            <a:solidFill>
              <a:srgbClr val="4236F6"/>
            </a:solidFill>
            <a:prstDash val="solid"/>
          </a:ln>
        </p:spPr>
      </p:sp>
      <p:sp>
        <p:nvSpPr>
          <p:cNvPr id="38" name="rev_26_txt"/>
          <p:cNvSpPr txBox="1"/>
          <p:nvPr/>
        </p:nvSpPr>
        <p:spPr>
          <a:xfrm>
            <a:off x="4443984" y="5718658"/>
            <a:ext cx="3300984" cy="362102"/>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동물원에서 사진을 찍어요</a:t>
            </a:r>
            <a:r>
              <a:rPr lang="en-US" sz="1700" b="1" dirty="0">
                <a:solidFill>
                  <a:srgbClr val="FFFFFF"/>
                </a:solidFill>
              </a:rPr>
              <a:t>.</a:t>
            </a:r>
            <a:endParaRPr lang="en-US" sz="1700" dirty="0"/>
          </a:p>
        </p:txBody>
      </p:sp>
      <p:sp>
        <p:nvSpPr>
          <p:cNvPr id="39" name="card_5"/>
          <p:cNvSpPr/>
          <p:nvPr/>
        </p:nvSpPr>
        <p:spPr>
          <a:xfrm>
            <a:off x="8065008"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0" name="item_img_5" descr="C:\Users\Chingu\AppData\Local\Temp\claude\C--Users-Chingu-Desktop-ACADEMIASEULWEB\d4111e1b-5523-44ea-97b2-b1a1d9545b9e\scratchpad\decks\cache\img_dab9a395e91baef3.png"/>
          <p:cNvPicPr>
            <a:picLocks noChangeAspect="1"/>
          </p:cNvPicPr>
          <p:nvPr/>
        </p:nvPicPr>
        <p:blipFill>
          <a:blip r:embed="rId8"/>
          <a:stretch>
            <a:fillRect/>
          </a:stretch>
        </p:blipFill>
        <p:spPr>
          <a:xfrm>
            <a:off x="9366199" y="4251960"/>
            <a:ext cx="972922" cy="972922"/>
          </a:xfrm>
          <a:prstGeom prst="rect">
            <a:avLst/>
          </a:prstGeom>
        </p:spPr>
      </p:pic>
      <p:sp>
        <p:nvSpPr>
          <p:cNvPr id="41" name="num_5"/>
          <p:cNvSpPr/>
          <p:nvPr/>
        </p:nvSpPr>
        <p:spPr>
          <a:xfrm>
            <a:off x="8156448" y="4251960"/>
            <a:ext cx="420624" cy="420624"/>
          </a:xfrm>
          <a:prstGeom prst="ellipse">
            <a:avLst/>
          </a:prstGeom>
          <a:solidFill>
            <a:srgbClr val="003478"/>
          </a:solidFill>
          <a:ln w="19050">
            <a:solidFill>
              <a:srgbClr val="FFFFFF"/>
            </a:solidFill>
            <a:prstDash val="solid"/>
          </a:ln>
        </p:spPr>
      </p:sp>
      <p:sp>
        <p:nvSpPr>
          <p:cNvPr id="42" name="Text 34"/>
          <p:cNvSpPr txBox="1"/>
          <p:nvPr/>
        </p:nvSpPr>
        <p:spPr>
          <a:xfrm>
            <a:off x="8156448"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6</a:t>
            </a:r>
            <a:endParaRPr lang="en-US" sz="1500" dirty="0"/>
          </a:p>
        </p:txBody>
      </p:sp>
      <p:sp>
        <p:nvSpPr>
          <p:cNvPr id="43" name="Text 35"/>
          <p:cNvSpPr txBox="1"/>
          <p:nvPr/>
        </p:nvSpPr>
        <p:spPr>
          <a:xfrm>
            <a:off x="8156448" y="5270602"/>
            <a:ext cx="3392424" cy="402336"/>
          </a:xfrm>
          <a:prstGeom prst="rect">
            <a:avLst/>
          </a:prstGeom>
          <a:noFill/>
          <a:ln/>
        </p:spPr>
        <p:txBody>
          <a:bodyPr wrap="square" lIns="0" tIns="0" rIns="0" bIns="0" rtlCol="0" anchor="ctr">
            <a:normAutofit/>
          </a:bodyPr>
          <a:lstStyle/>
          <a:p>
            <a:pPr marL="0" indent="0" algn="ctr" eaLnBrk="1">
              <a:buNone/>
            </a:pPr>
            <a:r>
              <a:rPr lang="ko-KR" altLang="en-US" sz="1300" dirty="0">
                <a:solidFill>
                  <a:srgbClr val="14142B"/>
                </a:solidFill>
                <a:latin typeface="Malgun Gothic" pitchFamily="34" charset="0"/>
                <a:ea typeface="Malgun Gothic" pitchFamily="34" charset="-122"/>
                <a:cs typeface="Malgun Gothic" pitchFamily="34" charset="-120"/>
              </a:rPr>
              <a:t>콩이는 어디에서 뭘 해요</a:t>
            </a:r>
            <a:r>
              <a:rPr lang="en-US" sz="1300" dirty="0">
                <a:solidFill>
                  <a:srgbClr val="14142B"/>
                </a:solidFill>
              </a:rPr>
              <a:t>?</a:t>
            </a:r>
            <a:endParaRPr lang="en-US" sz="1300" dirty="0"/>
          </a:p>
        </p:txBody>
      </p:sp>
      <p:sp>
        <p:nvSpPr>
          <p:cNvPr id="44" name="rev_27_caja"/>
          <p:cNvSpPr/>
          <p:nvPr/>
        </p:nvSpPr>
        <p:spPr>
          <a:xfrm>
            <a:off x="8174736" y="5718658"/>
            <a:ext cx="3355848" cy="362102"/>
          </a:xfrm>
          <a:prstGeom prst="roundRect">
            <a:avLst>
              <a:gd name="adj" fmla="val 30303"/>
            </a:avLst>
          </a:prstGeom>
          <a:solidFill>
            <a:srgbClr val="4236F6"/>
          </a:solidFill>
          <a:ln w="12700">
            <a:solidFill>
              <a:srgbClr val="4236F6"/>
            </a:solidFill>
            <a:prstDash val="solid"/>
          </a:ln>
        </p:spPr>
      </p:sp>
      <p:sp>
        <p:nvSpPr>
          <p:cNvPr id="45" name="rev_27_txt"/>
          <p:cNvSpPr txBox="1"/>
          <p:nvPr/>
        </p:nvSpPr>
        <p:spPr>
          <a:xfrm>
            <a:off x="8202168" y="5718658"/>
            <a:ext cx="3300984" cy="362102"/>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방에서 자요</a:t>
            </a:r>
            <a:r>
              <a:rPr lang="en-US" sz="1700" b="1" dirty="0">
                <a:solidFill>
                  <a:srgbClr val="FFFFFF"/>
                </a:solidFill>
              </a:rPr>
              <a:t>.</a:t>
            </a:r>
            <a:endParaRPr lang="en-US" sz="1700" dirty="0"/>
          </a:p>
        </p:txBody>
      </p:sp>
      <p:sp>
        <p:nvSpPr>
          <p:cNvPr id="46"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P spid="24" grpId="0" animBg="1"/>
      <p:bldP spid="31" grpId="0" animBg="1"/>
      <p:bldP spid="38" grpId="0" animBg="1"/>
      <p:bldP spid="4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어디에서</a:t>
            </a:r>
            <a:r>
              <a:rPr lang="en-US" sz="3000" b="1" dirty="0">
                <a:solidFill>
                  <a:srgbClr val="4236F6"/>
                </a:solidFill>
              </a:rPr>
              <a:t>?  </a:t>
            </a:r>
            <a:r>
              <a:rPr lang="en-US" sz="3000" b="1" dirty="0">
                <a:solidFill>
                  <a:srgbClr val="003478"/>
                </a:solidFill>
              </a:rPr>
              <a:t>Haz la pregunta</a:t>
            </a:r>
            <a:r>
              <a:rPr lang="en-US" sz="1500" b="1" i="1" dirty="0">
                <a:solidFill>
                  <a:srgbClr val="8A8DA0"/>
                </a:solidFill>
              </a:rPr>
              <a:t>   Ask the question</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Lee la respuesta y pregunta con 어디에서 </a:t>
            </a:r>
            <a:r>
              <a:rPr lang="en-US" sz="1800" i="1" dirty="0">
                <a:solidFill>
                  <a:srgbClr val="4236F6"/>
                </a:solidFill>
              </a:rPr>
              <a:t>· Copia el verbo y cambia el lugar por </a:t>
            </a:r>
            <a:r>
              <a:rPr lang="ko-KR" altLang="en-US" sz="1800" i="1" dirty="0">
                <a:solidFill>
                  <a:srgbClr val="4236F6"/>
                </a:solidFill>
                <a:latin typeface="Malgun Gothic" pitchFamily="34" charset="0"/>
                <a:ea typeface="Malgun Gothic" pitchFamily="34" charset="-122"/>
                <a:cs typeface="Malgun Gothic" pitchFamily="34" charset="-120"/>
              </a:rPr>
              <a:t>어디에서</a:t>
            </a:r>
            <a:endParaRPr lang="en-US" sz="1800" dirty="0"/>
          </a:p>
        </p:txBody>
      </p:sp>
      <p:sp>
        <p:nvSpPr>
          <p:cNvPr id="4" name="num_0"/>
          <p:cNvSpPr/>
          <p:nvPr/>
        </p:nvSpPr>
        <p:spPr>
          <a:xfrm>
            <a:off x="548640" y="217170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7170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공원에서 운동해요</a:t>
            </a:r>
            <a:r>
              <a:rPr lang="en-US" sz="2400" dirty="0">
                <a:solidFill>
                  <a:srgbClr val="14142B"/>
                </a:solidFill>
              </a:rPr>
              <a:t>.</a:t>
            </a:r>
            <a:endParaRPr lang="en-US" sz="2400" dirty="0"/>
          </a:p>
        </p:txBody>
      </p:sp>
      <p:sp>
        <p:nvSpPr>
          <p:cNvPr id="7" name="rev_28_caja"/>
          <p:cNvSpPr/>
          <p:nvPr/>
        </p:nvSpPr>
        <p:spPr>
          <a:xfrm>
            <a:off x="7498080" y="2002536"/>
            <a:ext cx="4142232" cy="795528"/>
          </a:xfrm>
          <a:prstGeom prst="roundRect">
            <a:avLst>
              <a:gd name="adj" fmla="val 13793"/>
            </a:avLst>
          </a:prstGeom>
          <a:solidFill>
            <a:srgbClr val="4236F6"/>
          </a:solidFill>
          <a:ln w="12700">
            <a:solidFill>
              <a:srgbClr val="4236F6"/>
            </a:solidFill>
            <a:prstDash val="solid"/>
          </a:ln>
        </p:spPr>
      </p:sp>
      <p:sp>
        <p:nvSpPr>
          <p:cNvPr id="8" name="rev_28_txt"/>
          <p:cNvSpPr txBox="1"/>
          <p:nvPr/>
        </p:nvSpPr>
        <p:spPr>
          <a:xfrm>
            <a:off x="7589520" y="2002536"/>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어디에서 운동해요</a:t>
            </a:r>
            <a:r>
              <a:rPr lang="en-US" sz="2200" b="1" dirty="0">
                <a:solidFill>
                  <a:srgbClr val="FFFFFF"/>
                </a:solidFill>
              </a:rPr>
              <a:t>?</a:t>
            </a:r>
            <a:endParaRPr lang="en-US" sz="2200" dirty="0"/>
          </a:p>
        </p:txBody>
      </p:sp>
      <p:sp>
        <p:nvSpPr>
          <p:cNvPr id="9" name="num_1"/>
          <p:cNvSpPr/>
          <p:nvPr/>
        </p:nvSpPr>
        <p:spPr>
          <a:xfrm>
            <a:off x="548640" y="316839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16839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962656"/>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마트에서 우유를 사요</a:t>
            </a:r>
            <a:r>
              <a:rPr lang="en-US" sz="2400" dirty="0">
                <a:solidFill>
                  <a:srgbClr val="14142B"/>
                </a:solidFill>
              </a:rPr>
              <a:t>.</a:t>
            </a:r>
            <a:endParaRPr lang="en-US" sz="2400" dirty="0"/>
          </a:p>
        </p:txBody>
      </p:sp>
      <p:sp>
        <p:nvSpPr>
          <p:cNvPr id="12" name="rev_29_caja"/>
          <p:cNvSpPr/>
          <p:nvPr/>
        </p:nvSpPr>
        <p:spPr>
          <a:xfrm>
            <a:off x="7498080" y="2999232"/>
            <a:ext cx="4142232" cy="795528"/>
          </a:xfrm>
          <a:prstGeom prst="roundRect">
            <a:avLst>
              <a:gd name="adj" fmla="val 13793"/>
            </a:avLst>
          </a:prstGeom>
          <a:solidFill>
            <a:srgbClr val="4236F6"/>
          </a:solidFill>
          <a:ln w="12700">
            <a:solidFill>
              <a:srgbClr val="4236F6"/>
            </a:solidFill>
            <a:prstDash val="solid"/>
          </a:ln>
        </p:spPr>
      </p:sp>
      <p:sp>
        <p:nvSpPr>
          <p:cNvPr id="13" name="rev_29_txt"/>
          <p:cNvSpPr txBox="1"/>
          <p:nvPr/>
        </p:nvSpPr>
        <p:spPr>
          <a:xfrm>
            <a:off x="7589520" y="2999232"/>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어디에서 우유를 사요</a:t>
            </a:r>
            <a:r>
              <a:rPr lang="en-US" sz="2200" b="1" dirty="0">
                <a:solidFill>
                  <a:srgbClr val="FFFFFF"/>
                </a:solidFill>
              </a:rPr>
              <a:t>?</a:t>
            </a:r>
            <a:endParaRPr lang="en-US" sz="2200" dirty="0"/>
          </a:p>
        </p:txBody>
      </p:sp>
      <p:sp>
        <p:nvSpPr>
          <p:cNvPr id="14" name="num_2"/>
          <p:cNvSpPr/>
          <p:nvPr/>
        </p:nvSpPr>
        <p:spPr>
          <a:xfrm>
            <a:off x="548640" y="41650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1650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959352"/>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집에서 김밥을 만들어요</a:t>
            </a:r>
            <a:r>
              <a:rPr lang="en-US" sz="2400" dirty="0">
                <a:solidFill>
                  <a:srgbClr val="14142B"/>
                </a:solidFill>
              </a:rPr>
              <a:t>.</a:t>
            </a:r>
            <a:endParaRPr lang="en-US" sz="2400" dirty="0"/>
          </a:p>
        </p:txBody>
      </p:sp>
      <p:sp>
        <p:nvSpPr>
          <p:cNvPr id="17" name="rev_30_caja"/>
          <p:cNvSpPr/>
          <p:nvPr/>
        </p:nvSpPr>
        <p:spPr>
          <a:xfrm>
            <a:off x="7498080" y="3995928"/>
            <a:ext cx="4142232" cy="795528"/>
          </a:xfrm>
          <a:prstGeom prst="roundRect">
            <a:avLst>
              <a:gd name="adj" fmla="val 13793"/>
            </a:avLst>
          </a:prstGeom>
          <a:solidFill>
            <a:srgbClr val="4236F6"/>
          </a:solidFill>
          <a:ln w="12700">
            <a:solidFill>
              <a:srgbClr val="4236F6"/>
            </a:solidFill>
            <a:prstDash val="solid"/>
          </a:ln>
        </p:spPr>
      </p:sp>
      <p:sp>
        <p:nvSpPr>
          <p:cNvPr id="18" name="rev_30_txt"/>
          <p:cNvSpPr txBox="1"/>
          <p:nvPr/>
        </p:nvSpPr>
        <p:spPr>
          <a:xfrm>
            <a:off x="7589520" y="3995928"/>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어디에서 김밥을 만들어요</a:t>
            </a:r>
            <a:r>
              <a:rPr lang="en-US" sz="2200" b="1" dirty="0">
                <a:solidFill>
                  <a:srgbClr val="FFFFFF"/>
                </a:solidFill>
              </a:rPr>
              <a:t>?</a:t>
            </a:r>
            <a:endParaRPr lang="en-US" sz="2200" dirty="0"/>
          </a:p>
        </p:txBody>
      </p:sp>
      <p:sp>
        <p:nvSpPr>
          <p:cNvPr id="19" name="num_3"/>
          <p:cNvSpPr/>
          <p:nvPr/>
        </p:nvSpPr>
        <p:spPr>
          <a:xfrm>
            <a:off x="548640" y="516178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516178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956048"/>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회사에서 일해요</a:t>
            </a:r>
            <a:r>
              <a:rPr lang="en-US" sz="2400" dirty="0">
                <a:solidFill>
                  <a:srgbClr val="14142B"/>
                </a:solidFill>
              </a:rPr>
              <a:t>.</a:t>
            </a:r>
            <a:endParaRPr lang="en-US" sz="2400" dirty="0"/>
          </a:p>
        </p:txBody>
      </p:sp>
      <p:sp>
        <p:nvSpPr>
          <p:cNvPr id="22" name="rev_31_caja"/>
          <p:cNvSpPr/>
          <p:nvPr/>
        </p:nvSpPr>
        <p:spPr>
          <a:xfrm>
            <a:off x="7498080" y="4992624"/>
            <a:ext cx="4142232" cy="795528"/>
          </a:xfrm>
          <a:prstGeom prst="roundRect">
            <a:avLst>
              <a:gd name="adj" fmla="val 13793"/>
            </a:avLst>
          </a:prstGeom>
          <a:solidFill>
            <a:srgbClr val="4236F6"/>
          </a:solidFill>
          <a:ln w="12700">
            <a:solidFill>
              <a:srgbClr val="4236F6"/>
            </a:solidFill>
            <a:prstDash val="solid"/>
          </a:ln>
        </p:spPr>
      </p:sp>
      <p:sp>
        <p:nvSpPr>
          <p:cNvPr id="23" name="rev_31_txt"/>
          <p:cNvSpPr txBox="1"/>
          <p:nvPr/>
        </p:nvSpPr>
        <p:spPr>
          <a:xfrm>
            <a:off x="7589520" y="4992624"/>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어디에서 일해요</a:t>
            </a:r>
            <a:r>
              <a:rPr lang="en-US" sz="2200" b="1" dirty="0">
                <a:solidFill>
                  <a:srgbClr val="FFFFFF"/>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들어 봐요  </a:t>
            </a:r>
            <a:r>
              <a:rPr lang="en-US" sz="3000" b="1" dirty="0">
                <a:solidFill>
                  <a:srgbClr val="003478"/>
                </a:solidFill>
              </a:rPr>
              <a:t>Escucha y elige</a:t>
            </a:r>
            <a:r>
              <a:rPr lang="en-US" sz="1500" b="1" i="1" dirty="0">
                <a:solidFill>
                  <a:srgbClr val="8A8DA0"/>
                </a:solidFill>
              </a:rPr>
              <a:t>   Listen and choose</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Jay lee cada parte 2 veces · escribe a, b o c en el chat · Escucha a Jay (sin texto) y elige</a:t>
            </a:r>
            <a:endParaRPr lang="en-US" sz="1800" dirty="0"/>
          </a:p>
        </p:txBody>
      </p:sp>
      <p:sp>
        <p:nvSpPr>
          <p:cNvPr id="4" name="num_0"/>
          <p:cNvSpPr/>
          <p:nvPr/>
        </p:nvSpPr>
        <p:spPr>
          <a:xfrm>
            <a:off x="548640" y="217170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7170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868680"/>
          </a:xfrm>
          <a:prstGeom prst="rect">
            <a:avLst/>
          </a:prstGeom>
          <a:noFill/>
          <a:ln/>
        </p:spPr>
        <p:txBody>
          <a:bodyPr wrap="square" lIns="0" tIns="0" rIns="0" bIns="0" rtlCol="0" anchor="ctr">
            <a:normAutofit/>
          </a:bodyPr>
          <a:lstStyle/>
          <a:p>
            <a:pPr marL="0" indent="0" eaLnBrk="1">
              <a:buNone/>
            </a:pPr>
            <a:r>
              <a:rPr lang="en-US" sz="2300" dirty="0">
                <a:solidFill>
                  <a:srgbClr val="14142B"/>
                </a:solidFill>
              </a:rPr>
              <a:t>¿Qué compra Jay? a) flores · b) pan y leche · c) ropa</a:t>
            </a:r>
            <a:endParaRPr lang="en-US" sz="2300" dirty="0"/>
          </a:p>
        </p:txBody>
      </p:sp>
      <p:sp>
        <p:nvSpPr>
          <p:cNvPr id="7" name="rev_32_caja"/>
          <p:cNvSpPr/>
          <p:nvPr/>
        </p:nvSpPr>
        <p:spPr>
          <a:xfrm>
            <a:off x="7498080" y="2002536"/>
            <a:ext cx="4142232" cy="795528"/>
          </a:xfrm>
          <a:prstGeom prst="roundRect">
            <a:avLst>
              <a:gd name="adj" fmla="val 13793"/>
            </a:avLst>
          </a:prstGeom>
          <a:solidFill>
            <a:srgbClr val="4236F6"/>
          </a:solidFill>
          <a:ln w="12700">
            <a:solidFill>
              <a:srgbClr val="4236F6"/>
            </a:solidFill>
            <a:prstDash val="solid"/>
          </a:ln>
        </p:spPr>
      </p:sp>
      <p:sp>
        <p:nvSpPr>
          <p:cNvPr id="8" name="rev_32_txt"/>
          <p:cNvSpPr txBox="1"/>
          <p:nvPr/>
        </p:nvSpPr>
        <p:spPr>
          <a:xfrm>
            <a:off x="7589520" y="2002536"/>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b) 빵하고 우유</a:t>
            </a:r>
            <a:endParaRPr lang="en-US" sz="2200" dirty="0"/>
          </a:p>
        </p:txBody>
      </p:sp>
      <p:sp>
        <p:nvSpPr>
          <p:cNvPr id="9" name="num_1"/>
          <p:cNvSpPr/>
          <p:nvPr/>
        </p:nvSpPr>
        <p:spPr>
          <a:xfrm>
            <a:off x="548640" y="316839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16839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962656"/>
            <a:ext cx="6080760" cy="868680"/>
          </a:xfrm>
          <a:prstGeom prst="rect">
            <a:avLst/>
          </a:prstGeom>
          <a:noFill/>
          <a:ln/>
        </p:spPr>
        <p:txBody>
          <a:bodyPr wrap="square" lIns="0" tIns="0" rIns="0" bIns="0" rtlCol="0" anchor="ctr">
            <a:normAutofit/>
          </a:bodyPr>
          <a:lstStyle/>
          <a:p>
            <a:pPr marL="0" indent="0" eaLnBrk="1">
              <a:buNone/>
            </a:pPr>
            <a:r>
              <a:rPr lang="ko-KR" altLang="en-US" sz="2100" dirty="0">
                <a:solidFill>
                  <a:srgbClr val="14142B"/>
                </a:solidFill>
                <a:latin typeface="Malgun Gothic" pitchFamily="34" charset="0"/>
                <a:ea typeface="Malgun Gothic" pitchFamily="34" charset="-122"/>
                <a:cs typeface="Malgun Gothic" pitchFamily="34" charset="-120"/>
              </a:rPr>
              <a:t>¿Adónde va 하나 </a:t>
            </a:r>
            <a:r>
              <a:rPr lang="en-US" sz="2100" dirty="0">
                <a:solidFill>
                  <a:srgbClr val="14142B"/>
                </a:solidFill>
              </a:rPr>
              <a:t>en la mañana? a) al súper · b) al café · c) a la piscina</a:t>
            </a:r>
            <a:endParaRPr lang="en-US" sz="2100" dirty="0"/>
          </a:p>
        </p:txBody>
      </p:sp>
      <p:sp>
        <p:nvSpPr>
          <p:cNvPr id="12" name="rev_33_caja"/>
          <p:cNvSpPr/>
          <p:nvPr/>
        </p:nvSpPr>
        <p:spPr>
          <a:xfrm>
            <a:off x="7498080" y="2999232"/>
            <a:ext cx="4142232" cy="795528"/>
          </a:xfrm>
          <a:prstGeom prst="roundRect">
            <a:avLst>
              <a:gd name="adj" fmla="val 13793"/>
            </a:avLst>
          </a:prstGeom>
          <a:solidFill>
            <a:srgbClr val="4236F6"/>
          </a:solidFill>
          <a:ln w="12700">
            <a:solidFill>
              <a:srgbClr val="4236F6"/>
            </a:solidFill>
            <a:prstDash val="solid"/>
          </a:ln>
        </p:spPr>
      </p:sp>
      <p:sp>
        <p:nvSpPr>
          <p:cNvPr id="13" name="rev_33_txt"/>
          <p:cNvSpPr txBox="1"/>
          <p:nvPr/>
        </p:nvSpPr>
        <p:spPr>
          <a:xfrm>
            <a:off x="7589520" y="2999232"/>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c) 수영장</a:t>
            </a:r>
            <a:endParaRPr lang="en-US" sz="2200" dirty="0"/>
          </a:p>
        </p:txBody>
      </p:sp>
      <p:sp>
        <p:nvSpPr>
          <p:cNvPr id="14" name="num_2"/>
          <p:cNvSpPr/>
          <p:nvPr/>
        </p:nvSpPr>
        <p:spPr>
          <a:xfrm>
            <a:off x="548640" y="41650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1650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959352"/>
            <a:ext cx="6080760" cy="868680"/>
          </a:xfrm>
          <a:prstGeom prst="rect">
            <a:avLst/>
          </a:prstGeom>
          <a:noFill/>
          <a:ln/>
        </p:spPr>
        <p:txBody>
          <a:bodyPr wrap="square" lIns="0" tIns="0" rIns="0" bIns="0" rtlCol="0" anchor="ctr">
            <a:normAutofit/>
          </a:bodyPr>
          <a:lstStyle/>
          <a:p>
            <a:pPr marL="0" indent="0" eaLnBrk="1">
              <a:buNone/>
            </a:pPr>
            <a:r>
              <a:rPr lang="en-US" sz="2200" dirty="0">
                <a:solidFill>
                  <a:srgbClr val="14142B"/>
                </a:solidFill>
              </a:rPr>
              <a:t>¿Qué compra Mateo? a) pantalones · b) falda · c) zapatos</a:t>
            </a:r>
            <a:endParaRPr lang="en-US" sz="2200" dirty="0"/>
          </a:p>
        </p:txBody>
      </p:sp>
      <p:sp>
        <p:nvSpPr>
          <p:cNvPr id="17" name="rev_34_caja"/>
          <p:cNvSpPr/>
          <p:nvPr/>
        </p:nvSpPr>
        <p:spPr>
          <a:xfrm>
            <a:off x="7498080" y="3995928"/>
            <a:ext cx="4142232" cy="795528"/>
          </a:xfrm>
          <a:prstGeom prst="roundRect">
            <a:avLst>
              <a:gd name="adj" fmla="val 13793"/>
            </a:avLst>
          </a:prstGeom>
          <a:solidFill>
            <a:srgbClr val="4236F6"/>
          </a:solidFill>
          <a:ln w="12700">
            <a:solidFill>
              <a:srgbClr val="4236F6"/>
            </a:solidFill>
            <a:prstDash val="solid"/>
          </a:ln>
        </p:spPr>
      </p:sp>
      <p:sp>
        <p:nvSpPr>
          <p:cNvPr id="18" name="rev_34_txt"/>
          <p:cNvSpPr txBox="1"/>
          <p:nvPr/>
        </p:nvSpPr>
        <p:spPr>
          <a:xfrm>
            <a:off x="7589520" y="3995928"/>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a) 바지</a:t>
            </a:r>
            <a:endParaRPr lang="en-US" sz="2200" dirty="0"/>
          </a:p>
        </p:txBody>
      </p:sp>
      <p:sp>
        <p:nvSpPr>
          <p:cNvPr id="19" name="num_3"/>
          <p:cNvSpPr/>
          <p:nvPr/>
        </p:nvSpPr>
        <p:spPr>
          <a:xfrm>
            <a:off x="548640" y="516178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516178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956048"/>
            <a:ext cx="6080760" cy="868680"/>
          </a:xfrm>
          <a:prstGeom prst="rect">
            <a:avLst/>
          </a:prstGeom>
          <a:noFill/>
          <a:ln/>
        </p:spPr>
        <p:txBody>
          <a:bodyPr wrap="square" lIns="0" tIns="0" rIns="0" bIns="0" rtlCol="0" anchor="ctr">
            <a:normAutofit/>
          </a:bodyPr>
          <a:lstStyle/>
          <a:p>
            <a:pPr marL="0" indent="0" eaLnBrk="1">
              <a:buNone/>
            </a:pPr>
            <a:r>
              <a:rPr lang="ko-KR" altLang="en-US" sz="2200" dirty="0">
                <a:solidFill>
                  <a:srgbClr val="14142B"/>
                </a:solidFill>
                <a:latin typeface="Malgun Gothic" pitchFamily="34" charset="0"/>
                <a:ea typeface="Malgun Gothic" pitchFamily="34" charset="-122"/>
                <a:cs typeface="Malgun Gothic" pitchFamily="34" charset="-120"/>
              </a:rPr>
              <a:t>¿Qué hace 도윤 </a:t>
            </a:r>
            <a:r>
              <a:rPr lang="en-US" sz="2200" dirty="0">
                <a:solidFill>
                  <a:srgbClr val="14142B"/>
                </a:solidFill>
              </a:rPr>
              <a:t>hoy en casa? a) trabaja · b) hace kimbap · c) duerme</a:t>
            </a:r>
            <a:endParaRPr lang="en-US" sz="2200" dirty="0"/>
          </a:p>
        </p:txBody>
      </p:sp>
      <p:sp>
        <p:nvSpPr>
          <p:cNvPr id="22" name="rev_35_caja"/>
          <p:cNvSpPr/>
          <p:nvPr/>
        </p:nvSpPr>
        <p:spPr>
          <a:xfrm>
            <a:off x="7498080" y="4992624"/>
            <a:ext cx="4142232" cy="795528"/>
          </a:xfrm>
          <a:prstGeom prst="roundRect">
            <a:avLst>
              <a:gd name="adj" fmla="val 13793"/>
            </a:avLst>
          </a:prstGeom>
          <a:solidFill>
            <a:srgbClr val="4236F6"/>
          </a:solidFill>
          <a:ln w="12700">
            <a:solidFill>
              <a:srgbClr val="4236F6"/>
            </a:solidFill>
            <a:prstDash val="solid"/>
          </a:ln>
        </p:spPr>
      </p:sp>
      <p:sp>
        <p:nvSpPr>
          <p:cNvPr id="23" name="rev_35_txt"/>
          <p:cNvSpPr txBox="1"/>
          <p:nvPr/>
        </p:nvSpPr>
        <p:spPr>
          <a:xfrm>
            <a:off x="7589520" y="4992624"/>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b) 김밥을 만들어요</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이어 말하기  </a:t>
            </a:r>
            <a:r>
              <a:rPr lang="en-US" sz="3000" b="1" dirty="0">
                <a:solidFill>
                  <a:srgbClr val="003478"/>
                </a:solidFill>
              </a:rPr>
              <a:t>Drill en cadena</a:t>
            </a:r>
            <a:r>
              <a:rPr lang="en-US" sz="1500" b="1" i="1" dirty="0">
                <a:solidFill>
                  <a:srgbClr val="8A8DA0"/>
                </a:solidFill>
              </a:rPr>
              <a:t>   Chain drill</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Jay dice la acción → tú dices dónde → le preguntas al siguiente · Cualquier lugar lógico vale; el modelo sale con clic</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커피를 마셔요</a:t>
            </a:r>
            <a:endParaRPr lang="en-US" sz="2400" dirty="0"/>
          </a:p>
        </p:txBody>
      </p:sp>
      <p:sp>
        <p:nvSpPr>
          <p:cNvPr id="7" name="rev_36_caja"/>
          <p:cNvSpPr/>
          <p:nvPr/>
        </p:nvSpPr>
        <p:spPr>
          <a:xfrm>
            <a:off x="7498080" y="2002536"/>
            <a:ext cx="4142232" cy="521208"/>
          </a:xfrm>
          <a:prstGeom prst="roundRect">
            <a:avLst>
              <a:gd name="adj" fmla="val 21053"/>
            </a:avLst>
          </a:prstGeom>
          <a:solidFill>
            <a:srgbClr val="4236F6"/>
          </a:solidFill>
          <a:ln w="12700">
            <a:solidFill>
              <a:srgbClr val="4236F6"/>
            </a:solidFill>
            <a:prstDash val="solid"/>
          </a:ln>
        </p:spPr>
      </p:sp>
      <p:sp>
        <p:nvSpPr>
          <p:cNvPr id="8" name="rev_36_txt"/>
          <p:cNvSpPr txBox="1"/>
          <p:nvPr/>
        </p:nvSpPr>
        <p:spPr>
          <a:xfrm>
            <a:off x="7589520" y="200253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카페에서 커피를 마셔요</a:t>
            </a:r>
            <a:r>
              <a:rPr lang="en-US" sz="2200" b="1" dirty="0">
                <a:solidFill>
                  <a:srgbClr val="FFFFFF"/>
                </a:solidFill>
              </a:rPr>
              <a:t>.</a:t>
            </a:r>
            <a:endParaRPr lang="en-US" sz="22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688336"/>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꽃을 사요</a:t>
            </a:r>
            <a:endParaRPr lang="en-US" sz="2400" dirty="0"/>
          </a:p>
        </p:txBody>
      </p:sp>
      <p:sp>
        <p:nvSpPr>
          <p:cNvPr id="12" name="rev_37_caja"/>
          <p:cNvSpPr/>
          <p:nvPr/>
        </p:nvSpPr>
        <p:spPr>
          <a:xfrm>
            <a:off x="7498080" y="2724912"/>
            <a:ext cx="4142232" cy="521208"/>
          </a:xfrm>
          <a:prstGeom prst="roundRect">
            <a:avLst>
              <a:gd name="adj" fmla="val 21053"/>
            </a:avLst>
          </a:prstGeom>
          <a:solidFill>
            <a:srgbClr val="4236F6"/>
          </a:solidFill>
          <a:ln w="12700">
            <a:solidFill>
              <a:srgbClr val="4236F6"/>
            </a:solidFill>
            <a:prstDash val="solid"/>
          </a:ln>
        </p:spPr>
      </p:sp>
      <p:sp>
        <p:nvSpPr>
          <p:cNvPr id="13" name="rev_37_txt"/>
          <p:cNvSpPr txBox="1"/>
          <p:nvPr/>
        </p:nvSpPr>
        <p:spPr>
          <a:xfrm>
            <a:off x="7589520" y="2724912"/>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꽃집에서 꽃을 사요</a:t>
            </a:r>
            <a:r>
              <a:rPr lang="en-US" sz="2200" b="1" dirty="0">
                <a:solidFill>
                  <a:srgbClr val="FFFFFF"/>
                </a:solidFill>
              </a:rPr>
              <a:t>.</a:t>
            </a:r>
            <a:endParaRPr lang="en-US" sz="22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410712"/>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자요</a:t>
            </a:r>
            <a:endParaRPr lang="en-US" sz="2400" dirty="0"/>
          </a:p>
        </p:txBody>
      </p:sp>
      <p:sp>
        <p:nvSpPr>
          <p:cNvPr id="17" name="rev_38_caja"/>
          <p:cNvSpPr/>
          <p:nvPr/>
        </p:nvSpPr>
        <p:spPr>
          <a:xfrm>
            <a:off x="7498080" y="3447288"/>
            <a:ext cx="4142232" cy="521208"/>
          </a:xfrm>
          <a:prstGeom prst="roundRect">
            <a:avLst>
              <a:gd name="adj" fmla="val 21053"/>
            </a:avLst>
          </a:prstGeom>
          <a:solidFill>
            <a:srgbClr val="4236F6"/>
          </a:solidFill>
          <a:ln w="12700">
            <a:solidFill>
              <a:srgbClr val="4236F6"/>
            </a:solidFill>
            <a:prstDash val="solid"/>
          </a:ln>
        </p:spPr>
      </p:sp>
      <p:sp>
        <p:nvSpPr>
          <p:cNvPr id="18" name="rev_38_txt"/>
          <p:cNvSpPr txBox="1"/>
          <p:nvPr/>
        </p:nvSpPr>
        <p:spPr>
          <a:xfrm>
            <a:off x="7589520" y="3447288"/>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방에서 자요</a:t>
            </a:r>
            <a:r>
              <a:rPr lang="en-US" sz="2200" b="1" dirty="0">
                <a:solidFill>
                  <a:srgbClr val="FFFFFF"/>
                </a:solidFill>
              </a:rPr>
              <a:t>.</a:t>
            </a:r>
            <a:endParaRPr lang="en-US" sz="2200" dirty="0"/>
          </a:p>
        </p:txBody>
      </p:sp>
      <p:sp>
        <p:nvSpPr>
          <p:cNvPr id="19"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133088"/>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김밥을 만들어요</a:t>
            </a:r>
            <a:endParaRPr lang="en-US" sz="2400" dirty="0"/>
          </a:p>
        </p:txBody>
      </p:sp>
      <p:sp>
        <p:nvSpPr>
          <p:cNvPr id="22" name="rev_39_caja"/>
          <p:cNvSpPr/>
          <p:nvPr/>
        </p:nvSpPr>
        <p:spPr>
          <a:xfrm>
            <a:off x="7498080" y="4169664"/>
            <a:ext cx="4142232" cy="521208"/>
          </a:xfrm>
          <a:prstGeom prst="roundRect">
            <a:avLst>
              <a:gd name="adj" fmla="val 21053"/>
            </a:avLst>
          </a:prstGeom>
          <a:solidFill>
            <a:srgbClr val="4236F6"/>
          </a:solidFill>
          <a:ln w="12700">
            <a:solidFill>
              <a:srgbClr val="4236F6"/>
            </a:solidFill>
            <a:prstDash val="solid"/>
          </a:ln>
        </p:spPr>
      </p:sp>
      <p:sp>
        <p:nvSpPr>
          <p:cNvPr id="23" name="rev_39_txt"/>
          <p:cNvSpPr txBox="1"/>
          <p:nvPr/>
        </p:nvSpPr>
        <p:spPr>
          <a:xfrm>
            <a:off x="7589520" y="4169664"/>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집에서 김밥을 만들어요</a:t>
            </a:r>
            <a:r>
              <a:rPr lang="en-US" sz="2200" b="1" dirty="0">
                <a:solidFill>
                  <a:srgbClr val="FFFFFF"/>
                </a:solidFill>
              </a:rPr>
              <a:t>.</a:t>
            </a:r>
            <a:endParaRPr lang="en-US" sz="2200" dirty="0"/>
          </a:p>
        </p:txBody>
      </p:sp>
      <p:sp>
        <p:nvSpPr>
          <p:cNvPr id="24"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4855464"/>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사진을 찍어요</a:t>
            </a:r>
            <a:endParaRPr lang="en-US" sz="2400" dirty="0"/>
          </a:p>
        </p:txBody>
      </p:sp>
      <p:sp>
        <p:nvSpPr>
          <p:cNvPr id="27" name="rev_40_caja"/>
          <p:cNvSpPr/>
          <p:nvPr/>
        </p:nvSpPr>
        <p:spPr>
          <a:xfrm>
            <a:off x="7498080" y="4892040"/>
            <a:ext cx="4142232" cy="521208"/>
          </a:xfrm>
          <a:prstGeom prst="roundRect">
            <a:avLst>
              <a:gd name="adj" fmla="val 21053"/>
            </a:avLst>
          </a:prstGeom>
          <a:solidFill>
            <a:srgbClr val="4236F6"/>
          </a:solidFill>
          <a:ln w="12700">
            <a:solidFill>
              <a:srgbClr val="4236F6"/>
            </a:solidFill>
            <a:prstDash val="solid"/>
          </a:ln>
        </p:spPr>
      </p:sp>
      <p:sp>
        <p:nvSpPr>
          <p:cNvPr id="28" name="rev_40_txt"/>
          <p:cNvSpPr txBox="1"/>
          <p:nvPr/>
        </p:nvSpPr>
        <p:spPr>
          <a:xfrm>
            <a:off x="7589520" y="4892040"/>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동물원에서 사진을 찍어요</a:t>
            </a:r>
            <a:r>
              <a:rPr lang="en-US" sz="2200" b="1" dirty="0">
                <a:solidFill>
                  <a:srgbClr val="FFFFFF"/>
                </a:solidFill>
              </a:rPr>
              <a:t>.</a:t>
            </a:r>
            <a:endParaRPr lang="en-US" sz="2200" dirty="0"/>
          </a:p>
        </p:txBody>
      </p:sp>
      <p:sp>
        <p:nvSpPr>
          <p:cNvPr id="29"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0"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1" name="Text 29"/>
          <p:cNvSpPr txBox="1"/>
          <p:nvPr/>
        </p:nvSpPr>
        <p:spPr>
          <a:xfrm>
            <a:off x="1188720" y="557784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옷을 사요</a:t>
            </a:r>
            <a:endParaRPr lang="en-US" sz="2400" dirty="0"/>
          </a:p>
        </p:txBody>
      </p:sp>
      <p:sp>
        <p:nvSpPr>
          <p:cNvPr id="32" name="rev_41_caja"/>
          <p:cNvSpPr/>
          <p:nvPr/>
        </p:nvSpPr>
        <p:spPr>
          <a:xfrm>
            <a:off x="7498080" y="5614416"/>
            <a:ext cx="4142232" cy="521208"/>
          </a:xfrm>
          <a:prstGeom prst="roundRect">
            <a:avLst>
              <a:gd name="adj" fmla="val 21053"/>
            </a:avLst>
          </a:prstGeom>
          <a:solidFill>
            <a:srgbClr val="4236F6"/>
          </a:solidFill>
          <a:ln w="12700">
            <a:solidFill>
              <a:srgbClr val="4236F6"/>
            </a:solidFill>
            <a:prstDash val="solid"/>
          </a:ln>
        </p:spPr>
      </p:sp>
      <p:sp>
        <p:nvSpPr>
          <p:cNvPr id="33" name="rev_41_txt"/>
          <p:cNvSpPr txBox="1"/>
          <p:nvPr/>
        </p:nvSpPr>
        <p:spPr>
          <a:xfrm>
            <a:off x="7589520" y="561441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옷 가게에서 옷을 사요</a:t>
            </a:r>
            <a:r>
              <a:rPr lang="en-US" sz="2200" b="1" dirty="0">
                <a:solidFill>
                  <a:srgbClr val="FFFFFF"/>
                </a:solidFill>
              </a:rPr>
              <a:t>.</a:t>
            </a:r>
            <a:endParaRPr lang="en-US" sz="22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이야기해요 </a:t>
            </a:r>
            <a:r>
              <a:rPr lang="en-US" sz="2600" b="1" dirty="0">
                <a:solidFill>
                  <a:srgbClr val="4236F6"/>
                </a:solidFill>
              </a:rPr>
              <a:t>· </a:t>
            </a:r>
            <a:r>
              <a:rPr lang="ko-KR" altLang="en-US" sz="2600" b="1" dirty="0">
                <a:solidFill>
                  <a:srgbClr val="4236F6"/>
                </a:solidFill>
                <a:latin typeface="Malgun Gothic" pitchFamily="34" charset="0"/>
                <a:ea typeface="Malgun Gothic" pitchFamily="34" charset="-122"/>
                <a:cs typeface="Malgun Gothic" pitchFamily="34" charset="-120"/>
              </a:rPr>
              <a:t>같이 해요  </a:t>
            </a:r>
            <a:r>
              <a:rPr lang="en-US" sz="2600" b="1" dirty="0">
                <a:solidFill>
                  <a:srgbClr val="003478"/>
                </a:solidFill>
              </a:rPr>
              <a:t>Salas de Zoom · 20 minutos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En parejas (o tríos) · todo está en la hoja de la clase 6, parte 4</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1) 이야기해요 </a:t>
            </a:r>
            <a:r>
              <a:rPr lang="en-US" sz="2400" dirty="0">
                <a:solidFill>
                  <a:srgbClr val="14142B"/>
                </a:solidFill>
              </a:rPr>
              <a:t>· 6 min: pregúntense</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2) 같이 해요 </a:t>
            </a:r>
            <a:r>
              <a:rPr lang="en-US" sz="2400" dirty="0">
                <a:solidFill>
                  <a:srgbClr val="14142B"/>
                </a:solidFill>
              </a:rPr>
              <a:t>· 10 min: mímica «</a:t>
            </a:r>
            <a:r>
              <a:rPr lang="ko-KR" altLang="en-US" sz="2400" dirty="0">
                <a:solidFill>
                  <a:srgbClr val="14142B"/>
                </a:solidFill>
                <a:latin typeface="Malgun Gothic" pitchFamily="34" charset="0"/>
                <a:ea typeface="Malgun Gothic" pitchFamily="34" charset="-122"/>
                <a:cs typeface="Malgun Gothic" pitchFamily="34" charset="-120"/>
              </a:rPr>
              <a:t>어디에서 뭘 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3) Minuto libre · 3 min: 내일 뭐 해요</a:t>
            </a:r>
            <a:r>
              <a:rPr lang="en-US" sz="2400" dirty="0">
                <a:solidFill>
                  <a:srgbClr val="14142B"/>
                </a:solidFill>
              </a:rPr>
              <a:t>?</a:t>
            </a:r>
            <a:endParaRPr lang="en-US" sz="2400" dirty="0"/>
          </a:p>
          <a:p>
            <a:pPr marL="228600" indent="-228600" eaLnBrk="1">
              <a:spcAft>
                <a:spcPts val="800"/>
              </a:spcAft>
              <a:buSzPct val="100000"/>
              <a:buChar char="•"/>
            </a:pPr>
            <a:r>
              <a:rPr lang="en-US" sz="2400" dirty="0">
                <a:solidFill>
                  <a:srgbClr val="14142B"/>
                </a:solidFill>
              </a:rPr>
              <a:t>Jay pasa por cada sala</a:t>
            </a:r>
            <a:endParaRPr lang="en-US" sz="2400" dirty="0"/>
          </a:p>
          <a:p>
            <a:pPr marL="228600" indent="-228600" eaLnBrk="1">
              <a:spcAft>
                <a:spcPts val="800"/>
              </a:spcAft>
              <a:buSzPct val="100000"/>
              <a:buChar char="•"/>
            </a:pPr>
            <a:r>
              <a:rPr lang="en-US" sz="2400" dirty="0">
                <a:solidFill>
                  <a:srgbClr val="14142B"/>
                </a:solidFill>
              </a:rPr>
              <a:t>Volvemos a las 21:55</a:t>
            </a:r>
            <a:endParaRPr lang="en-US" sz="24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이야기해요</a:t>
            </a:r>
            <a:endParaRPr lang="en-US" sz="4500" dirty="0"/>
          </a:p>
          <a:p>
            <a:pPr marL="0" indent="0" algn="ctr" eaLnBrk="1">
              <a:buNone/>
            </a:pPr>
            <a:r>
              <a:rPr lang="ko-KR" altLang="en-US" sz="4500" b="1" dirty="0">
                <a:solidFill>
                  <a:srgbClr val="4236F6"/>
                </a:solidFill>
                <a:latin typeface="Malgun Gothic" pitchFamily="34" charset="0"/>
                <a:ea typeface="Malgun Gothic" pitchFamily="34" charset="-122"/>
                <a:cs typeface="Malgun Gothic" pitchFamily="34" charset="-120"/>
              </a:rPr>
              <a:t>· 같이 해요</a:t>
            </a:r>
            <a:endParaRPr lang="en-US" sz="4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이야기해요  </a:t>
            </a:r>
            <a:r>
              <a:rPr lang="en-US" sz="3000" b="1" dirty="0">
                <a:solidFill>
                  <a:srgbClr val="003478"/>
                </a:solidFill>
              </a:rPr>
              <a:t>Pregúntense</a:t>
            </a:r>
            <a:r>
              <a:rPr lang="en-US" sz="1500" b="1" i="1" dirty="0">
                <a:solidFill>
                  <a:srgbClr val="8A8DA0"/>
                </a:solidFill>
              </a:rPr>
              <a:t>   Ask each other</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A pregunta, B responde con la frase completa · luego cambian</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어디에서 커피를 마셔요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어디에서 빵을 사요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어디에서 한국어를 공부해요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내일 어디에 가요</a:t>
            </a:r>
            <a:r>
              <a:rPr lang="en-US" sz="2400" dirty="0">
                <a:solidFill>
                  <a:srgbClr val="14142B"/>
                </a:solidFill>
              </a:rPr>
              <a:t>? — ___</a:t>
            </a:r>
            <a:r>
              <a:rPr lang="ko-KR" altLang="en-US" sz="2400" dirty="0">
                <a:solidFill>
                  <a:srgbClr val="14142B"/>
                </a:solidFill>
                <a:latin typeface="Malgun Gothic" pitchFamily="34" charset="0"/>
                <a:ea typeface="Malgun Gothic" pitchFamily="34" charset="-122"/>
                <a:cs typeface="Malgun Gothic" pitchFamily="34" charset="-120"/>
              </a:rPr>
              <a:t>에 가요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거기에서 뭘 해요</a:t>
            </a:r>
            <a:r>
              <a:rPr lang="en-US" sz="2400" dirty="0">
                <a:solidFill>
                  <a:srgbClr val="14142B"/>
                </a:solidFill>
              </a:rPr>
              <a:t>? — (___</a:t>
            </a:r>
            <a:r>
              <a:rPr lang="ko-KR" altLang="en-US" sz="2400" dirty="0">
                <a:solidFill>
                  <a:srgbClr val="14142B"/>
                </a:solidFill>
                <a:latin typeface="Malgun Gothic" pitchFamily="34" charset="0"/>
                <a:ea typeface="Malgun Gothic" pitchFamily="34" charset="-122"/>
                <a:cs typeface="Malgun Gothic" pitchFamily="34" charset="-120"/>
              </a:rPr>
              <a:t>을</a:t>
            </a:r>
            <a:r>
              <a:rPr lang="en-US" sz="2400" dirty="0">
                <a:solidFill>
                  <a:srgbClr val="14142B"/>
                </a:solidFill>
              </a:rPr>
              <a:t>/</a:t>
            </a:r>
            <a:r>
              <a:rPr lang="ko-KR" altLang="en-US" sz="2400" dirty="0">
                <a:solidFill>
                  <a:srgbClr val="14142B"/>
                </a:solidFill>
                <a:latin typeface="Malgun Gothic" pitchFamily="34" charset="0"/>
                <a:ea typeface="Malgun Gothic" pitchFamily="34" charset="-122"/>
                <a:cs typeface="Malgun Gothic" pitchFamily="34" charset="-120"/>
              </a:rPr>
              <a:t>를</a:t>
            </a:r>
            <a:r>
              <a:rPr lang="en-US" sz="2400" dirty="0">
                <a:solidFill>
                  <a:srgbClr val="14142B"/>
                </a:solidFill>
              </a:rPr>
              <a:t>) ___.</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Respuesta completa: 저는 </a:t>
            </a:r>
            <a:r>
              <a:rPr lang="en-US" sz="2400" dirty="0">
                <a:solidFill>
                  <a:srgbClr val="14142B"/>
                </a:solidFill>
              </a:rPr>
              <a:t>___</a:t>
            </a:r>
            <a:r>
              <a:rPr lang="ko-KR" altLang="en-US" sz="2400" dirty="0">
                <a:solidFill>
                  <a:srgbClr val="14142B"/>
                </a:solidFill>
                <a:latin typeface="Malgun Gothic" pitchFamily="34" charset="0"/>
                <a:ea typeface="Malgun Gothic" pitchFamily="34" charset="-122"/>
                <a:cs typeface="Malgun Gothic" pitchFamily="34" charset="-120"/>
              </a:rPr>
              <a:t>에서 </a:t>
            </a:r>
            <a:r>
              <a:rPr lang="en-US" sz="2400" dirty="0">
                <a:solidFill>
                  <a:srgbClr val="14142B"/>
                </a:solidFill>
              </a:rPr>
              <a:t>___.</a:t>
            </a:r>
            <a:endParaRPr lang="en-US" sz="24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4600" b="1" dirty="0">
                <a:solidFill>
                  <a:srgbClr val="4236F6"/>
                </a:solidFill>
                <a:latin typeface="Malgun Gothic" pitchFamily="34" charset="0"/>
                <a:ea typeface="Malgun Gothic" pitchFamily="34" charset="-122"/>
                <a:cs typeface="Malgun Gothic" pitchFamily="34" charset="-120"/>
              </a:rPr>
              <a:t>이야기해요</a:t>
            </a:r>
            <a:endParaRPr lang="en-US" sz="46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601200" y="4983480"/>
            <a:ext cx="384048" cy="384048"/>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같이 해요  </a:t>
            </a:r>
            <a:r>
              <a:rPr lang="en-US" sz="3000" b="1" dirty="0">
                <a:solidFill>
                  <a:srgbClr val="003478"/>
                </a:solidFill>
              </a:rPr>
              <a:t>Mímica: ¿dónde y qué?</a:t>
            </a:r>
            <a:r>
              <a:rPr lang="en-US" sz="1500" b="1" i="1" dirty="0">
                <a:solidFill>
                  <a:srgbClr val="8A8DA0"/>
                </a:solidFill>
              </a:rPr>
              <a:t>   Charades: where and what?</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Cámara encendida · tarjetas en la hoja, parte 4</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A elige una tarjeta (A: 1–6) y la actúa, sin hablar</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B adivina con la frase completa: 카페에서 커피를 마셔요</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A responde: 네</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맞아요</a:t>
            </a:r>
            <a:r>
              <a:rPr lang="en-US" sz="2000" dirty="0">
                <a:solidFill>
                  <a:srgbClr val="14142B"/>
                </a:solidFill>
              </a:rPr>
              <a:t>! · o · </a:t>
            </a:r>
            <a:r>
              <a:rPr lang="ko-KR" altLang="en-US" sz="2000" dirty="0">
                <a:solidFill>
                  <a:srgbClr val="14142B"/>
                </a:solidFill>
                <a:latin typeface="Malgun Gothic" pitchFamily="34" charset="0"/>
                <a:ea typeface="Malgun Gothic" pitchFamily="34" charset="-122"/>
                <a:cs typeface="Malgun Gothic" pitchFamily="34" charset="-120"/>
              </a:rPr>
              <a:t>아니요</a:t>
            </a:r>
            <a:r>
              <a:rPr lang="en-US" sz="2000" dirty="0">
                <a:solidFill>
                  <a:srgbClr val="14142B"/>
                </a:solidFill>
              </a:rPr>
              <a:t>, ___</a:t>
            </a:r>
            <a:r>
              <a:rPr lang="ko-KR" altLang="en-US" sz="2000" dirty="0">
                <a:solidFill>
                  <a:srgbClr val="14142B"/>
                </a:solidFill>
                <a:latin typeface="Malgun Gothic" pitchFamily="34" charset="0"/>
                <a:ea typeface="Malgun Gothic" pitchFamily="34" charset="-122"/>
                <a:cs typeface="Malgun Gothic" pitchFamily="34" charset="-120"/>
              </a:rPr>
              <a:t>에서 </a:t>
            </a:r>
            <a:r>
              <a:rPr lang="en-US" sz="2000" dirty="0">
                <a:solidFill>
                  <a:srgbClr val="14142B"/>
                </a:solidFill>
              </a:rPr>
              <a:t>___!</a:t>
            </a:r>
            <a:endParaRPr lang="en-US" sz="2000" dirty="0"/>
          </a:p>
          <a:p>
            <a:pPr marL="228600" indent="-228600" eaLnBrk="1">
              <a:spcAft>
                <a:spcPts val="800"/>
              </a:spcAft>
              <a:buSzPct val="100000"/>
              <a:buChar char="•"/>
            </a:pPr>
            <a:r>
              <a:rPr lang="en-US" sz="2000" dirty="0">
                <a:solidFill>
                  <a:srgbClr val="14142B"/>
                </a:solidFill>
              </a:rPr>
              <a:t>Frase completa con lugar = 2 puntos · solo la acción = 1 punto</a:t>
            </a:r>
            <a:endParaRPr lang="en-US" sz="2000" dirty="0"/>
          </a:p>
          <a:p>
            <a:pPr marL="228600" indent="-228600" eaLnBrk="1">
              <a:spcAft>
                <a:spcPts val="800"/>
              </a:spcAft>
              <a:buSzPct val="100000"/>
              <a:buChar char="•"/>
            </a:pPr>
            <a:r>
              <a:rPr lang="en-US" sz="2000" dirty="0">
                <a:solidFill>
                  <a:srgbClr val="14142B"/>
                </a:solidFill>
              </a:rPr>
              <a:t>Cambien de rol en cada tarjeta (B: 7–12) · gana quien sume más</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Sin cámara: 2 pistas en coreano (꽃</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사요</a:t>
            </a:r>
            <a:r>
              <a:rPr lang="en-US" sz="2000" dirty="0">
                <a:solidFill>
                  <a:srgbClr val="14142B"/>
                </a:solidFill>
              </a:rPr>
              <a:t>…)</a:t>
            </a:r>
            <a:endParaRPr lang="en-US" sz="20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8600" b="1" dirty="0">
                <a:solidFill>
                  <a:srgbClr val="4236F6"/>
                </a:solidFill>
                <a:latin typeface="Malgun Gothic" pitchFamily="34" charset="0"/>
                <a:ea typeface="Malgun Gothic" pitchFamily="34" charset="-122"/>
                <a:cs typeface="Malgun Gothic" pitchFamily="34" charset="-120"/>
              </a:rPr>
              <a:t>같이</a:t>
            </a:r>
            <a:endParaRPr lang="en-US" sz="8600" dirty="0"/>
          </a:p>
          <a:p>
            <a:pPr marL="0" indent="0" algn="ctr" eaLnBrk="1">
              <a:buNone/>
            </a:pPr>
            <a:r>
              <a:rPr lang="ko-KR" altLang="en-US" sz="8600" b="1" dirty="0">
                <a:solidFill>
                  <a:srgbClr val="4236F6"/>
                </a:solidFill>
                <a:latin typeface="Malgun Gothic" pitchFamily="34" charset="0"/>
                <a:ea typeface="Malgun Gothic" pitchFamily="34" charset="-122"/>
                <a:cs typeface="Malgun Gothic" pitchFamily="34" charset="-120"/>
              </a:rPr>
              <a:t>해요</a:t>
            </a:r>
            <a:endParaRPr lang="en-US" sz="8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카드  </a:t>
            </a:r>
            <a:r>
              <a:rPr lang="en-US" sz="3000" b="1" dirty="0">
                <a:solidFill>
                  <a:srgbClr val="003478"/>
                </a:solidFill>
              </a:rPr>
              <a:t>Tarjetas de mímica</a:t>
            </a:r>
            <a:r>
              <a:rPr lang="en-US" sz="1500" b="1" i="1" dirty="0">
                <a:solidFill>
                  <a:srgbClr val="8A8DA0"/>
                </a:solidFill>
              </a:rPr>
              <a:t>   Charades cards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A actúa 1–6 · B actúa 7–12 (también en la hoja, parte 4)</a:t>
            </a:r>
            <a:endParaRPr lang="en-US" sz="1800" dirty="0"/>
          </a:p>
        </p:txBody>
      </p:sp>
      <p:graphicFrame>
        <p:nvGraphicFramePr>
          <p:cNvPr id="25" name="tabla"/>
          <p:cNvGraphicFramePr>
            <a:graphicFrameLocks noGrp="1"/>
          </p:cNvGraphicFramePr>
          <p:nvPr>
            <p:extLst>
              <p:ext uri="{D42A27DB-BD31-4B8C-83A1-F6EECF244321}">
                <p14:modId xmlns:p14="http://schemas.microsoft.com/office/powerpoint/2010/main" val="3118529046"/>
              </p:ext>
            </p:extLst>
          </p:nvPr>
        </p:nvGraphicFramePr>
        <p:xfrm>
          <a:off x="548640" y="1874520"/>
          <a:ext cx="11091672" cy="91440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566928">
                <a:tc>
                  <a:txBody>
                    <a:bodyPr/>
                    <a:lstStyle/>
                    <a:p>
                      <a:pPr marL="0" indent="0" eaLnBrk="1">
                        <a:buNone/>
                      </a:pPr>
                      <a:r>
                        <a:rPr lang="en-US" sz="1800" b="1" dirty="0">
                          <a:solidFill>
                            <a:srgbClr val="FFFFFF"/>
                          </a:solidFill>
                        </a:rPr>
                        <a: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B</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 · 카페에서 커피를 마셔요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7 · 수영장에서 수영해요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2 · 빵 가게에서 빵을 사요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8 · 꽃집에서 꽃을 사요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3 · 집에서 김밥을 만들어요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9 · 방에서 자요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4 · 공원에서 운동해요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10 · 동물원에서 사진을 찍어요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5 · 회사에서 일해요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11 · 식당에서 밥을 먹어요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6 · 옷 가게에서 옷을 사요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12 · 친구 집에서 장난감 배를 만들어요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내일 뭐 해요</a:t>
            </a:r>
            <a:r>
              <a:rPr lang="en-US" sz="3000" b="1" dirty="0">
                <a:solidFill>
                  <a:srgbClr val="4236F6"/>
                </a:solidFill>
              </a:rPr>
              <a:t>?  </a:t>
            </a:r>
            <a:r>
              <a:rPr lang="en-US" sz="3000" b="1" dirty="0">
                <a:solidFill>
                  <a:srgbClr val="003478"/>
                </a:solidFill>
              </a:rPr>
              <a:t>Minuto libre</a:t>
            </a:r>
            <a:r>
              <a:rPr lang="en-US" sz="1500" b="1" i="1" dirty="0">
                <a:solidFill>
                  <a:srgbClr val="8A8DA0"/>
                </a:solidFill>
              </a:rPr>
              <a:t>   Free minute</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3 minutos sin guion</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내일 뭐 해요</a:t>
            </a:r>
            <a:r>
              <a:rPr lang="en-US" sz="2800" dirty="0">
                <a:solidFill>
                  <a:srgbClr val="14142B"/>
                </a:solidFill>
              </a:rPr>
              <a:t>? — </a:t>
            </a:r>
            <a:r>
              <a:rPr lang="ko-KR" altLang="en-US" sz="2800" dirty="0">
                <a:solidFill>
                  <a:srgbClr val="14142B"/>
                </a:solidFill>
                <a:latin typeface="Malgun Gothic" pitchFamily="34" charset="0"/>
                <a:ea typeface="Malgun Gothic" pitchFamily="34" charset="-122"/>
                <a:cs typeface="Malgun Gothic" pitchFamily="34" charset="-120"/>
              </a:rPr>
              <a:t>아침에 </a:t>
            </a:r>
            <a:r>
              <a:rPr lang="en-US" sz="2800" dirty="0">
                <a:solidFill>
                  <a:srgbClr val="14142B"/>
                </a:solidFill>
              </a:rPr>
              <a:t>___</a:t>
            </a:r>
            <a:r>
              <a:rPr lang="ko-KR" altLang="en-US" sz="2800" dirty="0">
                <a:solidFill>
                  <a:srgbClr val="14142B"/>
                </a:solidFill>
                <a:latin typeface="Malgun Gothic" pitchFamily="34" charset="0"/>
                <a:ea typeface="Malgun Gothic" pitchFamily="34" charset="-122"/>
                <a:cs typeface="Malgun Gothic" pitchFamily="34" charset="-120"/>
              </a:rPr>
              <a:t>에 가요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거기에서 뭘 해요</a:t>
            </a:r>
            <a:r>
              <a:rPr lang="en-US" sz="2800" dirty="0">
                <a:solidFill>
                  <a:srgbClr val="14142B"/>
                </a:solidFill>
              </a:rPr>
              <a:t>? — (___</a:t>
            </a:r>
            <a:r>
              <a:rPr lang="ko-KR" altLang="en-US" sz="2800" dirty="0">
                <a:solidFill>
                  <a:srgbClr val="14142B"/>
                </a:solidFill>
                <a:latin typeface="Malgun Gothic" pitchFamily="34" charset="0"/>
                <a:ea typeface="Malgun Gothic" pitchFamily="34" charset="-122"/>
                <a:cs typeface="Malgun Gothic" pitchFamily="34" charset="-120"/>
              </a:rPr>
              <a:t>을</a:t>
            </a:r>
            <a:r>
              <a:rPr lang="en-US" sz="2800" dirty="0">
                <a:solidFill>
                  <a:srgbClr val="14142B"/>
                </a:solidFill>
              </a:rPr>
              <a:t>/</a:t>
            </a:r>
            <a:r>
              <a:rPr lang="ko-KR" altLang="en-US" sz="2800" dirty="0">
                <a:solidFill>
                  <a:srgbClr val="14142B"/>
                </a:solidFill>
                <a:latin typeface="Malgun Gothic" pitchFamily="34" charset="0"/>
                <a:ea typeface="Malgun Gothic" pitchFamily="34" charset="-122"/>
                <a:cs typeface="Malgun Gothic" pitchFamily="34" charset="-120"/>
              </a:rPr>
              <a:t>를</a:t>
            </a:r>
            <a:r>
              <a:rPr lang="en-US" sz="2800" dirty="0">
                <a:solidFill>
                  <a:srgbClr val="14142B"/>
                </a:solidFill>
              </a:rPr>
              <a:t>) ___.</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누가 가요</a:t>
            </a:r>
            <a:r>
              <a:rPr lang="en-US" sz="2800" dirty="0">
                <a:solidFill>
                  <a:srgbClr val="14142B"/>
                </a:solidFill>
              </a:rPr>
              <a:t>? — </a:t>
            </a:r>
            <a:r>
              <a:rPr lang="ko-KR" altLang="en-US" sz="2800" dirty="0">
                <a:solidFill>
                  <a:srgbClr val="14142B"/>
                </a:solidFill>
                <a:latin typeface="Malgun Gothic" pitchFamily="34" charset="0"/>
                <a:ea typeface="Malgun Gothic" pitchFamily="34" charset="-122"/>
                <a:cs typeface="Malgun Gothic" pitchFamily="34" charset="-120"/>
              </a:rPr>
              <a:t>저하고 </a:t>
            </a:r>
            <a:r>
              <a:rPr lang="en-US" sz="2800" dirty="0">
                <a:solidFill>
                  <a:srgbClr val="14142B"/>
                </a:solidFill>
              </a:rPr>
              <a:t>___</a:t>
            </a:r>
            <a:r>
              <a:rPr lang="ko-KR" altLang="en-US" sz="2800" dirty="0">
                <a:solidFill>
                  <a:srgbClr val="14142B"/>
                </a:solidFill>
                <a:latin typeface="Malgun Gothic" pitchFamily="34" charset="0"/>
                <a:ea typeface="Malgun Gothic" pitchFamily="34" charset="-122"/>
                <a:cs typeface="Malgun Gothic" pitchFamily="34" charset="-120"/>
              </a:rPr>
              <a:t>이</a:t>
            </a:r>
            <a:r>
              <a:rPr lang="en-US" sz="2800" dirty="0">
                <a:solidFill>
                  <a:srgbClr val="14142B"/>
                </a:solidFill>
              </a:rPr>
              <a:t>/</a:t>
            </a:r>
            <a:r>
              <a:rPr lang="ko-KR" altLang="en-US" sz="2800" dirty="0">
                <a:solidFill>
                  <a:srgbClr val="14142B"/>
                </a:solidFill>
                <a:latin typeface="Malgun Gothic" pitchFamily="34" charset="0"/>
                <a:ea typeface="Malgun Gothic" pitchFamily="34" charset="-122"/>
                <a:cs typeface="Malgun Gothic" pitchFamily="34" charset="-120"/>
              </a:rPr>
              <a:t>가 가요</a:t>
            </a:r>
            <a:r>
              <a:rPr lang="en-US" sz="2800" dirty="0">
                <a:solidFill>
                  <a:srgbClr val="14142B"/>
                </a:solidFill>
              </a:rPr>
              <a:t>.</a:t>
            </a:r>
            <a:endParaRPr lang="en-US" sz="2800" dirty="0"/>
          </a:p>
          <a:p>
            <a:pPr marL="228600" indent="-228600" eaLnBrk="1">
              <a:spcAft>
                <a:spcPts val="800"/>
              </a:spcAft>
              <a:buSzPct val="100000"/>
              <a:buChar char="•"/>
            </a:pPr>
            <a:r>
              <a:rPr lang="en-US" sz="2800" dirty="0">
                <a:solidFill>
                  <a:srgbClr val="14142B"/>
                </a:solidFill>
              </a:rPr>
              <a:t>¿No sabes una palabra? Dila en español y sigue en coreano</a:t>
            </a:r>
            <a:endParaRPr lang="en-US" sz="2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000" b="1" dirty="0">
                <a:solidFill>
                  <a:srgbClr val="4236F6"/>
                </a:solidFill>
                <a:latin typeface="Malgun Gothic" pitchFamily="34" charset="0"/>
                <a:ea typeface="Malgun Gothic" pitchFamily="34" charset="-122"/>
                <a:cs typeface="Malgun Gothic" pitchFamily="34" charset="-120"/>
              </a:rPr>
              <a:t>내일 뭐</a:t>
            </a:r>
            <a:endParaRPr lang="en-US" sz="7000" dirty="0"/>
          </a:p>
          <a:p>
            <a:pPr marL="0" indent="0" algn="ctr" eaLnBrk="1">
              <a:buNone/>
            </a:pPr>
            <a:r>
              <a:rPr lang="ko-KR" altLang="en-US" sz="7000" b="1" dirty="0">
                <a:solidFill>
                  <a:srgbClr val="4236F6"/>
                </a:solidFill>
                <a:latin typeface="Malgun Gothic" pitchFamily="34" charset="0"/>
                <a:ea typeface="Malgun Gothic" pitchFamily="34" charset="-122"/>
                <a:cs typeface="Malgun Gothic" pitchFamily="34" charset="-120"/>
              </a:rPr>
              <a:t>해요</a:t>
            </a:r>
            <a:r>
              <a:rPr lang="en-US" sz="7000" b="1" dirty="0">
                <a:solidFill>
                  <a:srgbClr val="4236F6"/>
                </a:solidFill>
              </a:rPr>
              <a:t>?</a:t>
            </a:r>
            <a:endParaRPr lang="en-US" sz="7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이렇게 말해요  </a:t>
            </a:r>
            <a:r>
              <a:rPr lang="en-US" sz="3000" b="1" dirty="0">
                <a:solidFill>
                  <a:srgbClr val="003478"/>
                </a:solidFill>
              </a:rPr>
              <a:t>Errores del día</a:t>
            </a:r>
            <a:r>
              <a:rPr lang="en-US" sz="1500" b="1" i="1" dirty="0">
                <a:solidFill>
                  <a:srgbClr val="8A8DA0"/>
                </a:solidFill>
              </a:rPr>
              <a:t>   Today's mistakes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Lo tachado en gris es el error · Jay suma los que oyó en las salas</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 Así no</a:t>
            </a:r>
            <a:endParaRPr lang="en-US" sz="2000" dirty="0"/>
          </a:p>
        </p:txBody>
      </p:sp>
      <p:sp>
        <p:nvSpPr>
          <p:cNvPr id="6" name="lista"/>
          <p:cNvSpPr txBox="1"/>
          <p:nvPr/>
        </p:nvSpPr>
        <p:spPr>
          <a:xfrm>
            <a:off x="731520" y="2651760"/>
            <a:ext cx="5020056" cy="33832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strike="sngStrike" dirty="0">
                <a:solidFill>
                  <a:srgbClr val="8A8DA0"/>
                </a:solidFill>
                <a:latin typeface="Malgun Gothic" pitchFamily="34" charset="0"/>
                <a:ea typeface="Malgun Gothic" pitchFamily="34" charset="-122"/>
                <a:cs typeface="Malgun Gothic" pitchFamily="34" charset="-120"/>
              </a:rPr>
              <a:t>집에서 있어요</a:t>
            </a:r>
            <a:endParaRPr lang="en-US" sz="2000" dirty="0"/>
          </a:p>
          <a:p>
            <a:pPr marL="228600" indent="-228600" eaLnBrk="1">
              <a:spcAft>
                <a:spcPts val="800"/>
              </a:spcAft>
              <a:buSzPct val="100000"/>
              <a:buChar char="•"/>
            </a:pPr>
            <a:r>
              <a:rPr lang="ko-KR" altLang="en-US" sz="2000" strike="sngStrike" dirty="0">
                <a:solidFill>
                  <a:srgbClr val="8A8DA0"/>
                </a:solidFill>
                <a:latin typeface="Malgun Gothic" pitchFamily="34" charset="0"/>
                <a:ea typeface="Malgun Gothic" pitchFamily="34" charset="-122"/>
                <a:cs typeface="Malgun Gothic" pitchFamily="34" charset="-120"/>
              </a:rPr>
              <a:t>회사에 일해요</a:t>
            </a:r>
            <a:endParaRPr lang="en-US" sz="2000" dirty="0"/>
          </a:p>
          <a:p>
            <a:pPr marL="228600" indent="-228600" eaLnBrk="1">
              <a:spcAft>
                <a:spcPts val="800"/>
              </a:spcAft>
              <a:buSzPct val="100000"/>
              <a:buChar char="•"/>
            </a:pPr>
            <a:r>
              <a:rPr lang="ko-KR" altLang="en-US" sz="2000" strike="sngStrike" dirty="0">
                <a:solidFill>
                  <a:srgbClr val="8A8DA0"/>
                </a:solidFill>
                <a:latin typeface="Malgun Gothic" pitchFamily="34" charset="0"/>
                <a:ea typeface="Malgun Gothic" pitchFamily="34" charset="-122"/>
                <a:cs typeface="Malgun Gothic" pitchFamily="34" charset="-120"/>
              </a:rPr>
              <a:t>집 에서 쉬어요</a:t>
            </a:r>
            <a:endParaRPr lang="en-US" sz="2000" dirty="0"/>
          </a:p>
        </p:txBody>
      </p:sp>
      <p:sp>
        <p:nvSpPr>
          <p:cNvPr id="7"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8" name="Text 6"/>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 Así sí</a:t>
            </a:r>
            <a:endParaRPr lang="en-US" sz="2000" dirty="0"/>
          </a:p>
        </p:txBody>
      </p:sp>
      <p:sp>
        <p:nvSpPr>
          <p:cNvPr id="9" name="lista"/>
          <p:cNvSpPr txBox="1"/>
          <p:nvPr/>
        </p:nvSpPr>
        <p:spPr>
          <a:xfrm>
            <a:off x="6437376" y="2651760"/>
            <a:ext cx="5020056" cy="33832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집에 있어요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회사에서 일해요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집에서 쉬어요</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오늘의 문장  </a:t>
            </a:r>
            <a:r>
              <a:rPr lang="en-US" sz="3000" b="1" dirty="0">
                <a:solidFill>
                  <a:srgbClr val="003478"/>
                </a:solidFill>
              </a:rPr>
              <a:t>3 frases clave</a:t>
            </a:r>
            <a:r>
              <a:rPr lang="en-US" sz="1500" b="1" i="1" dirty="0">
                <a:solidFill>
                  <a:srgbClr val="8A8DA0"/>
                </a:solidFill>
              </a:rPr>
              <a:t>   3 key sentences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En coro, 2 veces · la tercera, sin mirar</a:t>
            </a:r>
            <a:endParaRPr lang="en-US" sz="1800" dirty="0"/>
          </a:p>
        </p:txBody>
      </p:sp>
      <p:sp>
        <p:nvSpPr>
          <p:cNvPr id="4" name="card_0"/>
          <p:cNvSpPr/>
          <p:nvPr/>
        </p:nvSpPr>
        <p:spPr>
          <a:xfrm>
            <a:off x="548640" y="1874520"/>
            <a:ext cx="3544824" cy="4297680"/>
          </a:xfrm>
          <a:prstGeom prst="roundRect">
            <a:avLst>
              <a:gd name="adj" fmla="val 3869"/>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5" name="Text 3"/>
          <p:cNvSpPr txBox="1"/>
          <p:nvPr/>
        </p:nvSpPr>
        <p:spPr>
          <a:xfrm>
            <a:off x="548640" y="2499970"/>
            <a:ext cx="3544824" cy="1461211"/>
          </a:xfrm>
          <a:prstGeom prst="rect">
            <a:avLst/>
          </a:prstGeom>
          <a:noFill/>
          <a:ln/>
        </p:spPr>
        <p:txBody>
          <a:bodyPr wrap="square" lIns="0" tIns="0" rIns="0" bIns="0" rtlCol="0" anchor="ctr">
            <a:normAutofit/>
          </a:bodyPr>
          <a:lstStyle/>
          <a:p>
            <a:pPr marL="0" indent="0" algn="ctr" eaLnBrk="1">
              <a:buNone/>
            </a:pPr>
            <a:r>
              <a:rPr lang="ko-KR" altLang="en-US" sz="2300" b="1" dirty="0">
                <a:solidFill>
                  <a:srgbClr val="4236F6"/>
                </a:solidFill>
                <a:latin typeface="Malgun Gothic" pitchFamily="34" charset="0"/>
                <a:ea typeface="Malgun Gothic" pitchFamily="34" charset="-122"/>
                <a:cs typeface="Malgun Gothic" pitchFamily="34" charset="-120"/>
              </a:rPr>
              <a:t>어디에서 뭘 해요</a:t>
            </a:r>
            <a:r>
              <a:rPr lang="en-US" sz="2300" b="1" dirty="0">
                <a:solidFill>
                  <a:srgbClr val="4236F6"/>
                </a:solidFill>
              </a:rPr>
              <a:t>?</a:t>
            </a:r>
            <a:endParaRPr lang="en-US" sz="2300" dirty="0"/>
          </a:p>
        </p:txBody>
      </p:sp>
      <p:sp>
        <p:nvSpPr>
          <p:cNvPr id="6" name="Text 4"/>
          <p:cNvSpPr txBox="1"/>
          <p:nvPr/>
        </p:nvSpPr>
        <p:spPr>
          <a:xfrm>
            <a:off x="621792" y="3961181"/>
            <a:ext cx="3398520" cy="21378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¿Dónde haces qué? (¿Qué haces y dónde?)</a:t>
            </a:r>
            <a:endParaRPr lang="en-US" sz="16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3691128" y="1947672"/>
            <a:ext cx="310896" cy="310896"/>
          </a:xfrm>
          <a:prstGeom prst="rect">
            <a:avLst/>
          </a:prstGeom>
        </p:spPr>
      </p:pic>
      <p:sp>
        <p:nvSpPr>
          <p:cNvPr id="8" name="card_1"/>
          <p:cNvSpPr/>
          <p:nvPr/>
        </p:nvSpPr>
        <p:spPr>
          <a:xfrm>
            <a:off x="4322064" y="1874520"/>
            <a:ext cx="3544824" cy="4297680"/>
          </a:xfrm>
          <a:prstGeom prst="roundRect">
            <a:avLst>
              <a:gd name="adj" fmla="val 3869"/>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9" name="Text 6"/>
          <p:cNvSpPr txBox="1"/>
          <p:nvPr/>
        </p:nvSpPr>
        <p:spPr>
          <a:xfrm>
            <a:off x="4322064" y="2499970"/>
            <a:ext cx="3544824" cy="1461211"/>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4236F6"/>
                </a:solidFill>
                <a:latin typeface="Malgun Gothic" pitchFamily="34" charset="0"/>
                <a:ea typeface="Malgun Gothic" pitchFamily="34" charset="-122"/>
                <a:cs typeface="Malgun Gothic" pitchFamily="34" charset="-120"/>
              </a:rPr>
              <a:t>빵 가게에서 빵을 사요</a:t>
            </a:r>
            <a:r>
              <a:rPr lang="en-US" sz="2200" b="1" dirty="0">
                <a:solidFill>
                  <a:srgbClr val="4236F6"/>
                </a:solidFill>
              </a:rPr>
              <a:t>.</a:t>
            </a:r>
            <a:endParaRPr lang="en-US" sz="2200" dirty="0"/>
          </a:p>
        </p:txBody>
      </p:sp>
      <p:sp>
        <p:nvSpPr>
          <p:cNvPr id="10" name="Text 7"/>
          <p:cNvSpPr txBox="1"/>
          <p:nvPr/>
        </p:nvSpPr>
        <p:spPr>
          <a:xfrm>
            <a:off x="4395216" y="3961181"/>
            <a:ext cx="3398520" cy="21378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Compro pan en la panadería.</a:t>
            </a:r>
            <a:endParaRPr lang="en-US" sz="1600" dirty="0"/>
          </a:p>
        </p:txBody>
      </p:sp>
      <p:pic>
        <p:nvPicPr>
          <p:cNvPr id="11"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7464552" y="1947672"/>
            <a:ext cx="310896" cy="310896"/>
          </a:xfrm>
          <a:prstGeom prst="rect">
            <a:avLst/>
          </a:prstGeom>
        </p:spPr>
      </p:pic>
      <p:sp>
        <p:nvSpPr>
          <p:cNvPr id="12" name="card_2"/>
          <p:cNvSpPr/>
          <p:nvPr/>
        </p:nvSpPr>
        <p:spPr>
          <a:xfrm>
            <a:off x="8095488" y="1874520"/>
            <a:ext cx="3544824" cy="4297680"/>
          </a:xfrm>
          <a:prstGeom prst="roundRect">
            <a:avLst>
              <a:gd name="adj" fmla="val 3869"/>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3" name="Text 9"/>
          <p:cNvSpPr txBox="1"/>
          <p:nvPr/>
        </p:nvSpPr>
        <p:spPr>
          <a:xfrm>
            <a:off x="8095488" y="2499970"/>
            <a:ext cx="3544824" cy="1461211"/>
          </a:xfrm>
          <a:prstGeom prst="rect">
            <a:avLst/>
          </a:prstGeom>
          <a:noFill/>
          <a:ln/>
        </p:spPr>
        <p:txBody>
          <a:bodyPr wrap="square" lIns="0" tIns="0" rIns="0" bIns="0" rtlCol="0" anchor="ctr">
            <a:normAutofit/>
          </a:bodyPr>
          <a:lstStyle/>
          <a:p>
            <a:pPr marL="0" indent="0" algn="ctr" eaLnBrk="1">
              <a:buNone/>
            </a:pPr>
            <a:r>
              <a:rPr lang="ko-KR" altLang="en-US" sz="2300" b="1" dirty="0">
                <a:solidFill>
                  <a:srgbClr val="4236F6"/>
                </a:solidFill>
                <a:latin typeface="Malgun Gothic" pitchFamily="34" charset="0"/>
                <a:ea typeface="Malgun Gothic" pitchFamily="34" charset="-122"/>
                <a:cs typeface="Malgun Gothic" pitchFamily="34" charset="-120"/>
              </a:rPr>
              <a:t>카페에 가요</a:t>
            </a:r>
            <a:r>
              <a:rPr lang="en-US" sz="2300" b="1" dirty="0">
                <a:solidFill>
                  <a:srgbClr val="4236F6"/>
                </a:solidFill>
              </a:rPr>
              <a:t>. </a:t>
            </a:r>
            <a:r>
              <a:rPr lang="ko-KR" altLang="en-US" sz="2300" b="1" dirty="0">
                <a:solidFill>
                  <a:srgbClr val="4236F6"/>
                </a:solidFill>
                <a:latin typeface="Malgun Gothic" pitchFamily="34" charset="0"/>
                <a:ea typeface="Malgun Gothic" pitchFamily="34" charset="-122"/>
                <a:cs typeface="Malgun Gothic" pitchFamily="34" charset="-120"/>
              </a:rPr>
              <a:t>카페에서</a:t>
            </a:r>
            <a:endParaRPr lang="en-US" sz="2300" dirty="0"/>
          </a:p>
          <a:p>
            <a:pPr marL="0" indent="0" algn="ctr" eaLnBrk="1">
              <a:buNone/>
            </a:pPr>
            <a:r>
              <a:rPr lang="ko-KR" altLang="en-US" sz="2300" b="1" dirty="0">
                <a:solidFill>
                  <a:srgbClr val="4236F6"/>
                </a:solidFill>
                <a:latin typeface="Malgun Gothic" pitchFamily="34" charset="0"/>
                <a:ea typeface="Malgun Gothic" pitchFamily="34" charset="-122"/>
                <a:cs typeface="Malgun Gothic" pitchFamily="34" charset="-120"/>
              </a:rPr>
              <a:t>커피를 마셔요</a:t>
            </a:r>
            <a:r>
              <a:rPr lang="en-US" sz="2300" b="1" dirty="0">
                <a:solidFill>
                  <a:srgbClr val="4236F6"/>
                </a:solidFill>
              </a:rPr>
              <a:t>.</a:t>
            </a:r>
            <a:endParaRPr lang="en-US" sz="2300" dirty="0"/>
          </a:p>
        </p:txBody>
      </p:sp>
      <p:sp>
        <p:nvSpPr>
          <p:cNvPr id="14" name="Text 10"/>
          <p:cNvSpPr txBox="1"/>
          <p:nvPr/>
        </p:nvSpPr>
        <p:spPr>
          <a:xfrm>
            <a:off x="8168640" y="3961181"/>
            <a:ext cx="3398520" cy="21378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Voy al café. En el café tomo café.</a:t>
            </a:r>
            <a:endParaRPr lang="en-US" sz="1600" dirty="0"/>
          </a:p>
        </p:txBody>
      </p:sp>
      <p:pic>
        <p:nvPicPr>
          <p:cNvPr id="15"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9"/>
          <a:stretch>
            <a:fillRect/>
          </a:stretch>
        </p:blipFill>
        <p:spPr>
          <a:xfrm>
            <a:off x="11237976" y="1947672"/>
            <a:ext cx="310896" cy="310896"/>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써 봐요  </a:t>
            </a:r>
            <a:r>
              <a:rPr lang="en-US" sz="3000" b="1" dirty="0">
                <a:solidFill>
                  <a:srgbClr val="003478"/>
                </a:solidFill>
              </a:rPr>
              <a:t>Tarea</a:t>
            </a:r>
            <a:r>
              <a:rPr lang="en-US" sz="1500" b="1" i="1" dirty="0">
                <a:solidFill>
                  <a:srgbClr val="8A8DA0"/>
                </a:solidFill>
              </a:rPr>
              <a:t>   Homework</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 20 minutos · hoja de la clase 6</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Parte 3: ¿에 </a:t>
            </a:r>
            <a:r>
              <a:rPr lang="en-US" sz="2200" dirty="0">
                <a:solidFill>
                  <a:srgbClr val="14142B"/>
                </a:solidFill>
              </a:rPr>
              <a:t>o </a:t>
            </a:r>
            <a:r>
              <a:rPr lang="ko-KR" altLang="en-US" sz="2200" dirty="0">
                <a:solidFill>
                  <a:srgbClr val="14142B"/>
                </a:solidFill>
                <a:latin typeface="Malgun Gothic" pitchFamily="34" charset="0"/>
                <a:ea typeface="Malgun Gothic" pitchFamily="34" charset="-122"/>
                <a:cs typeface="Malgun Gothic" pitchFamily="34" charset="-120"/>
              </a:rPr>
              <a:t>에서</a:t>
            </a:r>
            <a:r>
              <a:rPr lang="en-US" sz="2200" dirty="0">
                <a:solidFill>
                  <a:srgbClr val="14142B"/>
                </a:solidFill>
              </a:rPr>
              <a:t>? y une el lugar con la acción</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Parte 5A · 여기는 어디예요</a:t>
            </a:r>
            <a:r>
              <a:rPr lang="en-US" sz="2200" dirty="0">
                <a:solidFill>
                  <a:srgbClr val="14142B"/>
                </a:solidFill>
              </a:rPr>
              <a:t>?: 5 adivinanzas</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Parte 5B · Mi semana: 5 frases con ___에서 </a:t>
            </a:r>
            <a:r>
              <a:rPr lang="en-US" sz="2200" dirty="0">
                <a:solidFill>
                  <a:srgbClr val="14142B"/>
                </a:solidFill>
              </a:rPr>
              <a:t>___</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Foto de la hoja por privado antes del lunes 30 · audio opcional de 30 s: 어디에서 한국어를 공부해요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La clase 7 abre con un quiz de 에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에서</a:t>
            </a:r>
            <a:endParaRPr lang="en-US" sz="22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000" b="1" dirty="0">
                <a:solidFill>
                  <a:srgbClr val="4236F6"/>
                </a:solidFill>
                <a:latin typeface="Malgun Gothic" pitchFamily="34" charset="0"/>
                <a:ea typeface="Malgun Gothic" pitchFamily="34" charset="-122"/>
                <a:cs typeface="Malgun Gothic" pitchFamily="34" charset="-120"/>
              </a:rPr>
              <a:t>써 봐요</a:t>
            </a:r>
            <a:endParaRPr lang="en-US" sz="7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691640"/>
            <a:ext cx="10725912" cy="1097280"/>
          </a:xfrm>
          <a:prstGeom prst="rect">
            <a:avLst/>
          </a:prstGeom>
          <a:noFill/>
          <a:ln/>
        </p:spPr>
        <p:txBody>
          <a:bodyPr wrap="square" lIns="0" tIns="0" rIns="0" bIns="0" rtlCol="0" anchor="ctr"/>
          <a:lstStyle/>
          <a:p>
            <a:pPr marL="0" indent="0" algn="ctr" eaLnBrk="1">
              <a:buNone/>
            </a:pPr>
            <a:r>
              <a:rPr lang="ko-KR" altLang="en-US" sz="3000" b="1" dirty="0">
                <a:solidFill>
                  <a:srgbClr val="FFFFFF"/>
                </a:solidFill>
                <a:latin typeface="Malgun Gothic" pitchFamily="34" charset="0"/>
                <a:ea typeface="Malgun Gothic" pitchFamily="34" charset="-122"/>
                <a:cs typeface="Malgun Gothic" pitchFamily="34" charset="-120"/>
              </a:rPr>
              <a:t>감사합니다</a:t>
            </a:r>
            <a:r>
              <a:rPr lang="en-US" sz="3000" b="1" dirty="0">
                <a:solidFill>
                  <a:srgbClr val="FFFFFF"/>
                </a:solidFill>
              </a:rPr>
              <a:t>! </a:t>
            </a:r>
            <a:r>
              <a:rPr lang="ko-KR" altLang="en-US" sz="3000" b="1" dirty="0">
                <a:solidFill>
                  <a:srgbClr val="FFFFFF"/>
                </a:solidFill>
                <a:latin typeface="Malgun Gothic" pitchFamily="34" charset="0"/>
                <a:ea typeface="Malgun Gothic" pitchFamily="34" charset="-122"/>
                <a:cs typeface="Malgun Gothic" pitchFamily="34" charset="-120"/>
              </a:rPr>
              <a:t>화이팅</a:t>
            </a:r>
            <a:r>
              <a:rPr lang="en-US" sz="3000" b="1" dirty="0">
                <a:solidFill>
                  <a:srgbClr val="FFFFFF"/>
                </a:solidFill>
              </a:rPr>
              <a:t>!  ¡Gracias! ¡Ánimo!</a:t>
            </a:r>
            <a:endParaRPr lang="en-US" sz="4000" dirty="0"/>
          </a:p>
        </p:txBody>
      </p:sp>
      <p:sp>
        <p:nvSpPr>
          <p:cNvPr id="3" name="Text 0"/>
          <p:cNvSpPr>
            <a:spLocks noGrp="1"/>
          </p:cNvSpPr>
          <p:nvPr>
            <p:ph type="body" idx="102" hasCustomPrompt="1"/>
          </p:nvPr>
        </p:nvSpPr>
        <p:spPr>
          <a:xfrm>
            <a:off x="1463040" y="2971800"/>
            <a:ext cx="9262872" cy="2926080"/>
          </a:xfrm>
          <a:prstGeom prst="rect">
            <a:avLst/>
          </a:prstGeom>
          <a:noFill/>
          <a:ln/>
        </p:spPr>
        <p:txBody>
          <a:bodyPr wrap="square" lIns="0" tIns="0" rIns="0" bIns="0" rtlCol="0" anchor="t">
            <a:normAutofit/>
          </a:bodyPr>
          <a:lstStyle/>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La clase 7: números y edad · 하나</a:t>
            </a:r>
            <a:r>
              <a:rPr lang="en-US" sz="2200" dirty="0">
                <a:solidFill>
                  <a:srgbClr val="FFFFFF"/>
                </a:solidFill>
              </a:rPr>
              <a:t>, </a:t>
            </a:r>
            <a:r>
              <a:rPr lang="ko-KR" altLang="en-US" sz="2200" dirty="0">
                <a:solidFill>
                  <a:srgbClr val="FFFFFF"/>
                </a:solidFill>
                <a:latin typeface="Malgun Gothic" pitchFamily="34" charset="0"/>
                <a:ea typeface="Malgun Gothic" pitchFamily="34" charset="-122"/>
                <a:cs typeface="Malgun Gothic" pitchFamily="34" charset="-120"/>
              </a:rPr>
              <a:t>둘</a:t>
            </a:r>
            <a:r>
              <a:rPr lang="en-US" sz="2200" dirty="0">
                <a:solidFill>
                  <a:srgbClr val="FFFFFF"/>
                </a:solidFill>
              </a:rPr>
              <a:t>, </a:t>
            </a:r>
            <a:r>
              <a:rPr lang="ko-KR" altLang="en-US" sz="2200" dirty="0">
                <a:solidFill>
                  <a:srgbClr val="FFFFFF"/>
                </a:solidFill>
                <a:latin typeface="Malgun Gothic" pitchFamily="34" charset="0"/>
                <a:ea typeface="Malgun Gothic" pitchFamily="34" charset="-122"/>
                <a:cs typeface="Malgun Gothic" pitchFamily="34" charset="-120"/>
              </a:rPr>
              <a:t>셋</a:t>
            </a:r>
            <a:r>
              <a:rPr lang="en-US" sz="2200" dirty="0">
                <a:solidFill>
                  <a:srgbClr val="FFFFFF"/>
                </a:solidFill>
              </a:rPr>
              <a:t>, </a:t>
            </a:r>
            <a:r>
              <a:rPr lang="ko-KR" altLang="en-US" sz="2200" dirty="0">
                <a:solidFill>
                  <a:srgbClr val="FFFFFF"/>
                </a:solidFill>
                <a:latin typeface="Malgun Gothic" pitchFamily="34" charset="0"/>
                <a:ea typeface="Malgun Gothic" pitchFamily="34" charset="-122"/>
                <a:cs typeface="Malgun Gothic" pitchFamily="34" charset="-120"/>
              </a:rPr>
              <a:t>넷 </a:t>
            </a:r>
            <a:r>
              <a:rPr lang="en-US" sz="2200" dirty="0">
                <a:solidFill>
                  <a:srgbClr val="FFFFFF"/>
                </a:solidFill>
              </a:rPr>
              <a:t>· </a:t>
            </a:r>
            <a:r>
              <a:rPr lang="ko-KR" altLang="en-US" sz="2200" dirty="0">
                <a:solidFill>
                  <a:srgbClr val="FFFFFF"/>
                </a:solidFill>
                <a:latin typeface="Malgun Gothic" pitchFamily="34" charset="0"/>
                <a:ea typeface="Malgun Gothic" pitchFamily="34" charset="-122"/>
                <a:cs typeface="Malgun Gothic" pitchFamily="34" charset="-120"/>
              </a:rPr>
              <a:t>몇 살이에요</a:t>
            </a:r>
            <a:r>
              <a:rPr lang="en-US" sz="2200" dirty="0">
                <a:solidFill>
                  <a:srgbClr val="FFFFFF"/>
                </a:solidFill>
              </a:rPr>
              <a:t>?</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Quiz: 에 </a:t>
            </a:r>
            <a:r>
              <a:rPr lang="en-US" sz="2200" dirty="0">
                <a:solidFill>
                  <a:srgbClr val="FFFFFF"/>
                </a:solidFill>
              </a:rPr>
              <a:t>o </a:t>
            </a:r>
            <a:r>
              <a:rPr lang="ko-KR" altLang="en-US" sz="2200" dirty="0">
                <a:solidFill>
                  <a:srgbClr val="FFFFFF"/>
                </a:solidFill>
                <a:latin typeface="Malgun Gothic" pitchFamily="34" charset="0"/>
                <a:ea typeface="Malgun Gothic" pitchFamily="34" charset="-122"/>
                <a:cs typeface="Malgun Gothic" pitchFamily="34" charset="-120"/>
              </a:rPr>
              <a:t>에서 </a:t>
            </a:r>
            <a:r>
              <a:rPr lang="en-US" sz="2200" dirty="0">
                <a:solidFill>
                  <a:srgbClr val="FFFFFF"/>
                </a:solidFill>
              </a:rPr>
              <a:t>· las 3 frases de hoy</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잘했어요</a:t>
            </a:r>
            <a:r>
              <a:rPr lang="en-US" sz="2200" dirty="0">
                <a:solidFill>
                  <a:srgbClr val="FFFFFF"/>
                </a:solidFill>
              </a:rPr>
              <a:t>!</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감사합니다 </a:t>
            </a:r>
            <a:r>
              <a:rPr lang="en-US" sz="2200" dirty="0">
                <a:solidFill>
                  <a:srgbClr val="FFFFFF"/>
                </a:solidFill>
              </a:rPr>
              <a:t>· </a:t>
            </a:r>
            <a:r>
              <a:rPr lang="ko-KR" altLang="en-US" sz="2200" dirty="0">
                <a:solidFill>
                  <a:srgbClr val="FFFFFF"/>
                </a:solidFill>
                <a:latin typeface="Malgun Gothic" pitchFamily="34" charset="0"/>
                <a:ea typeface="Malgun Gothic" pitchFamily="34" charset="-122"/>
                <a:cs typeface="Malgun Gothic" pitchFamily="34" charset="-120"/>
              </a:rPr>
              <a:t>화이팅</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받아쓰기  </a:t>
            </a:r>
            <a:r>
              <a:rPr lang="en-US" sz="3000" b="1" dirty="0">
                <a:solidFill>
                  <a:srgbClr val="003478"/>
                </a:solidFill>
              </a:rPr>
              <a:t>Si sobra tiempo: dictado de sílabas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Plan B si sobran 3 minutos o si una sala termina antes</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800" dirty="0">
                <a:solidFill>
                  <a:srgbClr val="14142B"/>
                </a:solidFill>
              </a:rPr>
              <a:t>Jay dicta sílabas sueltas, en desorden</a:t>
            </a:r>
            <a:endParaRPr lang="en-US" sz="2800" dirty="0"/>
          </a:p>
          <a:p>
            <a:pPr marL="228600" indent="-228600" eaLnBrk="1">
              <a:spcAft>
                <a:spcPts val="800"/>
              </a:spcAft>
              <a:buSzPct val="100000"/>
              <a:buChar char="•"/>
            </a:pPr>
            <a:r>
              <a:rPr lang="en-US" sz="2800" dirty="0">
                <a:solidFill>
                  <a:srgbClr val="14142B"/>
                </a:solidFill>
              </a:rPr>
              <a:t>Escríbelas en el chat, una por mensaje</a:t>
            </a:r>
            <a:endParaRPr lang="en-US" sz="2800" dirty="0"/>
          </a:p>
          <a:p>
            <a:pPr marL="228600" indent="-228600" eaLnBrk="1">
              <a:spcAft>
                <a:spcPts val="800"/>
              </a:spcAft>
              <a:buSzPct val="100000"/>
              <a:buChar char="•"/>
            </a:pPr>
            <a:r>
              <a:rPr lang="en-US" sz="2800" dirty="0">
                <a:solidFill>
                  <a:srgbClr val="14142B"/>
                </a:solidFill>
              </a:rPr>
              <a:t>Con ellas, arma 4 lugares de hoy</a:t>
            </a:r>
            <a:endParaRPr lang="en-US" sz="2800" dirty="0"/>
          </a:p>
          <a:p>
            <a:pPr marL="228600" indent="-228600" eaLnBrk="1">
              <a:spcAft>
                <a:spcPts val="800"/>
              </a:spcAft>
              <a:buSzPct val="100000"/>
              <a:buChar char="•"/>
            </a:pPr>
            <a:r>
              <a:rPr lang="en-US" sz="2800" dirty="0">
                <a:solidFill>
                  <a:srgbClr val="14142B"/>
                </a:solidFill>
              </a:rPr>
              <a:t>Gana quien escriba primero los 4, bien escritos</a:t>
            </a:r>
            <a:endParaRPr lang="en-US" sz="2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5800" b="1" dirty="0">
                <a:solidFill>
                  <a:srgbClr val="4236F6"/>
                </a:solidFill>
                <a:latin typeface="Malgun Gothic" pitchFamily="34" charset="0"/>
                <a:ea typeface="Malgun Gothic" pitchFamily="34" charset="-122"/>
                <a:cs typeface="Malgun Gothic" pitchFamily="34" charset="-120"/>
              </a:rPr>
              <a:t>받아쓰기</a:t>
            </a:r>
            <a:endParaRPr lang="en-US" sz="5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30</a:t>
            </a:fld>
            <a:endParaRPr lang="en-US"/>
          </a:p>
        </p:txBody>
      </p:sp>
    </p:spTree>
  </p:cSld>
  <p:clrMapOvr>
    <a:masterClrMapping/>
  </p:clrMapOvr>
</p:sld>
</file>

<file path=ppt/theme/theme1.xml><?xml version="1.0" encoding="utf-8"?>
<a:theme xmlns:a="http://schemas.openxmlformats.org/drawingml/2006/main" name="Academia Seul">
  <a:themeElements>
    <a:clrScheme name="Academia Seul">
      <a:dk1>
        <a:srgbClr val="14142B"/>
      </a:dk1>
      <a:lt1>
        <a:srgbClr val="FFFFFF"/>
      </a:lt1>
      <a:dk2>
        <a:srgbClr val="003478"/>
      </a:dk2>
      <a:lt2>
        <a:srgbClr val="F1F0FE"/>
      </a:lt2>
      <a:accent1>
        <a:srgbClr val="4236F6"/>
      </a:accent1>
      <a:accent2>
        <a:srgbClr val="E8B84B"/>
      </a:accent2>
      <a:accent3>
        <a:srgbClr val="003478"/>
      </a:accent3>
      <a:accent4>
        <a:srgbClr val="8A83FF"/>
      </a:accent4>
      <a:accent5>
        <a:srgbClr val="5C5F6B"/>
      </a:accent5>
      <a:accent6>
        <a:srgbClr val="B8962E"/>
      </a:accent6>
      <a:hlink>
        <a:srgbClr val="4236F6"/>
      </a:hlink>
      <a:folHlink>
        <a:srgbClr val="003478"/>
      </a:folHlink>
    </a:clrScheme>
    <a:fontScheme name="Academia Se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6264</Words>
  <Application>Microsoft Office PowerPoint</Application>
  <PresentationFormat>Widescreen</PresentationFormat>
  <Paragraphs>489</Paragraphs>
  <Slides>30</Slides>
  <Notes>30</Notes>
  <HiddenSlides>0</HiddenSlides>
  <MMClips>25</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Malgun Gothic</vt:lpstr>
      <vt:lpstr>Arial</vt:lpstr>
      <vt:lpstr>Academia Seul</vt:lpstr>
      <vt:lpstr>Básico 2 · Clase 6</vt:lpstr>
      <vt:lpstr>복습 퀴즈  Quiz de la clase 5   Class 5 quiz</vt:lpstr>
      <vt:lpstr>오늘의 목표  Hoy vas a poder decir…   Today you'll be able to say…</vt:lpstr>
      <vt:lpstr>들어 보세요  Escucha: el plan de 도윤   Listen: 도윤's plan</vt:lpstr>
      <vt:lpstr>본문  La escena   The scene</vt:lpstr>
      <vt:lpstr>¿Entendiste?   Did you get it?</vt:lpstr>
      <vt:lpstr>배워 봐요  Lugares nuevos   New places</vt:lpstr>
      <vt:lpstr>배워 봐요  Acciones y pistas   Actions and clues</vt:lpstr>
      <vt:lpstr>읽어 봐요  Lugares que ya conoces   Places you already know</vt:lpstr>
      <vt:lpstr>어디에 있어요?  ¿Dónde está?   Where is it?</vt:lpstr>
      <vt:lpstr>에서  La frase de hoy   Today's sentence</vt:lpstr>
      <vt:lpstr>N에서 · 어디에서  에서 no cambia   에서 never changes</vt:lpstr>
      <vt:lpstr>누가 · 어디에서 · 뭘  El orden de la frase   Word order</vt:lpstr>
      <vt:lpstr>에 · 에서  ¿에 o 에서?   에 or 에서?</vt:lpstr>
      <vt:lpstr>연습해요  ¿에 o 에서?   에 or 에서?</vt:lpstr>
      <vt:lpstr>여러분은요?  Ahora tú   Now you</vt:lpstr>
      <vt:lpstr>연습해요  ¿Dónde y qué?   Where and what?</vt:lpstr>
      <vt:lpstr>어디에서?  Haz la pregunta   Ask the question</vt:lpstr>
      <vt:lpstr>들어 봐요  Escucha y elige   Listen and choose</vt:lpstr>
      <vt:lpstr>이어 말하기  Drill en cadena   Chain drill</vt:lpstr>
      <vt:lpstr>이야기해요 · 같이 해요  Salas de Zoom · 20 minutos</vt:lpstr>
      <vt:lpstr>이야기해요  Pregúntense   Ask each other</vt:lpstr>
      <vt:lpstr>같이 해요  Mímica: ¿dónde y qué?   Charades: where and what?</vt:lpstr>
      <vt:lpstr>카드  Tarjetas de mímica   Charades cards</vt:lpstr>
      <vt:lpstr>내일 뭐 해요?  Minuto libre   Free minute</vt:lpstr>
      <vt:lpstr>이렇게 말해요  Errores del día   Today's mistakes</vt:lpstr>
      <vt:lpstr>오늘의 문장  3 frases clave   3 key sentences</vt:lpstr>
      <vt:lpstr>써 봐요  Tarea   Homework</vt:lpstr>
      <vt:lpstr>감사합니다! 화이팅!  ¡Gracias! ¡Ánimo!</vt:lpstr>
      <vt:lpstr>받아쓰기  Si sobra tiempo: dictado de sílabas</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Básico 2 (A1.2) · Semana 6 · 친구 집에서 장난감 배를 만들어요 · ¿Dónde haces qué? (N에서 · 어디에서)</dc:title>
  <dc:subject>PptxGenJS Presentation</dc:subject>
  <dc:creator>Academia Seúl</dc:creator>
  <cp:lastModifiedBy>Jae Hee Kim</cp:lastModifiedBy>
  <cp:revision>2</cp:revision>
  <dcterms:created xsi:type="dcterms:W3CDTF">2026-10-22T12:13:58Z</dcterms:created>
  <dcterms:modified xsi:type="dcterms:W3CDTF">2026-10-22T12:14:47Z</dcterms:modified>
</cp:coreProperties>
</file>