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1" id="{3FCCDFD7-4DBA-1EB0-6913-7817D51112B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5561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21:00–21:03. Inicia la grabación en la nube y saluda a cada uno por su nombre con leve inclinación («안녕하세요, 카밀라 씨!»; a los de julio, «오랜만이에요!»). Pide cámara, nombre real y, en el chat, nombre y ciudad en 한글; quien no tenga teclado lo escribe como pueda y lo instala esta semana (guía en su material). Pregunta «요즘 어떻게 지내요?» a 2–3 (mejor de julio); si no sale, modela «잘 지내요! … 카밀라 씨는요?» y devuelve el turno con la palma. Anota quién escribe en 한글 (teclado sí/no).
Fuente: Nueva (mapa de teclado: el de Básico 1 S01 L1)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21:03, unos segundos. «¡Bienvenidos a Básico 2!» Hoy nos volvemos a presentar con detalle y converso 2 minutos con cada uno. Pasa enseguida a L3.
Imagen sugerida: Logo azul de Academia Seúl (plantilla de la casa)
Fuente: Portada de la plantilla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21:03–21:05 (con L2, 1 min). «Básico 2 es el curso de los tres tiempos: estas semanas, el presente; en la semana 4, el pasado; en la 5, el futuro. En la semana 8 van a conversar 5 minutos seguidos en coreano.» «Cada clase: quiz corto, lección, drill, 20 minutos en salas que nunca se recortan y cierre. Hoy es distinta: no hay quiz y converso 2 minutos con cada uno; no tiene nota: sirve para armar las parejas y para comparar su antes y su después en la semana 8.» Si vas atrasado, esta explicación pasa al mensaje del grupo.
Fuente: Nueva (datos del programa público)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21:04–21:05 (1 min, pensado para los de julio). «Los de julio se acuerdan de los corchetes con nuestras letras. Desde hoy, el corchete va en 한글.» Da las cuatro razones de la lámina; en la tercera: «있어요 se dice [이써요], y hoy van a entender por qué». «Si una palabra no les sale: la escuchan (en la grabación, en el Lector, en los audios de su material o en una nota de voz mía en el grupo) y miran el corchete. El texto completo está en la sección 2 de su material.»
Imagen sugerida: Cuatro íconos simples, uno por razón (estilo de la casa, sin rojo)
Fuente: Diseño, sección D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21:05–21:07. Las frases aparecen de a una junto a su foto; di cada una dos veces, primero despacio y después a velocidad natural, y en la primera haz la leve inclinación con 반갑습니다. Son datos de ejemplo: cámbialos por los tuyos (sin mascota: «우리 집에 강아지가 없어요.»; sin hermanos: «형제가 없어요. 외동이에요.»). No traduzcas: la comprensión se revisa en L6.
Imagen sugerida: 6 fotos de Jay, una por frase: su ciudad natal, su ciudad de hoy, su trabajo, su familia, su pasatiempo y su mascota (fotos propias)
Fuente: Nueva · fotos de Jay
Lámina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21:07–21:08 (1 min). Pregunta al grupo en coreano; responden en coro o en el chat y la respuesta aparece con clic. En la 2 y la 4 dices 선생님은: la pregunta a secas sonaría a '¿y tú?' y cada uno respondería sobre sí mismo. Cierra (20 s): «¿Se fijaron? Cuando pregunté, dije 고향이. Cuando me presenté, dije 제 고향은. En 10 minutos les cuento por qué.» Si vas atrasado, solo 2 preguntas.
Fuente: Nueva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21:08–21:10. Repaso relámpago (30 s): sustantivo + 이에요 si termina en consonante y + 예요 si termina en vocal; para decir que no eres algo, 이/가 아니에요 con la misma regla, y 아니에요 siempre lleva su 이 o su 가. Frase propia en el chat (45 s), con lo que son de verdad; si la profesión no está, la escriben en español y se la pasas a 한글. Eliges 3 del chat y sus autores la dicen en voz alta (45 s); si hay error, la dices bien en coreano, sin explicar, y el autor la repite.
Fuente: Adaptada de A1_Nivel_1/03_Saludos/Sesion_03_Saludos.pptx L5 y L24–L25 (sin romanización ni amarillo; con 대학생 y 회사원)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21:10–21:12 (1 min 30 + chequeo 30 s). «El error número uno del hispanohablante: 이에요 es SER; para ESTAR en un lugar, 에 있어요. 'Estoy en la casa' no es 저는 집이에요, que palabra por palabra dice 'yo soy una casa': es 집에 있어요. Y 'vivo en Santiago' es 산티아고에 살아요. Pero 제 고향은 멕시코예요 sí está bien.» Coro: «따라 하세요: 집에 있어요. — 산티아고에 살아요.» Chequeo en el chat: «'Estoy en la oficina': ¿이에요 o 있어요?» → 회사에 있어요. Si alguien trae 지금 집이에요, no lo niegues: es un atajo coloquial; en clase y en el examen va la forma completa.
Fuente: Nueva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21:12–21:13 (40 s). «Las dos partículas parecen 'el sujeto', y en español no existen. Regla de bolsillo: 은/는 = 'en cuanto a…': presentas un tema o comparas. 이/가 = 'el que…, la que…': lo que preguntas, lo nuevo, lo que hay.» «No se la aprendan como ley: hoy la usamos en un solo lugar, la entrevista.»
Fuente: Adaptada de A1_Nivel_1/Particulas_Coreanas_Editable.pptx L4 (acento azul #4236F6; 카밀라 씨 y 다니엘 씨 en vez de 제인 y 마크)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21:13 (50 s). «En una entrevista funciona así: la pregunta va con 이/가; la respuesta, con 은/는.» Lee cada par y el grupo repite la respuesta. «Fíjense en 지금은: 'ahora, en cambio…'. Eso es el contraste. Y 제 es 'mi', la forma humilde: 제 이름, 제 고향, 제 취미.»
Fuente: Nueva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21:13–21:16. Votación (1 min 10): después de cada voto dices la frase completa y el grupo la repite; en d) celebra a quien votó '2, 2'; en e): «누구 + 가 = 누가. Nunca 누구가.» Luego 1:1 con 4 alumnos (1 min, nombres anunciados y micrófonos abiertos): «카밀라 씨, 고향이 어디예요? 지금 어디에 살아요?» → «제 고향은 ___이에요/예요. 지금은 ___에 살아요.» Si dice 저는 산티아고예요, corriges con la frase buena y la repite: es su primera frase propia con 은/는.
Fuente: Nueva (clave en C.16)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21:16–21:18 (1 min 20 + cadena 1 min). «있어요 ya lo conocen: 'hay' y 'está'. Hoy suma 'tener': en coreano no se 'tiene' un hermano, 'hay' un hermano.» Lo que hay lleva 이/가; quien lo tiene, si lo dices, va con 은/는 (저는 형제가 없어요); a los de julio: el contrario es 없어요, nunca 안 있어요. «누가 대학생이에요?» (levanta la mano) «…다니엘 씨가 대학생이에요. Y si eres tú: 제가요!» Cadena: «카밀라 씨, 형제가 있어요?» → responde y le pregunta a otro (3 eslabones); cierra con «누가 회사원이에요?» → manos arriba y algún «제가요!».
Imagen sugerida: Íconos simples de familia (hermanos mayores y menores), estilo de la casa, sin rojo
Fuente: Nueva (idea de A1_Nivel_1/Repaso_MidTerm_A1.pptx L18, sin romanización)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21:18–21:19 (40 s + 15 s). «La máquina de siempre: ㅏ u ㅗ → 아요; el resto → 어요; 하다 → 해요. Ojo con 살아요: la ㄹ se queda; 사요 es 'compro': 칠레에 사요 es 'compro en Chile'.» Pregunta «요즘 뭐 해요?» a 2 voluntarios («요즘 한국어를 공부해요.» / «요즘 한국 요리를 배워요.»). «Si quieren decir dónde trabajan, es 회사에서 일해요, con 에서. La regla va en la semana 3; hoy, si lo dicen con 에, se los marco y nada más.»
Fuente: Adaptada de A1_Nivel_1/Repaso_MidTerm_A1.pptx L23 (sin corchetes latinos, con los ejemplos de esta semana)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21:19–21:20 (50 s). «¿Por qué 있어요 suena [이써요]? Cuando una sílaba termina en consonante y la siguiente empieza con ㅇ, la silla vacía de Básico 1, la consonante se muda a esa silla. Por eso nunca decimos 살–아–요, con un corte entre sílabas.» «Dos excepciones: la ㅇ de abajo no se muda (고향이에요: se queda abajo, como en 강) y la ㅎ de abajo se cae antes de vocal (좋아해요 [조아해요]).» Coro una vez: «따라 하세요: 직업이에요 — 살아요 — 있어요.» La segunda vuelta queda para el cierre y la sección 4 del material.
Imagen sugerida: Animación: la ㄹ de 살 se muda a la silla vacía (ㅇ) de 아 → [사라요]
Fuente: Nueva
Lámina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21:20–21:21 (1 min). «Al conocerse, en Corea se hace una pequeña inclinación, el 인사, y se dice 반갑습니다. En el trabajo también es común darse la mano (악수), inclinando un poco la cabeza. Donde nosotros damos la mano o un beso en la mejilla, la inclinación hace ese trabajo.» Demuéstralo: leve, unos 15 grados, mirando hacia abajo un segundo. «Y si alguien te pregunta la edad apenas te conoce, no es mala educación: sirve para saber cómo hablarte. La semana que viene aprenden a decir la suya.»
Imagen sugerida: Foto con licencia libre de dos adultos inclinándose levemente al conocerse
Fuente: Nueva (no reusar Sesion_03_Saludos.pptx L7, que dice que en Corea no se dan la mano)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21:21–21:23. (45 s) «Entre ustedes: nombre + 씨. Es el trato cortés entre compañeros. Nunca con tu propio nombre: 저는 카밀라 씨예요 suena rarísimo. A mí: 선생님. Y si un coreano te pregunta 무슨 일 하세요?, te pregunta el trabajo con cortesía: respondes igual, 회사원이에요.» Frase ancla (1 min): todos a la vez, cámara encendida, con la inclinación: «반갑습니다. 저는 ___예요/이에요.»; luego 2 voluntarios solos y «잘했어요!». La frase ancla no se recorta.
Fuente: Nueva
Lámina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21:23–21:25 (con L18). «Ahora ustedes: salas de 3, 28 minutos. Abran ahora su tarjeta de sala: sección 7 de su material, link en el chat; dentro de la sala no van a ver este chat. Son 5 rondas con la hora al lado: miren el reloj, porque esta vez yo no paso por las salas.» Pega el link de la tarjeta; si no abre, pega el texto de respaldo y pide captura. Pausa la grabación y crea salas automáticas de 3 ('elegir sala' y 'volver a la sesión principal' ON, cierre a los 28 min + 60 s); si sabes quién viene de julio, uno por sala.
Fuente: Nueva
Lámina 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21:24 (con L17). «Cuando lean su nombre en un mensaje, vuelven a la sala principal: 'Salir de la sala' → 'Salir de la sala para grupos'. ¡No 'salir de la reunión'! Conversamos 2 minutos sin leer y vuelven: 'Salas para grupos' → su número → 'Unirse'.» «No es un examen: no tiene nota. Si no alcanzo a llamarte, me mandas un audio: está en tu material. Al entrar a la sala: 안녕하세요 y una inclinación. 화이팅!»
Imagen sugerida: Capturas de Zoom: 'Salir de la sala' → 'Salir de la sala para grupos' (con aviso: no 'Salir de la reunión') y 'Salas para grupos' → número de sala → 'Unirse'
Fuente: Nueva
Lámina 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21:26–21:53, solo en la sala principal: 20 s de lectura al final de cada diagnóstico de 2 minutos (antes, 1:40 de conversación: 이름이 뭐예요? 어느 나라 사람이에요? · 어디에 살아요? · 형제가 있어요? · 매일 뭐 해요? · 책상 위에 뭐가 있어요?). Di «읽으세요» y escucha: 직업이에요 [지거비에요] · 생일 (ㅐ abierta, la ㅇ no se muda) · 없어요 [업써요] · 좋아해요 [조아해요] · 읽어요 [일거요]. No corrijas: sonríe, «네, 좋아요», y anota; si deletrea sílaba por sílaba, lectura = C. Cierre: «잘했어요! 감사합니다. Vuelve a tu sala.»
Fuente: Nueva (diseño B0.2)
Lámina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Opcional, durante el diagnóstico. Muestra la foto de tu escritorio (o tu escritorio real) y pregunta «책상 위에 뭐가 있어요?»: mide 이/가, posiciones y objetos. Un alumno sin cámara la responde igual, mirando su propio escritorio.
Imagen sugerida: Foto del escritorio de Jay
Fuente: Jay
Lámina 19b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21:55–21:57. Reanuda la grabación. Tres alumnos de salas distintas presentan a su compañero en dos frases (1:30): «카밀라 씨, 다니엘 씨는 어느 나라 사람이에요?» → «다니엘 씨는 멕시코 사람이에요. 대학생이에요.» → «잘했어요!». Luego los tres errores del día (1 min), con la frase correcta y el grupo repitiendo; ajústalos a lo que oíste en el diagnóstico.
Fuente: Nueva
Lámina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21:57–21:58 (45 s). «Primero yo, despacio; después ustedes.» Tú solo, lento, con 2 segundos de pausa; el grupo repite cada frase. De aquí se recorta el clip B2_S01_frases_clave.mp3: tu versión va sola, lenta y limpia (la grabación ya está reanudada).
Fuente: Diseño B.12
Lámina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21:58–21:59 (1 min 15). Comparte 20 s el Lector (Practicar → chips Sílabas y Batchim; pestaña Progreso). «Unos 30 minutos, antes del miércoles 21: el Lector, 3 rondas seguidas de cada uno, y me mandan la captura con sus estrellas de Escucha (la meta es tres); la Hoja 1, y si la mandan antes del viernes la uso para armar las parejas; un audio de 30 segundos sin leer; y anoten cumpleaños, edad, un teléfono y a qué hora se levantan, almuerzan y se acuestan.» «Quien no conversó hoy conmigo, me manda por privado el audio de diagnóstico antes del domingo: las preguntas están en su material.»
Fuente: Nueva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21:59–22:00 (30 s). «Y la clase 2 abre con el quiz 1: 5 preguntas cortitas sobre lo de hoy.» (KO) «오늘 정말 잘했어요! 화이팅!» Luego, con leve inclinación: «감사합니다!» → el grupo: «감사합니다!». A las 22:00: 'Finalizar reunión para todos'.
Fuente: Nueva
Lámina 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Emergencia (C.11), solo si sobran 2–4 minutos en la sala principal. Con datos del chat del bloque 1 y del cierre, describes a un alumno en tercera persona y el grupo escribe el nombre en el chat. Dos o tres rondas, cambiando las frases por los datos de otro alumno.
Fuente: Nueva
Lámina Extra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el chat del bloque 4 y para las salas; no se evalúan. Muéstrala si alguien pregunta por su profesión o su pasatiempo; si la suya no está, la escribe en español y se la pasas a 한글. 음악 감상, 영화 감상, 그림 그리기 y 사진 찍기 se dicen en bloque, tal cual (sin explicar -기); 드라마 y 케이팝 van con verbo.
Fuente: Nueva
Lámina Extra Ba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el chat del bloque 1 y del bloque 4 y para las salas; no se evalúan. Si la ciudad de alguien no está, la pide en el chat y se la escribes en 한글.
Fuente: Nueva
Lámina Extra Bb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2 (A1.2) · Semana 1 · Jay Kim (김재희)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2 (A1.2) · Semana 1 · Jay Kim (김재희)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2 (A1.2) · Semana 1 · Jay Kim (김재희)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3000" b="1" dirty="0">
                <a:solidFill>
                  <a:srgbClr val="4236F6"/>
                </a:solidFill>
              </a:rPr>
              <a:t>!  </a:t>
            </a:r>
            <a:r>
              <a:rPr lang="en-US" sz="3000" b="1" dirty="0">
                <a:solidFill>
                  <a:srgbClr val="003478"/>
                </a:solidFill>
              </a:rPr>
              <a:t>Mientras llegan</a:t>
            </a:r>
            <a:r>
              <a:rPr lang="en-US" sz="1500" b="1" i="1" dirty="0">
                <a:solidFill>
                  <a:srgbClr val="8A8DA0"/>
                </a:solidFill>
              </a:rPr>
              <a:t>   While everyone joins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요즘 어떻게 지내요</a:t>
            </a:r>
            <a:r>
              <a:rPr lang="en-US" sz="1800" i="1" dirty="0">
                <a:solidFill>
                  <a:srgbClr val="4236F6"/>
                </a:solidFill>
              </a:rPr>
              <a:t>?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Cámara encendida y tu nombre real en Zoom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el chat, en 한글</a:t>
            </a:r>
            <a:r>
              <a:rPr lang="en-US" sz="2200" dirty="0">
                <a:solidFill>
                  <a:srgbClr val="14142B"/>
                </a:solidFill>
              </a:rPr>
              <a:t>: tu nombre y tu ciudad (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카밀라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산티아고</a:t>
            </a:r>
            <a:r>
              <a:rPr lang="en-US" sz="2200" dirty="0">
                <a:solidFill>
                  <a:srgbClr val="14142B"/>
                </a:solidFill>
              </a:rPr>
              <a:t>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¿Te salen letras latinas? Win + Espacio o la 'A' junto a la hora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Teclado, consonantes a la izquierda: A S D F G = ㅁ ㄴ ㅇ ㄹ ㅎ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Vocales a la derecha: H J K L = ㅗ ㅓ ㅏ ㅣ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요즘 어떻게 지내요</a:t>
            </a:r>
            <a:r>
              <a:rPr lang="en-US" sz="2200" dirty="0">
                <a:solidFill>
                  <a:srgbClr val="14142B"/>
                </a:solidFill>
              </a:rPr>
              <a:t>? —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지내요</a:t>
            </a:r>
            <a:r>
              <a:rPr lang="en-US" sz="2200" dirty="0">
                <a:solidFill>
                  <a:srgbClr val="14142B"/>
                </a:solidFill>
              </a:rPr>
              <a:t>. ___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씨는요</a:t>
            </a:r>
            <a:r>
              <a:rPr lang="en-US" sz="2200" dirty="0">
                <a:solidFill>
                  <a:srgbClr val="14142B"/>
                </a:solidFill>
              </a:rPr>
              <a:t>?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4100" b="1" dirty="0">
                <a:solidFill>
                  <a:srgbClr val="4236F6"/>
                </a:solidFill>
              </a:rPr>
              <a:t>!</a:t>
            </a:r>
            <a:endParaRPr lang="en-US" sz="41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 한국어 </a:t>
            </a:r>
            <a:r>
              <a:rPr lang="en-US" sz="6600" b="1" dirty="0">
                <a:solidFill>
                  <a:srgbClr val="E8B84B"/>
                </a:solidFill>
              </a:rPr>
              <a:t>2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Básico 2 · Semana 1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900" dirty="0">
                <a:solidFill>
                  <a:srgbClr val="E8B84B"/>
                </a:solidFill>
              </a:rPr>
              <a:t>Básico 2 (A1.2) · Pasado, presente y futuro · Re-presentación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19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</a:t>
            </a:r>
            <a:r>
              <a:rPr lang="en-US" sz="1900" dirty="0">
                <a:solidFill>
                  <a:srgbClr val="E8B84B"/>
                </a:solidFill>
              </a:rPr>
              <a:t>, </a:t>
            </a:r>
            <a:r>
              <a:rPr lang="ko-KR" altLang="en-US" sz="19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반갑습니다</a:t>
            </a:r>
            <a:r>
              <a:rPr lang="en-US" sz="1900" dirty="0">
                <a:solidFill>
                  <a:srgbClr val="E8B84B"/>
                </a:solidFill>
              </a:rPr>
              <a:t>!</a:t>
            </a:r>
            <a:endParaRPr lang="en-US" sz="2200" dirty="0"/>
          </a:p>
          <a:p>
            <a:pPr marL="0" indent="0" eaLnBrk="1">
              <a:buNone/>
            </a:pPr>
            <a:r>
              <a:rPr lang="en-US" sz="1900" dirty="0">
                <a:solidFill>
                  <a:srgbClr val="E8B84B"/>
                </a:solidFill>
              </a:rPr>
              <a:t>Miércoles 14 de octubre de 2026 · 21:00 (hora de Chile)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19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Jay Kim · 김재희 선생님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Así es Básico 2</a:t>
            </a:r>
            <a:r>
              <a:rPr lang="en-US" sz="1500" b="1" i="1" dirty="0">
                <a:solidFill>
                  <a:srgbClr val="8A8DA0"/>
                </a:solidFill>
              </a:rPr>
              <a:t>   This is Basic 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8 semanas · el curso de los tres tiempos</a:t>
            </a:r>
            <a:endParaRPr lang="en-US" sz="1800" dirty="0"/>
          </a:p>
        </p:txBody>
      </p:sp>
      <p:graphicFrame>
        <p:nvGraphicFramePr>
          <p:cNvPr id="4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6628412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Semana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Qué vemos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S1–S3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Presente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S4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Pasado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S5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Futuro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S6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No, no puedo, sé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S7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Partículas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S8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Conversación de 5 minutos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Cada clase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Quiz · lección · drill · salas · cierre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Hoy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Sin quiz · diagnóstico de 2 minutos, sin nota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Adiós, romanización</a:t>
            </a:r>
            <a:r>
              <a:rPr lang="en-US" sz="1500" b="1" i="1" dirty="0">
                <a:solidFill>
                  <a:srgbClr val="8A8DA0"/>
                </a:solidFill>
              </a:rPr>
              <a:t>   Goodbye, romanization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Antes: [letras latinas] · Desde hoy, el corchete va en 한글</a:t>
            </a:r>
            <a:r>
              <a:rPr lang="en-US" sz="1800" i="1" dirty="0">
                <a:solidFill>
                  <a:srgbClr val="4236F6"/>
                </a:solidFill>
              </a:rPr>
              <a:t>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</a:t>
            </a:r>
            <a:r>
              <a:rPr lang="en-US" sz="1800" i="1" dirty="0">
                <a:solidFill>
                  <a:srgbClr val="4236F6"/>
                </a:solidFill>
              </a:rPr>
              <a:t>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</a:t>
            </a:r>
            <a:r>
              <a:rPr lang="en-US" sz="1800" i="1" dirty="0">
                <a:solidFill>
                  <a:srgbClr val="4236F6"/>
                </a:solidFill>
              </a:rPr>
              <a:t>]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 </a:t>
            </a:r>
            <a:r>
              <a:rPr lang="en-US" sz="1800" i="1" dirty="0">
                <a:solidFill>
                  <a:srgbClr val="4236F6"/>
                </a:solidFill>
              </a:rPr>
              <a:t>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이써요</a:t>
            </a:r>
            <a:r>
              <a:rPr lang="en-US" sz="1800" i="1" dirty="0">
                <a:solidFill>
                  <a:srgbClr val="4236F6"/>
                </a:solidFill>
              </a:rPr>
              <a:t>]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Ya lees 한글</a:t>
            </a:r>
            <a:r>
              <a:rPr lang="en-US" sz="2000" dirty="0">
                <a:solidFill>
                  <a:srgbClr val="14142B"/>
                </a:solidFill>
              </a:rPr>
              <a:t>: las letras latinas no te suman, te restan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Te hacen pronunciar en español: la jota, la 'eo' como dos vocales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dicen cómo suena de verdad: 있어요 </a:t>
            </a:r>
            <a:r>
              <a:rPr lang="en-US" sz="2000" dirty="0">
                <a:solidFill>
                  <a:srgbClr val="14142B"/>
                </a:solidFill>
              </a:rPr>
              <a:t>se dice [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이써요</a:t>
            </a:r>
            <a:r>
              <a:rPr lang="en-US" sz="2000" dirty="0">
                <a:solidFill>
                  <a:srgbClr val="14142B"/>
                </a:solidFill>
              </a:rPr>
              <a:t>]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Fuera de clase no existen: ni en KakaoTalk ni en el TOPIK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¿No te sale? Escúchala (grabación, Lector, audio del material) y mira el corchete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imagen_pendiente"/>
          <p:cNvSpPr txBox="1"/>
          <p:nvPr/>
        </p:nvSpPr>
        <p:spPr>
          <a:xfrm>
            <a:off x="8183880" y="1600200"/>
            <a:ext cx="3246120" cy="41148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4236F6"/>
                </a:solidFill>
              </a:rPr>
              <a:t>Imagen pendiente</a:t>
            </a:r>
            <a:endParaRPr lang="en-US" sz="1600" dirty="0"/>
          </a:p>
          <a:p>
            <a:pPr marL="0" indent="0" algn="ctr" eaLnBrk="1">
              <a:buNone/>
            </a:pPr>
            <a:r>
              <a:rPr lang="en-US" sz="1300" dirty="0">
                <a:solidFill>
                  <a:srgbClr val="5C5F6B"/>
                </a:solidFill>
              </a:rPr>
              <a:t>Cuatro íconos simples, uno por razón (estilo de la casa, sin rojo)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Así me presento</a:t>
            </a:r>
            <a:r>
              <a:rPr lang="en-US" sz="1500" b="1" i="1" dirty="0">
                <a:solidFill>
                  <a:srgbClr val="8A8DA0"/>
                </a:solidFill>
              </a:rPr>
              <a:t>   This is 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Escucha: cada frase, dos veces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2400" dirty="0">
                <a:solidFill>
                  <a:srgbClr val="14142B"/>
                </a:solidFill>
              </a:rPr>
              <a:t>!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김재희예요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반갑습니다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고향은 서울이에요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칠레에 살아요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한국어 선생님이에요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대학생이 아니에요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형제가 있어요</a:t>
            </a:r>
            <a:r>
              <a:rPr lang="en-US" sz="2400" dirty="0">
                <a:solidFill>
                  <a:srgbClr val="14142B"/>
                </a:solidFill>
              </a:rPr>
              <a:t>?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누나가 한 명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취미는 운동이에요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운동해요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우리 집에 강아지가 있어요</a:t>
            </a:r>
            <a:r>
              <a:rPr lang="en-US" sz="2400" dirty="0">
                <a:solidFill>
                  <a:srgbClr val="14142B"/>
                </a:solidFill>
              </a:rPr>
              <a:t>!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이름은 두부예요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imagen_pendiente"/>
          <p:cNvSpPr txBox="1"/>
          <p:nvPr/>
        </p:nvSpPr>
        <p:spPr>
          <a:xfrm>
            <a:off x="8183880" y="1600200"/>
            <a:ext cx="3246120" cy="41148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4236F6"/>
                </a:solidFill>
              </a:rPr>
              <a:t>Imagen pendiente</a:t>
            </a:r>
            <a:endParaRPr lang="en-US" sz="1600" dirty="0"/>
          </a:p>
          <a:p>
            <a:pPr marL="0" indent="0" algn="ctr" eaLnBrk="1">
              <a:buNone/>
            </a:pPr>
            <a:r>
              <a:rPr lang="en-US" sz="1300" dirty="0">
                <a:solidFill>
                  <a:srgbClr val="5C5F6B"/>
                </a:solidFill>
              </a:rPr>
              <a:t>6 fotos de Jay, una por frase: su ciudad natal, su ciudad de hoy, su trabajo, su familia, su pasatiempo y su mascota (fotos propias)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¿Entendiste?</a:t>
            </a:r>
            <a:r>
              <a:rPr lang="en-US" sz="1500" b="1" i="1" dirty="0">
                <a:solidFill>
                  <a:srgbClr val="8A8DA0"/>
                </a:solidFill>
              </a:rPr>
              <a:t>   Did you get it?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고향이 </a:t>
            </a:r>
            <a:r>
              <a:rPr lang="en-US" sz="1800" i="1" dirty="0">
                <a:solidFill>
                  <a:srgbClr val="4236F6"/>
                </a:solidFill>
              </a:rPr>
              <a:t>(pregunto)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고향은 </a:t>
            </a:r>
            <a:r>
              <a:rPr lang="en-US" sz="1800" i="1" dirty="0">
                <a:solidFill>
                  <a:srgbClr val="4236F6"/>
                </a:solidFill>
              </a:rPr>
              <a:t>(me presento) · Responde en coro o en el chat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고향이 어디예요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7" name="rev_0_caja"/>
          <p:cNvSpPr/>
          <p:nvPr/>
        </p:nvSpPr>
        <p:spPr>
          <a:xfrm>
            <a:off x="6702552" y="200253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0_txt"/>
          <p:cNvSpPr txBox="1"/>
          <p:nvPr/>
        </p:nvSpPr>
        <p:spPr>
          <a:xfrm>
            <a:off x="6793992" y="2002536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서울이에요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선생님은 지금 어디에 살아요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2" name="rev_1_caja"/>
          <p:cNvSpPr/>
          <p:nvPr/>
        </p:nvSpPr>
        <p:spPr>
          <a:xfrm>
            <a:off x="6702552" y="2999232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_txt"/>
          <p:cNvSpPr txBox="1"/>
          <p:nvPr/>
        </p:nvSpPr>
        <p:spPr>
          <a:xfrm>
            <a:off x="6793992" y="2999232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칠레에 살아요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직업이 뭐예요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7" name="rev_2_caja"/>
          <p:cNvSpPr/>
          <p:nvPr/>
        </p:nvSpPr>
        <p:spPr>
          <a:xfrm>
            <a:off x="6702552" y="3995928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_txt"/>
          <p:cNvSpPr txBox="1"/>
          <p:nvPr/>
        </p:nvSpPr>
        <p:spPr>
          <a:xfrm>
            <a:off x="6793992" y="3995928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선생님이에요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선생님은 형제가 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22" name="rev_3_caja"/>
          <p:cNvSpPr/>
          <p:nvPr/>
        </p:nvSpPr>
        <p:spPr>
          <a:xfrm>
            <a:off x="6702552" y="4992624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_txt"/>
          <p:cNvSpPr txBox="1"/>
          <p:nvPr/>
        </p:nvSpPr>
        <p:spPr>
          <a:xfrm>
            <a:off x="6793992" y="4992624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000" b="1" dirty="0">
                <a:solidFill>
                  <a:srgbClr val="FFFFFF"/>
                </a:solidFill>
              </a:rPr>
              <a:t>, 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r>
              <a:rPr lang="en-US" sz="2000" b="1" dirty="0">
                <a:solidFill>
                  <a:srgbClr val="FFFFFF"/>
                </a:solidFill>
              </a:rPr>
              <a:t>! (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누나가 한 명 있어요</a:t>
            </a:r>
            <a:r>
              <a:rPr lang="en-US" sz="2000" b="1" dirty="0">
                <a:solidFill>
                  <a:srgbClr val="FFFFFF"/>
                </a:solidFill>
              </a:rPr>
              <a:t>!)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 </a:t>
            </a:r>
            <a:r>
              <a:rPr lang="en-US" sz="2200" b="1" dirty="0">
                <a:solidFill>
                  <a:srgbClr val="4236F6"/>
                </a:solidFill>
              </a:rPr>
              <a:t>·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 </a:t>
            </a:r>
            <a:r>
              <a:rPr lang="en-US" sz="2200" b="1" dirty="0">
                <a:solidFill>
                  <a:srgbClr val="4236F6"/>
                </a:solidFill>
              </a:rPr>
              <a:t>·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아니에요  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Ser: 이에요</a:t>
            </a:r>
            <a:r>
              <a:rPr lang="en-US" sz="2200" b="1" dirty="0">
                <a:solidFill>
                  <a:srgbClr val="003478"/>
                </a:solidFill>
              </a:rPr>
              <a:t>/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 </a:t>
            </a:r>
            <a:r>
              <a:rPr lang="en-US" sz="2200" b="1" dirty="0">
                <a:solidFill>
                  <a:srgbClr val="003478"/>
                </a:solidFill>
              </a:rPr>
              <a:t>· no ser: 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200" b="1" dirty="0">
                <a:solidFill>
                  <a:srgbClr val="003478"/>
                </a:solidFill>
              </a:rPr>
              <a:t>/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아니에요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el chat: 저는 </a:t>
            </a:r>
            <a:r>
              <a:rPr lang="en-US" sz="1800" i="1" dirty="0">
                <a:solidFill>
                  <a:srgbClr val="4236F6"/>
                </a:solidFill>
              </a:rPr>
              <a:t>___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r>
              <a:rPr lang="en-US" sz="1800" i="1" dirty="0">
                <a:solidFill>
                  <a:srgbClr val="4236F6"/>
                </a:solidFill>
              </a:rPr>
              <a:t>. ___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아니에요</a:t>
            </a:r>
            <a:r>
              <a:rPr lang="en-US" sz="1800" i="1" dirty="0">
                <a:solidFill>
                  <a:srgbClr val="4236F6"/>
                </a:solidFill>
              </a:rPr>
              <a:t>.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아니에요 </a:t>
            </a:r>
            <a:r>
              <a:rPr lang="en-US" sz="1800" i="1" dirty="0">
                <a:solidFill>
                  <a:srgbClr val="4236F6"/>
                </a:solidFill>
              </a:rPr>
              <a:t>siempre lleva su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1800" i="1" dirty="0">
                <a:solidFill>
                  <a:srgbClr val="4236F6"/>
                </a:solidFill>
              </a:rPr>
              <a:t>o su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Termina en consonante (받침</a:t>
            </a:r>
            <a:r>
              <a:rPr lang="en-US" sz="2000" b="1" dirty="0">
                <a:solidFill>
                  <a:srgbClr val="003478"/>
                </a:solidFill>
              </a:rPr>
              <a:t>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 </a:t>
            </a:r>
            <a:r>
              <a:rPr lang="en-US" sz="2800" b="1" dirty="0">
                <a:solidFill>
                  <a:srgbClr val="4236F6"/>
                </a:solidFill>
              </a:rPr>
              <a:t>·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endParaRPr lang="en-US" sz="2800" dirty="0"/>
          </a:p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아니에요</a:t>
            </a:r>
            <a:endParaRPr lang="en-US" sz="28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회사원이에요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선생님이에요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학생이 아니에요</a:t>
            </a:r>
            <a:endParaRPr lang="en-US" sz="1800" dirty="0"/>
          </a:p>
        </p:txBody>
      </p:sp>
      <p:sp>
        <p:nvSpPr>
          <p:cNvPr id="8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Termina en vocal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 </a:t>
            </a:r>
            <a:r>
              <a:rPr lang="en-US" sz="2800" b="1" dirty="0">
                <a:solidFill>
                  <a:srgbClr val="4236F6"/>
                </a:solidFill>
              </a:rPr>
              <a:t>·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endParaRPr lang="en-US" sz="2800" dirty="0"/>
          </a:p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아니에요</a:t>
            </a:r>
            <a:endParaRPr lang="en-US" sz="2800" dirty="0"/>
          </a:p>
        </p:txBody>
      </p:sp>
      <p:sp>
        <p:nvSpPr>
          <p:cNvPr id="11" name="lista"/>
          <p:cNvSpPr txBox="1"/>
          <p:nvPr/>
        </p:nvSpPr>
        <p:spPr>
          <a:xfrm>
            <a:off x="4535424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의사예요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요리예요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의사가 아니에요</a:t>
            </a:r>
            <a:endParaRPr lang="en-US" sz="1800" dirty="0"/>
          </a:p>
        </p:txBody>
      </p:sp>
      <p:sp>
        <p:nvSpPr>
          <p:cNvPr id="12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¿La tuya? En el chat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직업</a:t>
            </a:r>
            <a:endParaRPr lang="en-US" sz="5400" dirty="0"/>
          </a:p>
        </p:txBody>
      </p:sp>
      <p:sp>
        <p:nvSpPr>
          <p:cNvPr id="15" name="lista"/>
          <p:cNvSpPr txBox="1"/>
          <p:nvPr/>
        </p:nvSpPr>
        <p:spPr>
          <a:xfrm>
            <a:off x="8339328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회사원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대학생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¿Ser o estar?</a:t>
            </a:r>
            <a:r>
              <a:rPr lang="en-US" sz="1500" b="1" i="1" dirty="0">
                <a:solidFill>
                  <a:srgbClr val="8A8DA0"/>
                </a:solidFill>
              </a:rPr>
              <a:t>   Be or be located?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 en español puedes decir 'estar', no es 이에요</a:t>
            </a:r>
            <a:endParaRPr lang="en-US" sz="1800" dirty="0"/>
          </a:p>
        </p:txBody>
      </p:sp>
      <p:graphicFrame>
        <p:nvGraphicFramePr>
          <p:cNvPr id="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3727977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En 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Se dice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No se dice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Soy empleada.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회사원이에요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Estoy en casa.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집에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집이에요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*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Vivo en Santiago.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산티아고에 살아요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산티아고예요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*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Mi ciudad natal es México.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 고향은 멕시코예요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— (está bien: ahí sí 'es')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2600" b="1" dirty="0">
                <a:solidFill>
                  <a:srgbClr val="003478"/>
                </a:solidFill>
              </a:rPr>
              <a:t>/</a:t>
            </a:r>
            <a:r>
              <a:rPr lang="ko-KR" altLang="en-US" sz="26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sz="2600" b="1" dirty="0">
                <a:solidFill>
                  <a:srgbClr val="003478"/>
                </a:solidFill>
              </a:rPr>
              <a:t>· </a:t>
            </a:r>
            <a:r>
              <a:rPr lang="ko-KR" altLang="en-US" sz="26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600" b="1" dirty="0">
                <a:solidFill>
                  <a:srgbClr val="003478"/>
                </a:solidFill>
              </a:rPr>
              <a:t>/</a:t>
            </a:r>
            <a:r>
              <a:rPr lang="ko-KR" altLang="en-US" sz="26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2600" b="1" dirty="0">
                <a:solidFill>
                  <a:srgbClr val="003478"/>
                </a:solidFill>
              </a:rPr>
              <a:t>: la duda eterna</a:t>
            </a:r>
            <a:r>
              <a:rPr lang="ko-KR" altLang="en-US" sz="1500" b="1" i="1" dirty="0">
                <a:solidFill>
                  <a:srgbClr val="8A8DA0"/>
                </a:solidFill>
              </a:rPr>
              <a:t>   은/는 vs 이/가: the eternal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Regla de bolsillo · hoy la usamos en un solo lugar: la entrevista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'En cuanto a…'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5400" b="1" dirty="0">
                <a:solidFill>
                  <a:srgbClr val="4236F6"/>
                </a:solidFill>
              </a:rPr>
              <a:t>/</a:t>
            </a: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Presentas un tema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Comparas (contraste)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카밀라 씨는 회사원이에요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다니엘 씨는 대학생이에요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'El que…, la que…'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5400" b="1" dirty="0">
                <a:solidFill>
                  <a:srgbClr val="4236F6"/>
                </a:solidFill>
              </a:rPr>
              <a:t>/</a:t>
            </a: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Lo que preguntas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Lo nuevo, lo que hay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대학생이에요</a:t>
            </a:r>
            <a:r>
              <a:rPr lang="en-US" sz="2000" dirty="0">
                <a:solidFill>
                  <a:srgbClr val="14142B"/>
                </a:solidFill>
              </a:rPr>
              <a:t>? —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다니엘 씨가 대학생이에요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 entrevista</a:t>
            </a:r>
            <a:r>
              <a:rPr lang="en-US" sz="1500" b="1" i="1" dirty="0">
                <a:solidFill>
                  <a:srgbClr val="8A8DA0"/>
                </a:solidFill>
              </a:rPr>
              <a:t>   The interview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pregunta con 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· la respuesta con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</a:t>
            </a:r>
            <a:r>
              <a:rPr lang="en-US" sz="1800" i="1" dirty="0">
                <a:solidFill>
                  <a:srgbClr val="4236F6"/>
                </a:solidFill>
              </a:rPr>
              <a:t>= mi (forma humilde)</a:t>
            </a:r>
            <a:endParaRPr lang="en-US" sz="1800" dirty="0"/>
          </a:p>
        </p:txBody>
      </p:sp>
      <p:graphicFrame>
        <p:nvGraphicFramePr>
          <p:cNvPr id="11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968946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Pregunta (이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/</a:t>
                      </a: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Respuesta (은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/</a:t>
                      </a: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는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이름이 뭐예요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 이름은 카밀라예요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고향이 어디예요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 고향은 멕시코예요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지금은 칠레에 살아요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직업이 뭐예요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회사원이에요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취미가 뭐예요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 취미는 요리예요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¿이 </a:t>
            </a:r>
            <a:r>
              <a:rPr lang="en-US" sz="3000" b="1" dirty="0">
                <a:solidFill>
                  <a:srgbClr val="003478"/>
                </a:solidFill>
              </a:rPr>
              <a:t>o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3000" b="1" dirty="0">
                <a:solidFill>
                  <a:srgbClr val="003478"/>
                </a:solidFill>
              </a:rPr>
              <a:t>?</a:t>
            </a:r>
            <a:r>
              <a:rPr lang="ko-KR" altLang="en-US" sz="1500" b="1" i="1" dirty="0">
                <a:solidFill>
                  <a:srgbClr val="8A8DA0"/>
                </a:solidFill>
              </a:rPr>
              <a:t>   이 or 은?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Hoy: a, d, e y f (b y c si vamos adelantados) · Vota en el chat: 1 = 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· 2 =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a) 취미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7" name="rev_4_caja"/>
          <p:cNvSpPr/>
          <p:nvPr/>
        </p:nvSpPr>
        <p:spPr>
          <a:xfrm>
            <a:off x="6702552" y="2002536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4_txt"/>
          <p:cNvSpPr txBox="1"/>
          <p:nvPr/>
        </p:nvSpPr>
        <p:spPr>
          <a:xfrm>
            <a:off x="6793992" y="2002536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취미가 뭐예요</a:t>
            </a:r>
            <a:r>
              <a:rPr lang="en-US" sz="2200" b="1" dirty="0">
                <a:solidFill>
                  <a:srgbClr val="FFFFFF"/>
                </a:solidFill>
              </a:rPr>
              <a:t>?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88336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b) 제 취미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요리예요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2" name="rev_5_caja"/>
          <p:cNvSpPr/>
          <p:nvPr/>
        </p:nvSpPr>
        <p:spPr>
          <a:xfrm>
            <a:off x="6702552" y="2724912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5_txt"/>
          <p:cNvSpPr txBox="1"/>
          <p:nvPr/>
        </p:nvSpPr>
        <p:spPr>
          <a:xfrm>
            <a:off x="6793992" y="2724912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제 취미는 요리예요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10712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c) 고향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7" name="rev_6_caja"/>
          <p:cNvSpPr/>
          <p:nvPr/>
        </p:nvSpPr>
        <p:spPr>
          <a:xfrm>
            <a:off x="6702552" y="3447288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6_txt"/>
          <p:cNvSpPr txBox="1"/>
          <p:nvPr/>
        </p:nvSpPr>
        <p:spPr>
          <a:xfrm>
            <a:off x="6793992" y="3447288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고향이 어디예요</a:t>
            </a:r>
            <a:r>
              <a:rPr lang="en-US" sz="2200" b="1" dirty="0">
                <a:solidFill>
                  <a:srgbClr val="FFFFFF"/>
                </a:solidFill>
              </a:rPr>
              <a:t>?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33088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d) 제 고향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부산이에요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서울에 살아요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22" name="rev_7_caja"/>
          <p:cNvSpPr/>
          <p:nvPr/>
        </p:nvSpPr>
        <p:spPr>
          <a:xfrm>
            <a:off x="6702552" y="4169664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7_txt"/>
          <p:cNvSpPr txBox="1"/>
          <p:nvPr/>
        </p:nvSpPr>
        <p:spPr>
          <a:xfrm>
            <a:off x="6793992" y="4169664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y 2 · 제 고향은 부산이에요</a:t>
            </a:r>
            <a:r>
              <a:rPr lang="en-US" sz="1500" b="1" dirty="0">
                <a:solidFill>
                  <a:srgbClr val="FFFFFF"/>
                </a:solidFill>
              </a:rPr>
              <a:t>. </a:t>
            </a: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서울에 살아요</a:t>
            </a:r>
            <a:r>
              <a:rPr lang="en-US" sz="1500" b="1" dirty="0">
                <a:solidFill>
                  <a:srgbClr val="FFFFFF"/>
                </a:solidFill>
              </a:rPr>
              <a:t>.</a:t>
            </a:r>
            <a:endParaRPr lang="en-US" sz="1500" dirty="0"/>
          </a:p>
        </p:txBody>
      </p:sp>
      <p:sp>
        <p:nvSpPr>
          <p:cNvPr id="24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855464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e) 누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대학생이에요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27" name="rev_8_caja"/>
          <p:cNvSpPr/>
          <p:nvPr/>
        </p:nvSpPr>
        <p:spPr>
          <a:xfrm>
            <a:off x="6702552" y="4892040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8_txt"/>
          <p:cNvSpPr txBox="1"/>
          <p:nvPr/>
        </p:nvSpPr>
        <p:spPr>
          <a:xfrm>
            <a:off x="6793992" y="4892040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누가 대학생이에요</a:t>
            </a:r>
            <a:r>
              <a:rPr lang="en-US" sz="1800" b="1" dirty="0">
                <a:solidFill>
                  <a:srgbClr val="FFFFFF"/>
                </a:solidFill>
              </a:rPr>
              <a:t>? (nunca </a:t>
            </a: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누구가</a:t>
            </a:r>
            <a:r>
              <a:rPr lang="en-US" sz="1800" b="1" dirty="0">
                <a:solidFill>
                  <a:srgbClr val="FFFFFF"/>
                </a:solidFill>
              </a:rPr>
              <a:t>)</a:t>
            </a:r>
            <a:endParaRPr lang="en-US" sz="1800" dirty="0"/>
          </a:p>
        </p:txBody>
      </p:sp>
      <p:sp>
        <p:nvSpPr>
          <p:cNvPr id="29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577840"/>
            <a:ext cx="5285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f) 강아지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32" name="rev_9_caja"/>
          <p:cNvSpPr/>
          <p:nvPr/>
        </p:nvSpPr>
        <p:spPr>
          <a:xfrm>
            <a:off x="6702552" y="5614416"/>
            <a:ext cx="4937760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3" name="rev_9_txt"/>
          <p:cNvSpPr txBox="1"/>
          <p:nvPr/>
        </p:nvSpPr>
        <p:spPr>
          <a:xfrm>
            <a:off x="6793992" y="5614416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강아지가 있어요</a:t>
            </a:r>
            <a:r>
              <a:rPr lang="en-US" sz="2200" b="1" dirty="0">
                <a:solidFill>
                  <a:srgbClr val="FFFFFF"/>
                </a:solidFill>
              </a:rPr>
              <a:t>?</a:t>
            </a:r>
            <a:endParaRPr lang="en-US" sz="2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  <p:bldP spid="3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 </a:t>
            </a:r>
            <a:r>
              <a:rPr lang="en-US" sz="2200" b="1" dirty="0">
                <a:solidFill>
                  <a:srgbClr val="4236F6"/>
                </a:solidFill>
              </a:rPr>
              <a:t>·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 </a:t>
            </a:r>
            <a:r>
              <a:rPr lang="en-US" sz="2200" b="1" dirty="0">
                <a:solidFill>
                  <a:srgbClr val="4236F6"/>
                </a:solidFill>
              </a:rPr>
              <a:t>·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 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'Tener' = 'hay' · 누가</a:t>
            </a:r>
            <a:r>
              <a:rPr lang="en-US" sz="1500" b="1" i="1" dirty="0">
                <a:solidFill>
                  <a:srgbClr val="8A8DA0"/>
                </a:solidFill>
              </a:rPr>
              <a:t>   'To have' = 'there is' · who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 que hay o tienes lleva 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Tener = hay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4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 </a:t>
            </a:r>
            <a:r>
              <a:rPr lang="en-US" sz="4800" b="1" dirty="0">
                <a:solidFill>
                  <a:srgbClr val="4236F6"/>
                </a:solidFill>
              </a:rPr>
              <a:t>/ </a:t>
            </a:r>
            <a:r>
              <a:rPr lang="ko-KR" altLang="en-US" sz="4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endParaRPr lang="en-US" sz="48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형제가 있어요</a:t>
            </a:r>
            <a:r>
              <a:rPr lang="en-US" sz="2000" dirty="0">
                <a:solidFill>
                  <a:srgbClr val="14142B"/>
                </a:solidFill>
              </a:rPr>
              <a:t>?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오빠가 한 명 있어요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외동이에요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형제가 없어요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tener: 없어요 </a:t>
            </a:r>
            <a:r>
              <a:rPr lang="en-US" sz="2000" dirty="0">
                <a:solidFill>
                  <a:srgbClr val="14142B"/>
                </a:solidFill>
              </a:rPr>
              <a:t>(nunca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있어요</a:t>
            </a:r>
            <a:r>
              <a:rPr lang="en-US" sz="2000" dirty="0">
                <a:solidFill>
                  <a:srgbClr val="14142B"/>
                </a:solidFill>
              </a:rPr>
              <a:t>)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¿Quién? (sujeto)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4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 </a:t>
            </a:r>
            <a:r>
              <a:rPr lang="en-US" sz="4700" b="1" dirty="0">
                <a:solidFill>
                  <a:srgbClr val="4236F6"/>
                </a:solidFill>
              </a:rPr>
              <a:t>+ </a:t>
            </a:r>
            <a:r>
              <a:rPr lang="ko-KR" altLang="en-US" sz="4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4700" b="1" dirty="0">
                <a:solidFill>
                  <a:srgbClr val="4236F6"/>
                </a:solidFill>
              </a:rPr>
              <a:t>= </a:t>
            </a:r>
            <a:r>
              <a:rPr lang="ko-KR" altLang="en-US" sz="4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</a:t>
            </a:r>
            <a:endParaRPr lang="en-US" sz="47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대학생이에요</a:t>
            </a:r>
            <a:r>
              <a:rPr lang="en-US" sz="2000" dirty="0">
                <a:solidFill>
                  <a:srgbClr val="14142B"/>
                </a:solidFill>
              </a:rPr>
              <a:t>?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다니엘 씨가 대학생이에요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 eres tú: 제가요</a:t>
            </a:r>
            <a:r>
              <a:rPr lang="en-US" sz="2000" dirty="0">
                <a:solidFill>
                  <a:srgbClr val="14142B"/>
                </a:solidFill>
              </a:rPr>
              <a:t>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-아요 </a:t>
            </a:r>
            <a:r>
              <a:rPr lang="en-US" sz="2600" b="1" dirty="0">
                <a:solidFill>
                  <a:srgbClr val="4236F6"/>
                </a:solidFill>
              </a:rPr>
              <a:t>/ -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  </a:t>
            </a:r>
            <a:r>
              <a:rPr lang="en-US" sz="2600" b="1" dirty="0">
                <a:solidFill>
                  <a:srgbClr val="003478"/>
                </a:solidFill>
              </a:rPr>
              <a:t>La máquina de conjugar</a:t>
            </a:r>
            <a:r>
              <a:rPr lang="en-US" sz="1500" b="1" i="1" dirty="0">
                <a:solidFill>
                  <a:srgbClr val="8A8DA0"/>
                </a:solidFill>
              </a:rPr>
              <a:t>   The conjugation machine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¿Dónde trabajas? 회사에서 일해요 </a:t>
            </a:r>
            <a:r>
              <a:rPr lang="en-US" sz="1800" i="1" dirty="0">
                <a:solidFill>
                  <a:srgbClr val="4236F6"/>
                </a:solidFill>
              </a:rPr>
              <a:t>→ semana 3</a:t>
            </a:r>
            <a:endParaRPr lang="en-US" sz="1800" dirty="0"/>
          </a:p>
        </p:txBody>
      </p:sp>
      <p:graphicFrame>
        <p:nvGraphicFramePr>
          <p:cNvPr id="14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81038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Última vocal de la raíz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Terminación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Ejemplos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ㅏ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u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ㅗ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살다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살아요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(vivo)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Cualquier otra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배우다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배워요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(aprendo)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일하다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공부하다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공부해요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¡Ojo!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살아요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≠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살아요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= vivo (la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ㄹ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se queda)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= compro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연음  </a:t>
            </a:r>
            <a:r>
              <a:rPr lang="en-US" sz="3000" b="1" dirty="0">
                <a:solidFill>
                  <a:srgbClr val="003478"/>
                </a:solidFill>
              </a:rPr>
              <a:t>La consonante se muda</a:t>
            </a:r>
            <a:r>
              <a:rPr lang="en-US" sz="1500" b="1" i="1" dirty="0">
                <a:solidFill>
                  <a:srgbClr val="8A8DA0"/>
                </a:solidFill>
              </a:rPr>
              <a:t>   The consonant moves over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Consonante final + ㅇ </a:t>
            </a:r>
            <a:r>
              <a:rPr lang="en-US" sz="1800" i="1" dirty="0">
                <a:solidFill>
                  <a:srgbClr val="4236F6"/>
                </a:solidFill>
              </a:rPr>
              <a:t>(la silla vacía) → la consonante se muda</a:t>
            </a:r>
            <a:endParaRPr lang="en-US" sz="1800" dirty="0"/>
          </a:p>
        </p:txBody>
      </p:sp>
      <p:graphicFrame>
        <p:nvGraphicFramePr>
          <p:cNvPr id="1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8459465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Se escribe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Se dice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Qué pasa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살아요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[사라요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 ㄹ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se muda a la silla vacía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직업이에요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[지거비에요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La consonante se muda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[이써요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La consonante se muda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이름이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[이르미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La consonante se muda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고향이에요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sin cambio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Excepción: la ㅇ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de abajo no se muda (suena como en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좋아해요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[조아해요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Excepción: la ㅎ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de abajo se cae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대학생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반갑습니다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[대학쌩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] · [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반갑씀니다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Imita tal cual (la regla, en la semana 3)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 </a:t>
            </a:r>
            <a:r>
              <a:rPr lang="en-US" sz="2200" b="1" dirty="0">
                <a:solidFill>
                  <a:srgbClr val="4236F6"/>
                </a:solidFill>
              </a:rPr>
              <a:t>·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반갑습니다  </a:t>
            </a:r>
            <a:r>
              <a:rPr lang="en-US" sz="2200" b="1" dirty="0">
                <a:solidFill>
                  <a:srgbClr val="003478"/>
                </a:solidFill>
              </a:rPr>
              <a:t>La inclinación al conocerse</a:t>
            </a:r>
            <a:r>
              <a:rPr lang="en-US" sz="1500" b="1" i="1" dirty="0">
                <a:solidFill>
                  <a:srgbClr val="8A8DA0"/>
                </a:solidFill>
              </a:rPr>
              <a:t>   The small bow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 conocerse: 인사 </a:t>
            </a:r>
            <a:r>
              <a:rPr lang="en-US" sz="1800" i="1" dirty="0">
                <a:solidFill>
                  <a:srgbClr val="4236F6"/>
                </a:solidFill>
              </a:rPr>
              <a:t>+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반갑습니다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 conocerse: una pequeña inclinación (인사</a:t>
            </a:r>
            <a:r>
              <a:rPr lang="en-US" sz="2200" dirty="0">
                <a:solidFill>
                  <a:srgbClr val="14142B"/>
                </a:solidFill>
              </a:rPr>
              <a:t>) y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반갑습니다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el trabajo, también la mano (악수</a:t>
            </a:r>
            <a:r>
              <a:rPr lang="en-US" sz="2200" dirty="0">
                <a:solidFill>
                  <a:srgbClr val="14142B"/>
                </a:solidFill>
              </a:rPr>
              <a:t>), con la cabeza un poco inclinada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Donde damos la mano o un beso, la inclinación hace ese trabajo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¿Te preguntan la edad? Es para saber cómo hablarte → semana 2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 </a:t>
            </a:r>
            <a:r>
              <a:rPr lang="en-US" sz="4600" b="1" dirty="0">
                <a:solidFill>
                  <a:srgbClr val="4236F6"/>
                </a:solidFill>
              </a:rPr>
              <a:t>·</a:t>
            </a:r>
            <a:endParaRPr lang="en-US" sz="4600" dirty="0"/>
          </a:p>
          <a:p>
            <a:pPr marL="0" indent="0" algn="ctr" eaLnBrk="1">
              <a:buNone/>
            </a:pPr>
            <a:r>
              <a:rPr lang="ko-KR" altLang="en-US" sz="4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반갑습니다</a:t>
            </a:r>
            <a:endParaRPr lang="en-US" sz="4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씨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 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씨 </a:t>
            </a:r>
            <a:r>
              <a:rPr lang="en-US" sz="3000" b="1" dirty="0">
                <a:solidFill>
                  <a:srgbClr val="003478"/>
                </a:solidFill>
              </a:rPr>
              <a:t>y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</a:t>
            </a:r>
            <a:r>
              <a:rPr lang="ko-KR" altLang="en-US" sz="1500" b="1" i="1" dirty="0">
                <a:solidFill>
                  <a:srgbClr val="8A8DA0"/>
                </a:solidFill>
              </a:rPr>
              <a:t>   씨 and 선생님 (how to address people)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Frase ancla, todos a la vez y con inclinación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Entre compañeros: nombre + 씨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다니엘 씨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카밀라 씨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Nunca con tu propio nombre: 저는 카밀라 씨예요</a:t>
            </a:r>
            <a:r>
              <a:rPr lang="en-US" sz="2200" dirty="0">
                <a:solidFill>
                  <a:srgbClr val="14142B"/>
                </a:solidFill>
              </a:rPr>
              <a:t>*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Jay: 선생님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 vas a oír: 무슨 일 하세요</a:t>
            </a:r>
            <a:r>
              <a:rPr lang="en-US" sz="2200" dirty="0">
                <a:solidFill>
                  <a:srgbClr val="14142B"/>
                </a:solidFill>
              </a:rPr>
              <a:t>? = ¿a qué te dedicas? 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회사원이에요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Frase ancla, con una leve inclinación: 반갑습니다</a:t>
            </a:r>
            <a:r>
              <a:rPr lang="en-US" sz="2200" dirty="0">
                <a:solidFill>
                  <a:srgbClr val="14142B"/>
                </a:solidFill>
              </a:rPr>
              <a:t>.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</a:t>
            </a:r>
            <a:r>
              <a:rPr lang="en-US" sz="2200" dirty="0">
                <a:solidFill>
                  <a:srgbClr val="14142B"/>
                </a:solidFill>
              </a:rPr>
              <a:t>___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r>
              <a:rPr lang="en-US" sz="2200" dirty="0">
                <a:solidFill>
                  <a:srgbClr val="14142B"/>
                </a:solidFill>
              </a:rPr>
              <a:t>/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7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씨 </a:t>
            </a:r>
            <a:r>
              <a:rPr lang="en-US" sz="7700" b="1" dirty="0">
                <a:solidFill>
                  <a:srgbClr val="4236F6"/>
                </a:solidFill>
              </a:rPr>
              <a:t>·</a:t>
            </a:r>
            <a:endParaRPr lang="en-US" sz="7700" dirty="0"/>
          </a:p>
          <a:p>
            <a:pPr marL="0" indent="0" algn="ctr" eaLnBrk="1">
              <a:buNone/>
            </a:pPr>
            <a:r>
              <a:rPr lang="ko-KR" altLang="en-US" sz="7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</a:t>
            </a:r>
            <a:endParaRPr lang="en-US" sz="7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Salas de 3 · 28 minutos</a:t>
            </a:r>
            <a:r>
              <a:rPr lang="en-US" sz="1500" b="1" i="1" dirty="0">
                <a:solidFill>
                  <a:srgbClr val="8A8DA0"/>
                </a:solidFill>
              </a:rPr>
              <a:t>   Breakout rooms of 3 · 28 minutes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Tarjeta: sección 7 de tu material (link en el chat) · miren la hora: Jay no pasa por las salas</a:t>
            </a:r>
            <a:endParaRPr lang="en-US" sz="1800" dirty="0"/>
          </a:p>
        </p:txBody>
      </p:sp>
      <p:graphicFrame>
        <p:nvGraphicFramePr>
          <p:cNvPr id="18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1447370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Ronda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Hora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Qué hacen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R1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21:26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Re-presentación: 5 frases sin leer + una pregunta (___ 씨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취미가 뭐예요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?)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R2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21:32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Entrevista: 어디에 살아요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고향이 어디예요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직업이 뭐예요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형제가 있어요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취미가 뭐예요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요즘 뭐 해요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? (anota en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한글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R3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21:40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Escritorio: 책상 위에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___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 있어요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! /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아니요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없어요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R4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21:45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Presenta a tu compañero: 다니엘 씨는 멕시코 사람이에요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대학생이에요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R5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21:50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Minuto libre: 요즘 어떻게 지내요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뭐 해요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El diagnóstico: ir y volver</a:t>
            </a:r>
            <a:r>
              <a:rPr lang="en-US" sz="1500" b="1" i="1" dirty="0">
                <a:solidFill>
                  <a:srgbClr val="8A8DA0"/>
                </a:solidFill>
              </a:rPr>
              <a:t>   The diagnostic: go and come back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2 minutos · sin leer · sin nota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Si ves tu nombre: 'Salir de la sala' → 'Salir de la sala para grupos'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¡No 'Salir de la reunión'!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En la sala principal esperas tu turno con el micrófono silenciado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Para volver: 'Salas para grupos' → tu número → 'Unirse'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¿No alcanzamos? Audio de diagnóstico a Jay antes del domingo 18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imagen_pendiente"/>
          <p:cNvSpPr txBox="1"/>
          <p:nvPr/>
        </p:nvSpPr>
        <p:spPr>
          <a:xfrm>
            <a:off x="8183880" y="1600200"/>
            <a:ext cx="3246120" cy="41148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4236F6"/>
                </a:solidFill>
              </a:rPr>
              <a:t>Imagen pendiente</a:t>
            </a:r>
            <a:endParaRPr lang="en-US" sz="1600" dirty="0"/>
          </a:p>
          <a:p>
            <a:pPr marL="0" indent="0" algn="ctr" eaLnBrk="1">
              <a:buNone/>
            </a:pPr>
            <a:r>
              <a:rPr lang="en-US" sz="1300" dirty="0">
                <a:solidFill>
                  <a:srgbClr val="5C5F6B"/>
                </a:solidFill>
              </a:rPr>
              <a:t>Capturas de Zoom: 'Salir de la sala' → 'Salir de la sala para grupos' (con aviso: no 'Salir de la reunión') y 'Salas para grupos' → número de sala → 'Unirse'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읽으세요  </a:t>
            </a:r>
            <a:r>
              <a:rPr lang="en-US" sz="3000" b="1" dirty="0">
                <a:solidFill>
                  <a:srgbClr val="003478"/>
                </a:solidFill>
              </a:rPr>
              <a:t>Lean en voz alta</a:t>
            </a:r>
            <a:r>
              <a:rPr lang="en-US" sz="1500" b="1" i="1" dirty="0">
                <a:solidFill>
                  <a:srgbClr val="8A8DA0"/>
                </a:solidFill>
              </a:rPr>
              <a:t>   Read aloud</a:t>
            </a:r>
            <a:endParaRPr lang="en-US" sz="3000" dirty="0"/>
          </a:p>
        </p:txBody>
      </p:sp>
      <p:sp>
        <p:nvSpPr>
          <p:cNvPr id="3" name="tile_0"/>
          <p:cNvSpPr/>
          <p:nvPr/>
        </p:nvSpPr>
        <p:spPr>
          <a:xfrm>
            <a:off x="548640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99032"/>
            <a:ext cx="3544824" cy="14314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직업이에요</a:t>
            </a:r>
            <a:endParaRPr lang="en-US" sz="4800" dirty="0"/>
          </a:p>
        </p:txBody>
      </p:sp>
      <p:sp>
        <p:nvSpPr>
          <p:cNvPr id="5" name="tile_1"/>
          <p:cNvSpPr/>
          <p:nvPr/>
        </p:nvSpPr>
        <p:spPr>
          <a:xfrm>
            <a:off x="4322064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322064" y="1399032"/>
            <a:ext cx="3544824" cy="14314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8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생일</a:t>
            </a:r>
            <a:endParaRPr lang="en-US" sz="8700" dirty="0"/>
          </a:p>
        </p:txBody>
      </p:sp>
      <p:sp>
        <p:nvSpPr>
          <p:cNvPr id="7" name="tile_2"/>
          <p:cNvSpPr/>
          <p:nvPr/>
        </p:nvSpPr>
        <p:spPr>
          <a:xfrm>
            <a:off x="8095488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95488" y="1399032"/>
            <a:ext cx="3544824" cy="14314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8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endParaRPr lang="en-US" sz="8100" dirty="0"/>
          </a:p>
        </p:txBody>
      </p:sp>
      <p:sp>
        <p:nvSpPr>
          <p:cNvPr id="9" name="tile_3"/>
          <p:cNvSpPr/>
          <p:nvPr/>
        </p:nvSpPr>
        <p:spPr>
          <a:xfrm>
            <a:off x="548640" y="386334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936492"/>
            <a:ext cx="3544824" cy="14314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좋아해요</a:t>
            </a:r>
            <a:endParaRPr lang="en-US" sz="6100" dirty="0"/>
          </a:p>
        </p:txBody>
      </p:sp>
      <p:sp>
        <p:nvSpPr>
          <p:cNvPr id="11" name="tile_4"/>
          <p:cNvSpPr/>
          <p:nvPr/>
        </p:nvSpPr>
        <p:spPr>
          <a:xfrm>
            <a:off x="4322064" y="386334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22064" y="3936492"/>
            <a:ext cx="3544824" cy="14314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8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읽어요</a:t>
            </a:r>
            <a:endParaRPr lang="en-US" sz="8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Mi escritorio</a:t>
            </a:r>
            <a:r>
              <a:rPr lang="en-US" sz="1500" b="1" i="1" dirty="0">
                <a:solidFill>
                  <a:srgbClr val="8A8DA0"/>
                </a:solidFill>
              </a:rPr>
              <a:t>   My desk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위에 뭐가 있어요</a:t>
            </a:r>
            <a:r>
              <a:rPr lang="en-US" sz="6200" b="1" dirty="0">
                <a:solidFill>
                  <a:srgbClr val="4236F6"/>
                </a:solidFill>
              </a:rPr>
              <a:t>?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¿Qué hay sobre el escritorio?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Pregunta 5 del diagnóstico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Lo que oí hoy</a:t>
            </a:r>
            <a:r>
              <a:rPr lang="en-US" sz="1500" b="1" i="1" dirty="0">
                <a:solidFill>
                  <a:srgbClr val="8A8DA0"/>
                </a:solidFill>
              </a:rPr>
              <a:t>   What I heard today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Se ajusta a lo que Jay oyó en el diagnóstico</a:t>
            </a:r>
            <a:endParaRPr lang="en-US" sz="1800" dirty="0"/>
          </a:p>
        </p:txBody>
      </p:sp>
      <p:graphicFrame>
        <p:nvGraphicFramePr>
          <p:cNvPr id="22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6212799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Se oyó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Se dice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Por qué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산티아고예요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*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산티아고에 살아요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Vivir en un lugar: 에 살아요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회사에 일해요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*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회사에서 일해요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Dónde trabajas: 에서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(la regla, en la semana 3)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직업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지거부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]*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직업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지겁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Sin vocal extra: labios cerrados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추이미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*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취미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 ㅟ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de un solo golpe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Las 3 frases de hoy</a:t>
            </a:r>
            <a:r>
              <a:rPr lang="en-US" sz="1500" b="1" i="1" dirty="0">
                <a:solidFill>
                  <a:srgbClr val="8A8DA0"/>
                </a:solidFill>
              </a:rPr>
              <a:t>   Today's 3 key phrases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Primero Jay, despacio; después todos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회사원이에요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학생이 아니에요</a:t>
            </a:r>
            <a:r>
              <a:rPr lang="en-US" sz="2400" dirty="0">
                <a:solidFill>
                  <a:srgbClr val="14142B"/>
                </a:solidFill>
              </a:rPr>
              <a:t>. — Soy empleada de oficina. No soy estudiante.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산티아고에 살아요</a:t>
            </a:r>
            <a:r>
              <a:rPr lang="en-US" sz="2400" dirty="0">
                <a:solidFill>
                  <a:srgbClr val="14142B"/>
                </a:solidFill>
              </a:rPr>
              <a:t>. — Vivo en Santiago.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취미가 뭐예요</a:t>
            </a:r>
            <a:r>
              <a:rPr lang="en-US" sz="2400" dirty="0">
                <a:solidFill>
                  <a:srgbClr val="14142B"/>
                </a:solidFill>
              </a:rPr>
              <a:t>? — ¿Cuál es tu pasatiempo?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숙제  </a:t>
            </a:r>
            <a:r>
              <a:rPr lang="en-US" sz="3000" b="1" dirty="0">
                <a:solidFill>
                  <a:srgbClr val="003478"/>
                </a:solidFill>
              </a:rPr>
              <a:t>Tarea (≈ 30 min)</a:t>
            </a:r>
            <a:r>
              <a:rPr lang="en-US" sz="1500" b="1" i="1" dirty="0">
                <a:solidFill>
                  <a:srgbClr val="8A8DA0"/>
                </a:solidFill>
              </a:rPr>
              <a:t>   Homework (about 30 min)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Plazo: miércoles 21 de octubre, 21:00 (hora de Chile)</a:t>
            </a:r>
            <a:endParaRPr lang="en-US" sz="1800" dirty="0"/>
          </a:p>
        </p:txBody>
      </p:sp>
      <p:graphicFrame>
        <p:nvGraphicFramePr>
          <p:cNvPr id="24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968600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Qué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Tiempo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Lector: Practicar → Sílabas y Batchim, 3 rondas seguidas cada uno + captura de Progreso y estrellas de Escucha (meta: 3)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8 min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Hoja 1: 10 frases + 3 sobre tu familia (antes del vie 16 si puedes)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12 min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Audio de 30 s: tu re-presentación en 5 frases, sin leer (guárdalo)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5 min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Para la semana 2: cumpleaños, edad, un teléfono y 3 horas de tu día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3 min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Reto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Tipea tu re-presentación con 제 이름은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… /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 취미는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…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¿Sin diagnóstico?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Audio por privado a Jay antes del domingo 18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3000" b="1" dirty="0">
                <a:solidFill>
                  <a:srgbClr val="FFFFFF"/>
                </a:solidFill>
              </a:rPr>
              <a:t>!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3000" b="1" dirty="0">
                <a:solidFill>
                  <a:srgbClr val="FFFFFF"/>
                </a:solidFill>
              </a:rPr>
              <a:t>!  ¡Gracias! ¡Ánimo!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800" dirty="0">
                <a:solidFill>
                  <a:srgbClr val="FFFFFF"/>
                </a:solidFill>
              </a:rPr>
              <a:t>La clase 2 abre con el quiz 1</a:t>
            </a:r>
            <a:endParaRPr lang="en-US" sz="2200" dirty="0"/>
          </a:p>
          <a:p>
            <a:pPr marL="0" indent="0" algn="ctr" eaLnBrk="1">
              <a:buNone/>
            </a:pPr>
            <a:r>
              <a:rPr lang="en-US" sz="1800" dirty="0">
                <a:solidFill>
                  <a:srgbClr val="FFFFFF"/>
                </a:solidFill>
              </a:rPr>
              <a:t>Quiz 1: 5 preguntas cortitas sobre lo de hoy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dirty="0">
                <a:solidFill>
                  <a:srgbClr val="FFFFFF"/>
                </a:solidFill>
              </a:rPr>
              <a:t>/</a:t>
            </a:r>
            <a:r>
              <a:rPr lang="ko-KR" alt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아니에요 </a:t>
            </a:r>
            <a:r>
              <a:rPr lang="en-US" sz="1800" dirty="0">
                <a:solidFill>
                  <a:srgbClr val="FFFFFF"/>
                </a:solidFill>
              </a:rPr>
              <a:t>· ¿</a:t>
            </a:r>
            <a:r>
              <a:rPr lang="ko-KR" alt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1800" dirty="0">
                <a:solidFill>
                  <a:srgbClr val="FFFFFF"/>
                </a:solidFill>
              </a:rPr>
              <a:t>/</a:t>
            </a:r>
            <a:r>
              <a:rPr lang="ko-KR" alt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sz="1800" dirty="0">
                <a:solidFill>
                  <a:srgbClr val="FFFFFF"/>
                </a:solidFill>
              </a:rPr>
              <a:t>o </a:t>
            </a:r>
            <a:r>
              <a:rPr lang="ko-KR" alt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dirty="0">
                <a:solidFill>
                  <a:srgbClr val="FFFFFF"/>
                </a:solidFill>
              </a:rPr>
              <a:t>/</a:t>
            </a:r>
            <a:r>
              <a:rPr lang="ko-KR" alt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1800" dirty="0">
                <a:solidFill>
                  <a:srgbClr val="FFFFFF"/>
                </a:solidFill>
              </a:rPr>
              <a:t>? · </a:t>
            </a:r>
            <a:r>
              <a:rPr lang="ko-KR" alt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 </a:t>
            </a:r>
            <a:r>
              <a:rPr lang="en-US" sz="1800" dirty="0">
                <a:solidFill>
                  <a:srgbClr val="FFFFFF"/>
                </a:solidFill>
              </a:rPr>
              <a:t>o </a:t>
            </a:r>
            <a:r>
              <a:rPr lang="ko-KR" alt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 </a:t>
            </a:r>
            <a:r>
              <a:rPr lang="en-US" sz="1800" dirty="0">
                <a:solidFill>
                  <a:srgbClr val="FFFFFF"/>
                </a:solidFill>
              </a:rPr>
              <a:t>· </a:t>
            </a:r>
            <a:r>
              <a:rPr lang="ko-KR" alt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살다 </a:t>
            </a:r>
            <a:r>
              <a:rPr lang="en-US" sz="1800" dirty="0">
                <a:solidFill>
                  <a:srgbClr val="FFFFFF"/>
                </a:solidFill>
              </a:rPr>
              <a:t>→ ___ · lectura TOPIK I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잘했어요</a:t>
            </a:r>
            <a:r>
              <a:rPr lang="en-US" sz="18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 </a:t>
            </a:r>
            <a:r>
              <a:rPr lang="en-US" sz="1800" dirty="0">
                <a:solidFill>
                  <a:srgbClr val="FFFFFF"/>
                </a:solidFill>
              </a:rPr>
              <a:t>· </a:t>
            </a:r>
            <a:r>
              <a:rPr lang="ko-KR" alt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사람은 누구예요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¿Quién es?</a:t>
            </a:r>
            <a:r>
              <a:rPr lang="en-US" sz="1500" b="1" i="1" dirty="0">
                <a:solidFill>
                  <a:srgbClr val="8A8DA0"/>
                </a:solidFill>
              </a:rPr>
              <a:t>   Who is it?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Datos del chat: se cambian por los de un alumno real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사람은 회사원이에요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발파라이소에 살아요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강아지가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누구예요</a:t>
            </a:r>
            <a:r>
              <a:rPr lang="en-US" sz="2400" dirty="0">
                <a:solidFill>
                  <a:srgbClr val="14142B"/>
                </a:solidFill>
              </a:rPr>
              <a:t>? → Escribe el nombre en el chat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사람은</a:t>
            </a:r>
            <a:endParaRPr lang="en-US" sz="5000" dirty="0"/>
          </a:p>
          <a:p>
            <a:pPr marL="0" indent="0" algn="ctr" eaLnBrk="1">
              <a:buNone/>
            </a:pPr>
            <a:r>
              <a:rPr lang="ko-KR" altLang="en-US" sz="5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누구예요</a:t>
            </a:r>
            <a:r>
              <a:rPr lang="en-US" sz="5000" b="1" dirty="0">
                <a:solidFill>
                  <a:srgbClr val="4236F6"/>
                </a:solidFill>
              </a:rPr>
              <a:t>?</a:t>
            </a:r>
            <a:endParaRPr lang="en-US" sz="5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직업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취미  </a:t>
            </a:r>
            <a:r>
              <a:rPr lang="en-US" sz="2600" b="1" dirty="0">
                <a:solidFill>
                  <a:srgbClr val="003478"/>
                </a:solidFill>
              </a:rPr>
              <a:t>A pedido: profesiones y pasatiempos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No se evalúan: úsalas si son tuyas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Profesiones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직업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 </a:t>
            </a:r>
            <a:r>
              <a:rPr lang="en-US" sz="2000" dirty="0">
                <a:solidFill>
                  <a:srgbClr val="14142B"/>
                </a:solidFill>
              </a:rPr>
              <a:t>· médico/a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간호사 </a:t>
            </a:r>
            <a:r>
              <a:rPr lang="en-US" sz="2000" dirty="0">
                <a:solidFill>
                  <a:srgbClr val="14142B"/>
                </a:solidFill>
              </a:rPr>
              <a:t>· enfermero/a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엔지니어 </a:t>
            </a:r>
            <a:r>
              <a:rPr lang="en-US" sz="2000" dirty="0">
                <a:solidFill>
                  <a:srgbClr val="14142B"/>
                </a:solidFill>
              </a:rPr>
              <a:t>· ingeniero/a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디자이너 </a:t>
            </a:r>
            <a:r>
              <a:rPr lang="en-US" sz="2000" dirty="0">
                <a:solidFill>
                  <a:srgbClr val="14142B"/>
                </a:solidFill>
              </a:rPr>
              <a:t>· diseñador/a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프로그래머 </a:t>
            </a:r>
            <a:r>
              <a:rPr lang="en-US" sz="2000" dirty="0">
                <a:solidFill>
                  <a:srgbClr val="14142B"/>
                </a:solidFill>
              </a:rPr>
              <a:t>· programador/a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요리사 </a:t>
            </a:r>
            <a:r>
              <a:rPr lang="en-US" sz="2000" dirty="0">
                <a:solidFill>
                  <a:srgbClr val="14142B"/>
                </a:solidFill>
              </a:rPr>
              <a:t>· cocinero/a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주부 </a:t>
            </a:r>
            <a:r>
              <a:rPr lang="en-US" sz="2000" dirty="0">
                <a:solidFill>
                  <a:srgbClr val="14142B"/>
                </a:solidFill>
              </a:rPr>
              <a:t>· dueño/a de casa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</a:t>
            </a:r>
            <a:r>
              <a:rPr lang="en-US" sz="2000" dirty="0">
                <a:solidFill>
                  <a:srgbClr val="14142B"/>
                </a:solidFill>
              </a:rPr>
              <a:t>· abogado/a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공무원 </a:t>
            </a:r>
            <a:r>
              <a:rPr lang="en-US" sz="2000" dirty="0">
                <a:solidFill>
                  <a:srgbClr val="14142B"/>
                </a:solidFill>
              </a:rPr>
              <a:t>· funcionario/a público/a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프리랜서 </a:t>
            </a:r>
            <a:r>
              <a:rPr lang="en-US" sz="2000" dirty="0">
                <a:solidFill>
                  <a:srgbClr val="14142B"/>
                </a:solidFill>
              </a:rPr>
              <a:t>· independiente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Pasatiempos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취미는</a:t>
            </a:r>
            <a:endParaRPr lang="en-US" sz="2800" dirty="0"/>
          </a:p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___예요</a:t>
            </a:r>
            <a:r>
              <a:rPr lang="en-US" sz="2800" b="1" dirty="0">
                <a:solidFill>
                  <a:srgbClr val="4236F6"/>
                </a:solidFill>
              </a:rPr>
              <a:t>/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</a:t>
            </a:r>
            <a:r>
              <a:rPr lang="en-US" sz="2800" b="1" dirty="0">
                <a:solidFill>
                  <a:srgbClr val="4236F6"/>
                </a:solidFill>
              </a:rPr>
              <a:t>.</a:t>
            </a:r>
            <a:endParaRPr lang="en-US" sz="28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 </a:t>
            </a:r>
            <a:r>
              <a:rPr lang="en-US" sz="2000" dirty="0">
                <a:solidFill>
                  <a:srgbClr val="14142B"/>
                </a:solidFill>
              </a:rPr>
              <a:t>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 </a:t>
            </a:r>
            <a:r>
              <a:rPr lang="en-US" sz="2000" dirty="0">
                <a:solidFill>
                  <a:srgbClr val="14142B"/>
                </a:solidFill>
              </a:rPr>
              <a:t>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여행 </a:t>
            </a:r>
            <a:r>
              <a:rPr lang="en-US" sz="2000" dirty="0">
                <a:solidFill>
                  <a:srgbClr val="14142B"/>
                </a:solidFill>
              </a:rPr>
              <a:t>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등산 </a:t>
            </a:r>
            <a:r>
              <a:rPr lang="en-US" sz="2000" dirty="0">
                <a:solidFill>
                  <a:srgbClr val="14142B"/>
                </a:solidFill>
              </a:rPr>
              <a:t>(senderismo)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독서 </a:t>
            </a:r>
            <a:r>
              <a:rPr lang="en-US" sz="2000" dirty="0">
                <a:solidFill>
                  <a:srgbClr val="14142B"/>
                </a:solidFill>
              </a:rPr>
              <a:t>(lectura)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노래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음악 감상 </a:t>
            </a:r>
            <a:r>
              <a:rPr lang="en-US" sz="2000" dirty="0">
                <a:solidFill>
                  <a:srgbClr val="14142B"/>
                </a:solidFill>
              </a:rPr>
              <a:t>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영화 감상 </a:t>
            </a:r>
            <a:r>
              <a:rPr lang="en-US" sz="2000" dirty="0">
                <a:solidFill>
                  <a:srgbClr val="14142B"/>
                </a:solidFill>
              </a:rPr>
              <a:t>(en bloque)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 그리기 </a:t>
            </a:r>
            <a:r>
              <a:rPr lang="en-US" sz="2000" dirty="0">
                <a:solidFill>
                  <a:srgbClr val="14142B"/>
                </a:solidFill>
              </a:rPr>
              <a:t>(dibujar)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찍기 </a:t>
            </a:r>
            <a:r>
              <a:rPr lang="en-US" sz="2000" dirty="0">
                <a:solidFill>
                  <a:srgbClr val="14142B"/>
                </a:solidFill>
              </a:rPr>
              <a:t>(sacar fotos)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 verbo: 드라마를 봐요 </a:t>
            </a:r>
            <a:r>
              <a:rPr lang="en-US" sz="2000" dirty="0">
                <a:solidFill>
                  <a:srgbClr val="14142B"/>
                </a:solidFill>
              </a:rPr>
              <a:t>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케이팝을 좋아해요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A pedido: ciudades</a:t>
            </a:r>
            <a:r>
              <a:rPr lang="en-US" sz="1500" b="1" i="1" dirty="0">
                <a:solidFill>
                  <a:srgbClr val="8A8DA0"/>
                </a:solidFill>
              </a:rPr>
              <a:t>   On request: cities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No se evalúan: úsalas si son tuyas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Chile: 산티아고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발파라이소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콘셉시온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México: 멕시코시티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과달라하라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몬테레이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Colombia: 보고타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메데인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Perú: 리마 </a:t>
            </a:r>
            <a:r>
              <a:rPr lang="en-US" sz="2400" dirty="0">
                <a:solidFill>
                  <a:srgbClr val="14142B"/>
                </a:solidFill>
              </a:rPr>
              <a:t>· Argentina: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부에노스아이레스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España: 마드리드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¿La tuya no está? Pídela en el chat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5425</Words>
  <Application>Microsoft Office PowerPoint</Application>
  <PresentationFormat>Widescreen</PresentationFormat>
  <Paragraphs>431</Paragraphs>
  <Slides>27</Slides>
  <Notes>27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Malgun Gothic</vt:lpstr>
      <vt:lpstr>Arial</vt:lpstr>
      <vt:lpstr>Academia Seul</vt:lpstr>
      <vt:lpstr>안녕하세요!  Mientras llegan   While everyone joins</vt:lpstr>
      <vt:lpstr>Básico 2 · Semana 1</vt:lpstr>
      <vt:lpstr>Así es Básico 2   This is Basic 2</vt:lpstr>
      <vt:lpstr>Adiós, romanización   Goodbye, romanization</vt:lpstr>
      <vt:lpstr>Así me presento   This is me</vt:lpstr>
      <vt:lpstr>¿Entendiste?   Did you get it?</vt:lpstr>
      <vt:lpstr>이에요 · 예요 · 아니에요  Ser: 이에요/예요 · no ser: 이/가 아니에요</vt:lpstr>
      <vt:lpstr>¿Ser o estar?   Be or be located?</vt:lpstr>
      <vt:lpstr>은/는 · 이/가: la duda eterna   은/는 vs 이/가: the eternal question</vt:lpstr>
      <vt:lpstr>La entrevista   The interview</vt:lpstr>
      <vt:lpstr>¿이 o 은?   이 or 은?</vt:lpstr>
      <vt:lpstr>있어요 · 없어요 · 누가  'Tener' = 'hay' · 누가   'To have' = 'there is' · who</vt:lpstr>
      <vt:lpstr>-아요 / -어요  La máquina de conjugar   The conjugation machine</vt:lpstr>
      <vt:lpstr>연음  La consonante se muda   The consonant moves over</vt:lpstr>
      <vt:lpstr>인사 · 반갑습니다  La inclinación al conocerse   The small bow</vt:lpstr>
      <vt:lpstr>씨 · 선생님  씨 y 선생님   씨 and 선생님 (how to address people)</vt:lpstr>
      <vt:lpstr>Salas de 3 · 28 minutos   Breakout rooms of 3 · 28 minutes</vt:lpstr>
      <vt:lpstr>El diagnóstico: ir y volver   The diagnostic: go and come back</vt:lpstr>
      <vt:lpstr>읽으세요  Lean en voz alta   Read aloud</vt:lpstr>
      <vt:lpstr>Mi escritorio   My desk</vt:lpstr>
      <vt:lpstr>Lo que oí hoy   What I heard today</vt:lpstr>
      <vt:lpstr>Las 3 frases de hoy   Today's 3 key phrases</vt:lpstr>
      <vt:lpstr>숙제  Tarea (≈ 30 min)   Homework (about 30 min)</vt:lpstr>
      <vt:lpstr>감사합니다! 화이팅!  ¡Gracias! ¡Ánimo!</vt:lpstr>
      <vt:lpstr>이 사람은 누구예요?  ¿Quién es?   Who is it?</vt:lpstr>
      <vt:lpstr>직업 · 취미  A pedido: profesiones y pasatiempos</vt:lpstr>
      <vt:lpstr>A pedido: ciudades   On request: cities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2 (A1.2) · Semana 1 · Re-presentación + diagnóstico · 다시, 반갑습니다!</dc:title>
  <dc:subject>PptxGenJS Presentation</dc:subject>
  <dc:creator>Academia Seúl</dc:creator>
  <cp:lastModifiedBy>Jae Hee Kim</cp:lastModifiedBy>
  <cp:revision>2</cp:revision>
  <dcterms:created xsi:type="dcterms:W3CDTF">2026-10-10T04:31:48Z</dcterms:created>
  <dcterms:modified xsi:type="dcterms:W3CDTF">2026-10-10T04:32:36Z</dcterms:modified>
</cp:coreProperties>
</file>