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12192000"/>
  <p:defaultTextStyle>
    <a:lvl1pPr marL="0" algn="l" defTabSz="914400" rtl="0" eaLnBrk="0" latinLnBrk="0" hangingPunct="1">
      <a:defRPr sz="1800" kern="1200">
        <a:solidFill>
          <a:schemeClr val="tx1"/>
        </a:solidFill>
        <a:latin typeface="+mn-lt"/>
        <a:ea typeface="+mn-ea"/>
        <a:cs typeface="+mn-cs"/>
      </a:defRPr>
    </a:lvl1pPr>
    <a:lvl2pPr marL="457200" algn="l" defTabSz="914400" rtl="0" eaLnBrk="0" latinLnBrk="0" hangingPunct="1">
      <a:defRPr sz="1800" kern="1200">
        <a:solidFill>
          <a:schemeClr val="tx1"/>
        </a:solidFill>
        <a:latin typeface="+mn-lt"/>
        <a:ea typeface="+mn-ea"/>
        <a:cs typeface="+mn-cs"/>
      </a:defRPr>
    </a:lvl2pPr>
    <a:lvl3pPr marL="914400" algn="l" defTabSz="914400" rtl="0" eaLnBrk="0" latinLnBrk="0" hangingPunct="1">
      <a:defRPr sz="1800" kern="1200">
        <a:solidFill>
          <a:schemeClr val="tx1"/>
        </a:solidFill>
        <a:latin typeface="+mn-lt"/>
        <a:ea typeface="+mn-ea"/>
        <a:cs typeface="+mn-cs"/>
      </a:defRPr>
    </a:lvl3pPr>
    <a:lvl4pPr marL="1371600" algn="l" defTabSz="914400" rtl="0" eaLnBrk="0" latinLnBrk="0" hangingPunct="1">
      <a:defRPr sz="1800" kern="1200">
        <a:solidFill>
          <a:schemeClr val="tx1"/>
        </a:solidFill>
        <a:latin typeface="+mn-lt"/>
        <a:ea typeface="+mn-ea"/>
        <a:cs typeface="+mn-cs"/>
      </a:defRPr>
    </a:lvl4pPr>
    <a:lvl5pPr marL="1828800" algn="l" defTabSz="914400" rtl="0" eaLnBrk="0" latinLnBrk="0" hangingPunct="1">
      <a:defRPr sz="1800" kern="1200">
        <a:solidFill>
          <a:schemeClr val="tx1"/>
        </a:solidFill>
        <a:latin typeface="+mn-lt"/>
        <a:ea typeface="+mn-ea"/>
        <a:cs typeface="+mn-cs"/>
      </a:defRPr>
    </a:lvl5pPr>
    <a:lvl6pPr marL="2286000" algn="l" defTabSz="914400" rtl="0" eaLnBrk="0" latinLnBrk="0" hangingPunct="1">
      <a:defRPr sz="1800" kern="1200">
        <a:solidFill>
          <a:schemeClr val="tx1"/>
        </a:solidFill>
        <a:latin typeface="+mn-lt"/>
        <a:ea typeface="+mn-ea"/>
        <a:cs typeface="+mn-cs"/>
      </a:defRPr>
    </a:lvl6pPr>
    <a:lvl7pPr marL="2743200" algn="l" defTabSz="914400" rtl="0" eaLnBrk="0" latinLnBrk="0" hangingPunct="1">
      <a:defRPr sz="1800" kern="1200">
        <a:solidFill>
          <a:schemeClr val="tx1"/>
        </a:solidFill>
        <a:latin typeface="+mn-lt"/>
        <a:ea typeface="+mn-ea"/>
        <a:cs typeface="+mn-cs"/>
      </a:defRPr>
    </a:lvl7pPr>
    <a:lvl8pPr marL="3200400" algn="l" defTabSz="914400" rtl="0" eaLnBrk="0" latinLnBrk="0" hangingPunct="1">
      <a:defRPr sz="1800" kern="1200">
        <a:solidFill>
          <a:schemeClr val="tx1"/>
        </a:solidFill>
        <a:latin typeface="+mn-lt"/>
        <a:ea typeface="+mn-ea"/>
        <a:cs typeface="+mn-cs"/>
      </a:defRPr>
    </a:lvl8pPr>
    <a:lvl9pPr marL="3657600" algn="l" defTabSz="914400" rtl="0" eaLnBrk="0"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mana 1" id="{3F101A7B-14E4-0BD7-ECBA-3E037E12D8BE}">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934269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21:00–21:03. Inicia la grabación en la nube y saluda a cada uno por su nombre con leve inclinación («안녕하세요, 카밀라 씨!»; a los de julio, «오랜만이에요!»). Pide cámara, nombre real y, en el chat, nombre y ciudad en 한글; quien no tenga teclado lo escribe como pueda y lo instala esta semana (guía en su material). Pregunta «요즘 어떻게 지내요?» a 2–3 (mejor de julio); si no sale, modela «잘 지내요! … 카밀라 씨는요?» y devuelve el turno con la palma. Anota quién escribe en 한글 (teclado sí/no).
Fuente: Nueva (mapa de teclado: el de Básico 1 S01 L1)
Lámina 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21:03, unos segundos. «¡Bienvenidos a Básico 2!» Hoy nos volvemos a presentar con detalle y converso 2 minutos con cada uno. Pasa enseguida a L3.
Fuente: Portada de la plantilla
Lámina 2</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21:03–21:05 (con L2, 1 min). «Básico 2 es el curso de los tres tiempos: estas semanas, el presente; en la semana 4, el pasado; en la 5, el futuro. En la semana 8 van a conversar 5 minutos seguidos en coreano.» «Cada clase: quiz corto, lección, drill, 20 minutos en salas que nunca se recortan y cierre. Hoy es distinta: no hay quiz y converso 2 minutos con cada uno; no tiene nota: sirve para armar las parejas y para comparar su antes y su después en la semana 8.» Si vas atrasado, esta explicación pasa al mensaje del grupo.
Fuente: Nueva (datos del programa público)
Lámina 3</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21:04–21:05 (1 min, pensado para los de julio). «Los de julio se acuerdan de los corchetes con nuestras letras. Desde hoy, el corchete va en 한글.» Da las cuatro razones de la lámina; en la tercera: «있어요 se dice [이써요], y hoy van a entender por qué». «Si una palabra no les sale: la escuchan (en la grabación, en el Lector, en los audios de su material o en una nota de voz mía en el grupo) y miran el corchete. El texto completo está en la sección 2 de su material.»
Imagen: incluida (dibujo de la casa).
Fuente: Diseño, sección D
Lámina 4</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21:05–21:07. Las frases aparecen de a una junto a su foto; di cada una dos veces, primero despacio y después a velocidad natural, y en la primera haz la leve inclinación con 반갑습니다. Son datos de ejemplo: cámbialos por los tuyos (sin mascota: «우리 집에 강아지가 없어요.»; sin hermanos: «형제가 없어요. 외동이에요.»). No traduzcas: la comprensión se revisa en L6.
Imagen pendiente: Elegir fotos propias, una por frase y en este orden: 1) Jay sonriendo o saludando (안녕하세요! 저는 김재희예요); 2) Seúl, su ciudad natal, y Santiago, donde vive hoy (dos fotos o un collage de las dos); 3) Jay dando clase (선생님); 4) Jay con su 누나 o una foto de familia; 5) Jay haciendo ejercicio (운동); 6) su perrito 두부. Fotos horizontales, sin terceros identificables sin su permiso (la clase se graba). Si cambia un dato de la frase (sin mascota, sin hermanos), la foto acompaña su versión. Pegarlas en PowerPoint junto a cada frase, para que aparezcan de a una con la animación.
Fuente: Nueva · fotos de Jay
Lámina 5</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21:07–21:08 (1 min). Pregunta al grupo en coreano; responden en coro o en el chat y la respuesta aparece con clic. En la 2 y la 4 dices 선생님은: la pregunta a secas sonaría a '¿y tú?' y cada uno respondería sobre sí mismo. Cierra (20 s): «¿Se fijaron? Cuando pregunté, dije 고향이. Cuando me presenté, dije 제 고향은. En 10 minutos les cuento por qué.» Si vas atrasado, solo 2 preguntas.
Fuente: Nueva
Lámina 6</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21:08–21:10. Repaso relámpago (30 s): sustantivo + 이에요 si termina en consonante y + 예요 si termina en vocal; para decir que no eres algo, 이/가 아니에요 con la misma regla, y 아니에요 siempre lleva su 이 o su 가. Frase propia en el chat (45 s), con lo que son de verdad; si la profesión no está, la escriben en español y se la pasas a 한글. Eliges 3 del chat y sus autores la dicen en voz alta (45 s); si hay error, la dices bien en coreano, sin explicar, y el autor la repite.
Fuente: Adaptada de A1_Nivel_1/03_Saludos/Sesion_03_Saludos.pptx L5 y L24–L25 (sin romanización ni amarillo; con 대학생 y 회사원)
Lámina 7</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21:10–21:12 (1 min 30 + chequeo 30 s). «El error número uno del hispanohablante: 이에요 es SER; para ESTAR en un lugar, 에 있어요. 'Estoy en la casa' no es 저는 집이에요, que palabra por palabra dice 'yo soy una casa': es 집에 있어요. Y 'vivo en Santiago' es 산티아고에 살아요. Pero 제 고향은 멕시코예요 sí está bien.» Coro: «따라 하세요: 집에 있어요. — 산티아고에 살아요.» Chequeo en el chat: «'Estoy en la oficina': ¿이에요 o 있어요?» → 회사에 있어요. Si alguien trae 지금 집이에요, no lo niegues: es un atajo coloquial; en clase y en el examen va la forma completa.
Fuente: Nueva
Lámina 8</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21:12–21:13 (40 s). «Las dos partículas parecen 'el sujeto', y en español no existen. Regla de bolsillo: 은/는 = 'en cuanto a…': presentas un tema o comparas. 이/가 = 'el que…, la que…': lo que preguntas, lo nuevo, lo que hay.» «No se la aprendan como ley: hoy la usamos en un solo lugar, la entrevista.»
Fuente: Adaptada de A1_Nivel_1/Particulas_Coreanas_Editable.pptx L4 (acento azul #4236F6; 카밀라 씨 y 다니엘 씨 en vez de 제인 y 마크)
Lámina 9</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21:13 (50 s). «En una entrevista funciona así: la pregunta va con 이/가; la respuesta, con 은/는.» Lee cada par y el grupo repite la respuesta. «Fíjense en 지금은: 'ahora, en cambio…'. Eso es el contraste. Y 제 es 'mi', la forma humilde: 제 이름, 제 고향, 제 취미.»
Fuente: Nueva
Lámina 10</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21:13–21:16. Votación (1 min 10): después de cada voto dices la frase completa y el grupo la repite; en d) celebra a quien votó '2, 2'; en e): «누구 + 가 = 누가. Nunca 누구가.» Luego 1:1 con 4 alumnos (1 min, nombres anunciados y micrófonos abiertos): «카밀라 씨, 고향이 어디예요? 지금 어디에 살아요?» → «제 고향은 ___이에요/예요. 지금은 ___에 살아요.» Si dice 저는 산티아고예요, corriges con la frase buena y la repite: es su primera frase propia con 은/는.
Fuente: Nueva (clave en C.16)
Lámina 11</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21:16–21:18 (1 min 20 + cadena 1 min). «있어요 ya lo conocen: 'hay' y 'está'. Hoy suma 'tener': en coreano no se 'tiene' un hermano, 'hay' un hermano.» Lo que hay lleva 이/가; quien lo tiene, si lo dices, va con 은/는 (저는 형제가 없어요); a los de julio: el contrario es 없어요, nunca 안 있어요. «누가 대학생이에요?» (levanta la mano) «…다니엘 씨가 대학생이에요. Y si eres tú: 제가요!» Cadena: «카밀라 씨, 형제가 있어요?» → responde y le pregunta a otro (3 eslabones); cierra con «누가 회사원이에요?» → manos arriba y algún «제가요!».
Imagen: incluida (dibujo de la casa).
Fuente: Nueva (idea de A1_Nivel_1/Repaso_MidTerm_A1.pptx L18, sin romanización)
Lámina 12</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21:18–21:19 (40 s + 15 s). «La máquina de siempre: ㅏ u ㅗ → 아요; el resto → 어요; 하다 → 해요. Ojo con 살아요: la ㄹ se queda; 사요 es 'compro': 칠레에 사요 es 'compro en Chile'.» Pregunta «요즘 뭐 해요?» a 2 voluntarios («요즘 한국어를 공부해요.» / «요즘 한국 요리를 배워요.»). «Si quieren decir dónde trabajan, es 회사에서 일해요, con 에서. La regla va en la semana 3; hoy, si lo dicen con 에, se los marco y nada más.»
Fuente: Adaptada de A1_Nivel_1/Repaso_MidTerm_A1.pptx L23 (sin corchetes latinos, con los ejemplos de esta semana)
Lámina 13</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21:19–21:20 (50 s). «¿Por qué 있어요 suena [이써요]? Cuando una sílaba termina en consonante y la siguiente empieza con ㅇ, la silla vacía de Básico 1, la consonante se muda a esa silla. Por eso nunca decimos 살–아–요, con un corte entre sílabas.» «Dos excepciones: la ㅇ de abajo no se muda (고향이에요: se queda abajo, como en 강) y la ㅎ de abajo se cae antes de vocal (좋아해요 [조아해요]).» Coro una vez: «따라 하세요: 직업이에요 — 살아요 — 있어요.» La segunda vuelta queda para el cierre y la sección 4 del material.
Imagen: incluida (dibujo de la casa).
Fuente: Nueva
Lámina 14</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21:20–21:21 (1 min). «Al conocerse, en Corea se hace una pequeña inclinación, el 인사, y se dice 반갑습니다. En el trabajo también es común darse la mano (악수), inclinando un poco la cabeza. Donde nosotros damos la mano o un beso en la mejilla, la inclinación hace ese trabajo.» Demuéstralo: leve, unos 15 grados, mirando hacia abajo un segundo. «Y si alguien te pregunta la edad apenas te conoce, no es mala educación: sirve para saber cómo hablarte. La semana que viene aprenden a decir la suya.»
Imagen: incluida (dibujo de la casa).
Fuente: Nueva (no reusar Sesion_03_Saludos.pptx L7, que dice que en Corea no se dan la mano)
Lámina 15</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21:21–21:23. (45 s) «Entre ustedes: nombre + 씨. Es el trato cortés entre compañeros. Nunca con tu propio nombre: 저는 카밀라 씨예요 suena rarísimo. A mí: 선생님. Y si un coreano te pregunta 무슨 일 하세요?, te pregunta el trabajo con cortesía: respondes igual, 회사원이에요.» Frase ancla (1 min): todos a la vez, cámara encendida, con la inclinación: «반갑습니다. 저는 ___예요/이에요.»; luego 2 voluntarios solos y «잘했어요!». La frase ancla no se recorta.
Fuente: Nueva
Lámina 16</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21:23–21:25 (con L18). «Ahora ustedes: salas de 3, 28 minutos. Abran ahora su tarjeta de sala: sección 7 de su material, link en el chat; dentro de la sala no van a ver este chat. Son 5 rondas con la hora al lado: miren el reloj, porque esta vez yo no paso por las salas.» Pega el link de la tarjeta; si no abre, pega el texto de respaldo y pide captura. Pausa la grabación y crea salas automáticas de 3 ('elegir sala' y 'volver a la sesión principal' ON, cierre a los 28 min + 60 s); si sabes quién viene de julio, uno por sala.
Fuente: Nueva
Lámina 17</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21:24 (con L17). «Cuando lean su nombre en un mensaje, vuelven a la sala principal: 'Salir de la sala' → 'Salir de la sala para grupos'. ¡No 'salir de la reunión'! Conversamos 2 minutos sin leer y vuelven: 'Salas para grupos' → su número → 'Unirse'.» «No es un examen: no tiene nota. Si no alcanzo a llamarte, me mandas un audio: está en tu material. Al entrar a la sala: 안녕하세요 y una inclinación. 화이팅!»
Imagen pendiente: Hacer 2 capturas en Zoom de escritorio (interfaz en español) en una reunión de prueba con salas para grupos abiertas y 'elegir sala' activado, entrando como participante con un segundo dispositivo: (1) dentro de una sala, el menú del botón 'Salir de la sala' abierto, con 'Salir de la sala para grupos' marcado con un recuadro azul #4236F6 y 'Salir de la reunión' tachado con una X gris (nunca roja); (2) en la sala principal, el botón 'Salas para grupos' → la lista con el número de sala y el botón 'Unirse' marcado en azul. Recortar para que no se vean nombres ni correos, ponerlas lado a lado con una flecha y pegarlas en la lámina.
Fuente: Nueva
Lámina 18</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21:26–21:53, solo en la sala principal: 20 s de lectura al final de cada diagnóstico de 2 minutos (antes, 1:40 de conversación: 이름이 뭐예요? 어느 나라 사람이에요? · 어디에 살아요? · 형제가 있어요? · 매일 뭐 해요? · 책상 위에 뭐가 있어요?). Di «읽으세요» y escucha: 직업이에요 [지거비에요] · 생일 (ㅐ abierta, la ㅇ no se muda) · 없어요 [업써요] · 좋아해요 [조아해요] · 읽어요 [일거요]. No corrijas: sonríe, «네, 좋아요», y anota; si deletrea sílaba por sílaba, lectura = C. Cierre: «잘했어요! 감사합니다. Vuelve a tu sala.»
Fuente: Nueva (diseño B0.2)
Lámina 19</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Opcional, durante el diagnóstico. Muestra la foto de tu escritorio (o tu escritorio real) y pregunta «책상 위에 뭐가 있어요?»: mide 이/가, posiciones y objetos. Un alumno sin cámara la responde igual, mirando su propio escritorio.
Imagen: incluida (dibujo de la casa).
Fuente: Jay
Lámina 19b</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21:55–21:57. Reanuda la grabación. Tres alumnos de salas distintas presentan a su compañero en dos frases (1:30): «카밀라 씨, 다니엘 씨는 어느 나라 사람이에요?» → «다니엘 씨는 멕시코 사람이에요. 대학생이에요.» → «잘했어요!». Luego los tres errores del día (1 min), con la frase correcta y el grupo repitiendo; ajústalos a lo que oíste en el diagnóstico.
Fuente: Nueva
Lámina 20</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21:57–21:58 (45 s). «Primero yo, despacio; después ustedes.» Tú solo, lento, con 2 segundos de pausa; el grupo repite cada frase. De aquí se recorta el clip B2_S01_frases_clave.mp3: tu versión va sola, lenta y limpia (la grabación ya está reanudada).
Fuente: Diseño B.12
Lámina 21</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21:58–21:59 (1 min 15). Comparte 20 s el Lector (Practicar → chips Sílabas y Batchim; pestaña Progreso). «Unos 30 minutos, antes del miércoles 28: el Lector, 3 rondas seguidas de cada uno, y me mandan la captura con sus estrellas de Escucha (la meta es tres); la Hoja 1, y si la mandan antes del viernes la uso para armar las parejas; un audio de 30 segundos sin leer; y anoten cumpleaños, edad, un teléfono y a qué hora se levantan, almuerzan y se acuestan.» «Quien no conversó hoy conmigo, me manda por privado el audio de diagnóstico antes del domingo: las preguntas están en su material.»
Fuente: Nueva
Lámina 22</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21:59–22:00 (30 s). «Y la clase 2 abre con el quiz 1: 5 preguntas cortitas sobre lo de hoy.» (KO) «오늘 정말 잘했어요! 화이팅!» Luego, con leve inclinación: «감사합니다!» → el grupo: «감사합니다!». A las 22:00: 'Finalizar reunión para todos'.
Fuente: Nueva
Lámina 23</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Emergencia (C.11), solo si sobran 2–4 minutos en la sala principal. Con datos del chat del bloque 1 y del cierre, describes a un alumno en tercera persona y el grupo escribe el nombre en el chat. Dos o tres rondas, cambiando las frases por los datos de otro alumno.
Fuente: Nueva
Lámina Extra A</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el chat del bloque 4 y para las salas; no se evalúan. Muéstrala si alguien pregunta por su profesión o su pasatiempo; si la suya no está, la escribe en español y se la pasas a 한글. 음악 감상, 영화 감상, 그림 그리기 y 사진 찍기 se dicen en bloque, tal cual (sin explicar -기); 드라마 y 케이팝 van con verbo.
Fuente: Nueva
Lámina Extra Ba</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el chat del bloque 1 y del bloque 4 y para las salas; no se evalúan. Si la ciudad de alguien no está, la pide en el chat y se la escribes en 한글.
Fuente: Nueva
Lámina Extra Bb</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_PORTADA">
    <p:bg>
      <p:bgPr>
        <a:solidFill>
          <a:srgbClr val="003478"/>
        </a:solidFill>
        <a:effectLst/>
      </p:bgPr>
    </p:bg>
    <p:spTree>
      <p:nvGrpSpPr>
        <p:cNvPr id="1" name=""/>
        <p:cNvGrpSpPr/>
        <p:nvPr/>
      </p:nvGrpSpPr>
      <p:grpSpPr>
        <a:xfrm>
          <a:off x="0" y="0"/>
          <a:ext cx="0" cy="0"/>
          <a:chOff x="0" y="0"/>
          <a:chExt cx="0" cy="0"/>
        </a:xfrm>
      </p:grpSpPr>
      <p:pic>
        <p:nvPicPr>
          <p:cNvPr id="2" name="Image 0" descr="C:/Users/Chingu/Desktop/ACADEMIASEULWEB/public/email/sello-blanco.png"/>
          <p:cNvPicPr>
            <a:picLocks noChangeAspect="1"/>
          </p:cNvPicPr>
          <p:nvPr/>
        </p:nvPicPr>
        <p:blipFill>
          <a:blip r:embed="rId2"/>
          <a:stretch>
            <a:fillRect/>
          </a:stretch>
        </p:blipFill>
        <p:spPr>
          <a:xfrm>
            <a:off x="640080" y="548640"/>
            <a:ext cx="822960" cy="822960"/>
          </a:xfrm>
          <a:prstGeom prst="rect">
            <a:avLst/>
          </a:prstGeom>
        </p:spPr>
      </p:pic>
      <p:sp>
        <p:nvSpPr>
          <p:cNvPr id="3" name="Text 0"/>
          <p:cNvSpPr txBox="1"/>
          <p:nvPr/>
        </p:nvSpPr>
        <p:spPr>
          <a:xfrm>
            <a:off x="1600200" y="713232"/>
            <a:ext cx="5486400" cy="457200"/>
          </a:xfrm>
          <a:prstGeom prst="rect">
            <a:avLst/>
          </a:prstGeom>
          <a:noFill/>
          <a:ln/>
        </p:spPr>
        <p:txBody>
          <a:bodyPr wrap="square" lIns="0" tIns="0" rIns="0" bIns="0" rtlCol="0" anchor="ctr"/>
          <a:lstStyle/>
          <a:p>
            <a:pPr marL="0" indent="0">
              <a:buNone/>
            </a:pPr>
            <a:r>
              <a:rPr lang="en-US" sz="1400" b="1" kern="0" spc="600" dirty="0">
                <a:solidFill>
                  <a:srgbClr val="FFFFFF"/>
                </a:solidFill>
              </a:rPr>
              <a:t>ACADEMIA SEÚL</a:t>
            </a:r>
            <a:endParaRPr lang="en-US" sz="1400" dirty="0"/>
          </a:p>
        </p:txBody>
      </p:sp>
      <p:sp>
        <p:nvSpPr>
          <p:cNvPr id="4" name="Text 1"/>
          <p:cNvSpPr>
            <a:spLocks noGrp="1"/>
          </p:cNvSpPr>
          <p:nvPr>
            <p:ph type="title" idx="102" hasCustomPrompt="1"/>
          </p:nvPr>
        </p:nvSpPr>
        <p:spPr>
          <a:xfrm>
            <a:off x="640080" y="3063240"/>
            <a:ext cx="10881360" cy="914400"/>
          </a:xfrm>
          <a:prstGeom prst="rect">
            <a:avLst/>
          </a:prstGeom>
          <a:noFill/>
          <a:ln/>
        </p:spPr>
        <p:txBody>
          <a:bodyPr wrap="square" rtlCol="0"/>
          <a:lstStyle>
            <a:lvl1pPr marL="0" indent="0">
              <a:buNone/>
              <a:defRPr lang="en-US" sz="4400" b="1" dirty="0">
                <a:solidFill>
                  <a:srgbClr val="FFFFFF"/>
                </a:solidFill>
              </a:defRPr>
            </a:lvl1pPr>
          </a:lstStyle>
          <a:p>
            <a:pPr marL="0" indent="0">
              <a:buNone/>
            </a:pPr>
            <a:endParaRPr lang="en-US" sz="4400" dirty="0"/>
          </a:p>
        </p:txBody>
      </p:sp>
      <p:sp>
        <p:nvSpPr>
          <p:cNvPr id="5" name="Text 1"/>
          <p:cNvSpPr>
            <a:spLocks noGrp="1"/>
          </p:cNvSpPr>
          <p:nvPr>
            <p:ph type="body" idx="103" hasCustomPrompt="1"/>
          </p:nvPr>
        </p:nvSpPr>
        <p:spPr>
          <a:xfrm>
            <a:off x="640080" y="4160520"/>
            <a:ext cx="10881360" cy="1828800"/>
          </a:xfrm>
          <a:prstGeom prst="rect">
            <a:avLst/>
          </a:prstGeom>
          <a:noFill/>
          <a:ln/>
        </p:spPr>
        <p:txBody>
          <a:bodyPr wrap="square" rtlCol="0"/>
          <a:lstStyle>
            <a:lvl1pPr marL="0" indent="0">
              <a:buNone/>
              <a:defRPr lang="en-US" sz="2200" dirty="0">
                <a:solidFill>
                  <a:srgbClr val="E8B84B"/>
                </a:solidFill>
              </a:defRPr>
            </a:lvl1pPr>
          </a:lstStyle>
          <a:p>
            <a:pPr marL="0" indent="0">
              <a:buNone/>
            </a:pPr>
            <a:endParaRPr lang="en-US" sz="2200" dirty="0"/>
          </a:p>
        </p:txBody>
      </p:sp>
      <p:sp>
        <p:nvSpPr>
          <p:cNvPr id="6" name="Text 1"/>
          <p:cNvSpPr txBox="1"/>
          <p:nvPr/>
        </p:nvSpPr>
        <p:spPr>
          <a:xfrm>
            <a:off x="640080" y="6172200"/>
            <a:ext cx="10881360" cy="365760"/>
          </a:xfrm>
          <a:prstGeom prst="rect">
            <a:avLst/>
          </a:prstGeom>
          <a:noFill/>
          <a:ln/>
        </p:spPr>
        <p:txBody>
          <a:bodyPr wrap="square" lIns="0" tIns="0" rIns="0" bIns="0" rtlCol="0" anchor="ctr"/>
          <a:lstStyle/>
          <a:p>
            <a:pPr marL="0" indent="0">
              <a:buNone/>
            </a:pPr>
            <a:r>
              <a:rPr lang="en-US" sz="1200" dirty="0">
                <a:solidFill>
                  <a:srgbClr val="B9C3DA"/>
                </a:solidFill>
              </a:rPr>
              <a:t>Básico 2 (A1.2) · Semana 1 · Jay Kim (김재희) · Academia Seúl</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_CONTENIDO">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rtlCol="0"/>
          <a:lstStyle>
            <a:lvl1pPr marL="0" indent="0">
              <a:buNone/>
              <a:defRPr lang="en-US" sz="3000" b="1" dirty="0">
                <a:solidFill>
                  <a:srgbClr val="003478"/>
                </a:solidFill>
              </a:defRPr>
            </a:lvl1pPr>
          </a:lstStyle>
          <a:p>
            <a:pPr marL="0" indent="0">
              <a:buNone/>
            </a:pPr>
            <a:endParaRPr lang="en-US" sz="3000" dirty="0"/>
          </a:p>
        </p:txBody>
      </p:sp>
      <p:pic>
        <p:nvPicPr>
          <p:cNvPr id="3" name="Image 0" descr="C:/Users/Chingu/Desktop/ACADEMIASEULWEB/public/email/sello-azul.png"/>
          <p:cNvPicPr>
            <a:picLocks noChangeAspect="1"/>
          </p:cNvPicPr>
          <p:nvPr/>
        </p:nvPicPr>
        <p:blipFill>
          <a:blip r:embed="rId2"/>
          <a:stretch>
            <a:fillRect/>
          </a:stretch>
        </p:blipFill>
        <p:spPr>
          <a:xfrm>
            <a:off x="11201400" y="411480"/>
            <a:ext cx="502920" cy="502920"/>
          </a:xfrm>
          <a:prstGeom prst="rect">
            <a:avLst/>
          </a:prstGeom>
        </p:spPr>
      </p:pic>
      <p:sp>
        <p:nvSpPr>
          <p:cNvPr id="4" name="Text 0"/>
          <p:cNvSpPr txBox="1"/>
          <p:nvPr/>
        </p:nvSpPr>
        <p:spPr>
          <a:xfrm>
            <a:off x="548640" y="6400800"/>
            <a:ext cx="9144000" cy="274320"/>
          </a:xfrm>
          <a:prstGeom prst="rect">
            <a:avLst/>
          </a:prstGeom>
          <a:noFill/>
          <a:ln/>
        </p:spPr>
        <p:txBody>
          <a:bodyPr wrap="square" lIns="0" tIns="0" rIns="0" bIns="0" rtlCol="0" anchor="ctr"/>
          <a:lstStyle/>
          <a:p>
            <a:pPr marL="0" indent="0">
              <a:buNone/>
            </a:pPr>
            <a:r>
              <a:rPr lang="en-US" sz="1000" dirty="0">
                <a:solidFill>
                  <a:srgbClr val="8A8DA0"/>
                </a:solidFill>
              </a:rPr>
              <a:t>Básico 2 (A1.2) · Semana 1 · Jay Kim (김재희) · Academia Seúl</a:t>
            </a:r>
            <a:endParaRPr lang="en-US" sz="1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DA0"/>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S_CIERRE">
    <p:bg>
      <p:bgPr>
        <a:solidFill>
          <a:srgbClr val="4236F6"/>
        </a:solidFill>
        <a:effectLst/>
      </p:bgPr>
    </p:bg>
    <p:spTree>
      <p:nvGrpSpPr>
        <p:cNvPr id="1" name=""/>
        <p:cNvGrpSpPr/>
        <p:nvPr/>
      </p:nvGrpSpPr>
      <p:grpSpPr>
        <a:xfrm>
          <a:off x="0" y="0"/>
          <a:ext cx="0" cy="0"/>
          <a:chOff x="0" y="0"/>
          <a:chExt cx="0" cy="0"/>
        </a:xfrm>
      </p:grpSpPr>
      <p:pic>
        <p:nvPicPr>
          <p:cNvPr id="2" name="Image 0" descr="C:/Users/Chingu/Desktop/ACADEMIASEULWEB/public/email/sello-blanco.png"/>
          <p:cNvPicPr>
            <a:picLocks noChangeAspect="1"/>
          </p:cNvPicPr>
          <p:nvPr/>
        </p:nvPicPr>
        <p:blipFill>
          <a:blip r:embed="rId2"/>
          <a:stretch>
            <a:fillRect/>
          </a:stretch>
        </p:blipFill>
        <p:spPr>
          <a:xfrm>
            <a:off x="5641848" y="502920"/>
            <a:ext cx="914400" cy="914400"/>
          </a:xfrm>
          <a:prstGeom prst="rect">
            <a:avLst/>
          </a:prstGeom>
        </p:spPr>
      </p:pic>
      <p:sp>
        <p:nvSpPr>
          <p:cNvPr id="3" name="Text 0"/>
          <p:cNvSpPr>
            <a:spLocks noGrp="1"/>
          </p:cNvSpPr>
          <p:nvPr>
            <p:ph type="title" idx="101" hasCustomPrompt="1"/>
          </p:nvPr>
        </p:nvSpPr>
        <p:spPr>
          <a:xfrm>
            <a:off x="731520" y="1691640"/>
            <a:ext cx="10725912" cy="1097280"/>
          </a:xfrm>
          <a:prstGeom prst="rect">
            <a:avLst/>
          </a:prstGeom>
          <a:noFill/>
          <a:ln/>
        </p:spPr>
        <p:txBody>
          <a:bodyPr wrap="square" rtlCol="0"/>
          <a:lstStyle>
            <a:lvl1pPr marL="0" indent="0" algn="ctr">
              <a:buNone/>
              <a:defRPr lang="en-US" sz="4000" b="1" dirty="0">
                <a:solidFill>
                  <a:srgbClr val="FFFFFF"/>
                </a:solidFill>
              </a:defRPr>
            </a:lvl1pPr>
          </a:lstStyle>
          <a:p>
            <a:pPr marL="0" indent="0" algn="ctr">
              <a:buNone/>
            </a:pPr>
            <a:endParaRPr lang="en-US" sz="4000" dirty="0"/>
          </a:p>
        </p:txBody>
      </p:sp>
      <p:sp>
        <p:nvSpPr>
          <p:cNvPr id="4" name="Text 0"/>
          <p:cNvSpPr>
            <a:spLocks noGrp="1"/>
          </p:cNvSpPr>
          <p:nvPr>
            <p:ph type="body" idx="102" hasCustomPrompt="1"/>
          </p:nvPr>
        </p:nvSpPr>
        <p:spPr>
          <a:xfrm>
            <a:off x="1463040" y="2971800"/>
            <a:ext cx="9262872" cy="2926080"/>
          </a:xfrm>
          <a:prstGeom prst="rect">
            <a:avLst/>
          </a:prstGeom>
          <a:noFill/>
          <a:ln/>
        </p:spPr>
        <p:txBody>
          <a:bodyPr wrap="square" rtlCol="0"/>
          <a:lstStyle>
            <a:lvl1pPr marL="0" indent="0">
              <a:buNone/>
              <a:defRPr lang="en-US" sz="2200" dirty="0">
                <a:solidFill>
                  <a:srgbClr val="FFFFFF"/>
                </a:solidFill>
              </a:defRPr>
            </a:lvl1pPr>
          </a:lstStyle>
          <a:p>
            <a:pPr marL="0" indent="0">
              <a:buNone/>
            </a:pPr>
            <a:endParaRPr lang="en-US" sz="2200" dirty="0"/>
          </a:p>
        </p:txBody>
      </p:sp>
      <p:sp>
        <p:nvSpPr>
          <p:cNvPr id="5" name="Text 0"/>
          <p:cNvSpPr txBox="1"/>
          <p:nvPr/>
        </p:nvSpPr>
        <p:spPr>
          <a:xfrm>
            <a:off x="731520" y="6263640"/>
            <a:ext cx="10725912" cy="320040"/>
          </a:xfrm>
          <a:prstGeom prst="rect">
            <a:avLst/>
          </a:prstGeom>
          <a:noFill/>
          <a:ln/>
        </p:spPr>
        <p:txBody>
          <a:bodyPr wrap="square" lIns="0" tIns="0" rIns="0" bIns="0" rtlCol="0" anchor="ctr"/>
          <a:lstStyle/>
          <a:p>
            <a:pPr marL="0" indent="0" algn="ctr">
              <a:buNone/>
            </a:pPr>
            <a:r>
              <a:rPr lang="en-US" sz="1100" dirty="0">
                <a:solidFill>
                  <a:srgbClr val="D9D7F7"/>
                </a:solidFill>
              </a:rPr>
              <a:t>Básico 2 (A1.2) · Semana 1 · Jay Kim (김재희) · Academia Seúl</a:t>
            </a:r>
            <a:endParaRPr lang="en-US" sz="11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DA0"/>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0"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0"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0"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0"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0"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0"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0"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0"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0"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0"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0" latinLnBrk="0" hangingPunct="1">
        <a:defRPr sz="1800" kern="1200">
          <a:solidFill>
            <a:schemeClr val="tx1"/>
          </a:solidFill>
          <a:latin typeface="+mn-lt"/>
          <a:ea typeface="+mn-ea"/>
          <a:cs typeface="+mn-cs"/>
        </a:defRPr>
      </a:lvl1pPr>
      <a:lvl2pPr marL="457200" algn="l" defTabSz="914400" rtl="0" eaLnBrk="0" latinLnBrk="0" hangingPunct="1">
        <a:defRPr sz="1800" kern="1200">
          <a:solidFill>
            <a:schemeClr val="tx1"/>
          </a:solidFill>
          <a:latin typeface="+mn-lt"/>
          <a:ea typeface="+mn-ea"/>
          <a:cs typeface="+mn-cs"/>
        </a:defRPr>
      </a:lvl2pPr>
      <a:lvl3pPr marL="914400" algn="l" defTabSz="914400" rtl="0" eaLnBrk="0" latinLnBrk="0" hangingPunct="1">
        <a:defRPr sz="1800" kern="1200">
          <a:solidFill>
            <a:schemeClr val="tx1"/>
          </a:solidFill>
          <a:latin typeface="+mn-lt"/>
          <a:ea typeface="+mn-ea"/>
          <a:cs typeface="+mn-cs"/>
        </a:defRPr>
      </a:lvl3pPr>
      <a:lvl4pPr marL="1371600" algn="l" defTabSz="914400" rtl="0" eaLnBrk="0" latinLnBrk="0" hangingPunct="1">
        <a:defRPr sz="1800" kern="1200">
          <a:solidFill>
            <a:schemeClr val="tx1"/>
          </a:solidFill>
          <a:latin typeface="+mn-lt"/>
          <a:ea typeface="+mn-ea"/>
          <a:cs typeface="+mn-cs"/>
        </a:defRPr>
      </a:lvl4pPr>
      <a:lvl5pPr marL="1828800" algn="l" defTabSz="914400" rtl="0" eaLnBrk="0" latinLnBrk="0" hangingPunct="1">
        <a:defRPr sz="1800" kern="1200">
          <a:solidFill>
            <a:schemeClr val="tx1"/>
          </a:solidFill>
          <a:latin typeface="+mn-lt"/>
          <a:ea typeface="+mn-ea"/>
          <a:cs typeface="+mn-cs"/>
        </a:defRPr>
      </a:lvl5pPr>
      <a:lvl6pPr marL="2286000" algn="l" defTabSz="914400" rtl="0" eaLnBrk="0" latinLnBrk="0" hangingPunct="1">
        <a:defRPr sz="1800" kern="1200">
          <a:solidFill>
            <a:schemeClr val="tx1"/>
          </a:solidFill>
          <a:latin typeface="+mn-lt"/>
          <a:ea typeface="+mn-ea"/>
          <a:cs typeface="+mn-cs"/>
        </a:defRPr>
      </a:lvl6pPr>
      <a:lvl7pPr marL="2743200" algn="l" defTabSz="914400" rtl="0" eaLnBrk="0" latinLnBrk="0" hangingPunct="1">
        <a:defRPr sz="1800" kern="1200">
          <a:solidFill>
            <a:schemeClr val="tx1"/>
          </a:solidFill>
          <a:latin typeface="+mn-lt"/>
          <a:ea typeface="+mn-ea"/>
          <a:cs typeface="+mn-cs"/>
        </a:defRPr>
      </a:lvl7pPr>
      <a:lvl8pPr marL="3200400" algn="l" defTabSz="914400" rtl="0" eaLnBrk="0" latinLnBrk="0" hangingPunct="1">
        <a:defRPr sz="1800" kern="1200">
          <a:solidFill>
            <a:schemeClr val="tx1"/>
          </a:solidFill>
          <a:latin typeface="+mn-lt"/>
          <a:ea typeface="+mn-ea"/>
          <a:cs typeface="+mn-cs"/>
        </a:defRPr>
      </a:lvl8pPr>
      <a:lvl9pPr marL="3657600" algn="l" defTabSz="914400" rtl="0" eaLnBrk="0"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안녕하세요</a:t>
            </a:r>
            <a:r>
              <a:rPr lang="en-US" sz="3000" b="1" dirty="0">
                <a:solidFill>
                  <a:srgbClr val="4236F6"/>
                </a:solidFill>
              </a:rPr>
              <a:t>!  </a:t>
            </a:r>
            <a:r>
              <a:rPr lang="en-US" sz="3000" b="1" dirty="0">
                <a:solidFill>
                  <a:srgbClr val="003478"/>
                </a:solidFill>
              </a:rPr>
              <a:t>Mientras llegan</a:t>
            </a:r>
            <a:r>
              <a:rPr lang="en-US" sz="1500" b="1" i="1" dirty="0">
                <a:solidFill>
                  <a:srgbClr val="8A8DA0"/>
                </a:solidFill>
              </a:rPr>
              <a:t>   While everyone joins</a:t>
            </a:r>
            <a:endParaRPr lang="en-US" sz="3000" dirty="0"/>
          </a:p>
        </p:txBody>
      </p:sp>
      <p:sp>
        <p:nvSpPr>
          <p:cNvPr id="3" name="Text 1"/>
          <p:cNvSpPr txBox="1"/>
          <p:nvPr/>
        </p:nvSpPr>
        <p:spPr>
          <a:xfrm>
            <a:off x="548640" y="1325880"/>
            <a:ext cx="6949440" cy="548640"/>
          </a:xfrm>
          <a:prstGeom prst="rect">
            <a:avLst/>
          </a:prstGeom>
          <a:noFill/>
          <a:ln/>
        </p:spPr>
        <p:txBody>
          <a:bodyPr wrap="square" lIns="0" tIns="0" rIns="0" bIns="0" rtlCol="0" anchor="t">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요즘 어떻게 지내요</a:t>
            </a:r>
            <a:r>
              <a:rPr lang="en-US" sz="1800" i="1" dirty="0">
                <a:solidFill>
                  <a:srgbClr val="4236F6"/>
                </a:solidFill>
              </a:rPr>
              <a:t>?</a:t>
            </a:r>
            <a:endParaRPr lang="en-US" sz="1800" dirty="0"/>
          </a:p>
        </p:txBody>
      </p:sp>
      <p:sp>
        <p:nvSpPr>
          <p:cNvPr id="4" name="lista"/>
          <p:cNvSpPr txBox="1"/>
          <p:nvPr/>
        </p:nvSpPr>
        <p:spPr>
          <a:xfrm>
            <a:off x="548640" y="1965960"/>
            <a:ext cx="6949440" cy="42062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en-US" sz="2200" dirty="0">
                <a:solidFill>
                  <a:srgbClr val="14142B"/>
                </a:solidFill>
              </a:rPr>
              <a:t>Cámara encendida y tu nombre real en Zoom</a:t>
            </a:r>
            <a:endParaRPr lang="en-US" sz="2200" dirty="0"/>
          </a:p>
          <a:p>
            <a:pPr marL="228600" indent="-228600" eaLnBrk="1">
              <a:spcAft>
                <a:spcPts val="800"/>
              </a:spcAft>
              <a:buSzPct val="100000"/>
              <a:buChar char="•"/>
            </a:pPr>
            <a:r>
              <a:rPr lang="ko-KR" altLang="en-US" sz="2200" dirty="0">
                <a:solidFill>
                  <a:srgbClr val="14142B"/>
                </a:solidFill>
                <a:latin typeface="Malgun Gothic" pitchFamily="34" charset="0"/>
                <a:ea typeface="Malgun Gothic" pitchFamily="34" charset="-122"/>
                <a:cs typeface="Malgun Gothic" pitchFamily="34" charset="-120"/>
              </a:rPr>
              <a:t>En el chat, en 한글</a:t>
            </a:r>
            <a:r>
              <a:rPr lang="en-US" sz="2200" dirty="0">
                <a:solidFill>
                  <a:srgbClr val="14142B"/>
                </a:solidFill>
              </a:rPr>
              <a:t>: tu nombre y tu ciudad (</a:t>
            </a:r>
            <a:r>
              <a:rPr lang="ko-KR" altLang="en-US" sz="2200" dirty="0">
                <a:solidFill>
                  <a:srgbClr val="14142B"/>
                </a:solidFill>
                <a:latin typeface="Malgun Gothic" pitchFamily="34" charset="0"/>
                <a:ea typeface="Malgun Gothic" pitchFamily="34" charset="-122"/>
                <a:cs typeface="Malgun Gothic" pitchFamily="34" charset="-120"/>
              </a:rPr>
              <a:t>카밀라 </a:t>
            </a:r>
            <a:r>
              <a:rPr lang="en-US" sz="2200" dirty="0">
                <a:solidFill>
                  <a:srgbClr val="14142B"/>
                </a:solidFill>
              </a:rPr>
              <a:t>· </a:t>
            </a:r>
            <a:r>
              <a:rPr lang="ko-KR" altLang="en-US" sz="2200" dirty="0">
                <a:solidFill>
                  <a:srgbClr val="14142B"/>
                </a:solidFill>
                <a:latin typeface="Malgun Gothic" pitchFamily="34" charset="0"/>
                <a:ea typeface="Malgun Gothic" pitchFamily="34" charset="-122"/>
                <a:cs typeface="Malgun Gothic" pitchFamily="34" charset="-120"/>
              </a:rPr>
              <a:t>산티아고</a:t>
            </a:r>
            <a:r>
              <a:rPr lang="en-US" sz="2200" dirty="0">
                <a:solidFill>
                  <a:srgbClr val="14142B"/>
                </a:solidFill>
              </a:rPr>
              <a:t>)</a:t>
            </a:r>
            <a:endParaRPr lang="en-US" sz="2200" dirty="0"/>
          </a:p>
          <a:p>
            <a:pPr marL="228600" indent="-228600" eaLnBrk="1">
              <a:spcAft>
                <a:spcPts val="800"/>
              </a:spcAft>
              <a:buSzPct val="100000"/>
              <a:buChar char="•"/>
            </a:pPr>
            <a:r>
              <a:rPr lang="en-US" sz="2200" dirty="0">
                <a:solidFill>
                  <a:srgbClr val="14142B"/>
                </a:solidFill>
              </a:rPr>
              <a:t>¿Te salen letras latinas? Win + Espacio o la 'A' junto a la hora</a:t>
            </a:r>
            <a:endParaRPr lang="en-US" sz="2200" dirty="0"/>
          </a:p>
          <a:p>
            <a:pPr marL="228600" indent="-228600" eaLnBrk="1">
              <a:spcAft>
                <a:spcPts val="800"/>
              </a:spcAft>
              <a:buSzPct val="100000"/>
              <a:buChar char="•"/>
            </a:pPr>
            <a:r>
              <a:rPr lang="ko-KR" altLang="en-US" sz="2200" dirty="0">
                <a:solidFill>
                  <a:srgbClr val="14142B"/>
                </a:solidFill>
                <a:latin typeface="Malgun Gothic" pitchFamily="34" charset="0"/>
                <a:ea typeface="Malgun Gothic" pitchFamily="34" charset="-122"/>
                <a:cs typeface="Malgun Gothic" pitchFamily="34" charset="-120"/>
              </a:rPr>
              <a:t>Teclado, consonantes a la izquierda: A S D F G = ㅁ ㄴ ㅇ ㄹ ㅎ</a:t>
            </a:r>
            <a:endParaRPr lang="en-US" sz="2200" dirty="0"/>
          </a:p>
          <a:p>
            <a:pPr marL="228600" indent="-228600" eaLnBrk="1">
              <a:spcAft>
                <a:spcPts val="800"/>
              </a:spcAft>
              <a:buSzPct val="100000"/>
              <a:buChar char="•"/>
            </a:pPr>
            <a:r>
              <a:rPr lang="ko-KR" altLang="en-US" sz="2200" dirty="0">
                <a:solidFill>
                  <a:srgbClr val="14142B"/>
                </a:solidFill>
                <a:latin typeface="Malgun Gothic" pitchFamily="34" charset="0"/>
                <a:ea typeface="Malgun Gothic" pitchFamily="34" charset="-122"/>
                <a:cs typeface="Malgun Gothic" pitchFamily="34" charset="-120"/>
              </a:rPr>
              <a:t>Vocales a la derecha: H J K L = ㅗ ㅓ ㅏ ㅣ</a:t>
            </a:r>
            <a:endParaRPr lang="en-US" sz="2200" dirty="0"/>
          </a:p>
          <a:p>
            <a:pPr marL="228600" indent="-228600" eaLnBrk="1">
              <a:spcAft>
                <a:spcPts val="800"/>
              </a:spcAft>
              <a:buSzPct val="100000"/>
              <a:buChar char="•"/>
            </a:pPr>
            <a:r>
              <a:rPr lang="ko-KR" altLang="en-US" sz="2200" dirty="0">
                <a:solidFill>
                  <a:srgbClr val="14142B"/>
                </a:solidFill>
                <a:latin typeface="Malgun Gothic" pitchFamily="34" charset="0"/>
                <a:ea typeface="Malgun Gothic" pitchFamily="34" charset="-122"/>
                <a:cs typeface="Malgun Gothic" pitchFamily="34" charset="-120"/>
              </a:rPr>
              <a:t>요즘 어떻게 지내요</a:t>
            </a:r>
            <a:r>
              <a:rPr lang="en-US" sz="2200" dirty="0">
                <a:solidFill>
                  <a:srgbClr val="14142B"/>
                </a:solidFill>
              </a:rPr>
              <a:t>? — </a:t>
            </a:r>
            <a:r>
              <a:rPr lang="ko-KR" altLang="en-US" sz="2200" dirty="0">
                <a:solidFill>
                  <a:srgbClr val="14142B"/>
                </a:solidFill>
                <a:latin typeface="Malgun Gothic" pitchFamily="34" charset="0"/>
                <a:ea typeface="Malgun Gothic" pitchFamily="34" charset="-122"/>
                <a:cs typeface="Malgun Gothic" pitchFamily="34" charset="-120"/>
              </a:rPr>
              <a:t>잘 지내요</a:t>
            </a:r>
            <a:r>
              <a:rPr lang="en-US" sz="2200" dirty="0">
                <a:solidFill>
                  <a:srgbClr val="14142B"/>
                </a:solidFill>
              </a:rPr>
              <a:t>. ___ </a:t>
            </a:r>
            <a:r>
              <a:rPr lang="ko-KR" altLang="en-US" sz="2200" dirty="0">
                <a:solidFill>
                  <a:srgbClr val="14142B"/>
                </a:solidFill>
                <a:latin typeface="Malgun Gothic" pitchFamily="34" charset="0"/>
                <a:ea typeface="Malgun Gothic" pitchFamily="34" charset="-122"/>
                <a:cs typeface="Malgun Gothic" pitchFamily="34" charset="-120"/>
              </a:rPr>
              <a:t>씨는요</a:t>
            </a:r>
            <a:r>
              <a:rPr lang="en-US" sz="2200" dirty="0">
                <a:solidFill>
                  <a:srgbClr val="14142B"/>
                </a:solidFill>
              </a:rPr>
              <a:t>?</a:t>
            </a:r>
            <a:endParaRPr lang="en-US" sz="2200" dirty="0"/>
          </a:p>
        </p:txBody>
      </p:sp>
      <p:sp>
        <p:nvSpPr>
          <p:cNvPr id="5" name="panel"/>
          <p:cNvSpPr/>
          <p:nvPr/>
        </p:nvSpPr>
        <p:spPr>
          <a:xfrm>
            <a:off x="8001000" y="1417320"/>
            <a:ext cx="3611880" cy="4480560"/>
          </a:xfrm>
          <a:prstGeom prst="roundRect">
            <a:avLst>
              <a:gd name="adj" fmla="val 6329"/>
            </a:avLst>
          </a:prstGeom>
          <a:solidFill>
            <a:srgbClr val="F1F0FE"/>
          </a:solidFill>
          <a:ln w="12700">
            <a:solidFill>
              <a:srgbClr val="F1F0FE"/>
            </a:solidFill>
            <a:prstDash val="solid"/>
          </a:ln>
        </p:spPr>
      </p:sp>
      <p:sp>
        <p:nvSpPr>
          <p:cNvPr id="6" name="ko_grande"/>
          <p:cNvSpPr txBox="1"/>
          <p:nvPr/>
        </p:nvSpPr>
        <p:spPr>
          <a:xfrm>
            <a:off x="8092440" y="1874520"/>
            <a:ext cx="3429000" cy="2926080"/>
          </a:xfrm>
          <a:prstGeom prst="rect">
            <a:avLst/>
          </a:prstGeom>
          <a:noFill/>
          <a:ln/>
        </p:spPr>
        <p:txBody>
          <a:bodyPr wrap="square" lIns="0" tIns="0" rIns="0" bIns="0" rtlCol="0" anchor="ctr">
            <a:normAutofit/>
          </a:bodyPr>
          <a:lstStyle/>
          <a:p>
            <a:pPr marL="0" indent="0" algn="ctr" eaLnBrk="1">
              <a:buNone/>
            </a:pPr>
            <a:r>
              <a:rPr lang="ko-KR" altLang="en-US" sz="4100" b="1" dirty="0">
                <a:solidFill>
                  <a:srgbClr val="4236F6"/>
                </a:solidFill>
                <a:latin typeface="Malgun Gothic" pitchFamily="34" charset="0"/>
                <a:ea typeface="Malgun Gothic" pitchFamily="34" charset="-122"/>
                <a:cs typeface="Malgun Gothic" pitchFamily="34" charset="-120"/>
              </a:rPr>
              <a:t>안녕하세요</a:t>
            </a:r>
            <a:r>
              <a:rPr lang="en-US" sz="4100" b="1" dirty="0">
                <a:solidFill>
                  <a:srgbClr val="4236F6"/>
                </a:solidFill>
              </a:rPr>
              <a:t>!</a:t>
            </a:r>
            <a:endParaRPr lang="en-US" sz="4100" dirty="0"/>
          </a:p>
        </p:txBody>
      </p:sp>
      <p:pic>
        <p:nvPicPr>
          <p:cNvPr id="7"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9601200" y="4983480"/>
            <a:ext cx="384048" cy="384048"/>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ulo_ko"/>
          <p:cNvSpPr txBox="1"/>
          <p:nvPr/>
        </p:nvSpPr>
        <p:spPr>
          <a:xfrm>
            <a:off x="640080" y="1691640"/>
            <a:ext cx="10881360" cy="1280160"/>
          </a:xfrm>
          <a:prstGeom prst="rect">
            <a:avLst/>
          </a:prstGeom>
          <a:noFill/>
          <a:ln/>
        </p:spPr>
        <p:txBody>
          <a:bodyPr wrap="square" lIns="0" tIns="0" rIns="0" bIns="0" rtlCol="0" anchor="b">
            <a:normAutofit/>
          </a:bodyPr>
          <a:lstStyle/>
          <a:p>
            <a:pPr marL="0" indent="0" eaLnBrk="1">
              <a:buNone/>
            </a:pPr>
            <a:r>
              <a:rPr lang="ko-KR" altLang="en-US" sz="6600" b="1" dirty="0">
                <a:solidFill>
                  <a:srgbClr val="E8B84B"/>
                </a:solidFill>
                <a:latin typeface="Malgun Gothic" pitchFamily="34" charset="0"/>
                <a:ea typeface="Malgun Gothic" pitchFamily="34" charset="-122"/>
                <a:cs typeface="Malgun Gothic" pitchFamily="34" charset="-120"/>
              </a:rPr>
              <a:t>기초 한국어 </a:t>
            </a:r>
            <a:r>
              <a:rPr lang="en-US" sz="6600" b="1" dirty="0">
                <a:solidFill>
                  <a:srgbClr val="E8B84B"/>
                </a:solidFill>
              </a:rPr>
              <a:t>2</a:t>
            </a:r>
            <a:endParaRPr lang="en-US" sz="6600" dirty="0"/>
          </a:p>
        </p:txBody>
      </p:sp>
      <p:sp>
        <p:nvSpPr>
          <p:cNvPr id="3" name="Text 1"/>
          <p:cNvSpPr>
            <a:spLocks noGrp="1"/>
          </p:cNvSpPr>
          <p:nvPr>
            <p:ph type="title" idx="102" hasCustomPrompt="1"/>
          </p:nvPr>
        </p:nvSpPr>
        <p:spPr>
          <a:xfrm>
            <a:off x="640080" y="3063240"/>
            <a:ext cx="10881360" cy="914400"/>
          </a:xfrm>
          <a:prstGeom prst="rect">
            <a:avLst/>
          </a:prstGeom>
          <a:noFill/>
          <a:ln/>
        </p:spPr>
        <p:txBody>
          <a:bodyPr wrap="square" lIns="0" tIns="0" rIns="0" bIns="0" rtlCol="0" anchor="t"/>
          <a:lstStyle/>
          <a:p>
            <a:pPr marL="0" indent="0" algn="l" eaLnBrk="1">
              <a:buNone/>
            </a:pPr>
            <a:r>
              <a:rPr lang="en-US" sz="4400" b="1" dirty="0">
                <a:solidFill>
                  <a:srgbClr val="FFFFFF"/>
                </a:solidFill>
              </a:rPr>
              <a:t>Básico 2 · Semana 1</a:t>
            </a:r>
            <a:endParaRPr lang="en-US" sz="4400" dirty="0"/>
          </a:p>
        </p:txBody>
      </p:sp>
      <p:sp>
        <p:nvSpPr>
          <p:cNvPr id="4" name="Text 1"/>
          <p:cNvSpPr>
            <a:spLocks noGrp="1"/>
          </p:cNvSpPr>
          <p:nvPr>
            <p:ph type="body" idx="103" hasCustomPrompt="1"/>
          </p:nvPr>
        </p:nvSpPr>
        <p:spPr>
          <a:xfrm>
            <a:off x="640080" y="4160520"/>
            <a:ext cx="10881360" cy="1828800"/>
          </a:xfrm>
          <a:prstGeom prst="rect">
            <a:avLst/>
          </a:prstGeom>
          <a:noFill/>
          <a:ln/>
        </p:spPr>
        <p:txBody>
          <a:bodyPr wrap="square" lIns="0" tIns="0" rIns="0" bIns="0" rtlCol="0" anchor="t">
            <a:normAutofit/>
          </a:bodyPr>
          <a:lstStyle/>
          <a:p>
            <a:pPr marL="0" indent="0" eaLnBrk="1">
              <a:buNone/>
            </a:pPr>
            <a:r>
              <a:rPr lang="en-US" sz="1900" dirty="0">
                <a:solidFill>
                  <a:srgbClr val="E8B84B"/>
                </a:solidFill>
              </a:rPr>
              <a:t>Básico 2 (A1.2) · Pasado, presente y futuro · Re-presentación</a:t>
            </a:r>
            <a:endParaRPr lang="en-US" sz="2200" dirty="0"/>
          </a:p>
          <a:p>
            <a:pPr marL="0" indent="0" eaLnBrk="1">
              <a:buNone/>
            </a:pPr>
            <a:r>
              <a:rPr lang="ko-KR" altLang="en-US" sz="1900" dirty="0">
                <a:solidFill>
                  <a:srgbClr val="E8B84B"/>
                </a:solidFill>
                <a:latin typeface="Malgun Gothic" pitchFamily="34" charset="0"/>
                <a:ea typeface="Malgun Gothic" pitchFamily="34" charset="-122"/>
                <a:cs typeface="Malgun Gothic" pitchFamily="34" charset="-120"/>
              </a:rPr>
              <a:t>다시</a:t>
            </a:r>
            <a:r>
              <a:rPr lang="en-US" sz="1900" dirty="0">
                <a:solidFill>
                  <a:srgbClr val="E8B84B"/>
                </a:solidFill>
              </a:rPr>
              <a:t>, </a:t>
            </a:r>
            <a:r>
              <a:rPr lang="ko-KR" altLang="en-US" sz="1900" dirty="0">
                <a:solidFill>
                  <a:srgbClr val="E8B84B"/>
                </a:solidFill>
                <a:latin typeface="Malgun Gothic" pitchFamily="34" charset="0"/>
                <a:ea typeface="Malgun Gothic" pitchFamily="34" charset="-122"/>
                <a:cs typeface="Malgun Gothic" pitchFamily="34" charset="-120"/>
              </a:rPr>
              <a:t>반갑습니다</a:t>
            </a:r>
            <a:r>
              <a:rPr lang="en-US" sz="1900" dirty="0">
                <a:solidFill>
                  <a:srgbClr val="E8B84B"/>
                </a:solidFill>
              </a:rPr>
              <a:t>!</a:t>
            </a:r>
            <a:endParaRPr lang="en-US" sz="2200" dirty="0"/>
          </a:p>
          <a:p>
            <a:pPr marL="0" indent="0" eaLnBrk="1">
              <a:buNone/>
            </a:pPr>
            <a:r>
              <a:rPr lang="en-US" sz="1900" dirty="0">
                <a:solidFill>
                  <a:srgbClr val="E8B84B"/>
                </a:solidFill>
              </a:rPr>
              <a:t>Miércoles 21 de octubre de 2026 · 21:00 (hora de Chile)</a:t>
            </a:r>
            <a:endParaRPr lang="en-US" sz="2200" dirty="0"/>
          </a:p>
          <a:p>
            <a:pPr marL="0" indent="0" eaLnBrk="1">
              <a:buNone/>
            </a:pPr>
            <a:r>
              <a:rPr lang="ko-KR" altLang="en-US" sz="1900" dirty="0">
                <a:solidFill>
                  <a:srgbClr val="E8B84B"/>
                </a:solidFill>
                <a:latin typeface="Malgun Gothic" pitchFamily="34" charset="0"/>
                <a:ea typeface="Malgun Gothic" pitchFamily="34" charset="-122"/>
                <a:cs typeface="Malgun Gothic" pitchFamily="34" charset="-120"/>
              </a:rPr>
              <a:t>Jay Kim · 김재희 선생님</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Así es Básico 2</a:t>
            </a:r>
            <a:r>
              <a:rPr lang="en-US" sz="1500" b="1" i="1" dirty="0">
                <a:solidFill>
                  <a:srgbClr val="8A8DA0"/>
                </a:solidFill>
              </a:rPr>
              <a:t>   This is Basic 2</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en-US" sz="1800" i="1" dirty="0">
                <a:solidFill>
                  <a:srgbClr val="4236F6"/>
                </a:solidFill>
              </a:rPr>
              <a:t>8 semanas · el curso de los tres tiempos</a:t>
            </a:r>
            <a:endParaRPr lang="en-US" sz="1800" dirty="0"/>
          </a:p>
        </p:txBody>
      </p:sp>
      <p:graphicFrame>
        <p:nvGraphicFramePr>
          <p:cNvPr id="4" name="tabla"/>
          <p:cNvGraphicFramePr>
            <a:graphicFrameLocks noGrp="1"/>
          </p:cNvGraphicFramePr>
          <p:nvPr>
            <p:extLst>
              <p:ext uri="{D42A27DB-BD31-4B8C-83A1-F6EECF244321}">
                <p14:modId xmlns:p14="http://schemas.microsoft.com/office/powerpoint/2010/main" val="3117827963"/>
              </p:ext>
            </p:extLst>
          </p:nvPr>
        </p:nvGraphicFramePr>
        <p:xfrm>
          <a:off x="548640" y="1874520"/>
          <a:ext cx="11091672" cy="914400"/>
        </p:xfrm>
        <a:graphic>
          <a:graphicData uri="http://schemas.openxmlformats.org/drawingml/2006/table">
            <a:tbl>
              <a:tblPr/>
              <a:tblGrid>
                <a:gridCol w="5545836">
                  <a:extLst>
                    <a:ext uri="{9D8B030D-6E8A-4147-A177-3AD203B41FA5}">
                      <a16:colId xmlns:a16="http://schemas.microsoft.com/office/drawing/2014/main" val="20000"/>
                    </a:ext>
                  </a:extLst>
                </a:gridCol>
                <a:gridCol w="5545836">
                  <a:extLst>
                    <a:ext uri="{9D8B030D-6E8A-4147-A177-3AD203B41FA5}">
                      <a16:colId xmlns:a16="http://schemas.microsoft.com/office/drawing/2014/main" val="20001"/>
                    </a:ext>
                  </a:extLst>
                </a:gridCol>
              </a:tblGrid>
              <a:tr h="477520">
                <a:tc>
                  <a:txBody>
                    <a:bodyPr/>
                    <a:lstStyle/>
                    <a:p>
                      <a:pPr marL="0" indent="0" eaLnBrk="1">
                        <a:buNone/>
                      </a:pPr>
                      <a:r>
                        <a:rPr lang="en-US" sz="1600" b="1" dirty="0">
                          <a:solidFill>
                            <a:srgbClr val="FFFFFF"/>
                          </a:solidFill>
                        </a:rPr>
                        <a:t>Semana</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600" b="1" dirty="0">
                          <a:solidFill>
                            <a:srgbClr val="FFFFFF"/>
                          </a:solidFill>
                        </a:rPr>
                        <a:t>Qué vemos</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extLst>
                  <a:ext uri="{0D108BD9-81ED-4DB2-BD59-A6C34878D82A}">
                    <a16:rowId xmlns:a16="http://schemas.microsoft.com/office/drawing/2014/main" val="10000"/>
                  </a:ext>
                </a:extLst>
              </a:tr>
              <a:tr h="477520">
                <a:tc>
                  <a:txBody>
                    <a:bodyPr/>
                    <a:lstStyle/>
                    <a:p>
                      <a:pPr marL="0" indent="0" eaLnBrk="1">
                        <a:buNone/>
                      </a:pPr>
                      <a:r>
                        <a:rPr lang="en-US" sz="1600" dirty="0">
                          <a:solidFill>
                            <a:srgbClr val="14142B"/>
                          </a:solidFill>
                        </a:rPr>
                        <a:t>S1–S3</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600" dirty="0">
                          <a:solidFill>
                            <a:srgbClr val="14142B"/>
                          </a:solidFill>
                        </a:rPr>
                        <a:t>Presente</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1"/>
                  </a:ext>
                </a:extLst>
              </a:tr>
              <a:tr h="477520">
                <a:tc>
                  <a:txBody>
                    <a:bodyPr/>
                    <a:lstStyle/>
                    <a:p>
                      <a:pPr marL="0" indent="0" eaLnBrk="1">
                        <a:buNone/>
                      </a:pPr>
                      <a:r>
                        <a:rPr lang="en-US" sz="1600" dirty="0">
                          <a:solidFill>
                            <a:srgbClr val="14142B"/>
                          </a:solidFill>
                        </a:rPr>
                        <a:t>S4</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600" dirty="0">
                          <a:solidFill>
                            <a:srgbClr val="14142B"/>
                          </a:solidFill>
                        </a:rPr>
                        <a:t>Pasado</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7520">
                <a:tc>
                  <a:txBody>
                    <a:bodyPr/>
                    <a:lstStyle/>
                    <a:p>
                      <a:pPr marL="0" indent="0" eaLnBrk="1">
                        <a:buNone/>
                      </a:pPr>
                      <a:r>
                        <a:rPr lang="en-US" sz="1600" dirty="0">
                          <a:solidFill>
                            <a:srgbClr val="14142B"/>
                          </a:solidFill>
                        </a:rPr>
                        <a:t>S5</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600" dirty="0">
                          <a:solidFill>
                            <a:srgbClr val="14142B"/>
                          </a:solidFill>
                        </a:rPr>
                        <a:t>Futuro</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3"/>
                  </a:ext>
                </a:extLst>
              </a:tr>
              <a:tr h="477520">
                <a:tc>
                  <a:txBody>
                    <a:bodyPr/>
                    <a:lstStyle/>
                    <a:p>
                      <a:pPr marL="0" indent="0" eaLnBrk="1">
                        <a:buNone/>
                      </a:pPr>
                      <a:r>
                        <a:rPr lang="en-US" sz="1600" dirty="0">
                          <a:solidFill>
                            <a:srgbClr val="14142B"/>
                          </a:solidFill>
                        </a:rPr>
                        <a:t>S6</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600" dirty="0">
                          <a:solidFill>
                            <a:srgbClr val="14142B"/>
                          </a:solidFill>
                        </a:rPr>
                        <a:t>No, no puedo, sé</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7520">
                <a:tc>
                  <a:txBody>
                    <a:bodyPr/>
                    <a:lstStyle/>
                    <a:p>
                      <a:pPr marL="0" indent="0" eaLnBrk="1">
                        <a:buNone/>
                      </a:pPr>
                      <a:r>
                        <a:rPr lang="en-US" sz="1600" dirty="0">
                          <a:solidFill>
                            <a:srgbClr val="14142B"/>
                          </a:solidFill>
                        </a:rPr>
                        <a:t>S7</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600" dirty="0">
                          <a:solidFill>
                            <a:srgbClr val="14142B"/>
                          </a:solidFill>
                        </a:rPr>
                        <a:t>Partículas</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5"/>
                  </a:ext>
                </a:extLst>
              </a:tr>
              <a:tr h="477520">
                <a:tc>
                  <a:txBody>
                    <a:bodyPr/>
                    <a:lstStyle/>
                    <a:p>
                      <a:pPr marL="0" indent="0" eaLnBrk="1">
                        <a:buNone/>
                      </a:pPr>
                      <a:r>
                        <a:rPr lang="en-US" sz="1600" dirty="0">
                          <a:solidFill>
                            <a:srgbClr val="14142B"/>
                          </a:solidFill>
                        </a:rPr>
                        <a:t>S8</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600" dirty="0">
                          <a:solidFill>
                            <a:srgbClr val="14142B"/>
                          </a:solidFill>
                        </a:rPr>
                        <a:t>Conversación de 5 minutos</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77520">
                <a:tc>
                  <a:txBody>
                    <a:bodyPr/>
                    <a:lstStyle/>
                    <a:p>
                      <a:pPr marL="0" indent="0" eaLnBrk="1">
                        <a:buNone/>
                      </a:pPr>
                      <a:r>
                        <a:rPr lang="en-US" sz="1600" dirty="0">
                          <a:solidFill>
                            <a:srgbClr val="14142B"/>
                          </a:solidFill>
                        </a:rPr>
                        <a:t>Cada clase</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600" dirty="0">
                          <a:solidFill>
                            <a:srgbClr val="14142B"/>
                          </a:solidFill>
                        </a:rPr>
                        <a:t>Quiz · lección · drill · salas · cierre</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7"/>
                  </a:ext>
                </a:extLst>
              </a:tr>
              <a:tr h="477520">
                <a:tc>
                  <a:txBody>
                    <a:bodyPr/>
                    <a:lstStyle/>
                    <a:p>
                      <a:pPr marL="0" indent="0" eaLnBrk="1">
                        <a:buNone/>
                      </a:pPr>
                      <a:r>
                        <a:rPr lang="en-US" sz="1600" dirty="0">
                          <a:solidFill>
                            <a:srgbClr val="14142B"/>
                          </a:solidFill>
                        </a:rPr>
                        <a:t>Hoy</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600" dirty="0">
                          <a:solidFill>
                            <a:srgbClr val="14142B"/>
                          </a:solidFill>
                        </a:rPr>
                        <a:t>Sin quiz · diagnóstico de 2 minutos, sin nota</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Adiós, romanización</a:t>
            </a:r>
            <a:r>
              <a:rPr lang="en-US" sz="1500" b="1" i="1" dirty="0">
                <a:solidFill>
                  <a:srgbClr val="8A8DA0"/>
                </a:solidFill>
              </a:rPr>
              <a:t>   Goodbye, romanization</a:t>
            </a:r>
            <a:endParaRPr lang="en-US" sz="3000" dirty="0"/>
          </a:p>
        </p:txBody>
      </p:sp>
      <p:sp>
        <p:nvSpPr>
          <p:cNvPr id="3" name="Text 1"/>
          <p:cNvSpPr txBox="1"/>
          <p:nvPr/>
        </p:nvSpPr>
        <p:spPr>
          <a:xfrm>
            <a:off x="548640" y="1325880"/>
            <a:ext cx="5669280" cy="548640"/>
          </a:xfrm>
          <a:prstGeom prst="rect">
            <a:avLst/>
          </a:prstGeom>
          <a:noFill/>
          <a:ln/>
        </p:spPr>
        <p:txBody>
          <a:bodyPr wrap="square" lIns="0" tIns="0" rIns="0" bIns="0" rtlCol="0" anchor="t">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Antes: [letras latinas] · Desde hoy, el corchete va en 한글</a:t>
            </a:r>
            <a:r>
              <a:rPr lang="en-US" sz="1800" i="1" dirty="0">
                <a:solidFill>
                  <a:srgbClr val="4236F6"/>
                </a:solidFill>
              </a:rPr>
              <a:t>: </a:t>
            </a:r>
            <a:r>
              <a:rPr lang="ko-KR" altLang="en-US" sz="1800" i="1" dirty="0">
                <a:solidFill>
                  <a:srgbClr val="4236F6"/>
                </a:solidFill>
                <a:latin typeface="Malgun Gothic" pitchFamily="34" charset="0"/>
                <a:ea typeface="Malgun Gothic" pitchFamily="34" charset="-122"/>
                <a:cs typeface="Malgun Gothic" pitchFamily="34" charset="-120"/>
              </a:rPr>
              <a:t>저는 </a:t>
            </a:r>
            <a:r>
              <a:rPr lang="en-US" sz="1800" i="1" dirty="0">
                <a:solidFill>
                  <a:srgbClr val="4236F6"/>
                </a:solidFill>
              </a:rPr>
              <a:t>[</a:t>
            </a:r>
            <a:r>
              <a:rPr lang="ko-KR" altLang="en-US" sz="1800" i="1" dirty="0">
                <a:solidFill>
                  <a:srgbClr val="4236F6"/>
                </a:solidFill>
                <a:latin typeface="Malgun Gothic" pitchFamily="34" charset="0"/>
                <a:ea typeface="Malgun Gothic" pitchFamily="34" charset="-122"/>
                <a:cs typeface="Malgun Gothic" pitchFamily="34" charset="-120"/>
              </a:rPr>
              <a:t>저는</a:t>
            </a:r>
            <a:r>
              <a:rPr lang="en-US" sz="1800" i="1" dirty="0">
                <a:solidFill>
                  <a:srgbClr val="4236F6"/>
                </a:solidFill>
              </a:rPr>
              <a:t>] · </a:t>
            </a:r>
            <a:r>
              <a:rPr lang="ko-KR" altLang="en-US" sz="1800" i="1" dirty="0">
                <a:solidFill>
                  <a:srgbClr val="4236F6"/>
                </a:solidFill>
                <a:latin typeface="Malgun Gothic" pitchFamily="34" charset="0"/>
                <a:ea typeface="Malgun Gothic" pitchFamily="34" charset="-122"/>
                <a:cs typeface="Malgun Gothic" pitchFamily="34" charset="-120"/>
              </a:rPr>
              <a:t>있어요 </a:t>
            </a:r>
            <a:r>
              <a:rPr lang="en-US" sz="1800" i="1" dirty="0">
                <a:solidFill>
                  <a:srgbClr val="4236F6"/>
                </a:solidFill>
              </a:rPr>
              <a:t>[</a:t>
            </a:r>
            <a:r>
              <a:rPr lang="ko-KR" altLang="en-US" sz="1800" i="1" dirty="0">
                <a:solidFill>
                  <a:srgbClr val="4236F6"/>
                </a:solidFill>
                <a:latin typeface="Malgun Gothic" pitchFamily="34" charset="0"/>
                <a:ea typeface="Malgun Gothic" pitchFamily="34" charset="-122"/>
                <a:cs typeface="Malgun Gothic" pitchFamily="34" charset="-120"/>
              </a:rPr>
              <a:t>이써요</a:t>
            </a:r>
            <a:r>
              <a:rPr lang="en-US" sz="1800" i="1" dirty="0">
                <a:solidFill>
                  <a:srgbClr val="4236F6"/>
                </a:solidFill>
              </a:rPr>
              <a:t>]</a:t>
            </a:r>
            <a:endParaRPr lang="en-US" sz="1800" dirty="0"/>
          </a:p>
        </p:txBody>
      </p:sp>
      <p:sp>
        <p:nvSpPr>
          <p:cNvPr id="4" name="lista"/>
          <p:cNvSpPr txBox="1"/>
          <p:nvPr/>
        </p:nvSpPr>
        <p:spPr>
          <a:xfrm>
            <a:off x="548640" y="1965960"/>
            <a:ext cx="5669280" cy="42062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Ya lees 한글</a:t>
            </a:r>
            <a:r>
              <a:rPr lang="en-US" sz="2000" dirty="0">
                <a:solidFill>
                  <a:srgbClr val="14142B"/>
                </a:solidFill>
              </a:rPr>
              <a:t>: las letras latinas no te suman, te restan</a:t>
            </a:r>
            <a:endParaRPr lang="en-US" sz="2000" dirty="0"/>
          </a:p>
          <a:p>
            <a:pPr marL="228600" indent="-228600" eaLnBrk="1">
              <a:spcAft>
                <a:spcPts val="800"/>
              </a:spcAft>
              <a:buSzPct val="100000"/>
              <a:buChar char="•"/>
            </a:pPr>
            <a:r>
              <a:rPr lang="en-US" sz="2000" dirty="0">
                <a:solidFill>
                  <a:srgbClr val="14142B"/>
                </a:solidFill>
              </a:rPr>
              <a:t>Te hacen pronunciar en español: la jota, la 'eo' como dos vocales</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No dicen cómo suena de verdad: 있어요 </a:t>
            </a:r>
            <a:r>
              <a:rPr lang="en-US" sz="2000" dirty="0">
                <a:solidFill>
                  <a:srgbClr val="14142B"/>
                </a:solidFill>
              </a:rPr>
              <a:t>se dice [</a:t>
            </a:r>
            <a:r>
              <a:rPr lang="ko-KR" altLang="en-US" sz="2000" dirty="0">
                <a:solidFill>
                  <a:srgbClr val="14142B"/>
                </a:solidFill>
                <a:latin typeface="Malgun Gothic" pitchFamily="34" charset="0"/>
                <a:ea typeface="Malgun Gothic" pitchFamily="34" charset="-122"/>
                <a:cs typeface="Malgun Gothic" pitchFamily="34" charset="-120"/>
              </a:rPr>
              <a:t>이써요</a:t>
            </a:r>
            <a:r>
              <a:rPr lang="en-US" sz="2000" dirty="0">
                <a:solidFill>
                  <a:srgbClr val="14142B"/>
                </a:solidFill>
              </a:rPr>
              <a:t>]</a:t>
            </a:r>
            <a:endParaRPr lang="en-US" sz="2000" dirty="0"/>
          </a:p>
          <a:p>
            <a:pPr marL="228600" indent="-228600" eaLnBrk="1">
              <a:spcAft>
                <a:spcPts val="800"/>
              </a:spcAft>
              <a:buSzPct val="100000"/>
              <a:buChar char="•"/>
            </a:pPr>
            <a:r>
              <a:rPr lang="en-US" sz="2000" dirty="0">
                <a:solidFill>
                  <a:srgbClr val="14142B"/>
                </a:solidFill>
              </a:rPr>
              <a:t>Fuera de clase no existen: ni en KakaoTalk ni en el TOPIK</a:t>
            </a:r>
            <a:endParaRPr lang="en-US" sz="2000" dirty="0"/>
          </a:p>
          <a:p>
            <a:pPr marL="228600" indent="-228600" eaLnBrk="1">
              <a:spcAft>
                <a:spcPts val="800"/>
              </a:spcAft>
              <a:buSzPct val="100000"/>
              <a:buChar char="•"/>
            </a:pPr>
            <a:r>
              <a:rPr lang="en-US" sz="2000" dirty="0">
                <a:solidFill>
                  <a:srgbClr val="14142B"/>
                </a:solidFill>
              </a:rPr>
              <a:t>¿No te sale? Escúchala (grabación, Lector, audio del material) y mira el corchete</a:t>
            </a:r>
            <a:endParaRPr lang="en-US" sz="2000" dirty="0"/>
          </a:p>
        </p:txBody>
      </p:sp>
      <p:sp>
        <p:nvSpPr>
          <p:cNvPr id="5" name="panel"/>
          <p:cNvSpPr/>
          <p:nvPr/>
        </p:nvSpPr>
        <p:spPr>
          <a:xfrm>
            <a:off x="6446520" y="1371600"/>
            <a:ext cx="5193792" cy="4800600"/>
          </a:xfrm>
          <a:prstGeom prst="roundRect">
            <a:avLst>
              <a:gd name="adj" fmla="val 4762"/>
            </a:avLst>
          </a:prstGeom>
          <a:solidFill>
            <a:srgbClr val="F1F0FE"/>
          </a:solidFill>
          <a:ln w="12700">
            <a:solidFill>
              <a:srgbClr val="F1F0FE"/>
            </a:solidFill>
            <a:prstDash val="solid"/>
          </a:ln>
        </p:spPr>
      </p:sp>
      <p:pic>
        <p:nvPicPr>
          <p:cNvPr id="6" name="imagen" descr="C:\Users\Chingu\AppData\Local\Temp\claude\C--Users-Chingu-Desktop-ACADEMIASEULWEB\d4111e1b-5523-44ea-97b2-b1a1d9545b9e\scratchpad\decks\cache\img_349c73cb4f87d65d.png"/>
          <p:cNvPicPr>
            <a:picLocks noChangeAspect="1"/>
          </p:cNvPicPr>
          <p:nvPr/>
        </p:nvPicPr>
        <p:blipFill>
          <a:blip r:embed="rId3"/>
          <a:stretch>
            <a:fillRect/>
          </a:stretch>
        </p:blipFill>
        <p:spPr>
          <a:xfrm>
            <a:off x="7040833" y="1463040"/>
            <a:ext cx="4005165" cy="4617720"/>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Así me presento</a:t>
            </a:r>
            <a:r>
              <a:rPr lang="en-US" sz="1500" b="1" i="1" dirty="0">
                <a:solidFill>
                  <a:srgbClr val="8A8DA0"/>
                </a:solidFill>
              </a:rPr>
              <a:t>   This is me</a:t>
            </a:r>
            <a:endParaRPr lang="en-US" sz="3000" dirty="0"/>
          </a:p>
        </p:txBody>
      </p:sp>
      <p:sp>
        <p:nvSpPr>
          <p:cNvPr id="3" name="Text 1"/>
          <p:cNvSpPr txBox="1"/>
          <p:nvPr/>
        </p:nvSpPr>
        <p:spPr>
          <a:xfrm>
            <a:off x="548640" y="1325880"/>
            <a:ext cx="6949440" cy="548640"/>
          </a:xfrm>
          <a:prstGeom prst="rect">
            <a:avLst/>
          </a:prstGeom>
          <a:noFill/>
          <a:ln/>
        </p:spPr>
        <p:txBody>
          <a:bodyPr wrap="square" lIns="0" tIns="0" rIns="0" bIns="0" rtlCol="0" anchor="t">
            <a:normAutofit/>
          </a:bodyPr>
          <a:lstStyle/>
          <a:p>
            <a:pPr marL="0" indent="0" eaLnBrk="1">
              <a:buNone/>
            </a:pPr>
            <a:r>
              <a:rPr lang="en-US" sz="1800" i="1" dirty="0">
                <a:solidFill>
                  <a:srgbClr val="4236F6"/>
                </a:solidFill>
              </a:rPr>
              <a:t>Escucha: cada frase, dos veces</a:t>
            </a:r>
            <a:endParaRPr lang="en-US" sz="1800" dirty="0"/>
          </a:p>
        </p:txBody>
      </p:sp>
      <p:sp>
        <p:nvSpPr>
          <p:cNvPr id="4" name="lista"/>
          <p:cNvSpPr txBox="1"/>
          <p:nvPr/>
        </p:nvSpPr>
        <p:spPr>
          <a:xfrm>
            <a:off x="548640" y="1965960"/>
            <a:ext cx="6949440" cy="42062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안녕하세요</a:t>
            </a:r>
            <a:r>
              <a:rPr lang="en-US" sz="2400" dirty="0">
                <a:solidFill>
                  <a:srgbClr val="14142B"/>
                </a:solidFill>
              </a:rPr>
              <a:t>! </a:t>
            </a:r>
            <a:r>
              <a:rPr lang="ko-KR" altLang="en-US" sz="2400" dirty="0">
                <a:solidFill>
                  <a:srgbClr val="14142B"/>
                </a:solidFill>
                <a:latin typeface="Malgun Gothic" pitchFamily="34" charset="0"/>
                <a:ea typeface="Malgun Gothic" pitchFamily="34" charset="-122"/>
                <a:cs typeface="Malgun Gothic" pitchFamily="34" charset="-120"/>
              </a:rPr>
              <a:t>저는 김재희예요</a:t>
            </a:r>
            <a:r>
              <a:rPr lang="en-US" sz="2400" dirty="0">
                <a:solidFill>
                  <a:srgbClr val="14142B"/>
                </a:solidFill>
              </a:rPr>
              <a:t>. </a:t>
            </a:r>
            <a:r>
              <a:rPr lang="ko-KR" altLang="en-US" sz="2400" dirty="0">
                <a:solidFill>
                  <a:srgbClr val="14142B"/>
                </a:solidFill>
                <a:latin typeface="Malgun Gothic" pitchFamily="34" charset="0"/>
                <a:ea typeface="Malgun Gothic" pitchFamily="34" charset="-122"/>
                <a:cs typeface="Malgun Gothic" pitchFamily="34" charset="-120"/>
              </a:rPr>
              <a:t>반갑습니다</a:t>
            </a:r>
            <a:r>
              <a:rPr lang="en-US" sz="2400" dirty="0">
                <a:solidFill>
                  <a:srgbClr val="14142B"/>
                </a:solidFill>
              </a:rPr>
              <a:t>.</a:t>
            </a:r>
            <a:endParaRPr lang="en-US" sz="2400" dirty="0"/>
          </a:p>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제 고향은 서울이에요</a:t>
            </a:r>
            <a:r>
              <a:rPr lang="en-US" sz="2400" dirty="0">
                <a:solidFill>
                  <a:srgbClr val="14142B"/>
                </a:solidFill>
              </a:rPr>
              <a:t>. </a:t>
            </a:r>
            <a:r>
              <a:rPr lang="ko-KR" altLang="en-US" sz="2400" dirty="0">
                <a:solidFill>
                  <a:srgbClr val="14142B"/>
                </a:solidFill>
                <a:latin typeface="Malgun Gothic" pitchFamily="34" charset="0"/>
                <a:ea typeface="Malgun Gothic" pitchFamily="34" charset="-122"/>
                <a:cs typeface="Malgun Gothic" pitchFamily="34" charset="-120"/>
              </a:rPr>
              <a:t>지금은 칠레에 살아요</a:t>
            </a:r>
            <a:r>
              <a:rPr lang="en-US" sz="2400" dirty="0">
                <a:solidFill>
                  <a:srgbClr val="14142B"/>
                </a:solidFill>
              </a:rPr>
              <a:t>.</a:t>
            </a:r>
            <a:endParaRPr lang="en-US" sz="2400" dirty="0"/>
          </a:p>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저는 한국어 선생님이에요</a:t>
            </a:r>
            <a:r>
              <a:rPr lang="en-US" sz="2400" dirty="0">
                <a:solidFill>
                  <a:srgbClr val="14142B"/>
                </a:solidFill>
              </a:rPr>
              <a:t>. </a:t>
            </a:r>
            <a:r>
              <a:rPr lang="ko-KR" altLang="en-US" sz="2400" dirty="0">
                <a:solidFill>
                  <a:srgbClr val="14142B"/>
                </a:solidFill>
                <a:latin typeface="Malgun Gothic" pitchFamily="34" charset="0"/>
                <a:ea typeface="Malgun Gothic" pitchFamily="34" charset="-122"/>
                <a:cs typeface="Malgun Gothic" pitchFamily="34" charset="-120"/>
              </a:rPr>
              <a:t>대학생이 아니에요</a:t>
            </a:r>
            <a:r>
              <a:rPr lang="en-US" sz="2400" dirty="0">
                <a:solidFill>
                  <a:srgbClr val="14142B"/>
                </a:solidFill>
              </a:rPr>
              <a:t>.</a:t>
            </a:r>
            <a:endParaRPr lang="en-US" sz="2400" dirty="0"/>
          </a:p>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형제가 있어요</a:t>
            </a:r>
            <a:r>
              <a:rPr lang="en-US" sz="2400" dirty="0">
                <a:solidFill>
                  <a:srgbClr val="14142B"/>
                </a:solidFill>
              </a:rPr>
              <a:t>? </a:t>
            </a:r>
            <a:r>
              <a:rPr lang="ko-KR" altLang="en-US" sz="2400" dirty="0">
                <a:solidFill>
                  <a:srgbClr val="14142B"/>
                </a:solidFill>
                <a:latin typeface="Malgun Gothic" pitchFamily="34" charset="0"/>
                <a:ea typeface="Malgun Gothic" pitchFamily="34" charset="-122"/>
                <a:cs typeface="Malgun Gothic" pitchFamily="34" charset="-120"/>
              </a:rPr>
              <a:t>네</a:t>
            </a:r>
            <a:r>
              <a:rPr lang="en-US" sz="2400" dirty="0">
                <a:solidFill>
                  <a:srgbClr val="14142B"/>
                </a:solidFill>
              </a:rPr>
              <a:t>, </a:t>
            </a:r>
            <a:r>
              <a:rPr lang="ko-KR" altLang="en-US" sz="2400" dirty="0">
                <a:solidFill>
                  <a:srgbClr val="14142B"/>
                </a:solidFill>
                <a:latin typeface="Malgun Gothic" pitchFamily="34" charset="0"/>
                <a:ea typeface="Malgun Gothic" pitchFamily="34" charset="-122"/>
                <a:cs typeface="Malgun Gothic" pitchFamily="34" charset="-120"/>
              </a:rPr>
              <a:t>누나가 한 명 있어요</a:t>
            </a:r>
            <a:r>
              <a:rPr lang="en-US" sz="2400" dirty="0">
                <a:solidFill>
                  <a:srgbClr val="14142B"/>
                </a:solidFill>
              </a:rPr>
              <a:t>.</a:t>
            </a:r>
            <a:endParaRPr lang="en-US" sz="2400" dirty="0"/>
          </a:p>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제 취미는 운동이에요</a:t>
            </a:r>
            <a:r>
              <a:rPr lang="en-US" sz="2400" dirty="0">
                <a:solidFill>
                  <a:srgbClr val="14142B"/>
                </a:solidFill>
              </a:rPr>
              <a:t>. </a:t>
            </a:r>
            <a:r>
              <a:rPr lang="ko-KR" altLang="en-US" sz="2400" dirty="0">
                <a:solidFill>
                  <a:srgbClr val="14142B"/>
                </a:solidFill>
                <a:latin typeface="Malgun Gothic" pitchFamily="34" charset="0"/>
                <a:ea typeface="Malgun Gothic" pitchFamily="34" charset="-122"/>
                <a:cs typeface="Malgun Gothic" pitchFamily="34" charset="-120"/>
              </a:rPr>
              <a:t>매일 운동해요</a:t>
            </a:r>
            <a:r>
              <a:rPr lang="en-US" sz="2400" dirty="0">
                <a:solidFill>
                  <a:srgbClr val="14142B"/>
                </a:solidFill>
              </a:rPr>
              <a:t>.</a:t>
            </a:r>
            <a:endParaRPr lang="en-US" sz="2400" dirty="0"/>
          </a:p>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그리고 우리 집에 강아지가 있어요</a:t>
            </a:r>
            <a:r>
              <a:rPr lang="en-US" sz="2400" dirty="0">
                <a:solidFill>
                  <a:srgbClr val="14142B"/>
                </a:solidFill>
              </a:rPr>
              <a:t>! </a:t>
            </a:r>
            <a:r>
              <a:rPr lang="ko-KR" altLang="en-US" sz="2400" dirty="0">
                <a:solidFill>
                  <a:srgbClr val="14142B"/>
                </a:solidFill>
                <a:latin typeface="Malgun Gothic" pitchFamily="34" charset="0"/>
                <a:ea typeface="Malgun Gothic" pitchFamily="34" charset="-122"/>
                <a:cs typeface="Malgun Gothic" pitchFamily="34" charset="-120"/>
              </a:rPr>
              <a:t>이름은 두부예요</a:t>
            </a:r>
            <a:r>
              <a:rPr lang="en-US" sz="2400" dirty="0">
                <a:solidFill>
                  <a:srgbClr val="14142B"/>
                </a:solidFill>
              </a:rPr>
              <a:t>.</a:t>
            </a:r>
            <a:endParaRPr lang="en-US" sz="2400" dirty="0"/>
          </a:p>
        </p:txBody>
      </p:sp>
      <p:sp>
        <p:nvSpPr>
          <p:cNvPr id="5" name="panel"/>
          <p:cNvSpPr/>
          <p:nvPr/>
        </p:nvSpPr>
        <p:spPr>
          <a:xfrm>
            <a:off x="8001000" y="1417320"/>
            <a:ext cx="3611880" cy="4480560"/>
          </a:xfrm>
          <a:prstGeom prst="roundRect">
            <a:avLst>
              <a:gd name="adj" fmla="val 6329"/>
            </a:avLst>
          </a:prstGeom>
          <a:solidFill>
            <a:srgbClr val="F1F0FE"/>
          </a:solidFill>
          <a:ln w="12700">
            <a:solidFill>
              <a:srgbClr val="F1F0FE"/>
            </a:solidFill>
            <a:prstDash val="solid"/>
          </a:ln>
        </p:spPr>
      </p:sp>
      <p:sp>
        <p:nvSpPr>
          <p:cNvPr id="6" name="imagen_pendiente"/>
          <p:cNvSpPr txBox="1"/>
          <p:nvPr/>
        </p:nvSpPr>
        <p:spPr>
          <a:xfrm>
            <a:off x="8183880" y="1600200"/>
            <a:ext cx="3246120" cy="4114800"/>
          </a:xfrm>
          <a:prstGeom prst="rect">
            <a:avLst/>
          </a:prstGeom>
          <a:noFill/>
          <a:ln/>
        </p:spPr>
        <p:txBody>
          <a:bodyPr wrap="square" lIns="76200" tIns="76200" rIns="76200" bIns="76200" rtlCol="0" anchor="ctr">
            <a:normAutofit/>
          </a:bodyPr>
          <a:lstStyle/>
          <a:p>
            <a:pPr marL="0" indent="0" algn="ctr" eaLnBrk="1">
              <a:buNone/>
            </a:pPr>
            <a:r>
              <a:rPr lang="en-US" sz="1600" b="1" dirty="0">
                <a:solidFill>
                  <a:srgbClr val="4236F6"/>
                </a:solidFill>
              </a:rPr>
              <a:t>Imagen pendiente</a:t>
            </a:r>
            <a:endParaRPr lang="en-US" sz="1600" dirty="0"/>
          </a:p>
          <a:p>
            <a:pPr marL="0" indent="0" algn="ctr" eaLnBrk="1">
              <a:buNone/>
            </a:pPr>
            <a:r>
              <a:rPr lang="ko-KR" altLang="en-US" sz="1300" dirty="0">
                <a:solidFill>
                  <a:srgbClr val="5C5F6B"/>
                </a:solidFill>
                <a:latin typeface="Malgun Gothic" pitchFamily="34" charset="0"/>
                <a:ea typeface="Malgun Gothic" pitchFamily="34" charset="-122"/>
                <a:cs typeface="Malgun Gothic" pitchFamily="34" charset="-120"/>
              </a:rPr>
              <a:t>Elegir fotos propias, una por frase y en este orden: 1) Jay sonriendo o saludando (안녕하세요</a:t>
            </a:r>
            <a:r>
              <a:rPr lang="en-US" sz="1300" dirty="0">
                <a:solidFill>
                  <a:srgbClr val="5C5F6B"/>
                </a:solidFill>
              </a:rPr>
              <a:t>! </a:t>
            </a:r>
            <a:r>
              <a:rPr lang="ko-KR" altLang="en-US" sz="1300" dirty="0">
                <a:solidFill>
                  <a:srgbClr val="5C5F6B"/>
                </a:solidFill>
                <a:latin typeface="Malgun Gothic" pitchFamily="34" charset="0"/>
                <a:ea typeface="Malgun Gothic" pitchFamily="34" charset="-122"/>
                <a:cs typeface="Malgun Gothic" pitchFamily="34" charset="-120"/>
              </a:rPr>
              <a:t>저는 김재희예요</a:t>
            </a:r>
            <a:r>
              <a:rPr lang="en-US" sz="1300" dirty="0">
                <a:solidFill>
                  <a:srgbClr val="5C5F6B"/>
                </a:solidFill>
              </a:rPr>
              <a:t>); 2) Seúl, su ciudad natal, y Santiago, donde vive hoy (dos fotos o un collage de las dos); 3) Jay dando clase (</a:t>
            </a:r>
            <a:r>
              <a:rPr lang="ko-KR" altLang="en-US" sz="1300" dirty="0">
                <a:solidFill>
                  <a:srgbClr val="5C5F6B"/>
                </a:solidFill>
                <a:latin typeface="Malgun Gothic" pitchFamily="34" charset="0"/>
                <a:ea typeface="Malgun Gothic" pitchFamily="34" charset="-122"/>
                <a:cs typeface="Malgun Gothic" pitchFamily="34" charset="-120"/>
              </a:rPr>
              <a:t>선생님</a:t>
            </a:r>
            <a:r>
              <a:rPr lang="en-US" sz="1300" dirty="0">
                <a:solidFill>
                  <a:srgbClr val="5C5F6B"/>
                </a:solidFill>
              </a:rPr>
              <a:t>); 4) Jay con su </a:t>
            </a:r>
            <a:r>
              <a:rPr lang="ko-KR" altLang="en-US" sz="1300" dirty="0">
                <a:solidFill>
                  <a:srgbClr val="5C5F6B"/>
                </a:solidFill>
                <a:latin typeface="Malgun Gothic" pitchFamily="34" charset="0"/>
                <a:ea typeface="Malgun Gothic" pitchFamily="34" charset="-122"/>
                <a:cs typeface="Malgun Gothic" pitchFamily="34" charset="-120"/>
              </a:rPr>
              <a:t>누나 </a:t>
            </a:r>
            <a:r>
              <a:rPr lang="en-US" sz="1300" dirty="0">
                <a:solidFill>
                  <a:srgbClr val="5C5F6B"/>
                </a:solidFill>
              </a:rPr>
              <a:t>o una foto de familia; 5) Jay haciendo ejercicio (</a:t>
            </a:r>
            <a:r>
              <a:rPr lang="ko-KR" altLang="en-US" sz="1300" dirty="0">
                <a:solidFill>
                  <a:srgbClr val="5C5F6B"/>
                </a:solidFill>
                <a:latin typeface="Malgun Gothic" pitchFamily="34" charset="0"/>
                <a:ea typeface="Malgun Gothic" pitchFamily="34" charset="-122"/>
                <a:cs typeface="Malgun Gothic" pitchFamily="34" charset="-120"/>
              </a:rPr>
              <a:t>운동</a:t>
            </a:r>
            <a:r>
              <a:rPr lang="en-US" sz="1300" dirty="0">
                <a:solidFill>
                  <a:srgbClr val="5C5F6B"/>
                </a:solidFill>
              </a:rPr>
              <a:t>); 6) su perrito </a:t>
            </a:r>
            <a:r>
              <a:rPr lang="ko-KR" altLang="en-US" sz="1300" dirty="0">
                <a:solidFill>
                  <a:srgbClr val="5C5F6B"/>
                </a:solidFill>
                <a:latin typeface="Malgun Gothic" pitchFamily="34" charset="0"/>
                <a:ea typeface="Malgun Gothic" pitchFamily="34" charset="-122"/>
                <a:cs typeface="Malgun Gothic" pitchFamily="34" charset="-120"/>
              </a:rPr>
              <a:t>두부</a:t>
            </a:r>
            <a:r>
              <a:rPr lang="en-US" sz="1300" dirty="0">
                <a:solidFill>
                  <a:srgbClr val="5C5F6B"/>
                </a:solidFill>
              </a:rPr>
              <a:t>. Fotos horizontales, sin terceros identificables sin su permiso (la clase se graba). Si cambia un dato de la frase (sin mascota, sin hermanos), la foto acompaña su versión. Pegarlas en PowerPoint junto a cada frase, para que aparezcan de a una con la animación.</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¿Entendiste?</a:t>
            </a:r>
            <a:r>
              <a:rPr lang="en-US" sz="1500" b="1" i="1" dirty="0">
                <a:solidFill>
                  <a:srgbClr val="8A8DA0"/>
                </a:solidFill>
              </a:rPr>
              <a:t>   Did you get it?</a:t>
            </a:r>
            <a:endParaRPr lang="en-US" sz="3000" dirty="0"/>
          </a:p>
        </p:txBody>
      </p:sp>
      <p:sp>
        <p:nvSpPr>
          <p:cNvPr id="3" name="Text 1"/>
          <p:cNvSpPr txBox="1"/>
          <p:nvPr/>
        </p:nvSpPr>
        <p:spPr>
          <a:xfrm>
            <a:off x="548640" y="1325880"/>
            <a:ext cx="11091672" cy="548640"/>
          </a:xfrm>
          <a:prstGeom prst="rect">
            <a:avLst/>
          </a:prstGeom>
          <a:noFill/>
          <a:ln/>
        </p:spPr>
        <p:txBody>
          <a:bodyPr wrap="square" lIns="0" tIns="0" rIns="0" bIns="0" rtlCol="0" anchor="t">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고향이 </a:t>
            </a:r>
            <a:r>
              <a:rPr lang="en-US" sz="1800" i="1" dirty="0">
                <a:solidFill>
                  <a:srgbClr val="4236F6"/>
                </a:solidFill>
              </a:rPr>
              <a:t>(pregunto) · </a:t>
            </a:r>
            <a:r>
              <a:rPr lang="ko-KR" altLang="en-US" sz="1800" i="1" dirty="0">
                <a:solidFill>
                  <a:srgbClr val="4236F6"/>
                </a:solidFill>
                <a:latin typeface="Malgun Gothic" pitchFamily="34" charset="0"/>
                <a:ea typeface="Malgun Gothic" pitchFamily="34" charset="-122"/>
                <a:cs typeface="Malgun Gothic" pitchFamily="34" charset="-120"/>
              </a:rPr>
              <a:t>고향은 </a:t>
            </a:r>
            <a:r>
              <a:rPr lang="en-US" sz="1800" i="1" dirty="0">
                <a:solidFill>
                  <a:srgbClr val="4236F6"/>
                </a:solidFill>
              </a:rPr>
              <a:t>(me presento) · Responde en coro o en el chat</a:t>
            </a:r>
            <a:endParaRPr lang="en-US" sz="1800" dirty="0"/>
          </a:p>
        </p:txBody>
      </p:sp>
      <p:sp>
        <p:nvSpPr>
          <p:cNvPr id="4" name="num_0"/>
          <p:cNvSpPr/>
          <p:nvPr/>
        </p:nvSpPr>
        <p:spPr>
          <a:xfrm>
            <a:off x="548640" y="2171700"/>
            <a:ext cx="457200" cy="457200"/>
          </a:xfrm>
          <a:prstGeom prst="ellipse">
            <a:avLst/>
          </a:prstGeom>
          <a:solidFill>
            <a:srgbClr val="003478"/>
          </a:solidFill>
          <a:ln w="12700">
            <a:solidFill>
              <a:srgbClr val="003478"/>
            </a:solidFill>
            <a:prstDash val="solid"/>
          </a:ln>
        </p:spPr>
      </p:sp>
      <p:sp>
        <p:nvSpPr>
          <p:cNvPr id="5" name="Text 3"/>
          <p:cNvSpPr txBox="1"/>
          <p:nvPr/>
        </p:nvSpPr>
        <p:spPr>
          <a:xfrm>
            <a:off x="548640" y="2171700"/>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1</a:t>
            </a:r>
            <a:endParaRPr lang="en-US" sz="1600" dirty="0"/>
          </a:p>
        </p:txBody>
      </p:sp>
      <p:sp>
        <p:nvSpPr>
          <p:cNvPr id="6" name="Text 4"/>
          <p:cNvSpPr txBox="1"/>
          <p:nvPr/>
        </p:nvSpPr>
        <p:spPr>
          <a:xfrm>
            <a:off x="1188720" y="1965960"/>
            <a:ext cx="5285232" cy="86868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제 고향이 어디예요</a:t>
            </a:r>
            <a:r>
              <a:rPr lang="en-US" sz="2400" dirty="0">
                <a:solidFill>
                  <a:srgbClr val="14142B"/>
                </a:solidFill>
              </a:rPr>
              <a:t>?</a:t>
            </a:r>
            <a:endParaRPr lang="en-US" sz="2400" dirty="0"/>
          </a:p>
        </p:txBody>
      </p:sp>
      <p:sp>
        <p:nvSpPr>
          <p:cNvPr id="7" name="rev_0_caja"/>
          <p:cNvSpPr/>
          <p:nvPr/>
        </p:nvSpPr>
        <p:spPr>
          <a:xfrm>
            <a:off x="6702552" y="2002536"/>
            <a:ext cx="4937760" cy="795528"/>
          </a:xfrm>
          <a:prstGeom prst="roundRect">
            <a:avLst>
              <a:gd name="adj" fmla="val 13793"/>
            </a:avLst>
          </a:prstGeom>
          <a:solidFill>
            <a:srgbClr val="4236F6"/>
          </a:solidFill>
          <a:ln w="12700">
            <a:solidFill>
              <a:srgbClr val="4236F6"/>
            </a:solidFill>
            <a:prstDash val="solid"/>
          </a:ln>
        </p:spPr>
      </p:sp>
      <p:sp>
        <p:nvSpPr>
          <p:cNvPr id="8" name="rev_0_txt"/>
          <p:cNvSpPr txBox="1"/>
          <p:nvPr/>
        </p:nvSpPr>
        <p:spPr>
          <a:xfrm>
            <a:off x="6793992" y="2002536"/>
            <a:ext cx="4754880" cy="79552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서울이에요</a:t>
            </a:r>
            <a:r>
              <a:rPr lang="en-US" sz="2200" b="1" dirty="0">
                <a:solidFill>
                  <a:srgbClr val="FFFFFF"/>
                </a:solidFill>
              </a:rPr>
              <a:t>!</a:t>
            </a:r>
            <a:endParaRPr lang="en-US" sz="2200" dirty="0"/>
          </a:p>
        </p:txBody>
      </p:sp>
      <p:sp>
        <p:nvSpPr>
          <p:cNvPr id="9" name="num_1"/>
          <p:cNvSpPr/>
          <p:nvPr/>
        </p:nvSpPr>
        <p:spPr>
          <a:xfrm>
            <a:off x="548640" y="3168396"/>
            <a:ext cx="457200" cy="457200"/>
          </a:xfrm>
          <a:prstGeom prst="ellipse">
            <a:avLst/>
          </a:prstGeom>
          <a:solidFill>
            <a:srgbClr val="003478"/>
          </a:solidFill>
          <a:ln w="12700">
            <a:solidFill>
              <a:srgbClr val="003478"/>
            </a:solidFill>
            <a:prstDash val="solid"/>
          </a:ln>
        </p:spPr>
      </p:sp>
      <p:sp>
        <p:nvSpPr>
          <p:cNvPr id="10" name="Text 8"/>
          <p:cNvSpPr txBox="1"/>
          <p:nvPr/>
        </p:nvSpPr>
        <p:spPr>
          <a:xfrm>
            <a:off x="548640" y="3168396"/>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2</a:t>
            </a:r>
            <a:endParaRPr lang="en-US" sz="1600" dirty="0"/>
          </a:p>
        </p:txBody>
      </p:sp>
      <p:sp>
        <p:nvSpPr>
          <p:cNvPr id="11" name="Text 9"/>
          <p:cNvSpPr txBox="1"/>
          <p:nvPr/>
        </p:nvSpPr>
        <p:spPr>
          <a:xfrm>
            <a:off x="1188720" y="2962656"/>
            <a:ext cx="5285232" cy="86868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선생님은 지금 어디에 살아요</a:t>
            </a:r>
            <a:r>
              <a:rPr lang="en-US" sz="2400" dirty="0">
                <a:solidFill>
                  <a:srgbClr val="14142B"/>
                </a:solidFill>
              </a:rPr>
              <a:t>?</a:t>
            </a:r>
            <a:endParaRPr lang="en-US" sz="2400" dirty="0"/>
          </a:p>
        </p:txBody>
      </p:sp>
      <p:sp>
        <p:nvSpPr>
          <p:cNvPr id="12" name="rev_1_caja"/>
          <p:cNvSpPr/>
          <p:nvPr/>
        </p:nvSpPr>
        <p:spPr>
          <a:xfrm>
            <a:off x="6702552" y="2999232"/>
            <a:ext cx="4937760" cy="795528"/>
          </a:xfrm>
          <a:prstGeom prst="roundRect">
            <a:avLst>
              <a:gd name="adj" fmla="val 13793"/>
            </a:avLst>
          </a:prstGeom>
          <a:solidFill>
            <a:srgbClr val="4236F6"/>
          </a:solidFill>
          <a:ln w="12700">
            <a:solidFill>
              <a:srgbClr val="4236F6"/>
            </a:solidFill>
            <a:prstDash val="solid"/>
          </a:ln>
        </p:spPr>
      </p:sp>
      <p:sp>
        <p:nvSpPr>
          <p:cNvPr id="13" name="rev_1_txt"/>
          <p:cNvSpPr txBox="1"/>
          <p:nvPr/>
        </p:nvSpPr>
        <p:spPr>
          <a:xfrm>
            <a:off x="6793992" y="2999232"/>
            <a:ext cx="4754880" cy="79552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칠레에 살아요</a:t>
            </a:r>
            <a:r>
              <a:rPr lang="en-US" sz="2200" b="1" dirty="0">
                <a:solidFill>
                  <a:srgbClr val="FFFFFF"/>
                </a:solidFill>
              </a:rPr>
              <a:t>!</a:t>
            </a:r>
            <a:endParaRPr lang="en-US" sz="2200" dirty="0"/>
          </a:p>
        </p:txBody>
      </p:sp>
      <p:sp>
        <p:nvSpPr>
          <p:cNvPr id="14" name="num_2"/>
          <p:cNvSpPr/>
          <p:nvPr/>
        </p:nvSpPr>
        <p:spPr>
          <a:xfrm>
            <a:off x="548640" y="4165092"/>
            <a:ext cx="457200" cy="457200"/>
          </a:xfrm>
          <a:prstGeom prst="ellipse">
            <a:avLst/>
          </a:prstGeom>
          <a:solidFill>
            <a:srgbClr val="003478"/>
          </a:solidFill>
          <a:ln w="12700">
            <a:solidFill>
              <a:srgbClr val="003478"/>
            </a:solidFill>
            <a:prstDash val="solid"/>
          </a:ln>
        </p:spPr>
      </p:sp>
      <p:sp>
        <p:nvSpPr>
          <p:cNvPr id="15" name="Text 13"/>
          <p:cNvSpPr txBox="1"/>
          <p:nvPr/>
        </p:nvSpPr>
        <p:spPr>
          <a:xfrm>
            <a:off x="548640" y="4165092"/>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3</a:t>
            </a:r>
            <a:endParaRPr lang="en-US" sz="1600" dirty="0"/>
          </a:p>
        </p:txBody>
      </p:sp>
      <p:sp>
        <p:nvSpPr>
          <p:cNvPr id="16" name="Text 14"/>
          <p:cNvSpPr txBox="1"/>
          <p:nvPr/>
        </p:nvSpPr>
        <p:spPr>
          <a:xfrm>
            <a:off x="1188720" y="3959352"/>
            <a:ext cx="5285232" cy="86868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제 직업이 뭐예요</a:t>
            </a:r>
            <a:r>
              <a:rPr lang="en-US" sz="2400" dirty="0">
                <a:solidFill>
                  <a:srgbClr val="14142B"/>
                </a:solidFill>
              </a:rPr>
              <a:t>?</a:t>
            </a:r>
            <a:endParaRPr lang="en-US" sz="2400" dirty="0"/>
          </a:p>
        </p:txBody>
      </p:sp>
      <p:sp>
        <p:nvSpPr>
          <p:cNvPr id="17" name="rev_2_caja"/>
          <p:cNvSpPr/>
          <p:nvPr/>
        </p:nvSpPr>
        <p:spPr>
          <a:xfrm>
            <a:off x="6702552" y="3995928"/>
            <a:ext cx="4937760" cy="795528"/>
          </a:xfrm>
          <a:prstGeom prst="roundRect">
            <a:avLst>
              <a:gd name="adj" fmla="val 13793"/>
            </a:avLst>
          </a:prstGeom>
          <a:solidFill>
            <a:srgbClr val="4236F6"/>
          </a:solidFill>
          <a:ln w="12700">
            <a:solidFill>
              <a:srgbClr val="4236F6"/>
            </a:solidFill>
            <a:prstDash val="solid"/>
          </a:ln>
        </p:spPr>
      </p:sp>
      <p:sp>
        <p:nvSpPr>
          <p:cNvPr id="18" name="rev_2_txt"/>
          <p:cNvSpPr txBox="1"/>
          <p:nvPr/>
        </p:nvSpPr>
        <p:spPr>
          <a:xfrm>
            <a:off x="6793992" y="3995928"/>
            <a:ext cx="4754880" cy="79552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선생님이에요</a:t>
            </a:r>
            <a:r>
              <a:rPr lang="en-US" sz="2200" b="1" dirty="0">
                <a:solidFill>
                  <a:srgbClr val="FFFFFF"/>
                </a:solidFill>
              </a:rPr>
              <a:t>!</a:t>
            </a:r>
            <a:endParaRPr lang="en-US" sz="2200" dirty="0"/>
          </a:p>
        </p:txBody>
      </p:sp>
      <p:sp>
        <p:nvSpPr>
          <p:cNvPr id="19" name="num_3"/>
          <p:cNvSpPr/>
          <p:nvPr/>
        </p:nvSpPr>
        <p:spPr>
          <a:xfrm>
            <a:off x="548640" y="5161788"/>
            <a:ext cx="457200" cy="457200"/>
          </a:xfrm>
          <a:prstGeom prst="ellipse">
            <a:avLst/>
          </a:prstGeom>
          <a:solidFill>
            <a:srgbClr val="003478"/>
          </a:solidFill>
          <a:ln w="12700">
            <a:solidFill>
              <a:srgbClr val="003478"/>
            </a:solidFill>
            <a:prstDash val="solid"/>
          </a:ln>
        </p:spPr>
      </p:sp>
      <p:sp>
        <p:nvSpPr>
          <p:cNvPr id="20" name="Text 18"/>
          <p:cNvSpPr txBox="1"/>
          <p:nvPr/>
        </p:nvSpPr>
        <p:spPr>
          <a:xfrm>
            <a:off x="548640" y="5161788"/>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4</a:t>
            </a:r>
            <a:endParaRPr lang="en-US" sz="1600" dirty="0"/>
          </a:p>
        </p:txBody>
      </p:sp>
      <p:sp>
        <p:nvSpPr>
          <p:cNvPr id="21" name="Text 19"/>
          <p:cNvSpPr txBox="1"/>
          <p:nvPr/>
        </p:nvSpPr>
        <p:spPr>
          <a:xfrm>
            <a:off x="1188720" y="4956048"/>
            <a:ext cx="5285232" cy="86868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선생님은 형제가 있어요</a:t>
            </a:r>
            <a:r>
              <a:rPr lang="en-US" sz="2400" dirty="0">
                <a:solidFill>
                  <a:srgbClr val="14142B"/>
                </a:solidFill>
              </a:rPr>
              <a:t>?</a:t>
            </a:r>
            <a:endParaRPr lang="en-US" sz="2400" dirty="0"/>
          </a:p>
        </p:txBody>
      </p:sp>
      <p:sp>
        <p:nvSpPr>
          <p:cNvPr id="22" name="rev_3_caja"/>
          <p:cNvSpPr/>
          <p:nvPr/>
        </p:nvSpPr>
        <p:spPr>
          <a:xfrm>
            <a:off x="6702552" y="4992624"/>
            <a:ext cx="4937760" cy="795528"/>
          </a:xfrm>
          <a:prstGeom prst="roundRect">
            <a:avLst>
              <a:gd name="adj" fmla="val 13793"/>
            </a:avLst>
          </a:prstGeom>
          <a:solidFill>
            <a:srgbClr val="4236F6"/>
          </a:solidFill>
          <a:ln w="12700">
            <a:solidFill>
              <a:srgbClr val="4236F6"/>
            </a:solidFill>
            <a:prstDash val="solid"/>
          </a:ln>
        </p:spPr>
      </p:sp>
      <p:sp>
        <p:nvSpPr>
          <p:cNvPr id="23" name="rev_3_txt"/>
          <p:cNvSpPr txBox="1"/>
          <p:nvPr/>
        </p:nvSpPr>
        <p:spPr>
          <a:xfrm>
            <a:off x="6793992" y="4992624"/>
            <a:ext cx="4754880" cy="795528"/>
          </a:xfrm>
          <a:prstGeom prst="rect">
            <a:avLst/>
          </a:prstGeom>
          <a:noFill/>
          <a:ln/>
        </p:spPr>
        <p:txBody>
          <a:bodyPr wrap="square" lIns="0" tIns="0" rIns="0" bIns="0" rtlCol="0" anchor="ctr">
            <a:normAutofit/>
          </a:bodyPr>
          <a:lstStyle/>
          <a:p>
            <a:pPr marL="0" indent="0" algn="ctr" eaLnBrk="1">
              <a:buNone/>
            </a:pPr>
            <a:r>
              <a:rPr lang="ko-KR" altLang="en-US" sz="2000" b="1" dirty="0">
                <a:solidFill>
                  <a:srgbClr val="FFFFFF"/>
                </a:solidFill>
                <a:latin typeface="Malgun Gothic" pitchFamily="34" charset="0"/>
                <a:ea typeface="Malgun Gothic" pitchFamily="34" charset="-122"/>
                <a:cs typeface="Malgun Gothic" pitchFamily="34" charset="-120"/>
              </a:rPr>
              <a:t>네</a:t>
            </a:r>
            <a:r>
              <a:rPr lang="en-US" sz="2000" b="1" dirty="0">
                <a:solidFill>
                  <a:srgbClr val="FFFFFF"/>
                </a:solidFill>
              </a:rPr>
              <a:t>, </a:t>
            </a:r>
            <a:r>
              <a:rPr lang="ko-KR" altLang="en-US" sz="2000" b="1" dirty="0">
                <a:solidFill>
                  <a:srgbClr val="FFFFFF"/>
                </a:solidFill>
                <a:latin typeface="Malgun Gothic" pitchFamily="34" charset="0"/>
                <a:ea typeface="Malgun Gothic" pitchFamily="34" charset="-122"/>
                <a:cs typeface="Malgun Gothic" pitchFamily="34" charset="-120"/>
              </a:rPr>
              <a:t>있어요</a:t>
            </a:r>
            <a:r>
              <a:rPr lang="en-US" sz="2000" b="1" dirty="0">
                <a:solidFill>
                  <a:srgbClr val="FFFFFF"/>
                </a:solidFill>
              </a:rPr>
              <a:t>! (</a:t>
            </a:r>
            <a:r>
              <a:rPr lang="ko-KR" altLang="en-US" sz="2000" b="1" dirty="0">
                <a:solidFill>
                  <a:srgbClr val="FFFFFF"/>
                </a:solidFill>
                <a:latin typeface="Malgun Gothic" pitchFamily="34" charset="0"/>
                <a:ea typeface="Malgun Gothic" pitchFamily="34" charset="-122"/>
                <a:cs typeface="Malgun Gothic" pitchFamily="34" charset="-120"/>
              </a:rPr>
              <a:t>누나가 한 명 있어요</a:t>
            </a:r>
            <a:r>
              <a:rPr lang="en-US" sz="2000" b="1" dirty="0">
                <a:solidFill>
                  <a:srgbClr val="FFFFFF"/>
                </a:solidFill>
              </a:rPr>
              <a:t>!)</a:t>
            </a:r>
            <a:endParaRPr lang="en-US" sz="2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animBg="1"/>
      <p:bldP spid="18" grpId="0" animBg="1"/>
      <p:bldP spid="2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2200" b="1" dirty="0">
                <a:solidFill>
                  <a:srgbClr val="4236F6"/>
                </a:solidFill>
                <a:latin typeface="Malgun Gothic" pitchFamily="34" charset="0"/>
                <a:ea typeface="Malgun Gothic" pitchFamily="34" charset="-122"/>
                <a:cs typeface="Malgun Gothic" pitchFamily="34" charset="-120"/>
              </a:rPr>
              <a:t>이에요 </a:t>
            </a:r>
            <a:r>
              <a:rPr lang="en-US" sz="2200" b="1" dirty="0">
                <a:solidFill>
                  <a:srgbClr val="4236F6"/>
                </a:solidFill>
              </a:rPr>
              <a:t>· </a:t>
            </a:r>
            <a:r>
              <a:rPr lang="ko-KR" altLang="en-US" sz="2200" b="1" dirty="0">
                <a:solidFill>
                  <a:srgbClr val="4236F6"/>
                </a:solidFill>
                <a:latin typeface="Malgun Gothic" pitchFamily="34" charset="0"/>
                <a:ea typeface="Malgun Gothic" pitchFamily="34" charset="-122"/>
                <a:cs typeface="Malgun Gothic" pitchFamily="34" charset="-120"/>
              </a:rPr>
              <a:t>예요 </a:t>
            </a:r>
            <a:r>
              <a:rPr lang="en-US" sz="2200" b="1" dirty="0">
                <a:solidFill>
                  <a:srgbClr val="4236F6"/>
                </a:solidFill>
              </a:rPr>
              <a:t>· </a:t>
            </a:r>
            <a:r>
              <a:rPr lang="ko-KR" altLang="en-US" sz="2200" b="1" dirty="0">
                <a:solidFill>
                  <a:srgbClr val="4236F6"/>
                </a:solidFill>
                <a:latin typeface="Malgun Gothic" pitchFamily="34" charset="0"/>
                <a:ea typeface="Malgun Gothic" pitchFamily="34" charset="-122"/>
                <a:cs typeface="Malgun Gothic" pitchFamily="34" charset="-120"/>
              </a:rPr>
              <a:t>아니에요  </a:t>
            </a:r>
            <a:r>
              <a:rPr lang="ko-KR" altLang="en-US" sz="2200" b="1" dirty="0">
                <a:solidFill>
                  <a:srgbClr val="003478"/>
                </a:solidFill>
                <a:latin typeface="Malgun Gothic" pitchFamily="34" charset="0"/>
                <a:ea typeface="Malgun Gothic" pitchFamily="34" charset="-122"/>
                <a:cs typeface="Malgun Gothic" pitchFamily="34" charset="-120"/>
              </a:rPr>
              <a:t>Ser: 이에요</a:t>
            </a:r>
            <a:r>
              <a:rPr lang="en-US" sz="2200" b="1" dirty="0">
                <a:solidFill>
                  <a:srgbClr val="003478"/>
                </a:solidFill>
              </a:rPr>
              <a:t>/</a:t>
            </a:r>
            <a:r>
              <a:rPr lang="ko-KR" altLang="en-US" sz="2200" b="1" dirty="0">
                <a:solidFill>
                  <a:srgbClr val="003478"/>
                </a:solidFill>
                <a:latin typeface="Malgun Gothic" pitchFamily="34" charset="0"/>
                <a:ea typeface="Malgun Gothic" pitchFamily="34" charset="-122"/>
                <a:cs typeface="Malgun Gothic" pitchFamily="34" charset="-120"/>
              </a:rPr>
              <a:t>예요 </a:t>
            </a:r>
            <a:r>
              <a:rPr lang="en-US" sz="2200" b="1" dirty="0">
                <a:solidFill>
                  <a:srgbClr val="003478"/>
                </a:solidFill>
              </a:rPr>
              <a:t>· no ser: </a:t>
            </a:r>
            <a:r>
              <a:rPr lang="ko-KR" altLang="en-US" sz="2200" b="1" dirty="0">
                <a:solidFill>
                  <a:srgbClr val="003478"/>
                </a:solidFill>
                <a:latin typeface="Malgun Gothic" pitchFamily="34" charset="0"/>
                <a:ea typeface="Malgun Gothic" pitchFamily="34" charset="-122"/>
                <a:cs typeface="Malgun Gothic" pitchFamily="34" charset="-120"/>
              </a:rPr>
              <a:t>이</a:t>
            </a:r>
            <a:r>
              <a:rPr lang="en-US" sz="2200" b="1" dirty="0">
                <a:solidFill>
                  <a:srgbClr val="003478"/>
                </a:solidFill>
              </a:rPr>
              <a:t>/</a:t>
            </a:r>
            <a:r>
              <a:rPr lang="ko-KR" altLang="en-US" sz="2200" b="1" dirty="0">
                <a:solidFill>
                  <a:srgbClr val="003478"/>
                </a:solidFill>
                <a:latin typeface="Malgun Gothic" pitchFamily="34" charset="0"/>
                <a:ea typeface="Malgun Gothic" pitchFamily="34" charset="-122"/>
                <a:cs typeface="Malgun Gothic" pitchFamily="34" charset="-120"/>
              </a:rPr>
              <a:t>가 아니에요</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En el chat: 저는 </a:t>
            </a:r>
            <a:r>
              <a:rPr lang="en-US" sz="1800" i="1" dirty="0">
                <a:solidFill>
                  <a:srgbClr val="4236F6"/>
                </a:solidFill>
              </a:rPr>
              <a:t>___</a:t>
            </a:r>
            <a:r>
              <a:rPr lang="ko-KR" altLang="en-US" sz="1800" i="1" dirty="0">
                <a:solidFill>
                  <a:srgbClr val="4236F6"/>
                </a:solidFill>
                <a:latin typeface="Malgun Gothic" pitchFamily="34" charset="0"/>
                <a:ea typeface="Malgun Gothic" pitchFamily="34" charset="-122"/>
                <a:cs typeface="Malgun Gothic" pitchFamily="34" charset="-120"/>
              </a:rPr>
              <a:t>이에요</a:t>
            </a:r>
            <a:r>
              <a:rPr lang="en-US" sz="1800" i="1" dirty="0">
                <a:solidFill>
                  <a:srgbClr val="4236F6"/>
                </a:solidFill>
              </a:rPr>
              <a:t>/</a:t>
            </a:r>
            <a:r>
              <a:rPr lang="ko-KR" altLang="en-US" sz="1800" i="1" dirty="0">
                <a:solidFill>
                  <a:srgbClr val="4236F6"/>
                </a:solidFill>
                <a:latin typeface="Malgun Gothic" pitchFamily="34" charset="0"/>
                <a:ea typeface="Malgun Gothic" pitchFamily="34" charset="-122"/>
                <a:cs typeface="Malgun Gothic" pitchFamily="34" charset="-120"/>
              </a:rPr>
              <a:t>예요</a:t>
            </a:r>
            <a:r>
              <a:rPr lang="en-US" sz="1800" i="1" dirty="0">
                <a:solidFill>
                  <a:srgbClr val="4236F6"/>
                </a:solidFill>
              </a:rPr>
              <a:t>. ___</a:t>
            </a:r>
            <a:r>
              <a:rPr lang="ko-KR" altLang="en-US" sz="1800" i="1" dirty="0">
                <a:solidFill>
                  <a:srgbClr val="4236F6"/>
                </a:solidFill>
                <a:latin typeface="Malgun Gothic" pitchFamily="34" charset="0"/>
                <a:ea typeface="Malgun Gothic" pitchFamily="34" charset="-122"/>
                <a:cs typeface="Malgun Gothic" pitchFamily="34" charset="-120"/>
              </a:rPr>
              <a:t>이</a:t>
            </a:r>
            <a:r>
              <a:rPr lang="en-US" sz="1800" i="1" dirty="0">
                <a:solidFill>
                  <a:srgbClr val="4236F6"/>
                </a:solidFill>
              </a:rPr>
              <a:t>/</a:t>
            </a:r>
            <a:r>
              <a:rPr lang="ko-KR" altLang="en-US" sz="1800" i="1" dirty="0">
                <a:solidFill>
                  <a:srgbClr val="4236F6"/>
                </a:solidFill>
                <a:latin typeface="Malgun Gothic" pitchFamily="34" charset="0"/>
                <a:ea typeface="Malgun Gothic" pitchFamily="34" charset="-122"/>
                <a:cs typeface="Malgun Gothic" pitchFamily="34" charset="-120"/>
              </a:rPr>
              <a:t>가 아니에요</a:t>
            </a:r>
            <a:r>
              <a:rPr lang="en-US" sz="1800" i="1" dirty="0">
                <a:solidFill>
                  <a:srgbClr val="4236F6"/>
                </a:solidFill>
              </a:rPr>
              <a:t>. · </a:t>
            </a:r>
            <a:r>
              <a:rPr lang="ko-KR" altLang="en-US" sz="1800" i="1" dirty="0">
                <a:solidFill>
                  <a:srgbClr val="4236F6"/>
                </a:solidFill>
                <a:latin typeface="Malgun Gothic" pitchFamily="34" charset="0"/>
                <a:ea typeface="Malgun Gothic" pitchFamily="34" charset="-122"/>
                <a:cs typeface="Malgun Gothic" pitchFamily="34" charset="-120"/>
              </a:rPr>
              <a:t>아니에요 </a:t>
            </a:r>
            <a:r>
              <a:rPr lang="en-US" sz="1800" i="1" dirty="0">
                <a:solidFill>
                  <a:srgbClr val="4236F6"/>
                </a:solidFill>
              </a:rPr>
              <a:t>siempre lleva su </a:t>
            </a:r>
            <a:r>
              <a:rPr lang="ko-KR" altLang="en-US" sz="1800" i="1" dirty="0">
                <a:solidFill>
                  <a:srgbClr val="4236F6"/>
                </a:solidFill>
                <a:latin typeface="Malgun Gothic" pitchFamily="34" charset="0"/>
                <a:ea typeface="Malgun Gothic" pitchFamily="34" charset="-122"/>
                <a:cs typeface="Malgun Gothic" pitchFamily="34" charset="-120"/>
              </a:rPr>
              <a:t>이 </a:t>
            </a:r>
            <a:r>
              <a:rPr lang="en-US" sz="1800" i="1" dirty="0">
                <a:solidFill>
                  <a:srgbClr val="4236F6"/>
                </a:solidFill>
              </a:rPr>
              <a:t>o su </a:t>
            </a:r>
            <a:r>
              <a:rPr lang="ko-KR" altLang="en-US" sz="1800" i="1" dirty="0">
                <a:solidFill>
                  <a:srgbClr val="4236F6"/>
                </a:solidFill>
                <a:latin typeface="Malgun Gothic" pitchFamily="34" charset="0"/>
                <a:ea typeface="Malgun Gothic" pitchFamily="34" charset="-122"/>
                <a:cs typeface="Malgun Gothic" pitchFamily="34" charset="-120"/>
              </a:rPr>
              <a:t>가</a:t>
            </a:r>
            <a:endParaRPr lang="en-US" sz="1800" dirty="0"/>
          </a:p>
        </p:txBody>
      </p:sp>
      <p:sp>
        <p:nvSpPr>
          <p:cNvPr id="4" name="col_0"/>
          <p:cNvSpPr/>
          <p:nvPr/>
        </p:nvSpPr>
        <p:spPr>
          <a:xfrm>
            <a:off x="548640" y="1874520"/>
            <a:ext cx="3483864" cy="4297680"/>
          </a:xfrm>
          <a:prstGeom prst="roundRect">
            <a:avLst>
              <a:gd name="adj" fmla="val 3937"/>
            </a:avLst>
          </a:prstGeom>
          <a:solidFill>
            <a:srgbClr val="F1F0FE"/>
          </a:solidFill>
          <a:ln w="12700">
            <a:solidFill>
              <a:srgbClr val="D9D7F7"/>
            </a:solidFill>
            <a:prstDash val="solid"/>
          </a:ln>
        </p:spPr>
      </p:sp>
      <p:sp>
        <p:nvSpPr>
          <p:cNvPr id="5" name="Text 3"/>
          <p:cNvSpPr txBox="1"/>
          <p:nvPr/>
        </p:nvSpPr>
        <p:spPr>
          <a:xfrm>
            <a:off x="777240" y="2057400"/>
            <a:ext cx="3026664" cy="548640"/>
          </a:xfrm>
          <a:prstGeom prst="rect">
            <a:avLst/>
          </a:prstGeom>
          <a:noFill/>
          <a:ln/>
        </p:spPr>
        <p:txBody>
          <a:bodyPr wrap="square" lIns="0" tIns="0" rIns="0" bIns="0" rtlCol="0" anchor="t">
            <a:normAutofit/>
          </a:bodyPr>
          <a:lstStyle/>
          <a:p>
            <a:pPr marL="0" indent="0" eaLnBrk="1">
              <a:buNone/>
            </a:pPr>
            <a:r>
              <a:rPr lang="ko-KR" altLang="en-US" sz="2000" b="1" dirty="0">
                <a:solidFill>
                  <a:srgbClr val="003478"/>
                </a:solidFill>
                <a:latin typeface="Malgun Gothic" pitchFamily="34" charset="0"/>
                <a:ea typeface="Malgun Gothic" pitchFamily="34" charset="-122"/>
                <a:cs typeface="Malgun Gothic" pitchFamily="34" charset="-120"/>
              </a:rPr>
              <a:t>Termina en consonante (받침</a:t>
            </a:r>
            <a:r>
              <a:rPr lang="en-US" sz="2000" b="1" dirty="0">
                <a:solidFill>
                  <a:srgbClr val="003478"/>
                </a:solidFill>
              </a:rPr>
              <a:t>)</a:t>
            </a:r>
            <a:endParaRPr lang="en-US" sz="2000" dirty="0"/>
          </a:p>
        </p:txBody>
      </p:sp>
      <p:sp>
        <p:nvSpPr>
          <p:cNvPr id="6" name="Text 4"/>
          <p:cNvSpPr txBox="1"/>
          <p:nvPr/>
        </p:nvSpPr>
        <p:spPr>
          <a:xfrm>
            <a:off x="777240" y="2651760"/>
            <a:ext cx="3026664" cy="914400"/>
          </a:xfrm>
          <a:prstGeom prst="rect">
            <a:avLst/>
          </a:prstGeom>
          <a:noFill/>
          <a:ln/>
        </p:spPr>
        <p:txBody>
          <a:bodyPr wrap="square" lIns="0" tIns="0" rIns="0" bIns="0" rtlCol="0" anchor="ctr">
            <a:normAutofit/>
          </a:bodyPr>
          <a:lstStyle/>
          <a:p>
            <a:pPr marL="0" indent="0" eaLnBrk="1">
              <a:buNone/>
            </a:pPr>
            <a:r>
              <a:rPr lang="ko-KR" altLang="en-US" sz="2800" b="1" dirty="0">
                <a:solidFill>
                  <a:srgbClr val="4236F6"/>
                </a:solidFill>
                <a:latin typeface="Malgun Gothic" pitchFamily="34" charset="0"/>
                <a:ea typeface="Malgun Gothic" pitchFamily="34" charset="-122"/>
                <a:cs typeface="Malgun Gothic" pitchFamily="34" charset="-120"/>
              </a:rPr>
              <a:t>이에요 </a:t>
            </a:r>
            <a:r>
              <a:rPr lang="en-US" sz="2800" b="1" dirty="0">
                <a:solidFill>
                  <a:srgbClr val="4236F6"/>
                </a:solidFill>
              </a:rPr>
              <a:t>· </a:t>
            </a:r>
            <a:r>
              <a:rPr lang="ko-KR" altLang="en-US" sz="2800" b="1" dirty="0">
                <a:solidFill>
                  <a:srgbClr val="4236F6"/>
                </a:solidFill>
                <a:latin typeface="Malgun Gothic" pitchFamily="34" charset="0"/>
                <a:ea typeface="Malgun Gothic" pitchFamily="34" charset="-122"/>
                <a:cs typeface="Malgun Gothic" pitchFamily="34" charset="-120"/>
              </a:rPr>
              <a:t>이</a:t>
            </a:r>
            <a:endParaRPr lang="en-US" sz="2800" dirty="0"/>
          </a:p>
          <a:p>
            <a:pPr marL="0" indent="0" eaLnBrk="1">
              <a:buNone/>
            </a:pPr>
            <a:r>
              <a:rPr lang="ko-KR" altLang="en-US" sz="2800" b="1" dirty="0">
                <a:solidFill>
                  <a:srgbClr val="4236F6"/>
                </a:solidFill>
                <a:latin typeface="Malgun Gothic" pitchFamily="34" charset="0"/>
                <a:ea typeface="Malgun Gothic" pitchFamily="34" charset="-122"/>
                <a:cs typeface="Malgun Gothic" pitchFamily="34" charset="-120"/>
              </a:rPr>
              <a:t>아니에요</a:t>
            </a:r>
            <a:endParaRPr lang="en-US" sz="2800" dirty="0"/>
          </a:p>
        </p:txBody>
      </p:sp>
      <p:sp>
        <p:nvSpPr>
          <p:cNvPr id="7" name="lista"/>
          <p:cNvSpPr txBox="1"/>
          <p:nvPr/>
        </p:nvSpPr>
        <p:spPr>
          <a:xfrm>
            <a:off x="731520" y="3657600"/>
            <a:ext cx="3118104" cy="23774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회사원이에요</a:t>
            </a:r>
            <a:endParaRPr lang="en-US" sz="1800" dirty="0"/>
          </a:p>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선생님이에요</a:t>
            </a:r>
            <a:endParaRPr lang="en-US" sz="1800" dirty="0"/>
          </a:p>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학생이 아니에요</a:t>
            </a:r>
            <a:endParaRPr lang="en-US" sz="1800" dirty="0"/>
          </a:p>
        </p:txBody>
      </p:sp>
      <p:sp>
        <p:nvSpPr>
          <p:cNvPr id="8" name="col_1"/>
          <p:cNvSpPr/>
          <p:nvPr/>
        </p:nvSpPr>
        <p:spPr>
          <a:xfrm>
            <a:off x="4352544" y="1874520"/>
            <a:ext cx="3483864" cy="4297680"/>
          </a:xfrm>
          <a:prstGeom prst="roundRect">
            <a:avLst>
              <a:gd name="adj" fmla="val 3937"/>
            </a:avLst>
          </a:prstGeom>
          <a:solidFill>
            <a:srgbClr val="FFFFFF"/>
          </a:solidFill>
          <a:ln w="12700">
            <a:solidFill>
              <a:srgbClr val="D9D7F7"/>
            </a:solidFill>
            <a:prstDash val="solid"/>
          </a:ln>
        </p:spPr>
      </p:sp>
      <p:sp>
        <p:nvSpPr>
          <p:cNvPr id="9" name="Text 7"/>
          <p:cNvSpPr txBox="1"/>
          <p:nvPr/>
        </p:nvSpPr>
        <p:spPr>
          <a:xfrm>
            <a:off x="4581144" y="2057400"/>
            <a:ext cx="3026664" cy="548640"/>
          </a:xfrm>
          <a:prstGeom prst="rect">
            <a:avLst/>
          </a:prstGeom>
          <a:noFill/>
          <a:ln/>
        </p:spPr>
        <p:txBody>
          <a:bodyPr wrap="square" lIns="0" tIns="0" rIns="0" bIns="0" rtlCol="0" anchor="t">
            <a:normAutofit/>
          </a:bodyPr>
          <a:lstStyle/>
          <a:p>
            <a:pPr marL="0" indent="0" eaLnBrk="1">
              <a:buNone/>
            </a:pPr>
            <a:r>
              <a:rPr lang="en-US" sz="2000" b="1" dirty="0">
                <a:solidFill>
                  <a:srgbClr val="003478"/>
                </a:solidFill>
              </a:rPr>
              <a:t>Termina en vocal</a:t>
            </a:r>
            <a:endParaRPr lang="en-US" sz="2000" dirty="0"/>
          </a:p>
        </p:txBody>
      </p:sp>
      <p:sp>
        <p:nvSpPr>
          <p:cNvPr id="10" name="Text 8"/>
          <p:cNvSpPr txBox="1"/>
          <p:nvPr/>
        </p:nvSpPr>
        <p:spPr>
          <a:xfrm>
            <a:off x="4581144" y="2651760"/>
            <a:ext cx="3026664" cy="914400"/>
          </a:xfrm>
          <a:prstGeom prst="rect">
            <a:avLst/>
          </a:prstGeom>
          <a:noFill/>
          <a:ln/>
        </p:spPr>
        <p:txBody>
          <a:bodyPr wrap="square" lIns="0" tIns="0" rIns="0" bIns="0" rtlCol="0" anchor="ctr">
            <a:normAutofit/>
          </a:bodyPr>
          <a:lstStyle/>
          <a:p>
            <a:pPr marL="0" indent="0" eaLnBrk="1">
              <a:buNone/>
            </a:pPr>
            <a:r>
              <a:rPr lang="ko-KR" altLang="en-US" sz="2800" b="1" dirty="0">
                <a:solidFill>
                  <a:srgbClr val="4236F6"/>
                </a:solidFill>
                <a:latin typeface="Malgun Gothic" pitchFamily="34" charset="0"/>
                <a:ea typeface="Malgun Gothic" pitchFamily="34" charset="-122"/>
                <a:cs typeface="Malgun Gothic" pitchFamily="34" charset="-120"/>
              </a:rPr>
              <a:t>예요 </a:t>
            </a:r>
            <a:r>
              <a:rPr lang="en-US" sz="2800" b="1" dirty="0">
                <a:solidFill>
                  <a:srgbClr val="4236F6"/>
                </a:solidFill>
              </a:rPr>
              <a:t>· </a:t>
            </a:r>
            <a:r>
              <a:rPr lang="ko-KR" altLang="en-US" sz="2800" b="1" dirty="0">
                <a:solidFill>
                  <a:srgbClr val="4236F6"/>
                </a:solidFill>
                <a:latin typeface="Malgun Gothic" pitchFamily="34" charset="0"/>
                <a:ea typeface="Malgun Gothic" pitchFamily="34" charset="-122"/>
                <a:cs typeface="Malgun Gothic" pitchFamily="34" charset="-120"/>
              </a:rPr>
              <a:t>가</a:t>
            </a:r>
            <a:endParaRPr lang="en-US" sz="2800" dirty="0"/>
          </a:p>
          <a:p>
            <a:pPr marL="0" indent="0" eaLnBrk="1">
              <a:buNone/>
            </a:pPr>
            <a:r>
              <a:rPr lang="ko-KR" altLang="en-US" sz="2800" b="1" dirty="0">
                <a:solidFill>
                  <a:srgbClr val="4236F6"/>
                </a:solidFill>
                <a:latin typeface="Malgun Gothic" pitchFamily="34" charset="0"/>
                <a:ea typeface="Malgun Gothic" pitchFamily="34" charset="-122"/>
                <a:cs typeface="Malgun Gothic" pitchFamily="34" charset="-120"/>
              </a:rPr>
              <a:t>아니에요</a:t>
            </a:r>
            <a:endParaRPr lang="en-US" sz="2800" dirty="0"/>
          </a:p>
        </p:txBody>
      </p:sp>
      <p:sp>
        <p:nvSpPr>
          <p:cNvPr id="11" name="lista"/>
          <p:cNvSpPr txBox="1"/>
          <p:nvPr/>
        </p:nvSpPr>
        <p:spPr>
          <a:xfrm>
            <a:off x="4535424" y="3657600"/>
            <a:ext cx="3118104" cy="23774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의사예요</a:t>
            </a:r>
            <a:endParaRPr lang="en-US" sz="1800" dirty="0"/>
          </a:p>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요리예요</a:t>
            </a:r>
            <a:endParaRPr lang="en-US" sz="1800" dirty="0"/>
          </a:p>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의사가 아니에요</a:t>
            </a:r>
            <a:endParaRPr lang="en-US" sz="1800" dirty="0"/>
          </a:p>
        </p:txBody>
      </p:sp>
      <p:sp>
        <p:nvSpPr>
          <p:cNvPr id="12" name="col_2"/>
          <p:cNvSpPr/>
          <p:nvPr/>
        </p:nvSpPr>
        <p:spPr>
          <a:xfrm>
            <a:off x="8156448" y="1874520"/>
            <a:ext cx="3483864" cy="4297680"/>
          </a:xfrm>
          <a:prstGeom prst="roundRect">
            <a:avLst>
              <a:gd name="adj" fmla="val 3937"/>
            </a:avLst>
          </a:prstGeom>
          <a:solidFill>
            <a:srgbClr val="F1F0FE"/>
          </a:solidFill>
          <a:ln w="12700">
            <a:solidFill>
              <a:srgbClr val="D9D7F7"/>
            </a:solidFill>
            <a:prstDash val="solid"/>
          </a:ln>
        </p:spPr>
      </p:sp>
      <p:sp>
        <p:nvSpPr>
          <p:cNvPr id="13" name="Text 11"/>
          <p:cNvSpPr txBox="1"/>
          <p:nvPr/>
        </p:nvSpPr>
        <p:spPr>
          <a:xfrm>
            <a:off x="8385048" y="2057400"/>
            <a:ext cx="3026664" cy="548640"/>
          </a:xfrm>
          <a:prstGeom prst="rect">
            <a:avLst/>
          </a:prstGeom>
          <a:noFill/>
          <a:ln/>
        </p:spPr>
        <p:txBody>
          <a:bodyPr wrap="square" lIns="0" tIns="0" rIns="0" bIns="0" rtlCol="0" anchor="t">
            <a:normAutofit/>
          </a:bodyPr>
          <a:lstStyle/>
          <a:p>
            <a:pPr marL="0" indent="0" eaLnBrk="1">
              <a:buNone/>
            </a:pPr>
            <a:r>
              <a:rPr lang="en-US" sz="2000" b="1" dirty="0">
                <a:solidFill>
                  <a:srgbClr val="003478"/>
                </a:solidFill>
              </a:rPr>
              <a:t>¿La tuya? En el chat</a:t>
            </a:r>
            <a:endParaRPr lang="en-US" sz="2000" dirty="0"/>
          </a:p>
        </p:txBody>
      </p:sp>
      <p:sp>
        <p:nvSpPr>
          <p:cNvPr id="14" name="Text 12"/>
          <p:cNvSpPr txBox="1"/>
          <p:nvPr/>
        </p:nvSpPr>
        <p:spPr>
          <a:xfrm>
            <a:off x="8385048" y="2651760"/>
            <a:ext cx="3026664" cy="914400"/>
          </a:xfrm>
          <a:prstGeom prst="rect">
            <a:avLst/>
          </a:prstGeom>
          <a:noFill/>
          <a:ln/>
        </p:spPr>
        <p:txBody>
          <a:bodyPr wrap="square" lIns="0" tIns="0" rIns="0" bIns="0" rtlCol="0" anchor="ctr">
            <a:normAutofit/>
          </a:bodyPr>
          <a:lstStyle/>
          <a:p>
            <a:pPr marL="0" indent="0" eaLnBrk="1">
              <a:buNone/>
            </a:pPr>
            <a:r>
              <a:rPr lang="ko-KR" altLang="en-US" sz="5400" b="1" dirty="0">
                <a:solidFill>
                  <a:srgbClr val="4236F6"/>
                </a:solidFill>
                <a:latin typeface="Malgun Gothic" pitchFamily="34" charset="0"/>
                <a:ea typeface="Malgun Gothic" pitchFamily="34" charset="-122"/>
                <a:cs typeface="Malgun Gothic" pitchFamily="34" charset="-120"/>
              </a:rPr>
              <a:t>직업</a:t>
            </a:r>
            <a:endParaRPr lang="en-US" sz="5400" dirty="0"/>
          </a:p>
        </p:txBody>
      </p:sp>
      <p:sp>
        <p:nvSpPr>
          <p:cNvPr id="15" name="lista"/>
          <p:cNvSpPr txBox="1"/>
          <p:nvPr/>
        </p:nvSpPr>
        <p:spPr>
          <a:xfrm>
            <a:off x="8339328" y="3657600"/>
            <a:ext cx="3118104" cy="23774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회사원</a:t>
            </a:r>
            <a:endParaRPr lang="en-US" sz="1800" dirty="0"/>
          </a:p>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대학생</a:t>
            </a:r>
            <a:endParaRPr lang="en-US" sz="1800" dirty="0"/>
          </a:p>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학생</a:t>
            </a:r>
            <a:endParaRPr lang="en-US" sz="1800" dirty="0"/>
          </a:p>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선생님</a:t>
            </a:r>
            <a:endParaRPr lang="en-US" sz="1800" dirty="0"/>
          </a:p>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의사</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¿Ser o estar?</a:t>
            </a:r>
            <a:r>
              <a:rPr lang="en-US" sz="1500" b="1" i="1" dirty="0">
                <a:solidFill>
                  <a:srgbClr val="8A8DA0"/>
                </a:solidFill>
              </a:rPr>
              <a:t>   Be or be located?</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Si en español puedes decir 'estar', no es 이에요</a:t>
            </a:r>
            <a:endParaRPr lang="en-US" sz="1800" dirty="0"/>
          </a:p>
        </p:txBody>
      </p:sp>
      <p:graphicFrame>
        <p:nvGraphicFramePr>
          <p:cNvPr id="9" name="tabla"/>
          <p:cNvGraphicFramePr>
            <a:graphicFrameLocks noGrp="1"/>
          </p:cNvGraphicFramePr>
          <p:nvPr>
            <p:extLst>
              <p:ext uri="{D42A27DB-BD31-4B8C-83A1-F6EECF244321}">
                <p14:modId xmlns:p14="http://schemas.microsoft.com/office/powerpoint/2010/main" val="3605218882"/>
              </p:ext>
            </p:extLst>
          </p:nvPr>
        </p:nvGraphicFramePr>
        <p:xfrm>
          <a:off x="548640" y="1874520"/>
          <a:ext cx="11091672" cy="914400"/>
        </p:xfrm>
        <a:graphic>
          <a:graphicData uri="http://schemas.openxmlformats.org/drawingml/2006/table">
            <a:tbl>
              <a:tblPr/>
              <a:tblGrid>
                <a:gridCol w="3697224">
                  <a:extLst>
                    <a:ext uri="{9D8B030D-6E8A-4147-A177-3AD203B41FA5}">
                      <a16:colId xmlns:a16="http://schemas.microsoft.com/office/drawing/2014/main" val="20000"/>
                    </a:ext>
                  </a:extLst>
                </a:gridCol>
                <a:gridCol w="3697224">
                  <a:extLst>
                    <a:ext uri="{9D8B030D-6E8A-4147-A177-3AD203B41FA5}">
                      <a16:colId xmlns:a16="http://schemas.microsoft.com/office/drawing/2014/main" val="20001"/>
                    </a:ext>
                  </a:extLst>
                </a:gridCol>
                <a:gridCol w="3697224">
                  <a:extLst>
                    <a:ext uri="{9D8B030D-6E8A-4147-A177-3AD203B41FA5}">
                      <a16:colId xmlns:a16="http://schemas.microsoft.com/office/drawing/2014/main" val="20002"/>
                    </a:ext>
                  </a:extLst>
                </a:gridCol>
              </a:tblGrid>
              <a:tr h="566928">
                <a:tc>
                  <a:txBody>
                    <a:bodyPr/>
                    <a:lstStyle/>
                    <a:p>
                      <a:pPr marL="0" indent="0" eaLnBrk="1">
                        <a:buNone/>
                      </a:pPr>
                      <a:r>
                        <a:rPr lang="en-US" sz="1800" b="1" dirty="0">
                          <a:solidFill>
                            <a:srgbClr val="FFFFFF"/>
                          </a:solidFill>
                        </a:rPr>
                        <a:t>En español</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800" b="1" dirty="0">
                          <a:solidFill>
                            <a:srgbClr val="FFFFFF"/>
                          </a:solidFill>
                        </a:rPr>
                        <a:t>Se dice</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800" b="1" dirty="0">
                          <a:solidFill>
                            <a:srgbClr val="FFFFFF"/>
                          </a:solidFill>
                        </a:rPr>
                        <a:t>No se dice</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extLst>
                  <a:ext uri="{0D108BD9-81ED-4DB2-BD59-A6C34878D82A}">
                    <a16:rowId xmlns:a16="http://schemas.microsoft.com/office/drawing/2014/main" val="10000"/>
                  </a:ext>
                </a:extLst>
              </a:tr>
              <a:tr h="566928">
                <a:tc>
                  <a:txBody>
                    <a:bodyPr/>
                    <a:lstStyle/>
                    <a:p>
                      <a:pPr marL="0" indent="0" eaLnBrk="1">
                        <a:buNone/>
                      </a:pPr>
                      <a:r>
                        <a:rPr lang="en-US" sz="1800" dirty="0">
                          <a:solidFill>
                            <a:srgbClr val="14142B"/>
                          </a:solidFill>
                        </a:rPr>
                        <a:t>Soy empleada.</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저는 회사원이에요</a:t>
                      </a: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1"/>
                  </a:ext>
                </a:extLst>
              </a:tr>
              <a:tr h="566928">
                <a:tc>
                  <a:txBody>
                    <a:bodyPr/>
                    <a:lstStyle/>
                    <a:p>
                      <a:pPr marL="0" indent="0" eaLnBrk="1">
                        <a:buNone/>
                      </a:pPr>
                      <a:r>
                        <a:rPr lang="en-US" sz="1800" dirty="0">
                          <a:solidFill>
                            <a:srgbClr val="14142B"/>
                          </a:solidFill>
                        </a:rPr>
                        <a:t>Estoy en casa.</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집에 있어요</a:t>
                      </a: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저는 집이에요</a:t>
                      </a: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eaLnBrk="1">
                        <a:buNone/>
                      </a:pPr>
                      <a:r>
                        <a:rPr lang="en-US" sz="1800" dirty="0">
                          <a:solidFill>
                            <a:srgbClr val="14142B"/>
                          </a:solidFill>
                        </a:rPr>
                        <a:t>Vivo en Santiago.</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산티아고에 살아요</a:t>
                      </a: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저는 산티아고예요</a:t>
                      </a: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3"/>
                  </a:ext>
                </a:extLst>
              </a:tr>
              <a:tr h="566928">
                <a:tc>
                  <a:txBody>
                    <a:bodyPr/>
                    <a:lstStyle/>
                    <a:p>
                      <a:pPr marL="0" indent="0" eaLnBrk="1">
                        <a:buNone/>
                      </a:pPr>
                      <a:r>
                        <a:rPr lang="en-US" sz="1800" dirty="0">
                          <a:solidFill>
                            <a:srgbClr val="14142B"/>
                          </a:solidFill>
                        </a:rPr>
                        <a:t>Mi ciudad natal es México.</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제 고향은 멕시코예요</a:t>
                      </a: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800" dirty="0">
                          <a:solidFill>
                            <a:srgbClr val="14142B"/>
                          </a:solidFill>
                        </a:rPr>
                        <a:t>— (está bien: ahí sí 'es')</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2600" b="1" dirty="0">
                <a:solidFill>
                  <a:srgbClr val="003478"/>
                </a:solidFill>
                <a:latin typeface="Malgun Gothic" pitchFamily="34" charset="0"/>
                <a:ea typeface="Malgun Gothic" pitchFamily="34" charset="-122"/>
                <a:cs typeface="Malgun Gothic" pitchFamily="34" charset="-120"/>
              </a:rPr>
              <a:t>은</a:t>
            </a:r>
            <a:r>
              <a:rPr lang="en-US" sz="2600" b="1" dirty="0">
                <a:solidFill>
                  <a:srgbClr val="003478"/>
                </a:solidFill>
              </a:rPr>
              <a:t>/</a:t>
            </a:r>
            <a:r>
              <a:rPr lang="ko-KR" altLang="en-US" sz="2600" b="1" dirty="0">
                <a:solidFill>
                  <a:srgbClr val="003478"/>
                </a:solidFill>
                <a:latin typeface="Malgun Gothic" pitchFamily="34" charset="0"/>
                <a:ea typeface="Malgun Gothic" pitchFamily="34" charset="-122"/>
                <a:cs typeface="Malgun Gothic" pitchFamily="34" charset="-120"/>
              </a:rPr>
              <a:t>는 </a:t>
            </a:r>
            <a:r>
              <a:rPr lang="en-US" sz="2600" b="1" dirty="0">
                <a:solidFill>
                  <a:srgbClr val="003478"/>
                </a:solidFill>
              </a:rPr>
              <a:t>· </a:t>
            </a:r>
            <a:r>
              <a:rPr lang="ko-KR" altLang="en-US" sz="2600" b="1" dirty="0">
                <a:solidFill>
                  <a:srgbClr val="003478"/>
                </a:solidFill>
                <a:latin typeface="Malgun Gothic" pitchFamily="34" charset="0"/>
                <a:ea typeface="Malgun Gothic" pitchFamily="34" charset="-122"/>
                <a:cs typeface="Malgun Gothic" pitchFamily="34" charset="-120"/>
              </a:rPr>
              <a:t>이</a:t>
            </a:r>
            <a:r>
              <a:rPr lang="en-US" sz="2600" b="1" dirty="0">
                <a:solidFill>
                  <a:srgbClr val="003478"/>
                </a:solidFill>
              </a:rPr>
              <a:t>/</a:t>
            </a:r>
            <a:r>
              <a:rPr lang="ko-KR" altLang="en-US" sz="2600" b="1" dirty="0">
                <a:solidFill>
                  <a:srgbClr val="003478"/>
                </a:solidFill>
                <a:latin typeface="Malgun Gothic" pitchFamily="34" charset="0"/>
                <a:ea typeface="Malgun Gothic" pitchFamily="34" charset="-122"/>
                <a:cs typeface="Malgun Gothic" pitchFamily="34" charset="-120"/>
              </a:rPr>
              <a:t>가</a:t>
            </a:r>
            <a:r>
              <a:rPr lang="en-US" sz="2600" b="1" dirty="0">
                <a:solidFill>
                  <a:srgbClr val="003478"/>
                </a:solidFill>
              </a:rPr>
              <a:t>: la duda eterna</a:t>
            </a:r>
            <a:r>
              <a:rPr lang="ko-KR" altLang="en-US" sz="1500" b="1" i="1" dirty="0">
                <a:solidFill>
                  <a:srgbClr val="8A8DA0"/>
                </a:solidFill>
              </a:rPr>
              <a:t>   은/는 vs 이/가: the eternal question</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en-US" sz="1800" i="1" dirty="0">
                <a:solidFill>
                  <a:srgbClr val="4236F6"/>
                </a:solidFill>
              </a:rPr>
              <a:t>Regla de bolsillo · hoy la usamos en un solo lugar: la entrevista</a:t>
            </a:r>
            <a:endParaRPr lang="en-US" sz="1800" dirty="0"/>
          </a:p>
        </p:txBody>
      </p:sp>
      <p:sp>
        <p:nvSpPr>
          <p:cNvPr id="4" name="col_0"/>
          <p:cNvSpPr/>
          <p:nvPr/>
        </p:nvSpPr>
        <p:spPr>
          <a:xfrm>
            <a:off x="548640" y="1874520"/>
            <a:ext cx="5385816" cy="4297680"/>
          </a:xfrm>
          <a:prstGeom prst="roundRect">
            <a:avLst>
              <a:gd name="adj" fmla="val 3191"/>
            </a:avLst>
          </a:prstGeom>
          <a:solidFill>
            <a:srgbClr val="F1F0FE"/>
          </a:solidFill>
          <a:ln w="12700">
            <a:solidFill>
              <a:srgbClr val="D9D7F7"/>
            </a:solidFill>
            <a:prstDash val="solid"/>
          </a:ln>
        </p:spPr>
      </p:sp>
      <p:sp>
        <p:nvSpPr>
          <p:cNvPr id="5" name="Text 3"/>
          <p:cNvSpPr txBox="1"/>
          <p:nvPr/>
        </p:nvSpPr>
        <p:spPr>
          <a:xfrm>
            <a:off x="777240" y="2057400"/>
            <a:ext cx="4928616" cy="548640"/>
          </a:xfrm>
          <a:prstGeom prst="rect">
            <a:avLst/>
          </a:prstGeom>
          <a:noFill/>
          <a:ln/>
        </p:spPr>
        <p:txBody>
          <a:bodyPr wrap="square" lIns="0" tIns="0" rIns="0" bIns="0" rtlCol="0" anchor="t">
            <a:normAutofit/>
          </a:bodyPr>
          <a:lstStyle/>
          <a:p>
            <a:pPr marL="0" indent="0" eaLnBrk="1">
              <a:buNone/>
            </a:pPr>
            <a:r>
              <a:rPr lang="en-US" sz="2000" b="1" dirty="0">
                <a:solidFill>
                  <a:srgbClr val="003478"/>
                </a:solidFill>
              </a:rPr>
              <a:t>'En cuanto a…'</a:t>
            </a:r>
            <a:endParaRPr lang="en-US" sz="2000" dirty="0"/>
          </a:p>
        </p:txBody>
      </p:sp>
      <p:sp>
        <p:nvSpPr>
          <p:cNvPr id="6" name="Text 4"/>
          <p:cNvSpPr txBox="1"/>
          <p:nvPr/>
        </p:nvSpPr>
        <p:spPr>
          <a:xfrm>
            <a:off x="777240" y="2651760"/>
            <a:ext cx="4928616" cy="914400"/>
          </a:xfrm>
          <a:prstGeom prst="rect">
            <a:avLst/>
          </a:prstGeom>
          <a:noFill/>
          <a:ln/>
        </p:spPr>
        <p:txBody>
          <a:bodyPr wrap="square" lIns="0" tIns="0" rIns="0" bIns="0" rtlCol="0" anchor="ctr">
            <a:normAutofit/>
          </a:bodyPr>
          <a:lstStyle/>
          <a:p>
            <a:pPr marL="0" indent="0" eaLnBrk="1">
              <a:buNone/>
            </a:pPr>
            <a:r>
              <a:rPr lang="ko-KR" altLang="en-US" sz="5400" b="1" dirty="0">
                <a:solidFill>
                  <a:srgbClr val="4236F6"/>
                </a:solidFill>
                <a:latin typeface="Malgun Gothic" pitchFamily="34" charset="0"/>
                <a:ea typeface="Malgun Gothic" pitchFamily="34" charset="-122"/>
                <a:cs typeface="Malgun Gothic" pitchFamily="34" charset="-120"/>
              </a:rPr>
              <a:t>은</a:t>
            </a:r>
            <a:r>
              <a:rPr lang="en-US" sz="5400" b="1" dirty="0">
                <a:solidFill>
                  <a:srgbClr val="4236F6"/>
                </a:solidFill>
              </a:rPr>
              <a:t>/</a:t>
            </a:r>
            <a:r>
              <a:rPr lang="ko-KR" altLang="en-US" sz="5400" b="1" dirty="0">
                <a:solidFill>
                  <a:srgbClr val="4236F6"/>
                </a:solidFill>
                <a:latin typeface="Malgun Gothic" pitchFamily="34" charset="0"/>
                <a:ea typeface="Malgun Gothic" pitchFamily="34" charset="-122"/>
                <a:cs typeface="Malgun Gothic" pitchFamily="34" charset="-120"/>
              </a:rPr>
              <a:t>는</a:t>
            </a:r>
            <a:endParaRPr lang="en-US" sz="5400" dirty="0"/>
          </a:p>
        </p:txBody>
      </p:sp>
      <p:sp>
        <p:nvSpPr>
          <p:cNvPr id="7" name="lista"/>
          <p:cNvSpPr txBox="1"/>
          <p:nvPr/>
        </p:nvSpPr>
        <p:spPr>
          <a:xfrm>
            <a:off x="731520" y="3657600"/>
            <a:ext cx="5020056" cy="23774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en-US" sz="2000" dirty="0">
                <a:solidFill>
                  <a:srgbClr val="14142B"/>
                </a:solidFill>
              </a:rPr>
              <a:t>Presentas un tema</a:t>
            </a:r>
            <a:endParaRPr lang="en-US" sz="2000" dirty="0"/>
          </a:p>
          <a:p>
            <a:pPr marL="228600" indent="-228600" eaLnBrk="1">
              <a:spcAft>
                <a:spcPts val="800"/>
              </a:spcAft>
              <a:buSzPct val="100000"/>
              <a:buChar char="•"/>
            </a:pPr>
            <a:r>
              <a:rPr lang="en-US" sz="2000" dirty="0">
                <a:solidFill>
                  <a:srgbClr val="14142B"/>
                </a:solidFill>
              </a:rPr>
              <a:t>Comparas (contraste)</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카밀라 씨는 회사원이에요</a:t>
            </a:r>
            <a:r>
              <a:rPr lang="en-US" sz="2000" dirty="0">
                <a:solidFill>
                  <a:srgbClr val="14142B"/>
                </a:solidFill>
              </a:rPr>
              <a:t>. </a:t>
            </a:r>
            <a:r>
              <a:rPr lang="ko-KR" altLang="en-US" sz="2000" dirty="0">
                <a:solidFill>
                  <a:srgbClr val="14142B"/>
                </a:solidFill>
                <a:latin typeface="Malgun Gothic" pitchFamily="34" charset="0"/>
                <a:ea typeface="Malgun Gothic" pitchFamily="34" charset="-122"/>
                <a:cs typeface="Malgun Gothic" pitchFamily="34" charset="-120"/>
              </a:rPr>
              <a:t>그리고 다니엘 씨는 대학생이에요</a:t>
            </a:r>
            <a:r>
              <a:rPr lang="en-US" sz="2000" dirty="0">
                <a:solidFill>
                  <a:srgbClr val="14142B"/>
                </a:solidFill>
              </a:rPr>
              <a:t>.</a:t>
            </a:r>
            <a:endParaRPr lang="en-US" sz="2000" dirty="0"/>
          </a:p>
        </p:txBody>
      </p:sp>
      <p:sp>
        <p:nvSpPr>
          <p:cNvPr id="8" name="col_1"/>
          <p:cNvSpPr/>
          <p:nvPr/>
        </p:nvSpPr>
        <p:spPr>
          <a:xfrm>
            <a:off x="6254496" y="1874520"/>
            <a:ext cx="5385816" cy="4297680"/>
          </a:xfrm>
          <a:prstGeom prst="roundRect">
            <a:avLst>
              <a:gd name="adj" fmla="val 3191"/>
            </a:avLst>
          </a:prstGeom>
          <a:solidFill>
            <a:srgbClr val="FFFFFF"/>
          </a:solidFill>
          <a:ln w="12700">
            <a:solidFill>
              <a:srgbClr val="D9D7F7"/>
            </a:solidFill>
            <a:prstDash val="solid"/>
          </a:ln>
        </p:spPr>
      </p:sp>
      <p:sp>
        <p:nvSpPr>
          <p:cNvPr id="9" name="Text 7"/>
          <p:cNvSpPr txBox="1"/>
          <p:nvPr/>
        </p:nvSpPr>
        <p:spPr>
          <a:xfrm>
            <a:off x="6483096" y="2057400"/>
            <a:ext cx="4928616" cy="548640"/>
          </a:xfrm>
          <a:prstGeom prst="rect">
            <a:avLst/>
          </a:prstGeom>
          <a:noFill/>
          <a:ln/>
        </p:spPr>
        <p:txBody>
          <a:bodyPr wrap="square" lIns="0" tIns="0" rIns="0" bIns="0" rtlCol="0" anchor="t">
            <a:normAutofit/>
          </a:bodyPr>
          <a:lstStyle/>
          <a:p>
            <a:pPr marL="0" indent="0" eaLnBrk="1">
              <a:buNone/>
            </a:pPr>
            <a:r>
              <a:rPr lang="en-US" sz="2000" b="1" dirty="0">
                <a:solidFill>
                  <a:srgbClr val="003478"/>
                </a:solidFill>
              </a:rPr>
              <a:t>'El que…, la que…'</a:t>
            </a:r>
            <a:endParaRPr lang="en-US" sz="2000" dirty="0"/>
          </a:p>
        </p:txBody>
      </p:sp>
      <p:sp>
        <p:nvSpPr>
          <p:cNvPr id="10" name="Text 8"/>
          <p:cNvSpPr txBox="1"/>
          <p:nvPr/>
        </p:nvSpPr>
        <p:spPr>
          <a:xfrm>
            <a:off x="6483096" y="2651760"/>
            <a:ext cx="4928616" cy="914400"/>
          </a:xfrm>
          <a:prstGeom prst="rect">
            <a:avLst/>
          </a:prstGeom>
          <a:noFill/>
          <a:ln/>
        </p:spPr>
        <p:txBody>
          <a:bodyPr wrap="square" lIns="0" tIns="0" rIns="0" bIns="0" rtlCol="0" anchor="ctr">
            <a:normAutofit/>
          </a:bodyPr>
          <a:lstStyle/>
          <a:p>
            <a:pPr marL="0" indent="0" eaLnBrk="1">
              <a:buNone/>
            </a:pPr>
            <a:r>
              <a:rPr lang="ko-KR" altLang="en-US" sz="5400" b="1" dirty="0">
                <a:solidFill>
                  <a:srgbClr val="4236F6"/>
                </a:solidFill>
                <a:latin typeface="Malgun Gothic" pitchFamily="34" charset="0"/>
                <a:ea typeface="Malgun Gothic" pitchFamily="34" charset="-122"/>
                <a:cs typeface="Malgun Gothic" pitchFamily="34" charset="-120"/>
              </a:rPr>
              <a:t>이</a:t>
            </a:r>
            <a:r>
              <a:rPr lang="en-US" sz="5400" b="1" dirty="0">
                <a:solidFill>
                  <a:srgbClr val="4236F6"/>
                </a:solidFill>
              </a:rPr>
              <a:t>/</a:t>
            </a:r>
            <a:r>
              <a:rPr lang="ko-KR" altLang="en-US" sz="5400" b="1" dirty="0">
                <a:solidFill>
                  <a:srgbClr val="4236F6"/>
                </a:solidFill>
                <a:latin typeface="Malgun Gothic" pitchFamily="34" charset="0"/>
                <a:ea typeface="Malgun Gothic" pitchFamily="34" charset="-122"/>
                <a:cs typeface="Malgun Gothic" pitchFamily="34" charset="-120"/>
              </a:rPr>
              <a:t>가</a:t>
            </a:r>
            <a:endParaRPr lang="en-US" sz="5400" dirty="0"/>
          </a:p>
        </p:txBody>
      </p:sp>
      <p:sp>
        <p:nvSpPr>
          <p:cNvPr id="11" name="lista"/>
          <p:cNvSpPr txBox="1"/>
          <p:nvPr/>
        </p:nvSpPr>
        <p:spPr>
          <a:xfrm>
            <a:off x="6437376" y="3657600"/>
            <a:ext cx="5020056" cy="23774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en-US" sz="2000" dirty="0">
                <a:solidFill>
                  <a:srgbClr val="14142B"/>
                </a:solidFill>
              </a:rPr>
              <a:t>Lo que preguntas</a:t>
            </a:r>
            <a:endParaRPr lang="en-US" sz="2000" dirty="0"/>
          </a:p>
          <a:p>
            <a:pPr marL="228600" indent="-228600" eaLnBrk="1">
              <a:spcAft>
                <a:spcPts val="800"/>
              </a:spcAft>
              <a:buSzPct val="100000"/>
              <a:buChar char="•"/>
            </a:pPr>
            <a:r>
              <a:rPr lang="en-US" sz="2000" dirty="0">
                <a:solidFill>
                  <a:srgbClr val="14142B"/>
                </a:solidFill>
              </a:rPr>
              <a:t>Lo nuevo, lo que hay</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누가 대학생이에요</a:t>
            </a:r>
            <a:r>
              <a:rPr lang="en-US" sz="2000" dirty="0">
                <a:solidFill>
                  <a:srgbClr val="14142B"/>
                </a:solidFill>
              </a:rPr>
              <a:t>? — </a:t>
            </a:r>
            <a:r>
              <a:rPr lang="ko-KR" altLang="en-US" sz="2000" dirty="0">
                <a:solidFill>
                  <a:srgbClr val="14142B"/>
                </a:solidFill>
                <a:latin typeface="Malgun Gothic" pitchFamily="34" charset="0"/>
                <a:ea typeface="Malgun Gothic" pitchFamily="34" charset="-122"/>
                <a:cs typeface="Malgun Gothic" pitchFamily="34" charset="-120"/>
              </a:rPr>
              <a:t>다니엘 씨가 대학생이에요</a:t>
            </a:r>
            <a:r>
              <a:rPr lang="en-US" sz="2000" dirty="0">
                <a:solidFill>
                  <a:srgbClr val="14142B"/>
                </a:solidFill>
              </a:rPr>
              <a:t>.</a:t>
            </a:r>
            <a:endParaRPr lang="en-US" sz="2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La entrevista</a:t>
            </a:r>
            <a:r>
              <a:rPr lang="en-US" sz="1500" b="1" i="1" dirty="0">
                <a:solidFill>
                  <a:srgbClr val="8A8DA0"/>
                </a:solidFill>
              </a:rPr>
              <a:t>   The interview</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La pregunta con 이</a:t>
            </a:r>
            <a:r>
              <a:rPr lang="en-US" sz="1800" i="1" dirty="0">
                <a:solidFill>
                  <a:srgbClr val="4236F6"/>
                </a:solidFill>
              </a:rPr>
              <a:t>/</a:t>
            </a:r>
            <a:r>
              <a:rPr lang="ko-KR" altLang="en-US" sz="1800" i="1" dirty="0">
                <a:solidFill>
                  <a:srgbClr val="4236F6"/>
                </a:solidFill>
                <a:latin typeface="Malgun Gothic" pitchFamily="34" charset="0"/>
                <a:ea typeface="Malgun Gothic" pitchFamily="34" charset="-122"/>
                <a:cs typeface="Malgun Gothic" pitchFamily="34" charset="-120"/>
              </a:rPr>
              <a:t>가 </a:t>
            </a:r>
            <a:r>
              <a:rPr lang="en-US" sz="1800" i="1" dirty="0">
                <a:solidFill>
                  <a:srgbClr val="4236F6"/>
                </a:solidFill>
              </a:rPr>
              <a:t>· la respuesta con </a:t>
            </a:r>
            <a:r>
              <a:rPr lang="ko-KR" altLang="en-US" sz="1800" i="1" dirty="0">
                <a:solidFill>
                  <a:srgbClr val="4236F6"/>
                </a:solidFill>
                <a:latin typeface="Malgun Gothic" pitchFamily="34" charset="0"/>
                <a:ea typeface="Malgun Gothic" pitchFamily="34" charset="-122"/>
                <a:cs typeface="Malgun Gothic" pitchFamily="34" charset="-120"/>
              </a:rPr>
              <a:t>은</a:t>
            </a:r>
            <a:r>
              <a:rPr lang="en-US" sz="1800" i="1" dirty="0">
                <a:solidFill>
                  <a:srgbClr val="4236F6"/>
                </a:solidFill>
              </a:rPr>
              <a:t>/</a:t>
            </a:r>
            <a:r>
              <a:rPr lang="ko-KR" altLang="en-US" sz="1800" i="1" dirty="0">
                <a:solidFill>
                  <a:srgbClr val="4236F6"/>
                </a:solidFill>
                <a:latin typeface="Malgun Gothic" pitchFamily="34" charset="0"/>
                <a:ea typeface="Malgun Gothic" pitchFamily="34" charset="-122"/>
                <a:cs typeface="Malgun Gothic" pitchFamily="34" charset="-120"/>
              </a:rPr>
              <a:t>는 </a:t>
            </a:r>
            <a:r>
              <a:rPr lang="en-US" sz="1800" i="1" dirty="0">
                <a:solidFill>
                  <a:srgbClr val="4236F6"/>
                </a:solidFill>
              </a:rPr>
              <a:t>· </a:t>
            </a:r>
            <a:r>
              <a:rPr lang="ko-KR" altLang="en-US" sz="1800" i="1" dirty="0">
                <a:solidFill>
                  <a:srgbClr val="4236F6"/>
                </a:solidFill>
                <a:latin typeface="Malgun Gothic" pitchFamily="34" charset="0"/>
                <a:ea typeface="Malgun Gothic" pitchFamily="34" charset="-122"/>
                <a:cs typeface="Malgun Gothic" pitchFamily="34" charset="-120"/>
              </a:rPr>
              <a:t>제 </a:t>
            </a:r>
            <a:r>
              <a:rPr lang="en-US" sz="1800" i="1" dirty="0">
                <a:solidFill>
                  <a:srgbClr val="4236F6"/>
                </a:solidFill>
              </a:rPr>
              <a:t>= mi (forma humilde)</a:t>
            </a:r>
            <a:endParaRPr lang="en-US" sz="1800" dirty="0"/>
          </a:p>
        </p:txBody>
      </p:sp>
      <p:graphicFrame>
        <p:nvGraphicFramePr>
          <p:cNvPr id="11" name="tabla"/>
          <p:cNvGraphicFramePr>
            <a:graphicFrameLocks noGrp="1"/>
          </p:cNvGraphicFramePr>
          <p:nvPr>
            <p:extLst>
              <p:ext uri="{D42A27DB-BD31-4B8C-83A1-F6EECF244321}">
                <p14:modId xmlns:p14="http://schemas.microsoft.com/office/powerpoint/2010/main" val="1919129114"/>
              </p:ext>
            </p:extLst>
          </p:nvPr>
        </p:nvGraphicFramePr>
        <p:xfrm>
          <a:off x="548640" y="1874520"/>
          <a:ext cx="11091672" cy="914400"/>
        </p:xfrm>
        <a:graphic>
          <a:graphicData uri="http://schemas.openxmlformats.org/drawingml/2006/table">
            <a:tbl>
              <a:tblPr/>
              <a:tblGrid>
                <a:gridCol w="5545836">
                  <a:extLst>
                    <a:ext uri="{9D8B030D-6E8A-4147-A177-3AD203B41FA5}">
                      <a16:colId xmlns:a16="http://schemas.microsoft.com/office/drawing/2014/main" val="20000"/>
                    </a:ext>
                  </a:extLst>
                </a:gridCol>
                <a:gridCol w="5545836">
                  <a:extLst>
                    <a:ext uri="{9D8B030D-6E8A-4147-A177-3AD203B41FA5}">
                      <a16:colId xmlns:a16="http://schemas.microsoft.com/office/drawing/2014/main" val="20001"/>
                    </a:ext>
                  </a:extLst>
                </a:gridCol>
              </a:tblGrid>
              <a:tr h="566928">
                <a:tc>
                  <a:txBody>
                    <a:bodyPr/>
                    <a:lstStyle/>
                    <a:p>
                      <a:pPr marL="0" indent="0" eaLnBrk="1">
                        <a:buNone/>
                      </a:pPr>
                      <a:r>
                        <a:rPr lang="ko-KR" altLang="en-US" sz="1800" b="1" dirty="0">
                          <a:solidFill>
                            <a:srgbClr val="FFFFFF"/>
                          </a:solidFill>
                          <a:latin typeface="Malgun Gothic" pitchFamily="34" charset="0"/>
                          <a:ea typeface="Malgun Gothic" pitchFamily="34" charset="-122"/>
                          <a:cs typeface="Malgun Gothic" pitchFamily="34" charset="-120"/>
                        </a:rPr>
                        <a:t>Pregunta (이</a:t>
                      </a:r>
                      <a:r>
                        <a:rPr lang="en-US" sz="1800" b="1" dirty="0">
                          <a:solidFill>
                            <a:srgbClr val="FFFFFF"/>
                          </a:solidFill>
                        </a:rPr>
                        <a:t>/</a:t>
                      </a:r>
                      <a:r>
                        <a:rPr lang="ko-KR" altLang="en-US" sz="1800" b="1" dirty="0">
                          <a:solidFill>
                            <a:srgbClr val="FFFFFF"/>
                          </a:solidFill>
                          <a:latin typeface="Malgun Gothic" pitchFamily="34" charset="0"/>
                          <a:ea typeface="Malgun Gothic" pitchFamily="34" charset="-122"/>
                          <a:cs typeface="Malgun Gothic" pitchFamily="34" charset="-120"/>
                        </a:rPr>
                        <a:t>가</a:t>
                      </a:r>
                      <a:r>
                        <a:rPr lang="en-US" sz="1800" b="1" dirty="0">
                          <a:solidFill>
                            <a:srgbClr val="FFFFFF"/>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ko-KR" altLang="en-US" sz="1800" b="1" dirty="0">
                          <a:solidFill>
                            <a:srgbClr val="FFFFFF"/>
                          </a:solidFill>
                          <a:latin typeface="Malgun Gothic" pitchFamily="34" charset="0"/>
                          <a:ea typeface="Malgun Gothic" pitchFamily="34" charset="-122"/>
                          <a:cs typeface="Malgun Gothic" pitchFamily="34" charset="-120"/>
                        </a:rPr>
                        <a:t>Respuesta (은</a:t>
                      </a:r>
                      <a:r>
                        <a:rPr lang="en-US" sz="1800" b="1" dirty="0">
                          <a:solidFill>
                            <a:srgbClr val="FFFFFF"/>
                          </a:solidFill>
                        </a:rPr>
                        <a:t>/</a:t>
                      </a:r>
                      <a:r>
                        <a:rPr lang="ko-KR" altLang="en-US" sz="1800" b="1" dirty="0">
                          <a:solidFill>
                            <a:srgbClr val="FFFFFF"/>
                          </a:solidFill>
                          <a:latin typeface="Malgun Gothic" pitchFamily="34" charset="0"/>
                          <a:ea typeface="Malgun Gothic" pitchFamily="34" charset="-122"/>
                          <a:cs typeface="Malgun Gothic" pitchFamily="34" charset="-120"/>
                        </a:rPr>
                        <a:t>는</a:t>
                      </a:r>
                      <a:r>
                        <a:rPr lang="en-US" sz="1800" b="1" dirty="0">
                          <a:solidFill>
                            <a:srgbClr val="FFFFFF"/>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extLst>
                  <a:ext uri="{0D108BD9-81ED-4DB2-BD59-A6C34878D82A}">
                    <a16:rowId xmlns:a16="http://schemas.microsoft.com/office/drawing/2014/main" val="10000"/>
                  </a:ext>
                </a:extLst>
              </a:tr>
              <a:tr h="566928">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이름이 뭐예요</a:t>
                      </a: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제 이름은 카밀라예요</a:t>
                      </a: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1"/>
                  </a:ext>
                </a:extLst>
              </a:tr>
              <a:tr h="566928">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고향이 어디예요</a:t>
                      </a: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제 고향은 멕시코예요</a:t>
                      </a:r>
                      <a:r>
                        <a:rPr lang="en-US" sz="1800" dirty="0">
                          <a:solidFill>
                            <a:srgbClr val="14142B"/>
                          </a:solidFill>
                        </a:rPr>
                        <a:t>. </a:t>
                      </a:r>
                      <a:r>
                        <a:rPr lang="ko-KR" altLang="en-US" sz="1800" dirty="0">
                          <a:solidFill>
                            <a:srgbClr val="14142B"/>
                          </a:solidFill>
                          <a:latin typeface="Malgun Gothic" pitchFamily="34" charset="0"/>
                          <a:ea typeface="Malgun Gothic" pitchFamily="34" charset="-122"/>
                          <a:cs typeface="Malgun Gothic" pitchFamily="34" charset="-120"/>
                        </a:rPr>
                        <a:t>지금은 칠레에 살아요</a:t>
                      </a: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직업이 뭐예요</a:t>
                      </a: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저는 회사원이에요</a:t>
                      </a: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3"/>
                  </a:ext>
                </a:extLst>
              </a:tr>
              <a:tr h="566928">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취미가 뭐예요</a:t>
                      </a: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제 취미는 요리예요</a:t>
                      </a:r>
                      <a:r>
                        <a:rPr lang="en-US" sz="18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003478"/>
                </a:solidFill>
                <a:latin typeface="Malgun Gothic" pitchFamily="34" charset="0"/>
                <a:ea typeface="Malgun Gothic" pitchFamily="34" charset="-122"/>
                <a:cs typeface="Malgun Gothic" pitchFamily="34" charset="-120"/>
              </a:rPr>
              <a:t>¿이 </a:t>
            </a:r>
            <a:r>
              <a:rPr lang="en-US" sz="3000" b="1" dirty="0">
                <a:solidFill>
                  <a:srgbClr val="003478"/>
                </a:solidFill>
              </a:rPr>
              <a:t>o </a:t>
            </a:r>
            <a:r>
              <a:rPr lang="ko-KR" altLang="en-US" sz="3000" b="1" dirty="0">
                <a:solidFill>
                  <a:srgbClr val="003478"/>
                </a:solidFill>
                <a:latin typeface="Malgun Gothic" pitchFamily="34" charset="0"/>
                <a:ea typeface="Malgun Gothic" pitchFamily="34" charset="-122"/>
                <a:cs typeface="Malgun Gothic" pitchFamily="34" charset="-120"/>
              </a:rPr>
              <a:t>은</a:t>
            </a:r>
            <a:r>
              <a:rPr lang="en-US" sz="3000" b="1" dirty="0">
                <a:solidFill>
                  <a:srgbClr val="003478"/>
                </a:solidFill>
              </a:rPr>
              <a:t>?</a:t>
            </a:r>
            <a:r>
              <a:rPr lang="ko-KR" altLang="en-US" sz="1500" b="1" i="1" dirty="0">
                <a:solidFill>
                  <a:srgbClr val="8A8DA0"/>
                </a:solidFill>
              </a:rPr>
              <a:t>   이 or 은?</a:t>
            </a:r>
            <a:endParaRPr lang="en-US" sz="3000" dirty="0"/>
          </a:p>
        </p:txBody>
      </p:sp>
      <p:sp>
        <p:nvSpPr>
          <p:cNvPr id="3" name="Text 1"/>
          <p:cNvSpPr txBox="1"/>
          <p:nvPr/>
        </p:nvSpPr>
        <p:spPr>
          <a:xfrm>
            <a:off x="548640" y="1325880"/>
            <a:ext cx="11091672" cy="548640"/>
          </a:xfrm>
          <a:prstGeom prst="rect">
            <a:avLst/>
          </a:prstGeom>
          <a:noFill/>
          <a:ln/>
        </p:spPr>
        <p:txBody>
          <a:bodyPr wrap="square" lIns="0" tIns="0" rIns="0" bIns="0" rtlCol="0" anchor="t">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Hoy: a, d, e y f (b y c si vamos adelantados) · Vota en el chat: 1 = 이</a:t>
            </a:r>
            <a:r>
              <a:rPr lang="en-US" sz="1800" i="1" dirty="0">
                <a:solidFill>
                  <a:srgbClr val="4236F6"/>
                </a:solidFill>
              </a:rPr>
              <a:t>/</a:t>
            </a:r>
            <a:r>
              <a:rPr lang="ko-KR" altLang="en-US" sz="1800" i="1" dirty="0">
                <a:solidFill>
                  <a:srgbClr val="4236F6"/>
                </a:solidFill>
                <a:latin typeface="Malgun Gothic" pitchFamily="34" charset="0"/>
                <a:ea typeface="Malgun Gothic" pitchFamily="34" charset="-122"/>
                <a:cs typeface="Malgun Gothic" pitchFamily="34" charset="-120"/>
              </a:rPr>
              <a:t>가 </a:t>
            </a:r>
            <a:r>
              <a:rPr lang="en-US" sz="1800" i="1" dirty="0">
                <a:solidFill>
                  <a:srgbClr val="4236F6"/>
                </a:solidFill>
              </a:rPr>
              <a:t>· 2 = </a:t>
            </a:r>
            <a:r>
              <a:rPr lang="ko-KR" altLang="en-US" sz="1800" i="1" dirty="0">
                <a:solidFill>
                  <a:srgbClr val="4236F6"/>
                </a:solidFill>
                <a:latin typeface="Malgun Gothic" pitchFamily="34" charset="0"/>
                <a:ea typeface="Malgun Gothic" pitchFamily="34" charset="-122"/>
                <a:cs typeface="Malgun Gothic" pitchFamily="34" charset="-120"/>
              </a:rPr>
              <a:t>은</a:t>
            </a:r>
            <a:r>
              <a:rPr lang="en-US" sz="1800" i="1" dirty="0">
                <a:solidFill>
                  <a:srgbClr val="4236F6"/>
                </a:solidFill>
              </a:rPr>
              <a:t>/</a:t>
            </a:r>
            <a:r>
              <a:rPr lang="ko-KR" altLang="en-US" sz="1800" i="1" dirty="0">
                <a:solidFill>
                  <a:srgbClr val="4236F6"/>
                </a:solidFill>
                <a:latin typeface="Malgun Gothic" pitchFamily="34" charset="0"/>
                <a:ea typeface="Malgun Gothic" pitchFamily="34" charset="-122"/>
                <a:cs typeface="Malgun Gothic" pitchFamily="34" charset="-120"/>
              </a:rPr>
              <a:t>는</a:t>
            </a:r>
            <a:endParaRPr lang="en-US" sz="1800" dirty="0"/>
          </a:p>
        </p:txBody>
      </p:sp>
      <p:sp>
        <p:nvSpPr>
          <p:cNvPr id="4" name="num_0"/>
          <p:cNvSpPr/>
          <p:nvPr/>
        </p:nvSpPr>
        <p:spPr>
          <a:xfrm>
            <a:off x="548640" y="2034540"/>
            <a:ext cx="457200" cy="457200"/>
          </a:xfrm>
          <a:prstGeom prst="ellipse">
            <a:avLst/>
          </a:prstGeom>
          <a:solidFill>
            <a:srgbClr val="003478"/>
          </a:solidFill>
          <a:ln w="12700">
            <a:solidFill>
              <a:srgbClr val="003478"/>
            </a:solidFill>
            <a:prstDash val="solid"/>
          </a:ln>
        </p:spPr>
      </p:sp>
      <p:sp>
        <p:nvSpPr>
          <p:cNvPr id="5" name="Text 3"/>
          <p:cNvSpPr txBox="1"/>
          <p:nvPr/>
        </p:nvSpPr>
        <p:spPr>
          <a:xfrm>
            <a:off x="548640" y="2034540"/>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1</a:t>
            </a:r>
            <a:endParaRPr lang="en-US" sz="1600" dirty="0"/>
          </a:p>
        </p:txBody>
      </p:sp>
      <p:sp>
        <p:nvSpPr>
          <p:cNvPr id="6" name="Text 4"/>
          <p:cNvSpPr txBox="1"/>
          <p:nvPr/>
        </p:nvSpPr>
        <p:spPr>
          <a:xfrm>
            <a:off x="1188720" y="1965960"/>
            <a:ext cx="5285232" cy="59436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a) 취미</a:t>
            </a:r>
            <a:r>
              <a:rPr lang="en-US" sz="2400" dirty="0">
                <a:solidFill>
                  <a:srgbClr val="14142B"/>
                </a:solidFill>
              </a:rPr>
              <a:t>___ </a:t>
            </a:r>
            <a:r>
              <a:rPr lang="ko-KR" altLang="en-US" sz="2400" dirty="0">
                <a:solidFill>
                  <a:srgbClr val="14142B"/>
                </a:solidFill>
                <a:latin typeface="Malgun Gothic" pitchFamily="34" charset="0"/>
                <a:ea typeface="Malgun Gothic" pitchFamily="34" charset="-122"/>
                <a:cs typeface="Malgun Gothic" pitchFamily="34" charset="-120"/>
              </a:rPr>
              <a:t>뭐예요</a:t>
            </a:r>
            <a:r>
              <a:rPr lang="en-US" sz="2400" dirty="0">
                <a:solidFill>
                  <a:srgbClr val="14142B"/>
                </a:solidFill>
              </a:rPr>
              <a:t>?</a:t>
            </a:r>
            <a:endParaRPr lang="en-US" sz="2400" dirty="0"/>
          </a:p>
        </p:txBody>
      </p:sp>
      <p:sp>
        <p:nvSpPr>
          <p:cNvPr id="7" name="rev_4_caja"/>
          <p:cNvSpPr/>
          <p:nvPr/>
        </p:nvSpPr>
        <p:spPr>
          <a:xfrm>
            <a:off x="6702552" y="2002536"/>
            <a:ext cx="4937760" cy="521208"/>
          </a:xfrm>
          <a:prstGeom prst="roundRect">
            <a:avLst>
              <a:gd name="adj" fmla="val 21053"/>
            </a:avLst>
          </a:prstGeom>
          <a:solidFill>
            <a:srgbClr val="4236F6"/>
          </a:solidFill>
          <a:ln w="12700">
            <a:solidFill>
              <a:srgbClr val="4236F6"/>
            </a:solidFill>
            <a:prstDash val="solid"/>
          </a:ln>
        </p:spPr>
      </p:sp>
      <p:sp>
        <p:nvSpPr>
          <p:cNvPr id="8" name="rev_4_txt"/>
          <p:cNvSpPr txBox="1"/>
          <p:nvPr/>
        </p:nvSpPr>
        <p:spPr>
          <a:xfrm>
            <a:off x="6793992" y="2002536"/>
            <a:ext cx="4754880" cy="52120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1 · 취미가 뭐예요</a:t>
            </a:r>
            <a:r>
              <a:rPr lang="en-US" sz="2200" b="1" dirty="0">
                <a:solidFill>
                  <a:srgbClr val="FFFFFF"/>
                </a:solidFill>
              </a:rPr>
              <a:t>?</a:t>
            </a:r>
            <a:endParaRPr lang="en-US" sz="2200" dirty="0"/>
          </a:p>
        </p:txBody>
      </p:sp>
      <p:sp>
        <p:nvSpPr>
          <p:cNvPr id="9" name="num_1"/>
          <p:cNvSpPr/>
          <p:nvPr/>
        </p:nvSpPr>
        <p:spPr>
          <a:xfrm>
            <a:off x="548640" y="2756916"/>
            <a:ext cx="457200" cy="457200"/>
          </a:xfrm>
          <a:prstGeom prst="ellipse">
            <a:avLst/>
          </a:prstGeom>
          <a:solidFill>
            <a:srgbClr val="003478"/>
          </a:solidFill>
          <a:ln w="12700">
            <a:solidFill>
              <a:srgbClr val="003478"/>
            </a:solidFill>
            <a:prstDash val="solid"/>
          </a:ln>
        </p:spPr>
      </p:sp>
      <p:sp>
        <p:nvSpPr>
          <p:cNvPr id="10" name="Text 8"/>
          <p:cNvSpPr txBox="1"/>
          <p:nvPr/>
        </p:nvSpPr>
        <p:spPr>
          <a:xfrm>
            <a:off x="548640" y="2756916"/>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2</a:t>
            </a:r>
            <a:endParaRPr lang="en-US" sz="1600" dirty="0"/>
          </a:p>
        </p:txBody>
      </p:sp>
      <p:sp>
        <p:nvSpPr>
          <p:cNvPr id="11" name="Text 9"/>
          <p:cNvSpPr txBox="1"/>
          <p:nvPr/>
        </p:nvSpPr>
        <p:spPr>
          <a:xfrm>
            <a:off x="1188720" y="2688336"/>
            <a:ext cx="5285232" cy="59436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b) 제 취미</a:t>
            </a:r>
            <a:r>
              <a:rPr lang="en-US" sz="2400" dirty="0">
                <a:solidFill>
                  <a:srgbClr val="14142B"/>
                </a:solidFill>
              </a:rPr>
              <a:t>___ </a:t>
            </a:r>
            <a:r>
              <a:rPr lang="ko-KR" altLang="en-US" sz="2400" dirty="0">
                <a:solidFill>
                  <a:srgbClr val="14142B"/>
                </a:solidFill>
                <a:latin typeface="Malgun Gothic" pitchFamily="34" charset="0"/>
                <a:ea typeface="Malgun Gothic" pitchFamily="34" charset="-122"/>
                <a:cs typeface="Malgun Gothic" pitchFamily="34" charset="-120"/>
              </a:rPr>
              <a:t>요리예요</a:t>
            </a:r>
            <a:r>
              <a:rPr lang="en-US" sz="2400" dirty="0">
                <a:solidFill>
                  <a:srgbClr val="14142B"/>
                </a:solidFill>
              </a:rPr>
              <a:t>.</a:t>
            </a:r>
            <a:endParaRPr lang="en-US" sz="2400" dirty="0"/>
          </a:p>
        </p:txBody>
      </p:sp>
      <p:sp>
        <p:nvSpPr>
          <p:cNvPr id="12" name="rev_5_caja"/>
          <p:cNvSpPr/>
          <p:nvPr/>
        </p:nvSpPr>
        <p:spPr>
          <a:xfrm>
            <a:off x="6702552" y="2724912"/>
            <a:ext cx="4937760" cy="521208"/>
          </a:xfrm>
          <a:prstGeom prst="roundRect">
            <a:avLst>
              <a:gd name="adj" fmla="val 21053"/>
            </a:avLst>
          </a:prstGeom>
          <a:solidFill>
            <a:srgbClr val="4236F6"/>
          </a:solidFill>
          <a:ln w="12700">
            <a:solidFill>
              <a:srgbClr val="4236F6"/>
            </a:solidFill>
            <a:prstDash val="solid"/>
          </a:ln>
        </p:spPr>
      </p:sp>
      <p:sp>
        <p:nvSpPr>
          <p:cNvPr id="13" name="rev_5_txt"/>
          <p:cNvSpPr txBox="1"/>
          <p:nvPr/>
        </p:nvSpPr>
        <p:spPr>
          <a:xfrm>
            <a:off x="6793992" y="2724912"/>
            <a:ext cx="4754880" cy="52120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2 · 제 취미는 요리예요</a:t>
            </a:r>
            <a:r>
              <a:rPr lang="en-US" sz="2200" b="1" dirty="0">
                <a:solidFill>
                  <a:srgbClr val="FFFFFF"/>
                </a:solidFill>
              </a:rPr>
              <a:t>.</a:t>
            </a:r>
            <a:endParaRPr lang="en-US" sz="2200" dirty="0"/>
          </a:p>
        </p:txBody>
      </p:sp>
      <p:sp>
        <p:nvSpPr>
          <p:cNvPr id="14" name="num_2"/>
          <p:cNvSpPr/>
          <p:nvPr/>
        </p:nvSpPr>
        <p:spPr>
          <a:xfrm>
            <a:off x="548640" y="3479292"/>
            <a:ext cx="457200" cy="457200"/>
          </a:xfrm>
          <a:prstGeom prst="ellipse">
            <a:avLst/>
          </a:prstGeom>
          <a:solidFill>
            <a:srgbClr val="003478"/>
          </a:solidFill>
          <a:ln w="12700">
            <a:solidFill>
              <a:srgbClr val="003478"/>
            </a:solidFill>
            <a:prstDash val="solid"/>
          </a:ln>
        </p:spPr>
      </p:sp>
      <p:sp>
        <p:nvSpPr>
          <p:cNvPr id="15" name="Text 13"/>
          <p:cNvSpPr txBox="1"/>
          <p:nvPr/>
        </p:nvSpPr>
        <p:spPr>
          <a:xfrm>
            <a:off x="548640" y="3479292"/>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3</a:t>
            </a:r>
            <a:endParaRPr lang="en-US" sz="1600" dirty="0"/>
          </a:p>
        </p:txBody>
      </p:sp>
      <p:sp>
        <p:nvSpPr>
          <p:cNvPr id="16" name="Text 14"/>
          <p:cNvSpPr txBox="1"/>
          <p:nvPr/>
        </p:nvSpPr>
        <p:spPr>
          <a:xfrm>
            <a:off x="1188720" y="3410712"/>
            <a:ext cx="5285232" cy="59436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c) 고향</a:t>
            </a:r>
            <a:r>
              <a:rPr lang="en-US" sz="2400" dirty="0">
                <a:solidFill>
                  <a:srgbClr val="14142B"/>
                </a:solidFill>
              </a:rPr>
              <a:t>___ </a:t>
            </a:r>
            <a:r>
              <a:rPr lang="ko-KR" altLang="en-US" sz="2400" dirty="0">
                <a:solidFill>
                  <a:srgbClr val="14142B"/>
                </a:solidFill>
                <a:latin typeface="Malgun Gothic" pitchFamily="34" charset="0"/>
                <a:ea typeface="Malgun Gothic" pitchFamily="34" charset="-122"/>
                <a:cs typeface="Malgun Gothic" pitchFamily="34" charset="-120"/>
              </a:rPr>
              <a:t>어디예요</a:t>
            </a:r>
            <a:r>
              <a:rPr lang="en-US" sz="2400" dirty="0">
                <a:solidFill>
                  <a:srgbClr val="14142B"/>
                </a:solidFill>
              </a:rPr>
              <a:t>?</a:t>
            </a:r>
            <a:endParaRPr lang="en-US" sz="2400" dirty="0"/>
          </a:p>
        </p:txBody>
      </p:sp>
      <p:sp>
        <p:nvSpPr>
          <p:cNvPr id="17" name="rev_6_caja"/>
          <p:cNvSpPr/>
          <p:nvPr/>
        </p:nvSpPr>
        <p:spPr>
          <a:xfrm>
            <a:off x="6702552" y="3447288"/>
            <a:ext cx="4937760" cy="521208"/>
          </a:xfrm>
          <a:prstGeom prst="roundRect">
            <a:avLst>
              <a:gd name="adj" fmla="val 21053"/>
            </a:avLst>
          </a:prstGeom>
          <a:solidFill>
            <a:srgbClr val="4236F6"/>
          </a:solidFill>
          <a:ln w="12700">
            <a:solidFill>
              <a:srgbClr val="4236F6"/>
            </a:solidFill>
            <a:prstDash val="solid"/>
          </a:ln>
        </p:spPr>
      </p:sp>
      <p:sp>
        <p:nvSpPr>
          <p:cNvPr id="18" name="rev_6_txt"/>
          <p:cNvSpPr txBox="1"/>
          <p:nvPr/>
        </p:nvSpPr>
        <p:spPr>
          <a:xfrm>
            <a:off x="6793992" y="3447288"/>
            <a:ext cx="4754880" cy="52120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1 · 고향이 어디예요</a:t>
            </a:r>
            <a:r>
              <a:rPr lang="en-US" sz="2200" b="1" dirty="0">
                <a:solidFill>
                  <a:srgbClr val="FFFFFF"/>
                </a:solidFill>
              </a:rPr>
              <a:t>?</a:t>
            </a:r>
            <a:endParaRPr lang="en-US" sz="2200" dirty="0"/>
          </a:p>
        </p:txBody>
      </p:sp>
      <p:sp>
        <p:nvSpPr>
          <p:cNvPr id="19" name="num_3"/>
          <p:cNvSpPr/>
          <p:nvPr/>
        </p:nvSpPr>
        <p:spPr>
          <a:xfrm>
            <a:off x="548640" y="4201668"/>
            <a:ext cx="457200" cy="457200"/>
          </a:xfrm>
          <a:prstGeom prst="ellipse">
            <a:avLst/>
          </a:prstGeom>
          <a:solidFill>
            <a:srgbClr val="003478"/>
          </a:solidFill>
          <a:ln w="12700">
            <a:solidFill>
              <a:srgbClr val="003478"/>
            </a:solidFill>
            <a:prstDash val="solid"/>
          </a:ln>
        </p:spPr>
      </p:sp>
      <p:sp>
        <p:nvSpPr>
          <p:cNvPr id="20" name="Text 18"/>
          <p:cNvSpPr txBox="1"/>
          <p:nvPr/>
        </p:nvSpPr>
        <p:spPr>
          <a:xfrm>
            <a:off x="548640" y="4201668"/>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4</a:t>
            </a:r>
            <a:endParaRPr lang="en-US" sz="1600" dirty="0"/>
          </a:p>
        </p:txBody>
      </p:sp>
      <p:sp>
        <p:nvSpPr>
          <p:cNvPr id="21" name="Text 19"/>
          <p:cNvSpPr txBox="1"/>
          <p:nvPr/>
        </p:nvSpPr>
        <p:spPr>
          <a:xfrm>
            <a:off x="1188720" y="4133088"/>
            <a:ext cx="5285232" cy="594360"/>
          </a:xfrm>
          <a:prstGeom prst="rect">
            <a:avLst/>
          </a:prstGeom>
          <a:noFill/>
          <a:ln/>
        </p:spPr>
        <p:txBody>
          <a:bodyPr wrap="square" lIns="0" tIns="0" rIns="0" bIns="0" rtlCol="0" anchor="ctr">
            <a:normAutofit/>
          </a:bodyPr>
          <a:lstStyle/>
          <a:p>
            <a:pPr marL="0" indent="0" eaLnBrk="1">
              <a:buNone/>
            </a:pPr>
            <a:r>
              <a:rPr lang="ko-KR" altLang="en-US" sz="1900" dirty="0">
                <a:solidFill>
                  <a:srgbClr val="14142B"/>
                </a:solidFill>
                <a:latin typeface="Malgun Gothic" pitchFamily="34" charset="0"/>
                <a:ea typeface="Malgun Gothic" pitchFamily="34" charset="-122"/>
                <a:cs typeface="Malgun Gothic" pitchFamily="34" charset="-120"/>
              </a:rPr>
              <a:t>d) 제 고향</a:t>
            </a:r>
            <a:r>
              <a:rPr lang="en-US" sz="1900" dirty="0">
                <a:solidFill>
                  <a:srgbClr val="14142B"/>
                </a:solidFill>
              </a:rPr>
              <a:t>___ </a:t>
            </a:r>
            <a:r>
              <a:rPr lang="ko-KR" altLang="en-US" sz="1900" dirty="0">
                <a:solidFill>
                  <a:srgbClr val="14142B"/>
                </a:solidFill>
                <a:latin typeface="Malgun Gothic" pitchFamily="34" charset="0"/>
                <a:ea typeface="Malgun Gothic" pitchFamily="34" charset="-122"/>
                <a:cs typeface="Malgun Gothic" pitchFamily="34" charset="-120"/>
              </a:rPr>
              <a:t>부산이에요</a:t>
            </a:r>
            <a:r>
              <a:rPr lang="en-US" sz="1900" dirty="0">
                <a:solidFill>
                  <a:srgbClr val="14142B"/>
                </a:solidFill>
              </a:rPr>
              <a:t>. </a:t>
            </a:r>
            <a:r>
              <a:rPr lang="ko-KR" altLang="en-US" sz="1900" dirty="0">
                <a:solidFill>
                  <a:srgbClr val="14142B"/>
                </a:solidFill>
                <a:latin typeface="Malgun Gothic" pitchFamily="34" charset="0"/>
                <a:ea typeface="Malgun Gothic" pitchFamily="34" charset="-122"/>
                <a:cs typeface="Malgun Gothic" pitchFamily="34" charset="-120"/>
              </a:rPr>
              <a:t>지금</a:t>
            </a:r>
            <a:r>
              <a:rPr lang="en-US" sz="1900" dirty="0">
                <a:solidFill>
                  <a:srgbClr val="14142B"/>
                </a:solidFill>
              </a:rPr>
              <a:t>___ </a:t>
            </a:r>
            <a:r>
              <a:rPr lang="ko-KR" altLang="en-US" sz="1900" dirty="0">
                <a:solidFill>
                  <a:srgbClr val="14142B"/>
                </a:solidFill>
                <a:latin typeface="Malgun Gothic" pitchFamily="34" charset="0"/>
                <a:ea typeface="Malgun Gothic" pitchFamily="34" charset="-122"/>
                <a:cs typeface="Malgun Gothic" pitchFamily="34" charset="-120"/>
              </a:rPr>
              <a:t>서울에 살아요</a:t>
            </a:r>
            <a:r>
              <a:rPr lang="en-US" sz="1900" dirty="0">
                <a:solidFill>
                  <a:srgbClr val="14142B"/>
                </a:solidFill>
              </a:rPr>
              <a:t>.</a:t>
            </a:r>
            <a:endParaRPr lang="en-US" sz="1900" dirty="0"/>
          </a:p>
        </p:txBody>
      </p:sp>
      <p:sp>
        <p:nvSpPr>
          <p:cNvPr id="22" name="rev_7_caja"/>
          <p:cNvSpPr/>
          <p:nvPr/>
        </p:nvSpPr>
        <p:spPr>
          <a:xfrm>
            <a:off x="6702552" y="4169664"/>
            <a:ext cx="4937760" cy="521208"/>
          </a:xfrm>
          <a:prstGeom prst="roundRect">
            <a:avLst>
              <a:gd name="adj" fmla="val 21053"/>
            </a:avLst>
          </a:prstGeom>
          <a:solidFill>
            <a:srgbClr val="4236F6"/>
          </a:solidFill>
          <a:ln w="12700">
            <a:solidFill>
              <a:srgbClr val="4236F6"/>
            </a:solidFill>
            <a:prstDash val="solid"/>
          </a:ln>
        </p:spPr>
      </p:sp>
      <p:sp>
        <p:nvSpPr>
          <p:cNvPr id="23" name="rev_7_txt"/>
          <p:cNvSpPr txBox="1"/>
          <p:nvPr/>
        </p:nvSpPr>
        <p:spPr>
          <a:xfrm>
            <a:off x="6793992" y="4169664"/>
            <a:ext cx="4754880" cy="521208"/>
          </a:xfrm>
          <a:prstGeom prst="rect">
            <a:avLst/>
          </a:prstGeom>
          <a:noFill/>
          <a:ln/>
        </p:spPr>
        <p:txBody>
          <a:bodyPr wrap="square" lIns="0" tIns="0" rIns="0" bIns="0" rtlCol="0" anchor="ctr">
            <a:normAutofit/>
          </a:bodyPr>
          <a:lstStyle/>
          <a:p>
            <a:pPr marL="0" indent="0" algn="ctr" eaLnBrk="1">
              <a:buNone/>
            </a:pPr>
            <a:r>
              <a:rPr lang="ko-KR" altLang="en-US" sz="1500" b="1" dirty="0">
                <a:solidFill>
                  <a:srgbClr val="FFFFFF"/>
                </a:solidFill>
                <a:latin typeface="Malgun Gothic" pitchFamily="34" charset="0"/>
                <a:ea typeface="Malgun Gothic" pitchFamily="34" charset="-122"/>
                <a:cs typeface="Malgun Gothic" pitchFamily="34" charset="-120"/>
              </a:rPr>
              <a:t>2 y 2 · 제 고향은 부산이에요</a:t>
            </a:r>
            <a:r>
              <a:rPr lang="en-US" sz="1500" b="1" dirty="0">
                <a:solidFill>
                  <a:srgbClr val="FFFFFF"/>
                </a:solidFill>
              </a:rPr>
              <a:t>. </a:t>
            </a:r>
            <a:r>
              <a:rPr lang="ko-KR" altLang="en-US" sz="1500" b="1" dirty="0">
                <a:solidFill>
                  <a:srgbClr val="FFFFFF"/>
                </a:solidFill>
                <a:latin typeface="Malgun Gothic" pitchFamily="34" charset="0"/>
                <a:ea typeface="Malgun Gothic" pitchFamily="34" charset="-122"/>
                <a:cs typeface="Malgun Gothic" pitchFamily="34" charset="-120"/>
              </a:rPr>
              <a:t>지금은 서울에 살아요</a:t>
            </a:r>
            <a:r>
              <a:rPr lang="en-US" sz="1500" b="1" dirty="0">
                <a:solidFill>
                  <a:srgbClr val="FFFFFF"/>
                </a:solidFill>
              </a:rPr>
              <a:t>.</a:t>
            </a:r>
            <a:endParaRPr lang="en-US" sz="1500" dirty="0"/>
          </a:p>
        </p:txBody>
      </p:sp>
      <p:sp>
        <p:nvSpPr>
          <p:cNvPr id="24" name="num_4"/>
          <p:cNvSpPr/>
          <p:nvPr/>
        </p:nvSpPr>
        <p:spPr>
          <a:xfrm>
            <a:off x="548640" y="4924044"/>
            <a:ext cx="457200" cy="457200"/>
          </a:xfrm>
          <a:prstGeom prst="ellipse">
            <a:avLst/>
          </a:prstGeom>
          <a:solidFill>
            <a:srgbClr val="003478"/>
          </a:solidFill>
          <a:ln w="12700">
            <a:solidFill>
              <a:srgbClr val="003478"/>
            </a:solidFill>
            <a:prstDash val="solid"/>
          </a:ln>
        </p:spPr>
      </p:sp>
      <p:sp>
        <p:nvSpPr>
          <p:cNvPr id="25" name="Text 23"/>
          <p:cNvSpPr txBox="1"/>
          <p:nvPr/>
        </p:nvSpPr>
        <p:spPr>
          <a:xfrm>
            <a:off x="548640" y="4924044"/>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5</a:t>
            </a:r>
            <a:endParaRPr lang="en-US" sz="1600" dirty="0"/>
          </a:p>
        </p:txBody>
      </p:sp>
      <p:sp>
        <p:nvSpPr>
          <p:cNvPr id="26" name="Text 24"/>
          <p:cNvSpPr txBox="1"/>
          <p:nvPr/>
        </p:nvSpPr>
        <p:spPr>
          <a:xfrm>
            <a:off x="1188720" y="4855464"/>
            <a:ext cx="5285232" cy="59436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e) 누</a:t>
            </a:r>
            <a:r>
              <a:rPr lang="en-US" sz="2400" dirty="0">
                <a:solidFill>
                  <a:srgbClr val="14142B"/>
                </a:solidFill>
              </a:rPr>
              <a:t>___ </a:t>
            </a:r>
            <a:r>
              <a:rPr lang="ko-KR" altLang="en-US" sz="2400" dirty="0">
                <a:solidFill>
                  <a:srgbClr val="14142B"/>
                </a:solidFill>
                <a:latin typeface="Malgun Gothic" pitchFamily="34" charset="0"/>
                <a:ea typeface="Malgun Gothic" pitchFamily="34" charset="-122"/>
                <a:cs typeface="Malgun Gothic" pitchFamily="34" charset="-120"/>
              </a:rPr>
              <a:t>대학생이에요</a:t>
            </a:r>
            <a:r>
              <a:rPr lang="en-US" sz="2400" dirty="0">
                <a:solidFill>
                  <a:srgbClr val="14142B"/>
                </a:solidFill>
              </a:rPr>
              <a:t>?</a:t>
            </a:r>
            <a:endParaRPr lang="en-US" sz="2400" dirty="0"/>
          </a:p>
        </p:txBody>
      </p:sp>
      <p:sp>
        <p:nvSpPr>
          <p:cNvPr id="27" name="rev_8_caja"/>
          <p:cNvSpPr/>
          <p:nvPr/>
        </p:nvSpPr>
        <p:spPr>
          <a:xfrm>
            <a:off x="6702552" y="4892040"/>
            <a:ext cx="4937760" cy="521208"/>
          </a:xfrm>
          <a:prstGeom prst="roundRect">
            <a:avLst>
              <a:gd name="adj" fmla="val 21053"/>
            </a:avLst>
          </a:prstGeom>
          <a:solidFill>
            <a:srgbClr val="4236F6"/>
          </a:solidFill>
          <a:ln w="12700">
            <a:solidFill>
              <a:srgbClr val="4236F6"/>
            </a:solidFill>
            <a:prstDash val="solid"/>
          </a:ln>
        </p:spPr>
      </p:sp>
      <p:sp>
        <p:nvSpPr>
          <p:cNvPr id="28" name="rev_8_txt"/>
          <p:cNvSpPr txBox="1"/>
          <p:nvPr/>
        </p:nvSpPr>
        <p:spPr>
          <a:xfrm>
            <a:off x="6793992" y="4892040"/>
            <a:ext cx="4754880" cy="521208"/>
          </a:xfrm>
          <a:prstGeom prst="rect">
            <a:avLst/>
          </a:prstGeom>
          <a:noFill/>
          <a:ln/>
        </p:spPr>
        <p:txBody>
          <a:bodyPr wrap="square" lIns="0" tIns="0" rIns="0" bIns="0" rtlCol="0" anchor="ctr">
            <a:normAutofit/>
          </a:bodyPr>
          <a:lstStyle/>
          <a:p>
            <a:pPr marL="0" indent="0" algn="ctr" eaLnBrk="1">
              <a:buNone/>
            </a:pPr>
            <a:r>
              <a:rPr lang="ko-KR" altLang="en-US" sz="1800" b="1" dirty="0">
                <a:solidFill>
                  <a:srgbClr val="FFFFFF"/>
                </a:solidFill>
                <a:latin typeface="Malgun Gothic" pitchFamily="34" charset="0"/>
                <a:ea typeface="Malgun Gothic" pitchFamily="34" charset="-122"/>
                <a:cs typeface="Malgun Gothic" pitchFamily="34" charset="-120"/>
              </a:rPr>
              <a:t>1 · 누가 대학생이에요</a:t>
            </a:r>
            <a:r>
              <a:rPr lang="en-US" sz="1800" b="1" dirty="0">
                <a:solidFill>
                  <a:srgbClr val="FFFFFF"/>
                </a:solidFill>
              </a:rPr>
              <a:t>? (nunca </a:t>
            </a:r>
            <a:r>
              <a:rPr lang="ko-KR" altLang="en-US" sz="1800" b="1" dirty="0">
                <a:solidFill>
                  <a:srgbClr val="FFFFFF"/>
                </a:solidFill>
                <a:latin typeface="Malgun Gothic" pitchFamily="34" charset="0"/>
                <a:ea typeface="Malgun Gothic" pitchFamily="34" charset="-122"/>
                <a:cs typeface="Malgun Gothic" pitchFamily="34" charset="-120"/>
              </a:rPr>
              <a:t>누구가</a:t>
            </a:r>
            <a:r>
              <a:rPr lang="en-US" sz="1800" b="1" dirty="0">
                <a:solidFill>
                  <a:srgbClr val="FFFFFF"/>
                </a:solidFill>
              </a:rPr>
              <a:t>)</a:t>
            </a:r>
            <a:endParaRPr lang="en-US" sz="1800" dirty="0"/>
          </a:p>
        </p:txBody>
      </p:sp>
      <p:sp>
        <p:nvSpPr>
          <p:cNvPr id="29" name="num_5"/>
          <p:cNvSpPr/>
          <p:nvPr/>
        </p:nvSpPr>
        <p:spPr>
          <a:xfrm>
            <a:off x="548640" y="5646420"/>
            <a:ext cx="457200" cy="457200"/>
          </a:xfrm>
          <a:prstGeom prst="ellipse">
            <a:avLst/>
          </a:prstGeom>
          <a:solidFill>
            <a:srgbClr val="003478"/>
          </a:solidFill>
          <a:ln w="12700">
            <a:solidFill>
              <a:srgbClr val="003478"/>
            </a:solidFill>
            <a:prstDash val="solid"/>
          </a:ln>
        </p:spPr>
      </p:sp>
      <p:sp>
        <p:nvSpPr>
          <p:cNvPr id="30" name="Text 28"/>
          <p:cNvSpPr txBox="1"/>
          <p:nvPr/>
        </p:nvSpPr>
        <p:spPr>
          <a:xfrm>
            <a:off x="548640" y="5646420"/>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6</a:t>
            </a:r>
            <a:endParaRPr lang="en-US" sz="1600" dirty="0"/>
          </a:p>
        </p:txBody>
      </p:sp>
      <p:sp>
        <p:nvSpPr>
          <p:cNvPr id="31" name="Text 29"/>
          <p:cNvSpPr txBox="1"/>
          <p:nvPr/>
        </p:nvSpPr>
        <p:spPr>
          <a:xfrm>
            <a:off x="1188720" y="5577840"/>
            <a:ext cx="5285232" cy="59436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f) 강아지</a:t>
            </a:r>
            <a:r>
              <a:rPr lang="en-US" sz="2400" dirty="0">
                <a:solidFill>
                  <a:srgbClr val="14142B"/>
                </a:solidFill>
              </a:rPr>
              <a:t>___ </a:t>
            </a:r>
            <a:r>
              <a:rPr lang="ko-KR" altLang="en-US" sz="2400" dirty="0">
                <a:solidFill>
                  <a:srgbClr val="14142B"/>
                </a:solidFill>
                <a:latin typeface="Malgun Gothic" pitchFamily="34" charset="0"/>
                <a:ea typeface="Malgun Gothic" pitchFamily="34" charset="-122"/>
                <a:cs typeface="Malgun Gothic" pitchFamily="34" charset="-120"/>
              </a:rPr>
              <a:t>있어요</a:t>
            </a:r>
            <a:r>
              <a:rPr lang="en-US" sz="2400" dirty="0">
                <a:solidFill>
                  <a:srgbClr val="14142B"/>
                </a:solidFill>
              </a:rPr>
              <a:t>?</a:t>
            </a:r>
            <a:endParaRPr lang="en-US" sz="2400" dirty="0"/>
          </a:p>
        </p:txBody>
      </p:sp>
      <p:sp>
        <p:nvSpPr>
          <p:cNvPr id="32" name="rev_9_caja"/>
          <p:cNvSpPr/>
          <p:nvPr/>
        </p:nvSpPr>
        <p:spPr>
          <a:xfrm>
            <a:off x="6702552" y="5614416"/>
            <a:ext cx="4937760" cy="521208"/>
          </a:xfrm>
          <a:prstGeom prst="roundRect">
            <a:avLst>
              <a:gd name="adj" fmla="val 21053"/>
            </a:avLst>
          </a:prstGeom>
          <a:solidFill>
            <a:srgbClr val="4236F6"/>
          </a:solidFill>
          <a:ln w="12700">
            <a:solidFill>
              <a:srgbClr val="4236F6"/>
            </a:solidFill>
            <a:prstDash val="solid"/>
          </a:ln>
        </p:spPr>
      </p:sp>
      <p:sp>
        <p:nvSpPr>
          <p:cNvPr id="33" name="rev_9_txt"/>
          <p:cNvSpPr txBox="1"/>
          <p:nvPr/>
        </p:nvSpPr>
        <p:spPr>
          <a:xfrm>
            <a:off x="6793992" y="5614416"/>
            <a:ext cx="4754880" cy="52120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1 · 강아지가 있어요</a:t>
            </a:r>
            <a:r>
              <a:rPr lang="en-US" sz="2200" b="1" dirty="0">
                <a:solidFill>
                  <a:srgbClr val="FFFFFF"/>
                </a:solidFill>
              </a:rPr>
              <a:t>?</a:t>
            </a:r>
            <a:endParaRPr lang="en-US" sz="2200" dirty="0"/>
          </a:p>
        </p:txBody>
      </p:sp>
      <p:sp>
        <p:nvSpPr>
          <p:cNvPr id="34"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animBg="1"/>
      <p:bldP spid="18" grpId="0" animBg="1"/>
      <p:bldP spid="23" grpId="0" animBg="1"/>
      <p:bldP spid="28" grpId="0" animBg="1"/>
      <p:bldP spid="3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2200" b="1" dirty="0">
                <a:solidFill>
                  <a:srgbClr val="4236F6"/>
                </a:solidFill>
                <a:latin typeface="Malgun Gothic" pitchFamily="34" charset="0"/>
                <a:ea typeface="Malgun Gothic" pitchFamily="34" charset="-122"/>
                <a:cs typeface="Malgun Gothic" pitchFamily="34" charset="-120"/>
              </a:rPr>
              <a:t>있어요 </a:t>
            </a:r>
            <a:r>
              <a:rPr lang="en-US" sz="2200" b="1" dirty="0">
                <a:solidFill>
                  <a:srgbClr val="4236F6"/>
                </a:solidFill>
              </a:rPr>
              <a:t>· </a:t>
            </a:r>
            <a:r>
              <a:rPr lang="ko-KR" altLang="en-US" sz="2200" b="1" dirty="0">
                <a:solidFill>
                  <a:srgbClr val="4236F6"/>
                </a:solidFill>
                <a:latin typeface="Malgun Gothic" pitchFamily="34" charset="0"/>
                <a:ea typeface="Malgun Gothic" pitchFamily="34" charset="-122"/>
                <a:cs typeface="Malgun Gothic" pitchFamily="34" charset="-120"/>
              </a:rPr>
              <a:t>없어요 </a:t>
            </a:r>
            <a:r>
              <a:rPr lang="en-US" sz="2200" b="1" dirty="0">
                <a:solidFill>
                  <a:srgbClr val="4236F6"/>
                </a:solidFill>
              </a:rPr>
              <a:t>· </a:t>
            </a:r>
            <a:r>
              <a:rPr lang="ko-KR" altLang="en-US" sz="2200" b="1" dirty="0">
                <a:solidFill>
                  <a:srgbClr val="4236F6"/>
                </a:solidFill>
                <a:latin typeface="Malgun Gothic" pitchFamily="34" charset="0"/>
                <a:ea typeface="Malgun Gothic" pitchFamily="34" charset="-122"/>
                <a:cs typeface="Malgun Gothic" pitchFamily="34" charset="-120"/>
              </a:rPr>
              <a:t>누가  </a:t>
            </a:r>
            <a:r>
              <a:rPr lang="ko-KR" altLang="en-US" sz="2200" b="1" dirty="0">
                <a:solidFill>
                  <a:srgbClr val="003478"/>
                </a:solidFill>
                <a:latin typeface="Malgun Gothic" pitchFamily="34" charset="0"/>
                <a:ea typeface="Malgun Gothic" pitchFamily="34" charset="-122"/>
                <a:cs typeface="Malgun Gothic" pitchFamily="34" charset="-120"/>
              </a:rPr>
              <a:t>'Tener' = 'hay' · 누가</a:t>
            </a:r>
            <a:r>
              <a:rPr lang="en-US" sz="1500" b="1" i="1" dirty="0">
                <a:solidFill>
                  <a:srgbClr val="8A8DA0"/>
                </a:solidFill>
              </a:rPr>
              <a:t>   'To have' = 'there is' · who</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Lo que hay o tienes lleva 이</a:t>
            </a:r>
            <a:r>
              <a:rPr lang="en-US" sz="1800" i="1" dirty="0">
                <a:solidFill>
                  <a:srgbClr val="4236F6"/>
                </a:solidFill>
              </a:rPr>
              <a:t>/</a:t>
            </a:r>
            <a:r>
              <a:rPr lang="ko-KR" altLang="en-US" sz="1800" i="1" dirty="0">
                <a:solidFill>
                  <a:srgbClr val="4236F6"/>
                </a:solidFill>
                <a:latin typeface="Malgun Gothic" pitchFamily="34" charset="0"/>
                <a:ea typeface="Malgun Gothic" pitchFamily="34" charset="-122"/>
                <a:cs typeface="Malgun Gothic" pitchFamily="34" charset="-120"/>
              </a:rPr>
              <a:t>가</a:t>
            </a:r>
            <a:endParaRPr lang="en-US" sz="1800" dirty="0"/>
          </a:p>
        </p:txBody>
      </p:sp>
      <p:sp>
        <p:nvSpPr>
          <p:cNvPr id="4" name="col_0"/>
          <p:cNvSpPr/>
          <p:nvPr/>
        </p:nvSpPr>
        <p:spPr>
          <a:xfrm>
            <a:off x="548640" y="1874520"/>
            <a:ext cx="5385816" cy="4297680"/>
          </a:xfrm>
          <a:prstGeom prst="roundRect">
            <a:avLst>
              <a:gd name="adj" fmla="val 3191"/>
            </a:avLst>
          </a:prstGeom>
          <a:solidFill>
            <a:srgbClr val="F1F0FE"/>
          </a:solidFill>
          <a:ln w="12700">
            <a:solidFill>
              <a:srgbClr val="D9D7F7"/>
            </a:solidFill>
            <a:prstDash val="solid"/>
          </a:ln>
        </p:spPr>
      </p:sp>
      <p:sp>
        <p:nvSpPr>
          <p:cNvPr id="5" name="Text 3"/>
          <p:cNvSpPr txBox="1"/>
          <p:nvPr/>
        </p:nvSpPr>
        <p:spPr>
          <a:xfrm>
            <a:off x="777240" y="2057400"/>
            <a:ext cx="4928616" cy="548640"/>
          </a:xfrm>
          <a:prstGeom prst="rect">
            <a:avLst/>
          </a:prstGeom>
          <a:noFill/>
          <a:ln/>
        </p:spPr>
        <p:txBody>
          <a:bodyPr wrap="square" lIns="0" tIns="0" rIns="0" bIns="0" rtlCol="0" anchor="t">
            <a:normAutofit/>
          </a:bodyPr>
          <a:lstStyle/>
          <a:p>
            <a:pPr marL="0" indent="0" eaLnBrk="1">
              <a:buNone/>
            </a:pPr>
            <a:r>
              <a:rPr lang="en-US" sz="2000" b="1" dirty="0">
                <a:solidFill>
                  <a:srgbClr val="003478"/>
                </a:solidFill>
              </a:rPr>
              <a:t>Tener = hay</a:t>
            </a:r>
            <a:endParaRPr lang="en-US" sz="2000" dirty="0"/>
          </a:p>
        </p:txBody>
      </p:sp>
      <p:pic>
        <p:nvPicPr>
          <p:cNvPr id="6" name="col_img_0" descr="C:\Users\Chingu\AppData\Local\Temp\claude\C--Users-Chingu-Desktop-ACADEMIASEULWEB\d4111e1b-5523-44ea-97b2-b1a1d9545b9e\scratchpad\decks\cache\img_35cbeaf9e0f86c7d.png"/>
          <p:cNvPicPr>
            <a:picLocks noChangeAspect="1"/>
          </p:cNvPicPr>
          <p:nvPr/>
        </p:nvPicPr>
        <p:blipFill>
          <a:blip r:embed="rId3"/>
          <a:stretch>
            <a:fillRect/>
          </a:stretch>
        </p:blipFill>
        <p:spPr>
          <a:xfrm>
            <a:off x="2487168" y="2651760"/>
            <a:ext cx="1508760" cy="685800"/>
          </a:xfrm>
          <a:prstGeom prst="rect">
            <a:avLst/>
          </a:prstGeom>
        </p:spPr>
      </p:pic>
      <p:sp>
        <p:nvSpPr>
          <p:cNvPr id="7" name="Text 4"/>
          <p:cNvSpPr txBox="1"/>
          <p:nvPr/>
        </p:nvSpPr>
        <p:spPr>
          <a:xfrm>
            <a:off x="777240" y="3429000"/>
            <a:ext cx="4928616" cy="914400"/>
          </a:xfrm>
          <a:prstGeom prst="rect">
            <a:avLst/>
          </a:prstGeom>
          <a:noFill/>
          <a:ln/>
        </p:spPr>
        <p:txBody>
          <a:bodyPr wrap="square" lIns="0" tIns="0" rIns="0" bIns="0" rtlCol="0" anchor="ctr">
            <a:normAutofit/>
          </a:bodyPr>
          <a:lstStyle/>
          <a:p>
            <a:pPr marL="0" indent="0" eaLnBrk="1">
              <a:buNone/>
            </a:pPr>
            <a:r>
              <a:rPr lang="ko-KR" altLang="en-US" sz="4800" b="1" dirty="0">
                <a:solidFill>
                  <a:srgbClr val="4236F6"/>
                </a:solidFill>
                <a:latin typeface="Malgun Gothic" pitchFamily="34" charset="0"/>
                <a:ea typeface="Malgun Gothic" pitchFamily="34" charset="-122"/>
                <a:cs typeface="Malgun Gothic" pitchFamily="34" charset="-120"/>
              </a:rPr>
              <a:t>있어요 </a:t>
            </a:r>
            <a:r>
              <a:rPr lang="en-US" sz="4800" b="1" dirty="0">
                <a:solidFill>
                  <a:srgbClr val="4236F6"/>
                </a:solidFill>
              </a:rPr>
              <a:t>/ </a:t>
            </a:r>
            <a:r>
              <a:rPr lang="ko-KR" altLang="en-US" sz="4800" b="1" dirty="0">
                <a:solidFill>
                  <a:srgbClr val="4236F6"/>
                </a:solidFill>
                <a:latin typeface="Malgun Gothic" pitchFamily="34" charset="0"/>
                <a:ea typeface="Malgun Gothic" pitchFamily="34" charset="-122"/>
                <a:cs typeface="Malgun Gothic" pitchFamily="34" charset="-120"/>
              </a:rPr>
              <a:t>없어요</a:t>
            </a:r>
            <a:endParaRPr lang="en-US" sz="4800" dirty="0"/>
          </a:p>
        </p:txBody>
      </p:sp>
      <p:sp>
        <p:nvSpPr>
          <p:cNvPr id="8" name="lista"/>
          <p:cNvSpPr txBox="1"/>
          <p:nvPr/>
        </p:nvSpPr>
        <p:spPr>
          <a:xfrm>
            <a:off x="731520" y="4434840"/>
            <a:ext cx="5020056" cy="160020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1400" dirty="0">
                <a:solidFill>
                  <a:srgbClr val="14142B"/>
                </a:solidFill>
                <a:latin typeface="Malgun Gothic" pitchFamily="34" charset="0"/>
                <a:ea typeface="Malgun Gothic" pitchFamily="34" charset="-122"/>
                <a:cs typeface="Malgun Gothic" pitchFamily="34" charset="-120"/>
              </a:rPr>
              <a:t>형제가 있어요</a:t>
            </a:r>
            <a:r>
              <a:rPr lang="en-US" sz="1400" dirty="0">
                <a:solidFill>
                  <a:srgbClr val="14142B"/>
                </a:solidFill>
              </a:rPr>
              <a:t>?</a:t>
            </a:r>
            <a:endParaRPr lang="en-US" sz="1400" dirty="0"/>
          </a:p>
          <a:p>
            <a:pPr marL="228600" indent="-228600" eaLnBrk="1">
              <a:spcAft>
                <a:spcPts val="800"/>
              </a:spcAft>
              <a:buSzPct val="100000"/>
              <a:buChar char="•"/>
            </a:pPr>
            <a:r>
              <a:rPr lang="ko-KR" altLang="en-US" sz="1400" dirty="0">
                <a:solidFill>
                  <a:srgbClr val="14142B"/>
                </a:solidFill>
                <a:latin typeface="Malgun Gothic" pitchFamily="34" charset="0"/>
                <a:ea typeface="Malgun Gothic" pitchFamily="34" charset="-122"/>
                <a:cs typeface="Malgun Gothic" pitchFamily="34" charset="-120"/>
              </a:rPr>
              <a:t>네</a:t>
            </a:r>
            <a:r>
              <a:rPr lang="en-US" sz="1400" dirty="0">
                <a:solidFill>
                  <a:srgbClr val="14142B"/>
                </a:solidFill>
              </a:rPr>
              <a:t>, </a:t>
            </a:r>
            <a:r>
              <a:rPr lang="ko-KR" altLang="en-US" sz="1400" dirty="0">
                <a:solidFill>
                  <a:srgbClr val="14142B"/>
                </a:solidFill>
                <a:latin typeface="Malgun Gothic" pitchFamily="34" charset="0"/>
                <a:ea typeface="Malgun Gothic" pitchFamily="34" charset="-122"/>
                <a:cs typeface="Malgun Gothic" pitchFamily="34" charset="-120"/>
              </a:rPr>
              <a:t>오빠가 한 명 있어요</a:t>
            </a:r>
            <a:r>
              <a:rPr lang="en-US" sz="1400" dirty="0">
                <a:solidFill>
                  <a:srgbClr val="14142B"/>
                </a:solidFill>
              </a:rPr>
              <a:t>.</a:t>
            </a:r>
            <a:endParaRPr lang="en-US" sz="1400" dirty="0"/>
          </a:p>
          <a:p>
            <a:pPr marL="228600" indent="-228600" eaLnBrk="1">
              <a:spcAft>
                <a:spcPts val="800"/>
              </a:spcAft>
              <a:buSzPct val="100000"/>
              <a:buChar char="•"/>
            </a:pPr>
            <a:r>
              <a:rPr lang="ko-KR" altLang="en-US" sz="1400" dirty="0">
                <a:solidFill>
                  <a:srgbClr val="14142B"/>
                </a:solidFill>
                <a:latin typeface="Malgun Gothic" pitchFamily="34" charset="0"/>
                <a:ea typeface="Malgun Gothic" pitchFamily="34" charset="-122"/>
                <a:cs typeface="Malgun Gothic" pitchFamily="34" charset="-120"/>
              </a:rPr>
              <a:t>아니요</a:t>
            </a:r>
            <a:r>
              <a:rPr lang="en-US" sz="1400" dirty="0">
                <a:solidFill>
                  <a:srgbClr val="14142B"/>
                </a:solidFill>
              </a:rPr>
              <a:t>, </a:t>
            </a:r>
            <a:r>
              <a:rPr lang="ko-KR" altLang="en-US" sz="1400" dirty="0">
                <a:solidFill>
                  <a:srgbClr val="14142B"/>
                </a:solidFill>
                <a:latin typeface="Malgun Gothic" pitchFamily="34" charset="0"/>
                <a:ea typeface="Malgun Gothic" pitchFamily="34" charset="-122"/>
                <a:cs typeface="Malgun Gothic" pitchFamily="34" charset="-120"/>
              </a:rPr>
              <a:t>없어요</a:t>
            </a:r>
            <a:r>
              <a:rPr lang="en-US" sz="1400" dirty="0">
                <a:solidFill>
                  <a:srgbClr val="14142B"/>
                </a:solidFill>
              </a:rPr>
              <a:t>. </a:t>
            </a:r>
            <a:r>
              <a:rPr lang="ko-KR" altLang="en-US" sz="1400" dirty="0">
                <a:solidFill>
                  <a:srgbClr val="14142B"/>
                </a:solidFill>
                <a:latin typeface="Malgun Gothic" pitchFamily="34" charset="0"/>
                <a:ea typeface="Malgun Gothic" pitchFamily="34" charset="-122"/>
                <a:cs typeface="Malgun Gothic" pitchFamily="34" charset="-120"/>
              </a:rPr>
              <a:t>외동이에요</a:t>
            </a:r>
            <a:r>
              <a:rPr lang="en-US" sz="1400" dirty="0">
                <a:solidFill>
                  <a:srgbClr val="14142B"/>
                </a:solidFill>
              </a:rPr>
              <a:t>.</a:t>
            </a:r>
            <a:endParaRPr lang="en-US" sz="1400" dirty="0"/>
          </a:p>
          <a:p>
            <a:pPr marL="228600" indent="-228600" eaLnBrk="1">
              <a:spcAft>
                <a:spcPts val="800"/>
              </a:spcAft>
              <a:buSzPct val="100000"/>
              <a:buChar char="•"/>
            </a:pPr>
            <a:r>
              <a:rPr lang="ko-KR" altLang="en-US" sz="1400" dirty="0">
                <a:solidFill>
                  <a:srgbClr val="14142B"/>
                </a:solidFill>
                <a:latin typeface="Malgun Gothic" pitchFamily="34" charset="0"/>
                <a:ea typeface="Malgun Gothic" pitchFamily="34" charset="-122"/>
                <a:cs typeface="Malgun Gothic" pitchFamily="34" charset="-120"/>
              </a:rPr>
              <a:t>저는 형제가 없어요</a:t>
            </a:r>
            <a:r>
              <a:rPr lang="en-US" sz="1400" dirty="0">
                <a:solidFill>
                  <a:srgbClr val="14142B"/>
                </a:solidFill>
              </a:rPr>
              <a:t>.</a:t>
            </a:r>
            <a:endParaRPr lang="en-US" sz="1400" dirty="0"/>
          </a:p>
          <a:p>
            <a:pPr marL="228600" indent="-228600" eaLnBrk="1">
              <a:spcAft>
                <a:spcPts val="800"/>
              </a:spcAft>
              <a:buSzPct val="100000"/>
              <a:buChar char="•"/>
            </a:pPr>
            <a:r>
              <a:rPr lang="ko-KR" altLang="en-US" sz="1400" dirty="0">
                <a:solidFill>
                  <a:srgbClr val="14142B"/>
                </a:solidFill>
                <a:latin typeface="Malgun Gothic" pitchFamily="34" charset="0"/>
                <a:ea typeface="Malgun Gothic" pitchFamily="34" charset="-122"/>
                <a:cs typeface="Malgun Gothic" pitchFamily="34" charset="-120"/>
              </a:rPr>
              <a:t>No tener: 없어요 </a:t>
            </a:r>
            <a:r>
              <a:rPr lang="en-US" sz="1400" dirty="0">
                <a:solidFill>
                  <a:srgbClr val="14142B"/>
                </a:solidFill>
              </a:rPr>
              <a:t>(nunca </a:t>
            </a:r>
            <a:r>
              <a:rPr lang="ko-KR" altLang="en-US" sz="1400" dirty="0">
                <a:solidFill>
                  <a:srgbClr val="14142B"/>
                </a:solidFill>
                <a:latin typeface="Malgun Gothic" pitchFamily="34" charset="0"/>
                <a:ea typeface="Malgun Gothic" pitchFamily="34" charset="-122"/>
                <a:cs typeface="Malgun Gothic" pitchFamily="34" charset="-120"/>
              </a:rPr>
              <a:t>안 있어요</a:t>
            </a:r>
            <a:r>
              <a:rPr lang="en-US" sz="1400" dirty="0">
                <a:solidFill>
                  <a:srgbClr val="14142B"/>
                </a:solidFill>
              </a:rPr>
              <a:t>)</a:t>
            </a:r>
            <a:endParaRPr lang="en-US" sz="1400" dirty="0"/>
          </a:p>
        </p:txBody>
      </p:sp>
      <p:sp>
        <p:nvSpPr>
          <p:cNvPr id="9" name="col_1"/>
          <p:cNvSpPr/>
          <p:nvPr/>
        </p:nvSpPr>
        <p:spPr>
          <a:xfrm>
            <a:off x="6254496" y="1874520"/>
            <a:ext cx="5385816" cy="4297680"/>
          </a:xfrm>
          <a:prstGeom prst="roundRect">
            <a:avLst>
              <a:gd name="adj" fmla="val 3191"/>
            </a:avLst>
          </a:prstGeom>
          <a:solidFill>
            <a:srgbClr val="FFFFFF"/>
          </a:solidFill>
          <a:ln w="12700">
            <a:solidFill>
              <a:srgbClr val="D9D7F7"/>
            </a:solidFill>
            <a:prstDash val="solid"/>
          </a:ln>
        </p:spPr>
      </p:sp>
      <p:sp>
        <p:nvSpPr>
          <p:cNvPr id="10" name="Text 7"/>
          <p:cNvSpPr txBox="1"/>
          <p:nvPr/>
        </p:nvSpPr>
        <p:spPr>
          <a:xfrm>
            <a:off x="6483096" y="2057400"/>
            <a:ext cx="4928616" cy="548640"/>
          </a:xfrm>
          <a:prstGeom prst="rect">
            <a:avLst/>
          </a:prstGeom>
          <a:noFill/>
          <a:ln/>
        </p:spPr>
        <p:txBody>
          <a:bodyPr wrap="square" lIns="0" tIns="0" rIns="0" bIns="0" rtlCol="0" anchor="t">
            <a:normAutofit/>
          </a:bodyPr>
          <a:lstStyle/>
          <a:p>
            <a:pPr marL="0" indent="0" eaLnBrk="1">
              <a:buNone/>
            </a:pPr>
            <a:r>
              <a:rPr lang="en-US" sz="2000" b="1" dirty="0">
                <a:solidFill>
                  <a:srgbClr val="003478"/>
                </a:solidFill>
              </a:rPr>
              <a:t>¿Quién? (sujeto)</a:t>
            </a:r>
            <a:endParaRPr lang="en-US" sz="2000" dirty="0"/>
          </a:p>
        </p:txBody>
      </p:sp>
      <p:pic>
        <p:nvPicPr>
          <p:cNvPr id="11" name="col_img_1" descr="C:\Users\Chingu\AppData\Local\Temp\claude\C--Users-Chingu-Desktop-ACADEMIASEULWEB\d4111e1b-5523-44ea-97b2-b1a1d9545b9e\scratchpad\decks\cache\img_ed9dd9808ebe3120.png"/>
          <p:cNvPicPr>
            <a:picLocks noChangeAspect="1"/>
          </p:cNvPicPr>
          <p:nvPr/>
        </p:nvPicPr>
        <p:blipFill>
          <a:blip r:embed="rId4"/>
          <a:stretch>
            <a:fillRect/>
          </a:stretch>
        </p:blipFill>
        <p:spPr>
          <a:xfrm>
            <a:off x="7790688" y="2651760"/>
            <a:ext cx="2313432" cy="1051560"/>
          </a:xfrm>
          <a:prstGeom prst="rect">
            <a:avLst/>
          </a:prstGeom>
        </p:spPr>
      </p:pic>
      <p:sp>
        <p:nvSpPr>
          <p:cNvPr id="12" name="Text 8"/>
          <p:cNvSpPr txBox="1"/>
          <p:nvPr/>
        </p:nvSpPr>
        <p:spPr>
          <a:xfrm>
            <a:off x="6483096" y="3794760"/>
            <a:ext cx="4928616" cy="914400"/>
          </a:xfrm>
          <a:prstGeom prst="rect">
            <a:avLst/>
          </a:prstGeom>
          <a:noFill/>
          <a:ln/>
        </p:spPr>
        <p:txBody>
          <a:bodyPr wrap="square" lIns="0" tIns="0" rIns="0" bIns="0" rtlCol="0" anchor="ctr">
            <a:normAutofit/>
          </a:bodyPr>
          <a:lstStyle/>
          <a:p>
            <a:pPr marL="0" indent="0" eaLnBrk="1">
              <a:buNone/>
            </a:pPr>
            <a:r>
              <a:rPr lang="ko-KR" altLang="en-US" sz="4700" b="1" dirty="0">
                <a:solidFill>
                  <a:srgbClr val="4236F6"/>
                </a:solidFill>
                <a:latin typeface="Malgun Gothic" pitchFamily="34" charset="0"/>
                <a:ea typeface="Malgun Gothic" pitchFamily="34" charset="-122"/>
                <a:cs typeface="Malgun Gothic" pitchFamily="34" charset="-120"/>
              </a:rPr>
              <a:t>누구 </a:t>
            </a:r>
            <a:r>
              <a:rPr lang="en-US" sz="4700" b="1" dirty="0">
                <a:solidFill>
                  <a:srgbClr val="4236F6"/>
                </a:solidFill>
              </a:rPr>
              <a:t>+ </a:t>
            </a:r>
            <a:r>
              <a:rPr lang="ko-KR" altLang="en-US" sz="4700" b="1" dirty="0">
                <a:solidFill>
                  <a:srgbClr val="4236F6"/>
                </a:solidFill>
                <a:latin typeface="Malgun Gothic" pitchFamily="34" charset="0"/>
                <a:ea typeface="Malgun Gothic" pitchFamily="34" charset="-122"/>
                <a:cs typeface="Malgun Gothic" pitchFamily="34" charset="-120"/>
              </a:rPr>
              <a:t>가 </a:t>
            </a:r>
            <a:r>
              <a:rPr lang="en-US" sz="4700" b="1" dirty="0">
                <a:solidFill>
                  <a:srgbClr val="4236F6"/>
                </a:solidFill>
              </a:rPr>
              <a:t>= </a:t>
            </a:r>
            <a:r>
              <a:rPr lang="ko-KR" altLang="en-US" sz="4700" b="1" dirty="0">
                <a:solidFill>
                  <a:srgbClr val="4236F6"/>
                </a:solidFill>
                <a:latin typeface="Malgun Gothic" pitchFamily="34" charset="0"/>
                <a:ea typeface="Malgun Gothic" pitchFamily="34" charset="-122"/>
                <a:cs typeface="Malgun Gothic" pitchFamily="34" charset="-120"/>
              </a:rPr>
              <a:t>누가</a:t>
            </a:r>
            <a:endParaRPr lang="en-US" sz="4700" dirty="0"/>
          </a:p>
        </p:txBody>
      </p:sp>
      <p:sp>
        <p:nvSpPr>
          <p:cNvPr id="13" name="lista"/>
          <p:cNvSpPr txBox="1"/>
          <p:nvPr/>
        </p:nvSpPr>
        <p:spPr>
          <a:xfrm>
            <a:off x="6437376" y="4800600"/>
            <a:ext cx="5020056" cy="12344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누가 대학생이에요</a:t>
            </a:r>
            <a:r>
              <a:rPr lang="en-US" sz="2000" dirty="0">
                <a:solidFill>
                  <a:srgbClr val="14142B"/>
                </a:solidFill>
              </a:rPr>
              <a:t>?</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다니엘 씨가 대학생이에요</a:t>
            </a:r>
            <a:r>
              <a:rPr lang="en-US" sz="2000" dirty="0">
                <a:solidFill>
                  <a:srgbClr val="14142B"/>
                </a:solidFill>
              </a:rPr>
              <a:t>.</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Si eres tú: 제가요</a:t>
            </a:r>
            <a:r>
              <a:rPr lang="en-US" sz="2000" dirty="0">
                <a:solidFill>
                  <a:srgbClr val="14142B"/>
                </a:solidFill>
              </a:rPr>
              <a:t>!</a:t>
            </a:r>
            <a:endParaRPr lang="en-US" sz="2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2600" b="1" dirty="0">
                <a:solidFill>
                  <a:srgbClr val="4236F6"/>
                </a:solidFill>
                <a:latin typeface="Malgun Gothic" pitchFamily="34" charset="0"/>
                <a:ea typeface="Malgun Gothic" pitchFamily="34" charset="-122"/>
                <a:cs typeface="Malgun Gothic" pitchFamily="34" charset="-120"/>
              </a:rPr>
              <a:t>-아요 </a:t>
            </a:r>
            <a:r>
              <a:rPr lang="en-US" sz="2600" b="1" dirty="0">
                <a:solidFill>
                  <a:srgbClr val="4236F6"/>
                </a:solidFill>
              </a:rPr>
              <a:t>/ -</a:t>
            </a:r>
            <a:r>
              <a:rPr lang="ko-KR" altLang="en-US" sz="2600" b="1" dirty="0">
                <a:solidFill>
                  <a:srgbClr val="4236F6"/>
                </a:solidFill>
                <a:latin typeface="Malgun Gothic" pitchFamily="34" charset="0"/>
                <a:ea typeface="Malgun Gothic" pitchFamily="34" charset="-122"/>
                <a:cs typeface="Malgun Gothic" pitchFamily="34" charset="-120"/>
              </a:rPr>
              <a:t>어요  </a:t>
            </a:r>
            <a:r>
              <a:rPr lang="en-US" sz="2600" b="1" dirty="0">
                <a:solidFill>
                  <a:srgbClr val="003478"/>
                </a:solidFill>
              </a:rPr>
              <a:t>La máquina de conjugar</a:t>
            </a:r>
            <a:r>
              <a:rPr lang="en-US" sz="1500" b="1" i="1" dirty="0">
                <a:solidFill>
                  <a:srgbClr val="8A8DA0"/>
                </a:solidFill>
              </a:rPr>
              <a:t>   The conjugation machine</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¿Dónde trabajas? 회사에서 일해요 </a:t>
            </a:r>
            <a:r>
              <a:rPr lang="en-US" sz="1800" i="1" dirty="0">
                <a:solidFill>
                  <a:srgbClr val="4236F6"/>
                </a:solidFill>
              </a:rPr>
              <a:t>→ semana 3</a:t>
            </a:r>
            <a:endParaRPr lang="en-US" sz="1800" dirty="0"/>
          </a:p>
        </p:txBody>
      </p:sp>
      <p:graphicFrame>
        <p:nvGraphicFramePr>
          <p:cNvPr id="14" name="tabla"/>
          <p:cNvGraphicFramePr>
            <a:graphicFrameLocks noGrp="1"/>
          </p:cNvGraphicFramePr>
          <p:nvPr>
            <p:extLst>
              <p:ext uri="{D42A27DB-BD31-4B8C-83A1-F6EECF244321}">
                <p14:modId xmlns:p14="http://schemas.microsoft.com/office/powerpoint/2010/main" val="2305709512"/>
              </p:ext>
            </p:extLst>
          </p:nvPr>
        </p:nvGraphicFramePr>
        <p:xfrm>
          <a:off x="548640" y="1874520"/>
          <a:ext cx="11091672" cy="914400"/>
        </p:xfrm>
        <a:graphic>
          <a:graphicData uri="http://schemas.openxmlformats.org/drawingml/2006/table">
            <a:tbl>
              <a:tblPr/>
              <a:tblGrid>
                <a:gridCol w="3697224">
                  <a:extLst>
                    <a:ext uri="{9D8B030D-6E8A-4147-A177-3AD203B41FA5}">
                      <a16:colId xmlns:a16="http://schemas.microsoft.com/office/drawing/2014/main" val="20000"/>
                    </a:ext>
                  </a:extLst>
                </a:gridCol>
                <a:gridCol w="3697224">
                  <a:extLst>
                    <a:ext uri="{9D8B030D-6E8A-4147-A177-3AD203B41FA5}">
                      <a16:colId xmlns:a16="http://schemas.microsoft.com/office/drawing/2014/main" val="20001"/>
                    </a:ext>
                  </a:extLst>
                </a:gridCol>
                <a:gridCol w="3697224">
                  <a:extLst>
                    <a:ext uri="{9D8B030D-6E8A-4147-A177-3AD203B41FA5}">
                      <a16:colId xmlns:a16="http://schemas.microsoft.com/office/drawing/2014/main" val="20002"/>
                    </a:ext>
                  </a:extLst>
                </a:gridCol>
              </a:tblGrid>
              <a:tr h="566928">
                <a:tc>
                  <a:txBody>
                    <a:bodyPr/>
                    <a:lstStyle/>
                    <a:p>
                      <a:pPr marL="0" indent="0" eaLnBrk="1">
                        <a:buNone/>
                      </a:pPr>
                      <a:r>
                        <a:rPr lang="en-US" sz="1800" b="1" dirty="0">
                          <a:solidFill>
                            <a:srgbClr val="FFFFFF"/>
                          </a:solidFill>
                        </a:rPr>
                        <a:t>Última vocal de la raíz</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800" b="1" dirty="0">
                          <a:solidFill>
                            <a:srgbClr val="FFFFFF"/>
                          </a:solidFill>
                        </a:rPr>
                        <a:t>Terminación</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800" b="1" dirty="0">
                          <a:solidFill>
                            <a:srgbClr val="FFFFFF"/>
                          </a:solidFill>
                        </a:rPr>
                        <a:t>Ejemplos</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extLst>
                  <a:ext uri="{0D108BD9-81ED-4DB2-BD59-A6C34878D82A}">
                    <a16:rowId xmlns:a16="http://schemas.microsoft.com/office/drawing/2014/main" val="10000"/>
                  </a:ext>
                </a:extLst>
              </a:tr>
              <a:tr h="566928">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ㅏ </a:t>
                      </a:r>
                      <a:r>
                        <a:rPr lang="en-US" sz="1800" dirty="0">
                          <a:solidFill>
                            <a:srgbClr val="14142B"/>
                          </a:solidFill>
                        </a:rPr>
                        <a:t>u </a:t>
                      </a:r>
                      <a:r>
                        <a:rPr lang="ko-KR" altLang="en-US" sz="1800" dirty="0">
                          <a:solidFill>
                            <a:srgbClr val="14142B"/>
                          </a:solidFill>
                          <a:latin typeface="Malgun Gothic" pitchFamily="34" charset="0"/>
                          <a:ea typeface="Malgun Gothic" pitchFamily="34" charset="-122"/>
                          <a:cs typeface="Malgun Gothic" pitchFamily="34" charset="-120"/>
                        </a:rPr>
                        <a:t>ㅗ</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-아요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살다 </a:t>
                      </a:r>
                      <a:r>
                        <a:rPr lang="en-US" sz="1800" dirty="0">
                          <a:solidFill>
                            <a:srgbClr val="14142B"/>
                          </a:solidFill>
                        </a:rPr>
                        <a:t>→ </a:t>
                      </a:r>
                      <a:r>
                        <a:rPr lang="ko-KR" altLang="en-US" sz="1800" dirty="0">
                          <a:solidFill>
                            <a:srgbClr val="14142B"/>
                          </a:solidFill>
                          <a:latin typeface="Malgun Gothic" pitchFamily="34" charset="0"/>
                          <a:ea typeface="Malgun Gothic" pitchFamily="34" charset="-122"/>
                          <a:cs typeface="Malgun Gothic" pitchFamily="34" charset="-120"/>
                        </a:rPr>
                        <a:t>살아요 </a:t>
                      </a:r>
                      <a:r>
                        <a:rPr lang="en-US" sz="1800" dirty="0">
                          <a:solidFill>
                            <a:srgbClr val="14142B"/>
                          </a:solidFill>
                        </a:rPr>
                        <a:t>(vivo)</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1"/>
                  </a:ext>
                </a:extLst>
              </a:tr>
              <a:tr h="566928">
                <a:tc>
                  <a:txBody>
                    <a:bodyPr/>
                    <a:lstStyle/>
                    <a:p>
                      <a:pPr marL="0" indent="0" eaLnBrk="1">
                        <a:buNone/>
                      </a:pPr>
                      <a:r>
                        <a:rPr lang="en-US" sz="1800" dirty="0">
                          <a:solidFill>
                            <a:srgbClr val="14142B"/>
                          </a:solidFill>
                        </a:rPr>
                        <a:t>Cualquier otra</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-어요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배우다 </a:t>
                      </a:r>
                      <a:r>
                        <a:rPr lang="en-US" sz="1800" dirty="0">
                          <a:solidFill>
                            <a:srgbClr val="14142B"/>
                          </a:solidFill>
                        </a:rPr>
                        <a:t>→ </a:t>
                      </a:r>
                      <a:r>
                        <a:rPr lang="ko-KR" altLang="en-US" sz="1800" dirty="0">
                          <a:solidFill>
                            <a:srgbClr val="14142B"/>
                          </a:solidFill>
                          <a:latin typeface="Malgun Gothic" pitchFamily="34" charset="0"/>
                          <a:ea typeface="Malgun Gothic" pitchFamily="34" charset="-122"/>
                          <a:cs typeface="Malgun Gothic" pitchFamily="34" charset="-120"/>
                        </a:rPr>
                        <a:t>배워요 </a:t>
                      </a:r>
                      <a:r>
                        <a:rPr lang="en-US" sz="1800" dirty="0">
                          <a:solidFill>
                            <a:srgbClr val="14142B"/>
                          </a:solidFill>
                        </a:rPr>
                        <a:t>(aprendo)</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하다</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해요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일하다 </a:t>
                      </a:r>
                      <a:r>
                        <a:rPr lang="en-US" sz="1800" dirty="0">
                          <a:solidFill>
                            <a:srgbClr val="14142B"/>
                          </a:solidFill>
                        </a:rPr>
                        <a:t>→ </a:t>
                      </a:r>
                      <a:r>
                        <a:rPr lang="ko-KR" altLang="en-US" sz="1800" dirty="0">
                          <a:solidFill>
                            <a:srgbClr val="14142B"/>
                          </a:solidFill>
                          <a:latin typeface="Malgun Gothic" pitchFamily="34" charset="0"/>
                          <a:ea typeface="Malgun Gothic" pitchFamily="34" charset="-122"/>
                          <a:cs typeface="Malgun Gothic" pitchFamily="34" charset="-120"/>
                        </a:rPr>
                        <a:t>일해요 </a:t>
                      </a:r>
                      <a:r>
                        <a:rPr lang="en-US" sz="1800" dirty="0">
                          <a:solidFill>
                            <a:srgbClr val="14142B"/>
                          </a:solidFill>
                        </a:rPr>
                        <a:t>· </a:t>
                      </a:r>
                      <a:r>
                        <a:rPr lang="ko-KR" altLang="en-US" sz="1800" dirty="0">
                          <a:solidFill>
                            <a:srgbClr val="14142B"/>
                          </a:solidFill>
                          <a:latin typeface="Malgun Gothic" pitchFamily="34" charset="0"/>
                          <a:ea typeface="Malgun Gothic" pitchFamily="34" charset="-122"/>
                          <a:cs typeface="Malgun Gothic" pitchFamily="34" charset="-120"/>
                        </a:rPr>
                        <a:t>공부하다 </a:t>
                      </a:r>
                      <a:r>
                        <a:rPr lang="en-US" sz="1800" dirty="0">
                          <a:solidFill>
                            <a:srgbClr val="14142B"/>
                          </a:solidFill>
                        </a:rPr>
                        <a:t>→ </a:t>
                      </a:r>
                      <a:r>
                        <a:rPr lang="ko-KR" altLang="en-US" sz="1800" dirty="0">
                          <a:solidFill>
                            <a:srgbClr val="14142B"/>
                          </a:solidFill>
                          <a:latin typeface="Malgun Gothic" pitchFamily="34" charset="0"/>
                          <a:ea typeface="Malgun Gothic" pitchFamily="34" charset="-122"/>
                          <a:cs typeface="Malgun Gothic" pitchFamily="34" charset="-120"/>
                        </a:rPr>
                        <a:t>공부해요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3"/>
                  </a:ext>
                </a:extLst>
              </a:tr>
              <a:tr h="566928">
                <a:tc>
                  <a:txBody>
                    <a:bodyPr/>
                    <a:lstStyle/>
                    <a:p>
                      <a:pPr marL="0" indent="0" eaLnBrk="1">
                        <a:buNone/>
                      </a:pPr>
                      <a:r>
                        <a:rPr lang="en-US" sz="1800" dirty="0">
                          <a:solidFill>
                            <a:srgbClr val="14142B"/>
                          </a:solidFill>
                        </a:rPr>
                        <a:t>¡Ojo!</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살아요 </a:t>
                      </a:r>
                      <a:r>
                        <a:rPr lang="en-US" sz="1800" dirty="0">
                          <a:solidFill>
                            <a:srgbClr val="14142B"/>
                          </a:solidFill>
                        </a:rPr>
                        <a:t>≠ </a:t>
                      </a:r>
                      <a:r>
                        <a:rPr lang="ko-KR" altLang="en-US" sz="1800" dirty="0">
                          <a:solidFill>
                            <a:srgbClr val="14142B"/>
                          </a:solidFill>
                          <a:latin typeface="Malgun Gothic" pitchFamily="34" charset="0"/>
                          <a:ea typeface="Malgun Gothic" pitchFamily="34" charset="-122"/>
                          <a:cs typeface="Malgun Gothic" pitchFamily="34" charset="-120"/>
                        </a:rPr>
                        <a:t>사요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800" dirty="0">
                          <a:solidFill>
                            <a:srgbClr val="14142B"/>
                          </a:solidFill>
                          <a:latin typeface="Malgun Gothic" pitchFamily="34" charset="0"/>
                          <a:ea typeface="Malgun Gothic" pitchFamily="34" charset="-122"/>
                          <a:cs typeface="Malgun Gothic" pitchFamily="34" charset="-120"/>
                        </a:rPr>
                        <a:t>살아요 </a:t>
                      </a:r>
                      <a:r>
                        <a:rPr lang="en-US" sz="1800" dirty="0">
                          <a:solidFill>
                            <a:srgbClr val="14142B"/>
                          </a:solidFill>
                        </a:rPr>
                        <a:t>= vivo (la </a:t>
                      </a:r>
                      <a:r>
                        <a:rPr lang="ko-KR" altLang="en-US" sz="1800" dirty="0">
                          <a:solidFill>
                            <a:srgbClr val="14142B"/>
                          </a:solidFill>
                          <a:latin typeface="Malgun Gothic" pitchFamily="34" charset="0"/>
                          <a:ea typeface="Malgun Gothic" pitchFamily="34" charset="-122"/>
                          <a:cs typeface="Malgun Gothic" pitchFamily="34" charset="-120"/>
                        </a:rPr>
                        <a:t>ㄹ </a:t>
                      </a:r>
                      <a:r>
                        <a:rPr lang="en-US" sz="1800" dirty="0">
                          <a:solidFill>
                            <a:srgbClr val="14142B"/>
                          </a:solidFill>
                        </a:rPr>
                        <a:t>se queda) · </a:t>
                      </a:r>
                      <a:r>
                        <a:rPr lang="ko-KR" altLang="en-US" sz="1800" dirty="0">
                          <a:solidFill>
                            <a:srgbClr val="14142B"/>
                          </a:solidFill>
                          <a:latin typeface="Malgun Gothic" pitchFamily="34" charset="0"/>
                          <a:ea typeface="Malgun Gothic" pitchFamily="34" charset="-122"/>
                          <a:cs typeface="Malgun Gothic" pitchFamily="34" charset="-120"/>
                        </a:rPr>
                        <a:t>사요 </a:t>
                      </a:r>
                      <a:r>
                        <a:rPr lang="en-US" sz="1800" dirty="0">
                          <a:solidFill>
                            <a:srgbClr val="14142B"/>
                          </a:solidFill>
                        </a:rPr>
                        <a:t>= compro</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연음  </a:t>
            </a:r>
            <a:r>
              <a:rPr lang="en-US" sz="3000" b="1" dirty="0">
                <a:solidFill>
                  <a:srgbClr val="003478"/>
                </a:solidFill>
              </a:rPr>
              <a:t>La consonante se muda</a:t>
            </a:r>
            <a:r>
              <a:rPr lang="en-US" sz="1500" b="1" i="1" dirty="0">
                <a:solidFill>
                  <a:srgbClr val="8A8DA0"/>
                </a:solidFill>
              </a:rPr>
              <a:t>   The consonant moves over</a:t>
            </a:r>
            <a:endParaRPr lang="en-US" sz="3000" dirty="0"/>
          </a:p>
        </p:txBody>
      </p:sp>
      <p:pic>
        <p:nvPicPr>
          <p:cNvPr id="3" name="imagen" descr="C:\Users\Chingu\AppData\Local\Temp\claude\C--Users-Chingu-Desktop-ACADEMIASEULWEB\d4111e1b-5523-44ea-97b2-b1a1d9545b9e\scratchpad\decks\cache\img_121dd1172e94b1cc.png"/>
          <p:cNvPicPr>
            <a:picLocks noChangeAspect="1"/>
          </p:cNvPicPr>
          <p:nvPr/>
        </p:nvPicPr>
        <p:blipFill>
          <a:blip r:embed="rId3"/>
          <a:stretch>
            <a:fillRect/>
          </a:stretch>
        </p:blipFill>
        <p:spPr>
          <a:xfrm>
            <a:off x="7754112" y="1508760"/>
            <a:ext cx="3886200" cy="4480560"/>
          </a:xfrm>
          <a:prstGeom prst="rect">
            <a:avLst/>
          </a:prstGeom>
        </p:spPr>
      </p:pic>
      <p:sp>
        <p:nvSpPr>
          <p:cNvPr id="4" name="Text 1"/>
          <p:cNvSpPr txBox="1"/>
          <p:nvPr/>
        </p:nvSpPr>
        <p:spPr>
          <a:xfrm>
            <a:off x="548640" y="1325880"/>
            <a:ext cx="6931152" cy="457200"/>
          </a:xfrm>
          <a:prstGeom prst="rect">
            <a:avLst/>
          </a:prstGeom>
          <a:noFill/>
          <a:ln/>
        </p:spPr>
        <p:txBody>
          <a:bodyPr wrap="square" lIns="0" tIns="0" rIns="0" bIns="0" rtlCol="0" anchor="ctr">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Consonante final + ㅇ </a:t>
            </a:r>
            <a:r>
              <a:rPr lang="en-US" sz="1800" i="1" dirty="0">
                <a:solidFill>
                  <a:srgbClr val="4236F6"/>
                </a:solidFill>
              </a:rPr>
              <a:t>(la silla vacía) → la consonante se muda</a:t>
            </a:r>
            <a:endParaRPr lang="en-US" sz="1800" dirty="0"/>
          </a:p>
        </p:txBody>
      </p:sp>
      <p:graphicFrame>
        <p:nvGraphicFramePr>
          <p:cNvPr id="15" name="tabla"/>
          <p:cNvGraphicFramePr>
            <a:graphicFrameLocks noGrp="1"/>
          </p:cNvGraphicFramePr>
          <p:nvPr>
            <p:extLst>
              <p:ext uri="{D42A27DB-BD31-4B8C-83A1-F6EECF244321}">
                <p14:modId xmlns:p14="http://schemas.microsoft.com/office/powerpoint/2010/main" val="1407504691"/>
              </p:ext>
            </p:extLst>
          </p:nvPr>
        </p:nvGraphicFramePr>
        <p:xfrm>
          <a:off x="548640" y="1874520"/>
          <a:ext cx="6931152" cy="914400"/>
        </p:xfrm>
        <a:graphic>
          <a:graphicData uri="http://schemas.openxmlformats.org/drawingml/2006/table">
            <a:tbl>
              <a:tblPr/>
              <a:tblGrid>
                <a:gridCol w="2310384">
                  <a:extLst>
                    <a:ext uri="{9D8B030D-6E8A-4147-A177-3AD203B41FA5}">
                      <a16:colId xmlns:a16="http://schemas.microsoft.com/office/drawing/2014/main" val="20000"/>
                    </a:ext>
                  </a:extLst>
                </a:gridCol>
                <a:gridCol w="2310384">
                  <a:extLst>
                    <a:ext uri="{9D8B030D-6E8A-4147-A177-3AD203B41FA5}">
                      <a16:colId xmlns:a16="http://schemas.microsoft.com/office/drawing/2014/main" val="20001"/>
                    </a:ext>
                  </a:extLst>
                </a:gridCol>
                <a:gridCol w="2310384">
                  <a:extLst>
                    <a:ext uri="{9D8B030D-6E8A-4147-A177-3AD203B41FA5}">
                      <a16:colId xmlns:a16="http://schemas.microsoft.com/office/drawing/2014/main" val="20002"/>
                    </a:ext>
                  </a:extLst>
                </a:gridCol>
              </a:tblGrid>
              <a:tr h="0">
                <a:tc>
                  <a:txBody>
                    <a:bodyPr/>
                    <a:lstStyle/>
                    <a:p>
                      <a:pPr marL="0" indent="0" eaLnBrk="1">
                        <a:buNone/>
                      </a:pPr>
                      <a:r>
                        <a:rPr lang="en-US" sz="1500" b="1" dirty="0">
                          <a:solidFill>
                            <a:srgbClr val="FFFFFF"/>
                          </a:solidFill>
                        </a:rPr>
                        <a:t>Se escribe</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500" b="1" dirty="0">
                          <a:solidFill>
                            <a:srgbClr val="FFFFFF"/>
                          </a:solidFill>
                        </a:rPr>
                        <a:t>Se dice</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500" b="1" dirty="0">
                          <a:solidFill>
                            <a:srgbClr val="FFFFFF"/>
                          </a:solidFill>
                        </a:rPr>
                        <a:t>Qué pasa</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extLst>
                  <a:ext uri="{0D108BD9-81ED-4DB2-BD59-A6C34878D82A}">
                    <a16:rowId xmlns:a16="http://schemas.microsoft.com/office/drawing/2014/main" val="10000"/>
                  </a:ext>
                </a:extLst>
              </a:tr>
              <a:tr h="0">
                <a:tc>
                  <a:txBody>
                    <a:bodyPr/>
                    <a:lstStyle/>
                    <a:p>
                      <a:pPr marL="0" indent="0" eaLnBrk="1">
                        <a:buNone/>
                      </a:pPr>
                      <a:r>
                        <a:rPr lang="ko-KR" altLang="en-US" sz="1500" dirty="0">
                          <a:solidFill>
                            <a:srgbClr val="14142B"/>
                          </a:solidFill>
                          <a:latin typeface="Malgun Gothic" pitchFamily="34" charset="0"/>
                          <a:ea typeface="Malgun Gothic" pitchFamily="34" charset="-122"/>
                          <a:cs typeface="Malgun Gothic" pitchFamily="34" charset="-120"/>
                        </a:rPr>
                        <a:t>살아요</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500" dirty="0">
                          <a:solidFill>
                            <a:srgbClr val="14142B"/>
                          </a:solidFill>
                          <a:latin typeface="Malgun Gothic" pitchFamily="34" charset="0"/>
                          <a:ea typeface="Malgun Gothic" pitchFamily="34" charset="-122"/>
                          <a:cs typeface="Malgun Gothic" pitchFamily="34" charset="-120"/>
                        </a:rPr>
                        <a:t>[사라요</a:t>
                      </a:r>
                      <a:r>
                        <a:rPr lang="en-US" sz="1500" dirty="0">
                          <a:solidFill>
                            <a:srgbClr val="14142B"/>
                          </a:solidFill>
                        </a:rPr>
                        <a:t>]</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500" dirty="0">
                          <a:solidFill>
                            <a:srgbClr val="14142B"/>
                          </a:solidFill>
                          <a:latin typeface="Malgun Gothic" pitchFamily="34" charset="0"/>
                          <a:ea typeface="Malgun Gothic" pitchFamily="34" charset="-122"/>
                          <a:cs typeface="Malgun Gothic" pitchFamily="34" charset="-120"/>
                        </a:rPr>
                        <a:t>La ㄹ </a:t>
                      </a:r>
                      <a:r>
                        <a:rPr lang="en-US" sz="1500" dirty="0">
                          <a:solidFill>
                            <a:srgbClr val="14142B"/>
                          </a:solidFill>
                        </a:rPr>
                        <a:t>se muda a la silla vacía</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1"/>
                  </a:ext>
                </a:extLst>
              </a:tr>
              <a:tr h="0">
                <a:tc>
                  <a:txBody>
                    <a:bodyPr/>
                    <a:lstStyle/>
                    <a:p>
                      <a:pPr marL="0" indent="0" eaLnBrk="1">
                        <a:buNone/>
                      </a:pPr>
                      <a:r>
                        <a:rPr lang="ko-KR" altLang="en-US" sz="1500" dirty="0">
                          <a:solidFill>
                            <a:srgbClr val="14142B"/>
                          </a:solidFill>
                          <a:latin typeface="Malgun Gothic" pitchFamily="34" charset="0"/>
                          <a:ea typeface="Malgun Gothic" pitchFamily="34" charset="-122"/>
                          <a:cs typeface="Malgun Gothic" pitchFamily="34" charset="-120"/>
                        </a:rPr>
                        <a:t>직업이에요</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500" dirty="0">
                          <a:solidFill>
                            <a:srgbClr val="14142B"/>
                          </a:solidFill>
                          <a:latin typeface="Malgun Gothic" pitchFamily="34" charset="0"/>
                          <a:ea typeface="Malgun Gothic" pitchFamily="34" charset="-122"/>
                          <a:cs typeface="Malgun Gothic" pitchFamily="34" charset="-120"/>
                        </a:rPr>
                        <a:t>[지거비에요</a:t>
                      </a:r>
                      <a:r>
                        <a:rPr lang="en-US" sz="1500" dirty="0">
                          <a:solidFill>
                            <a:srgbClr val="14142B"/>
                          </a:solidFill>
                        </a:rPr>
                        <a:t>]</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500" dirty="0">
                          <a:solidFill>
                            <a:srgbClr val="14142B"/>
                          </a:solidFill>
                        </a:rPr>
                        <a:t>La consonante se muda</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eaLnBrk="1">
                        <a:buNone/>
                      </a:pPr>
                      <a:r>
                        <a:rPr lang="ko-KR" altLang="en-US" sz="1500" dirty="0">
                          <a:solidFill>
                            <a:srgbClr val="14142B"/>
                          </a:solidFill>
                          <a:latin typeface="Malgun Gothic" pitchFamily="34" charset="0"/>
                          <a:ea typeface="Malgun Gothic" pitchFamily="34" charset="-122"/>
                          <a:cs typeface="Malgun Gothic" pitchFamily="34" charset="-120"/>
                        </a:rPr>
                        <a:t>있어요</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500" dirty="0">
                          <a:solidFill>
                            <a:srgbClr val="14142B"/>
                          </a:solidFill>
                          <a:latin typeface="Malgun Gothic" pitchFamily="34" charset="0"/>
                          <a:ea typeface="Malgun Gothic" pitchFamily="34" charset="-122"/>
                          <a:cs typeface="Malgun Gothic" pitchFamily="34" charset="-120"/>
                        </a:rPr>
                        <a:t>[이써요</a:t>
                      </a:r>
                      <a:r>
                        <a:rPr lang="en-US" sz="1500" dirty="0">
                          <a:solidFill>
                            <a:srgbClr val="14142B"/>
                          </a:solidFill>
                        </a:rPr>
                        <a:t>]</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500" dirty="0">
                          <a:solidFill>
                            <a:srgbClr val="14142B"/>
                          </a:solidFill>
                        </a:rPr>
                        <a:t>La consonante se muda</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3"/>
                  </a:ext>
                </a:extLst>
              </a:tr>
              <a:tr h="0">
                <a:tc>
                  <a:txBody>
                    <a:bodyPr/>
                    <a:lstStyle/>
                    <a:p>
                      <a:pPr marL="0" indent="0" eaLnBrk="1">
                        <a:buNone/>
                      </a:pPr>
                      <a:r>
                        <a:rPr lang="ko-KR" altLang="en-US" sz="1500" dirty="0">
                          <a:solidFill>
                            <a:srgbClr val="14142B"/>
                          </a:solidFill>
                          <a:latin typeface="Malgun Gothic" pitchFamily="34" charset="0"/>
                          <a:ea typeface="Malgun Gothic" pitchFamily="34" charset="-122"/>
                          <a:cs typeface="Malgun Gothic" pitchFamily="34" charset="-120"/>
                        </a:rPr>
                        <a:t>이름이</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500" dirty="0">
                          <a:solidFill>
                            <a:srgbClr val="14142B"/>
                          </a:solidFill>
                          <a:latin typeface="Malgun Gothic" pitchFamily="34" charset="0"/>
                          <a:ea typeface="Malgun Gothic" pitchFamily="34" charset="-122"/>
                          <a:cs typeface="Malgun Gothic" pitchFamily="34" charset="-120"/>
                        </a:rPr>
                        <a:t>[이르미</a:t>
                      </a:r>
                      <a:r>
                        <a:rPr lang="en-US" sz="1500" dirty="0">
                          <a:solidFill>
                            <a:srgbClr val="14142B"/>
                          </a:solidFill>
                        </a:rPr>
                        <a:t>]</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500" dirty="0">
                          <a:solidFill>
                            <a:srgbClr val="14142B"/>
                          </a:solidFill>
                        </a:rPr>
                        <a:t>La consonante se muda</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eaLnBrk="1">
                        <a:buNone/>
                      </a:pPr>
                      <a:r>
                        <a:rPr lang="ko-KR" altLang="en-US" sz="1500" dirty="0">
                          <a:solidFill>
                            <a:srgbClr val="14142B"/>
                          </a:solidFill>
                          <a:latin typeface="Malgun Gothic" pitchFamily="34" charset="0"/>
                          <a:ea typeface="Malgun Gothic" pitchFamily="34" charset="-122"/>
                          <a:cs typeface="Malgun Gothic" pitchFamily="34" charset="-120"/>
                        </a:rPr>
                        <a:t>고향이에요</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500" dirty="0">
                          <a:solidFill>
                            <a:srgbClr val="14142B"/>
                          </a:solidFill>
                        </a:rPr>
                        <a:t>sin cambio</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500" dirty="0">
                          <a:solidFill>
                            <a:srgbClr val="14142B"/>
                          </a:solidFill>
                          <a:latin typeface="Malgun Gothic" pitchFamily="34" charset="0"/>
                          <a:ea typeface="Malgun Gothic" pitchFamily="34" charset="-122"/>
                          <a:cs typeface="Malgun Gothic" pitchFamily="34" charset="-120"/>
                        </a:rPr>
                        <a:t>Excepción: la ㅇ </a:t>
                      </a:r>
                      <a:r>
                        <a:rPr lang="en-US" sz="1500" dirty="0">
                          <a:solidFill>
                            <a:srgbClr val="14142B"/>
                          </a:solidFill>
                        </a:rPr>
                        <a:t>de abajo no se muda (suena como en </a:t>
                      </a:r>
                      <a:r>
                        <a:rPr lang="ko-KR" altLang="en-US" sz="1500" dirty="0">
                          <a:solidFill>
                            <a:srgbClr val="14142B"/>
                          </a:solidFill>
                          <a:latin typeface="Malgun Gothic" pitchFamily="34" charset="0"/>
                          <a:ea typeface="Malgun Gothic" pitchFamily="34" charset="-122"/>
                          <a:cs typeface="Malgun Gothic" pitchFamily="34" charset="-120"/>
                        </a:rPr>
                        <a:t>강</a:t>
                      </a:r>
                      <a:r>
                        <a:rPr lang="en-US" sz="1500" dirty="0">
                          <a:solidFill>
                            <a:srgbClr val="14142B"/>
                          </a:solidFill>
                        </a:rPr>
                        <a:t>)</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5"/>
                  </a:ext>
                </a:extLst>
              </a:tr>
              <a:tr h="0">
                <a:tc>
                  <a:txBody>
                    <a:bodyPr/>
                    <a:lstStyle/>
                    <a:p>
                      <a:pPr marL="0" indent="0" eaLnBrk="1">
                        <a:buNone/>
                      </a:pPr>
                      <a:r>
                        <a:rPr lang="ko-KR" altLang="en-US" sz="1500" dirty="0">
                          <a:solidFill>
                            <a:srgbClr val="14142B"/>
                          </a:solidFill>
                          <a:latin typeface="Malgun Gothic" pitchFamily="34" charset="0"/>
                          <a:ea typeface="Malgun Gothic" pitchFamily="34" charset="-122"/>
                          <a:cs typeface="Malgun Gothic" pitchFamily="34" charset="-120"/>
                        </a:rPr>
                        <a:t>좋아해요</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500" dirty="0">
                          <a:solidFill>
                            <a:srgbClr val="14142B"/>
                          </a:solidFill>
                          <a:latin typeface="Malgun Gothic" pitchFamily="34" charset="0"/>
                          <a:ea typeface="Malgun Gothic" pitchFamily="34" charset="-122"/>
                          <a:cs typeface="Malgun Gothic" pitchFamily="34" charset="-120"/>
                        </a:rPr>
                        <a:t>[조아해요</a:t>
                      </a:r>
                      <a:r>
                        <a:rPr lang="en-US" sz="1500" dirty="0">
                          <a:solidFill>
                            <a:srgbClr val="14142B"/>
                          </a:solidFill>
                        </a:rPr>
                        <a:t>]</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500" dirty="0">
                          <a:solidFill>
                            <a:srgbClr val="14142B"/>
                          </a:solidFill>
                          <a:latin typeface="Malgun Gothic" pitchFamily="34" charset="0"/>
                          <a:ea typeface="Malgun Gothic" pitchFamily="34" charset="-122"/>
                          <a:cs typeface="Malgun Gothic" pitchFamily="34" charset="-120"/>
                        </a:rPr>
                        <a:t>Excepción: la ㅎ </a:t>
                      </a:r>
                      <a:r>
                        <a:rPr lang="en-US" sz="1500" dirty="0">
                          <a:solidFill>
                            <a:srgbClr val="14142B"/>
                          </a:solidFill>
                        </a:rPr>
                        <a:t>de abajo se cae</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0">
                <a:tc>
                  <a:txBody>
                    <a:bodyPr/>
                    <a:lstStyle/>
                    <a:p>
                      <a:pPr marL="0" indent="0" eaLnBrk="1">
                        <a:buNone/>
                      </a:pPr>
                      <a:r>
                        <a:rPr lang="ko-KR" altLang="en-US" sz="1500" dirty="0">
                          <a:solidFill>
                            <a:srgbClr val="14142B"/>
                          </a:solidFill>
                          <a:latin typeface="Malgun Gothic" pitchFamily="34" charset="0"/>
                          <a:ea typeface="Malgun Gothic" pitchFamily="34" charset="-122"/>
                          <a:cs typeface="Malgun Gothic" pitchFamily="34" charset="-120"/>
                        </a:rPr>
                        <a:t>대학생 </a:t>
                      </a:r>
                      <a:r>
                        <a:rPr lang="en-US" sz="1500" dirty="0">
                          <a:solidFill>
                            <a:srgbClr val="14142B"/>
                          </a:solidFill>
                        </a:rPr>
                        <a:t>· </a:t>
                      </a:r>
                      <a:r>
                        <a:rPr lang="ko-KR" altLang="en-US" sz="1500" dirty="0">
                          <a:solidFill>
                            <a:srgbClr val="14142B"/>
                          </a:solidFill>
                          <a:latin typeface="Malgun Gothic" pitchFamily="34" charset="0"/>
                          <a:ea typeface="Malgun Gothic" pitchFamily="34" charset="-122"/>
                          <a:cs typeface="Malgun Gothic" pitchFamily="34" charset="-120"/>
                        </a:rPr>
                        <a:t>반갑습니다</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500" dirty="0">
                          <a:solidFill>
                            <a:srgbClr val="14142B"/>
                          </a:solidFill>
                          <a:latin typeface="Malgun Gothic" pitchFamily="34" charset="0"/>
                          <a:ea typeface="Malgun Gothic" pitchFamily="34" charset="-122"/>
                          <a:cs typeface="Malgun Gothic" pitchFamily="34" charset="-120"/>
                        </a:rPr>
                        <a:t>[대학쌩</a:t>
                      </a:r>
                      <a:r>
                        <a:rPr lang="en-US" sz="1500" dirty="0">
                          <a:solidFill>
                            <a:srgbClr val="14142B"/>
                          </a:solidFill>
                        </a:rPr>
                        <a:t>] · [</a:t>
                      </a:r>
                      <a:r>
                        <a:rPr lang="ko-KR" altLang="en-US" sz="1500" dirty="0">
                          <a:solidFill>
                            <a:srgbClr val="14142B"/>
                          </a:solidFill>
                          <a:latin typeface="Malgun Gothic" pitchFamily="34" charset="0"/>
                          <a:ea typeface="Malgun Gothic" pitchFamily="34" charset="-122"/>
                          <a:cs typeface="Malgun Gothic" pitchFamily="34" charset="-120"/>
                        </a:rPr>
                        <a:t>반갑씀니다</a:t>
                      </a:r>
                      <a:r>
                        <a:rPr lang="en-US" sz="1500" dirty="0">
                          <a:solidFill>
                            <a:srgbClr val="14142B"/>
                          </a:solidFill>
                        </a:rPr>
                        <a:t>]</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500" dirty="0">
                          <a:solidFill>
                            <a:srgbClr val="14142B"/>
                          </a:solidFill>
                        </a:rPr>
                        <a:t>Imita tal cual (la regla, en la semana 3)</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2200" b="1" dirty="0">
                <a:solidFill>
                  <a:srgbClr val="4236F6"/>
                </a:solidFill>
                <a:latin typeface="Malgun Gothic" pitchFamily="34" charset="0"/>
                <a:ea typeface="Malgun Gothic" pitchFamily="34" charset="-122"/>
                <a:cs typeface="Malgun Gothic" pitchFamily="34" charset="-120"/>
              </a:rPr>
              <a:t>인사 </a:t>
            </a:r>
            <a:r>
              <a:rPr lang="en-US" sz="2200" b="1" dirty="0">
                <a:solidFill>
                  <a:srgbClr val="4236F6"/>
                </a:solidFill>
              </a:rPr>
              <a:t>· </a:t>
            </a:r>
            <a:r>
              <a:rPr lang="ko-KR" altLang="en-US" sz="2200" b="1" dirty="0">
                <a:solidFill>
                  <a:srgbClr val="4236F6"/>
                </a:solidFill>
                <a:latin typeface="Malgun Gothic" pitchFamily="34" charset="0"/>
                <a:ea typeface="Malgun Gothic" pitchFamily="34" charset="-122"/>
                <a:cs typeface="Malgun Gothic" pitchFamily="34" charset="-120"/>
              </a:rPr>
              <a:t>반갑습니다  </a:t>
            </a:r>
            <a:r>
              <a:rPr lang="en-US" sz="2200" b="1" dirty="0">
                <a:solidFill>
                  <a:srgbClr val="003478"/>
                </a:solidFill>
              </a:rPr>
              <a:t>La inclinación al conocerse</a:t>
            </a:r>
            <a:r>
              <a:rPr lang="en-US" sz="1500" b="1" i="1" dirty="0">
                <a:solidFill>
                  <a:srgbClr val="8A8DA0"/>
                </a:solidFill>
              </a:rPr>
              <a:t>   The small bow</a:t>
            </a:r>
            <a:endParaRPr lang="en-US" sz="3000" dirty="0"/>
          </a:p>
        </p:txBody>
      </p:sp>
      <p:sp>
        <p:nvSpPr>
          <p:cNvPr id="3" name="Text 1"/>
          <p:cNvSpPr txBox="1"/>
          <p:nvPr/>
        </p:nvSpPr>
        <p:spPr>
          <a:xfrm>
            <a:off x="548640" y="1325880"/>
            <a:ext cx="5669280" cy="548640"/>
          </a:xfrm>
          <a:prstGeom prst="rect">
            <a:avLst/>
          </a:prstGeom>
          <a:noFill/>
          <a:ln/>
        </p:spPr>
        <p:txBody>
          <a:bodyPr wrap="square" lIns="0" tIns="0" rIns="0" bIns="0" rtlCol="0" anchor="t">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Al conocerse: 인사 </a:t>
            </a:r>
            <a:r>
              <a:rPr lang="en-US" sz="1800" i="1" dirty="0">
                <a:solidFill>
                  <a:srgbClr val="4236F6"/>
                </a:solidFill>
              </a:rPr>
              <a:t>+ </a:t>
            </a:r>
            <a:r>
              <a:rPr lang="ko-KR" altLang="en-US" sz="1800" i="1" dirty="0">
                <a:solidFill>
                  <a:srgbClr val="4236F6"/>
                </a:solidFill>
                <a:latin typeface="Malgun Gothic" pitchFamily="34" charset="0"/>
                <a:ea typeface="Malgun Gothic" pitchFamily="34" charset="-122"/>
                <a:cs typeface="Malgun Gothic" pitchFamily="34" charset="-120"/>
              </a:rPr>
              <a:t>반갑습니다</a:t>
            </a:r>
            <a:endParaRPr lang="en-US" sz="1800" dirty="0"/>
          </a:p>
        </p:txBody>
      </p:sp>
      <p:sp>
        <p:nvSpPr>
          <p:cNvPr id="4" name="lista"/>
          <p:cNvSpPr txBox="1"/>
          <p:nvPr/>
        </p:nvSpPr>
        <p:spPr>
          <a:xfrm>
            <a:off x="548640" y="1965960"/>
            <a:ext cx="5669280" cy="42062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200" dirty="0">
                <a:solidFill>
                  <a:srgbClr val="14142B"/>
                </a:solidFill>
                <a:latin typeface="Malgun Gothic" pitchFamily="34" charset="0"/>
                <a:ea typeface="Malgun Gothic" pitchFamily="34" charset="-122"/>
                <a:cs typeface="Malgun Gothic" pitchFamily="34" charset="-120"/>
              </a:rPr>
              <a:t>Al conocerse: una pequeña inclinación (인사</a:t>
            </a:r>
            <a:r>
              <a:rPr lang="en-US" sz="2200" dirty="0">
                <a:solidFill>
                  <a:srgbClr val="14142B"/>
                </a:solidFill>
              </a:rPr>
              <a:t>) y </a:t>
            </a:r>
            <a:r>
              <a:rPr lang="ko-KR" altLang="en-US" sz="2200" dirty="0">
                <a:solidFill>
                  <a:srgbClr val="14142B"/>
                </a:solidFill>
                <a:latin typeface="Malgun Gothic" pitchFamily="34" charset="0"/>
                <a:ea typeface="Malgun Gothic" pitchFamily="34" charset="-122"/>
                <a:cs typeface="Malgun Gothic" pitchFamily="34" charset="-120"/>
              </a:rPr>
              <a:t>반갑습니다</a:t>
            </a:r>
            <a:endParaRPr lang="en-US" sz="2200" dirty="0"/>
          </a:p>
          <a:p>
            <a:pPr marL="228600" indent="-228600" eaLnBrk="1">
              <a:spcAft>
                <a:spcPts val="800"/>
              </a:spcAft>
              <a:buSzPct val="100000"/>
              <a:buChar char="•"/>
            </a:pPr>
            <a:r>
              <a:rPr lang="ko-KR" altLang="en-US" sz="2200" dirty="0">
                <a:solidFill>
                  <a:srgbClr val="14142B"/>
                </a:solidFill>
                <a:latin typeface="Malgun Gothic" pitchFamily="34" charset="0"/>
                <a:ea typeface="Malgun Gothic" pitchFamily="34" charset="-122"/>
                <a:cs typeface="Malgun Gothic" pitchFamily="34" charset="-120"/>
              </a:rPr>
              <a:t>En el trabajo, también la mano (악수</a:t>
            </a:r>
            <a:r>
              <a:rPr lang="en-US" sz="2200" dirty="0">
                <a:solidFill>
                  <a:srgbClr val="14142B"/>
                </a:solidFill>
              </a:rPr>
              <a:t>), con la cabeza un poco inclinada</a:t>
            </a:r>
            <a:endParaRPr lang="en-US" sz="2200" dirty="0"/>
          </a:p>
          <a:p>
            <a:pPr marL="228600" indent="-228600" eaLnBrk="1">
              <a:spcAft>
                <a:spcPts val="800"/>
              </a:spcAft>
              <a:buSzPct val="100000"/>
              <a:buChar char="•"/>
            </a:pPr>
            <a:r>
              <a:rPr lang="en-US" sz="2200" dirty="0">
                <a:solidFill>
                  <a:srgbClr val="14142B"/>
                </a:solidFill>
              </a:rPr>
              <a:t>Donde damos la mano o un beso, la inclinación hace ese trabajo</a:t>
            </a:r>
            <a:endParaRPr lang="en-US" sz="2200" dirty="0"/>
          </a:p>
          <a:p>
            <a:pPr marL="228600" indent="-228600" eaLnBrk="1">
              <a:spcAft>
                <a:spcPts val="800"/>
              </a:spcAft>
              <a:buSzPct val="100000"/>
              <a:buChar char="•"/>
            </a:pPr>
            <a:r>
              <a:rPr lang="en-US" sz="2200" dirty="0">
                <a:solidFill>
                  <a:srgbClr val="14142B"/>
                </a:solidFill>
              </a:rPr>
              <a:t>¿Te preguntan la edad? Es para saber cómo hablarte → semana 2</a:t>
            </a:r>
            <a:endParaRPr lang="en-US" sz="2200" dirty="0"/>
          </a:p>
        </p:txBody>
      </p:sp>
      <p:sp>
        <p:nvSpPr>
          <p:cNvPr id="5" name="panel"/>
          <p:cNvSpPr/>
          <p:nvPr/>
        </p:nvSpPr>
        <p:spPr>
          <a:xfrm>
            <a:off x="6446520" y="1371600"/>
            <a:ext cx="5193792" cy="4800600"/>
          </a:xfrm>
          <a:prstGeom prst="roundRect">
            <a:avLst>
              <a:gd name="adj" fmla="val 4762"/>
            </a:avLst>
          </a:prstGeom>
          <a:solidFill>
            <a:srgbClr val="F1F0FE"/>
          </a:solidFill>
          <a:ln w="12700">
            <a:solidFill>
              <a:srgbClr val="F1F0FE"/>
            </a:solidFill>
            <a:prstDash val="solid"/>
          </a:ln>
        </p:spPr>
      </p:sp>
      <p:pic>
        <p:nvPicPr>
          <p:cNvPr id="6" name="imagen" descr="C:\Users\Chingu\AppData\Local\Temp\claude\C--Users-Chingu-Desktop-ACADEMIASEULWEB\d4111e1b-5523-44ea-97b2-b1a1d9545b9e\scratchpad\decks\cache\img_d4e7dec4453c6bd7.png"/>
          <p:cNvPicPr>
            <a:picLocks noChangeAspect="1"/>
          </p:cNvPicPr>
          <p:nvPr/>
        </p:nvPicPr>
        <p:blipFill>
          <a:blip r:embed="rId3"/>
          <a:stretch>
            <a:fillRect/>
          </a:stretch>
        </p:blipFill>
        <p:spPr>
          <a:xfrm>
            <a:off x="7040833" y="1463040"/>
            <a:ext cx="4005165" cy="4617720"/>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씨 </a:t>
            </a:r>
            <a:r>
              <a:rPr lang="en-US" sz="3000" b="1" dirty="0">
                <a:solidFill>
                  <a:srgbClr val="4236F6"/>
                </a:solidFill>
              </a:rPr>
              <a:t>· </a:t>
            </a:r>
            <a:r>
              <a:rPr lang="ko-KR" altLang="en-US" sz="3000" b="1" dirty="0">
                <a:solidFill>
                  <a:srgbClr val="4236F6"/>
                </a:solidFill>
                <a:latin typeface="Malgun Gothic" pitchFamily="34" charset="0"/>
                <a:ea typeface="Malgun Gothic" pitchFamily="34" charset="-122"/>
                <a:cs typeface="Malgun Gothic" pitchFamily="34" charset="-120"/>
              </a:rPr>
              <a:t>선생님  </a:t>
            </a:r>
            <a:r>
              <a:rPr lang="ko-KR" altLang="en-US" sz="3000" b="1" dirty="0">
                <a:solidFill>
                  <a:srgbClr val="003478"/>
                </a:solidFill>
                <a:latin typeface="Malgun Gothic" pitchFamily="34" charset="0"/>
                <a:ea typeface="Malgun Gothic" pitchFamily="34" charset="-122"/>
                <a:cs typeface="Malgun Gothic" pitchFamily="34" charset="-120"/>
              </a:rPr>
              <a:t>씨 </a:t>
            </a:r>
            <a:r>
              <a:rPr lang="en-US" sz="3000" b="1" dirty="0">
                <a:solidFill>
                  <a:srgbClr val="003478"/>
                </a:solidFill>
              </a:rPr>
              <a:t>y </a:t>
            </a:r>
            <a:r>
              <a:rPr lang="ko-KR" altLang="en-US" sz="3000" b="1" dirty="0">
                <a:solidFill>
                  <a:srgbClr val="003478"/>
                </a:solidFill>
                <a:latin typeface="Malgun Gothic" pitchFamily="34" charset="0"/>
                <a:ea typeface="Malgun Gothic" pitchFamily="34" charset="-122"/>
                <a:cs typeface="Malgun Gothic" pitchFamily="34" charset="-120"/>
              </a:rPr>
              <a:t>선생님</a:t>
            </a:r>
            <a:r>
              <a:rPr lang="ko-KR" altLang="en-US" sz="1500" b="1" i="1" dirty="0">
                <a:solidFill>
                  <a:srgbClr val="8A8DA0"/>
                </a:solidFill>
              </a:rPr>
              <a:t>   씨 and 선생님 (how to address people)</a:t>
            </a:r>
            <a:endParaRPr lang="en-US" sz="3000" dirty="0"/>
          </a:p>
        </p:txBody>
      </p:sp>
      <p:sp>
        <p:nvSpPr>
          <p:cNvPr id="3" name="Text 1"/>
          <p:cNvSpPr txBox="1"/>
          <p:nvPr/>
        </p:nvSpPr>
        <p:spPr>
          <a:xfrm>
            <a:off x="548640" y="1325880"/>
            <a:ext cx="6949440" cy="548640"/>
          </a:xfrm>
          <a:prstGeom prst="rect">
            <a:avLst/>
          </a:prstGeom>
          <a:noFill/>
          <a:ln/>
        </p:spPr>
        <p:txBody>
          <a:bodyPr wrap="square" lIns="0" tIns="0" rIns="0" bIns="0" rtlCol="0" anchor="t">
            <a:normAutofit/>
          </a:bodyPr>
          <a:lstStyle/>
          <a:p>
            <a:pPr marL="0" indent="0" eaLnBrk="1">
              <a:buNone/>
            </a:pPr>
            <a:r>
              <a:rPr lang="en-US" sz="1800" i="1" dirty="0">
                <a:solidFill>
                  <a:srgbClr val="4236F6"/>
                </a:solidFill>
              </a:rPr>
              <a:t>Frase ancla, todos a la vez y con inclinación</a:t>
            </a:r>
            <a:endParaRPr lang="en-US" sz="1800" dirty="0"/>
          </a:p>
        </p:txBody>
      </p:sp>
      <p:sp>
        <p:nvSpPr>
          <p:cNvPr id="4" name="lista"/>
          <p:cNvSpPr txBox="1"/>
          <p:nvPr/>
        </p:nvSpPr>
        <p:spPr>
          <a:xfrm>
            <a:off x="548640" y="1965960"/>
            <a:ext cx="6949440" cy="42062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200" dirty="0">
                <a:solidFill>
                  <a:srgbClr val="14142B"/>
                </a:solidFill>
                <a:latin typeface="Malgun Gothic" pitchFamily="34" charset="0"/>
                <a:ea typeface="Malgun Gothic" pitchFamily="34" charset="-122"/>
                <a:cs typeface="Malgun Gothic" pitchFamily="34" charset="-120"/>
              </a:rPr>
              <a:t>Entre compañeros: nombre + 씨 </a:t>
            </a:r>
            <a:r>
              <a:rPr lang="en-US" sz="2200" dirty="0">
                <a:solidFill>
                  <a:srgbClr val="14142B"/>
                </a:solidFill>
              </a:rPr>
              <a:t>→ </a:t>
            </a:r>
            <a:r>
              <a:rPr lang="ko-KR" altLang="en-US" sz="2200" dirty="0">
                <a:solidFill>
                  <a:srgbClr val="14142B"/>
                </a:solidFill>
                <a:latin typeface="Malgun Gothic" pitchFamily="34" charset="0"/>
                <a:ea typeface="Malgun Gothic" pitchFamily="34" charset="-122"/>
                <a:cs typeface="Malgun Gothic" pitchFamily="34" charset="-120"/>
              </a:rPr>
              <a:t>다니엘 씨 </a:t>
            </a:r>
            <a:r>
              <a:rPr lang="en-US" sz="2200" dirty="0">
                <a:solidFill>
                  <a:srgbClr val="14142B"/>
                </a:solidFill>
              </a:rPr>
              <a:t>· </a:t>
            </a:r>
            <a:r>
              <a:rPr lang="ko-KR" altLang="en-US" sz="2200" dirty="0">
                <a:solidFill>
                  <a:srgbClr val="14142B"/>
                </a:solidFill>
                <a:latin typeface="Malgun Gothic" pitchFamily="34" charset="0"/>
                <a:ea typeface="Malgun Gothic" pitchFamily="34" charset="-122"/>
                <a:cs typeface="Malgun Gothic" pitchFamily="34" charset="-120"/>
              </a:rPr>
              <a:t>카밀라 씨</a:t>
            </a:r>
            <a:endParaRPr lang="en-US" sz="2200" dirty="0"/>
          </a:p>
          <a:p>
            <a:pPr marL="228600" indent="-228600" eaLnBrk="1">
              <a:spcAft>
                <a:spcPts val="800"/>
              </a:spcAft>
              <a:buSzPct val="100000"/>
              <a:buChar char="•"/>
            </a:pPr>
            <a:r>
              <a:rPr lang="ko-KR" altLang="en-US" sz="2200" dirty="0">
                <a:solidFill>
                  <a:srgbClr val="14142B"/>
                </a:solidFill>
                <a:latin typeface="Malgun Gothic" pitchFamily="34" charset="0"/>
                <a:ea typeface="Malgun Gothic" pitchFamily="34" charset="-122"/>
                <a:cs typeface="Malgun Gothic" pitchFamily="34" charset="-120"/>
              </a:rPr>
              <a:t>Nunca con tu propio nombre: 저는 카밀라 씨예요</a:t>
            </a:r>
            <a:r>
              <a:rPr lang="en-US" sz="2200" dirty="0">
                <a:solidFill>
                  <a:srgbClr val="14142B"/>
                </a:solidFill>
              </a:rPr>
              <a:t>*</a:t>
            </a:r>
            <a:endParaRPr lang="en-US" sz="2200" dirty="0"/>
          </a:p>
          <a:p>
            <a:pPr marL="228600" indent="-228600" eaLnBrk="1">
              <a:spcAft>
                <a:spcPts val="800"/>
              </a:spcAft>
              <a:buSzPct val="100000"/>
              <a:buChar char="•"/>
            </a:pPr>
            <a:r>
              <a:rPr lang="ko-KR" altLang="en-US" sz="2200" dirty="0">
                <a:solidFill>
                  <a:srgbClr val="14142B"/>
                </a:solidFill>
                <a:latin typeface="Malgun Gothic" pitchFamily="34" charset="0"/>
                <a:ea typeface="Malgun Gothic" pitchFamily="34" charset="-122"/>
                <a:cs typeface="Malgun Gothic" pitchFamily="34" charset="-120"/>
              </a:rPr>
              <a:t>A Jay: 선생님</a:t>
            </a:r>
            <a:endParaRPr lang="en-US" sz="2200" dirty="0"/>
          </a:p>
          <a:p>
            <a:pPr marL="228600" indent="-228600" eaLnBrk="1">
              <a:spcAft>
                <a:spcPts val="800"/>
              </a:spcAft>
              <a:buSzPct val="100000"/>
              <a:buChar char="•"/>
            </a:pPr>
            <a:r>
              <a:rPr lang="ko-KR" altLang="en-US" sz="2200" dirty="0">
                <a:solidFill>
                  <a:srgbClr val="14142B"/>
                </a:solidFill>
                <a:latin typeface="Malgun Gothic" pitchFamily="34" charset="0"/>
                <a:ea typeface="Malgun Gothic" pitchFamily="34" charset="-122"/>
                <a:cs typeface="Malgun Gothic" pitchFamily="34" charset="-120"/>
              </a:rPr>
              <a:t>Lo vas a oír: 무슨 일 하세요</a:t>
            </a:r>
            <a:r>
              <a:rPr lang="en-US" sz="2200" dirty="0">
                <a:solidFill>
                  <a:srgbClr val="14142B"/>
                </a:solidFill>
              </a:rPr>
              <a:t>? = ¿a qué te dedicas? → </a:t>
            </a:r>
            <a:r>
              <a:rPr lang="ko-KR" altLang="en-US" sz="2200" dirty="0">
                <a:solidFill>
                  <a:srgbClr val="14142B"/>
                </a:solidFill>
                <a:latin typeface="Malgun Gothic" pitchFamily="34" charset="0"/>
                <a:ea typeface="Malgun Gothic" pitchFamily="34" charset="-122"/>
                <a:cs typeface="Malgun Gothic" pitchFamily="34" charset="-120"/>
              </a:rPr>
              <a:t>회사원이에요</a:t>
            </a:r>
            <a:r>
              <a:rPr lang="en-US" sz="2200" dirty="0">
                <a:solidFill>
                  <a:srgbClr val="14142B"/>
                </a:solidFill>
              </a:rPr>
              <a:t>.</a:t>
            </a:r>
            <a:endParaRPr lang="en-US" sz="2200" dirty="0"/>
          </a:p>
          <a:p>
            <a:pPr marL="228600" indent="-228600" eaLnBrk="1">
              <a:spcAft>
                <a:spcPts val="800"/>
              </a:spcAft>
              <a:buSzPct val="100000"/>
              <a:buChar char="•"/>
            </a:pPr>
            <a:r>
              <a:rPr lang="ko-KR" altLang="en-US" sz="2200" dirty="0">
                <a:solidFill>
                  <a:srgbClr val="14142B"/>
                </a:solidFill>
                <a:latin typeface="Malgun Gothic" pitchFamily="34" charset="0"/>
                <a:ea typeface="Malgun Gothic" pitchFamily="34" charset="-122"/>
                <a:cs typeface="Malgun Gothic" pitchFamily="34" charset="-120"/>
              </a:rPr>
              <a:t>Frase ancla, con una leve inclinación: 반갑습니다</a:t>
            </a:r>
            <a:r>
              <a:rPr lang="en-US" sz="2200" dirty="0">
                <a:solidFill>
                  <a:srgbClr val="14142B"/>
                </a:solidFill>
              </a:rPr>
              <a:t>. </a:t>
            </a:r>
            <a:r>
              <a:rPr lang="ko-KR" altLang="en-US" sz="2200" dirty="0">
                <a:solidFill>
                  <a:srgbClr val="14142B"/>
                </a:solidFill>
                <a:latin typeface="Malgun Gothic" pitchFamily="34" charset="0"/>
                <a:ea typeface="Malgun Gothic" pitchFamily="34" charset="-122"/>
                <a:cs typeface="Malgun Gothic" pitchFamily="34" charset="-120"/>
              </a:rPr>
              <a:t>저는 </a:t>
            </a:r>
            <a:r>
              <a:rPr lang="en-US" sz="2200" dirty="0">
                <a:solidFill>
                  <a:srgbClr val="14142B"/>
                </a:solidFill>
              </a:rPr>
              <a:t>___</a:t>
            </a:r>
            <a:r>
              <a:rPr lang="ko-KR" altLang="en-US" sz="2200" dirty="0">
                <a:solidFill>
                  <a:srgbClr val="14142B"/>
                </a:solidFill>
                <a:latin typeface="Malgun Gothic" pitchFamily="34" charset="0"/>
                <a:ea typeface="Malgun Gothic" pitchFamily="34" charset="-122"/>
                <a:cs typeface="Malgun Gothic" pitchFamily="34" charset="-120"/>
              </a:rPr>
              <a:t>예요</a:t>
            </a:r>
            <a:r>
              <a:rPr lang="en-US" sz="2200" dirty="0">
                <a:solidFill>
                  <a:srgbClr val="14142B"/>
                </a:solidFill>
              </a:rPr>
              <a:t>/</a:t>
            </a:r>
            <a:r>
              <a:rPr lang="ko-KR" altLang="en-US" sz="2200" dirty="0">
                <a:solidFill>
                  <a:srgbClr val="14142B"/>
                </a:solidFill>
                <a:latin typeface="Malgun Gothic" pitchFamily="34" charset="0"/>
                <a:ea typeface="Malgun Gothic" pitchFamily="34" charset="-122"/>
                <a:cs typeface="Malgun Gothic" pitchFamily="34" charset="-120"/>
              </a:rPr>
              <a:t>이에요</a:t>
            </a:r>
            <a:r>
              <a:rPr lang="en-US" sz="2200" dirty="0">
                <a:solidFill>
                  <a:srgbClr val="14142B"/>
                </a:solidFill>
              </a:rPr>
              <a:t>.</a:t>
            </a:r>
            <a:endParaRPr lang="en-US" sz="2200" dirty="0"/>
          </a:p>
        </p:txBody>
      </p:sp>
      <p:sp>
        <p:nvSpPr>
          <p:cNvPr id="5" name="panel"/>
          <p:cNvSpPr/>
          <p:nvPr/>
        </p:nvSpPr>
        <p:spPr>
          <a:xfrm>
            <a:off x="8001000" y="1417320"/>
            <a:ext cx="3611880" cy="4480560"/>
          </a:xfrm>
          <a:prstGeom prst="roundRect">
            <a:avLst>
              <a:gd name="adj" fmla="val 6329"/>
            </a:avLst>
          </a:prstGeom>
          <a:solidFill>
            <a:srgbClr val="F1F0FE"/>
          </a:solidFill>
          <a:ln w="12700">
            <a:solidFill>
              <a:srgbClr val="F1F0FE"/>
            </a:solidFill>
            <a:prstDash val="solid"/>
          </a:ln>
        </p:spPr>
      </p:sp>
      <p:sp>
        <p:nvSpPr>
          <p:cNvPr id="6" name="ko_grande"/>
          <p:cNvSpPr txBox="1"/>
          <p:nvPr/>
        </p:nvSpPr>
        <p:spPr>
          <a:xfrm>
            <a:off x="8092440" y="1874520"/>
            <a:ext cx="3429000" cy="2926080"/>
          </a:xfrm>
          <a:prstGeom prst="rect">
            <a:avLst/>
          </a:prstGeom>
          <a:noFill/>
          <a:ln/>
        </p:spPr>
        <p:txBody>
          <a:bodyPr wrap="square" lIns="0" tIns="0" rIns="0" bIns="0" rtlCol="0" anchor="ctr">
            <a:normAutofit/>
          </a:bodyPr>
          <a:lstStyle/>
          <a:p>
            <a:pPr marL="0" indent="0" algn="ctr" eaLnBrk="1">
              <a:buNone/>
            </a:pPr>
            <a:r>
              <a:rPr lang="ko-KR" altLang="en-US" sz="7700" b="1" dirty="0">
                <a:solidFill>
                  <a:srgbClr val="4236F6"/>
                </a:solidFill>
                <a:latin typeface="Malgun Gothic" pitchFamily="34" charset="0"/>
                <a:ea typeface="Malgun Gothic" pitchFamily="34" charset="-122"/>
                <a:cs typeface="Malgun Gothic" pitchFamily="34" charset="-120"/>
              </a:rPr>
              <a:t>씨 </a:t>
            </a:r>
            <a:r>
              <a:rPr lang="en-US" sz="7700" b="1" dirty="0">
                <a:solidFill>
                  <a:srgbClr val="4236F6"/>
                </a:solidFill>
              </a:rPr>
              <a:t>·</a:t>
            </a:r>
            <a:endParaRPr lang="en-US" sz="7700" dirty="0"/>
          </a:p>
          <a:p>
            <a:pPr marL="0" indent="0" algn="ctr" eaLnBrk="1">
              <a:buNone/>
            </a:pPr>
            <a:r>
              <a:rPr lang="ko-KR" altLang="en-US" sz="7700" b="1" dirty="0">
                <a:solidFill>
                  <a:srgbClr val="4236F6"/>
                </a:solidFill>
                <a:latin typeface="Malgun Gothic" pitchFamily="34" charset="0"/>
                <a:ea typeface="Malgun Gothic" pitchFamily="34" charset="-122"/>
                <a:cs typeface="Malgun Gothic" pitchFamily="34" charset="-120"/>
              </a:rPr>
              <a:t>선생님</a:t>
            </a:r>
            <a:endParaRPr lang="en-US" sz="77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Salas de 3 · 28 minutos</a:t>
            </a:r>
            <a:r>
              <a:rPr lang="en-US" sz="1500" b="1" i="1" dirty="0">
                <a:solidFill>
                  <a:srgbClr val="8A8DA0"/>
                </a:solidFill>
              </a:rPr>
              <a:t>   Breakout rooms of 3 · 28 minutes</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en-US" sz="1800" i="1" dirty="0">
                <a:solidFill>
                  <a:srgbClr val="4236F6"/>
                </a:solidFill>
              </a:rPr>
              <a:t>Tarjeta: sección 7 de tu material (link en el chat) · miren la hora: Jay no pasa por las salas</a:t>
            </a:r>
            <a:endParaRPr lang="en-US" sz="1800" dirty="0"/>
          </a:p>
        </p:txBody>
      </p:sp>
      <p:graphicFrame>
        <p:nvGraphicFramePr>
          <p:cNvPr id="18" name="tabla"/>
          <p:cNvGraphicFramePr>
            <a:graphicFrameLocks noGrp="1"/>
          </p:cNvGraphicFramePr>
          <p:nvPr>
            <p:extLst>
              <p:ext uri="{D42A27DB-BD31-4B8C-83A1-F6EECF244321}">
                <p14:modId xmlns:p14="http://schemas.microsoft.com/office/powerpoint/2010/main" val="3913352876"/>
              </p:ext>
            </p:extLst>
          </p:nvPr>
        </p:nvGraphicFramePr>
        <p:xfrm>
          <a:off x="548640" y="1874520"/>
          <a:ext cx="11091672" cy="914400"/>
        </p:xfrm>
        <a:graphic>
          <a:graphicData uri="http://schemas.openxmlformats.org/drawingml/2006/table">
            <a:tbl>
              <a:tblPr/>
              <a:tblGrid>
                <a:gridCol w="3697224">
                  <a:extLst>
                    <a:ext uri="{9D8B030D-6E8A-4147-A177-3AD203B41FA5}">
                      <a16:colId xmlns:a16="http://schemas.microsoft.com/office/drawing/2014/main" val="20000"/>
                    </a:ext>
                  </a:extLst>
                </a:gridCol>
                <a:gridCol w="3697224">
                  <a:extLst>
                    <a:ext uri="{9D8B030D-6E8A-4147-A177-3AD203B41FA5}">
                      <a16:colId xmlns:a16="http://schemas.microsoft.com/office/drawing/2014/main" val="20001"/>
                    </a:ext>
                  </a:extLst>
                </a:gridCol>
                <a:gridCol w="3697224">
                  <a:extLst>
                    <a:ext uri="{9D8B030D-6E8A-4147-A177-3AD203B41FA5}">
                      <a16:colId xmlns:a16="http://schemas.microsoft.com/office/drawing/2014/main" val="20002"/>
                    </a:ext>
                  </a:extLst>
                </a:gridCol>
              </a:tblGrid>
              <a:tr h="0">
                <a:tc>
                  <a:txBody>
                    <a:bodyPr/>
                    <a:lstStyle/>
                    <a:p>
                      <a:pPr marL="0" indent="0" eaLnBrk="1">
                        <a:buNone/>
                      </a:pPr>
                      <a:r>
                        <a:rPr lang="en-US" sz="1500" b="1" dirty="0">
                          <a:solidFill>
                            <a:srgbClr val="FFFFFF"/>
                          </a:solidFill>
                        </a:rPr>
                        <a:t>Ronda</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500" b="1" dirty="0">
                          <a:solidFill>
                            <a:srgbClr val="FFFFFF"/>
                          </a:solidFill>
                        </a:rPr>
                        <a:t>Hora</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500" b="1" dirty="0">
                          <a:solidFill>
                            <a:srgbClr val="FFFFFF"/>
                          </a:solidFill>
                        </a:rPr>
                        <a:t>Qué hacen</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extLst>
                  <a:ext uri="{0D108BD9-81ED-4DB2-BD59-A6C34878D82A}">
                    <a16:rowId xmlns:a16="http://schemas.microsoft.com/office/drawing/2014/main" val="10000"/>
                  </a:ext>
                </a:extLst>
              </a:tr>
              <a:tr h="0">
                <a:tc>
                  <a:txBody>
                    <a:bodyPr/>
                    <a:lstStyle/>
                    <a:p>
                      <a:pPr marL="0" indent="0" eaLnBrk="1">
                        <a:buNone/>
                      </a:pPr>
                      <a:r>
                        <a:rPr lang="en-US" sz="1500" dirty="0">
                          <a:solidFill>
                            <a:srgbClr val="14142B"/>
                          </a:solidFill>
                        </a:rPr>
                        <a:t>R1</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500" dirty="0">
                          <a:solidFill>
                            <a:srgbClr val="14142B"/>
                          </a:solidFill>
                        </a:rPr>
                        <a:t>21:26</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500" dirty="0">
                          <a:solidFill>
                            <a:srgbClr val="14142B"/>
                          </a:solidFill>
                          <a:latin typeface="Malgun Gothic" pitchFamily="34" charset="0"/>
                          <a:ea typeface="Malgun Gothic" pitchFamily="34" charset="-122"/>
                          <a:cs typeface="Malgun Gothic" pitchFamily="34" charset="-120"/>
                        </a:rPr>
                        <a:t>Re-presentación: 5 frases sin leer + una pregunta (___ 씨</a:t>
                      </a:r>
                      <a:r>
                        <a:rPr lang="en-US" sz="1500" dirty="0">
                          <a:solidFill>
                            <a:srgbClr val="14142B"/>
                          </a:solidFill>
                        </a:rPr>
                        <a:t>, </a:t>
                      </a:r>
                      <a:r>
                        <a:rPr lang="ko-KR" altLang="en-US" sz="1500" dirty="0">
                          <a:solidFill>
                            <a:srgbClr val="14142B"/>
                          </a:solidFill>
                          <a:latin typeface="Malgun Gothic" pitchFamily="34" charset="0"/>
                          <a:ea typeface="Malgun Gothic" pitchFamily="34" charset="-122"/>
                          <a:cs typeface="Malgun Gothic" pitchFamily="34" charset="-120"/>
                        </a:rPr>
                        <a:t>취미가 뭐예요</a:t>
                      </a:r>
                      <a:r>
                        <a:rPr lang="en-US" sz="1500" dirty="0">
                          <a:solidFill>
                            <a:srgbClr val="14142B"/>
                          </a:solidFill>
                        </a:rPr>
                        <a:t>?)</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1"/>
                  </a:ext>
                </a:extLst>
              </a:tr>
              <a:tr h="0">
                <a:tc>
                  <a:txBody>
                    <a:bodyPr/>
                    <a:lstStyle/>
                    <a:p>
                      <a:pPr marL="0" indent="0" eaLnBrk="1">
                        <a:buNone/>
                      </a:pPr>
                      <a:r>
                        <a:rPr lang="en-US" sz="1500" dirty="0">
                          <a:solidFill>
                            <a:srgbClr val="14142B"/>
                          </a:solidFill>
                        </a:rPr>
                        <a:t>R2</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500" dirty="0">
                          <a:solidFill>
                            <a:srgbClr val="14142B"/>
                          </a:solidFill>
                        </a:rPr>
                        <a:t>21:32</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500" dirty="0">
                          <a:solidFill>
                            <a:srgbClr val="14142B"/>
                          </a:solidFill>
                          <a:latin typeface="Malgun Gothic" pitchFamily="34" charset="0"/>
                          <a:ea typeface="Malgun Gothic" pitchFamily="34" charset="-122"/>
                          <a:cs typeface="Malgun Gothic" pitchFamily="34" charset="-120"/>
                        </a:rPr>
                        <a:t>Entrevista: 어디에 살아요</a:t>
                      </a:r>
                      <a:r>
                        <a:rPr lang="en-US" sz="1500" dirty="0">
                          <a:solidFill>
                            <a:srgbClr val="14142B"/>
                          </a:solidFill>
                        </a:rPr>
                        <a:t>? · </a:t>
                      </a:r>
                      <a:r>
                        <a:rPr lang="ko-KR" altLang="en-US" sz="1500" dirty="0">
                          <a:solidFill>
                            <a:srgbClr val="14142B"/>
                          </a:solidFill>
                          <a:latin typeface="Malgun Gothic" pitchFamily="34" charset="0"/>
                          <a:ea typeface="Malgun Gothic" pitchFamily="34" charset="-122"/>
                          <a:cs typeface="Malgun Gothic" pitchFamily="34" charset="-120"/>
                        </a:rPr>
                        <a:t>고향이 어디예요</a:t>
                      </a:r>
                      <a:r>
                        <a:rPr lang="en-US" sz="1500" dirty="0">
                          <a:solidFill>
                            <a:srgbClr val="14142B"/>
                          </a:solidFill>
                        </a:rPr>
                        <a:t>? · </a:t>
                      </a:r>
                      <a:r>
                        <a:rPr lang="ko-KR" altLang="en-US" sz="1500" dirty="0">
                          <a:solidFill>
                            <a:srgbClr val="14142B"/>
                          </a:solidFill>
                          <a:latin typeface="Malgun Gothic" pitchFamily="34" charset="0"/>
                          <a:ea typeface="Malgun Gothic" pitchFamily="34" charset="-122"/>
                          <a:cs typeface="Malgun Gothic" pitchFamily="34" charset="-120"/>
                        </a:rPr>
                        <a:t>직업이 뭐예요</a:t>
                      </a:r>
                      <a:r>
                        <a:rPr lang="en-US" sz="1500" dirty="0">
                          <a:solidFill>
                            <a:srgbClr val="14142B"/>
                          </a:solidFill>
                        </a:rPr>
                        <a:t>? · </a:t>
                      </a:r>
                      <a:r>
                        <a:rPr lang="ko-KR" altLang="en-US" sz="1500" dirty="0">
                          <a:solidFill>
                            <a:srgbClr val="14142B"/>
                          </a:solidFill>
                          <a:latin typeface="Malgun Gothic" pitchFamily="34" charset="0"/>
                          <a:ea typeface="Malgun Gothic" pitchFamily="34" charset="-122"/>
                          <a:cs typeface="Malgun Gothic" pitchFamily="34" charset="-120"/>
                        </a:rPr>
                        <a:t>형제가 있어요</a:t>
                      </a:r>
                      <a:r>
                        <a:rPr lang="en-US" sz="1500" dirty="0">
                          <a:solidFill>
                            <a:srgbClr val="14142B"/>
                          </a:solidFill>
                        </a:rPr>
                        <a:t>? · </a:t>
                      </a:r>
                      <a:r>
                        <a:rPr lang="ko-KR" altLang="en-US" sz="1500" dirty="0">
                          <a:solidFill>
                            <a:srgbClr val="14142B"/>
                          </a:solidFill>
                          <a:latin typeface="Malgun Gothic" pitchFamily="34" charset="0"/>
                          <a:ea typeface="Malgun Gothic" pitchFamily="34" charset="-122"/>
                          <a:cs typeface="Malgun Gothic" pitchFamily="34" charset="-120"/>
                        </a:rPr>
                        <a:t>취미가 뭐예요</a:t>
                      </a:r>
                      <a:r>
                        <a:rPr lang="en-US" sz="1500" dirty="0">
                          <a:solidFill>
                            <a:srgbClr val="14142B"/>
                          </a:solidFill>
                        </a:rPr>
                        <a:t>? · </a:t>
                      </a:r>
                      <a:r>
                        <a:rPr lang="ko-KR" altLang="en-US" sz="1500" dirty="0">
                          <a:solidFill>
                            <a:srgbClr val="14142B"/>
                          </a:solidFill>
                          <a:latin typeface="Malgun Gothic" pitchFamily="34" charset="0"/>
                          <a:ea typeface="Malgun Gothic" pitchFamily="34" charset="-122"/>
                          <a:cs typeface="Malgun Gothic" pitchFamily="34" charset="-120"/>
                        </a:rPr>
                        <a:t>요즘 뭐 해요</a:t>
                      </a:r>
                      <a:r>
                        <a:rPr lang="en-US" sz="1500" dirty="0">
                          <a:solidFill>
                            <a:srgbClr val="14142B"/>
                          </a:solidFill>
                        </a:rPr>
                        <a:t>? (anota en </a:t>
                      </a:r>
                      <a:r>
                        <a:rPr lang="ko-KR" altLang="en-US" sz="1500" dirty="0">
                          <a:solidFill>
                            <a:srgbClr val="14142B"/>
                          </a:solidFill>
                          <a:latin typeface="Malgun Gothic" pitchFamily="34" charset="0"/>
                          <a:ea typeface="Malgun Gothic" pitchFamily="34" charset="-122"/>
                          <a:cs typeface="Malgun Gothic" pitchFamily="34" charset="-120"/>
                        </a:rPr>
                        <a:t>한글</a:t>
                      </a:r>
                      <a:r>
                        <a:rPr lang="en-US" sz="1500" dirty="0">
                          <a:solidFill>
                            <a:srgbClr val="14142B"/>
                          </a:solidFill>
                        </a:rPr>
                        <a:t>)</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eaLnBrk="1">
                        <a:buNone/>
                      </a:pPr>
                      <a:r>
                        <a:rPr lang="en-US" sz="1500" dirty="0">
                          <a:solidFill>
                            <a:srgbClr val="14142B"/>
                          </a:solidFill>
                        </a:rPr>
                        <a:t>R3</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500" dirty="0">
                          <a:solidFill>
                            <a:srgbClr val="14142B"/>
                          </a:solidFill>
                        </a:rPr>
                        <a:t>21:40</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500" dirty="0">
                          <a:solidFill>
                            <a:srgbClr val="14142B"/>
                          </a:solidFill>
                          <a:latin typeface="Malgun Gothic" pitchFamily="34" charset="0"/>
                          <a:ea typeface="Malgun Gothic" pitchFamily="34" charset="-122"/>
                          <a:cs typeface="Malgun Gothic" pitchFamily="34" charset="-120"/>
                        </a:rPr>
                        <a:t>Escritorio: 책상 위에 </a:t>
                      </a:r>
                      <a:r>
                        <a:rPr lang="en-US" sz="1500" dirty="0">
                          <a:solidFill>
                            <a:srgbClr val="14142B"/>
                          </a:solidFill>
                        </a:rPr>
                        <a:t>___</a:t>
                      </a:r>
                      <a:r>
                        <a:rPr lang="ko-KR" altLang="en-US" sz="1500" dirty="0">
                          <a:solidFill>
                            <a:srgbClr val="14142B"/>
                          </a:solidFill>
                          <a:latin typeface="Malgun Gothic" pitchFamily="34" charset="0"/>
                          <a:ea typeface="Malgun Gothic" pitchFamily="34" charset="-122"/>
                          <a:cs typeface="Malgun Gothic" pitchFamily="34" charset="-120"/>
                        </a:rPr>
                        <a:t>이</a:t>
                      </a:r>
                      <a:r>
                        <a:rPr lang="en-US" sz="1500" dirty="0">
                          <a:solidFill>
                            <a:srgbClr val="14142B"/>
                          </a:solidFill>
                        </a:rPr>
                        <a:t>/</a:t>
                      </a:r>
                      <a:r>
                        <a:rPr lang="ko-KR" altLang="en-US" sz="1500" dirty="0">
                          <a:solidFill>
                            <a:srgbClr val="14142B"/>
                          </a:solidFill>
                          <a:latin typeface="Malgun Gothic" pitchFamily="34" charset="0"/>
                          <a:ea typeface="Malgun Gothic" pitchFamily="34" charset="-122"/>
                          <a:cs typeface="Malgun Gothic" pitchFamily="34" charset="-120"/>
                        </a:rPr>
                        <a:t>가 있어요</a:t>
                      </a:r>
                      <a:r>
                        <a:rPr lang="en-US" sz="1500" dirty="0">
                          <a:solidFill>
                            <a:srgbClr val="14142B"/>
                          </a:solidFill>
                        </a:rPr>
                        <a:t>? — </a:t>
                      </a:r>
                      <a:r>
                        <a:rPr lang="ko-KR" altLang="en-US" sz="1500" dirty="0">
                          <a:solidFill>
                            <a:srgbClr val="14142B"/>
                          </a:solidFill>
                          <a:latin typeface="Malgun Gothic" pitchFamily="34" charset="0"/>
                          <a:ea typeface="Malgun Gothic" pitchFamily="34" charset="-122"/>
                          <a:cs typeface="Malgun Gothic" pitchFamily="34" charset="-120"/>
                        </a:rPr>
                        <a:t>네</a:t>
                      </a:r>
                      <a:r>
                        <a:rPr lang="en-US" sz="1500" dirty="0">
                          <a:solidFill>
                            <a:srgbClr val="14142B"/>
                          </a:solidFill>
                        </a:rPr>
                        <a:t>, </a:t>
                      </a:r>
                      <a:r>
                        <a:rPr lang="ko-KR" altLang="en-US" sz="1500" dirty="0">
                          <a:solidFill>
                            <a:srgbClr val="14142B"/>
                          </a:solidFill>
                          <a:latin typeface="Malgun Gothic" pitchFamily="34" charset="0"/>
                          <a:ea typeface="Malgun Gothic" pitchFamily="34" charset="-122"/>
                          <a:cs typeface="Malgun Gothic" pitchFamily="34" charset="-120"/>
                        </a:rPr>
                        <a:t>있어요</a:t>
                      </a:r>
                      <a:r>
                        <a:rPr lang="en-US" sz="1500" dirty="0">
                          <a:solidFill>
                            <a:srgbClr val="14142B"/>
                          </a:solidFill>
                        </a:rPr>
                        <a:t>! / </a:t>
                      </a:r>
                      <a:r>
                        <a:rPr lang="ko-KR" altLang="en-US" sz="1500" dirty="0">
                          <a:solidFill>
                            <a:srgbClr val="14142B"/>
                          </a:solidFill>
                          <a:latin typeface="Malgun Gothic" pitchFamily="34" charset="0"/>
                          <a:ea typeface="Malgun Gothic" pitchFamily="34" charset="-122"/>
                          <a:cs typeface="Malgun Gothic" pitchFamily="34" charset="-120"/>
                        </a:rPr>
                        <a:t>아니요</a:t>
                      </a:r>
                      <a:r>
                        <a:rPr lang="en-US" sz="1500" dirty="0">
                          <a:solidFill>
                            <a:srgbClr val="14142B"/>
                          </a:solidFill>
                        </a:rPr>
                        <a:t>, </a:t>
                      </a:r>
                      <a:r>
                        <a:rPr lang="ko-KR" altLang="en-US" sz="1500" dirty="0">
                          <a:solidFill>
                            <a:srgbClr val="14142B"/>
                          </a:solidFill>
                          <a:latin typeface="Malgun Gothic" pitchFamily="34" charset="0"/>
                          <a:ea typeface="Malgun Gothic" pitchFamily="34" charset="-122"/>
                          <a:cs typeface="Malgun Gothic" pitchFamily="34" charset="-120"/>
                        </a:rPr>
                        <a:t>없어요</a:t>
                      </a:r>
                      <a:r>
                        <a:rPr lang="en-US" sz="1500" dirty="0">
                          <a:solidFill>
                            <a:srgbClr val="14142B"/>
                          </a:solidFill>
                        </a:rPr>
                        <a:t>.</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3"/>
                  </a:ext>
                </a:extLst>
              </a:tr>
              <a:tr h="0">
                <a:tc>
                  <a:txBody>
                    <a:bodyPr/>
                    <a:lstStyle/>
                    <a:p>
                      <a:pPr marL="0" indent="0" eaLnBrk="1">
                        <a:buNone/>
                      </a:pPr>
                      <a:r>
                        <a:rPr lang="en-US" sz="1500" dirty="0">
                          <a:solidFill>
                            <a:srgbClr val="14142B"/>
                          </a:solidFill>
                        </a:rPr>
                        <a:t>R4</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500" dirty="0">
                          <a:solidFill>
                            <a:srgbClr val="14142B"/>
                          </a:solidFill>
                        </a:rPr>
                        <a:t>21:45</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500" dirty="0">
                          <a:solidFill>
                            <a:srgbClr val="14142B"/>
                          </a:solidFill>
                          <a:latin typeface="Malgun Gothic" pitchFamily="34" charset="0"/>
                          <a:ea typeface="Malgun Gothic" pitchFamily="34" charset="-122"/>
                          <a:cs typeface="Malgun Gothic" pitchFamily="34" charset="-120"/>
                        </a:rPr>
                        <a:t>Presenta a tu compañero: 다니엘 씨는 멕시코 사람이에요</a:t>
                      </a:r>
                      <a:r>
                        <a:rPr lang="en-US" sz="1500" dirty="0">
                          <a:solidFill>
                            <a:srgbClr val="14142B"/>
                          </a:solidFill>
                        </a:rPr>
                        <a:t>. </a:t>
                      </a:r>
                      <a:r>
                        <a:rPr lang="ko-KR" altLang="en-US" sz="1500" dirty="0">
                          <a:solidFill>
                            <a:srgbClr val="14142B"/>
                          </a:solidFill>
                          <a:latin typeface="Malgun Gothic" pitchFamily="34" charset="0"/>
                          <a:ea typeface="Malgun Gothic" pitchFamily="34" charset="-122"/>
                          <a:cs typeface="Malgun Gothic" pitchFamily="34" charset="-120"/>
                        </a:rPr>
                        <a:t>대학생이에요</a:t>
                      </a:r>
                      <a:r>
                        <a:rPr lang="en-US" sz="1500" dirty="0">
                          <a:solidFill>
                            <a:srgbClr val="14142B"/>
                          </a:solidFill>
                        </a:rPr>
                        <a:t>.</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eaLnBrk="1">
                        <a:buNone/>
                      </a:pPr>
                      <a:r>
                        <a:rPr lang="en-US" sz="1500" dirty="0">
                          <a:solidFill>
                            <a:srgbClr val="14142B"/>
                          </a:solidFill>
                        </a:rPr>
                        <a:t>R5</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500" dirty="0">
                          <a:solidFill>
                            <a:srgbClr val="14142B"/>
                          </a:solidFill>
                        </a:rPr>
                        <a:t>21:50</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500" dirty="0">
                          <a:solidFill>
                            <a:srgbClr val="14142B"/>
                          </a:solidFill>
                          <a:latin typeface="Malgun Gothic" pitchFamily="34" charset="0"/>
                          <a:ea typeface="Malgun Gothic" pitchFamily="34" charset="-122"/>
                          <a:cs typeface="Malgun Gothic" pitchFamily="34" charset="-120"/>
                        </a:rPr>
                        <a:t>Minuto libre: 요즘 어떻게 지내요</a:t>
                      </a:r>
                      <a:r>
                        <a:rPr lang="en-US" sz="1500" dirty="0">
                          <a:solidFill>
                            <a:srgbClr val="14142B"/>
                          </a:solidFill>
                        </a:rPr>
                        <a:t>? · </a:t>
                      </a:r>
                      <a:r>
                        <a:rPr lang="ko-KR" altLang="en-US" sz="1500" dirty="0">
                          <a:solidFill>
                            <a:srgbClr val="14142B"/>
                          </a:solidFill>
                          <a:latin typeface="Malgun Gothic" pitchFamily="34" charset="0"/>
                          <a:ea typeface="Malgun Gothic" pitchFamily="34" charset="-122"/>
                          <a:cs typeface="Malgun Gothic" pitchFamily="34" charset="-120"/>
                        </a:rPr>
                        <a:t>매일 뭐 해요</a:t>
                      </a:r>
                      <a:r>
                        <a:rPr lang="en-US" sz="1500" dirty="0">
                          <a:solidFill>
                            <a:srgbClr val="14142B"/>
                          </a:solidFill>
                        </a:rPr>
                        <a:t>?</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El diagnóstico: ir y volver</a:t>
            </a:r>
            <a:r>
              <a:rPr lang="en-US" sz="1500" b="1" i="1" dirty="0">
                <a:solidFill>
                  <a:srgbClr val="8A8DA0"/>
                </a:solidFill>
              </a:rPr>
              <a:t>   The diagnostic: go and come back</a:t>
            </a:r>
            <a:endParaRPr lang="en-US" sz="3000" dirty="0"/>
          </a:p>
        </p:txBody>
      </p:sp>
      <p:sp>
        <p:nvSpPr>
          <p:cNvPr id="3" name="Text 1"/>
          <p:cNvSpPr txBox="1"/>
          <p:nvPr/>
        </p:nvSpPr>
        <p:spPr>
          <a:xfrm>
            <a:off x="548640" y="1325880"/>
            <a:ext cx="6949440" cy="548640"/>
          </a:xfrm>
          <a:prstGeom prst="rect">
            <a:avLst/>
          </a:prstGeom>
          <a:noFill/>
          <a:ln/>
        </p:spPr>
        <p:txBody>
          <a:bodyPr wrap="square" lIns="0" tIns="0" rIns="0" bIns="0" rtlCol="0" anchor="t">
            <a:normAutofit/>
          </a:bodyPr>
          <a:lstStyle/>
          <a:p>
            <a:pPr marL="0" indent="0" eaLnBrk="1">
              <a:buNone/>
            </a:pPr>
            <a:r>
              <a:rPr lang="en-US" sz="1800" i="1" dirty="0">
                <a:solidFill>
                  <a:srgbClr val="4236F6"/>
                </a:solidFill>
              </a:rPr>
              <a:t>2 minutos · sin leer · sin nota</a:t>
            </a:r>
            <a:endParaRPr lang="en-US" sz="1800" dirty="0"/>
          </a:p>
        </p:txBody>
      </p:sp>
      <p:sp>
        <p:nvSpPr>
          <p:cNvPr id="4" name="lista"/>
          <p:cNvSpPr txBox="1"/>
          <p:nvPr/>
        </p:nvSpPr>
        <p:spPr>
          <a:xfrm>
            <a:off x="548640" y="1965960"/>
            <a:ext cx="6949440" cy="42062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en-US" sz="2200" dirty="0">
                <a:solidFill>
                  <a:srgbClr val="14142B"/>
                </a:solidFill>
              </a:rPr>
              <a:t>Si ves tu nombre: 'Salir de la sala' → 'Salir de la sala para grupos'</a:t>
            </a:r>
            <a:endParaRPr lang="en-US" sz="2200" dirty="0"/>
          </a:p>
          <a:p>
            <a:pPr marL="228600" indent="-228600" eaLnBrk="1">
              <a:spcAft>
                <a:spcPts val="800"/>
              </a:spcAft>
              <a:buSzPct val="100000"/>
              <a:buChar char="•"/>
            </a:pPr>
            <a:r>
              <a:rPr lang="en-US" sz="2200" dirty="0">
                <a:solidFill>
                  <a:srgbClr val="14142B"/>
                </a:solidFill>
              </a:rPr>
              <a:t>¡No 'Salir de la reunión'!</a:t>
            </a:r>
            <a:endParaRPr lang="en-US" sz="2200" dirty="0"/>
          </a:p>
          <a:p>
            <a:pPr marL="228600" indent="-228600" eaLnBrk="1">
              <a:spcAft>
                <a:spcPts val="800"/>
              </a:spcAft>
              <a:buSzPct val="100000"/>
              <a:buChar char="•"/>
            </a:pPr>
            <a:r>
              <a:rPr lang="en-US" sz="2200" dirty="0">
                <a:solidFill>
                  <a:srgbClr val="14142B"/>
                </a:solidFill>
              </a:rPr>
              <a:t>En la sala principal esperas tu turno con el micrófono silenciado</a:t>
            </a:r>
            <a:endParaRPr lang="en-US" sz="2200" dirty="0"/>
          </a:p>
          <a:p>
            <a:pPr marL="228600" indent="-228600" eaLnBrk="1">
              <a:spcAft>
                <a:spcPts val="800"/>
              </a:spcAft>
              <a:buSzPct val="100000"/>
              <a:buChar char="•"/>
            </a:pPr>
            <a:r>
              <a:rPr lang="en-US" sz="2200" dirty="0">
                <a:solidFill>
                  <a:srgbClr val="14142B"/>
                </a:solidFill>
              </a:rPr>
              <a:t>Para volver: 'Salas para grupos' → tu número → 'Unirse'</a:t>
            </a:r>
            <a:endParaRPr lang="en-US" sz="2200" dirty="0"/>
          </a:p>
          <a:p>
            <a:pPr marL="228600" indent="-228600" eaLnBrk="1">
              <a:spcAft>
                <a:spcPts val="800"/>
              </a:spcAft>
              <a:buSzPct val="100000"/>
              <a:buChar char="•"/>
            </a:pPr>
            <a:r>
              <a:rPr lang="en-US" sz="2200" dirty="0">
                <a:solidFill>
                  <a:srgbClr val="14142B"/>
                </a:solidFill>
              </a:rPr>
              <a:t>¿No alcanzamos? Audio de diagnóstico a Jay antes del domingo 25</a:t>
            </a:r>
            <a:endParaRPr lang="en-US" sz="2200" dirty="0"/>
          </a:p>
        </p:txBody>
      </p:sp>
      <p:sp>
        <p:nvSpPr>
          <p:cNvPr id="5" name="panel"/>
          <p:cNvSpPr/>
          <p:nvPr/>
        </p:nvSpPr>
        <p:spPr>
          <a:xfrm>
            <a:off x="8001000" y="1417320"/>
            <a:ext cx="3611880" cy="4480560"/>
          </a:xfrm>
          <a:prstGeom prst="roundRect">
            <a:avLst>
              <a:gd name="adj" fmla="val 6329"/>
            </a:avLst>
          </a:prstGeom>
          <a:solidFill>
            <a:srgbClr val="F1F0FE"/>
          </a:solidFill>
          <a:ln w="12700">
            <a:solidFill>
              <a:srgbClr val="F1F0FE"/>
            </a:solidFill>
            <a:prstDash val="solid"/>
          </a:ln>
        </p:spPr>
      </p:sp>
      <p:sp>
        <p:nvSpPr>
          <p:cNvPr id="6" name="imagen_pendiente"/>
          <p:cNvSpPr txBox="1"/>
          <p:nvPr/>
        </p:nvSpPr>
        <p:spPr>
          <a:xfrm>
            <a:off x="8183880" y="1600200"/>
            <a:ext cx="3246120" cy="4114800"/>
          </a:xfrm>
          <a:prstGeom prst="rect">
            <a:avLst/>
          </a:prstGeom>
          <a:noFill/>
          <a:ln/>
        </p:spPr>
        <p:txBody>
          <a:bodyPr wrap="square" lIns="76200" tIns="76200" rIns="76200" bIns="76200" rtlCol="0" anchor="ctr">
            <a:normAutofit/>
          </a:bodyPr>
          <a:lstStyle/>
          <a:p>
            <a:pPr marL="0" indent="0" algn="ctr" eaLnBrk="1">
              <a:buNone/>
            </a:pPr>
            <a:r>
              <a:rPr lang="en-US" sz="1600" b="1" dirty="0">
                <a:solidFill>
                  <a:srgbClr val="4236F6"/>
                </a:solidFill>
              </a:rPr>
              <a:t>Imagen pendiente</a:t>
            </a:r>
            <a:endParaRPr lang="en-US" sz="1600" dirty="0"/>
          </a:p>
          <a:p>
            <a:pPr marL="0" indent="0" algn="ctr" eaLnBrk="1">
              <a:buNone/>
            </a:pPr>
            <a:r>
              <a:rPr lang="en-US" sz="1300" dirty="0">
                <a:solidFill>
                  <a:srgbClr val="5C5F6B"/>
                </a:solidFill>
              </a:rPr>
              <a:t>Hacer 2 capturas en Zoom de escritorio (interfaz en español) en una reunión de prueba con salas para grupos abiertas y 'elegir sala' activado, entrando como participante con un segundo dispositivo: (1) dentro de una sala, el menú del botón 'Salir de la sala' abierto, con 'Salir de la sala para grupos' marcado con un recuadro azul #4236F6 y 'Salir de la reunión' tachado con una X gris (nunca roja); (2) en la sala principal, el botón 'Salas para grupos' → la lista con el número de sala y el botón 'Unirse' marcado en azul. Recortar para que no se vean nombres ni correos, ponerlas lado a lado con una flecha y pegarlas en la lámina.</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읽으세요  </a:t>
            </a:r>
            <a:r>
              <a:rPr lang="en-US" sz="3000" b="1" dirty="0">
                <a:solidFill>
                  <a:srgbClr val="003478"/>
                </a:solidFill>
              </a:rPr>
              <a:t>Lean en voz alta</a:t>
            </a:r>
            <a:r>
              <a:rPr lang="en-US" sz="1500" b="1" i="1" dirty="0">
                <a:solidFill>
                  <a:srgbClr val="8A8DA0"/>
                </a:solidFill>
              </a:rPr>
              <a:t>   Read aloud</a:t>
            </a:r>
            <a:endParaRPr lang="en-US" sz="3000" dirty="0"/>
          </a:p>
        </p:txBody>
      </p:sp>
      <p:sp>
        <p:nvSpPr>
          <p:cNvPr id="3" name="tile_0"/>
          <p:cNvSpPr/>
          <p:nvPr/>
        </p:nvSpPr>
        <p:spPr>
          <a:xfrm>
            <a:off x="548640" y="1325880"/>
            <a:ext cx="3544824" cy="2308860"/>
          </a:xfrm>
          <a:prstGeom prst="roundRect">
            <a:avLst>
              <a:gd name="adj" fmla="val 5941"/>
            </a:avLst>
          </a:prstGeom>
          <a:solidFill>
            <a:srgbClr val="F1F0FE"/>
          </a:solidFill>
          <a:ln w="12700">
            <a:solidFill>
              <a:srgbClr val="D9D7F7"/>
            </a:solidFill>
            <a:prstDash val="solid"/>
          </a:ln>
        </p:spPr>
      </p:sp>
      <p:sp>
        <p:nvSpPr>
          <p:cNvPr id="4" name="Text 2"/>
          <p:cNvSpPr txBox="1"/>
          <p:nvPr/>
        </p:nvSpPr>
        <p:spPr>
          <a:xfrm>
            <a:off x="548640" y="1399032"/>
            <a:ext cx="3544824" cy="1431493"/>
          </a:xfrm>
          <a:prstGeom prst="rect">
            <a:avLst/>
          </a:prstGeom>
          <a:noFill/>
          <a:ln/>
        </p:spPr>
        <p:txBody>
          <a:bodyPr wrap="square" lIns="0" tIns="0" rIns="0" bIns="0" rtlCol="0" anchor="ctr">
            <a:normAutofit/>
          </a:bodyPr>
          <a:lstStyle/>
          <a:p>
            <a:pPr marL="0" indent="0" algn="ctr" eaLnBrk="1">
              <a:buNone/>
            </a:pPr>
            <a:r>
              <a:rPr lang="ko-KR" altLang="en-US" sz="4800" b="1" dirty="0">
                <a:solidFill>
                  <a:srgbClr val="4236F6"/>
                </a:solidFill>
                <a:latin typeface="Malgun Gothic" pitchFamily="34" charset="0"/>
                <a:ea typeface="Malgun Gothic" pitchFamily="34" charset="-122"/>
                <a:cs typeface="Malgun Gothic" pitchFamily="34" charset="-120"/>
              </a:rPr>
              <a:t>직업이에요</a:t>
            </a:r>
            <a:endParaRPr lang="en-US" sz="4800" dirty="0"/>
          </a:p>
        </p:txBody>
      </p:sp>
      <p:sp>
        <p:nvSpPr>
          <p:cNvPr id="5" name="tile_1"/>
          <p:cNvSpPr/>
          <p:nvPr/>
        </p:nvSpPr>
        <p:spPr>
          <a:xfrm>
            <a:off x="4322064" y="1325880"/>
            <a:ext cx="3544824" cy="2308860"/>
          </a:xfrm>
          <a:prstGeom prst="roundRect">
            <a:avLst>
              <a:gd name="adj" fmla="val 5941"/>
            </a:avLst>
          </a:prstGeom>
          <a:solidFill>
            <a:srgbClr val="F1F0FE"/>
          </a:solidFill>
          <a:ln w="12700">
            <a:solidFill>
              <a:srgbClr val="D9D7F7"/>
            </a:solidFill>
            <a:prstDash val="solid"/>
          </a:ln>
        </p:spPr>
      </p:sp>
      <p:sp>
        <p:nvSpPr>
          <p:cNvPr id="6" name="Text 4"/>
          <p:cNvSpPr txBox="1"/>
          <p:nvPr/>
        </p:nvSpPr>
        <p:spPr>
          <a:xfrm>
            <a:off x="4322064" y="1399032"/>
            <a:ext cx="3544824" cy="1431493"/>
          </a:xfrm>
          <a:prstGeom prst="rect">
            <a:avLst/>
          </a:prstGeom>
          <a:noFill/>
          <a:ln/>
        </p:spPr>
        <p:txBody>
          <a:bodyPr wrap="square" lIns="0" tIns="0" rIns="0" bIns="0" rtlCol="0" anchor="ctr">
            <a:normAutofit/>
          </a:bodyPr>
          <a:lstStyle/>
          <a:p>
            <a:pPr marL="0" indent="0" algn="ctr" eaLnBrk="1">
              <a:buNone/>
            </a:pPr>
            <a:r>
              <a:rPr lang="ko-KR" altLang="en-US" sz="4800" b="1" dirty="0">
                <a:solidFill>
                  <a:srgbClr val="4236F6"/>
                </a:solidFill>
                <a:latin typeface="Malgun Gothic" pitchFamily="34" charset="0"/>
                <a:ea typeface="Malgun Gothic" pitchFamily="34" charset="-122"/>
                <a:cs typeface="Malgun Gothic" pitchFamily="34" charset="-120"/>
              </a:rPr>
              <a:t>생일</a:t>
            </a:r>
            <a:endParaRPr lang="en-US" sz="4800" dirty="0"/>
          </a:p>
        </p:txBody>
      </p:sp>
      <p:sp>
        <p:nvSpPr>
          <p:cNvPr id="7" name="tile_2"/>
          <p:cNvSpPr/>
          <p:nvPr/>
        </p:nvSpPr>
        <p:spPr>
          <a:xfrm>
            <a:off x="8095488" y="1325880"/>
            <a:ext cx="3544824" cy="2308860"/>
          </a:xfrm>
          <a:prstGeom prst="roundRect">
            <a:avLst>
              <a:gd name="adj" fmla="val 5941"/>
            </a:avLst>
          </a:prstGeom>
          <a:solidFill>
            <a:srgbClr val="F1F0FE"/>
          </a:solidFill>
          <a:ln w="12700">
            <a:solidFill>
              <a:srgbClr val="D9D7F7"/>
            </a:solidFill>
            <a:prstDash val="solid"/>
          </a:ln>
        </p:spPr>
      </p:sp>
      <p:sp>
        <p:nvSpPr>
          <p:cNvPr id="8" name="Text 6"/>
          <p:cNvSpPr txBox="1"/>
          <p:nvPr/>
        </p:nvSpPr>
        <p:spPr>
          <a:xfrm>
            <a:off x="8095488" y="1399032"/>
            <a:ext cx="3544824" cy="1431493"/>
          </a:xfrm>
          <a:prstGeom prst="rect">
            <a:avLst/>
          </a:prstGeom>
          <a:noFill/>
          <a:ln/>
        </p:spPr>
        <p:txBody>
          <a:bodyPr wrap="square" lIns="0" tIns="0" rIns="0" bIns="0" rtlCol="0" anchor="ctr">
            <a:normAutofit/>
          </a:bodyPr>
          <a:lstStyle/>
          <a:p>
            <a:pPr marL="0" indent="0" algn="ctr" eaLnBrk="1">
              <a:buNone/>
            </a:pPr>
            <a:r>
              <a:rPr lang="ko-KR" altLang="en-US" sz="4800" b="1" dirty="0">
                <a:solidFill>
                  <a:srgbClr val="4236F6"/>
                </a:solidFill>
                <a:latin typeface="Malgun Gothic" pitchFamily="34" charset="0"/>
                <a:ea typeface="Malgun Gothic" pitchFamily="34" charset="-122"/>
                <a:cs typeface="Malgun Gothic" pitchFamily="34" charset="-120"/>
              </a:rPr>
              <a:t>없어요</a:t>
            </a:r>
            <a:endParaRPr lang="en-US" sz="4800" dirty="0"/>
          </a:p>
        </p:txBody>
      </p:sp>
      <p:sp>
        <p:nvSpPr>
          <p:cNvPr id="9" name="tile_3"/>
          <p:cNvSpPr/>
          <p:nvPr/>
        </p:nvSpPr>
        <p:spPr>
          <a:xfrm>
            <a:off x="2435352" y="3863340"/>
            <a:ext cx="3544824" cy="2308860"/>
          </a:xfrm>
          <a:prstGeom prst="roundRect">
            <a:avLst>
              <a:gd name="adj" fmla="val 5941"/>
            </a:avLst>
          </a:prstGeom>
          <a:solidFill>
            <a:srgbClr val="F1F0FE"/>
          </a:solidFill>
          <a:ln w="12700">
            <a:solidFill>
              <a:srgbClr val="D9D7F7"/>
            </a:solidFill>
            <a:prstDash val="solid"/>
          </a:ln>
        </p:spPr>
      </p:sp>
      <p:sp>
        <p:nvSpPr>
          <p:cNvPr id="10" name="Text 8"/>
          <p:cNvSpPr txBox="1"/>
          <p:nvPr/>
        </p:nvSpPr>
        <p:spPr>
          <a:xfrm>
            <a:off x="2435352" y="3936492"/>
            <a:ext cx="3544824" cy="1431493"/>
          </a:xfrm>
          <a:prstGeom prst="rect">
            <a:avLst/>
          </a:prstGeom>
          <a:noFill/>
          <a:ln/>
        </p:spPr>
        <p:txBody>
          <a:bodyPr wrap="square" lIns="0" tIns="0" rIns="0" bIns="0" rtlCol="0" anchor="ctr">
            <a:normAutofit/>
          </a:bodyPr>
          <a:lstStyle/>
          <a:p>
            <a:pPr marL="0" indent="0" algn="ctr" eaLnBrk="1">
              <a:buNone/>
            </a:pPr>
            <a:r>
              <a:rPr lang="ko-KR" altLang="en-US" sz="4800" b="1" dirty="0">
                <a:solidFill>
                  <a:srgbClr val="4236F6"/>
                </a:solidFill>
                <a:latin typeface="Malgun Gothic" pitchFamily="34" charset="0"/>
                <a:ea typeface="Malgun Gothic" pitchFamily="34" charset="-122"/>
                <a:cs typeface="Malgun Gothic" pitchFamily="34" charset="-120"/>
              </a:rPr>
              <a:t>좋아해요</a:t>
            </a:r>
            <a:endParaRPr lang="en-US" sz="4800" dirty="0"/>
          </a:p>
        </p:txBody>
      </p:sp>
      <p:sp>
        <p:nvSpPr>
          <p:cNvPr id="11" name="tile_4"/>
          <p:cNvSpPr/>
          <p:nvPr/>
        </p:nvSpPr>
        <p:spPr>
          <a:xfrm>
            <a:off x="6208776" y="3863340"/>
            <a:ext cx="3544824" cy="2308860"/>
          </a:xfrm>
          <a:prstGeom prst="roundRect">
            <a:avLst>
              <a:gd name="adj" fmla="val 5941"/>
            </a:avLst>
          </a:prstGeom>
          <a:solidFill>
            <a:srgbClr val="F1F0FE"/>
          </a:solidFill>
          <a:ln w="12700">
            <a:solidFill>
              <a:srgbClr val="D9D7F7"/>
            </a:solidFill>
            <a:prstDash val="solid"/>
          </a:ln>
        </p:spPr>
      </p:sp>
      <p:sp>
        <p:nvSpPr>
          <p:cNvPr id="12" name="Text 10"/>
          <p:cNvSpPr txBox="1"/>
          <p:nvPr/>
        </p:nvSpPr>
        <p:spPr>
          <a:xfrm>
            <a:off x="6208776" y="3936492"/>
            <a:ext cx="3544824" cy="1431493"/>
          </a:xfrm>
          <a:prstGeom prst="rect">
            <a:avLst/>
          </a:prstGeom>
          <a:noFill/>
          <a:ln/>
        </p:spPr>
        <p:txBody>
          <a:bodyPr wrap="square" lIns="0" tIns="0" rIns="0" bIns="0" rtlCol="0" anchor="ctr">
            <a:normAutofit/>
          </a:bodyPr>
          <a:lstStyle/>
          <a:p>
            <a:pPr marL="0" indent="0" algn="ctr" eaLnBrk="1">
              <a:buNone/>
            </a:pPr>
            <a:r>
              <a:rPr lang="ko-KR" altLang="en-US" sz="4800" b="1" dirty="0">
                <a:solidFill>
                  <a:srgbClr val="4236F6"/>
                </a:solidFill>
                <a:latin typeface="Malgun Gothic" pitchFamily="34" charset="0"/>
                <a:ea typeface="Malgun Gothic" pitchFamily="34" charset="-122"/>
                <a:cs typeface="Malgun Gothic" pitchFamily="34" charset="-120"/>
              </a:rPr>
              <a:t>읽어요</a:t>
            </a:r>
            <a:endParaRPr lang="en-US" sz="4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Mi escritorio</a:t>
            </a:r>
            <a:r>
              <a:rPr lang="en-US" sz="1500" b="1" i="1" dirty="0">
                <a:solidFill>
                  <a:srgbClr val="8A8DA0"/>
                </a:solidFill>
              </a:rPr>
              <a:t>   My desk</a:t>
            </a:r>
            <a:endParaRPr lang="en-US" sz="3000" dirty="0"/>
          </a:p>
        </p:txBody>
      </p:sp>
      <p:pic>
        <p:nvPicPr>
          <p:cNvPr id="3" name="imagen" descr="C:\Users\Chingu\AppData\Local\Temp\claude\C--Users-Chingu-Desktop-ACADEMIASEULWEB\d4111e1b-5523-44ea-97b2-b1a1d9545b9e\scratchpad\decks\cache\img_9a3c58549e171cc2.png"/>
          <p:cNvPicPr>
            <a:picLocks noChangeAspect="1"/>
          </p:cNvPicPr>
          <p:nvPr/>
        </p:nvPicPr>
        <p:blipFill>
          <a:blip r:embed="rId3"/>
          <a:stretch>
            <a:fillRect/>
          </a:stretch>
        </p:blipFill>
        <p:spPr>
          <a:xfrm>
            <a:off x="7754112" y="1508760"/>
            <a:ext cx="3886200" cy="4480560"/>
          </a:xfrm>
          <a:prstGeom prst="rect">
            <a:avLst/>
          </a:prstGeom>
        </p:spPr>
      </p:pic>
      <p:sp>
        <p:nvSpPr>
          <p:cNvPr id="4" name="panel"/>
          <p:cNvSpPr/>
          <p:nvPr/>
        </p:nvSpPr>
        <p:spPr>
          <a:xfrm>
            <a:off x="548640" y="1645920"/>
            <a:ext cx="6931152" cy="3108960"/>
          </a:xfrm>
          <a:prstGeom prst="roundRect">
            <a:avLst>
              <a:gd name="adj" fmla="val 8824"/>
            </a:avLst>
          </a:prstGeom>
          <a:solidFill>
            <a:srgbClr val="F1F0FE"/>
          </a:solidFill>
          <a:ln w="12700">
            <a:solidFill>
              <a:srgbClr val="F1F0FE"/>
            </a:solidFill>
            <a:prstDash val="solid"/>
          </a:ln>
        </p:spPr>
      </p:sp>
      <p:sp>
        <p:nvSpPr>
          <p:cNvPr id="5" name="frase_ko"/>
          <p:cNvSpPr txBox="1"/>
          <p:nvPr/>
        </p:nvSpPr>
        <p:spPr>
          <a:xfrm>
            <a:off x="731520" y="1828800"/>
            <a:ext cx="6565392" cy="1828800"/>
          </a:xfrm>
          <a:prstGeom prst="rect">
            <a:avLst/>
          </a:prstGeom>
          <a:noFill/>
          <a:ln/>
        </p:spPr>
        <p:txBody>
          <a:bodyPr wrap="square" lIns="0" tIns="0" rIns="0" bIns="0" rtlCol="0" anchor="ctr">
            <a:normAutofit/>
          </a:bodyPr>
          <a:lstStyle/>
          <a:p>
            <a:pPr marL="0" indent="0" algn="ctr" eaLnBrk="1">
              <a:buNone/>
            </a:pPr>
            <a:r>
              <a:rPr lang="ko-KR" altLang="en-US" sz="5700" b="1" dirty="0">
                <a:solidFill>
                  <a:srgbClr val="4236F6"/>
                </a:solidFill>
                <a:latin typeface="Malgun Gothic" pitchFamily="34" charset="0"/>
                <a:ea typeface="Malgun Gothic" pitchFamily="34" charset="-122"/>
                <a:cs typeface="Malgun Gothic" pitchFamily="34" charset="-120"/>
              </a:rPr>
              <a:t>책상 위에</a:t>
            </a:r>
            <a:endParaRPr lang="en-US" sz="5700" dirty="0"/>
          </a:p>
          <a:p>
            <a:pPr marL="0" indent="0" algn="ctr" eaLnBrk="1">
              <a:buNone/>
            </a:pPr>
            <a:r>
              <a:rPr lang="ko-KR" altLang="en-US" sz="5700" b="1" dirty="0">
                <a:solidFill>
                  <a:srgbClr val="4236F6"/>
                </a:solidFill>
                <a:latin typeface="Malgun Gothic" pitchFamily="34" charset="0"/>
                <a:ea typeface="Malgun Gothic" pitchFamily="34" charset="-122"/>
                <a:cs typeface="Malgun Gothic" pitchFamily="34" charset="-120"/>
              </a:rPr>
              <a:t>뭐가 있어요</a:t>
            </a:r>
            <a:r>
              <a:rPr lang="en-US" sz="5700" b="1" dirty="0">
                <a:solidFill>
                  <a:srgbClr val="4236F6"/>
                </a:solidFill>
              </a:rPr>
              <a:t>?</a:t>
            </a:r>
            <a:endParaRPr lang="en-US" sz="5700" dirty="0"/>
          </a:p>
        </p:txBody>
      </p:sp>
      <p:sp>
        <p:nvSpPr>
          <p:cNvPr id="6" name="Text 3"/>
          <p:cNvSpPr txBox="1"/>
          <p:nvPr/>
        </p:nvSpPr>
        <p:spPr>
          <a:xfrm>
            <a:off x="1051560" y="3657600"/>
            <a:ext cx="5742432" cy="822960"/>
          </a:xfrm>
          <a:prstGeom prst="rect">
            <a:avLst/>
          </a:prstGeom>
          <a:noFill/>
          <a:ln/>
        </p:spPr>
        <p:txBody>
          <a:bodyPr wrap="square" lIns="0" tIns="0" rIns="0" bIns="0" rtlCol="0" anchor="t">
            <a:normAutofit/>
          </a:bodyPr>
          <a:lstStyle/>
          <a:p>
            <a:pPr marL="0" indent="0" algn="ctr" eaLnBrk="1">
              <a:buNone/>
            </a:pPr>
            <a:r>
              <a:rPr lang="en-US" sz="2400" dirty="0">
                <a:solidFill>
                  <a:srgbClr val="5C5F6B"/>
                </a:solidFill>
              </a:rPr>
              <a:t>¿Qué hay sobre el escritorio?</a:t>
            </a:r>
            <a:endParaRPr lang="en-US" sz="2400" dirty="0"/>
          </a:p>
        </p:txBody>
      </p:sp>
      <p:sp>
        <p:nvSpPr>
          <p:cNvPr id="7" name="lista"/>
          <p:cNvSpPr txBox="1"/>
          <p:nvPr/>
        </p:nvSpPr>
        <p:spPr>
          <a:xfrm>
            <a:off x="548640" y="4937760"/>
            <a:ext cx="6931152" cy="12344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en-US" sz="1800" dirty="0">
                <a:solidFill>
                  <a:srgbClr val="14142B"/>
                </a:solidFill>
              </a:rPr>
              <a:t>Pregunta 5 del diagnóstico</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Lo que oí hoy</a:t>
            </a:r>
            <a:r>
              <a:rPr lang="en-US" sz="1500" b="1" i="1" dirty="0">
                <a:solidFill>
                  <a:srgbClr val="8A8DA0"/>
                </a:solidFill>
              </a:rPr>
              <a:t>   What I heard today</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en-US" sz="1800" i="1" dirty="0">
                <a:solidFill>
                  <a:srgbClr val="4236F6"/>
                </a:solidFill>
              </a:rPr>
              <a:t>Se ajusta a lo que Jay oyó en el diagnóstico</a:t>
            </a:r>
            <a:endParaRPr lang="en-US" sz="1800" dirty="0"/>
          </a:p>
        </p:txBody>
      </p:sp>
      <p:graphicFrame>
        <p:nvGraphicFramePr>
          <p:cNvPr id="22" name="tabla"/>
          <p:cNvGraphicFramePr>
            <a:graphicFrameLocks noGrp="1"/>
          </p:cNvGraphicFramePr>
          <p:nvPr>
            <p:extLst>
              <p:ext uri="{D42A27DB-BD31-4B8C-83A1-F6EECF244321}">
                <p14:modId xmlns:p14="http://schemas.microsoft.com/office/powerpoint/2010/main" val="3596199771"/>
              </p:ext>
            </p:extLst>
          </p:nvPr>
        </p:nvGraphicFramePr>
        <p:xfrm>
          <a:off x="548640" y="1874520"/>
          <a:ext cx="11091672" cy="914400"/>
        </p:xfrm>
        <a:graphic>
          <a:graphicData uri="http://schemas.openxmlformats.org/drawingml/2006/table">
            <a:tbl>
              <a:tblPr/>
              <a:tblGrid>
                <a:gridCol w="3697224">
                  <a:extLst>
                    <a:ext uri="{9D8B030D-6E8A-4147-A177-3AD203B41FA5}">
                      <a16:colId xmlns:a16="http://schemas.microsoft.com/office/drawing/2014/main" val="20000"/>
                    </a:ext>
                  </a:extLst>
                </a:gridCol>
                <a:gridCol w="3697224">
                  <a:extLst>
                    <a:ext uri="{9D8B030D-6E8A-4147-A177-3AD203B41FA5}">
                      <a16:colId xmlns:a16="http://schemas.microsoft.com/office/drawing/2014/main" val="20001"/>
                    </a:ext>
                  </a:extLst>
                </a:gridCol>
                <a:gridCol w="3697224">
                  <a:extLst>
                    <a:ext uri="{9D8B030D-6E8A-4147-A177-3AD203B41FA5}">
                      <a16:colId xmlns:a16="http://schemas.microsoft.com/office/drawing/2014/main" val="20002"/>
                    </a:ext>
                  </a:extLst>
                </a:gridCol>
              </a:tblGrid>
              <a:tr h="566928">
                <a:tc>
                  <a:txBody>
                    <a:bodyPr/>
                    <a:lstStyle/>
                    <a:p>
                      <a:pPr marL="0" indent="0" eaLnBrk="1">
                        <a:buNone/>
                      </a:pPr>
                      <a:r>
                        <a:rPr lang="en-US" sz="1600" b="1" dirty="0">
                          <a:solidFill>
                            <a:srgbClr val="FFFFFF"/>
                          </a:solidFill>
                        </a:rPr>
                        <a:t>Se oyó</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600" b="1" dirty="0">
                          <a:solidFill>
                            <a:srgbClr val="FFFFFF"/>
                          </a:solidFill>
                        </a:rPr>
                        <a:t>Se dice</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600" b="1" dirty="0">
                          <a:solidFill>
                            <a:srgbClr val="FFFFFF"/>
                          </a:solidFill>
                        </a:rPr>
                        <a:t>Por qué</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extLst>
                  <a:ext uri="{0D108BD9-81ED-4DB2-BD59-A6C34878D82A}">
                    <a16:rowId xmlns:a16="http://schemas.microsoft.com/office/drawing/2014/main" val="10000"/>
                  </a:ext>
                </a:extLst>
              </a:tr>
              <a:tr h="566928">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저는 산티아고예요</a:t>
                      </a:r>
                      <a:r>
                        <a:rPr lang="en-US" sz="16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산티아고에 살아요</a:t>
                      </a:r>
                      <a:r>
                        <a:rPr lang="en-US" sz="16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Vivir en un lugar: 에 살아요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1"/>
                  </a:ext>
                </a:extLst>
              </a:tr>
              <a:tr h="566928">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회사에 일해요</a:t>
                      </a:r>
                      <a:r>
                        <a:rPr lang="en-US" sz="16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회사에서 일해요</a:t>
                      </a:r>
                      <a:r>
                        <a:rPr lang="en-US" sz="16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Dónde trabajas: 에서 </a:t>
                      </a:r>
                      <a:r>
                        <a:rPr lang="en-US" sz="1600" dirty="0">
                          <a:solidFill>
                            <a:srgbClr val="14142B"/>
                          </a:solidFill>
                        </a:rPr>
                        <a:t>(la regla, en la semana 3)</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직업 </a:t>
                      </a:r>
                      <a:r>
                        <a:rPr lang="en-US" sz="1600" dirty="0">
                          <a:solidFill>
                            <a:srgbClr val="14142B"/>
                          </a:solidFill>
                        </a:rPr>
                        <a:t>[</a:t>
                      </a:r>
                      <a:r>
                        <a:rPr lang="ko-KR" altLang="en-US" sz="1600" dirty="0">
                          <a:solidFill>
                            <a:srgbClr val="14142B"/>
                          </a:solidFill>
                          <a:latin typeface="Malgun Gothic" pitchFamily="34" charset="0"/>
                          <a:ea typeface="Malgun Gothic" pitchFamily="34" charset="-122"/>
                          <a:cs typeface="Malgun Gothic" pitchFamily="34" charset="-120"/>
                        </a:rPr>
                        <a:t>지거부</a:t>
                      </a:r>
                      <a:r>
                        <a:rPr lang="en-US" sz="16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직업 </a:t>
                      </a:r>
                      <a:r>
                        <a:rPr lang="en-US" sz="1600" dirty="0">
                          <a:solidFill>
                            <a:srgbClr val="14142B"/>
                          </a:solidFill>
                        </a:rPr>
                        <a:t>[</a:t>
                      </a:r>
                      <a:r>
                        <a:rPr lang="ko-KR" altLang="en-US" sz="1600" dirty="0">
                          <a:solidFill>
                            <a:srgbClr val="14142B"/>
                          </a:solidFill>
                          <a:latin typeface="Malgun Gothic" pitchFamily="34" charset="0"/>
                          <a:ea typeface="Malgun Gothic" pitchFamily="34" charset="-122"/>
                          <a:cs typeface="Malgun Gothic" pitchFamily="34" charset="-120"/>
                        </a:rPr>
                        <a:t>지겁</a:t>
                      </a:r>
                      <a:r>
                        <a:rPr lang="en-US" sz="16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600" dirty="0">
                          <a:solidFill>
                            <a:srgbClr val="14142B"/>
                          </a:solidFill>
                        </a:rPr>
                        <a:t>Sin vocal extra: labios cerrados</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3"/>
                  </a:ext>
                </a:extLst>
              </a:tr>
              <a:tr h="566928">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추이미</a:t>
                      </a:r>
                      <a:r>
                        <a:rPr lang="en-US" sz="16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취미</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La ㅟ </a:t>
                      </a:r>
                      <a:r>
                        <a:rPr lang="en-US" sz="1600" dirty="0">
                          <a:solidFill>
                            <a:srgbClr val="14142B"/>
                          </a:solidFill>
                        </a:rPr>
                        <a:t>de un solo golpe</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Las 3 frases de hoy</a:t>
            </a:r>
            <a:r>
              <a:rPr lang="en-US" sz="1500" b="1" i="1" dirty="0">
                <a:solidFill>
                  <a:srgbClr val="8A8DA0"/>
                </a:solidFill>
              </a:rPr>
              <a:t>   Today's 3 key phrases</a:t>
            </a:r>
            <a:endParaRPr lang="en-US" sz="3000" dirty="0"/>
          </a:p>
        </p:txBody>
      </p:sp>
      <p:sp>
        <p:nvSpPr>
          <p:cNvPr id="3" name="Text 1"/>
          <p:cNvSpPr txBox="1"/>
          <p:nvPr/>
        </p:nvSpPr>
        <p:spPr>
          <a:xfrm>
            <a:off x="548640" y="1325880"/>
            <a:ext cx="6949440" cy="548640"/>
          </a:xfrm>
          <a:prstGeom prst="rect">
            <a:avLst/>
          </a:prstGeom>
          <a:noFill/>
          <a:ln/>
        </p:spPr>
        <p:txBody>
          <a:bodyPr wrap="square" lIns="0" tIns="0" rIns="0" bIns="0" rtlCol="0" anchor="t">
            <a:normAutofit/>
          </a:bodyPr>
          <a:lstStyle/>
          <a:p>
            <a:pPr marL="0" indent="0" eaLnBrk="1">
              <a:buNone/>
            </a:pPr>
            <a:r>
              <a:rPr lang="en-US" sz="1800" i="1" dirty="0">
                <a:solidFill>
                  <a:srgbClr val="4236F6"/>
                </a:solidFill>
              </a:rPr>
              <a:t>Primero Jay, despacio; después todos</a:t>
            </a:r>
            <a:endParaRPr lang="en-US" sz="1800" dirty="0"/>
          </a:p>
        </p:txBody>
      </p:sp>
      <p:sp>
        <p:nvSpPr>
          <p:cNvPr id="4" name="lista"/>
          <p:cNvSpPr txBox="1"/>
          <p:nvPr/>
        </p:nvSpPr>
        <p:spPr>
          <a:xfrm>
            <a:off x="548640" y="1965960"/>
            <a:ext cx="6949440" cy="42062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800" dirty="0">
                <a:solidFill>
                  <a:srgbClr val="14142B"/>
                </a:solidFill>
                <a:latin typeface="Malgun Gothic" pitchFamily="34" charset="0"/>
                <a:ea typeface="Malgun Gothic" pitchFamily="34" charset="-122"/>
                <a:cs typeface="Malgun Gothic" pitchFamily="34" charset="-120"/>
              </a:rPr>
              <a:t>저는 회사원이에요</a:t>
            </a:r>
            <a:r>
              <a:rPr lang="en-US" sz="2800" dirty="0">
                <a:solidFill>
                  <a:srgbClr val="14142B"/>
                </a:solidFill>
              </a:rPr>
              <a:t>. </a:t>
            </a:r>
            <a:r>
              <a:rPr lang="ko-KR" altLang="en-US" sz="2800" dirty="0">
                <a:solidFill>
                  <a:srgbClr val="14142B"/>
                </a:solidFill>
                <a:latin typeface="Malgun Gothic" pitchFamily="34" charset="0"/>
                <a:ea typeface="Malgun Gothic" pitchFamily="34" charset="-122"/>
                <a:cs typeface="Malgun Gothic" pitchFamily="34" charset="-120"/>
              </a:rPr>
              <a:t>학생이 아니에요</a:t>
            </a:r>
            <a:r>
              <a:rPr lang="en-US" sz="2800" dirty="0">
                <a:solidFill>
                  <a:srgbClr val="14142B"/>
                </a:solidFill>
              </a:rPr>
              <a:t>. — Soy empleada de oficina. No soy estudiante.</a:t>
            </a:r>
            <a:endParaRPr lang="en-US" sz="2800" dirty="0"/>
          </a:p>
          <a:p>
            <a:pPr marL="228600" indent="-228600" eaLnBrk="1">
              <a:spcAft>
                <a:spcPts val="800"/>
              </a:spcAft>
              <a:buSzPct val="100000"/>
              <a:buChar char="•"/>
            </a:pPr>
            <a:r>
              <a:rPr lang="ko-KR" altLang="en-US" sz="2800" dirty="0">
                <a:solidFill>
                  <a:srgbClr val="14142B"/>
                </a:solidFill>
                <a:latin typeface="Malgun Gothic" pitchFamily="34" charset="0"/>
                <a:ea typeface="Malgun Gothic" pitchFamily="34" charset="-122"/>
                <a:cs typeface="Malgun Gothic" pitchFamily="34" charset="-120"/>
              </a:rPr>
              <a:t>산티아고에 살아요</a:t>
            </a:r>
            <a:r>
              <a:rPr lang="en-US" sz="2800" dirty="0">
                <a:solidFill>
                  <a:srgbClr val="14142B"/>
                </a:solidFill>
              </a:rPr>
              <a:t>. — Vivo en Santiago.</a:t>
            </a:r>
            <a:endParaRPr lang="en-US" sz="2800" dirty="0"/>
          </a:p>
          <a:p>
            <a:pPr marL="228600" indent="-228600" eaLnBrk="1">
              <a:spcAft>
                <a:spcPts val="800"/>
              </a:spcAft>
              <a:buSzPct val="100000"/>
              <a:buChar char="•"/>
            </a:pPr>
            <a:r>
              <a:rPr lang="ko-KR" altLang="en-US" sz="2800" dirty="0">
                <a:solidFill>
                  <a:srgbClr val="14142B"/>
                </a:solidFill>
                <a:latin typeface="Malgun Gothic" pitchFamily="34" charset="0"/>
                <a:ea typeface="Malgun Gothic" pitchFamily="34" charset="-122"/>
                <a:cs typeface="Malgun Gothic" pitchFamily="34" charset="-120"/>
              </a:rPr>
              <a:t>취미가 뭐예요</a:t>
            </a:r>
            <a:r>
              <a:rPr lang="en-US" sz="2800" dirty="0">
                <a:solidFill>
                  <a:srgbClr val="14142B"/>
                </a:solidFill>
              </a:rPr>
              <a:t>? — ¿Cuál es tu pasatiempo?</a:t>
            </a:r>
            <a:endParaRPr lang="en-US" sz="2800" dirty="0"/>
          </a:p>
        </p:txBody>
      </p:sp>
      <p:sp>
        <p:nvSpPr>
          <p:cNvPr id="5" name="panel"/>
          <p:cNvSpPr/>
          <p:nvPr/>
        </p:nvSpPr>
        <p:spPr>
          <a:xfrm>
            <a:off x="8001000" y="1417320"/>
            <a:ext cx="3611880" cy="4480560"/>
          </a:xfrm>
          <a:prstGeom prst="roundRect">
            <a:avLst>
              <a:gd name="adj" fmla="val 6329"/>
            </a:avLst>
          </a:prstGeom>
          <a:solidFill>
            <a:srgbClr val="F1F0FE"/>
          </a:solidFill>
          <a:ln w="12700">
            <a:solidFill>
              <a:srgbClr val="F1F0FE"/>
            </a:solidFill>
            <a:prstDash val="solid"/>
          </a:ln>
        </p:spPr>
      </p:sp>
      <p:pic>
        <p:nvPicPr>
          <p:cNvPr id="6" name="sello" descr="C:/Users/Chingu/Desktop/ACADEMIASEULWEB/public/email/sello-azul.png"/>
          <p:cNvPicPr>
            <a:picLocks noChangeAspect="1"/>
          </p:cNvPicPr>
          <p:nvPr/>
        </p:nvPicPr>
        <p:blipFill>
          <a:blip r:embed="rId3"/>
          <a:stretch>
            <a:fillRect/>
          </a:stretch>
        </p:blipFill>
        <p:spPr>
          <a:xfrm>
            <a:off x="9052560" y="2926080"/>
            <a:ext cx="1508760" cy="1508760"/>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숙제  </a:t>
            </a:r>
            <a:r>
              <a:rPr lang="en-US" sz="3000" b="1" dirty="0">
                <a:solidFill>
                  <a:srgbClr val="003478"/>
                </a:solidFill>
              </a:rPr>
              <a:t>Tarea (≈ 30 min)</a:t>
            </a:r>
            <a:r>
              <a:rPr lang="en-US" sz="1500" b="1" i="1" dirty="0">
                <a:solidFill>
                  <a:srgbClr val="8A8DA0"/>
                </a:solidFill>
              </a:rPr>
              <a:t>   Homework (about 30 min)</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en-US" sz="1800" i="1" dirty="0">
                <a:solidFill>
                  <a:srgbClr val="4236F6"/>
                </a:solidFill>
              </a:rPr>
              <a:t>Plazo: miércoles 28 de octubre, 21:00 (hora de Chile)</a:t>
            </a:r>
            <a:endParaRPr lang="en-US" sz="1800" dirty="0"/>
          </a:p>
        </p:txBody>
      </p:sp>
      <p:graphicFrame>
        <p:nvGraphicFramePr>
          <p:cNvPr id="24" name="tabla"/>
          <p:cNvGraphicFramePr>
            <a:graphicFrameLocks noGrp="1"/>
          </p:cNvGraphicFramePr>
          <p:nvPr>
            <p:extLst>
              <p:ext uri="{D42A27DB-BD31-4B8C-83A1-F6EECF244321}">
                <p14:modId xmlns:p14="http://schemas.microsoft.com/office/powerpoint/2010/main" val="1639549323"/>
              </p:ext>
            </p:extLst>
          </p:nvPr>
        </p:nvGraphicFramePr>
        <p:xfrm>
          <a:off x="548640" y="1874520"/>
          <a:ext cx="11091672" cy="914400"/>
        </p:xfrm>
        <a:graphic>
          <a:graphicData uri="http://schemas.openxmlformats.org/drawingml/2006/table">
            <a:tbl>
              <a:tblPr/>
              <a:tblGrid>
                <a:gridCol w="3697224">
                  <a:extLst>
                    <a:ext uri="{9D8B030D-6E8A-4147-A177-3AD203B41FA5}">
                      <a16:colId xmlns:a16="http://schemas.microsoft.com/office/drawing/2014/main" val="20000"/>
                    </a:ext>
                  </a:extLst>
                </a:gridCol>
                <a:gridCol w="3697224">
                  <a:extLst>
                    <a:ext uri="{9D8B030D-6E8A-4147-A177-3AD203B41FA5}">
                      <a16:colId xmlns:a16="http://schemas.microsoft.com/office/drawing/2014/main" val="20001"/>
                    </a:ext>
                  </a:extLst>
                </a:gridCol>
                <a:gridCol w="3697224">
                  <a:extLst>
                    <a:ext uri="{9D8B030D-6E8A-4147-A177-3AD203B41FA5}">
                      <a16:colId xmlns:a16="http://schemas.microsoft.com/office/drawing/2014/main" val="20002"/>
                    </a:ext>
                  </a:extLst>
                </a:gridCol>
              </a:tblGrid>
              <a:tr h="0">
                <a:tc>
                  <a:txBody>
                    <a:bodyPr/>
                    <a:lstStyle/>
                    <a:p>
                      <a:pPr marL="0" indent="0" eaLnBrk="1">
                        <a:buNone/>
                      </a:pPr>
                      <a:r>
                        <a:rPr lang="en-US" sz="1500" b="1" dirty="0">
                          <a:solidFill>
                            <a:srgbClr val="FFFFFF"/>
                          </a:solidFill>
                        </a:rPr>
                        <a:t>#</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500" b="1" dirty="0">
                          <a:solidFill>
                            <a:srgbClr val="FFFFFF"/>
                          </a:solidFill>
                        </a:rPr>
                        <a:t>Qué</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500" b="1" dirty="0">
                          <a:solidFill>
                            <a:srgbClr val="FFFFFF"/>
                          </a:solidFill>
                        </a:rPr>
                        <a:t>Tiempo</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extLst>
                  <a:ext uri="{0D108BD9-81ED-4DB2-BD59-A6C34878D82A}">
                    <a16:rowId xmlns:a16="http://schemas.microsoft.com/office/drawing/2014/main" val="10000"/>
                  </a:ext>
                </a:extLst>
              </a:tr>
              <a:tr h="0">
                <a:tc>
                  <a:txBody>
                    <a:bodyPr/>
                    <a:lstStyle/>
                    <a:p>
                      <a:pPr marL="0" indent="0" eaLnBrk="1">
                        <a:buNone/>
                      </a:pPr>
                      <a:r>
                        <a:rPr lang="en-US" sz="1500" dirty="0">
                          <a:solidFill>
                            <a:srgbClr val="14142B"/>
                          </a:solidFill>
                        </a:rPr>
                        <a:t>1</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500" dirty="0">
                          <a:solidFill>
                            <a:srgbClr val="14142B"/>
                          </a:solidFill>
                        </a:rPr>
                        <a:t>Lector: Practicar → Sílabas y Batchim, 3 rondas seguidas cada uno + captura de Progreso y estrellas de Escucha (meta: 3)</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500" dirty="0">
                          <a:solidFill>
                            <a:srgbClr val="14142B"/>
                          </a:solidFill>
                        </a:rPr>
                        <a:t>8 min</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1"/>
                  </a:ext>
                </a:extLst>
              </a:tr>
              <a:tr h="0">
                <a:tc>
                  <a:txBody>
                    <a:bodyPr/>
                    <a:lstStyle/>
                    <a:p>
                      <a:pPr marL="0" indent="0" eaLnBrk="1">
                        <a:buNone/>
                      </a:pPr>
                      <a:r>
                        <a:rPr lang="en-US" sz="1500" dirty="0">
                          <a:solidFill>
                            <a:srgbClr val="14142B"/>
                          </a:solidFill>
                        </a:rPr>
                        <a:t>2</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500" dirty="0">
                          <a:solidFill>
                            <a:srgbClr val="14142B"/>
                          </a:solidFill>
                        </a:rPr>
                        <a:t>Hoja 1: 10 frases + 3 sobre tu familia (antes del vie 23 si puedes)</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500" dirty="0">
                          <a:solidFill>
                            <a:srgbClr val="14142B"/>
                          </a:solidFill>
                        </a:rPr>
                        <a:t>12 min</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eaLnBrk="1">
                        <a:buNone/>
                      </a:pPr>
                      <a:r>
                        <a:rPr lang="en-US" sz="1500" dirty="0">
                          <a:solidFill>
                            <a:srgbClr val="14142B"/>
                          </a:solidFill>
                        </a:rPr>
                        <a:t>3</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500" dirty="0">
                          <a:solidFill>
                            <a:srgbClr val="14142B"/>
                          </a:solidFill>
                        </a:rPr>
                        <a:t>Audio de 30 s: tu re-presentación en 5 frases, sin leer (guárdalo)</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500" dirty="0">
                          <a:solidFill>
                            <a:srgbClr val="14142B"/>
                          </a:solidFill>
                        </a:rPr>
                        <a:t>5 min</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3"/>
                  </a:ext>
                </a:extLst>
              </a:tr>
              <a:tr h="0">
                <a:tc>
                  <a:txBody>
                    <a:bodyPr/>
                    <a:lstStyle/>
                    <a:p>
                      <a:pPr marL="0" indent="0" eaLnBrk="1">
                        <a:buNone/>
                      </a:pPr>
                      <a:r>
                        <a:rPr lang="en-US" sz="1500" dirty="0">
                          <a:solidFill>
                            <a:srgbClr val="14142B"/>
                          </a:solidFill>
                        </a:rPr>
                        <a:t>4</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500" dirty="0">
                          <a:solidFill>
                            <a:srgbClr val="14142B"/>
                          </a:solidFill>
                        </a:rPr>
                        <a:t>Para la semana 2: cumpleaños, edad, un teléfono y 3 horas de tu día</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500" dirty="0">
                          <a:solidFill>
                            <a:srgbClr val="14142B"/>
                          </a:solidFill>
                        </a:rPr>
                        <a:t>3 min</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eaLnBrk="1">
                        <a:buNone/>
                      </a:pPr>
                      <a:r>
                        <a:rPr lang="en-US" sz="1500" dirty="0">
                          <a:solidFill>
                            <a:srgbClr val="14142B"/>
                          </a:solidFill>
                        </a:rPr>
                        <a:t>Reto</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500" dirty="0">
                          <a:solidFill>
                            <a:srgbClr val="14142B"/>
                          </a:solidFill>
                          <a:latin typeface="Malgun Gothic" pitchFamily="34" charset="0"/>
                          <a:ea typeface="Malgun Gothic" pitchFamily="34" charset="-122"/>
                          <a:cs typeface="Malgun Gothic" pitchFamily="34" charset="-120"/>
                        </a:rPr>
                        <a:t>Tipea tu re-presentación con 제 이름은</a:t>
                      </a:r>
                      <a:r>
                        <a:rPr lang="en-US" sz="1500" dirty="0">
                          <a:solidFill>
                            <a:srgbClr val="14142B"/>
                          </a:solidFill>
                        </a:rPr>
                        <a:t>… / </a:t>
                      </a:r>
                      <a:r>
                        <a:rPr lang="ko-KR" altLang="en-US" sz="1500" dirty="0">
                          <a:solidFill>
                            <a:srgbClr val="14142B"/>
                          </a:solidFill>
                          <a:latin typeface="Malgun Gothic" pitchFamily="34" charset="0"/>
                          <a:ea typeface="Malgun Gothic" pitchFamily="34" charset="-122"/>
                          <a:cs typeface="Malgun Gothic" pitchFamily="34" charset="-120"/>
                        </a:rPr>
                        <a:t>제 취미는</a:t>
                      </a:r>
                      <a:r>
                        <a:rPr lang="en-US" sz="1500" dirty="0">
                          <a:solidFill>
                            <a:srgbClr val="14142B"/>
                          </a:solidFill>
                        </a:rPr>
                        <a:t>…</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en-US" sz="1500" dirty="0">
                          <a:solidFill>
                            <a:srgbClr val="14142B"/>
                          </a:solidFill>
                        </a:rPr>
                        <a:t>—</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5"/>
                  </a:ext>
                </a:extLst>
              </a:tr>
              <a:tr h="0">
                <a:tc>
                  <a:txBody>
                    <a:bodyPr/>
                    <a:lstStyle/>
                    <a:p>
                      <a:pPr marL="0" indent="0" eaLnBrk="1">
                        <a:buNone/>
                      </a:pPr>
                      <a:r>
                        <a:rPr lang="en-US" sz="1500" dirty="0">
                          <a:solidFill>
                            <a:srgbClr val="14142B"/>
                          </a:solidFill>
                        </a:rPr>
                        <a:t>¿Sin diagnóstico?</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500" dirty="0">
                          <a:solidFill>
                            <a:srgbClr val="14142B"/>
                          </a:solidFill>
                        </a:rPr>
                        <a:t>Audio por privado a Jay antes del domingo 25</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en-US" sz="1500" dirty="0">
                          <a:solidFill>
                            <a:srgbClr val="14142B"/>
                          </a:solidFill>
                        </a:rPr>
                        <a:t>—</a:t>
                      </a:r>
                      <a:endParaRPr lang="en-US" sz="15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731520" y="1691640"/>
            <a:ext cx="10725912" cy="1097280"/>
          </a:xfrm>
          <a:prstGeom prst="rect">
            <a:avLst/>
          </a:prstGeom>
          <a:noFill/>
          <a:ln/>
        </p:spPr>
        <p:txBody>
          <a:bodyPr wrap="square" lIns="0" tIns="0" rIns="0" bIns="0" rtlCol="0" anchor="ctr"/>
          <a:lstStyle/>
          <a:p>
            <a:pPr marL="0" indent="0" algn="ctr" eaLnBrk="1">
              <a:buNone/>
            </a:pPr>
            <a:r>
              <a:rPr lang="ko-KR" altLang="en-US" sz="3000" b="1" dirty="0">
                <a:solidFill>
                  <a:srgbClr val="FFFFFF"/>
                </a:solidFill>
                <a:latin typeface="Malgun Gothic" pitchFamily="34" charset="0"/>
                <a:ea typeface="Malgun Gothic" pitchFamily="34" charset="-122"/>
                <a:cs typeface="Malgun Gothic" pitchFamily="34" charset="-120"/>
              </a:rPr>
              <a:t>감사합니다</a:t>
            </a:r>
            <a:r>
              <a:rPr lang="en-US" sz="3000" b="1" dirty="0">
                <a:solidFill>
                  <a:srgbClr val="FFFFFF"/>
                </a:solidFill>
              </a:rPr>
              <a:t>! </a:t>
            </a:r>
            <a:r>
              <a:rPr lang="ko-KR" altLang="en-US" sz="3000" b="1" dirty="0">
                <a:solidFill>
                  <a:srgbClr val="FFFFFF"/>
                </a:solidFill>
                <a:latin typeface="Malgun Gothic" pitchFamily="34" charset="0"/>
                <a:ea typeface="Malgun Gothic" pitchFamily="34" charset="-122"/>
                <a:cs typeface="Malgun Gothic" pitchFamily="34" charset="-120"/>
              </a:rPr>
              <a:t>화이팅</a:t>
            </a:r>
            <a:r>
              <a:rPr lang="en-US" sz="3000" b="1" dirty="0">
                <a:solidFill>
                  <a:srgbClr val="FFFFFF"/>
                </a:solidFill>
              </a:rPr>
              <a:t>!  ¡Gracias! ¡Ánimo!</a:t>
            </a:r>
            <a:endParaRPr lang="en-US" sz="4000" dirty="0"/>
          </a:p>
        </p:txBody>
      </p:sp>
      <p:sp>
        <p:nvSpPr>
          <p:cNvPr id="3" name="Text 0"/>
          <p:cNvSpPr>
            <a:spLocks noGrp="1"/>
          </p:cNvSpPr>
          <p:nvPr>
            <p:ph type="body" idx="102" hasCustomPrompt="1"/>
          </p:nvPr>
        </p:nvSpPr>
        <p:spPr>
          <a:xfrm>
            <a:off x="1463040" y="2971800"/>
            <a:ext cx="9262872" cy="2926080"/>
          </a:xfrm>
          <a:prstGeom prst="rect">
            <a:avLst/>
          </a:prstGeom>
          <a:noFill/>
          <a:ln/>
        </p:spPr>
        <p:txBody>
          <a:bodyPr wrap="square" lIns="0" tIns="0" rIns="0" bIns="0" rtlCol="0" anchor="t">
            <a:normAutofit/>
          </a:bodyPr>
          <a:lstStyle/>
          <a:p>
            <a:pPr marL="0" indent="0" algn="ctr" eaLnBrk="1">
              <a:buNone/>
            </a:pPr>
            <a:r>
              <a:rPr lang="en-US" sz="1800" dirty="0">
                <a:solidFill>
                  <a:srgbClr val="FFFFFF"/>
                </a:solidFill>
              </a:rPr>
              <a:t>La clase 2 abre con el quiz 1</a:t>
            </a:r>
            <a:endParaRPr lang="en-US" sz="2200" dirty="0"/>
          </a:p>
          <a:p>
            <a:pPr marL="0" indent="0" algn="ctr" eaLnBrk="1">
              <a:buNone/>
            </a:pPr>
            <a:r>
              <a:rPr lang="en-US" sz="1800" dirty="0">
                <a:solidFill>
                  <a:srgbClr val="FFFFFF"/>
                </a:solidFill>
              </a:rPr>
              <a:t>Quiz 1: 5 preguntas cortitas sobre lo de hoy</a:t>
            </a:r>
            <a:endParaRPr lang="en-US" sz="2200" dirty="0"/>
          </a:p>
          <a:p>
            <a:pPr marL="0" indent="0" algn="ctr" eaLnBrk="1">
              <a:buNone/>
            </a:pPr>
            <a:r>
              <a:rPr lang="ko-KR" altLang="en-US" sz="1800" dirty="0">
                <a:solidFill>
                  <a:srgbClr val="FFFFFF"/>
                </a:solidFill>
                <a:latin typeface="Malgun Gothic" pitchFamily="34" charset="0"/>
                <a:ea typeface="Malgun Gothic" pitchFamily="34" charset="-122"/>
                <a:cs typeface="Malgun Gothic" pitchFamily="34" charset="-120"/>
              </a:rPr>
              <a:t>이</a:t>
            </a:r>
            <a:r>
              <a:rPr lang="en-US" sz="1800" dirty="0">
                <a:solidFill>
                  <a:srgbClr val="FFFFFF"/>
                </a:solidFill>
              </a:rPr>
              <a:t>/</a:t>
            </a:r>
            <a:r>
              <a:rPr lang="ko-KR" altLang="en-US" sz="1800" dirty="0">
                <a:solidFill>
                  <a:srgbClr val="FFFFFF"/>
                </a:solidFill>
                <a:latin typeface="Malgun Gothic" pitchFamily="34" charset="0"/>
                <a:ea typeface="Malgun Gothic" pitchFamily="34" charset="-122"/>
                <a:cs typeface="Malgun Gothic" pitchFamily="34" charset="-120"/>
              </a:rPr>
              <a:t>가 아니에요 </a:t>
            </a:r>
            <a:r>
              <a:rPr lang="en-US" sz="1800" dirty="0">
                <a:solidFill>
                  <a:srgbClr val="FFFFFF"/>
                </a:solidFill>
              </a:rPr>
              <a:t>· ¿</a:t>
            </a:r>
            <a:r>
              <a:rPr lang="ko-KR" altLang="en-US" sz="1800" dirty="0">
                <a:solidFill>
                  <a:srgbClr val="FFFFFF"/>
                </a:solidFill>
                <a:latin typeface="Malgun Gothic" pitchFamily="34" charset="0"/>
                <a:ea typeface="Malgun Gothic" pitchFamily="34" charset="-122"/>
                <a:cs typeface="Malgun Gothic" pitchFamily="34" charset="-120"/>
              </a:rPr>
              <a:t>은</a:t>
            </a:r>
            <a:r>
              <a:rPr lang="en-US" sz="1800" dirty="0">
                <a:solidFill>
                  <a:srgbClr val="FFFFFF"/>
                </a:solidFill>
              </a:rPr>
              <a:t>/</a:t>
            </a:r>
            <a:r>
              <a:rPr lang="ko-KR" altLang="en-US" sz="1800" dirty="0">
                <a:solidFill>
                  <a:srgbClr val="FFFFFF"/>
                </a:solidFill>
                <a:latin typeface="Malgun Gothic" pitchFamily="34" charset="0"/>
                <a:ea typeface="Malgun Gothic" pitchFamily="34" charset="-122"/>
                <a:cs typeface="Malgun Gothic" pitchFamily="34" charset="-120"/>
              </a:rPr>
              <a:t>는 </a:t>
            </a:r>
            <a:r>
              <a:rPr lang="en-US" sz="1800" dirty="0">
                <a:solidFill>
                  <a:srgbClr val="FFFFFF"/>
                </a:solidFill>
              </a:rPr>
              <a:t>o </a:t>
            </a:r>
            <a:r>
              <a:rPr lang="ko-KR" altLang="en-US" sz="1800" dirty="0">
                <a:solidFill>
                  <a:srgbClr val="FFFFFF"/>
                </a:solidFill>
                <a:latin typeface="Malgun Gothic" pitchFamily="34" charset="0"/>
                <a:ea typeface="Malgun Gothic" pitchFamily="34" charset="-122"/>
                <a:cs typeface="Malgun Gothic" pitchFamily="34" charset="-120"/>
              </a:rPr>
              <a:t>이</a:t>
            </a:r>
            <a:r>
              <a:rPr lang="en-US" sz="1800" dirty="0">
                <a:solidFill>
                  <a:srgbClr val="FFFFFF"/>
                </a:solidFill>
              </a:rPr>
              <a:t>/</a:t>
            </a:r>
            <a:r>
              <a:rPr lang="ko-KR" altLang="en-US" sz="1800" dirty="0">
                <a:solidFill>
                  <a:srgbClr val="FFFFFF"/>
                </a:solidFill>
                <a:latin typeface="Malgun Gothic" pitchFamily="34" charset="0"/>
                <a:ea typeface="Malgun Gothic" pitchFamily="34" charset="-122"/>
                <a:cs typeface="Malgun Gothic" pitchFamily="34" charset="-120"/>
              </a:rPr>
              <a:t>가</a:t>
            </a:r>
            <a:r>
              <a:rPr lang="en-US" sz="1800" dirty="0">
                <a:solidFill>
                  <a:srgbClr val="FFFFFF"/>
                </a:solidFill>
              </a:rPr>
              <a:t>? · </a:t>
            </a:r>
            <a:r>
              <a:rPr lang="ko-KR" altLang="en-US" sz="1800" dirty="0">
                <a:solidFill>
                  <a:srgbClr val="FFFFFF"/>
                </a:solidFill>
                <a:latin typeface="Malgun Gothic" pitchFamily="34" charset="0"/>
                <a:ea typeface="Malgun Gothic" pitchFamily="34" charset="-122"/>
                <a:cs typeface="Malgun Gothic" pitchFamily="34" charset="-120"/>
              </a:rPr>
              <a:t>있어요 </a:t>
            </a:r>
            <a:r>
              <a:rPr lang="en-US" sz="1800" dirty="0">
                <a:solidFill>
                  <a:srgbClr val="FFFFFF"/>
                </a:solidFill>
              </a:rPr>
              <a:t>o </a:t>
            </a:r>
            <a:r>
              <a:rPr lang="ko-KR" altLang="en-US" sz="1800" dirty="0">
                <a:solidFill>
                  <a:srgbClr val="FFFFFF"/>
                </a:solidFill>
                <a:latin typeface="Malgun Gothic" pitchFamily="34" charset="0"/>
                <a:ea typeface="Malgun Gothic" pitchFamily="34" charset="-122"/>
                <a:cs typeface="Malgun Gothic" pitchFamily="34" charset="-120"/>
              </a:rPr>
              <a:t>없어요 </a:t>
            </a:r>
            <a:r>
              <a:rPr lang="en-US" sz="1800" dirty="0">
                <a:solidFill>
                  <a:srgbClr val="FFFFFF"/>
                </a:solidFill>
              </a:rPr>
              <a:t>· </a:t>
            </a:r>
            <a:r>
              <a:rPr lang="ko-KR" altLang="en-US" sz="1800" dirty="0">
                <a:solidFill>
                  <a:srgbClr val="FFFFFF"/>
                </a:solidFill>
                <a:latin typeface="Malgun Gothic" pitchFamily="34" charset="0"/>
                <a:ea typeface="Malgun Gothic" pitchFamily="34" charset="-122"/>
                <a:cs typeface="Malgun Gothic" pitchFamily="34" charset="-120"/>
              </a:rPr>
              <a:t>살다 </a:t>
            </a:r>
            <a:r>
              <a:rPr lang="en-US" sz="1800" dirty="0">
                <a:solidFill>
                  <a:srgbClr val="FFFFFF"/>
                </a:solidFill>
              </a:rPr>
              <a:t>→ ___ · lectura TOPIK I</a:t>
            </a:r>
            <a:endParaRPr lang="en-US" sz="2200" dirty="0"/>
          </a:p>
          <a:p>
            <a:pPr marL="0" indent="0" algn="ctr" eaLnBrk="1">
              <a:buNone/>
            </a:pPr>
            <a:r>
              <a:rPr lang="ko-KR" altLang="en-US" sz="1800" dirty="0">
                <a:solidFill>
                  <a:srgbClr val="FFFFFF"/>
                </a:solidFill>
                <a:latin typeface="Malgun Gothic" pitchFamily="34" charset="0"/>
                <a:ea typeface="Malgun Gothic" pitchFamily="34" charset="-122"/>
                <a:cs typeface="Malgun Gothic" pitchFamily="34" charset="-120"/>
              </a:rPr>
              <a:t>잘했어요</a:t>
            </a:r>
            <a:r>
              <a:rPr lang="en-US" sz="1800" dirty="0">
                <a:solidFill>
                  <a:srgbClr val="FFFFFF"/>
                </a:solidFill>
              </a:rPr>
              <a:t>!</a:t>
            </a:r>
            <a:endParaRPr lang="en-US" sz="2200" dirty="0"/>
          </a:p>
          <a:p>
            <a:pPr marL="0" indent="0" algn="ctr" eaLnBrk="1">
              <a:buNone/>
            </a:pPr>
            <a:r>
              <a:rPr lang="ko-KR" altLang="en-US" sz="1800" dirty="0">
                <a:solidFill>
                  <a:srgbClr val="FFFFFF"/>
                </a:solidFill>
                <a:latin typeface="Malgun Gothic" pitchFamily="34" charset="0"/>
                <a:ea typeface="Malgun Gothic" pitchFamily="34" charset="-122"/>
                <a:cs typeface="Malgun Gothic" pitchFamily="34" charset="-120"/>
              </a:rPr>
              <a:t>감사합니다 </a:t>
            </a:r>
            <a:r>
              <a:rPr lang="en-US" sz="1800" dirty="0">
                <a:solidFill>
                  <a:srgbClr val="FFFFFF"/>
                </a:solidFill>
              </a:rPr>
              <a:t>· </a:t>
            </a:r>
            <a:r>
              <a:rPr lang="ko-KR" altLang="en-US" sz="1800" dirty="0">
                <a:solidFill>
                  <a:srgbClr val="FFFFFF"/>
                </a:solidFill>
                <a:latin typeface="Malgun Gothic" pitchFamily="34" charset="0"/>
                <a:ea typeface="Malgun Gothic" pitchFamily="34" charset="-122"/>
                <a:cs typeface="Malgun Gothic" pitchFamily="34" charset="-120"/>
              </a:rPr>
              <a:t>화이팅</a:t>
            </a:r>
            <a:endParaRPr lang="en-US" sz="2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이 사람은 누구예요</a:t>
            </a:r>
            <a:r>
              <a:rPr lang="en-US" sz="3000" b="1" dirty="0">
                <a:solidFill>
                  <a:srgbClr val="4236F6"/>
                </a:solidFill>
              </a:rPr>
              <a:t>?  </a:t>
            </a:r>
            <a:r>
              <a:rPr lang="en-US" sz="3000" b="1" dirty="0">
                <a:solidFill>
                  <a:srgbClr val="003478"/>
                </a:solidFill>
              </a:rPr>
              <a:t>¿Quién es?</a:t>
            </a:r>
            <a:r>
              <a:rPr lang="en-US" sz="1500" b="1" i="1" dirty="0">
                <a:solidFill>
                  <a:srgbClr val="8A8DA0"/>
                </a:solidFill>
              </a:rPr>
              <a:t>   Who is it?</a:t>
            </a:r>
            <a:endParaRPr lang="en-US" sz="3000" dirty="0"/>
          </a:p>
        </p:txBody>
      </p:sp>
      <p:sp>
        <p:nvSpPr>
          <p:cNvPr id="3" name="Text 1"/>
          <p:cNvSpPr txBox="1"/>
          <p:nvPr/>
        </p:nvSpPr>
        <p:spPr>
          <a:xfrm>
            <a:off x="548640" y="1325880"/>
            <a:ext cx="6949440" cy="548640"/>
          </a:xfrm>
          <a:prstGeom prst="rect">
            <a:avLst/>
          </a:prstGeom>
          <a:noFill/>
          <a:ln/>
        </p:spPr>
        <p:txBody>
          <a:bodyPr wrap="square" lIns="0" tIns="0" rIns="0" bIns="0" rtlCol="0" anchor="t">
            <a:normAutofit/>
          </a:bodyPr>
          <a:lstStyle/>
          <a:p>
            <a:pPr marL="0" indent="0" eaLnBrk="1">
              <a:buNone/>
            </a:pPr>
            <a:r>
              <a:rPr lang="en-US" sz="1800" i="1" dirty="0">
                <a:solidFill>
                  <a:srgbClr val="4236F6"/>
                </a:solidFill>
              </a:rPr>
              <a:t>Datos del chat: se cambian por los de un alumno real</a:t>
            </a:r>
            <a:endParaRPr lang="en-US" sz="1800" dirty="0"/>
          </a:p>
        </p:txBody>
      </p:sp>
      <p:sp>
        <p:nvSpPr>
          <p:cNvPr id="4" name="lista"/>
          <p:cNvSpPr txBox="1"/>
          <p:nvPr/>
        </p:nvSpPr>
        <p:spPr>
          <a:xfrm>
            <a:off x="548640" y="1965960"/>
            <a:ext cx="6949440" cy="42062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800" dirty="0">
                <a:solidFill>
                  <a:srgbClr val="14142B"/>
                </a:solidFill>
                <a:latin typeface="Malgun Gothic" pitchFamily="34" charset="0"/>
                <a:ea typeface="Malgun Gothic" pitchFamily="34" charset="-122"/>
                <a:cs typeface="Malgun Gothic" pitchFamily="34" charset="-120"/>
              </a:rPr>
              <a:t>이 사람은 회사원이에요</a:t>
            </a:r>
            <a:r>
              <a:rPr lang="en-US" sz="2800" dirty="0">
                <a:solidFill>
                  <a:srgbClr val="14142B"/>
                </a:solidFill>
              </a:rPr>
              <a:t>.</a:t>
            </a:r>
            <a:endParaRPr lang="en-US" sz="2800" dirty="0"/>
          </a:p>
          <a:p>
            <a:pPr marL="228600" indent="-228600" eaLnBrk="1">
              <a:spcAft>
                <a:spcPts val="800"/>
              </a:spcAft>
              <a:buSzPct val="100000"/>
              <a:buChar char="•"/>
            </a:pPr>
            <a:r>
              <a:rPr lang="ko-KR" altLang="en-US" sz="2800" dirty="0">
                <a:solidFill>
                  <a:srgbClr val="14142B"/>
                </a:solidFill>
                <a:latin typeface="Malgun Gothic" pitchFamily="34" charset="0"/>
                <a:ea typeface="Malgun Gothic" pitchFamily="34" charset="-122"/>
                <a:cs typeface="Malgun Gothic" pitchFamily="34" charset="-120"/>
              </a:rPr>
              <a:t>발파라이소에 살아요</a:t>
            </a:r>
            <a:r>
              <a:rPr lang="en-US" sz="2800" dirty="0">
                <a:solidFill>
                  <a:srgbClr val="14142B"/>
                </a:solidFill>
              </a:rPr>
              <a:t>.</a:t>
            </a:r>
            <a:endParaRPr lang="en-US" sz="2800" dirty="0"/>
          </a:p>
          <a:p>
            <a:pPr marL="228600" indent="-228600" eaLnBrk="1">
              <a:spcAft>
                <a:spcPts val="800"/>
              </a:spcAft>
              <a:buSzPct val="100000"/>
              <a:buChar char="•"/>
            </a:pPr>
            <a:r>
              <a:rPr lang="ko-KR" altLang="en-US" sz="2800" dirty="0">
                <a:solidFill>
                  <a:srgbClr val="14142B"/>
                </a:solidFill>
                <a:latin typeface="Malgun Gothic" pitchFamily="34" charset="0"/>
                <a:ea typeface="Malgun Gothic" pitchFamily="34" charset="-122"/>
                <a:cs typeface="Malgun Gothic" pitchFamily="34" charset="-120"/>
              </a:rPr>
              <a:t>강아지가 있어요</a:t>
            </a:r>
            <a:r>
              <a:rPr lang="en-US" sz="2800" dirty="0">
                <a:solidFill>
                  <a:srgbClr val="14142B"/>
                </a:solidFill>
              </a:rPr>
              <a:t>.</a:t>
            </a:r>
            <a:endParaRPr lang="en-US" sz="2800" dirty="0"/>
          </a:p>
          <a:p>
            <a:pPr marL="228600" indent="-228600" eaLnBrk="1">
              <a:spcAft>
                <a:spcPts val="800"/>
              </a:spcAft>
              <a:buSzPct val="100000"/>
              <a:buChar char="•"/>
            </a:pPr>
            <a:r>
              <a:rPr lang="ko-KR" altLang="en-US" sz="2800" dirty="0">
                <a:solidFill>
                  <a:srgbClr val="14142B"/>
                </a:solidFill>
                <a:latin typeface="Malgun Gothic" pitchFamily="34" charset="0"/>
                <a:ea typeface="Malgun Gothic" pitchFamily="34" charset="-122"/>
                <a:cs typeface="Malgun Gothic" pitchFamily="34" charset="-120"/>
              </a:rPr>
              <a:t>누구예요</a:t>
            </a:r>
            <a:r>
              <a:rPr lang="en-US" sz="2800" dirty="0">
                <a:solidFill>
                  <a:srgbClr val="14142B"/>
                </a:solidFill>
              </a:rPr>
              <a:t>? → Escribe el nombre en el chat</a:t>
            </a:r>
            <a:endParaRPr lang="en-US" sz="2800" dirty="0"/>
          </a:p>
        </p:txBody>
      </p:sp>
      <p:sp>
        <p:nvSpPr>
          <p:cNvPr id="5" name="panel"/>
          <p:cNvSpPr/>
          <p:nvPr/>
        </p:nvSpPr>
        <p:spPr>
          <a:xfrm>
            <a:off x="8001000" y="1417320"/>
            <a:ext cx="3611880" cy="4480560"/>
          </a:xfrm>
          <a:prstGeom prst="roundRect">
            <a:avLst>
              <a:gd name="adj" fmla="val 6329"/>
            </a:avLst>
          </a:prstGeom>
          <a:solidFill>
            <a:srgbClr val="F1F0FE"/>
          </a:solidFill>
          <a:ln w="12700">
            <a:solidFill>
              <a:srgbClr val="F1F0FE"/>
            </a:solidFill>
            <a:prstDash val="solid"/>
          </a:ln>
        </p:spPr>
      </p:sp>
      <p:sp>
        <p:nvSpPr>
          <p:cNvPr id="6" name="ko_grande"/>
          <p:cNvSpPr txBox="1"/>
          <p:nvPr/>
        </p:nvSpPr>
        <p:spPr>
          <a:xfrm>
            <a:off x="8092440" y="1874520"/>
            <a:ext cx="3429000" cy="2926080"/>
          </a:xfrm>
          <a:prstGeom prst="rect">
            <a:avLst/>
          </a:prstGeom>
          <a:noFill/>
          <a:ln/>
        </p:spPr>
        <p:txBody>
          <a:bodyPr wrap="square" lIns="0" tIns="0" rIns="0" bIns="0" rtlCol="0" anchor="ctr">
            <a:normAutofit/>
          </a:bodyPr>
          <a:lstStyle/>
          <a:p>
            <a:pPr marL="0" indent="0" algn="ctr" eaLnBrk="1">
              <a:buNone/>
            </a:pPr>
            <a:r>
              <a:rPr lang="ko-KR" altLang="en-US" sz="5000" b="1" dirty="0">
                <a:solidFill>
                  <a:srgbClr val="4236F6"/>
                </a:solidFill>
                <a:latin typeface="Malgun Gothic" pitchFamily="34" charset="0"/>
                <a:ea typeface="Malgun Gothic" pitchFamily="34" charset="-122"/>
                <a:cs typeface="Malgun Gothic" pitchFamily="34" charset="-120"/>
              </a:rPr>
              <a:t>이 사람은</a:t>
            </a:r>
            <a:endParaRPr lang="en-US" sz="5000" dirty="0"/>
          </a:p>
          <a:p>
            <a:pPr marL="0" indent="0" algn="ctr" eaLnBrk="1">
              <a:buNone/>
            </a:pPr>
            <a:r>
              <a:rPr lang="ko-KR" altLang="en-US" sz="5000" b="1" dirty="0">
                <a:solidFill>
                  <a:srgbClr val="4236F6"/>
                </a:solidFill>
                <a:latin typeface="Malgun Gothic" pitchFamily="34" charset="0"/>
                <a:ea typeface="Malgun Gothic" pitchFamily="34" charset="-122"/>
                <a:cs typeface="Malgun Gothic" pitchFamily="34" charset="-120"/>
              </a:rPr>
              <a:t>누구예요</a:t>
            </a:r>
            <a:r>
              <a:rPr lang="en-US" sz="5000" b="1" dirty="0">
                <a:solidFill>
                  <a:srgbClr val="4236F6"/>
                </a:solidFill>
              </a:rPr>
              <a:t>?</a:t>
            </a:r>
            <a:endParaRPr lang="en-US" sz="5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2600" b="1" dirty="0">
                <a:solidFill>
                  <a:srgbClr val="4236F6"/>
                </a:solidFill>
                <a:latin typeface="Malgun Gothic" pitchFamily="34" charset="0"/>
                <a:ea typeface="Malgun Gothic" pitchFamily="34" charset="-122"/>
                <a:cs typeface="Malgun Gothic" pitchFamily="34" charset="-120"/>
              </a:rPr>
              <a:t>직업 </a:t>
            </a:r>
            <a:r>
              <a:rPr lang="en-US" sz="2600" b="1" dirty="0">
                <a:solidFill>
                  <a:srgbClr val="4236F6"/>
                </a:solidFill>
              </a:rPr>
              <a:t>· </a:t>
            </a:r>
            <a:r>
              <a:rPr lang="ko-KR" altLang="en-US" sz="2600" b="1" dirty="0">
                <a:solidFill>
                  <a:srgbClr val="4236F6"/>
                </a:solidFill>
                <a:latin typeface="Malgun Gothic" pitchFamily="34" charset="0"/>
                <a:ea typeface="Malgun Gothic" pitchFamily="34" charset="-122"/>
                <a:cs typeface="Malgun Gothic" pitchFamily="34" charset="-120"/>
              </a:rPr>
              <a:t>취미  </a:t>
            </a:r>
            <a:r>
              <a:rPr lang="en-US" sz="2600" b="1" dirty="0">
                <a:solidFill>
                  <a:srgbClr val="003478"/>
                </a:solidFill>
              </a:rPr>
              <a:t>A pedido: profesiones y pasatiempos</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en-US" sz="1800" i="1" dirty="0">
                <a:solidFill>
                  <a:srgbClr val="4236F6"/>
                </a:solidFill>
              </a:rPr>
              <a:t>No se evalúan: úsalas si son tuyas</a:t>
            </a:r>
            <a:endParaRPr lang="en-US" sz="1800" dirty="0"/>
          </a:p>
        </p:txBody>
      </p:sp>
      <p:sp>
        <p:nvSpPr>
          <p:cNvPr id="4" name="col_0"/>
          <p:cNvSpPr/>
          <p:nvPr/>
        </p:nvSpPr>
        <p:spPr>
          <a:xfrm>
            <a:off x="548640" y="1874520"/>
            <a:ext cx="5385816" cy="4297680"/>
          </a:xfrm>
          <a:prstGeom prst="roundRect">
            <a:avLst>
              <a:gd name="adj" fmla="val 3191"/>
            </a:avLst>
          </a:prstGeom>
          <a:solidFill>
            <a:srgbClr val="F1F0FE"/>
          </a:solidFill>
          <a:ln w="12700">
            <a:solidFill>
              <a:srgbClr val="D9D7F7"/>
            </a:solidFill>
            <a:prstDash val="solid"/>
          </a:ln>
        </p:spPr>
      </p:sp>
      <p:sp>
        <p:nvSpPr>
          <p:cNvPr id="5" name="Text 3"/>
          <p:cNvSpPr txBox="1"/>
          <p:nvPr/>
        </p:nvSpPr>
        <p:spPr>
          <a:xfrm>
            <a:off x="777240" y="2057400"/>
            <a:ext cx="4928616" cy="548640"/>
          </a:xfrm>
          <a:prstGeom prst="rect">
            <a:avLst/>
          </a:prstGeom>
          <a:noFill/>
          <a:ln/>
        </p:spPr>
        <p:txBody>
          <a:bodyPr wrap="square" lIns="0" tIns="0" rIns="0" bIns="0" rtlCol="0" anchor="t">
            <a:normAutofit/>
          </a:bodyPr>
          <a:lstStyle/>
          <a:p>
            <a:pPr marL="0" indent="0" eaLnBrk="1">
              <a:buNone/>
            </a:pPr>
            <a:r>
              <a:rPr lang="en-US" sz="2000" b="1" dirty="0">
                <a:solidFill>
                  <a:srgbClr val="003478"/>
                </a:solidFill>
              </a:rPr>
              <a:t>Profesiones</a:t>
            </a:r>
            <a:endParaRPr lang="en-US" sz="2000" dirty="0"/>
          </a:p>
        </p:txBody>
      </p:sp>
      <p:sp>
        <p:nvSpPr>
          <p:cNvPr id="6" name="Text 4"/>
          <p:cNvSpPr txBox="1"/>
          <p:nvPr/>
        </p:nvSpPr>
        <p:spPr>
          <a:xfrm>
            <a:off x="777240" y="2651760"/>
            <a:ext cx="4928616" cy="914400"/>
          </a:xfrm>
          <a:prstGeom prst="rect">
            <a:avLst/>
          </a:prstGeom>
          <a:noFill/>
          <a:ln/>
        </p:spPr>
        <p:txBody>
          <a:bodyPr wrap="square" lIns="0" tIns="0" rIns="0" bIns="0" rtlCol="0" anchor="ctr">
            <a:normAutofit/>
          </a:bodyPr>
          <a:lstStyle/>
          <a:p>
            <a:pPr marL="0" indent="0" eaLnBrk="1">
              <a:buNone/>
            </a:pPr>
            <a:r>
              <a:rPr lang="ko-KR" altLang="en-US" sz="5400" b="1" dirty="0">
                <a:solidFill>
                  <a:srgbClr val="4236F6"/>
                </a:solidFill>
                <a:latin typeface="Malgun Gothic" pitchFamily="34" charset="0"/>
                <a:ea typeface="Malgun Gothic" pitchFamily="34" charset="-122"/>
                <a:cs typeface="Malgun Gothic" pitchFamily="34" charset="-120"/>
              </a:rPr>
              <a:t>직업</a:t>
            </a:r>
            <a:endParaRPr lang="en-US" sz="5400" dirty="0"/>
          </a:p>
        </p:txBody>
      </p:sp>
      <p:sp>
        <p:nvSpPr>
          <p:cNvPr id="7" name="lista"/>
          <p:cNvSpPr txBox="1"/>
          <p:nvPr/>
        </p:nvSpPr>
        <p:spPr>
          <a:xfrm>
            <a:off x="731520" y="3657600"/>
            <a:ext cx="5020056" cy="23774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1200" dirty="0">
                <a:solidFill>
                  <a:srgbClr val="14142B"/>
                </a:solidFill>
                <a:latin typeface="Malgun Gothic" pitchFamily="34" charset="0"/>
                <a:ea typeface="Malgun Gothic" pitchFamily="34" charset="-122"/>
                <a:cs typeface="Malgun Gothic" pitchFamily="34" charset="-120"/>
              </a:rPr>
              <a:t>의사 </a:t>
            </a:r>
            <a:r>
              <a:rPr lang="en-US" sz="1200" dirty="0">
                <a:solidFill>
                  <a:srgbClr val="14142B"/>
                </a:solidFill>
              </a:rPr>
              <a:t>· médico/a</a:t>
            </a:r>
            <a:endParaRPr lang="en-US" sz="1200" dirty="0"/>
          </a:p>
          <a:p>
            <a:pPr marL="228600" indent="-228600" eaLnBrk="1">
              <a:spcAft>
                <a:spcPts val="800"/>
              </a:spcAft>
              <a:buSzPct val="100000"/>
              <a:buChar char="•"/>
            </a:pPr>
            <a:r>
              <a:rPr lang="ko-KR" altLang="en-US" sz="1200" dirty="0">
                <a:solidFill>
                  <a:srgbClr val="14142B"/>
                </a:solidFill>
                <a:latin typeface="Malgun Gothic" pitchFamily="34" charset="0"/>
                <a:ea typeface="Malgun Gothic" pitchFamily="34" charset="-122"/>
                <a:cs typeface="Malgun Gothic" pitchFamily="34" charset="-120"/>
              </a:rPr>
              <a:t>간호사 </a:t>
            </a:r>
            <a:r>
              <a:rPr lang="en-US" sz="1200" dirty="0">
                <a:solidFill>
                  <a:srgbClr val="14142B"/>
                </a:solidFill>
              </a:rPr>
              <a:t>· enfermero/a</a:t>
            </a:r>
            <a:endParaRPr lang="en-US" sz="1200" dirty="0"/>
          </a:p>
          <a:p>
            <a:pPr marL="228600" indent="-228600" eaLnBrk="1">
              <a:spcAft>
                <a:spcPts val="800"/>
              </a:spcAft>
              <a:buSzPct val="100000"/>
              <a:buChar char="•"/>
            </a:pPr>
            <a:r>
              <a:rPr lang="ko-KR" altLang="en-US" sz="1200" dirty="0">
                <a:solidFill>
                  <a:srgbClr val="14142B"/>
                </a:solidFill>
                <a:latin typeface="Malgun Gothic" pitchFamily="34" charset="0"/>
                <a:ea typeface="Malgun Gothic" pitchFamily="34" charset="-122"/>
                <a:cs typeface="Malgun Gothic" pitchFamily="34" charset="-120"/>
              </a:rPr>
              <a:t>엔지니어 </a:t>
            </a:r>
            <a:r>
              <a:rPr lang="en-US" sz="1200" dirty="0">
                <a:solidFill>
                  <a:srgbClr val="14142B"/>
                </a:solidFill>
              </a:rPr>
              <a:t>· ingeniero/a</a:t>
            </a:r>
            <a:endParaRPr lang="en-US" sz="1200" dirty="0"/>
          </a:p>
          <a:p>
            <a:pPr marL="228600" indent="-228600" eaLnBrk="1">
              <a:spcAft>
                <a:spcPts val="800"/>
              </a:spcAft>
              <a:buSzPct val="100000"/>
              <a:buChar char="•"/>
            </a:pPr>
            <a:r>
              <a:rPr lang="ko-KR" altLang="en-US" sz="1200" dirty="0">
                <a:solidFill>
                  <a:srgbClr val="14142B"/>
                </a:solidFill>
                <a:latin typeface="Malgun Gothic" pitchFamily="34" charset="0"/>
                <a:ea typeface="Malgun Gothic" pitchFamily="34" charset="-122"/>
                <a:cs typeface="Malgun Gothic" pitchFamily="34" charset="-120"/>
              </a:rPr>
              <a:t>디자이너 </a:t>
            </a:r>
            <a:r>
              <a:rPr lang="en-US" sz="1200" dirty="0">
                <a:solidFill>
                  <a:srgbClr val="14142B"/>
                </a:solidFill>
              </a:rPr>
              <a:t>· diseñador/a</a:t>
            </a:r>
            <a:endParaRPr lang="en-US" sz="1200" dirty="0"/>
          </a:p>
          <a:p>
            <a:pPr marL="228600" indent="-228600" eaLnBrk="1">
              <a:spcAft>
                <a:spcPts val="800"/>
              </a:spcAft>
              <a:buSzPct val="100000"/>
              <a:buChar char="•"/>
            </a:pPr>
            <a:r>
              <a:rPr lang="ko-KR" altLang="en-US" sz="1200" dirty="0">
                <a:solidFill>
                  <a:srgbClr val="14142B"/>
                </a:solidFill>
                <a:latin typeface="Malgun Gothic" pitchFamily="34" charset="0"/>
                <a:ea typeface="Malgun Gothic" pitchFamily="34" charset="-122"/>
                <a:cs typeface="Malgun Gothic" pitchFamily="34" charset="-120"/>
              </a:rPr>
              <a:t>프로그래머 </a:t>
            </a:r>
            <a:r>
              <a:rPr lang="en-US" sz="1200" dirty="0">
                <a:solidFill>
                  <a:srgbClr val="14142B"/>
                </a:solidFill>
              </a:rPr>
              <a:t>· programador/a</a:t>
            </a:r>
            <a:endParaRPr lang="en-US" sz="1200" dirty="0"/>
          </a:p>
          <a:p>
            <a:pPr marL="228600" indent="-228600" eaLnBrk="1">
              <a:spcAft>
                <a:spcPts val="800"/>
              </a:spcAft>
              <a:buSzPct val="100000"/>
              <a:buChar char="•"/>
            </a:pPr>
            <a:r>
              <a:rPr lang="ko-KR" altLang="en-US" sz="1200" dirty="0">
                <a:solidFill>
                  <a:srgbClr val="14142B"/>
                </a:solidFill>
                <a:latin typeface="Malgun Gothic" pitchFamily="34" charset="0"/>
                <a:ea typeface="Malgun Gothic" pitchFamily="34" charset="-122"/>
                <a:cs typeface="Malgun Gothic" pitchFamily="34" charset="-120"/>
              </a:rPr>
              <a:t>요리사 </a:t>
            </a:r>
            <a:r>
              <a:rPr lang="en-US" sz="1200" dirty="0">
                <a:solidFill>
                  <a:srgbClr val="14142B"/>
                </a:solidFill>
              </a:rPr>
              <a:t>· cocinero/a</a:t>
            </a:r>
            <a:endParaRPr lang="en-US" sz="1200" dirty="0"/>
          </a:p>
          <a:p>
            <a:pPr marL="228600" indent="-228600" eaLnBrk="1">
              <a:spcAft>
                <a:spcPts val="800"/>
              </a:spcAft>
              <a:buSzPct val="100000"/>
              <a:buChar char="•"/>
            </a:pPr>
            <a:r>
              <a:rPr lang="ko-KR" altLang="en-US" sz="1200" dirty="0">
                <a:solidFill>
                  <a:srgbClr val="14142B"/>
                </a:solidFill>
                <a:latin typeface="Malgun Gothic" pitchFamily="34" charset="0"/>
                <a:ea typeface="Malgun Gothic" pitchFamily="34" charset="-122"/>
                <a:cs typeface="Malgun Gothic" pitchFamily="34" charset="-120"/>
              </a:rPr>
              <a:t>주부 </a:t>
            </a:r>
            <a:r>
              <a:rPr lang="en-US" sz="1200" dirty="0">
                <a:solidFill>
                  <a:srgbClr val="14142B"/>
                </a:solidFill>
              </a:rPr>
              <a:t>· dueño/a de casa</a:t>
            </a:r>
            <a:endParaRPr lang="en-US" sz="1200" dirty="0"/>
          </a:p>
          <a:p>
            <a:pPr marL="228600" indent="-228600" eaLnBrk="1">
              <a:spcAft>
                <a:spcPts val="800"/>
              </a:spcAft>
              <a:buSzPct val="100000"/>
              <a:buChar char="•"/>
            </a:pPr>
            <a:r>
              <a:rPr lang="ko-KR" altLang="en-US" sz="1200" dirty="0">
                <a:solidFill>
                  <a:srgbClr val="14142B"/>
                </a:solidFill>
                <a:latin typeface="Malgun Gothic" pitchFamily="34" charset="0"/>
                <a:ea typeface="Malgun Gothic" pitchFamily="34" charset="-122"/>
                <a:cs typeface="Malgun Gothic" pitchFamily="34" charset="-120"/>
              </a:rPr>
              <a:t>변호사 </a:t>
            </a:r>
            <a:r>
              <a:rPr lang="en-US" sz="1200" dirty="0">
                <a:solidFill>
                  <a:srgbClr val="14142B"/>
                </a:solidFill>
              </a:rPr>
              <a:t>· abogado/a</a:t>
            </a:r>
            <a:endParaRPr lang="en-US" sz="1200" dirty="0"/>
          </a:p>
          <a:p>
            <a:pPr marL="228600" indent="-228600" eaLnBrk="1">
              <a:spcAft>
                <a:spcPts val="800"/>
              </a:spcAft>
              <a:buSzPct val="100000"/>
              <a:buChar char="•"/>
            </a:pPr>
            <a:r>
              <a:rPr lang="ko-KR" altLang="en-US" sz="1200" dirty="0">
                <a:solidFill>
                  <a:srgbClr val="14142B"/>
                </a:solidFill>
                <a:latin typeface="Malgun Gothic" pitchFamily="34" charset="0"/>
                <a:ea typeface="Malgun Gothic" pitchFamily="34" charset="-122"/>
                <a:cs typeface="Malgun Gothic" pitchFamily="34" charset="-120"/>
              </a:rPr>
              <a:t>공무원 </a:t>
            </a:r>
            <a:r>
              <a:rPr lang="en-US" sz="1200" dirty="0">
                <a:solidFill>
                  <a:srgbClr val="14142B"/>
                </a:solidFill>
              </a:rPr>
              <a:t>· funcionario/a público/a</a:t>
            </a:r>
            <a:endParaRPr lang="en-US" sz="1200" dirty="0"/>
          </a:p>
          <a:p>
            <a:pPr marL="228600" indent="-228600" eaLnBrk="1">
              <a:spcAft>
                <a:spcPts val="800"/>
              </a:spcAft>
              <a:buSzPct val="100000"/>
              <a:buChar char="•"/>
            </a:pPr>
            <a:r>
              <a:rPr lang="ko-KR" altLang="en-US" sz="1200" dirty="0">
                <a:solidFill>
                  <a:srgbClr val="14142B"/>
                </a:solidFill>
                <a:latin typeface="Malgun Gothic" pitchFamily="34" charset="0"/>
                <a:ea typeface="Malgun Gothic" pitchFamily="34" charset="-122"/>
                <a:cs typeface="Malgun Gothic" pitchFamily="34" charset="-120"/>
              </a:rPr>
              <a:t>프리랜서 </a:t>
            </a:r>
            <a:r>
              <a:rPr lang="en-US" sz="1200" dirty="0">
                <a:solidFill>
                  <a:srgbClr val="14142B"/>
                </a:solidFill>
              </a:rPr>
              <a:t>· independiente</a:t>
            </a:r>
            <a:endParaRPr lang="en-US" sz="1200" dirty="0"/>
          </a:p>
        </p:txBody>
      </p:sp>
      <p:sp>
        <p:nvSpPr>
          <p:cNvPr id="8" name="col_1"/>
          <p:cNvSpPr/>
          <p:nvPr/>
        </p:nvSpPr>
        <p:spPr>
          <a:xfrm>
            <a:off x="6254496" y="1874520"/>
            <a:ext cx="5385816" cy="4297680"/>
          </a:xfrm>
          <a:prstGeom prst="roundRect">
            <a:avLst>
              <a:gd name="adj" fmla="val 3191"/>
            </a:avLst>
          </a:prstGeom>
          <a:solidFill>
            <a:srgbClr val="FFFFFF"/>
          </a:solidFill>
          <a:ln w="12700">
            <a:solidFill>
              <a:srgbClr val="D9D7F7"/>
            </a:solidFill>
            <a:prstDash val="solid"/>
          </a:ln>
        </p:spPr>
      </p:sp>
      <p:sp>
        <p:nvSpPr>
          <p:cNvPr id="9" name="Text 7"/>
          <p:cNvSpPr txBox="1"/>
          <p:nvPr/>
        </p:nvSpPr>
        <p:spPr>
          <a:xfrm>
            <a:off x="6483096" y="2057400"/>
            <a:ext cx="4928616" cy="548640"/>
          </a:xfrm>
          <a:prstGeom prst="rect">
            <a:avLst/>
          </a:prstGeom>
          <a:noFill/>
          <a:ln/>
        </p:spPr>
        <p:txBody>
          <a:bodyPr wrap="square" lIns="0" tIns="0" rIns="0" bIns="0" rtlCol="0" anchor="t">
            <a:normAutofit/>
          </a:bodyPr>
          <a:lstStyle/>
          <a:p>
            <a:pPr marL="0" indent="0" eaLnBrk="1">
              <a:buNone/>
            </a:pPr>
            <a:r>
              <a:rPr lang="en-US" sz="2000" b="1" dirty="0">
                <a:solidFill>
                  <a:srgbClr val="003478"/>
                </a:solidFill>
              </a:rPr>
              <a:t>Pasatiempos</a:t>
            </a:r>
            <a:endParaRPr lang="en-US" sz="2000" dirty="0"/>
          </a:p>
        </p:txBody>
      </p:sp>
      <p:sp>
        <p:nvSpPr>
          <p:cNvPr id="10" name="Text 8"/>
          <p:cNvSpPr txBox="1"/>
          <p:nvPr/>
        </p:nvSpPr>
        <p:spPr>
          <a:xfrm>
            <a:off x="6483096" y="2651760"/>
            <a:ext cx="4928616" cy="914400"/>
          </a:xfrm>
          <a:prstGeom prst="rect">
            <a:avLst/>
          </a:prstGeom>
          <a:noFill/>
          <a:ln/>
        </p:spPr>
        <p:txBody>
          <a:bodyPr wrap="square" lIns="0" tIns="0" rIns="0" bIns="0" rtlCol="0" anchor="ctr">
            <a:normAutofit/>
          </a:bodyPr>
          <a:lstStyle/>
          <a:p>
            <a:pPr marL="0" indent="0" eaLnBrk="1">
              <a:buNone/>
            </a:pPr>
            <a:r>
              <a:rPr lang="ko-KR" altLang="en-US" sz="2800" b="1" dirty="0">
                <a:solidFill>
                  <a:srgbClr val="4236F6"/>
                </a:solidFill>
                <a:latin typeface="Malgun Gothic" pitchFamily="34" charset="0"/>
                <a:ea typeface="Malgun Gothic" pitchFamily="34" charset="-122"/>
                <a:cs typeface="Malgun Gothic" pitchFamily="34" charset="-120"/>
              </a:rPr>
              <a:t>제 취미는</a:t>
            </a:r>
            <a:endParaRPr lang="en-US" sz="2800" dirty="0"/>
          </a:p>
          <a:p>
            <a:pPr marL="0" indent="0" eaLnBrk="1">
              <a:buNone/>
            </a:pPr>
            <a:r>
              <a:rPr lang="ko-KR" altLang="en-US" sz="2800" b="1" dirty="0">
                <a:solidFill>
                  <a:srgbClr val="4236F6"/>
                </a:solidFill>
                <a:latin typeface="Malgun Gothic" pitchFamily="34" charset="0"/>
                <a:ea typeface="Malgun Gothic" pitchFamily="34" charset="-122"/>
                <a:cs typeface="Malgun Gothic" pitchFamily="34" charset="-120"/>
              </a:rPr>
              <a:t>___예요</a:t>
            </a:r>
            <a:r>
              <a:rPr lang="en-US" sz="2800" b="1" dirty="0">
                <a:solidFill>
                  <a:srgbClr val="4236F6"/>
                </a:solidFill>
              </a:rPr>
              <a:t>/</a:t>
            </a:r>
            <a:r>
              <a:rPr lang="ko-KR" altLang="en-US" sz="2800" b="1" dirty="0">
                <a:solidFill>
                  <a:srgbClr val="4236F6"/>
                </a:solidFill>
                <a:latin typeface="Malgun Gothic" pitchFamily="34" charset="0"/>
                <a:ea typeface="Malgun Gothic" pitchFamily="34" charset="-122"/>
                <a:cs typeface="Malgun Gothic" pitchFamily="34" charset="-120"/>
              </a:rPr>
              <a:t>이에요</a:t>
            </a:r>
            <a:r>
              <a:rPr lang="en-US" sz="2800" b="1" dirty="0">
                <a:solidFill>
                  <a:srgbClr val="4236F6"/>
                </a:solidFill>
              </a:rPr>
              <a:t>.</a:t>
            </a:r>
            <a:endParaRPr lang="en-US" sz="2800" dirty="0"/>
          </a:p>
        </p:txBody>
      </p:sp>
      <p:sp>
        <p:nvSpPr>
          <p:cNvPr id="11" name="lista"/>
          <p:cNvSpPr txBox="1"/>
          <p:nvPr/>
        </p:nvSpPr>
        <p:spPr>
          <a:xfrm>
            <a:off x="6437376" y="3657600"/>
            <a:ext cx="5020056" cy="23774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요리 </a:t>
            </a:r>
            <a:r>
              <a:rPr lang="en-US" sz="1800" dirty="0">
                <a:solidFill>
                  <a:srgbClr val="14142B"/>
                </a:solidFill>
              </a:rPr>
              <a:t>· </a:t>
            </a:r>
            <a:r>
              <a:rPr lang="ko-KR" altLang="en-US" sz="1800" dirty="0">
                <a:solidFill>
                  <a:srgbClr val="14142B"/>
                </a:solidFill>
                <a:latin typeface="Malgun Gothic" pitchFamily="34" charset="0"/>
                <a:ea typeface="Malgun Gothic" pitchFamily="34" charset="-122"/>
                <a:cs typeface="Malgun Gothic" pitchFamily="34" charset="-120"/>
              </a:rPr>
              <a:t>운동 </a:t>
            </a:r>
            <a:r>
              <a:rPr lang="en-US" sz="1800" dirty="0">
                <a:solidFill>
                  <a:srgbClr val="14142B"/>
                </a:solidFill>
              </a:rPr>
              <a:t>· </a:t>
            </a:r>
            <a:r>
              <a:rPr lang="ko-KR" altLang="en-US" sz="1800" dirty="0">
                <a:solidFill>
                  <a:srgbClr val="14142B"/>
                </a:solidFill>
                <a:latin typeface="Malgun Gothic" pitchFamily="34" charset="0"/>
                <a:ea typeface="Malgun Gothic" pitchFamily="34" charset="-122"/>
                <a:cs typeface="Malgun Gothic" pitchFamily="34" charset="-120"/>
              </a:rPr>
              <a:t>여행 </a:t>
            </a:r>
            <a:r>
              <a:rPr lang="en-US" sz="1800" dirty="0">
                <a:solidFill>
                  <a:srgbClr val="14142B"/>
                </a:solidFill>
              </a:rPr>
              <a:t>· </a:t>
            </a:r>
            <a:r>
              <a:rPr lang="ko-KR" altLang="en-US" sz="1800" dirty="0">
                <a:solidFill>
                  <a:srgbClr val="14142B"/>
                </a:solidFill>
                <a:latin typeface="Malgun Gothic" pitchFamily="34" charset="0"/>
                <a:ea typeface="Malgun Gothic" pitchFamily="34" charset="-122"/>
                <a:cs typeface="Malgun Gothic" pitchFamily="34" charset="-120"/>
              </a:rPr>
              <a:t>게임</a:t>
            </a:r>
            <a:endParaRPr lang="en-US" sz="1800" dirty="0"/>
          </a:p>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등산 </a:t>
            </a:r>
            <a:r>
              <a:rPr lang="en-US" sz="1800" dirty="0">
                <a:solidFill>
                  <a:srgbClr val="14142B"/>
                </a:solidFill>
              </a:rPr>
              <a:t>(senderismo) · </a:t>
            </a:r>
            <a:r>
              <a:rPr lang="ko-KR" altLang="en-US" sz="1800" dirty="0">
                <a:solidFill>
                  <a:srgbClr val="14142B"/>
                </a:solidFill>
                <a:latin typeface="Malgun Gothic" pitchFamily="34" charset="0"/>
                <a:ea typeface="Malgun Gothic" pitchFamily="34" charset="-122"/>
                <a:cs typeface="Malgun Gothic" pitchFamily="34" charset="-120"/>
              </a:rPr>
              <a:t>독서 </a:t>
            </a:r>
            <a:r>
              <a:rPr lang="en-US" sz="1800" dirty="0">
                <a:solidFill>
                  <a:srgbClr val="14142B"/>
                </a:solidFill>
              </a:rPr>
              <a:t>(lectura) · </a:t>
            </a:r>
            <a:r>
              <a:rPr lang="ko-KR" altLang="en-US" sz="1800" dirty="0">
                <a:solidFill>
                  <a:srgbClr val="14142B"/>
                </a:solidFill>
                <a:latin typeface="Malgun Gothic" pitchFamily="34" charset="0"/>
                <a:ea typeface="Malgun Gothic" pitchFamily="34" charset="-122"/>
                <a:cs typeface="Malgun Gothic" pitchFamily="34" charset="-120"/>
              </a:rPr>
              <a:t>노래</a:t>
            </a:r>
            <a:endParaRPr lang="en-US" sz="1800" dirty="0"/>
          </a:p>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음악 감상 </a:t>
            </a:r>
            <a:r>
              <a:rPr lang="en-US" sz="1800" dirty="0">
                <a:solidFill>
                  <a:srgbClr val="14142B"/>
                </a:solidFill>
              </a:rPr>
              <a:t>· </a:t>
            </a:r>
            <a:r>
              <a:rPr lang="ko-KR" altLang="en-US" sz="1800" dirty="0">
                <a:solidFill>
                  <a:srgbClr val="14142B"/>
                </a:solidFill>
                <a:latin typeface="Malgun Gothic" pitchFamily="34" charset="0"/>
                <a:ea typeface="Malgun Gothic" pitchFamily="34" charset="-122"/>
                <a:cs typeface="Malgun Gothic" pitchFamily="34" charset="-120"/>
              </a:rPr>
              <a:t>영화 감상 </a:t>
            </a:r>
            <a:r>
              <a:rPr lang="en-US" sz="1800" dirty="0">
                <a:solidFill>
                  <a:srgbClr val="14142B"/>
                </a:solidFill>
              </a:rPr>
              <a:t>(en bloque)</a:t>
            </a:r>
            <a:endParaRPr lang="en-US" sz="1800" dirty="0"/>
          </a:p>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그림 그리기 </a:t>
            </a:r>
            <a:r>
              <a:rPr lang="en-US" sz="1800" dirty="0">
                <a:solidFill>
                  <a:srgbClr val="14142B"/>
                </a:solidFill>
              </a:rPr>
              <a:t>(dibujar) · </a:t>
            </a:r>
            <a:r>
              <a:rPr lang="ko-KR" altLang="en-US" sz="1800" dirty="0">
                <a:solidFill>
                  <a:srgbClr val="14142B"/>
                </a:solidFill>
                <a:latin typeface="Malgun Gothic" pitchFamily="34" charset="0"/>
                <a:ea typeface="Malgun Gothic" pitchFamily="34" charset="-122"/>
                <a:cs typeface="Malgun Gothic" pitchFamily="34" charset="-120"/>
              </a:rPr>
              <a:t>사진 찍기 </a:t>
            </a:r>
            <a:r>
              <a:rPr lang="en-US" sz="1800" dirty="0">
                <a:solidFill>
                  <a:srgbClr val="14142B"/>
                </a:solidFill>
              </a:rPr>
              <a:t>(sacar fotos)</a:t>
            </a:r>
            <a:endParaRPr lang="en-US" sz="1800" dirty="0"/>
          </a:p>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Con verbo: 드라마를 봐요 </a:t>
            </a:r>
            <a:r>
              <a:rPr lang="en-US" sz="1800" dirty="0">
                <a:solidFill>
                  <a:srgbClr val="14142B"/>
                </a:solidFill>
              </a:rPr>
              <a:t>· </a:t>
            </a:r>
            <a:r>
              <a:rPr lang="ko-KR" altLang="en-US" sz="1800" dirty="0">
                <a:solidFill>
                  <a:srgbClr val="14142B"/>
                </a:solidFill>
                <a:latin typeface="Malgun Gothic" pitchFamily="34" charset="0"/>
                <a:ea typeface="Malgun Gothic" pitchFamily="34" charset="-122"/>
                <a:cs typeface="Malgun Gothic" pitchFamily="34" charset="-120"/>
              </a:rPr>
              <a:t>케이팝을 좋아해요</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A pedido: ciudades</a:t>
            </a:r>
            <a:r>
              <a:rPr lang="en-US" sz="1500" b="1" i="1" dirty="0">
                <a:solidFill>
                  <a:srgbClr val="8A8DA0"/>
                </a:solidFill>
              </a:rPr>
              <a:t>   On request: cities</a:t>
            </a:r>
            <a:endParaRPr lang="en-US" sz="3000" dirty="0"/>
          </a:p>
        </p:txBody>
      </p:sp>
      <p:sp>
        <p:nvSpPr>
          <p:cNvPr id="3" name="Text 1"/>
          <p:cNvSpPr txBox="1"/>
          <p:nvPr/>
        </p:nvSpPr>
        <p:spPr>
          <a:xfrm>
            <a:off x="548640" y="1325880"/>
            <a:ext cx="6949440" cy="548640"/>
          </a:xfrm>
          <a:prstGeom prst="rect">
            <a:avLst/>
          </a:prstGeom>
          <a:noFill/>
          <a:ln/>
        </p:spPr>
        <p:txBody>
          <a:bodyPr wrap="square" lIns="0" tIns="0" rIns="0" bIns="0" rtlCol="0" anchor="t">
            <a:normAutofit/>
          </a:bodyPr>
          <a:lstStyle/>
          <a:p>
            <a:pPr marL="0" indent="0" eaLnBrk="1">
              <a:buNone/>
            </a:pPr>
            <a:r>
              <a:rPr lang="en-US" sz="1800" i="1" dirty="0">
                <a:solidFill>
                  <a:srgbClr val="4236F6"/>
                </a:solidFill>
              </a:rPr>
              <a:t>No se evalúan: úsalas si son tuyas</a:t>
            </a:r>
            <a:endParaRPr lang="en-US" sz="1800" dirty="0"/>
          </a:p>
        </p:txBody>
      </p:sp>
      <p:sp>
        <p:nvSpPr>
          <p:cNvPr id="4" name="lista"/>
          <p:cNvSpPr txBox="1"/>
          <p:nvPr/>
        </p:nvSpPr>
        <p:spPr>
          <a:xfrm>
            <a:off x="548640" y="1965960"/>
            <a:ext cx="6949440" cy="42062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Chile: 산티아고 </a:t>
            </a:r>
            <a:r>
              <a:rPr lang="en-US" sz="2400" dirty="0">
                <a:solidFill>
                  <a:srgbClr val="14142B"/>
                </a:solidFill>
              </a:rPr>
              <a:t>· </a:t>
            </a:r>
            <a:r>
              <a:rPr lang="ko-KR" altLang="en-US" sz="2400" dirty="0">
                <a:solidFill>
                  <a:srgbClr val="14142B"/>
                </a:solidFill>
                <a:latin typeface="Malgun Gothic" pitchFamily="34" charset="0"/>
                <a:ea typeface="Malgun Gothic" pitchFamily="34" charset="-122"/>
                <a:cs typeface="Malgun Gothic" pitchFamily="34" charset="-120"/>
              </a:rPr>
              <a:t>발파라이소 </a:t>
            </a:r>
            <a:r>
              <a:rPr lang="en-US" sz="2400" dirty="0">
                <a:solidFill>
                  <a:srgbClr val="14142B"/>
                </a:solidFill>
              </a:rPr>
              <a:t>· </a:t>
            </a:r>
            <a:r>
              <a:rPr lang="ko-KR" altLang="en-US" sz="2400" dirty="0">
                <a:solidFill>
                  <a:srgbClr val="14142B"/>
                </a:solidFill>
                <a:latin typeface="Malgun Gothic" pitchFamily="34" charset="0"/>
                <a:ea typeface="Malgun Gothic" pitchFamily="34" charset="-122"/>
                <a:cs typeface="Malgun Gothic" pitchFamily="34" charset="-120"/>
              </a:rPr>
              <a:t>콘셉시온</a:t>
            </a:r>
            <a:endParaRPr lang="en-US" sz="2400" dirty="0"/>
          </a:p>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México: 멕시코시티 </a:t>
            </a:r>
            <a:r>
              <a:rPr lang="en-US" sz="2400" dirty="0">
                <a:solidFill>
                  <a:srgbClr val="14142B"/>
                </a:solidFill>
              </a:rPr>
              <a:t>· </a:t>
            </a:r>
            <a:r>
              <a:rPr lang="ko-KR" altLang="en-US" sz="2400" dirty="0">
                <a:solidFill>
                  <a:srgbClr val="14142B"/>
                </a:solidFill>
                <a:latin typeface="Malgun Gothic" pitchFamily="34" charset="0"/>
                <a:ea typeface="Malgun Gothic" pitchFamily="34" charset="-122"/>
                <a:cs typeface="Malgun Gothic" pitchFamily="34" charset="-120"/>
              </a:rPr>
              <a:t>과달라하라 </a:t>
            </a:r>
            <a:r>
              <a:rPr lang="en-US" sz="2400" dirty="0">
                <a:solidFill>
                  <a:srgbClr val="14142B"/>
                </a:solidFill>
              </a:rPr>
              <a:t>· </a:t>
            </a:r>
            <a:r>
              <a:rPr lang="ko-KR" altLang="en-US" sz="2400" dirty="0">
                <a:solidFill>
                  <a:srgbClr val="14142B"/>
                </a:solidFill>
                <a:latin typeface="Malgun Gothic" pitchFamily="34" charset="0"/>
                <a:ea typeface="Malgun Gothic" pitchFamily="34" charset="-122"/>
                <a:cs typeface="Malgun Gothic" pitchFamily="34" charset="-120"/>
              </a:rPr>
              <a:t>몬테레이</a:t>
            </a:r>
            <a:endParaRPr lang="en-US" sz="2400" dirty="0"/>
          </a:p>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Colombia: 보고타 </a:t>
            </a:r>
            <a:r>
              <a:rPr lang="en-US" sz="2400" dirty="0">
                <a:solidFill>
                  <a:srgbClr val="14142B"/>
                </a:solidFill>
              </a:rPr>
              <a:t>· </a:t>
            </a:r>
            <a:r>
              <a:rPr lang="ko-KR" altLang="en-US" sz="2400" dirty="0">
                <a:solidFill>
                  <a:srgbClr val="14142B"/>
                </a:solidFill>
                <a:latin typeface="Malgun Gothic" pitchFamily="34" charset="0"/>
                <a:ea typeface="Malgun Gothic" pitchFamily="34" charset="-122"/>
                <a:cs typeface="Malgun Gothic" pitchFamily="34" charset="-120"/>
              </a:rPr>
              <a:t>메데인</a:t>
            </a:r>
            <a:endParaRPr lang="en-US" sz="2400" dirty="0"/>
          </a:p>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Perú: 리마 </a:t>
            </a:r>
            <a:r>
              <a:rPr lang="en-US" sz="2400" dirty="0">
                <a:solidFill>
                  <a:srgbClr val="14142B"/>
                </a:solidFill>
              </a:rPr>
              <a:t>· Argentina: </a:t>
            </a:r>
            <a:r>
              <a:rPr lang="ko-KR" altLang="en-US" sz="2400" dirty="0">
                <a:solidFill>
                  <a:srgbClr val="14142B"/>
                </a:solidFill>
                <a:latin typeface="Malgun Gothic" pitchFamily="34" charset="0"/>
                <a:ea typeface="Malgun Gothic" pitchFamily="34" charset="-122"/>
                <a:cs typeface="Malgun Gothic" pitchFamily="34" charset="-120"/>
              </a:rPr>
              <a:t>부에노스아이레스</a:t>
            </a:r>
            <a:endParaRPr lang="en-US" sz="2400" dirty="0"/>
          </a:p>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España: 마드리드</a:t>
            </a:r>
            <a:endParaRPr lang="en-US" sz="2400" dirty="0"/>
          </a:p>
          <a:p>
            <a:pPr marL="228600" indent="-228600" eaLnBrk="1">
              <a:spcAft>
                <a:spcPts val="800"/>
              </a:spcAft>
              <a:buSzPct val="100000"/>
              <a:buChar char="•"/>
            </a:pPr>
            <a:r>
              <a:rPr lang="en-US" sz="2400" dirty="0">
                <a:solidFill>
                  <a:srgbClr val="14142B"/>
                </a:solidFill>
              </a:rPr>
              <a:t>¿La tuya no está? Pídela en el chat</a:t>
            </a:r>
            <a:endParaRPr lang="en-US" sz="2400" dirty="0"/>
          </a:p>
        </p:txBody>
      </p:sp>
      <p:sp>
        <p:nvSpPr>
          <p:cNvPr id="5" name="panel"/>
          <p:cNvSpPr/>
          <p:nvPr/>
        </p:nvSpPr>
        <p:spPr>
          <a:xfrm>
            <a:off x="8001000" y="1417320"/>
            <a:ext cx="3611880" cy="4480560"/>
          </a:xfrm>
          <a:prstGeom prst="roundRect">
            <a:avLst>
              <a:gd name="adj" fmla="val 6329"/>
            </a:avLst>
          </a:prstGeom>
          <a:solidFill>
            <a:srgbClr val="F1F0FE"/>
          </a:solidFill>
          <a:ln w="12700">
            <a:solidFill>
              <a:srgbClr val="F1F0FE"/>
            </a:solidFill>
            <a:prstDash val="solid"/>
          </a:ln>
        </p:spPr>
      </p:sp>
      <p:pic>
        <p:nvPicPr>
          <p:cNvPr id="6" name="sello" descr="C:/Users/Chingu/Desktop/ACADEMIASEULWEB/public/email/sello-azul.png"/>
          <p:cNvPicPr>
            <a:picLocks noChangeAspect="1"/>
          </p:cNvPicPr>
          <p:nvPr/>
        </p:nvPicPr>
        <p:blipFill>
          <a:blip r:embed="rId3"/>
          <a:stretch>
            <a:fillRect/>
          </a:stretch>
        </p:blipFill>
        <p:spPr>
          <a:xfrm>
            <a:off x="9052560" y="2926080"/>
            <a:ext cx="1508760" cy="1508760"/>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27</a:t>
            </a:fld>
            <a:endParaRPr lang="en-US"/>
          </a:p>
        </p:txBody>
      </p:sp>
    </p:spTree>
  </p:cSld>
  <p:clrMapOvr>
    <a:masterClrMapping/>
  </p:clrMapOvr>
</p:sld>
</file>

<file path=ppt/theme/theme1.xml><?xml version="1.0" encoding="utf-8"?>
<a:theme xmlns:a="http://schemas.openxmlformats.org/drawingml/2006/main" name="Academia Seul">
  <a:themeElements>
    <a:clrScheme name="Academia Seul">
      <a:dk1>
        <a:srgbClr val="14142B"/>
      </a:dk1>
      <a:lt1>
        <a:srgbClr val="FFFFFF"/>
      </a:lt1>
      <a:dk2>
        <a:srgbClr val="003478"/>
      </a:dk2>
      <a:lt2>
        <a:srgbClr val="F1F0FE"/>
      </a:lt2>
      <a:accent1>
        <a:srgbClr val="4236F6"/>
      </a:accent1>
      <a:accent2>
        <a:srgbClr val="E8B84B"/>
      </a:accent2>
      <a:accent3>
        <a:srgbClr val="003478"/>
      </a:accent3>
      <a:accent4>
        <a:srgbClr val="8A83FF"/>
      </a:accent4>
      <a:accent5>
        <a:srgbClr val="5C5F6B"/>
      </a:accent5>
      <a:accent6>
        <a:srgbClr val="B8962E"/>
      </a:accent6>
      <a:hlink>
        <a:srgbClr val="4236F6"/>
      </a:hlink>
      <a:folHlink>
        <a:srgbClr val="003478"/>
      </a:folHlink>
    </a:clrScheme>
    <a:fontScheme name="Academia Seu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5752</Words>
  <Application>Microsoft Office PowerPoint</Application>
  <PresentationFormat>Widescreen</PresentationFormat>
  <Paragraphs>428</Paragraphs>
  <Slides>27</Slides>
  <Notes>27</Notes>
  <HiddenSlides>0</HiddenSlides>
  <MMClips>1</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Malgun Gothic</vt:lpstr>
      <vt:lpstr>Arial</vt:lpstr>
      <vt:lpstr>Academia Seul</vt:lpstr>
      <vt:lpstr>안녕하세요!  Mientras llegan   While everyone joins</vt:lpstr>
      <vt:lpstr>Básico 2 · Semana 1</vt:lpstr>
      <vt:lpstr>Así es Básico 2   This is Basic 2</vt:lpstr>
      <vt:lpstr>Adiós, romanización   Goodbye, romanization</vt:lpstr>
      <vt:lpstr>Así me presento   This is me</vt:lpstr>
      <vt:lpstr>¿Entendiste?   Did you get it?</vt:lpstr>
      <vt:lpstr>이에요 · 예요 · 아니에요  Ser: 이에요/예요 · no ser: 이/가 아니에요</vt:lpstr>
      <vt:lpstr>¿Ser o estar?   Be or be located?</vt:lpstr>
      <vt:lpstr>은/는 · 이/가: la duda eterna   은/는 vs 이/가: the eternal question</vt:lpstr>
      <vt:lpstr>La entrevista   The interview</vt:lpstr>
      <vt:lpstr>¿이 o 은?   이 or 은?</vt:lpstr>
      <vt:lpstr>있어요 · 없어요 · 누가  'Tener' = 'hay' · 누가   'To have' = 'there is' · who</vt:lpstr>
      <vt:lpstr>-아요 / -어요  La máquina de conjugar   The conjugation machine</vt:lpstr>
      <vt:lpstr>연음  La consonante se muda   The consonant moves over</vt:lpstr>
      <vt:lpstr>인사 · 반갑습니다  La inclinación al conocerse   The small bow</vt:lpstr>
      <vt:lpstr>씨 · 선생님  씨 y 선생님   씨 and 선생님 (how to address people)</vt:lpstr>
      <vt:lpstr>Salas de 3 · 28 minutos   Breakout rooms of 3 · 28 minutes</vt:lpstr>
      <vt:lpstr>El diagnóstico: ir y volver   The diagnostic: go and come back</vt:lpstr>
      <vt:lpstr>읽으세요  Lean en voz alta   Read aloud</vt:lpstr>
      <vt:lpstr>Mi escritorio   My desk</vt:lpstr>
      <vt:lpstr>Lo que oí hoy   What I heard today</vt:lpstr>
      <vt:lpstr>Las 3 frases de hoy   Today's 3 key phrases</vt:lpstr>
      <vt:lpstr>숙제  Tarea (≈ 30 min)   Homework (about 30 min)</vt:lpstr>
      <vt:lpstr>감사합니다! 화이팅!  ¡Gracias! ¡Ánimo!</vt:lpstr>
      <vt:lpstr>이 사람은 누구예요?  ¿Quién es?   Who is it?</vt:lpstr>
      <vt:lpstr>직업 · 취미  A pedido: profesiones y pasatiempos</vt:lpstr>
      <vt:lpstr>A pedido: ciudades   On request: cities</vt:lpstr>
    </vt:vector>
  </TitlesOfParts>
  <Company>Academia Seúl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Básico 2 (A1.2) · Semana 1 · Re-presentación + diagnóstico · 다시, 반갑습니다!</dc:title>
  <dc:subject>PptxGenJS Presentation</dc:subject>
  <dc:creator>Academia Seúl</dc:creator>
  <cp:lastModifiedBy>Jae Hee Kim</cp:lastModifiedBy>
  <cp:revision>2</cp:revision>
  <dcterms:created xsi:type="dcterms:W3CDTF">2026-10-16T10:02:32Z</dcterms:created>
  <dcterms:modified xsi:type="dcterms:W3CDTF">2026-10-16T10:03:43Z</dcterms:modified>
</cp:coreProperties>
</file>