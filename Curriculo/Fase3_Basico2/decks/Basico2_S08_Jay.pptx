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8" id="{E200CE18-EF83-0D9D-9D50-7B936E57C16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23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Portada: se proyecta mientras entran (desde las 20:58). A las 21:00 pasa a la lámina 1.
Fuente: Portada agregada (no está en C.17)
Lámina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20:45–21:00. Zoom con clave de anfitrión, formulario del examen abierto sin aceptar respuestas, link copiado, PDF del plan B, planilla de rúbrica y lista de la cadena a mano. Inicia la grabación en la nube a las 21:00 (Basico2_S08_2026-12-09). La línea del celular va solo si en la S7 se acordó grabar la conversación (DECISIÓN DE JAY 4).
Fuente: Nueva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21:00–21:01. En coreano: 여러분, 안녕하세요! 마지막 수업이에요. Agenda en 20 s: «diez minutos para ponerle nombre a algo que ya dicen, treinta de examen escrito y veinte de conversación con su pareja». Chequeo: 가 en el chat, audífonos y celular; si a alguien no le sale el teclado, que lo diga ahora (plan B: escribe a mano en 한글 y manda la foto a las 21:40).
Fuente: Nueva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21:01–21:02 (40 s). «Miren estas cuatro frases: todas salieron de ustedes este curso. ¿Qué dos piezas se repiten? Al chat.» → 고 · 지만 (con el clic se resaltan en azul). «Exacto. Hasta hoy eran fórmulas. Hoy les pongo la regla, y es corta.» Ideal: reemplazarlas por frases reales de sus audios o mini-diarios, con el nombre de quien la dijo y su permiso.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21:02–21:03 (1 min, español). «-고 es “y” entre dos acciones o dos características. Se pega a la raíz, sin mirar la vocal. Uno: el tiempo va solo en el último verbo, como un tren en que el último vagón lleva el cartel del tiempo. Dos: los irregulares no cambian, porque -고 empieza con consonante: 듣고, no 들고.» Coro: 따라 하세요: 먹고… 씻고… 듣고 (modela [먹꼬], [씯꼬], [듣꼬]).
Imagen: incluida (dibujo de la casa).
Fuente: Adaptada de Sesion_07_Rutina_Diaria_v2.pptx lám. 13 y Sesion_09_Pasado.pptx lám. 6 (ejemplos nuevos)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21:03–21:04 (1 min, español). «-지만 es “pero” dentro de la misma frase: raíz + 지만. La diferencia con -고: -지만 sí lleva su propio pasado, porque son dos ideas que chocan. Y si quieres el “pero” entre dos frases, 그렇지만.» Coro: 따라 하세요: 어렵지만… 그렇지만… 어려웠지만 재미있었어요 ([어렵찌만] · [그러치만] · [어려웓찌만 재미이써써요]). 어려워지만, en gris con una línea.
Imagen: incluida (dibujo de la casa).
Fuente: Adaptada de Sesion_10_Futuro_Vacaciones.pptx lám. 5 (ejemplos nuevos)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21:04 (30 s, español). «En español “y” es una palabra; en coreano, tres: 하고 entre cosas o personas, -고 entre verbos y 그리고 entre dos frases. Para “con mi amigo”, 친구고 no sirve: 친구하고.» La forma incorrecta 친구고, en gris. Si vas atrasado, esta lámina se salta (queda en el material, 3.6).
Fuente: Nueva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21:04–21:06 (2 min). Llama por nombre y número (일 번… 팔 번), en el orden de tu lista. Alumnos 1–8 unen el par tal cual: 1 씻고 아침을 먹어요 · 2 아침을 먹고 출근해요 · 3 일하고 운동해요 · 4 음악을 듣고 공부해요 · 5 밥을 먹고 커피를 마셨어요 · 6 친구를 만나고 영화를 봤어요 · 7 바다를 보고 사진을 찍을 거예요 · 8 저는 커피를 마시고 친구는 차를 마셔요. Alumnos 9–15, con giro: solo cambia el último verbo («Diego, 일 번, 어제!»). 9 일 번 + 어제 → 어제 씻고 아침을 먹었어요 · 10 이 번 + 어제 → 어제 아침을 먹고 출근했어요 · 11 삼 번 + 어제 → 어제 일하고 운동했어요 · 12 사 번 + 어제 → 어제 음악을 듣고 공부했어요 · 13 오 번 + 내일 → 내일 밥을 먹고 커피를 마실 거예요 · 14 육 번 + 내일 → 내일 친구를 만나고 영화를 볼 거예요 · 15 팔 번 + 어제 → 어제 저는 커피를 마시고 친구는 차를 마셨어요. A los perfiles C dales siempre un giro con 어제. Si ponen el pasado en el primer verbo, señala el último vagón de L4 y di 다시 한번.
Fuente: Nueva (clave en C.16)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21:06–21:08 (2 min). Al revés de la ronda 1: el alumno 15 hace el par 7, el 14 el 6… y el 9 el par 1; los alumnos 1–8 dicen una frase sobre sí mismos con el molde. Clave: 한국어는 어렵지만 재미있어요 · 운전은 할 수 있지만 수영은 못 해요 · 이 카페는 비싸지만 커피가 맛있어요 · 요즘 바쁘지만 매일 운동해요 · 시험은 어려웠지만 재미있었어요 · 저는 매운 음식을 좋아하지만 동생은 안 좋아해요 · 오늘은 덥지만 내일은 추울 거예요. Si conjugan antes de -지만 (어려워지만), mano en tijera: «raíz: 어렵… 지만» y 다시 한번.
Fuente: Nueva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21:08–21:09 (1 min). «Para ordenar un relato: 먼저, 그다음에, 마지막으로. Justo lo que van a hacer en 2 minutos:» 먼저 문제를 읽어요. 그다음에 대답해요. 마지막으로 다시 한번 읽어요. 따라 하세요! (coro, una vez). «Y 그래서, “por eso”: la segunda frase es la consecuencia.» 어제 늦게 잤어요. 그래서 조금 피곤해요. → coro.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21:09–21:10 (40 s). Explica las reglas en español y cierra en coreano: 먼저 문제를 읽어요. 그다음에 대답해요. 화이팅! «Si terminas antes, aprieta Enviar y abre la tarjeta de la conversación, sección 7 de tu material, en silencio.» A las 21:09:45 activa «aceptar respuestas» y pega el link en el chat; si el formulario falla, pasa a R1.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21:10–21:40. Di «시작!» y deja esta lámina toda la media hora. Entre 21:12 y 21:20 crea las salas y asígnalas a mano con las parejas de la S7 (sin abrirlas; cierre automático a los 15 min, cuenta regresiva de 60 s). Solo dudas técnicas por chat privado; a las de contenido: «Responde lo que entiendas». Avisa en voz y en el chat a las 21:25 y 21:35; a las 21:40, «끝!», y a las 21:41 deja de aceptar respuestas.
Imagen: incluida (dibujo de la casa).
Fuente: Nueva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21:40 (parte de los 45 s de consigna). «Ahora, lo mejor: conversan con su pareja de la semana pasada, con la tarjeta de 6 temas.» Es la misma tarjeta de la sección 7 del material, publicada en la S7. Si una pareja termina antes, tiene el tema 7 sorpresa del material: 이 수업에서 뭐 했어요? · 내년에 뭐 할 거예요?
Fuente: Nueva (texto del diseño F.1)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21:40–21:41 (45 s). «Ronda 1: abre la primera persona del nombre de su sala, temas 1 a 3; a las 21:46, ronda 2, abre la otra, temas 4 a 6; a las 21:51, ronda 3, libre. Yo entro a escuchar con la cámara apagada: sigan como si no estuviera.» Haz que el grupo repita 수고했어요! y abre todas las salas. La línea de grabar con el celular va solo si el grupo aceptó (DECISIÓN DE JAY 4). Mensajes a las salas a las 21:46, 21:51 y 21:54; no corrijas en vivo: todo va a la planilla.
Fuente: Nueva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 (20 s + 20 s). Con leve inclinación: 여러분, 정말 수고했어요! y espera el 감사합니다! «¿Ven? Yo les digo 수고했어요; ustedes a mí, 감사합니다. Entre compañeros, 수고했어요 está perfecto.» Luego ofrece una hoja a la cámara con las dos manos: «Su certificado es digital, pero en Corea un diploma se entrega y se recibe así: 두 손으로.» Ellos estiran las dos manos y dicen 감사합니다! ([validar] D-2).
Imagen: incluida (dibujo de la casa).
Fuente: Nueva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21:58 (40 s). «Primero yo, despacio; después ustedes.» Tú solo, lento, con 2 s de pausa entre frases, y después el grupo en coro. De aquí se recorta el clip B2_S08_frases_clave.mp3: tu versión va sola, lenta y limpia.
Fuente: B.12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21:58–21:59 (30 s de chat + 40 s de tarea). Pide al chat una frase con -지만 sobre el curso y lee 2 o 3 en voz alta (si no hay tiempo, van en el mensaje de la noche). La captura de Progreso es recomendada, no obligatoria; el Contrarreloj trae opciones con letras latinas: que digan la palabra en voz alta antes de mirarlas. El plazo del audio final lo confirmas en el grupo (propuesta: dom 13 dic).
Fuente: Nueva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 (parte de los 40 s). «El viernes les llega el examen corregido; el certificado, la semana del 14 de diciembre.» Las fechas dependen de las DECISIONES DE JAY 3, 6 y 11: no prometas en vivo nada sobre el pase a Conversacional 1 (si preguntan: «El viernes les escribo a cada uno»).
Fuente: Diseño de Sesion_11_Cierre_A1.pptx lám. 9, con contenido nuevo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22:00. En coreano: 축하해요! 화이팅! A las 22:00 en punto, «Finalizar reunión para todos». Si el cierre se alarga un par de minutos, que sea solo para el coro, avisando.
Fuente: Portada de la plantilla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si el formulario no abre o se cae (C.13). Pega en el chat el link del PDF del plan B (carpeta del curso, sin publicar antes); la clave es la misma de C.16. Si se te corta a ti, el examen sigue: el formulario no depende de Zoom.
Fuente: Nueva
Lámina R1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reasignar en vivo. Rellénala con la lista publicada en la clase 7 (A + B o B + B; los C en trío con un A y un B, nunca A + A + A). Si falta alguien, su pareja pasa a un trío con la pareja más cercana en perfil.
Fuente: Nueva
Lámina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Emergencia (C.11), si sobra tiempo en la sala principal (2–4 min). Cada uno completa el molde en voz alta. Es -지만 con pasado + presente, exactamente la regla del día.
Fuente: Nueva
Lámina R3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Emergencia (C.11): «읽으세요», una frase por alumno. Después tus preguntas en coreano: 호세는 어디에 살아요? (칠레에 살아요.) · 호세는 몇 시부터 몇 시까지 일해요? (아홉 시부터 여섯 시까지 일해요.) · 호세는 누구하고 바다에 갔어요? (가족하고 갔어요.)
Fuente: Nueva
Lámina R4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8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8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8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한국어 </a:t>
            </a:r>
            <a:r>
              <a:rPr lang="en-US" sz="6600" b="1" dirty="0">
                <a:solidFill>
                  <a:srgbClr val="E8B84B"/>
                </a:solidFill>
              </a:rPr>
              <a:t>2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2900" b="1" dirty="0">
                <a:solidFill>
                  <a:srgbClr val="FFFFFF"/>
                </a:solidFill>
              </a:rPr>
              <a:t>Semana 8 · Conectores, examen final y conversación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Básico 2 (A1.2) · La última clase</a:t>
            </a:r>
            <a:endParaRPr lang="en-US" sz="2200" dirty="0"/>
          </a:p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Miércoles 9 de diciembre de 2026 · 21:00 (hora de Chile)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Kim · 김재희 선생님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Mientras llegan</a:t>
            </a:r>
            <a:r>
              <a:rPr lang="en-US" sz="1500" b="1" i="1" dirty="0">
                <a:solidFill>
                  <a:srgbClr val="8A8DA0"/>
                </a:solidFill>
              </a:rPr>
              <a:t>   While you join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Clase 8 · la última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Escribe 가 </a:t>
            </a:r>
            <a:r>
              <a:rPr lang="en-US" sz="2800" dirty="0">
                <a:solidFill>
                  <a:srgbClr val="14142B"/>
                </a:solidFill>
              </a:rPr>
              <a:t>en el chat con tu teclado coreano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Audífonos puestos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Celular cargado, al lado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Tarjeta de la conversación a mano (sección 7 de tu material)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4100" b="1" dirty="0">
                <a:solidFill>
                  <a:srgbClr val="4236F6"/>
                </a:solidFill>
              </a:rPr>
              <a:t>!</a:t>
            </a:r>
            <a:endParaRPr lang="en-US" sz="41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 </a:t>
            </a:r>
            <a:r>
              <a:rPr lang="en-US" sz="3000" b="1" dirty="0">
                <a:solidFill>
                  <a:srgbClr val="003478"/>
                </a:solidFill>
              </a:rPr>
              <a:t>Hoy</a:t>
            </a:r>
            <a:r>
              <a:rPr lang="en-US" sz="1500" b="1" i="1" dirty="0">
                <a:solidFill>
                  <a:srgbClr val="8A8DA0"/>
                </a:solidFill>
              </a:rPr>
              <a:t>   Today</a:t>
            </a:r>
            <a:endParaRPr lang="en-US" sz="3000" dirty="0"/>
          </a:p>
        </p:txBody>
      </p:sp>
      <p:graphicFrame>
        <p:nvGraphicFramePr>
          <p:cNvPr id="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10736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Hora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Qué hacemos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21:00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Conectores: -고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-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21:10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Examen final escrito (30 min)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21:40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Conversación con tu pareja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21:57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Cierre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Ya lo dices</a:t>
            </a:r>
            <a:r>
              <a:rPr lang="en-US" sz="1500" b="1" i="1" dirty="0">
                <a:solidFill>
                  <a:srgbClr val="8A8DA0"/>
                </a:solidFill>
              </a:rPr>
              <a:t>   You already say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¿Qué se repite? · Cuatro frases del curso. ¿Qué dos piezas se repiten? Respóndelo en el chat.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씻고 아침을 먹어요</a:t>
            </a:r>
            <a:r>
              <a:rPr lang="en-US" sz="2400" dirty="0">
                <a:solidFill>
                  <a:srgbClr val="14142B"/>
                </a:solidFill>
              </a:rPr>
              <a:t>. (S3)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7498080" y="200253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7589520" y="200253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밥을 먹고 커피를 마셨어요</a:t>
            </a:r>
            <a:r>
              <a:rPr lang="en-US" sz="2400" dirty="0">
                <a:solidFill>
                  <a:srgbClr val="14142B"/>
                </a:solidFill>
              </a:rPr>
              <a:t>. (S4)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7498080" y="299923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7589520" y="299923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운전은 할 수 있지만 수영은 못 해요</a:t>
            </a:r>
            <a:r>
              <a:rPr lang="en-US" sz="2400" dirty="0">
                <a:solidFill>
                  <a:srgbClr val="14142B"/>
                </a:solidFill>
              </a:rPr>
              <a:t>. (S6)</a:t>
            </a:r>
            <a:endParaRPr lang="en-US" sz="2400" dirty="0"/>
          </a:p>
        </p:txBody>
      </p:sp>
      <p:sp>
        <p:nvSpPr>
          <p:cNvPr id="17" name="rev_2_caja"/>
          <p:cNvSpPr/>
          <p:nvPr/>
        </p:nvSpPr>
        <p:spPr>
          <a:xfrm>
            <a:off x="7498080" y="399592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7589520" y="399592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-지만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한국어는 어렵지만 재미있어요</a:t>
            </a:r>
            <a:r>
              <a:rPr lang="en-US" sz="2400" dirty="0">
                <a:solidFill>
                  <a:srgbClr val="14142B"/>
                </a:solidFill>
              </a:rPr>
              <a:t>. (S7)</a:t>
            </a:r>
            <a:endParaRPr lang="en-US" sz="2400" dirty="0"/>
          </a:p>
        </p:txBody>
      </p:sp>
      <p:sp>
        <p:nvSpPr>
          <p:cNvPr id="22" name="rev_3_caja"/>
          <p:cNvSpPr/>
          <p:nvPr/>
        </p:nvSpPr>
        <p:spPr>
          <a:xfrm>
            <a:off x="7498080" y="4992624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7589520" y="4992624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-지만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 </a:t>
            </a:r>
            <a:r>
              <a:rPr lang="en-US" sz="3000" b="1" dirty="0">
                <a:solidFill>
                  <a:srgbClr val="003478"/>
                </a:solidFill>
              </a:rPr>
              <a:t>· «y»</a:t>
            </a:r>
            <a:r>
              <a:rPr lang="ko-KR" altLang="en-US" sz="1500" b="1" i="1" dirty="0">
                <a:solidFill>
                  <a:srgbClr val="8A8DA0"/>
                </a:solidFill>
              </a:rPr>
              <a:t>   -고 · 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Raíz + 고</a:t>
            </a:r>
            <a:r>
              <a:rPr lang="en-US" sz="1800" i="1" dirty="0">
                <a:solidFill>
                  <a:srgbClr val="4236F6"/>
                </a:solidFill>
              </a:rPr>
              <a:t>, sin mirar la vocal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가고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공부하고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듣다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último vagón lleva el tiempo: 밥을 먹고 커피를 마셨어요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Futuro: 바다를 보고 사진을 찍을 거예요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Dos personas: 저는 커피를 마시고 친구는 차를 마셔요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 irregulares no cambian: 듣고 </a:t>
            </a:r>
            <a:r>
              <a:rPr lang="en-US" sz="2200" dirty="0">
                <a:solidFill>
                  <a:srgbClr val="14142B"/>
                </a:solidFill>
              </a:rPr>
              <a:t>(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들고 </a:t>
            </a:r>
            <a:r>
              <a:rPr lang="en-US" sz="2200" dirty="0">
                <a:solidFill>
                  <a:srgbClr val="14142B"/>
                </a:solidFill>
              </a:rPr>
              <a:t>es «llevar en la mano»)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</a:t>
            </a:r>
            <a:r>
              <a:rPr lang="en-US" sz="2200" dirty="0">
                <a:solidFill>
                  <a:srgbClr val="14142B"/>
                </a:solidFill>
              </a:rPr>
              <a:t>[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먹꼬</a:t>
            </a:r>
            <a:r>
              <a:rPr lang="en-US" sz="2200" dirty="0">
                <a:solidFill>
                  <a:srgbClr val="14142B"/>
                </a:solidFill>
              </a:rPr>
              <a:t>]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 </a:t>
            </a:r>
            <a:r>
              <a:rPr lang="en-US" sz="2200" dirty="0">
                <a:solidFill>
                  <a:srgbClr val="14142B"/>
                </a:solidFill>
              </a:rPr>
              <a:t>[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듣꼬</a:t>
            </a:r>
            <a:r>
              <a:rPr lang="en-US" sz="2200" dirty="0">
                <a:solidFill>
                  <a:srgbClr val="14142B"/>
                </a:solidFill>
              </a:rPr>
              <a:t>]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aa6500c366bed3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384" y="1463040"/>
            <a:ext cx="3212063" cy="3703320"/>
          </a:xfrm>
          <a:prstGeom prst="rect">
            <a:avLst/>
          </a:prstGeom>
        </p:spPr>
      </p:pic>
      <p:sp>
        <p:nvSpPr>
          <p:cNvPr id="7" name="ko_grande"/>
          <p:cNvSpPr txBox="1"/>
          <p:nvPr/>
        </p:nvSpPr>
        <p:spPr>
          <a:xfrm>
            <a:off x="6583680" y="525780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-지만 </a:t>
            </a:r>
            <a:r>
              <a:rPr lang="en-US" sz="3000" b="1" dirty="0">
                <a:solidFill>
                  <a:srgbClr val="003478"/>
                </a:solidFill>
              </a:rPr>
              <a:t>· «pero»</a:t>
            </a:r>
            <a:r>
              <a:rPr lang="ko-KR" altLang="en-US" sz="1500" b="1" i="1" dirty="0">
                <a:solidFill>
                  <a:srgbClr val="8A8DA0"/>
                </a:solidFill>
              </a:rPr>
              <a:t>   -지만 · but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Raíz + 지만</a:t>
            </a:r>
            <a:r>
              <a:rPr lang="en-US" sz="1800" i="1" dirty="0">
                <a:solidFill>
                  <a:srgbClr val="4236F6"/>
                </a:solidFill>
              </a:rPr>
              <a:t>: la raíz no cambia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어렵지만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바쁘지만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있다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 있지만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pasado: 어려웠지만 재미있었어요</a:t>
            </a:r>
            <a:r>
              <a:rPr lang="en-US" sz="2400" dirty="0">
                <a:solidFill>
                  <a:srgbClr val="14142B"/>
                </a:solidFill>
              </a:rPr>
              <a:t>. (fue difícil, pero entretenido)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Entre frases: 어려워요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그렇지만 재미있어요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어렵지만 </a:t>
            </a:r>
            <a:r>
              <a:rPr lang="en-US" sz="2400" dirty="0">
                <a:solidFill>
                  <a:srgbClr val="14142B"/>
                </a:solidFill>
              </a:rPr>
              <a:t>[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어렵찌만</a:t>
            </a:r>
            <a:r>
              <a:rPr lang="en-US" sz="2400" dirty="0">
                <a:solidFill>
                  <a:srgbClr val="14142B"/>
                </a:solidFill>
              </a:rPr>
              <a:t>]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그렇지만 </a:t>
            </a:r>
            <a:r>
              <a:rPr lang="en-US" sz="2400" dirty="0">
                <a:solidFill>
                  <a:srgbClr val="14142B"/>
                </a:solidFill>
              </a:rPr>
              <a:t>[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그러치만</a:t>
            </a:r>
            <a:r>
              <a:rPr lang="en-US" sz="2400" dirty="0">
                <a:solidFill>
                  <a:srgbClr val="14142B"/>
                </a:solidFill>
              </a:rPr>
              <a:t>]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어려워지만 </a:t>
            </a:r>
            <a:r>
              <a:rPr lang="en-US" sz="2400" dirty="0">
                <a:solidFill>
                  <a:srgbClr val="14142B"/>
                </a:solidFill>
              </a:rPr>
              <a:t>no: la raíz, tal cual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어렵지만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d81cbc5e3d0d98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384" y="1463040"/>
            <a:ext cx="3212063" cy="3703320"/>
          </a:xfrm>
          <a:prstGeom prst="rect">
            <a:avLst/>
          </a:prstGeom>
        </p:spPr>
      </p:pic>
      <p:sp>
        <p:nvSpPr>
          <p:cNvPr id="7" name="ko_grande"/>
          <p:cNvSpPr txBox="1"/>
          <p:nvPr/>
        </p:nvSpPr>
        <p:spPr>
          <a:xfrm>
            <a:off x="6583680" y="525780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-지만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Tres «y»</a:t>
            </a:r>
            <a:r>
              <a:rPr lang="en-US" sz="1500" b="1" i="1" dirty="0">
                <a:solidFill>
                  <a:srgbClr val="8A8DA0"/>
                </a:solidFill>
              </a:rPr>
              <a:t>   Three ways to say «and»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친구고 </a:t>
            </a:r>
            <a:r>
              <a:rPr lang="en-US" sz="1800" i="1" dirty="0">
                <a:solidFill>
                  <a:srgbClr val="4236F6"/>
                </a:solidFill>
              </a:rPr>
              <a:t>no: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Cosas y personas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빵하고 커피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Verbos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마셔요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Frases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</a:t>
            </a:r>
            <a:endParaRPr lang="en-US" sz="54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…마셔요</a:t>
            </a:r>
            <a:r>
              <a:rPr lang="en-US" sz="1800" dirty="0">
                <a:solidFill>
                  <a:srgbClr val="14142B"/>
                </a:solidFill>
              </a:rPr>
              <a:t>.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r>
              <a:rPr lang="en-US" sz="1800" dirty="0">
                <a:solidFill>
                  <a:srgbClr val="14142B"/>
                </a:solidFill>
              </a:rPr>
              <a:t>…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Cadena 1 · -고</a:t>
            </a:r>
            <a:r>
              <a:rPr lang="ko-KR" altLang="en-US" sz="1500" b="1" i="1" dirty="0">
                <a:solidFill>
                  <a:srgbClr val="8A8DA0"/>
                </a:solidFill>
              </a:rPr>
              <a:t>   Chain 1 · -고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Une con -고 </a:t>
            </a:r>
            <a:r>
              <a:rPr lang="en-US" sz="1800" i="1" dirty="0">
                <a:solidFill>
                  <a:srgbClr val="4236F6"/>
                </a:solidFill>
              </a:rPr>
              <a:t>en 3 segundos · Giro: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</a:t>
            </a:r>
            <a:r>
              <a:rPr lang="en-US" sz="1800" i="1" dirty="0">
                <a:solidFill>
                  <a:srgbClr val="4236F6"/>
                </a:solidFill>
              </a:rPr>
              <a:t>!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r>
              <a:rPr lang="en-US" sz="1800" i="1" dirty="0">
                <a:solidFill>
                  <a:srgbClr val="4236F6"/>
                </a:solidFill>
              </a:rPr>
              <a:t>!</a:t>
            </a:r>
            <a:endParaRPr lang="en-US" sz="1800" dirty="0"/>
          </a:p>
        </p:txBody>
      </p:sp>
      <p:graphicFrame>
        <p:nvGraphicFramePr>
          <p:cNvPr id="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94269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씻어요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아침을 먹어요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아침을 먹어요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출근해요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음악을 들어요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공부해요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밥을 먹었어요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 마셨어요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친구를 만났어요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영화를 봤어요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바다를 볼 거예요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사진을 찍을 거예요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커피를 마셔요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친구는 차를 마셔요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Cadena 2 · -지만</a:t>
            </a:r>
            <a:r>
              <a:rPr lang="ko-KR" altLang="en-US" sz="1500" b="1" i="1" dirty="0">
                <a:solidFill>
                  <a:srgbClr val="8A8DA0"/>
                </a:solidFill>
              </a:rPr>
              <a:t>   Chain 2 · -지만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Ejemplo «sobre ti»: 저는 커피는 좋아하지만 차는 안 좋아해요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graphicFrame>
        <p:nvGraphicFramePr>
          <p:cNvPr id="10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74417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한국어는 어려워요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운전은 할 수 있어요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수영은 못 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카페는 비싸요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커피가 맛있어요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요즘 바빠요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운동해요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시험은 어려웠어요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재미있었어요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매운 음식을 좋아해요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동생은 안 좋아해요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오늘은 더워요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내일은 추울 거예요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Sobre ti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___은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지만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Para ordenar y unir</a:t>
            </a:r>
            <a:r>
              <a:rPr lang="en-US" sz="1500" b="1" i="1" dirty="0">
                <a:solidFill>
                  <a:srgbClr val="8A8DA0"/>
                </a:solidFill>
              </a:rPr>
              <a:t>   To order and connect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문제를 읽어요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그다음에 대답해요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다시 한번 읽어요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r>
              <a:rPr lang="en-US" sz="2400" dirty="0">
                <a:solidFill>
                  <a:srgbClr val="14142B"/>
                </a:solidFill>
              </a:rPr>
              <a:t>= primero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그다음에 </a:t>
            </a:r>
            <a:r>
              <a:rPr lang="en-US" sz="2400" dirty="0">
                <a:solidFill>
                  <a:srgbClr val="14142B"/>
                </a:solidFill>
              </a:rPr>
              <a:t>[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그다으메</a:t>
            </a:r>
            <a:r>
              <a:rPr lang="en-US" sz="2400" dirty="0">
                <a:solidFill>
                  <a:srgbClr val="14142B"/>
                </a:solidFill>
              </a:rPr>
              <a:t>] = después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</a:t>
            </a:r>
            <a:r>
              <a:rPr lang="en-US" sz="2400" dirty="0">
                <a:solidFill>
                  <a:srgbClr val="14142B"/>
                </a:solidFill>
              </a:rPr>
              <a:t>[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마지마그로</a:t>
            </a:r>
            <a:r>
              <a:rPr lang="en-US" sz="2400" dirty="0">
                <a:solidFill>
                  <a:srgbClr val="14142B"/>
                </a:solidFill>
              </a:rPr>
              <a:t>] = por último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r>
              <a:rPr lang="en-US" sz="2400" dirty="0">
                <a:solidFill>
                  <a:srgbClr val="14142B"/>
                </a:solidFill>
              </a:rPr>
              <a:t>= y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그렇지만 </a:t>
            </a:r>
            <a:r>
              <a:rPr lang="en-US" sz="2400" dirty="0">
                <a:solidFill>
                  <a:srgbClr val="14142B"/>
                </a:solidFill>
              </a:rPr>
              <a:t>= pero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r>
              <a:rPr lang="en-US" sz="2400" dirty="0">
                <a:solidFill>
                  <a:srgbClr val="14142B"/>
                </a:solidFill>
              </a:rPr>
              <a:t>= por eso (entre frases)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늦게 잤어요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조금 피곤해요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 </a:t>
            </a:r>
            <a:r>
              <a:rPr lang="en-US" sz="3000" b="1" dirty="0">
                <a:solidFill>
                  <a:srgbClr val="003478"/>
                </a:solidFill>
              </a:rPr>
              <a:t>El examen</a:t>
            </a:r>
            <a:r>
              <a:rPr lang="en-US" sz="1500" b="1" i="1" dirty="0">
                <a:solidFill>
                  <a:srgbClr val="8A8DA0"/>
                </a:solidFill>
              </a:rPr>
              <a:t>   The exam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30 minutos · 4 partes · 40 puntos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Vocabulario · partículas · tiempos y datos · traducción + 5 frases sobre ti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en 한글</a:t>
            </a:r>
            <a:r>
              <a:rPr lang="en-US" sz="2000" dirty="0">
                <a:solidFill>
                  <a:srgbClr val="14142B"/>
                </a:solidFill>
              </a:rPr>
              <a:t>, tipeado · cámara sí, micrófono no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Sin traductor, diccionario ni apuntes: honor chingu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Dudas técnicas: chat privado a Jay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La sección 4 vale 10 pts: guárdale 10 min · si terminas, repasa tu tarjeta en silencio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문제를 읽어요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그다음에 대답해요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</a:t>
            </a:r>
            <a:endParaRPr lang="en-US" sz="9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Temporizador</a:t>
            </a:r>
            <a:r>
              <a:rPr lang="en-US" sz="1500" b="1" i="1" dirty="0">
                <a:solidFill>
                  <a:srgbClr val="8A8DA0"/>
                </a:solidFill>
              </a:rPr>
              <a:t>   Timer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Cuenta regresiva de 30 minutos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21:10 · 시작</a:t>
            </a:r>
            <a:r>
              <a:rPr lang="en-US" sz="2800" dirty="0">
                <a:solidFill>
                  <a:srgbClr val="14142B"/>
                </a:solidFill>
              </a:rPr>
              <a:t>!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21:25 · 15분 남았어요 </a:t>
            </a:r>
            <a:r>
              <a:rPr lang="en-US" sz="2800" dirty="0">
                <a:solidFill>
                  <a:srgbClr val="14142B"/>
                </a:solidFill>
              </a:rPr>
              <a:t>(quedan 15 minutos)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21:35 · 5분 남았어요 </a:t>
            </a:r>
            <a:r>
              <a:rPr lang="en-US" sz="2800" dirty="0">
                <a:solidFill>
                  <a:srgbClr val="14142B"/>
                </a:solidFill>
              </a:rPr>
              <a:t>(quedan 5 minutos)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21:40 · 끝</a:t>
            </a:r>
            <a:r>
              <a:rPr lang="en-US" sz="2800" dirty="0">
                <a:solidFill>
                  <a:srgbClr val="14142B"/>
                </a:solidFill>
              </a:rPr>
              <a:t>!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2d75b390df6b84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대화  </a:t>
            </a:r>
            <a:r>
              <a:rPr lang="en-US" sz="3000" b="1" dirty="0">
                <a:solidFill>
                  <a:srgbClr val="003478"/>
                </a:solidFill>
              </a:rPr>
              <a:t>La conversación</a:t>
            </a:r>
            <a:r>
              <a:rPr lang="en-US" sz="1500" b="1" i="1" dirty="0">
                <a:solidFill>
                  <a:srgbClr val="8A8DA0"/>
                </a:solidFill>
              </a:rPr>
              <a:t>   The 5-minute conversation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Toquen al menos 4 temas y usen presente, pasado y futuro</a:t>
            </a:r>
            <a:endParaRPr lang="en-US" sz="1800" dirty="0"/>
          </a:p>
        </p:txBody>
      </p:sp>
      <p:graphicFrame>
        <p:nvGraphicFramePr>
          <p:cNvPr id="1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436837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Tema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Para empezar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1 · Tu día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몇 시에 일어나요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뭐 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2 · Tu último fin de semana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주말에 뭐 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누구하고 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3 · Tus vacaciones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휴가에 어디에 갈 거예요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뭐로 갈 거예요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4 · Lo que sabes hacer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뭐 할 수 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수영할 수 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5 · Tu familia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형제가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가족이 몇 명이에요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6 · Corea y tu país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___하고 한국은 뭐가 달라요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어디가 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___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En la sala</a:t>
            </a:r>
            <a:r>
              <a:rPr lang="en-US" sz="1500" b="1" i="1" dirty="0">
                <a:solidFill>
                  <a:srgbClr val="8A8DA0"/>
                </a:solidFill>
              </a:rPr>
              <a:t>   In the breakout room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Tarjeta sí, guion no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Ronda 1 (21:41): abre A · temas 1–3 · Ronda 2 (21:46): abre B · temas 4–6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Ronda 3 (21:51): libre · Tríos: 4 min cada uno, con cronómetro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Uno graba con el celular y le manda la nota de voz a Jay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¿No entiendes? 네</a:t>
            </a:r>
            <a:r>
              <a:rPr lang="en-US" sz="2200" dirty="0">
                <a:solidFill>
                  <a:srgbClr val="14142B"/>
                </a:solidFill>
              </a:rPr>
              <a:t>? · Reacciona: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저도요</a:t>
            </a:r>
            <a:r>
              <a:rPr lang="en-US" sz="2200" dirty="0">
                <a:solidFill>
                  <a:srgbClr val="14142B"/>
                </a:solidFill>
              </a:rPr>
              <a:t>!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맞아요</a:t>
            </a:r>
            <a:r>
              <a:rPr lang="en-US" sz="2200" dirty="0">
                <a:solidFill>
                  <a:srgbClr val="14142B"/>
                </a:solidFill>
              </a:rPr>
              <a:t>!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r>
              <a:rPr lang="en-US" sz="2200" dirty="0">
                <a:solidFill>
                  <a:srgbClr val="14142B"/>
                </a:solidFill>
              </a:rPr>
              <a:t>!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Hablar lento no baja la nota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 final: 수고했어요</a:t>
            </a:r>
            <a:r>
              <a:rPr lang="en-US" sz="2200" dirty="0">
                <a:solidFill>
                  <a:srgbClr val="14142B"/>
                </a:solidFill>
              </a:rPr>
              <a:t>!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수고했어요</a:t>
            </a:r>
            <a:r>
              <a:rPr lang="en-US" sz="2600" b="1" dirty="0">
                <a:solidFill>
                  <a:srgbClr val="4236F6"/>
                </a:solidFill>
              </a:rPr>
              <a:t>! —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2600" b="1" dirty="0">
                <a:solidFill>
                  <a:srgbClr val="4236F6"/>
                </a:solidFill>
              </a:rPr>
              <a:t>!  </a:t>
            </a:r>
            <a:r>
              <a:rPr lang="en-US" sz="2600" b="1" dirty="0">
                <a:solidFill>
                  <a:srgbClr val="003478"/>
                </a:solidFill>
              </a:rPr>
              <a:t>¡Buen trabajo! — ¡Gracias!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1470c82dfc8a06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167666"/>
            <a:ext cx="2743200" cy="31627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8074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손으로</a:t>
            </a:r>
            <a:r>
              <a:rPr lang="en-US" sz="1800" i="1" dirty="0">
                <a:solidFill>
                  <a:srgbClr val="4236F6"/>
                </a:solidFill>
              </a:rPr>
              <a:t>: un diploma se entrega y se recibe con las dos manos</a:t>
            </a:r>
            <a:endParaRPr lang="en-US" sz="1800" dirty="0"/>
          </a:p>
        </p:txBody>
      </p:sp>
      <p:sp>
        <p:nvSpPr>
          <p:cNvPr id="5" name="col_0"/>
          <p:cNvSpPr/>
          <p:nvPr/>
        </p:nvSpPr>
        <p:spPr>
          <a:xfrm>
            <a:off x="548640" y="1874520"/>
            <a:ext cx="2478024" cy="4297680"/>
          </a:xfrm>
          <a:prstGeom prst="roundRect">
            <a:avLst>
              <a:gd name="adj" fmla="val 5535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05740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Jay → grupo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5176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수고했어요</a:t>
            </a:r>
            <a:r>
              <a:rPr lang="en-US" sz="2500" b="1" dirty="0">
                <a:solidFill>
                  <a:srgbClr val="4236F6"/>
                </a:solidFill>
              </a:rPr>
              <a:t>!</a:t>
            </a:r>
            <a:endParaRPr lang="en-US" sz="25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3657600"/>
            <a:ext cx="211226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Reconoce el esfuerzo</a:t>
            </a:r>
            <a:endParaRPr lang="en-US" sz="1800" dirty="0"/>
          </a:p>
        </p:txBody>
      </p:sp>
      <p:sp>
        <p:nvSpPr>
          <p:cNvPr id="9" name="col_1"/>
          <p:cNvSpPr/>
          <p:nvPr/>
        </p:nvSpPr>
        <p:spPr>
          <a:xfrm>
            <a:off x="3346704" y="1874520"/>
            <a:ext cx="2478024" cy="429768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75304" y="205740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Grupo → Jay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575304" y="265176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2500" b="1" dirty="0">
                <a:solidFill>
                  <a:srgbClr val="4236F6"/>
                </a:solidFill>
              </a:rPr>
              <a:t>!</a:t>
            </a:r>
            <a:endParaRPr lang="en-US" sz="2500" dirty="0"/>
          </a:p>
        </p:txBody>
      </p:sp>
      <p:sp>
        <p:nvSpPr>
          <p:cNvPr id="12" name="lista"/>
          <p:cNvSpPr txBox="1"/>
          <p:nvPr/>
        </p:nvSpPr>
        <p:spPr>
          <a:xfrm>
            <a:off x="3529584" y="3657600"/>
            <a:ext cx="211226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Con una leve inclinación</a:t>
            </a:r>
            <a:endParaRPr lang="en-US" sz="1800" dirty="0"/>
          </a:p>
        </p:txBody>
      </p:sp>
      <p:sp>
        <p:nvSpPr>
          <p:cNvPr id="13" name="col_2"/>
          <p:cNvSpPr/>
          <p:nvPr/>
        </p:nvSpPr>
        <p:spPr>
          <a:xfrm>
            <a:off x="6144768" y="1874520"/>
            <a:ext cx="2478024" cy="4297680"/>
          </a:xfrm>
          <a:prstGeom prst="roundRect">
            <a:avLst>
              <a:gd name="adj" fmla="val 5535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3368" y="205740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Entre compañeros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73368" y="265176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수고했어요</a:t>
            </a:r>
            <a:r>
              <a:rPr lang="en-US" sz="2500" b="1" dirty="0">
                <a:solidFill>
                  <a:srgbClr val="4236F6"/>
                </a:solidFill>
              </a:rPr>
              <a:t>!</a:t>
            </a:r>
            <a:endParaRPr lang="en-US" sz="2500" dirty="0"/>
          </a:p>
        </p:txBody>
      </p:sp>
      <p:sp>
        <p:nvSpPr>
          <p:cNvPr id="16" name="lista"/>
          <p:cNvSpPr txBox="1"/>
          <p:nvPr/>
        </p:nvSpPr>
        <p:spPr>
          <a:xfrm>
            <a:off x="6327648" y="3657600"/>
            <a:ext cx="211226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Al terminar la conversación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문장  </a:t>
            </a:r>
            <a:r>
              <a:rPr lang="en-US" sz="3000" b="1" dirty="0">
                <a:solidFill>
                  <a:srgbClr val="003478"/>
                </a:solidFill>
              </a:rPr>
              <a:t>Las 3 frases clave</a:t>
            </a:r>
            <a:r>
              <a:rPr lang="en-US" sz="1500" b="1" i="1" dirty="0">
                <a:solidFill>
                  <a:srgbClr val="8A8DA0"/>
                </a:solidFill>
              </a:rPr>
              <a:t>   Today's 3 key phrases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Primero Jay, solo y lento; después, el grupo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밥을 먹고 커피를 마셨어요</a:t>
            </a:r>
            <a:r>
              <a:rPr lang="en-US" sz="2800" dirty="0">
                <a:solidFill>
                  <a:srgbClr val="14142B"/>
                </a:solidFill>
              </a:rPr>
              <a:t>. — Comí y tomé café.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한국어는 어렵지만 재미있어요</a:t>
            </a:r>
            <a:r>
              <a:rPr lang="en-US" sz="2800" dirty="0">
                <a:solidFill>
                  <a:srgbClr val="14142B"/>
                </a:solidFill>
              </a:rPr>
              <a:t>. — El coreano es difícil, pero entretenido.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수고했어요</a:t>
            </a:r>
            <a:r>
              <a:rPr lang="en-US" sz="2800" dirty="0">
                <a:solidFill>
                  <a:srgbClr val="14142B"/>
                </a:solidFill>
              </a:rPr>
              <a:t>! — ¡Buen trabajo!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</a:t>
            </a:r>
            <a:endParaRPr lang="en-US" sz="7700" dirty="0"/>
          </a:p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sz="7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Tu tarea final (≈ 15–20 min)</a:t>
            </a:r>
            <a:r>
              <a:rPr lang="en-US" sz="1500" b="1" i="1" dirty="0">
                <a:solidFill>
                  <a:srgbClr val="8A8DA0"/>
                </a:solidFill>
              </a:rPr>
              <a:t>   Your final homework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1) Audio de 1 min en tres tiempos: quién soy · qué hice en este curso · qué haré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2) Escúchalo al lado de tu audio del 21 de octubre: tu antes y después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3) Recomendado: Lector → Progreso, captura final (Contrarreloj, opcional)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¿No te escuché en la sala? Audio de 3 min hasta el vie 11 dic, 22:00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Ahora, en el chat: una frase con -지만 </a:t>
            </a:r>
            <a:r>
              <a:rPr lang="en-US" sz="2000" dirty="0">
                <a:solidFill>
                  <a:srgbClr val="14142B"/>
                </a:solidFill>
              </a:rPr>
              <a:t>sobre este curso</a:t>
            </a:r>
            <a:endParaRPr lang="en-US" sz="20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 que viene</a:t>
            </a:r>
            <a:r>
              <a:rPr lang="en-US" sz="1500" b="1" i="1" dirty="0">
                <a:solidFill>
                  <a:srgbClr val="8A8DA0"/>
                </a:solidFill>
              </a:rPr>
              <a:t>   What's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Vie 11 dic: examen corregido · semana del 14 dic: certificado · siguiente peldaño: Conversacional 1 (A2.1)</a:t>
            </a:r>
            <a:endParaRPr lang="en-US" sz="1800" dirty="0"/>
          </a:p>
        </p:txBody>
      </p:sp>
      <p:graphicFrame>
        <p:nvGraphicFramePr>
          <p:cNvPr id="1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549739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Semana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Re-presentación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Números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Presente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Pasado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Futuro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Negación y habilidad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Partículas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Conectores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Listo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수고했어요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</a:t>
            </a:r>
            <a:r>
              <a:rPr lang="en-US" sz="2200" b="1" dirty="0">
                <a:solidFill>
                  <a:srgbClr val="FFFFFF"/>
                </a:solidFill>
              </a:rPr>
              <a:t>!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축하해요</a:t>
            </a:r>
            <a:r>
              <a:rPr lang="en-US" sz="2200" b="1" dirty="0">
                <a:solidFill>
                  <a:srgbClr val="FFFFFF"/>
                </a:solidFill>
              </a:rPr>
              <a:t>!  ¡Buen trabajo, chingus! ¡Felicidades!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@academiaseul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Respaldo · Plan B del examen</a:t>
            </a:r>
            <a:r>
              <a:rPr lang="en-US" sz="1500" b="1" i="1" dirty="0">
                <a:solidFill>
                  <a:srgbClr val="8A8DA0"/>
                </a:solidFill>
              </a:rPr>
              <a:t>   Backup · Exam plan 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Solo si falla el formulario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Abre el PDF del examen: [link del plan B]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Responde numerado (1.1, 1.2…) por WhatsApp privado a Jay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Plazo: 21:40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¿Sin teclado coreano? Escribe a mano en 한글 </a:t>
            </a:r>
            <a:r>
              <a:rPr lang="en-US" sz="2400" dirty="0">
                <a:solidFill>
                  <a:srgbClr val="14142B"/>
                </a:solidFill>
              </a:rPr>
              <a:t>y manda la foto a las 21:40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Respaldo · Parejas</a:t>
            </a:r>
            <a:r>
              <a:rPr lang="en-US" sz="1500" b="1" i="1" dirty="0">
                <a:solidFill>
                  <a:srgbClr val="8A8DA0"/>
                </a:solidFill>
              </a:rPr>
              <a:t>   Backup · Pairs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Las parejas y tríos publicados en la clase 7</a:t>
            </a:r>
            <a:endParaRPr lang="en-US" sz="1800" dirty="0"/>
          </a:p>
        </p:txBody>
      </p:sp>
      <p:graphicFrame>
        <p:nvGraphicFramePr>
          <p:cNvPr id="22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275923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Sala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Pareja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[Nombre] + [Nombre]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[Nombre] + [Nombre]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[Nombre] + [Nombre]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[Nombre] + [Nombre]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[Nombre] + [Nombre]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[Nombre] + [Nombre]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[Nombre] + [Nombre] + [Nombre]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Respaldo · Antes y después</a:t>
            </a:r>
            <a:r>
              <a:rPr lang="en-US" sz="1500" b="1" i="1" dirty="0">
                <a:solidFill>
                  <a:srgbClr val="8A8DA0"/>
                </a:solidFill>
              </a:rPr>
              <a:t>   Backup · Before and after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시월에는 </a:t>
            </a:r>
            <a:r>
              <a:rPr lang="en-US" sz="5700" b="1" dirty="0">
                <a:solidFill>
                  <a:srgbClr val="4236F6"/>
                </a:solidFill>
              </a:rPr>
              <a:t>___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았</a:t>
            </a:r>
            <a:r>
              <a:rPr lang="en-US" sz="5700" b="1" dirty="0">
                <a:solidFill>
                  <a:srgbClr val="4236F6"/>
                </a:solidFill>
              </a:rPr>
              <a:t>/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었지만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</a:t>
            </a:r>
            <a:r>
              <a:rPr lang="en-US" sz="5700" b="1" dirty="0">
                <a:solidFill>
                  <a:srgbClr val="4236F6"/>
                </a:solidFill>
              </a:rPr>
              <a:t>___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r>
              <a:rPr lang="en-US" sz="5700" b="1" dirty="0">
                <a:solidFill>
                  <a:srgbClr val="4236F6"/>
                </a:solidFill>
              </a:rPr>
              <a:t>/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r>
              <a:rPr lang="en-US" sz="5700" b="1" dirty="0">
                <a:solidFill>
                  <a:srgbClr val="4236F6"/>
                </a:solidFill>
              </a:rPr>
              <a:t>.</a:t>
            </a:r>
            <a:endParaRPr lang="en-US" sz="57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En octubre ___, pero ahora ___.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Ejemplo: 시월에는 한국어가 조금 어려웠지만 지금은 정말 재미있어요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Respaldo · El mensaje de 호세</a:t>
            </a:r>
            <a:r>
              <a:rPr lang="en-US" sz="1500" b="1" i="1" dirty="0">
                <a:solidFill>
                  <a:srgbClr val="8A8DA0"/>
                </a:solidFill>
              </a:rPr>
              <a:t>   Backup · José's message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Ejercicio 7 del material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2400" dirty="0">
                <a:solidFill>
                  <a:srgbClr val="14142B"/>
                </a:solidFill>
              </a:rPr>
              <a:t>!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호세예요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페루 사람이에요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칠레에 살아요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회사원이에요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아홉 시부터 여섯 시까지 일해요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주말에는 가족하고 바다에 갔어요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수영하고 사진을 찍었어요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조금 추웠지만 정말 재미있었어요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내년에는 한국에 갈 거예요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한국어는 어렵지만 매일 공부해요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Microsoft Office PowerPoint</Application>
  <PresentationFormat>Widescreen</PresentationFormat>
  <Paragraphs>308</Paragraphs>
  <Slides>23</Slides>
  <Notes>23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Malgun Gothic</vt:lpstr>
      <vt:lpstr>Arial</vt:lpstr>
      <vt:lpstr>Academia Seul</vt:lpstr>
      <vt:lpstr>Semana 8 · Conectores, examen final y conversación</vt:lpstr>
      <vt:lpstr>안녕하세요!  Mientras llegan   While you join</vt:lpstr>
      <vt:lpstr>오늘  Hoy   Today</vt:lpstr>
      <vt:lpstr>Ya lo dices   You already say it</vt:lpstr>
      <vt:lpstr>-고 · «y»   -고 · and</vt:lpstr>
      <vt:lpstr>-지만 · «pero»   -지만 · but</vt:lpstr>
      <vt:lpstr>Tres «y»   Three ways to say «and»</vt:lpstr>
      <vt:lpstr>Cadena 1 · -고   Chain 1 · -고</vt:lpstr>
      <vt:lpstr>Cadena 2 · -지만   Chain 2 · -지만</vt:lpstr>
      <vt:lpstr>Para ordenar y unir   To order and connect</vt:lpstr>
      <vt:lpstr>시험  El examen   The exam</vt:lpstr>
      <vt:lpstr>Temporizador   Timer</vt:lpstr>
      <vt:lpstr>5분 대화  La conversación   The 5-minute conversation</vt:lpstr>
      <vt:lpstr>En la sala   In the breakout room</vt:lpstr>
      <vt:lpstr>수고했어요! — 감사합니다!  ¡Buen trabajo! — ¡Gracias!</vt:lpstr>
      <vt:lpstr>오늘의 문장  Las 3 frases clave   Today's 3 key phrases</vt:lpstr>
      <vt:lpstr>Tu tarea final (≈ 15–20 min)   Your final homework</vt:lpstr>
      <vt:lpstr>Lo que viene   What's next</vt:lpstr>
      <vt:lpstr>수고했어요, 여러분! 축하해요!  ¡Buen trabajo, chingus! ¡Felicidades!</vt:lpstr>
      <vt:lpstr>Respaldo · Plan B del examen   Backup · Exam plan B</vt:lpstr>
      <vt:lpstr>Respaldo · Parejas   Backup · Pairs</vt:lpstr>
      <vt:lpstr>Respaldo · Antes y después   Backup · Before and after</vt:lpstr>
      <vt:lpstr>Respaldo · El mensaje de 호세   Backup · José's message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8 · Conectores + examen final + conversación de 5 minutos</dc:title>
  <dc:subject>PptxGenJS Presentation</dc:subject>
  <dc:creator>Academia Seúl</dc:creator>
  <cp:lastModifiedBy>Jae Hee Kim</cp:lastModifiedBy>
  <cp:revision>2</cp:revision>
  <dcterms:created xsi:type="dcterms:W3CDTF">2026-10-16T10:02:35Z</dcterms:created>
  <dcterms:modified xsi:type="dcterms:W3CDTF">2026-10-16T10:04:19Z</dcterms:modified>
</cp:coreProperties>
</file>