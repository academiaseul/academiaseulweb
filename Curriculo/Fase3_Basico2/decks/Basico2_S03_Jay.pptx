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mana 3" id="{D269F2A9-31C3-6854-00FE-83BDC172CE4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9753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 mientras entran. Graba desde el minuto 0 (Grabar → En la nube). Saluda: «안녕하세요, 여러분!» y pide en el chat una frase: 몇 시에 일어나요? (recicla la frase clave 3 de la S2; 보통 llega 5 minutos después). Lee 2 respuestas en voz alta: «여섯 시에 일어나요? 와!»
Fuente: Nueva
Lámina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21:00–21:03 · 2 min. Antes de hablar, pon el chat en «solo anfitrión». «Quiz 2, sobre la clase de números. Cinco preguntas, un solo mensaje, numerado, en 한글. Dos minutos. Hoy el chat me llega solo a mí.» Lee los 5 ítems en voz alta. Mientras responden, renombra las 7 salas con las parejas del mapa del grupo; a las 21:03, «끝!»: guarda el chat y vuelve a ponerlo en «todos».
Imagen: incluida (dibujo de la casa).
Fuente: Nueva (ítem 5 original estilo TOPIK I, formato 40–42 de 읽기; revisar D-12)
Lámina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21:03–21:05 · 1:30. Corrige en voz alta, un clic por ítem: «Dos: 스무 살: antes de 살, 스물 pierde la ㄹ, igual que 하나 → 한. Tres: 유월: junio pierde la ㄱ, igual que octubre, 시월. Cuatro: la hora con 에. Cinco: ④, porque 저녁 일곱 시 no es 오전.» Felicita por nombre: «잘했어요, [nombre]!». Último clic (30 s): deja solo los 2 errores de la Hoja 2 que anotaste.
Fuente: Nueva
Lámina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21:05 · 15 s. «Esto es lo que van a poder decir hoy. No lo explico todavía: solo mírenlo.» No traduzcas ni expliques; pasa directo a las fotos. (revisar D-6: 서울은 추워요.)
Fuente: Nueva
Lámina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21:05–21:07 · 2 min. «Les cuento mi día. No les traduzco: miren la foto y la hora, escuchen, y escriban en el chat, en español, qué hago.» Di cada frase dos veces, con gesto (te estiras, te lavas la cara, comes, te pones audífonos…). Las frases están en L6; el guion es un ejemplo: usa tu día real y conserva 쯤, -고, 에서 y 바빠요 (revisar S3-b; si trabajas en casa: 집에서 일해요).
Imagen: incluida (dibujo de la casa).
Fuente: Nueva (fotos de Jay) · idea de julio L19
Lámina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21:07 · 1 min. Revela las frases y confirma lo que escribieron en el chat: «¡Exacto! 출근해요 es ‘entro a trabajar’, y 퇴근해요, ‘salgo del trabajo’. Una palabra para lo que en español es una frase.» Si cambiaste tu día en L5, cambia también estas frases.
Imagen: incluida (dibujo de la casa).
Fuente: Julio L19 (A1_Nivel_1/07_Rutina_Diaria/Sesion_07_Rutina_Diaria_v2.pptx), adaptada: sin magenta FF00FF ni rojo FF5C5C; 7시에 → 일곱 시쯤 y con 에서
Lámina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21:08–21:09 · 1 min. -고 (30 s): «Ese 고 es ‘y’: une dos acciones, primero una y después la otra. Se pega a la raíz.» Pregunta a dos alumnos por nombre: «[nombre] 씨, 씻고 뭐 해요?» (→ 씻고 아침을 먹어요. / 씻고 커피를 마셔요.). No uses 일어나고 hoy (revisar D-8). 쯤 (30 s): «따라 하세요: 일곱 시쯤 일어나요.»
Fuente: Nueva
Lámina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21:09–21:11 · 2 min. «Todo eso es el presente que ya conocen. Sacas el -다 y miras la última vocal: ¿ㅏ u ㅗ? → 아요. ¿Otra? → 어요. ¿하다? → 해요, siempre.» Coro: «따라 하세요: 와요 · 봐요 · 마셔요 · 배워요» (봐요: dos golpes, no tres). Primera frase propia en el chat: 매일 ___; lee dos: «[nombre] 씨는 매일 커피를 마셔요? 저도요!»
Fuente: Nueva
Lámina 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21:11 · 1 min. «Pregunta trampa. 덥다, ‘hacer calor’. Con la regla: 덥 → ㅓ → 어요 → ¿덥어요? Suena lógico… y ningún coreano lo dice. Se dice 더워요.» En español también pasa con los verbos más usados. La clave: solo cambian antes de vocal; con el 고 de recién o el 습니다 que viene en diez minutos, no cambia nada.
Fuente: Nueva
Lámina 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21:12–21:13 · 1 min. «La ㅂ final se derrite en 우: 덥 → 더우 + 어요 → 더워요.» Coro: «따라 하세요: 더워요 · 추워요 · 어려워요 · 쉬워요.» Trampa: «No toda ㅂ se derrite: 입다 → 입어요; y 씻다 termina en ㅅ y también es normal. Se aprende cada verbo con su forma -아요.» Gesto: mano que se derrite.
Fuente: Nueva (la trampa 입어요/씻어요 reemplaza a 걷다/묻다/받다/닫다 de julio L18)
Lámina 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21:13–21:14 · 1 min. «듣다 → 들어요: la ㄷ se vuelve ㄹ.» «바쁘다: quito la ㅡ → 바ㅃ → miro la sílaba de antes, 바, que tiene ㅏ → 아요 → 바빠요. 쓰다 no tiene sílaba antes → 어요 → 써요.» Coro: «따라 하세요: 들어요 · 바빠요 · 써요.» Corrige la ㅃ de 바빠요: p apretada, sin aire.
Fuente: Julio L18 (Sesion_07_Rutina_Diaria_v2.pptx), adaptada: rojo FF5C5C → azul 4236F6, sin voseo (Memorizá/agregás → neutro)
Lámina 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21:14–21:15 · 1 min. «르: dos formas que se aprenden tal cual: 모르다 → 몰라요, 빠르다 → 빨라요. Se oye una ㄹ doble: una l larga, nunca r.» «Y la ㄹ: 살다 → 살아요, normal, como en la clase 1. Solo desaparece en el estilo formal: 삽니다. Lo vemos en diez minutos.» Coro: «따라 하세요: 몰라요 · 빨라요 · 살아요.»
Fuente: Nueva
Lámina 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21:15–21:17 · 2 min. Chat: «¿Cómo está hoy el clima en tu ciudad? 오늘 ___은/는 더워요, o 추워요» (ciudades en 한글: sección 2 del material). Lee 2–3: «오늘 멕시코시티는 더워요? 와! 서울은 추워요.» (revisar D-6). A dos alumnos: «[nombre] 씨, 요즘 바빠요?» (→ 네, 너무 바빠요. / 조금 바빠요.) y en broma: «제 생일 알아요?» (→ 아니요, 몰라요!). «‘No sé’ no es 안 알아요: es 몰라요.» Si sale 반말 (바빠!, 몰라!): «En clase le ponemos 요», sin reproche.
Fuente: Nueva
Lámina 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21:17–21:19 · 2 min. «En la clase 1 les marqué un error: 회사에 일해요. Hoy, el porqué. En español, ‘en’ sirve para todo: estoy en la oficina, trabajo en la oficina. En coreano son dos: 에 cuando algo está en un lugar o cuando vas; 에서 cuando en ese lugar pasa una acción.» Recorre los pares señalando el dibujo y cierra con el 에 de la hora (clase 2).
Imagen: incluida (dibujo de la casa).
Fuente: Nueva (Particulas_Coreanas_Editable.pptx no trae 에/에서)
Lámina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21:19–21:20 · 1 min. «¿El verbo es estar o haber, ir o venir, o hay una hora? → 에. ¿Cualquier otra acción que pasa ahí? → 에서. Y un regalo: con 살다 valen los dos.» Frase propia en el chat: «보통 어디에서 한국어를 공부해요?» Lee dos y reacciona: «카페에서요? 좋아요!»
Fuente: Nueva
Lámina 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21:20–21:22 · ráfaga de 2 min entre 16a y 16b. Dices lugar + verbo y un voluntario (o alguien por nombre) arma la frase: «[nombre], 학교… 가요!» → 학교에 가요. Clic para mostrar la respuesta después de cada turno.
Fuente: Nueva
Lámina 16a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Sigue la ráfaga. El 7 acepta los dos. Si preguntan por el 에서 de «desde» (서울에서 왔어요): «Existe, y llega en la clase 4 con 에서~까지. Hoy, solo el de la acción.» Si vas atrasado, haz solo 1, 2, 3 y 7.
Fuente: Nueva
Lámina 16b</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21:22–21:23 · 1 min. «Hay un segundo estilo cortés que van a oír en todas partes: el coreano ‘de micrófono’. El metro, las noticias, las tiendas grandes, una presentación ante un grupo. Y ustedes ya lo dicen desde el día 1: 감사합니다, 반갑습니다.» Experto de julio (20 s): «Los que estuvieron en julio: ¿se acuerdan de 갑니다? [nombre], ¿qué recuerdas?» Si no sale, sigues.
Imagen: incluida (dibujo de la casa).
Fuente: Nueva
Lámina 17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21:23–21:25 · 2 min. Solo para reconocer: «Raíz en vocal → -ㅂ니다; en consonante → -습니다; 이다 → 입니다; y aquí la ㄹ desaparece: 삽니다. Los irregulares, tranquilos: como 습니다 empieza con consonante, no cambian.» 비음화: «La ㅂ, pegada a la ㄴ, se vuelve ㅁ.» Línea para julio: «¿Se acuerdan de los corchetes de julio? Ahora siempre van en 한글: [감니다].» Coro: «따라 하세요: 갑니다 · 먹습니다 · 입니다 · 삽니다.»
Fuente: Julio L21–L24 (Sesion_07_Rutina_Diaria_v2.pptx), adaptadas: corchete [슴니다] → [씀니다]; no usar L20 (romanización)
Lámina 18</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21:25–21:26 · 1:30. «Leo 6 frases. En el chat: el número y A si es el estilo de todos los días o F si es el formal.» Lee cada una dos veces, a ritmo natural, sin mostrarla; las respuestas se revelan al final con clic. Pregunta por 2: «¿La 1, a quién? — A todo el mundo: es el metro.» Si preguntan: -아요 no es «tú», es cortés; entre amigos íntimos se usa 반말, que este curso no enseña. Si vas atrasado, quita la 3 y la 5.
Fuente: Nueva
Lámina 19</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21:26–21:27 · 1 min. «Lo único que van a producir en formal: una presentación de tres frases. En el chat: 저는 ___입니다. ___입니다. 반갑습니다.» Lee el modelo en voz alta con una leve inclinación. Es la que dicen al entrar a la sala.
Fuente: Nueva
Lámina 20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21:27–21:30 · 3 min. «¿Saben qué hora es ahora en Seúl? Las nueve de la mañana del jueves. Ahora mismo, muchísima gente acaba de… 출근해요.» Coro dos veces: «따라 하세요: 아홉 시에 출근해요. 여섯 시에 퇴근해요.» Al irse antes: 먼저 가겠습니다 y 먼저 들어가 보겠습니다, solo para reconocer (revisar D-7); ¿ven el -습니다? Oficina, estilo formal. Puente: «¿Cómo se despiden ustedes en la pega?» (1–2 respuestas). Nunca «en Corea todos».
Imagen: incluida (dibujo de la casa).
Fuente: Nueva
Lámina 21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21:30–21:34 · 4 min entre 22a y 22d. «Digo tu nombre, aparece un verbo en diccionario y tienes 3 segundos para decir la forma -아요/어요. Los irregulares valen doble. Es un marcador del grupo: meta, 25 puntos en 4 minutos.» Anuncia los nombres de a cinco, micrófonos abiertos; clic para la respuesta y suma al marcador. Corrige forma primero, pronunciación después (ㅃ de 바빠요, ㄹㄹ de 몰라요, ㅓ de 더워요): «다시 한번… 잘했어요!»
Fuente: Nueva
Lámina 22a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Sigue la rueda. Si alguien falla, la mano da la pista (mano que se derrite = ㅂ). 입다 es la trampa: 입어요, normal.
Fuente: Nueva
Lámina 22b</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Sigue la rueda. 살다 vale doble «por trampa»: es normal (살아요). Si vas atrasado, haz 10 tarjetas en total, siempre con irregulares.
Fuente: Nueva
Lámina 22c</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Última tanda; si sobran minutos, segunda vuelta desde 22a. Celebra el marcador del grupo y pasa a la consigna de salas a las 21:34:30.
Fuente: Nueva
Lámina 22d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21:34:30 · 30 s. «Salas con su pareja de siempre: busquen su nombre y entren solos. Abran ahora la tarjeta de sala (link en el chat; también es la sección 7 de su material): el chat de la sala es otro.» Pega el link (o el texto de respaldo de C.3). Abre las salas: cierre automático a los 19 min + 60 s. Transmite mensajes a las 21:43 (R2), 21:48 (R3) y 21:52 (R4); en tu circuito (≈ 2,5 min por sala) corrige en este orden: 에/에서 → irregular → pronunciación, y elige a los 3 del cierre.
Fuente: Nueva
Lámina 23</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 · se transmite a las salas como mensaje y se pega en el chat como imagen. Quien responde no mira el cuaderno. A las 21:54 vuelves a la sala principal y dejas L25 en pantalla.
Fuente: Diseño B.11
Lámina 24</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21:55–21:57. Primero, 3 alumnos cuentan la rutina de su pareja en una frase (1:30): «[A], 카밀라 씨는 보통 몇 시에 일어나요? 그리고?» → la pareja confirma «네!»; corriges solo 에/에서 o el irregular. Después, la lámina (1 min): clic para la forma correcta y todos repiten.
Fuente: Nueva
Lámina 25</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21:57 · 1 min. «Primero yo, despacio; después ustedes.» Tú solo, lento, con 2 s de pausa entre frases; el grupo repite cada una. Una segunda vez a ritmo natural. De aquí se recorta el clip B2_S03_frases_clave.mp3: tu versión va sola, lenta y limpia.
Fuente: Diseño B.12
Lámina 26</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21:58 · 1:15. «Unos 30 minutos, antes de la clase 4. Uno: la Hoja 3. Dos: el Lector, Palabras, 3 rondas seguidas, y la captura. Tres: el quiz en línea; el link va en el mensaje de esta noche y cuenta como tarea. Cuatro: 5 cosas que hicieron el fin de semana pasado, en español o con el verbo en diccionario: es el pasado.» Reto y rescate se avisan por privado, no en público.
Fuente: Nueva
Lámina 27</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21:59 · 15 s. «오늘 정말 잘했어요! 화이팅!» Con leve inclinación: «감사합니다!» → grupo: «감사합니다!» 22:00 en punto: «Finalizar reunión para todos».
Fuente: Plantilla
Lámina 28</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 o extensión para salas y alumnos perfil A que terminan antes. -고 있어요 subraya que la acción está pasando ahora; el presente simple también sirve (지금 공부해요). Antes de consonante el irregular no cambia: 듣고 있어요. Pide 3 frases sobre lo que hacen ahora tres personas de su casa u oficina.
Fuente: Julio L29 (Sesion_07_Rutina_Diaria_v2.pptx), adaptada
Lámina Extra 1</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Emergencia o plan B (si no abren las salas): R3 como adivinanza en grupo. Describe un lugar con 여기에서 + dos acciones (여기에서 커피를 마셔요. 그리고 공부해요. 어디예요?) y el grupo escribe el lugar en el chat. Pistas: 카페 (커피를 마셔요 · 공부해요) · 집 (쉬어요 · 자요) · 회사 (일해요) · 학교 (공부해요 · 배워요) · 공원 (운동해요) · 식당 (밥을 먹어요).
Fuente: Nueva
Lámina Extra 2</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_PORTADA">
    <p:bg>
      <p:bgPr>
        <a:solidFill>
          <a:srgbClr val="003478"/>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640080" y="548640"/>
            <a:ext cx="822960" cy="822960"/>
          </a:xfrm>
          <a:prstGeom prst="rect">
            <a:avLst/>
          </a:prstGeom>
        </p:spPr>
      </p:pic>
      <p:sp>
        <p:nvSpPr>
          <p:cNvPr id="3" name="Text 0"/>
          <p:cNvSpPr txBox="1"/>
          <p:nvPr/>
        </p:nvSpPr>
        <p:spPr>
          <a:xfrm>
            <a:off x="1600200" y="713232"/>
            <a:ext cx="5486400" cy="457200"/>
          </a:xfrm>
          <a:prstGeom prst="rect">
            <a:avLst/>
          </a:prstGeom>
          <a:noFill/>
          <a:ln/>
        </p:spPr>
        <p:txBody>
          <a:bodyPr wrap="square" lIns="0" tIns="0" rIns="0" bIns="0" rtlCol="0" anchor="ctr"/>
          <a:lstStyle/>
          <a:p>
            <a:pPr marL="0" indent="0">
              <a:buNone/>
            </a:pPr>
            <a:r>
              <a:rPr lang="en-US" sz="1400" b="1" kern="0" spc="600" dirty="0">
                <a:solidFill>
                  <a:srgbClr val="FFFFFF"/>
                </a:solidFill>
              </a:rPr>
              <a:t>ACADEMIA SEÚL</a:t>
            </a:r>
            <a:endParaRPr lang="en-US" sz="1400" dirty="0"/>
          </a:p>
        </p:txBody>
      </p:sp>
      <p:sp>
        <p:nvSpPr>
          <p:cNvPr id="4" name="Text 1"/>
          <p:cNvSpPr>
            <a:spLocks noGrp="1"/>
          </p:cNvSpPr>
          <p:nvPr>
            <p:ph type="title" idx="102" hasCustomPrompt="1"/>
          </p:nvPr>
        </p:nvSpPr>
        <p:spPr>
          <a:xfrm>
            <a:off x="640080" y="3063240"/>
            <a:ext cx="10881360" cy="914400"/>
          </a:xfrm>
          <a:prstGeom prst="rect">
            <a:avLst/>
          </a:prstGeom>
          <a:noFill/>
          <a:ln/>
        </p:spPr>
        <p:txBody>
          <a:bodyPr wrap="square" rtlCol="0"/>
          <a:lstStyle>
            <a:lvl1pPr marL="0" indent="0">
              <a:buNone/>
              <a:defRPr lang="en-US" sz="4400" b="1" dirty="0">
                <a:solidFill>
                  <a:srgbClr val="FFFFFF"/>
                </a:solidFill>
              </a:defRPr>
            </a:lvl1pPr>
          </a:lstStyle>
          <a:p>
            <a:pPr marL="0" indent="0">
              <a:buNone/>
            </a:pPr>
            <a:endParaRPr lang="en-US" sz="4400" dirty="0"/>
          </a:p>
        </p:txBody>
      </p:sp>
      <p:sp>
        <p:nvSpPr>
          <p:cNvPr id="5" name="Text 1"/>
          <p:cNvSpPr>
            <a:spLocks noGrp="1"/>
          </p:cNvSpPr>
          <p:nvPr>
            <p:ph type="body" idx="103" hasCustomPrompt="1"/>
          </p:nvPr>
        </p:nvSpPr>
        <p:spPr>
          <a:xfrm>
            <a:off x="640080" y="4160520"/>
            <a:ext cx="10881360" cy="1828800"/>
          </a:xfrm>
          <a:prstGeom prst="rect">
            <a:avLst/>
          </a:prstGeom>
          <a:noFill/>
          <a:ln/>
        </p:spPr>
        <p:txBody>
          <a:bodyPr wrap="square" rtlCol="0"/>
          <a:lstStyle>
            <a:lvl1pPr marL="0" indent="0">
              <a:buNone/>
              <a:defRPr lang="en-US" sz="2200" dirty="0">
                <a:solidFill>
                  <a:srgbClr val="E8B84B"/>
                </a:solidFill>
              </a:defRPr>
            </a:lvl1pPr>
          </a:lstStyle>
          <a:p>
            <a:pPr marL="0" indent="0">
              <a:buNone/>
            </a:pPr>
            <a:endParaRPr lang="en-US" sz="2200" dirty="0"/>
          </a:p>
        </p:txBody>
      </p:sp>
      <p:sp>
        <p:nvSpPr>
          <p:cNvPr id="6" name="Text 1"/>
          <p:cNvSpPr txBox="1"/>
          <p:nvPr/>
        </p:nvSpPr>
        <p:spPr>
          <a:xfrm>
            <a:off x="640080" y="6172200"/>
            <a:ext cx="10881360" cy="365760"/>
          </a:xfrm>
          <a:prstGeom prst="rect">
            <a:avLst/>
          </a:prstGeom>
          <a:noFill/>
          <a:ln/>
        </p:spPr>
        <p:txBody>
          <a:bodyPr wrap="square" lIns="0" tIns="0" rIns="0" bIns="0" rtlCol="0" anchor="ctr"/>
          <a:lstStyle/>
          <a:p>
            <a:pPr marL="0" indent="0">
              <a:buNone/>
            </a:pPr>
            <a:r>
              <a:rPr lang="en-US" sz="1200" dirty="0">
                <a:solidFill>
                  <a:srgbClr val="B9C3DA"/>
                </a:solidFill>
              </a:rPr>
              <a:t>Básico 2 (A1.2) · Semana 3 · Jay Kim (김재희) · Academia Seúl</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_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rtlCol="0"/>
          <a:lstStyle>
            <a:lvl1pPr marL="0" indent="0">
              <a:buNone/>
              <a:defRPr lang="en-US" sz="3000" b="1" dirty="0">
                <a:solidFill>
                  <a:srgbClr val="003478"/>
                </a:solidFill>
              </a:defRPr>
            </a:lvl1pPr>
          </a:lstStyle>
          <a:p>
            <a:pPr marL="0" indent="0">
              <a:buNone/>
            </a:pPr>
            <a:endParaRPr lang="en-US" sz="3000" dirty="0"/>
          </a:p>
        </p:txBody>
      </p:sp>
      <p:pic>
        <p:nvPicPr>
          <p:cNvPr id="3" name="Image 0" descr="C:/Users/Chingu/Desktop/ACADEMIASEULWEB/public/email/sello-azul.png"/>
          <p:cNvPicPr>
            <a:picLocks noChangeAspect="1"/>
          </p:cNvPicPr>
          <p:nvPr/>
        </p:nvPicPr>
        <p:blipFill>
          <a:blip r:embed="rId2"/>
          <a:stretch>
            <a:fillRect/>
          </a:stretch>
        </p:blipFill>
        <p:spPr>
          <a:xfrm>
            <a:off x="11201400" y="411480"/>
            <a:ext cx="502920" cy="502920"/>
          </a:xfrm>
          <a:prstGeom prst="rect">
            <a:avLst/>
          </a:prstGeom>
        </p:spPr>
      </p:pic>
      <p:sp>
        <p:nvSpPr>
          <p:cNvPr id="4" name="Text 0"/>
          <p:cNvSpPr txBox="1"/>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rgbClr val="8A8DA0"/>
                </a:solidFill>
              </a:rPr>
              <a:t>Básico 2 (A1.2) · Semana 3 · Jay Kim (김재희) · Academia Seúl</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S_CIERRE">
    <p:bg>
      <p:bgPr>
        <a:solidFill>
          <a:srgbClr val="4236F6"/>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5641848" y="502920"/>
            <a:ext cx="914400" cy="914400"/>
          </a:xfrm>
          <a:prstGeom prst="rect">
            <a:avLst/>
          </a:prstGeom>
        </p:spPr>
      </p:pic>
      <p:sp>
        <p:nvSpPr>
          <p:cNvPr id="3" name="Text 0"/>
          <p:cNvSpPr>
            <a:spLocks noGrp="1"/>
          </p:cNvSpPr>
          <p:nvPr>
            <p:ph type="title" idx="101" hasCustomPrompt="1"/>
          </p:nvPr>
        </p:nvSpPr>
        <p:spPr>
          <a:xfrm>
            <a:off x="731520" y="1691640"/>
            <a:ext cx="10725912" cy="1097280"/>
          </a:xfrm>
          <a:prstGeom prst="rect">
            <a:avLst/>
          </a:prstGeom>
          <a:noFill/>
          <a:ln/>
        </p:spPr>
        <p:txBody>
          <a:bodyPr wrap="square" rtlCol="0"/>
          <a:lstStyle>
            <a:lvl1pPr marL="0" indent="0" algn="ctr">
              <a:buNone/>
              <a:defRPr lang="en-US" sz="4000" b="1" dirty="0">
                <a:solidFill>
                  <a:srgbClr val="FFFFFF"/>
                </a:solidFill>
              </a:defRPr>
            </a:lvl1pPr>
          </a:lstStyle>
          <a:p>
            <a:pPr marL="0" indent="0" algn="ctr">
              <a:buNone/>
            </a:pPr>
            <a:endParaRPr lang="en-US" sz="4000" dirty="0"/>
          </a:p>
        </p:txBody>
      </p:sp>
      <p:sp>
        <p:nvSpPr>
          <p:cNvPr id="4" name="Text 0"/>
          <p:cNvSpPr>
            <a:spLocks noGrp="1"/>
          </p:cNvSpPr>
          <p:nvPr>
            <p:ph type="body" idx="102" hasCustomPrompt="1"/>
          </p:nvPr>
        </p:nvSpPr>
        <p:spPr>
          <a:xfrm>
            <a:off x="1463040" y="2971800"/>
            <a:ext cx="9262872" cy="2926080"/>
          </a:xfrm>
          <a:prstGeom prst="rect">
            <a:avLst/>
          </a:prstGeom>
          <a:noFill/>
          <a:ln/>
        </p:spPr>
        <p:txBody>
          <a:bodyPr wrap="square" rtlCol="0"/>
          <a:lstStyle>
            <a:lvl1pPr marL="0" indent="0">
              <a:buNone/>
              <a:defRPr lang="en-US" sz="2200" dirty="0">
                <a:solidFill>
                  <a:srgbClr val="FFFFFF"/>
                </a:solidFill>
              </a:defRPr>
            </a:lvl1pPr>
          </a:lstStyle>
          <a:p>
            <a:pPr marL="0" indent="0">
              <a:buNone/>
            </a:pPr>
            <a:endParaRPr lang="en-US" sz="2200" dirty="0"/>
          </a:p>
        </p:txBody>
      </p:sp>
      <p:sp>
        <p:nvSpPr>
          <p:cNvPr id="5" name="Text 0"/>
          <p:cNvSpPr txBox="1"/>
          <p:nvPr/>
        </p:nvSpPr>
        <p:spPr>
          <a:xfrm>
            <a:off x="731520" y="6263640"/>
            <a:ext cx="10725912" cy="320040"/>
          </a:xfrm>
          <a:prstGeom prst="rect">
            <a:avLst/>
          </a:prstGeom>
          <a:noFill/>
          <a:ln/>
        </p:spPr>
        <p:txBody>
          <a:bodyPr wrap="square" lIns="0" tIns="0" rIns="0" bIns="0" rtlCol="0" anchor="ctr"/>
          <a:lstStyle/>
          <a:p>
            <a:pPr marL="0" indent="0" algn="ctr">
              <a:buNone/>
            </a:pPr>
            <a:r>
              <a:rPr lang="en-US" sz="1100" dirty="0">
                <a:solidFill>
                  <a:srgbClr val="D9D7F7"/>
                </a:solidFill>
              </a:rPr>
              <a:t>Básico 2 (A1.2) · Semana 3 · Jay Kim (김재희) · Academia Seúl</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0"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0"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0"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0"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notesSlide" Target="../notesSlides/notesSlide6.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audio" Target="../media/media5.mp3"/><Relationship Id="rId13" Type="http://schemas.openxmlformats.org/officeDocument/2006/relationships/slideLayout" Target="../slideLayouts/slideLayout3.xml"/><Relationship Id="rId18" Type="http://schemas.openxmlformats.org/officeDocument/2006/relationships/image" Target="../media/image18.png"/><Relationship Id="rId3" Type="http://schemas.microsoft.com/office/2007/relationships/media" Target="../media/media3.mp3"/><Relationship Id="rId21" Type="http://schemas.openxmlformats.org/officeDocument/2006/relationships/image" Target="../media/image21.png"/><Relationship Id="rId7" Type="http://schemas.microsoft.com/office/2007/relationships/media" Target="../media/media5.mp3"/><Relationship Id="rId12" Type="http://schemas.openxmlformats.org/officeDocument/2006/relationships/audio" Target="../media/media7.mp3"/><Relationship Id="rId17" Type="http://schemas.openxmlformats.org/officeDocument/2006/relationships/image" Target="../media/image17.png"/><Relationship Id="rId2" Type="http://schemas.openxmlformats.org/officeDocument/2006/relationships/audio" Target="../media/media2.mp3"/><Relationship Id="rId16" Type="http://schemas.openxmlformats.org/officeDocument/2006/relationships/image" Target="../media/image7.png"/><Relationship Id="rId20" Type="http://schemas.openxmlformats.org/officeDocument/2006/relationships/image" Target="../media/image20.png"/><Relationship Id="rId1" Type="http://schemas.microsoft.com/office/2007/relationships/media" Target="../media/media2.mp3"/><Relationship Id="rId6" Type="http://schemas.openxmlformats.org/officeDocument/2006/relationships/audio" Target="../media/media4.mp3"/><Relationship Id="rId11" Type="http://schemas.microsoft.com/office/2007/relationships/media" Target="../media/media7.mp3"/><Relationship Id="rId5" Type="http://schemas.microsoft.com/office/2007/relationships/media" Target="../media/media4.mp3"/><Relationship Id="rId15" Type="http://schemas.openxmlformats.org/officeDocument/2006/relationships/image" Target="../media/image16.png"/><Relationship Id="rId10" Type="http://schemas.openxmlformats.org/officeDocument/2006/relationships/audio" Target="../media/media6.mp3"/><Relationship Id="rId19" Type="http://schemas.openxmlformats.org/officeDocument/2006/relationships/image" Target="../media/image19.png"/><Relationship Id="rId4" Type="http://schemas.openxmlformats.org/officeDocument/2006/relationships/audio" Target="../media/media3.mp3"/><Relationship Id="rId9" Type="http://schemas.microsoft.com/office/2007/relationships/media" Target="../media/media6.mp3"/><Relationship Id="rId1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ulo_ko"/>
          <p:cNvSpPr txBox="1"/>
          <p:nvPr/>
        </p:nvSpPr>
        <p:spPr>
          <a:xfrm>
            <a:off x="640080" y="1691640"/>
            <a:ext cx="10881360" cy="1280160"/>
          </a:xfrm>
          <a:prstGeom prst="rect">
            <a:avLst/>
          </a:prstGeom>
          <a:noFill/>
          <a:ln/>
        </p:spPr>
        <p:txBody>
          <a:bodyPr wrap="square" lIns="0" tIns="0" rIns="0" bIns="0" rtlCol="0" anchor="b">
            <a:normAutofit/>
          </a:bodyPr>
          <a:lstStyle/>
          <a:p>
            <a:pPr marL="0" indent="0" eaLnBrk="1">
              <a:buNone/>
            </a:pPr>
            <a:r>
              <a:rPr lang="ko-KR" altLang="en-US" sz="6600" b="1" dirty="0">
                <a:solidFill>
                  <a:srgbClr val="E8B84B"/>
                </a:solidFill>
                <a:latin typeface="Malgun Gothic" pitchFamily="34" charset="0"/>
                <a:ea typeface="Malgun Gothic" pitchFamily="34" charset="-122"/>
                <a:cs typeface="Malgun Gothic" pitchFamily="34" charset="-120"/>
              </a:rPr>
              <a:t>안녕하세요</a:t>
            </a:r>
            <a:r>
              <a:rPr lang="en-US" sz="6600" b="1" dirty="0">
                <a:solidFill>
                  <a:srgbClr val="E8B84B"/>
                </a:solidFill>
              </a:rPr>
              <a:t>!</a:t>
            </a:r>
            <a:endParaRPr lang="en-US" sz="6600" dirty="0"/>
          </a:p>
        </p:txBody>
      </p:sp>
      <p:sp>
        <p:nvSpPr>
          <p:cNvPr id="3" name="Text 1"/>
          <p:cNvSpPr>
            <a:spLocks noGrp="1"/>
          </p:cNvSpPr>
          <p:nvPr>
            <p:ph type="title" idx="102" hasCustomPrompt="1"/>
          </p:nvPr>
        </p:nvSpPr>
        <p:spPr>
          <a:xfrm>
            <a:off x="640080" y="3063240"/>
            <a:ext cx="10881360" cy="914400"/>
          </a:xfrm>
          <a:prstGeom prst="rect">
            <a:avLst/>
          </a:prstGeom>
          <a:noFill/>
          <a:ln/>
        </p:spPr>
        <p:txBody>
          <a:bodyPr wrap="square" lIns="0" tIns="0" rIns="0" bIns="0" rtlCol="0" anchor="t"/>
          <a:lstStyle/>
          <a:p>
            <a:pPr marL="0" indent="0" algn="l" eaLnBrk="1">
              <a:buNone/>
            </a:pPr>
            <a:r>
              <a:rPr lang="en-US" sz="4400" b="1" dirty="0">
                <a:solidFill>
                  <a:srgbClr val="FFFFFF"/>
                </a:solidFill>
              </a:rPr>
              <a:t>Mientras llegan</a:t>
            </a:r>
            <a:endParaRPr lang="en-US" sz="4400" dirty="0"/>
          </a:p>
        </p:txBody>
      </p:sp>
      <p:sp>
        <p:nvSpPr>
          <p:cNvPr id="4" name="Text 1"/>
          <p:cNvSpPr>
            <a:spLocks noGrp="1"/>
          </p:cNvSpPr>
          <p:nvPr>
            <p:ph type="body" idx="103" hasCustomPrompt="1"/>
          </p:nvPr>
        </p:nvSpPr>
        <p:spPr>
          <a:xfrm>
            <a:off x="640080" y="4160520"/>
            <a:ext cx="10881360" cy="1828800"/>
          </a:xfrm>
          <a:prstGeom prst="rect">
            <a:avLst/>
          </a:prstGeom>
          <a:noFill/>
          <a:ln/>
        </p:spPr>
        <p:txBody>
          <a:bodyPr wrap="square" lIns="0" tIns="0" rIns="0" bIns="0" rtlCol="0" anchor="t">
            <a:normAutofit/>
          </a:bodyPr>
          <a:lstStyle/>
          <a:p>
            <a:pPr marL="0" indent="0" eaLnBrk="1">
              <a:buNone/>
            </a:pPr>
            <a:r>
              <a:rPr lang="ko-KR" altLang="en-US" sz="2200" dirty="0">
                <a:solidFill>
                  <a:srgbClr val="E8B84B"/>
                </a:solidFill>
                <a:latin typeface="Malgun Gothic" pitchFamily="34" charset="0"/>
                <a:ea typeface="Malgun Gothic" pitchFamily="34" charset="-122"/>
                <a:cs typeface="Malgun Gothic" pitchFamily="34" charset="-120"/>
              </a:rPr>
              <a:t>Básico 2 (A1.2) · Semana 3 · Presente completo · Mi rutina · con Jay (김재희</a:t>
            </a:r>
            <a:r>
              <a:rPr lang="en-US" sz="2200" dirty="0">
                <a:solidFill>
                  <a:srgbClr val="E8B84B"/>
                </a:solidFill>
              </a:rPr>
              <a:t>)</a:t>
            </a:r>
            <a:endParaRPr lang="en-US" sz="2200" dirty="0"/>
          </a:p>
          <a:p>
            <a:pPr marL="0" indent="0" eaLnBrk="1">
              <a:buNone/>
            </a:pPr>
            <a:r>
              <a:rPr lang="ko-KR" altLang="en-US" sz="2200" dirty="0">
                <a:solidFill>
                  <a:srgbClr val="E8B84B"/>
                </a:solidFill>
                <a:latin typeface="Malgun Gothic" pitchFamily="34" charset="0"/>
                <a:ea typeface="Malgun Gothic" pitchFamily="34" charset="-122"/>
                <a:cs typeface="Malgun Gothic" pitchFamily="34" charset="-120"/>
              </a:rPr>
              <a:t>지금 서울은 목요일 아침 </a:t>
            </a:r>
            <a:r>
              <a:rPr lang="en-US" sz="2200" dirty="0">
                <a:solidFill>
                  <a:srgbClr val="E8B84B"/>
                </a:solidFill>
              </a:rPr>
              <a:t>9</a:t>
            </a:r>
            <a:r>
              <a:rPr lang="ko-KR" altLang="en-US" sz="2200" dirty="0">
                <a:solidFill>
                  <a:srgbClr val="E8B84B"/>
                </a:solidFill>
                <a:latin typeface="Malgun Gothic" pitchFamily="34" charset="0"/>
                <a:ea typeface="Malgun Gothic" pitchFamily="34" charset="-122"/>
                <a:cs typeface="Malgun Gothic" pitchFamily="34" charset="-120"/>
              </a:rPr>
              <a:t>시예요</a:t>
            </a:r>
            <a:endParaRPr lang="en-US" sz="2200" dirty="0"/>
          </a:p>
          <a:p>
            <a:pPr marL="0" indent="0" eaLnBrk="1">
              <a:buNone/>
            </a:pPr>
            <a:r>
              <a:rPr lang="ko-KR" altLang="en-US" sz="2200" dirty="0">
                <a:solidFill>
                  <a:srgbClr val="E8B84B"/>
                </a:solidFill>
                <a:latin typeface="Malgun Gothic" pitchFamily="34" charset="0"/>
                <a:ea typeface="Malgun Gothic" pitchFamily="34" charset="-122"/>
                <a:cs typeface="Malgun Gothic" pitchFamily="34" charset="-120"/>
              </a:rPr>
              <a:t>Chat: 몇 시에 일어나요</a:t>
            </a:r>
            <a:r>
              <a:rPr lang="en-US" sz="2200" dirty="0">
                <a:solidFill>
                  <a:srgbClr val="E8B84B"/>
                </a:solidFill>
              </a:rPr>
              <a:t>? (contesta con una frase)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Quiz 2</a:t>
            </a:r>
            <a:r>
              <a:rPr lang="en-US" sz="1500" b="1" i="1" dirty="0">
                <a:solidFill>
                  <a:srgbClr val="8A8DA0"/>
                </a:solidFill>
              </a:rPr>
              <a:t>   Quiz 2</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Un solo mensaje, numerado, en 한글 </a:t>
            </a:r>
            <a:r>
              <a:rPr lang="en-US" sz="1800" i="1" dirty="0">
                <a:solidFill>
                  <a:srgbClr val="4236F6"/>
                </a:solidFill>
              </a:rPr>
              <a:t>· 2 minutos · el chat va solo a Jay</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Ítems 1 a 4</a:t>
            </a:r>
            <a:endParaRPr lang="en-US" sz="2000" dirty="0"/>
          </a:p>
        </p:txBody>
      </p:sp>
      <p:sp>
        <p:nvSpPr>
          <p:cNvPr id="6" name="lista"/>
          <p:cNvSpPr txBox="1"/>
          <p:nvPr/>
        </p:nvSpPr>
        <p:spPr>
          <a:xfrm>
            <a:off x="731520" y="2651760"/>
            <a:ext cx="5020056" cy="33832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1 · Escribe en 한글 </a:t>
            </a:r>
            <a:r>
              <a:rPr lang="en-US" sz="2000" dirty="0">
                <a:solidFill>
                  <a:srgbClr val="14142B"/>
                </a:solidFill>
              </a:rPr>
              <a:t>cómo se dice la hora: 7:30</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2 · Tu amiga tiene 20 años. ¿Cómo se dice? ___ 살</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3 · Escribe cómo se lee: 6월 </a:t>
            </a:r>
            <a:r>
              <a:rPr lang="en-US" sz="2000" dirty="0">
                <a:solidFill>
                  <a:srgbClr val="14142B"/>
                </a:solidFill>
              </a:rPr>
              <a:t>15</a:t>
            </a:r>
            <a:r>
              <a:rPr lang="ko-KR" altLang="en-US" sz="2000" dirty="0">
                <a:solidFill>
                  <a:srgbClr val="14142B"/>
                </a:solidFill>
                <a:latin typeface="Malgun Gothic" pitchFamily="34" charset="0"/>
                <a:ea typeface="Malgun Gothic" pitchFamily="34" charset="-122"/>
                <a:cs typeface="Malgun Gothic" pitchFamily="34" charset="-120"/>
              </a:rPr>
              <a:t>일</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4 · Responde con tu hora: 몇 시에 자요</a:t>
            </a:r>
            <a:r>
              <a:rPr lang="en-US" sz="2000" dirty="0">
                <a:solidFill>
                  <a:srgbClr val="14142B"/>
                </a:solidFill>
              </a:rPr>
              <a:t>?</a:t>
            </a:r>
            <a:endParaRPr lang="en-US" sz="2000" dirty="0"/>
          </a:p>
        </p:txBody>
      </p:sp>
      <p:sp>
        <p:nvSpPr>
          <p:cNvPr id="7"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8" name="Text 6"/>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5 · Elige la que NO es correcta</a:t>
            </a:r>
            <a:endParaRPr lang="en-US" sz="2000" dirty="0"/>
          </a:p>
        </p:txBody>
      </p:sp>
      <p:pic>
        <p:nvPicPr>
          <p:cNvPr id="9" name="col_img_1" descr="C:\Users\Chingu\AppData\Local\Temp\claude\C--Users-Chingu-Desktop-ACADEMIASEULWEB\d4111e1b-5523-44ea-97b2-b1a1d9545b9e\scratchpad\decks\cache\img_6bff3c2511e0fb77.png"/>
          <p:cNvPicPr>
            <a:picLocks noChangeAspect="1"/>
          </p:cNvPicPr>
          <p:nvPr/>
        </p:nvPicPr>
        <p:blipFill>
          <a:blip r:embed="rId3"/>
          <a:stretch>
            <a:fillRect/>
          </a:stretch>
        </p:blipFill>
        <p:spPr>
          <a:xfrm>
            <a:off x="8193024" y="2651760"/>
            <a:ext cx="1508760" cy="685800"/>
          </a:xfrm>
          <a:prstGeom prst="rect">
            <a:avLst/>
          </a:prstGeom>
        </p:spPr>
      </p:pic>
      <p:sp>
        <p:nvSpPr>
          <p:cNvPr id="10" name="Text 7"/>
          <p:cNvSpPr txBox="1"/>
          <p:nvPr/>
        </p:nvSpPr>
        <p:spPr>
          <a:xfrm>
            <a:off x="6483096" y="3429000"/>
            <a:ext cx="4928616" cy="914400"/>
          </a:xfrm>
          <a:prstGeom prst="rect">
            <a:avLst/>
          </a:prstGeom>
          <a:noFill/>
          <a:ln/>
        </p:spPr>
        <p:txBody>
          <a:bodyPr wrap="square" lIns="0" tIns="0" rIns="0" bIns="0" rtlCol="0" anchor="ctr">
            <a:normAutofit/>
          </a:bodyPr>
          <a:lstStyle/>
          <a:p>
            <a:pPr marL="0" indent="0" eaLnBrk="1">
              <a:buNone/>
            </a:pPr>
            <a:r>
              <a:rPr lang="ko-KR" altLang="en-US" sz="5200" b="1" dirty="0">
                <a:solidFill>
                  <a:srgbClr val="4236F6"/>
                </a:solidFill>
                <a:latin typeface="Malgun Gothic" pitchFamily="34" charset="0"/>
                <a:ea typeface="Malgun Gothic" pitchFamily="34" charset="-122"/>
                <a:cs typeface="Malgun Gothic" pitchFamily="34" charset="-120"/>
              </a:rPr>
              <a:t>지수 생일 파티</a:t>
            </a:r>
            <a:endParaRPr lang="en-US" sz="5200" dirty="0"/>
          </a:p>
        </p:txBody>
      </p:sp>
      <p:sp>
        <p:nvSpPr>
          <p:cNvPr id="11" name="lista"/>
          <p:cNvSpPr txBox="1"/>
          <p:nvPr/>
        </p:nvSpPr>
        <p:spPr>
          <a:xfrm>
            <a:off x="6437376" y="4434840"/>
            <a:ext cx="5020056" cy="160020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11월 </a:t>
            </a:r>
            <a:r>
              <a:rPr lang="en-US" sz="1200" dirty="0">
                <a:solidFill>
                  <a:srgbClr val="14142B"/>
                </a:solidFill>
              </a:rPr>
              <a:t>6</a:t>
            </a:r>
            <a:r>
              <a:rPr lang="ko-KR" altLang="en-US" sz="1200" dirty="0">
                <a:solidFill>
                  <a:srgbClr val="14142B"/>
                </a:solidFill>
                <a:latin typeface="Malgun Gothic" pitchFamily="34" charset="0"/>
                <a:ea typeface="Malgun Gothic" pitchFamily="34" charset="-122"/>
                <a:cs typeface="Malgun Gothic" pitchFamily="34" charset="-120"/>
              </a:rPr>
              <a:t>일 </a:t>
            </a:r>
            <a:r>
              <a:rPr lang="en-US" sz="1200" dirty="0">
                <a:solidFill>
                  <a:srgbClr val="14142B"/>
                </a:solidFill>
              </a:rPr>
              <a:t>(</a:t>
            </a:r>
            <a:r>
              <a:rPr lang="ko-KR" altLang="en-US" sz="1200" dirty="0">
                <a:solidFill>
                  <a:srgbClr val="14142B"/>
                </a:solidFill>
                <a:latin typeface="Malgun Gothic" pitchFamily="34" charset="0"/>
                <a:ea typeface="Malgun Gothic" pitchFamily="34" charset="-122"/>
                <a:cs typeface="Malgun Gothic" pitchFamily="34" charset="-120"/>
              </a:rPr>
              <a:t>금</a:t>
            </a:r>
            <a:r>
              <a:rPr lang="en-US" sz="1200" dirty="0">
                <a:solidFill>
                  <a:srgbClr val="14142B"/>
                </a:solidFill>
              </a:rPr>
              <a:t>) · </a:t>
            </a:r>
            <a:r>
              <a:rPr lang="ko-KR" altLang="en-US" sz="1200" dirty="0">
                <a:solidFill>
                  <a:srgbClr val="14142B"/>
                </a:solidFill>
                <a:latin typeface="Malgun Gothic" pitchFamily="34" charset="0"/>
                <a:ea typeface="Malgun Gothic" pitchFamily="34" charset="-122"/>
                <a:cs typeface="Malgun Gothic" pitchFamily="34" charset="-120"/>
              </a:rPr>
              <a:t>저녁 </a:t>
            </a:r>
            <a:r>
              <a:rPr lang="en-US" sz="1200" dirty="0">
                <a:solidFill>
                  <a:srgbClr val="14142B"/>
                </a:solidFill>
              </a:rPr>
              <a:t>7</a:t>
            </a:r>
            <a:r>
              <a:rPr lang="ko-KR" altLang="en-US" sz="1200" dirty="0">
                <a:solidFill>
                  <a:srgbClr val="14142B"/>
                </a:solidFill>
                <a:latin typeface="Malgun Gothic" pitchFamily="34" charset="0"/>
                <a:ea typeface="Malgun Gothic" pitchFamily="34" charset="-122"/>
                <a:cs typeface="Malgun Gothic" pitchFamily="34" charset="-120"/>
              </a:rPr>
              <a:t>시 </a:t>
            </a:r>
            <a:r>
              <a:rPr lang="en-US" sz="1200" dirty="0">
                <a:solidFill>
                  <a:srgbClr val="14142B"/>
                </a:solidFill>
              </a:rPr>
              <a:t>· </a:t>
            </a:r>
            <a:r>
              <a:rPr lang="ko-KR" altLang="en-US" sz="1200" dirty="0">
                <a:solidFill>
                  <a:srgbClr val="14142B"/>
                </a:solidFill>
                <a:latin typeface="Malgun Gothic" pitchFamily="34" charset="0"/>
                <a:ea typeface="Malgun Gothic" pitchFamily="34" charset="-122"/>
                <a:cs typeface="Malgun Gothic" pitchFamily="34" charset="-120"/>
              </a:rPr>
              <a:t>카페 서울</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맞지 않는 것을 고르십시오</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① 지수 씨 생일이에요</a:t>
            </a:r>
            <a:r>
              <a:rPr lang="en-US" sz="1200" dirty="0">
                <a:solidFill>
                  <a:srgbClr val="14142B"/>
                </a:solidFill>
              </a:rPr>
              <a:t>.</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② 십일월 육 일이에요</a:t>
            </a:r>
            <a:r>
              <a:rPr lang="en-US" sz="1200" dirty="0">
                <a:solidFill>
                  <a:srgbClr val="14142B"/>
                </a:solidFill>
              </a:rPr>
              <a:t>.</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③ 금요일이에요</a:t>
            </a:r>
            <a:r>
              <a:rPr lang="en-US" sz="1200" dirty="0">
                <a:solidFill>
                  <a:srgbClr val="14142B"/>
                </a:solidFill>
              </a:rPr>
              <a:t>.</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④ 오전 일곱 시예요</a:t>
            </a:r>
            <a:r>
              <a:rPr lang="en-US" sz="1200" dirty="0">
                <a:solidFill>
                  <a:srgbClr val="14142B"/>
                </a:solidFill>
              </a:rPr>
              <a:t>.</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Quiz 2 · respuestas</a:t>
            </a:r>
            <a:r>
              <a:rPr lang="en-US" sz="1500" b="1" i="1" dirty="0">
                <a:solidFill>
                  <a:srgbClr val="8A8DA0"/>
                </a:solidFill>
              </a:rPr>
              <a:t>   Quiz 2 · answers</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Revisa tus respuestas (clic para ver cada una)</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4898989"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La hora 7:30 en 한글</a:t>
            </a:r>
            <a:endParaRPr lang="en-US" sz="2400" dirty="0"/>
          </a:p>
        </p:txBody>
      </p:sp>
      <p:sp>
        <p:nvSpPr>
          <p:cNvPr id="7" name="rev_0_caja"/>
          <p:cNvSpPr/>
          <p:nvPr/>
        </p:nvSpPr>
        <p:spPr>
          <a:xfrm>
            <a:off x="6316309" y="2002536"/>
            <a:ext cx="5324003" cy="521208"/>
          </a:xfrm>
          <a:prstGeom prst="roundRect">
            <a:avLst>
              <a:gd name="adj" fmla="val 21053"/>
            </a:avLst>
          </a:prstGeom>
          <a:solidFill>
            <a:srgbClr val="4236F6"/>
          </a:solidFill>
          <a:ln w="12700">
            <a:solidFill>
              <a:srgbClr val="4236F6"/>
            </a:solidFill>
            <a:prstDash val="solid"/>
          </a:ln>
        </p:spPr>
      </p:sp>
      <p:sp>
        <p:nvSpPr>
          <p:cNvPr id="8" name="rev_0_txt"/>
          <p:cNvSpPr txBox="1"/>
          <p:nvPr/>
        </p:nvSpPr>
        <p:spPr>
          <a:xfrm>
            <a:off x="6407749" y="2002536"/>
            <a:ext cx="5141123"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일곱 시 삼십 분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일곱 시 반</a:t>
            </a:r>
            <a:endParaRPr lang="en-US" sz="22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688336"/>
            <a:ext cx="4898989" cy="594360"/>
          </a:xfrm>
          <a:prstGeom prst="rect">
            <a:avLst/>
          </a:prstGeom>
          <a:noFill/>
          <a:ln/>
        </p:spPr>
        <p:txBody>
          <a:bodyPr wrap="square" lIns="0" tIns="0" rIns="0" bIns="0" rtlCol="0" anchor="ctr">
            <a:normAutofit/>
          </a:bodyPr>
          <a:lstStyle/>
          <a:p>
            <a:pPr marL="0" indent="0" eaLnBrk="1">
              <a:buNone/>
            </a:pPr>
            <a:r>
              <a:rPr lang="ko-KR" altLang="en-US" sz="2000" dirty="0">
                <a:solidFill>
                  <a:srgbClr val="14142B"/>
                </a:solidFill>
                <a:latin typeface="Malgun Gothic" pitchFamily="34" charset="0"/>
                <a:ea typeface="Malgun Gothic" pitchFamily="34" charset="-122"/>
                <a:cs typeface="Malgun Gothic" pitchFamily="34" charset="-120"/>
              </a:rPr>
              <a:t>Tu amiga tiene 20 años: ___ 살</a:t>
            </a:r>
            <a:endParaRPr lang="en-US" sz="2000" dirty="0"/>
          </a:p>
        </p:txBody>
      </p:sp>
      <p:sp>
        <p:nvSpPr>
          <p:cNvPr id="12" name="rev_1_caja"/>
          <p:cNvSpPr/>
          <p:nvPr/>
        </p:nvSpPr>
        <p:spPr>
          <a:xfrm>
            <a:off x="6316309" y="2724912"/>
            <a:ext cx="5324003" cy="521208"/>
          </a:xfrm>
          <a:prstGeom prst="roundRect">
            <a:avLst>
              <a:gd name="adj" fmla="val 21053"/>
            </a:avLst>
          </a:prstGeom>
          <a:solidFill>
            <a:srgbClr val="4236F6"/>
          </a:solidFill>
          <a:ln w="12700">
            <a:solidFill>
              <a:srgbClr val="4236F6"/>
            </a:solidFill>
            <a:prstDash val="solid"/>
          </a:ln>
        </p:spPr>
      </p:sp>
      <p:sp>
        <p:nvSpPr>
          <p:cNvPr id="13" name="rev_1_txt"/>
          <p:cNvSpPr txBox="1"/>
          <p:nvPr/>
        </p:nvSpPr>
        <p:spPr>
          <a:xfrm>
            <a:off x="6407749" y="2724912"/>
            <a:ext cx="5141123"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스무 살 </a:t>
            </a:r>
            <a:r>
              <a:rPr lang="en-US" sz="2200" b="1" dirty="0">
                <a:solidFill>
                  <a:srgbClr val="FFFFFF"/>
                </a:solidFill>
              </a:rPr>
              <a:t>(no </a:t>
            </a:r>
            <a:r>
              <a:rPr lang="ko-KR" altLang="en-US" sz="2200" b="1" dirty="0">
                <a:solidFill>
                  <a:srgbClr val="FFFFFF"/>
                </a:solidFill>
                <a:latin typeface="Malgun Gothic" pitchFamily="34" charset="0"/>
                <a:ea typeface="Malgun Gothic" pitchFamily="34" charset="-122"/>
                <a:cs typeface="Malgun Gothic" pitchFamily="34" charset="-120"/>
              </a:rPr>
              <a:t>스물 살</a:t>
            </a:r>
            <a:r>
              <a:rPr lang="en-US" sz="2200" b="1" dirty="0">
                <a:solidFill>
                  <a:srgbClr val="FFFFFF"/>
                </a:solidFill>
              </a:rPr>
              <a:t>)</a:t>
            </a:r>
            <a:endParaRPr lang="en-US" sz="22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410712"/>
            <a:ext cx="4898989"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6월 </a:t>
            </a:r>
            <a:r>
              <a:rPr lang="en-US" sz="2400" dirty="0">
                <a:solidFill>
                  <a:srgbClr val="14142B"/>
                </a:solidFill>
              </a:rPr>
              <a:t>15</a:t>
            </a:r>
            <a:r>
              <a:rPr lang="ko-KR" altLang="en-US" sz="2400" dirty="0">
                <a:solidFill>
                  <a:srgbClr val="14142B"/>
                </a:solidFill>
                <a:latin typeface="Malgun Gothic" pitchFamily="34" charset="0"/>
                <a:ea typeface="Malgun Gothic" pitchFamily="34" charset="-122"/>
                <a:cs typeface="Malgun Gothic" pitchFamily="34" charset="-120"/>
              </a:rPr>
              <a:t>일</a:t>
            </a:r>
            <a:endParaRPr lang="en-US" sz="2400" dirty="0"/>
          </a:p>
        </p:txBody>
      </p:sp>
      <p:sp>
        <p:nvSpPr>
          <p:cNvPr id="17" name="rev_2_caja"/>
          <p:cNvSpPr/>
          <p:nvPr/>
        </p:nvSpPr>
        <p:spPr>
          <a:xfrm>
            <a:off x="6316309" y="3447288"/>
            <a:ext cx="5324003" cy="521208"/>
          </a:xfrm>
          <a:prstGeom prst="roundRect">
            <a:avLst>
              <a:gd name="adj" fmla="val 21053"/>
            </a:avLst>
          </a:prstGeom>
          <a:solidFill>
            <a:srgbClr val="4236F6"/>
          </a:solidFill>
          <a:ln w="12700">
            <a:solidFill>
              <a:srgbClr val="4236F6"/>
            </a:solidFill>
            <a:prstDash val="solid"/>
          </a:ln>
        </p:spPr>
      </p:sp>
      <p:sp>
        <p:nvSpPr>
          <p:cNvPr id="18" name="rev_2_txt"/>
          <p:cNvSpPr txBox="1"/>
          <p:nvPr/>
        </p:nvSpPr>
        <p:spPr>
          <a:xfrm>
            <a:off x="6407749" y="3447288"/>
            <a:ext cx="5141123"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유월 십오 일</a:t>
            </a:r>
            <a:endParaRPr lang="en-US" sz="2200" dirty="0"/>
          </a:p>
        </p:txBody>
      </p:sp>
      <p:sp>
        <p:nvSpPr>
          <p:cNvPr id="19"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133088"/>
            <a:ext cx="4898989"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몇 시에 자요</a:t>
            </a:r>
            <a:r>
              <a:rPr lang="en-US" sz="2400" dirty="0">
                <a:solidFill>
                  <a:srgbClr val="14142B"/>
                </a:solidFill>
              </a:rPr>
              <a:t>?</a:t>
            </a:r>
            <a:endParaRPr lang="en-US" sz="2400" dirty="0"/>
          </a:p>
        </p:txBody>
      </p:sp>
      <p:sp>
        <p:nvSpPr>
          <p:cNvPr id="22" name="rev_3_caja"/>
          <p:cNvSpPr/>
          <p:nvPr/>
        </p:nvSpPr>
        <p:spPr>
          <a:xfrm>
            <a:off x="6316309" y="4169664"/>
            <a:ext cx="5324003" cy="521208"/>
          </a:xfrm>
          <a:prstGeom prst="roundRect">
            <a:avLst>
              <a:gd name="adj" fmla="val 21053"/>
            </a:avLst>
          </a:prstGeom>
          <a:solidFill>
            <a:srgbClr val="4236F6"/>
          </a:solidFill>
          <a:ln w="12700">
            <a:solidFill>
              <a:srgbClr val="4236F6"/>
            </a:solidFill>
            <a:prstDash val="solid"/>
          </a:ln>
        </p:spPr>
      </p:sp>
      <p:sp>
        <p:nvSpPr>
          <p:cNvPr id="23" name="rev_3_txt"/>
          <p:cNvSpPr txBox="1"/>
          <p:nvPr/>
        </p:nvSpPr>
        <p:spPr>
          <a:xfrm>
            <a:off x="6407749" y="4169664"/>
            <a:ext cx="5141123" cy="521208"/>
          </a:xfrm>
          <a:prstGeom prst="rect">
            <a:avLst/>
          </a:prstGeom>
          <a:noFill/>
          <a:ln/>
        </p:spPr>
        <p:txBody>
          <a:bodyPr wrap="square" lIns="0" tIns="0" rIns="0" bIns="0" rtlCol="0" anchor="ctr">
            <a:normAutofit/>
          </a:bodyPr>
          <a:lstStyle/>
          <a:p>
            <a:pPr marL="0" indent="0" algn="ctr" eaLnBrk="1">
              <a:buNone/>
            </a:pPr>
            <a:r>
              <a:rPr lang="ko-KR" altLang="en-US" sz="1500" b="1" dirty="0">
                <a:solidFill>
                  <a:srgbClr val="FFFFFF"/>
                </a:solidFill>
                <a:latin typeface="Malgun Gothic" pitchFamily="34" charset="0"/>
                <a:ea typeface="Malgun Gothic" pitchFamily="34" charset="-122"/>
                <a:cs typeface="Malgun Gothic" pitchFamily="34" charset="-120"/>
              </a:rPr>
              <a:t>___ 시에 자요 </a:t>
            </a:r>
            <a:r>
              <a:rPr lang="en-US" sz="1500" b="1" dirty="0">
                <a:solidFill>
                  <a:srgbClr val="FFFFFF"/>
                </a:solidFill>
              </a:rPr>
              <a:t>(p. ej., </a:t>
            </a:r>
            <a:r>
              <a:rPr lang="ko-KR" altLang="en-US" sz="1500" b="1" dirty="0">
                <a:solidFill>
                  <a:srgbClr val="FFFFFF"/>
                </a:solidFill>
                <a:latin typeface="Malgun Gothic" pitchFamily="34" charset="0"/>
                <a:ea typeface="Malgun Gothic" pitchFamily="34" charset="-122"/>
                <a:cs typeface="Malgun Gothic" pitchFamily="34" charset="-120"/>
              </a:rPr>
              <a:t>열한 시에 자요 </a:t>
            </a:r>
            <a:r>
              <a:rPr lang="en-US" sz="1500" b="1" dirty="0">
                <a:solidFill>
                  <a:srgbClr val="FFFFFF"/>
                </a:solidFill>
              </a:rPr>
              <a:t>· </a:t>
            </a:r>
            <a:r>
              <a:rPr lang="ko-KR" altLang="en-US" sz="1500" b="1" dirty="0">
                <a:solidFill>
                  <a:srgbClr val="FFFFFF"/>
                </a:solidFill>
                <a:latin typeface="Malgun Gothic" pitchFamily="34" charset="0"/>
                <a:ea typeface="Malgun Gothic" pitchFamily="34" charset="-122"/>
                <a:cs typeface="Malgun Gothic" pitchFamily="34" charset="-120"/>
              </a:rPr>
              <a:t>열두 시에 자요</a:t>
            </a:r>
            <a:r>
              <a:rPr lang="en-US" sz="1500" b="1" dirty="0">
                <a:solidFill>
                  <a:srgbClr val="FFFFFF"/>
                </a:solidFill>
              </a:rPr>
              <a:t>)</a:t>
            </a:r>
            <a:endParaRPr lang="en-US" sz="1500" dirty="0"/>
          </a:p>
        </p:txBody>
      </p:sp>
      <p:sp>
        <p:nvSpPr>
          <p:cNvPr id="24"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4855464"/>
            <a:ext cx="4898989" cy="594360"/>
          </a:xfrm>
          <a:prstGeom prst="rect">
            <a:avLst/>
          </a:prstGeom>
          <a:noFill/>
          <a:ln/>
        </p:spPr>
        <p:txBody>
          <a:bodyPr wrap="square" lIns="0" tIns="0" rIns="0" bIns="0" rtlCol="0" anchor="ctr">
            <a:normAutofit/>
          </a:bodyPr>
          <a:lstStyle/>
          <a:p>
            <a:pPr marL="0" indent="0" eaLnBrk="1">
              <a:buNone/>
            </a:pPr>
            <a:r>
              <a:rPr lang="ko-KR" altLang="en-US" sz="1900" dirty="0">
                <a:solidFill>
                  <a:srgbClr val="14142B"/>
                </a:solidFill>
                <a:latin typeface="Malgun Gothic" pitchFamily="34" charset="0"/>
                <a:ea typeface="Malgun Gothic" pitchFamily="34" charset="-122"/>
                <a:cs typeface="Malgun Gothic" pitchFamily="34" charset="-120"/>
              </a:rPr>
              <a:t>지수 생일 파티</a:t>
            </a:r>
            <a:r>
              <a:rPr lang="en-US" sz="1900" dirty="0">
                <a:solidFill>
                  <a:srgbClr val="14142B"/>
                </a:solidFill>
              </a:rPr>
              <a:t>: la que NO es correcta</a:t>
            </a:r>
            <a:endParaRPr lang="en-US" sz="1900" dirty="0"/>
          </a:p>
        </p:txBody>
      </p:sp>
      <p:sp>
        <p:nvSpPr>
          <p:cNvPr id="27" name="rev_4_caja"/>
          <p:cNvSpPr/>
          <p:nvPr/>
        </p:nvSpPr>
        <p:spPr>
          <a:xfrm>
            <a:off x="6316309" y="4892040"/>
            <a:ext cx="5324003" cy="521208"/>
          </a:xfrm>
          <a:prstGeom prst="roundRect">
            <a:avLst>
              <a:gd name="adj" fmla="val 21053"/>
            </a:avLst>
          </a:prstGeom>
          <a:solidFill>
            <a:srgbClr val="4236F6"/>
          </a:solidFill>
          <a:ln w="12700">
            <a:solidFill>
              <a:srgbClr val="4236F6"/>
            </a:solidFill>
            <a:prstDash val="solid"/>
          </a:ln>
        </p:spPr>
      </p:sp>
      <p:sp>
        <p:nvSpPr>
          <p:cNvPr id="28" name="rev_4_txt"/>
          <p:cNvSpPr txBox="1"/>
          <p:nvPr/>
        </p:nvSpPr>
        <p:spPr>
          <a:xfrm>
            <a:off x="6407749" y="4892040"/>
            <a:ext cx="5141123" cy="521208"/>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④ 오전 일곱 시예요 </a:t>
            </a:r>
            <a:r>
              <a:rPr lang="en-US" sz="1800" b="1" dirty="0">
                <a:solidFill>
                  <a:srgbClr val="FFFFFF"/>
                </a:solidFill>
              </a:rPr>
              <a:t>(</a:t>
            </a:r>
            <a:r>
              <a:rPr lang="ko-KR" altLang="en-US" sz="1800" b="1" dirty="0">
                <a:solidFill>
                  <a:srgbClr val="FFFFFF"/>
                </a:solidFill>
                <a:latin typeface="Malgun Gothic" pitchFamily="34" charset="0"/>
                <a:ea typeface="Malgun Gothic" pitchFamily="34" charset="-122"/>
                <a:cs typeface="Malgun Gothic" pitchFamily="34" charset="-120"/>
              </a:rPr>
              <a:t>저녁 </a:t>
            </a:r>
            <a:r>
              <a:rPr lang="en-US" sz="1800" b="1" dirty="0">
                <a:solidFill>
                  <a:srgbClr val="FFFFFF"/>
                </a:solidFill>
              </a:rPr>
              <a:t>7</a:t>
            </a:r>
            <a:r>
              <a:rPr lang="ko-KR" altLang="en-US" sz="1800" b="1" dirty="0">
                <a:solidFill>
                  <a:srgbClr val="FFFFFF"/>
                </a:solidFill>
                <a:latin typeface="Malgun Gothic" pitchFamily="34" charset="0"/>
                <a:ea typeface="Malgun Gothic" pitchFamily="34" charset="-122"/>
                <a:cs typeface="Malgun Gothic" pitchFamily="34" charset="-120"/>
              </a:rPr>
              <a:t>시 </a:t>
            </a:r>
            <a:r>
              <a:rPr lang="en-US" sz="1800" b="1" dirty="0">
                <a:solidFill>
                  <a:srgbClr val="FFFFFF"/>
                </a:solidFill>
              </a:rPr>
              <a:t>no es </a:t>
            </a:r>
            <a:r>
              <a:rPr lang="ko-KR" altLang="en-US" sz="1800" b="1" dirty="0">
                <a:solidFill>
                  <a:srgbClr val="FFFFFF"/>
                </a:solidFill>
                <a:latin typeface="Malgun Gothic" pitchFamily="34" charset="0"/>
                <a:ea typeface="Malgun Gothic" pitchFamily="34" charset="-122"/>
                <a:cs typeface="Malgun Gothic" pitchFamily="34" charset="-120"/>
              </a:rPr>
              <a:t>오전</a:t>
            </a:r>
            <a:r>
              <a:rPr lang="en-US" sz="1800" b="1" dirty="0">
                <a:solidFill>
                  <a:srgbClr val="FFFFFF"/>
                </a:solidFill>
              </a:rPr>
              <a:t>)</a:t>
            </a:r>
            <a:endParaRPr lang="en-US" sz="1800" dirty="0"/>
          </a:p>
        </p:txBody>
      </p:sp>
      <p:sp>
        <p:nvSpPr>
          <p:cNvPr id="29"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0"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1" name="Text 29"/>
          <p:cNvSpPr txBox="1"/>
          <p:nvPr/>
        </p:nvSpPr>
        <p:spPr>
          <a:xfrm>
            <a:off x="1188720" y="5577840"/>
            <a:ext cx="4898989" cy="594360"/>
          </a:xfrm>
          <a:prstGeom prst="rect">
            <a:avLst/>
          </a:prstGeom>
          <a:noFill/>
          <a:ln/>
        </p:spPr>
        <p:txBody>
          <a:bodyPr wrap="square" lIns="0" tIns="0" rIns="0" bIns="0" rtlCol="0" anchor="ctr">
            <a:normAutofit/>
          </a:bodyPr>
          <a:lstStyle/>
          <a:p>
            <a:pPr marL="0" indent="0" eaLnBrk="1">
              <a:buNone/>
            </a:pPr>
            <a:r>
              <a:rPr lang="en-US" sz="1900" dirty="0">
                <a:solidFill>
                  <a:srgbClr val="14142B"/>
                </a:solidFill>
              </a:rPr>
              <a:t>Hoja 2 · errores frecuentes (sin nombres)</a:t>
            </a:r>
            <a:endParaRPr lang="en-US" sz="1900" dirty="0"/>
          </a:p>
        </p:txBody>
      </p:sp>
      <p:sp>
        <p:nvSpPr>
          <p:cNvPr id="32" name="rev_5_caja"/>
          <p:cNvSpPr/>
          <p:nvPr/>
        </p:nvSpPr>
        <p:spPr>
          <a:xfrm>
            <a:off x="6316309" y="5614416"/>
            <a:ext cx="5324003" cy="521208"/>
          </a:xfrm>
          <a:prstGeom prst="roundRect">
            <a:avLst>
              <a:gd name="adj" fmla="val 21053"/>
            </a:avLst>
          </a:prstGeom>
          <a:solidFill>
            <a:srgbClr val="4236F6"/>
          </a:solidFill>
          <a:ln w="12700">
            <a:solidFill>
              <a:srgbClr val="4236F6"/>
            </a:solidFill>
            <a:prstDash val="solid"/>
          </a:ln>
        </p:spPr>
      </p:sp>
      <p:sp>
        <p:nvSpPr>
          <p:cNvPr id="33" name="rev_5_txt"/>
          <p:cNvSpPr txBox="1"/>
          <p:nvPr/>
        </p:nvSpPr>
        <p:spPr>
          <a:xfrm>
            <a:off x="6407749" y="5614416"/>
            <a:ext cx="5141123" cy="521208"/>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FFFFFF"/>
                </a:solidFill>
                <a:latin typeface="Malgun Gothic" pitchFamily="34" charset="0"/>
                <a:ea typeface="Malgun Gothic" pitchFamily="34" charset="-122"/>
                <a:cs typeface="Malgun Gothic" pitchFamily="34" charset="-120"/>
              </a:rPr>
              <a:t>스물 살</a:t>
            </a:r>
            <a:r>
              <a:rPr lang="en-US" sz="1600" b="1" dirty="0">
                <a:solidFill>
                  <a:srgbClr val="FFFFFF"/>
                </a:solidFill>
              </a:rPr>
              <a:t>* → </a:t>
            </a:r>
            <a:r>
              <a:rPr lang="ko-KR" altLang="en-US" sz="1600" b="1" dirty="0">
                <a:solidFill>
                  <a:srgbClr val="FFFFFF"/>
                </a:solidFill>
                <a:latin typeface="Malgun Gothic" pitchFamily="34" charset="0"/>
                <a:ea typeface="Malgun Gothic" pitchFamily="34" charset="-122"/>
                <a:cs typeface="Malgun Gothic" pitchFamily="34" charset="-120"/>
              </a:rPr>
              <a:t>스무 살 </a:t>
            </a:r>
            <a:r>
              <a:rPr lang="en-US" sz="1600" b="1" dirty="0">
                <a:solidFill>
                  <a:srgbClr val="FFFFFF"/>
                </a:solidFill>
              </a:rPr>
              <a:t>· </a:t>
            </a:r>
            <a:r>
              <a:rPr lang="ko-KR" altLang="en-US" sz="1600" b="1" dirty="0">
                <a:solidFill>
                  <a:srgbClr val="FFFFFF"/>
                </a:solidFill>
                <a:latin typeface="Malgun Gothic" pitchFamily="34" charset="0"/>
                <a:ea typeface="Malgun Gothic" pitchFamily="34" charset="-122"/>
                <a:cs typeface="Malgun Gothic" pitchFamily="34" charset="-120"/>
              </a:rPr>
              <a:t>육월</a:t>
            </a:r>
            <a:r>
              <a:rPr lang="en-US" sz="1600" b="1" dirty="0">
                <a:solidFill>
                  <a:srgbClr val="FFFFFF"/>
                </a:solidFill>
              </a:rPr>
              <a:t>* → </a:t>
            </a:r>
            <a:r>
              <a:rPr lang="ko-KR" altLang="en-US" sz="1600" b="1" dirty="0">
                <a:solidFill>
                  <a:srgbClr val="FFFFFF"/>
                </a:solidFill>
                <a:latin typeface="Malgun Gothic" pitchFamily="34" charset="0"/>
                <a:ea typeface="Malgun Gothic" pitchFamily="34" charset="-122"/>
                <a:cs typeface="Malgun Gothic" pitchFamily="34" charset="-120"/>
              </a:rPr>
              <a:t>유월 </a:t>
            </a:r>
            <a:r>
              <a:rPr lang="en-US" sz="1600" b="1" dirty="0">
                <a:solidFill>
                  <a:srgbClr val="FFFFFF"/>
                </a:solidFill>
              </a:rPr>
              <a:t>· </a:t>
            </a:r>
            <a:r>
              <a:rPr lang="ko-KR" altLang="en-US" sz="1600" b="1" dirty="0">
                <a:solidFill>
                  <a:srgbClr val="FFFFFF"/>
                </a:solidFill>
                <a:latin typeface="Malgun Gothic" pitchFamily="34" charset="0"/>
                <a:ea typeface="Malgun Gothic" pitchFamily="34" charset="-122"/>
                <a:cs typeface="Malgun Gothic" pitchFamily="34" charset="-120"/>
              </a:rPr>
              <a:t>몇일</a:t>
            </a:r>
            <a:r>
              <a:rPr lang="en-US" sz="1600" b="1" dirty="0">
                <a:solidFill>
                  <a:srgbClr val="FFFFFF"/>
                </a:solidFill>
              </a:rPr>
              <a:t>* → </a:t>
            </a:r>
            <a:r>
              <a:rPr lang="ko-KR" altLang="en-US" sz="1600" b="1" dirty="0">
                <a:solidFill>
                  <a:srgbClr val="FFFFFF"/>
                </a:solidFill>
                <a:latin typeface="Malgun Gothic" pitchFamily="34" charset="0"/>
                <a:ea typeface="Malgun Gothic" pitchFamily="34" charset="-122"/>
                <a:cs typeface="Malgun Gothic" pitchFamily="34" charset="-120"/>
              </a:rPr>
              <a:t>며칠</a:t>
            </a:r>
            <a:endParaRPr lang="en-US" sz="16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Hoy vas a poder decir…</a:t>
            </a:r>
            <a:r>
              <a:rPr lang="en-US" sz="1500" b="1" i="1" dirty="0">
                <a:solidFill>
                  <a:srgbClr val="8A8DA0"/>
                </a:solidFill>
              </a:rPr>
              <a:t>   Today you'll be able to say…</a:t>
            </a:r>
            <a:endParaRPr lang="en-US" sz="3000" dirty="0"/>
          </a:p>
        </p:txBody>
      </p:sp>
      <p:graphicFrame>
        <p:nvGraphicFramePr>
          <p:cNvPr id="5" name="tabla"/>
          <p:cNvGraphicFramePr>
            <a:graphicFrameLocks noGrp="1"/>
          </p:cNvGraphicFramePr>
          <p:nvPr>
            <p:extLst>
              <p:ext uri="{D42A27DB-BD31-4B8C-83A1-F6EECF244321}">
                <p14:modId xmlns:p14="http://schemas.microsoft.com/office/powerpoint/2010/main" val="3462648478"/>
              </p:ext>
            </p:extLst>
          </p:nvPr>
        </p:nvGraphicFramePr>
        <p:xfrm>
          <a:off x="548640" y="1325880"/>
          <a:ext cx="11091672" cy="91440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566928">
                <a:tc>
                  <a:txBody>
                    <a:bodyPr/>
                    <a:lstStyle/>
                    <a:p>
                      <a:pPr marL="0" indent="0" eaLnBrk="1">
                        <a:buNone/>
                      </a:pPr>
                      <a:r>
                        <a:rPr lang="en-US" sz="1600" b="1" dirty="0">
                          <a:solidFill>
                            <a:srgbClr val="FFFFFF"/>
                          </a:solidFill>
                        </a:rPr>
                        <a:t>Coreano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Español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보통 일곱 시쯤 일어나요</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씻고 아침을 먹어요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Normalmente me levanto como a las siete. Me lavo y desayuno.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아홉 시에 출근해요</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회사에서 일해요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Entro a trabajar a las nueve. Trabajo en la oficina.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요즘 너무 바빠요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Estos días ando súper ocupado/a.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오늘 산티아고는 더워요</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서울은 추워요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Hoy en Santiago hace calor. En Seúl hace frío.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저는 카밀라입니다</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회사원입니다</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반갑습니다</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Soy Camila. Soy empleada. Encantada. (presentación formal)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Mi día (fotos)</a:t>
            </a:r>
            <a:r>
              <a:rPr lang="en-US" sz="1500" b="1" i="1" dirty="0">
                <a:solidFill>
                  <a:srgbClr val="8A8DA0"/>
                </a:solidFill>
              </a:rPr>
              <a:t>   My day (photos)</a:t>
            </a:r>
            <a:endParaRPr lang="en-US" sz="3000" dirty="0"/>
          </a:p>
        </p:txBody>
      </p:sp>
      <p:sp>
        <p:nvSpPr>
          <p:cNvPr id="3" name="Text 1"/>
          <p:cNvSpPr txBox="1"/>
          <p:nvPr/>
        </p:nvSpPr>
        <p:spPr>
          <a:xfrm>
            <a:off x="548640" y="1325880"/>
            <a:ext cx="566928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Mira, escucha y escribe en el chat, en español, qué hace Jay</a:t>
            </a:r>
            <a:endParaRPr lang="en-US" sz="1800" dirty="0"/>
          </a:p>
        </p:txBody>
      </p:sp>
      <p:sp>
        <p:nvSpPr>
          <p:cNvPr id="4" name="lista"/>
          <p:cNvSpPr txBox="1"/>
          <p:nvPr/>
        </p:nvSpPr>
        <p:spPr>
          <a:xfrm>
            <a:off x="548640" y="1965960"/>
            <a:ext cx="566928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400" dirty="0">
                <a:solidFill>
                  <a:srgbClr val="14142B"/>
                </a:solidFill>
              </a:rPr>
              <a:t>1 · 7:00</a:t>
            </a:r>
            <a:endParaRPr lang="en-US" sz="2400" dirty="0"/>
          </a:p>
          <a:p>
            <a:pPr marL="228600" indent="-228600" eaLnBrk="1">
              <a:spcAft>
                <a:spcPts val="800"/>
              </a:spcAft>
              <a:buSzPct val="100000"/>
              <a:buChar char="•"/>
            </a:pPr>
            <a:r>
              <a:rPr lang="en-US" sz="2400" dirty="0">
                <a:solidFill>
                  <a:srgbClr val="14142B"/>
                </a:solidFill>
              </a:rPr>
              <a:t>2 · 7:30</a:t>
            </a:r>
            <a:endParaRPr lang="en-US" sz="2400" dirty="0"/>
          </a:p>
          <a:p>
            <a:pPr marL="228600" indent="-228600" eaLnBrk="1">
              <a:spcAft>
                <a:spcPts val="800"/>
              </a:spcAft>
              <a:buSzPct val="100000"/>
              <a:buChar char="•"/>
            </a:pPr>
            <a:r>
              <a:rPr lang="en-US" sz="2400" dirty="0">
                <a:solidFill>
                  <a:srgbClr val="14142B"/>
                </a:solidFill>
              </a:rPr>
              <a:t>3 · 9:00</a:t>
            </a:r>
            <a:endParaRPr lang="en-US" sz="2400" dirty="0"/>
          </a:p>
          <a:p>
            <a:pPr marL="228600" indent="-228600" eaLnBrk="1">
              <a:spcAft>
                <a:spcPts val="800"/>
              </a:spcAft>
              <a:buSzPct val="100000"/>
              <a:buChar char="•"/>
            </a:pPr>
            <a:r>
              <a:rPr lang="en-US" sz="2400" dirty="0">
                <a:solidFill>
                  <a:srgbClr val="14142B"/>
                </a:solidFill>
              </a:rPr>
              <a:t>4 · 18:00</a:t>
            </a:r>
            <a:endParaRPr lang="en-US" sz="2400" dirty="0"/>
          </a:p>
          <a:p>
            <a:pPr marL="228600" indent="-228600" eaLnBrk="1">
              <a:spcAft>
                <a:spcPts val="800"/>
              </a:spcAft>
              <a:buSzPct val="100000"/>
              <a:buChar char="•"/>
            </a:pPr>
            <a:r>
              <a:rPr lang="en-US" sz="2400" dirty="0">
                <a:solidFill>
                  <a:srgbClr val="14142B"/>
                </a:solidFill>
              </a:rPr>
              <a:t>5 · 20:00</a:t>
            </a:r>
            <a:endParaRPr lang="en-US" sz="2400" dirty="0"/>
          </a:p>
          <a:p>
            <a:pPr marL="228600" indent="-228600" eaLnBrk="1">
              <a:spcAft>
                <a:spcPts val="800"/>
              </a:spcAft>
              <a:buSzPct val="100000"/>
              <a:buChar char="•"/>
            </a:pPr>
            <a:r>
              <a:rPr lang="en-US" sz="2400" dirty="0">
                <a:solidFill>
                  <a:srgbClr val="14142B"/>
                </a:solidFill>
              </a:rPr>
              <a:t>6 · 21:00</a:t>
            </a:r>
            <a:endParaRPr lang="en-US" sz="2400" dirty="0"/>
          </a:p>
        </p:txBody>
      </p:sp>
      <p:sp>
        <p:nvSpPr>
          <p:cNvPr id="5"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6" name="imagen" descr="C:\Users\Chingu\AppData\Local\Temp\claude\C--Users-Chingu-Desktop-ACADEMIASEULWEB\d4111e1b-5523-44ea-97b2-b1a1d9545b9e\scratchpad\decks\cache\img_4fb9ee438f826a11.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Mi día (frases)</a:t>
            </a:r>
            <a:r>
              <a:rPr lang="en-US" sz="1500" b="1" i="1" dirty="0">
                <a:solidFill>
                  <a:srgbClr val="8A8DA0"/>
                </a:solidFill>
              </a:rPr>
              <a:t>   My day (sentences)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에서 </a:t>
            </a:r>
            <a:r>
              <a:rPr lang="en-US" sz="1800" i="1" dirty="0">
                <a:solidFill>
                  <a:srgbClr val="4236F6"/>
                </a:solidFill>
              </a:rPr>
              <a:t>y </a:t>
            </a:r>
            <a:r>
              <a:rPr lang="ko-KR" altLang="en-US" sz="1800" i="1" dirty="0">
                <a:solidFill>
                  <a:srgbClr val="4236F6"/>
                </a:solidFill>
                <a:latin typeface="Malgun Gothic" pitchFamily="34" charset="0"/>
                <a:ea typeface="Malgun Gothic" pitchFamily="34" charset="-122"/>
                <a:cs typeface="Malgun Gothic" pitchFamily="34" charset="-120"/>
              </a:rPr>
              <a:t>쯤</a:t>
            </a:r>
            <a:r>
              <a:rPr lang="en-US" sz="1800" i="1" dirty="0">
                <a:solidFill>
                  <a:srgbClr val="4236F6"/>
                </a:solidFill>
              </a:rPr>
              <a:t>, destacados en azul</a:t>
            </a:r>
            <a:endParaRPr lang="en-US" sz="1800" dirty="0"/>
          </a:p>
        </p:txBody>
      </p:sp>
      <p:sp>
        <p:nvSpPr>
          <p:cNvPr id="4" name="card_0"/>
          <p:cNvSpPr/>
          <p:nvPr/>
        </p:nvSpPr>
        <p:spPr>
          <a:xfrm>
            <a:off x="548640"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img_d4399f7dc373d1ed.png"/>
          <p:cNvPicPr>
            <a:picLocks noChangeAspect="1"/>
          </p:cNvPicPr>
          <p:nvPr/>
        </p:nvPicPr>
        <p:blipFill>
          <a:blip r:embed="rId5"/>
          <a:stretch>
            <a:fillRect/>
          </a:stretch>
        </p:blipFill>
        <p:spPr>
          <a:xfrm>
            <a:off x="1832762" y="1984248"/>
            <a:ext cx="976579" cy="976579"/>
          </a:xfrm>
          <a:prstGeom prst="rect">
            <a:avLst/>
          </a:prstGeom>
        </p:spPr>
      </p:pic>
      <p:sp>
        <p:nvSpPr>
          <p:cNvPr id="6" name="Text 3"/>
          <p:cNvSpPr txBox="1"/>
          <p:nvPr/>
        </p:nvSpPr>
        <p:spPr>
          <a:xfrm>
            <a:off x="548640" y="2979115"/>
            <a:ext cx="3544824" cy="406908"/>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보통 일곱 시쯤 일어나요</a:t>
            </a:r>
            <a:r>
              <a:rPr lang="en-US" sz="1600" b="1" dirty="0">
                <a:solidFill>
                  <a:srgbClr val="4236F6"/>
                </a:solidFill>
              </a:rPr>
              <a:t>.</a:t>
            </a:r>
            <a:endParaRPr lang="en-US" sz="1600" dirty="0"/>
          </a:p>
        </p:txBody>
      </p:sp>
      <p:sp>
        <p:nvSpPr>
          <p:cNvPr id="7" name="Text 4"/>
          <p:cNvSpPr txBox="1"/>
          <p:nvPr/>
        </p:nvSpPr>
        <p:spPr>
          <a:xfrm>
            <a:off x="621792" y="3386023"/>
            <a:ext cx="3398520" cy="449885"/>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7:00 · Normalmente me levanto como a las siete.</a:t>
            </a:r>
            <a:endParaRPr lang="en-US" sz="1400" dirty="0"/>
          </a:p>
        </p:txBody>
      </p:sp>
      <p:sp>
        <p:nvSpPr>
          <p:cNvPr id="8" name="card_1"/>
          <p:cNvSpPr/>
          <p:nvPr/>
        </p:nvSpPr>
        <p:spPr>
          <a:xfrm>
            <a:off x="4322064"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9" name="dibujo_1" descr="C:\Users\Chingu\AppData\Local\Temp\claude\C--Users-Chingu-Desktop-ACADEMIASEULWEB\d4111e1b-5523-44ea-97b2-b1a1d9545b9e\scratchpad\decks\cache\img_3dc2e8a43f13aa0c.png"/>
          <p:cNvPicPr>
            <a:picLocks noChangeAspect="1"/>
          </p:cNvPicPr>
          <p:nvPr/>
        </p:nvPicPr>
        <p:blipFill>
          <a:blip r:embed="rId6"/>
          <a:stretch>
            <a:fillRect/>
          </a:stretch>
        </p:blipFill>
        <p:spPr>
          <a:xfrm>
            <a:off x="5606186" y="1984248"/>
            <a:ext cx="976579" cy="976579"/>
          </a:xfrm>
          <a:prstGeom prst="rect">
            <a:avLst/>
          </a:prstGeom>
        </p:spPr>
      </p:pic>
      <p:sp>
        <p:nvSpPr>
          <p:cNvPr id="10" name="Text 6"/>
          <p:cNvSpPr txBox="1"/>
          <p:nvPr/>
        </p:nvSpPr>
        <p:spPr>
          <a:xfrm>
            <a:off x="4322064" y="2979115"/>
            <a:ext cx="3544824" cy="406908"/>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씻고 아침을 먹어요</a:t>
            </a:r>
            <a:r>
              <a:rPr lang="en-US" sz="1600" b="1" dirty="0">
                <a:solidFill>
                  <a:srgbClr val="4236F6"/>
                </a:solidFill>
              </a:rPr>
              <a:t>.</a:t>
            </a:r>
            <a:endParaRPr lang="en-US" sz="1600" dirty="0"/>
          </a:p>
        </p:txBody>
      </p:sp>
      <p:sp>
        <p:nvSpPr>
          <p:cNvPr id="11" name="Text 7"/>
          <p:cNvSpPr txBox="1"/>
          <p:nvPr/>
        </p:nvSpPr>
        <p:spPr>
          <a:xfrm>
            <a:off x="4395216" y="338602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7:30 · Me lavo y desayuno.</a:t>
            </a:r>
            <a:endParaRPr lang="en-US" sz="1600" dirty="0"/>
          </a:p>
        </p:txBody>
      </p:sp>
      <p:pic>
        <p:nvPicPr>
          <p:cNvPr id="12"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7464552" y="1947672"/>
            <a:ext cx="310896" cy="310896"/>
          </a:xfrm>
          <a:prstGeom prst="rect">
            <a:avLst/>
          </a:prstGeom>
        </p:spPr>
      </p:pic>
      <p:sp>
        <p:nvSpPr>
          <p:cNvPr id="13" name="card_2"/>
          <p:cNvSpPr/>
          <p:nvPr/>
        </p:nvSpPr>
        <p:spPr>
          <a:xfrm>
            <a:off x="8095488"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4" name="dibujo_2" descr="C:\Users\Chingu\AppData\Local\Temp\claude\C--Users-Chingu-Desktop-ACADEMIASEULWEB\d4111e1b-5523-44ea-97b2-b1a1d9545b9e\scratchpad\decks\cache\img_6f4abd6d97cedbee.png"/>
          <p:cNvPicPr>
            <a:picLocks noChangeAspect="1"/>
          </p:cNvPicPr>
          <p:nvPr/>
        </p:nvPicPr>
        <p:blipFill>
          <a:blip r:embed="rId8"/>
          <a:stretch>
            <a:fillRect/>
          </a:stretch>
        </p:blipFill>
        <p:spPr>
          <a:xfrm>
            <a:off x="9379610" y="1984248"/>
            <a:ext cx="976579" cy="976579"/>
          </a:xfrm>
          <a:prstGeom prst="rect">
            <a:avLst/>
          </a:prstGeom>
        </p:spPr>
      </p:pic>
      <p:sp>
        <p:nvSpPr>
          <p:cNvPr id="15" name="Text 9"/>
          <p:cNvSpPr txBox="1"/>
          <p:nvPr/>
        </p:nvSpPr>
        <p:spPr>
          <a:xfrm>
            <a:off x="8095488" y="2979115"/>
            <a:ext cx="3544824" cy="406908"/>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아홉 시에 출근해요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회사에서 일해요</a:t>
            </a:r>
            <a:r>
              <a:rPr lang="en-US" sz="1600" b="1" dirty="0">
                <a:solidFill>
                  <a:srgbClr val="4236F6"/>
                </a:solidFill>
              </a:rPr>
              <a:t>.</a:t>
            </a:r>
            <a:endParaRPr lang="en-US" sz="1600" dirty="0"/>
          </a:p>
        </p:txBody>
      </p:sp>
      <p:sp>
        <p:nvSpPr>
          <p:cNvPr id="16" name="Text 10"/>
          <p:cNvSpPr txBox="1"/>
          <p:nvPr/>
        </p:nvSpPr>
        <p:spPr>
          <a:xfrm>
            <a:off x="8168640" y="3386023"/>
            <a:ext cx="3398520" cy="449885"/>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9:00 · Entro a trabajar a las nueve. Trabajo en la oficina.</a:t>
            </a:r>
            <a:endParaRPr lang="en-US" sz="1400" dirty="0"/>
          </a:p>
        </p:txBody>
      </p:sp>
      <p:sp>
        <p:nvSpPr>
          <p:cNvPr id="17" name="card_3"/>
          <p:cNvSpPr/>
          <p:nvPr/>
        </p:nvSpPr>
        <p:spPr>
          <a:xfrm>
            <a:off x="548640"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8" name="dibujo_3" descr="C:\Users\Chingu\AppData\Local\Temp\claude\C--Users-Chingu-Desktop-ACADEMIASEULWEB\d4111e1b-5523-44ea-97b2-b1a1d9545b9e\scratchpad\decks\cache\img_5c6f22b3c69a0d0f.png"/>
          <p:cNvPicPr>
            <a:picLocks noChangeAspect="1"/>
          </p:cNvPicPr>
          <p:nvPr/>
        </p:nvPicPr>
        <p:blipFill>
          <a:blip r:embed="rId9"/>
          <a:stretch>
            <a:fillRect/>
          </a:stretch>
        </p:blipFill>
        <p:spPr>
          <a:xfrm>
            <a:off x="1832762" y="4247388"/>
            <a:ext cx="976579" cy="976579"/>
          </a:xfrm>
          <a:prstGeom prst="rect">
            <a:avLst/>
          </a:prstGeom>
        </p:spPr>
      </p:pic>
      <p:sp>
        <p:nvSpPr>
          <p:cNvPr id="19" name="Text 12"/>
          <p:cNvSpPr txBox="1"/>
          <p:nvPr/>
        </p:nvSpPr>
        <p:spPr>
          <a:xfrm>
            <a:off x="548640" y="5242255"/>
            <a:ext cx="3544824" cy="406908"/>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여섯 시에 퇴근해요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그리고 공원에서 운동해요</a:t>
            </a:r>
            <a:r>
              <a:rPr lang="en-US" sz="1600" b="1" dirty="0">
                <a:solidFill>
                  <a:srgbClr val="4236F6"/>
                </a:solidFill>
              </a:rPr>
              <a:t>.</a:t>
            </a:r>
            <a:endParaRPr lang="en-US" sz="1600" dirty="0"/>
          </a:p>
        </p:txBody>
      </p:sp>
      <p:sp>
        <p:nvSpPr>
          <p:cNvPr id="20" name="Text 13"/>
          <p:cNvSpPr txBox="1"/>
          <p:nvPr/>
        </p:nvSpPr>
        <p:spPr>
          <a:xfrm>
            <a:off x="621792" y="5649163"/>
            <a:ext cx="3398520" cy="449885"/>
          </a:xfrm>
          <a:prstGeom prst="rect">
            <a:avLst/>
          </a:prstGeom>
          <a:noFill/>
          <a:ln/>
        </p:spPr>
        <p:txBody>
          <a:bodyPr wrap="square" lIns="0" tIns="0" rIns="0" bIns="0" rtlCol="0" anchor="t">
            <a:normAutofit/>
          </a:bodyPr>
          <a:lstStyle/>
          <a:p>
            <a:pPr marL="0" indent="0" algn="ctr" eaLnBrk="1">
              <a:buNone/>
            </a:pPr>
            <a:r>
              <a:rPr lang="en-US" sz="1200" dirty="0">
                <a:solidFill>
                  <a:srgbClr val="5C5F6B"/>
                </a:solidFill>
              </a:rPr>
              <a:t>18:00 · Salgo del trabajo a las seis. Y hago ejercicio en el parque.</a:t>
            </a:r>
            <a:endParaRPr lang="en-US" sz="1200" dirty="0"/>
          </a:p>
        </p:txBody>
      </p:sp>
      <p:sp>
        <p:nvSpPr>
          <p:cNvPr id="21" name="card_4"/>
          <p:cNvSpPr/>
          <p:nvPr/>
        </p:nvSpPr>
        <p:spPr>
          <a:xfrm>
            <a:off x="4322064"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2" name="dibujo_4" descr="C:\Users\Chingu\AppData\Local\Temp\claude\C--Users-Chingu-Desktop-ACADEMIASEULWEB\d4111e1b-5523-44ea-97b2-b1a1d9545b9e\scratchpad\decks\cache\img_9997781601170ae6.png"/>
          <p:cNvPicPr>
            <a:picLocks noChangeAspect="1"/>
          </p:cNvPicPr>
          <p:nvPr/>
        </p:nvPicPr>
        <p:blipFill>
          <a:blip r:embed="rId10"/>
          <a:stretch>
            <a:fillRect/>
          </a:stretch>
        </p:blipFill>
        <p:spPr>
          <a:xfrm>
            <a:off x="5606186" y="4247388"/>
            <a:ext cx="976579" cy="976579"/>
          </a:xfrm>
          <a:prstGeom prst="rect">
            <a:avLst/>
          </a:prstGeom>
        </p:spPr>
      </p:pic>
      <p:sp>
        <p:nvSpPr>
          <p:cNvPr id="23" name="Text 15"/>
          <p:cNvSpPr txBox="1"/>
          <p:nvPr/>
        </p:nvSpPr>
        <p:spPr>
          <a:xfrm>
            <a:off x="4322064" y="5242255"/>
            <a:ext cx="3544824" cy="406908"/>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저녁에 집에서 쉬어요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음악을 들어요</a:t>
            </a:r>
            <a:r>
              <a:rPr lang="en-US" sz="1600" b="1" dirty="0">
                <a:solidFill>
                  <a:srgbClr val="4236F6"/>
                </a:solidFill>
              </a:rPr>
              <a:t>.</a:t>
            </a:r>
            <a:endParaRPr lang="en-US" sz="1600" dirty="0"/>
          </a:p>
        </p:txBody>
      </p:sp>
      <p:sp>
        <p:nvSpPr>
          <p:cNvPr id="24" name="Text 16"/>
          <p:cNvSpPr txBox="1"/>
          <p:nvPr/>
        </p:nvSpPr>
        <p:spPr>
          <a:xfrm>
            <a:off x="4395216" y="5649163"/>
            <a:ext cx="3398520" cy="449885"/>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20:00 · En la tarde descanso en casa. Escucho música.</a:t>
            </a:r>
            <a:endParaRPr lang="en-US" sz="1400" dirty="0"/>
          </a:p>
        </p:txBody>
      </p:sp>
      <p:sp>
        <p:nvSpPr>
          <p:cNvPr id="25" name="card_5"/>
          <p:cNvSpPr/>
          <p:nvPr/>
        </p:nvSpPr>
        <p:spPr>
          <a:xfrm>
            <a:off x="8095488"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6" name="dibujo_5" descr="C:\Users\Chingu\AppData\Local\Temp\claude\C--Users-Chingu-Desktop-ACADEMIASEULWEB\d4111e1b-5523-44ea-97b2-b1a1d9545b9e\scratchpad\decks\cache\img_2c62184ef93cc367.png"/>
          <p:cNvPicPr>
            <a:picLocks noChangeAspect="1"/>
          </p:cNvPicPr>
          <p:nvPr/>
        </p:nvPicPr>
        <p:blipFill>
          <a:blip r:embed="rId11"/>
          <a:stretch>
            <a:fillRect/>
          </a:stretch>
        </p:blipFill>
        <p:spPr>
          <a:xfrm>
            <a:off x="9379610" y="4247388"/>
            <a:ext cx="976579" cy="976579"/>
          </a:xfrm>
          <a:prstGeom prst="rect">
            <a:avLst/>
          </a:prstGeom>
        </p:spPr>
      </p:pic>
      <p:sp>
        <p:nvSpPr>
          <p:cNvPr id="27" name="Text 18"/>
          <p:cNvSpPr txBox="1"/>
          <p:nvPr/>
        </p:nvSpPr>
        <p:spPr>
          <a:xfrm>
            <a:off x="8095488" y="5242255"/>
            <a:ext cx="3544824" cy="406908"/>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그리고 지금은</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한국어 수업</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요즘 너무 바빠요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하하</a:t>
            </a:r>
            <a:r>
              <a:rPr lang="en-US" sz="1600" b="1" dirty="0">
                <a:solidFill>
                  <a:srgbClr val="4236F6"/>
                </a:solidFill>
              </a:rPr>
              <a:t>.</a:t>
            </a:r>
            <a:endParaRPr lang="en-US" sz="1600" dirty="0"/>
          </a:p>
        </p:txBody>
      </p:sp>
      <p:sp>
        <p:nvSpPr>
          <p:cNvPr id="28" name="Text 19"/>
          <p:cNvSpPr txBox="1"/>
          <p:nvPr/>
        </p:nvSpPr>
        <p:spPr>
          <a:xfrm>
            <a:off x="8168640" y="5649163"/>
            <a:ext cx="3398520" cy="449885"/>
          </a:xfrm>
          <a:prstGeom prst="rect">
            <a:avLst/>
          </a:prstGeom>
          <a:noFill/>
          <a:ln/>
        </p:spPr>
        <p:txBody>
          <a:bodyPr wrap="square" lIns="0" tIns="0" rIns="0" bIns="0" rtlCol="0" anchor="t">
            <a:normAutofit/>
          </a:bodyPr>
          <a:lstStyle/>
          <a:p>
            <a:pPr marL="0" indent="0" algn="ctr" eaLnBrk="1">
              <a:buNone/>
            </a:pPr>
            <a:r>
              <a:rPr lang="en-US" sz="1100" dirty="0">
                <a:solidFill>
                  <a:srgbClr val="5C5F6B"/>
                </a:solidFill>
              </a:rPr>
              <a:t>21:00 · Y ahora… ¡clase de coreano! Estos días ando súper ocupado. Jaja.</a:t>
            </a:r>
            <a:endParaRPr lang="en-US" sz="1100" dirty="0"/>
          </a:p>
        </p:txBody>
      </p:sp>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-고 </a:t>
            </a:r>
            <a:r>
              <a:rPr lang="en-US" sz="3000" b="1" dirty="0">
                <a:solidFill>
                  <a:srgbClr val="003478"/>
                </a:solidFill>
              </a:rPr>
              <a:t>y </a:t>
            </a:r>
            <a:r>
              <a:rPr lang="ko-KR" altLang="en-US" sz="3000" b="1" dirty="0">
                <a:solidFill>
                  <a:srgbClr val="003478"/>
                </a:solidFill>
                <a:latin typeface="Malgun Gothic" pitchFamily="34" charset="0"/>
                <a:ea typeface="Malgun Gothic" pitchFamily="34" charset="-122"/>
                <a:cs typeface="Malgun Gothic" pitchFamily="34" charset="-120"/>
              </a:rPr>
              <a:t>쯤</a:t>
            </a:r>
            <a:r>
              <a:rPr lang="ko-KR" altLang="en-US" sz="1500" b="1" i="1" dirty="0">
                <a:solidFill>
                  <a:srgbClr val="8A8DA0"/>
                </a:solidFill>
              </a:rPr>
              <a:t>   -고 (and) and 쯤 (around)</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Dos fórmulas para tu rutina</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-고</a:t>
            </a:r>
            <a:r>
              <a:rPr lang="en-US" sz="2000" b="1" dirty="0">
                <a:solidFill>
                  <a:srgbClr val="003478"/>
                </a:solidFill>
              </a:rPr>
              <a:t>: une dos acciones</a:t>
            </a:r>
            <a:endParaRPr lang="en-US" sz="2000" dirty="0"/>
          </a:p>
        </p:txBody>
      </p:sp>
      <p:sp>
        <p:nvSpPr>
          <p:cNvPr id="6" name="Text 4"/>
          <p:cNvSpPr txBox="1"/>
          <p:nvPr/>
        </p:nvSpPr>
        <p:spPr>
          <a:xfrm>
            <a:off x="777240" y="2651760"/>
            <a:ext cx="4928616" cy="914400"/>
          </a:xfrm>
          <a:prstGeom prst="rect">
            <a:avLst/>
          </a:prstGeom>
          <a:noFill/>
          <a:ln/>
        </p:spPr>
        <p:txBody>
          <a:bodyPr wrap="square" lIns="0" tIns="0" rIns="0" bIns="0" rtlCol="0" anchor="ctr">
            <a:normAutofit/>
          </a:bodyPr>
          <a:lstStyle/>
          <a:p>
            <a:pPr marL="0" indent="0" eaLnBrk="1">
              <a:buNone/>
            </a:pPr>
            <a:r>
              <a:rPr lang="ko-KR" altLang="en-US" sz="4000" b="1" dirty="0">
                <a:solidFill>
                  <a:srgbClr val="4236F6"/>
                </a:solidFill>
                <a:latin typeface="Malgun Gothic" pitchFamily="34" charset="0"/>
                <a:ea typeface="Malgun Gothic" pitchFamily="34" charset="-122"/>
                <a:cs typeface="Malgun Gothic" pitchFamily="34" charset="-120"/>
              </a:rPr>
              <a:t>씻고 아침을 먹어요</a:t>
            </a:r>
            <a:endParaRPr lang="en-US" sz="4000" dirty="0"/>
          </a:p>
        </p:txBody>
      </p:sp>
      <p:sp>
        <p:nvSpPr>
          <p:cNvPr id="7" name="lista"/>
          <p:cNvSpPr txBox="1"/>
          <p:nvPr/>
        </p:nvSpPr>
        <p:spPr>
          <a:xfrm>
            <a:off x="731520"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씻고 아침을 먹어요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퇴근하고 운동해요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Raíz + 고</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씻다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씻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고 </a:t>
            </a:r>
            <a:r>
              <a:rPr lang="en-US" sz="2000" dirty="0">
                <a:solidFill>
                  <a:srgbClr val="14142B"/>
                </a:solidFill>
              </a:rPr>
              <a:t>· suena [</a:t>
            </a:r>
            <a:r>
              <a:rPr lang="ko-KR" altLang="en-US" sz="2000" dirty="0">
                <a:solidFill>
                  <a:srgbClr val="14142B"/>
                </a:solidFill>
                <a:latin typeface="Malgun Gothic" pitchFamily="34" charset="0"/>
                <a:ea typeface="Malgun Gothic" pitchFamily="34" charset="-122"/>
                <a:cs typeface="Malgun Gothic" pitchFamily="34" charset="-120"/>
              </a:rPr>
              <a:t>씯꼬</a:t>
            </a:r>
            <a:r>
              <a:rPr lang="en-US" sz="2000" dirty="0">
                <a:solidFill>
                  <a:srgbClr val="14142B"/>
                </a:solidFill>
              </a:rPr>
              <a:t>]</a:t>
            </a:r>
            <a:endParaRPr lang="en-US" sz="2000" dirty="0"/>
          </a:p>
          <a:p>
            <a:pPr marL="228600" indent="-228600" eaLnBrk="1">
              <a:spcAft>
                <a:spcPts val="800"/>
              </a:spcAft>
              <a:buSzPct val="100000"/>
              <a:buChar char="•"/>
            </a:pPr>
            <a:r>
              <a:rPr lang="en-US" sz="2000" dirty="0">
                <a:solidFill>
                  <a:srgbClr val="14142B"/>
                </a:solidFill>
              </a:rPr>
              <a:t>Por ahora es fórmula; la regla, en la clase 8</a:t>
            </a:r>
            <a:endParaRPr lang="en-US" sz="2000" dirty="0"/>
          </a:p>
        </p:txBody>
      </p:sp>
      <p:sp>
        <p:nvSpPr>
          <p:cNvPr id="8"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9"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쯤</a:t>
            </a:r>
            <a:r>
              <a:rPr lang="en-US" sz="2000" b="1" dirty="0">
                <a:solidFill>
                  <a:srgbClr val="003478"/>
                </a:solidFill>
              </a:rPr>
              <a:t>: más o menos</a:t>
            </a:r>
            <a:endParaRPr lang="en-US" sz="2000" dirty="0"/>
          </a:p>
        </p:txBody>
      </p:sp>
      <p:sp>
        <p:nvSpPr>
          <p:cNvPr id="10" name="Text 8"/>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일곱 시쯤</a:t>
            </a:r>
            <a:endParaRPr lang="en-US" sz="5400" dirty="0"/>
          </a:p>
        </p:txBody>
      </p:sp>
      <p:sp>
        <p:nvSpPr>
          <p:cNvPr id="11"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Chile: «tipo siete»</a:t>
            </a:r>
            <a:endParaRPr lang="en-US" sz="2000" dirty="0"/>
          </a:p>
          <a:p>
            <a:pPr marL="228600" indent="-228600" eaLnBrk="1">
              <a:spcAft>
                <a:spcPts val="800"/>
              </a:spcAft>
              <a:buSzPct val="100000"/>
              <a:buChar char="•"/>
            </a:pPr>
            <a:r>
              <a:rPr lang="en-US" sz="2000" dirty="0">
                <a:solidFill>
                  <a:srgbClr val="14142B"/>
                </a:solidFill>
              </a:rPr>
              <a:t>México: «como a las siete»</a:t>
            </a:r>
            <a:endParaRPr lang="en-US" sz="2000" dirty="0"/>
          </a:p>
          <a:p>
            <a:pPr marL="228600" indent="-228600" eaLnBrk="1">
              <a:spcAft>
                <a:spcPts val="800"/>
              </a:spcAft>
              <a:buSzPct val="100000"/>
              <a:buChar char="•"/>
            </a:pPr>
            <a:r>
              <a:rPr lang="en-US" sz="2000" dirty="0">
                <a:solidFill>
                  <a:srgbClr val="14142B"/>
                </a:solidFill>
              </a:rPr>
              <a:t>España: «sobre las siete»</a:t>
            </a:r>
            <a:endParaRPr lang="en-US" sz="2000" dirty="0"/>
          </a:p>
          <a:p>
            <a:pPr marL="228600" indent="-228600" eaLnBrk="1">
              <a:spcAft>
                <a:spcPts val="800"/>
              </a:spcAft>
              <a:buSzPct val="100000"/>
              <a:buChar char="•"/>
            </a:pPr>
            <a:r>
              <a:rPr lang="en-US" sz="2000" dirty="0">
                <a:solidFill>
                  <a:srgbClr val="14142B"/>
                </a:solidFill>
              </a:rPr>
              <a:t>Va pegado, detrás de la hora</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-아요</a:t>
            </a:r>
            <a:r>
              <a:rPr lang="en-US" sz="2600" b="1" dirty="0">
                <a:solidFill>
                  <a:srgbClr val="4236F6"/>
                </a:solidFill>
              </a:rPr>
              <a:t>/</a:t>
            </a:r>
            <a:r>
              <a:rPr lang="ko-KR" altLang="en-US" sz="2600" b="1" dirty="0">
                <a:solidFill>
                  <a:srgbClr val="4236F6"/>
                </a:solidFill>
                <a:latin typeface="Malgun Gothic" pitchFamily="34" charset="0"/>
                <a:ea typeface="Malgun Gothic" pitchFamily="34" charset="-122"/>
                <a:cs typeface="Malgun Gothic" pitchFamily="34" charset="-120"/>
              </a:rPr>
              <a:t>어요  </a:t>
            </a:r>
            <a:r>
              <a:rPr lang="en-US" sz="2600" b="1" dirty="0">
                <a:solidFill>
                  <a:srgbClr val="003478"/>
                </a:solidFill>
              </a:rPr>
              <a:t>El presente que ya sabes</a:t>
            </a:r>
            <a:r>
              <a:rPr lang="en-US" sz="1500" b="1" i="1" dirty="0">
                <a:solidFill>
                  <a:srgbClr val="8A8DA0"/>
                </a:solidFill>
              </a:rPr>
              <a:t>   The present you already know</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Saca el -다 </a:t>
            </a:r>
            <a:r>
              <a:rPr lang="en-US" sz="1800" i="1" dirty="0">
                <a:solidFill>
                  <a:srgbClr val="4236F6"/>
                </a:solidFill>
              </a:rPr>
              <a:t>y mira la última vocal: </a:t>
            </a:r>
            <a:r>
              <a:rPr lang="ko-KR" altLang="en-US" sz="1800" i="1" dirty="0">
                <a:solidFill>
                  <a:srgbClr val="4236F6"/>
                </a:solidFill>
                <a:latin typeface="Malgun Gothic" pitchFamily="34" charset="0"/>
                <a:ea typeface="Malgun Gothic" pitchFamily="34" charset="-122"/>
                <a:cs typeface="Malgun Gothic" pitchFamily="34" charset="-120"/>
              </a:rPr>
              <a:t>ㅏ</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ㅗ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아요 </a:t>
            </a:r>
            <a:r>
              <a:rPr lang="en-US" sz="1800" i="1" dirty="0">
                <a:solidFill>
                  <a:srgbClr val="4236F6"/>
                </a:solidFill>
              </a:rPr>
              <a:t>· otra → </a:t>
            </a:r>
            <a:r>
              <a:rPr lang="ko-KR" altLang="en-US" sz="1800" i="1" dirty="0">
                <a:solidFill>
                  <a:srgbClr val="4236F6"/>
                </a:solidFill>
                <a:latin typeface="Malgun Gothic" pitchFamily="34" charset="0"/>
                <a:ea typeface="Malgun Gothic" pitchFamily="34" charset="-122"/>
                <a:cs typeface="Malgun Gothic" pitchFamily="34" charset="-120"/>
              </a:rPr>
              <a:t>어요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하다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해요</a:t>
            </a:r>
            <a:endParaRPr lang="en-US" sz="1800" dirty="0"/>
          </a:p>
        </p:txBody>
      </p:sp>
      <p:graphicFrame>
        <p:nvGraphicFramePr>
          <p:cNvPr id="9" name="tabla"/>
          <p:cNvGraphicFramePr>
            <a:graphicFrameLocks noGrp="1"/>
          </p:cNvGraphicFramePr>
          <p:nvPr>
            <p:extLst>
              <p:ext uri="{D42A27DB-BD31-4B8C-83A1-F6EECF244321}">
                <p14:modId xmlns:p14="http://schemas.microsoft.com/office/powerpoint/2010/main" val="1334925452"/>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37210">
                <a:tc>
                  <a:txBody>
                    <a:bodyPr/>
                    <a:lstStyle/>
                    <a:p>
                      <a:pPr marL="0" indent="0" eaLnBrk="1">
                        <a:buNone/>
                      </a:pPr>
                      <a:r>
                        <a:rPr lang="en-US" sz="1600" b="1" dirty="0">
                          <a:solidFill>
                            <a:srgbClr val="FFFFFF"/>
                          </a:solidFill>
                        </a:rPr>
                        <a:t>Diccionario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Raíz + terminación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Presente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가다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가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아요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가요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오다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아요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와요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보다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보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아요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봐요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마시다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마시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마셔요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배우다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배우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배워요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쉬다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쉬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쉬어요 </a:t>
                      </a:r>
                      <a:r>
                        <a:rPr lang="en-US" sz="1600" dirty="0">
                          <a:solidFill>
                            <a:srgbClr val="14142B"/>
                          </a:solidFill>
                        </a:rPr>
                        <a:t>(no se junta)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운동하다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하다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운동해요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¿덥어요</a:t>
            </a:r>
            <a:r>
              <a:rPr lang="en-US" sz="3000" b="1" dirty="0">
                <a:solidFill>
                  <a:srgbClr val="003478"/>
                </a:solidFill>
              </a:rPr>
              <a:t>?</a:t>
            </a:r>
            <a:r>
              <a:rPr lang="ko-KR" altLang="en-US" sz="1500" b="1" i="1" dirty="0">
                <a:solidFill>
                  <a:srgbClr val="8A8DA0"/>
                </a:solidFill>
              </a:rPr>
              <a:t>   Why not 덥어요?</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La clave de los irregulares</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덥다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덥어요</a:t>
            </a:r>
            <a:r>
              <a:rPr lang="en-US" sz="2400" dirty="0">
                <a:solidFill>
                  <a:srgbClr val="14142B"/>
                </a:solidFill>
              </a:rPr>
              <a:t>* → </a:t>
            </a:r>
            <a:r>
              <a:rPr lang="ko-KR" altLang="en-US" sz="2400" dirty="0">
                <a:solidFill>
                  <a:srgbClr val="14142B"/>
                </a:solidFill>
                <a:latin typeface="Malgun Gothic" pitchFamily="34" charset="0"/>
                <a:ea typeface="Malgun Gothic" pitchFamily="34" charset="-122"/>
                <a:cs typeface="Malgun Gothic" pitchFamily="34" charset="-120"/>
              </a:rPr>
              <a:t>더워요</a:t>
            </a:r>
            <a:endParaRPr lang="en-US" sz="2400" dirty="0"/>
          </a:p>
          <a:p>
            <a:pPr marL="228600" indent="-228600" eaLnBrk="1">
              <a:spcAft>
                <a:spcPts val="800"/>
              </a:spcAft>
              <a:buSzPct val="100000"/>
              <a:buChar char="•"/>
            </a:pPr>
            <a:r>
              <a:rPr lang="en-US" sz="2400" dirty="0">
                <a:solidFill>
                  <a:srgbClr val="14142B"/>
                </a:solidFill>
              </a:rPr>
              <a:t>Como en español: tener → tengo · ir → voy · ser → soy</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Los irregulares cambian solo cuando lo que viene empieza con vocal (-아요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Antes de consonante, nada cambia: 덥고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덥습니다</a:t>
            </a:r>
            <a:endParaRPr lang="en-US" sz="24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ㅂ </a:t>
            </a:r>
            <a:r>
              <a:rPr lang="en-US" sz="3000" b="1" dirty="0">
                <a:solidFill>
                  <a:srgbClr val="003478"/>
                </a:solidFill>
              </a:rPr>
              <a:t>se derrite</a:t>
            </a:r>
            <a:r>
              <a:rPr lang="ko-KR" altLang="en-US" sz="1500" b="1" i="1" dirty="0">
                <a:solidFill>
                  <a:srgbClr val="8A8DA0"/>
                </a:solidFill>
              </a:rPr>
              <a:t>   ㅂ melts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덥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더우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어요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더워요</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ㅂ </a:t>
            </a:r>
            <a:r>
              <a:rPr lang="en-US" sz="2000" b="1" dirty="0">
                <a:solidFill>
                  <a:srgbClr val="003478"/>
                </a:solidFill>
              </a:rPr>
              <a:t>→ </a:t>
            </a:r>
            <a:r>
              <a:rPr lang="ko-KR" altLang="en-US" sz="2000" b="1" dirty="0">
                <a:solidFill>
                  <a:srgbClr val="003478"/>
                </a:solidFill>
                <a:latin typeface="Malgun Gothic" pitchFamily="34" charset="0"/>
                <a:ea typeface="Malgun Gothic" pitchFamily="34" charset="-122"/>
                <a:cs typeface="Malgun Gothic" pitchFamily="34" charset="-120"/>
              </a:rPr>
              <a:t>워요</a:t>
            </a:r>
            <a:endParaRPr lang="en-US" sz="2000" dirty="0"/>
          </a:p>
        </p:txBody>
      </p:sp>
      <p:sp>
        <p:nvSpPr>
          <p:cNvPr id="6" name="Text 4"/>
          <p:cNvSpPr txBox="1"/>
          <p:nvPr/>
        </p:nvSpPr>
        <p:spPr>
          <a:xfrm>
            <a:off x="777240"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더워요</a:t>
            </a:r>
            <a:endParaRPr lang="en-US" sz="5400" dirty="0"/>
          </a:p>
        </p:txBody>
      </p:sp>
      <p:sp>
        <p:nvSpPr>
          <p:cNvPr id="7" name="lista"/>
          <p:cNvSpPr txBox="1"/>
          <p:nvPr/>
        </p:nvSpPr>
        <p:spPr>
          <a:xfrm>
            <a:off x="731520"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덥다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더워요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춥다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추워요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어렵다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어려워요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쉽다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쉬워요</a:t>
            </a:r>
            <a:endParaRPr lang="en-US" sz="2000" dirty="0"/>
          </a:p>
        </p:txBody>
      </p:sp>
      <p:sp>
        <p:nvSpPr>
          <p:cNvPr id="8"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9"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Trampa: son normales</a:t>
            </a:r>
            <a:endParaRPr lang="en-US" sz="2000" dirty="0"/>
          </a:p>
        </p:txBody>
      </p:sp>
      <p:sp>
        <p:nvSpPr>
          <p:cNvPr id="10" name="Text 8"/>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입어요</a:t>
            </a:r>
            <a:endParaRPr lang="en-US" sz="5400" dirty="0"/>
          </a:p>
        </p:txBody>
      </p:sp>
      <p:sp>
        <p:nvSpPr>
          <p:cNvPr id="11"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입다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입어요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씻다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씻어요 </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씨서요</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Pista: el clima y «difícil / fácil» se derriten; 입다 </a:t>
            </a:r>
            <a:r>
              <a:rPr lang="en-US" sz="2000" dirty="0">
                <a:solidFill>
                  <a:srgbClr val="14142B"/>
                </a:solidFill>
              </a:rPr>
              <a:t>y </a:t>
            </a:r>
            <a:r>
              <a:rPr lang="ko-KR" altLang="en-US" sz="2000" dirty="0">
                <a:solidFill>
                  <a:srgbClr val="14142B"/>
                </a:solidFill>
                <a:latin typeface="Malgun Gothic" pitchFamily="34" charset="0"/>
                <a:ea typeface="Malgun Gothic" pitchFamily="34" charset="-122"/>
                <a:cs typeface="Malgun Gothic" pitchFamily="34" charset="-120"/>
              </a:rPr>
              <a:t>씻다</a:t>
            </a:r>
            <a:r>
              <a:rPr lang="en-US" sz="2000" dirty="0">
                <a:solidFill>
                  <a:srgbClr val="14142B"/>
                </a:solidFill>
              </a:rPr>
              <a:t>, no</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ㄷ </a:t>
            </a:r>
            <a:r>
              <a:rPr lang="en-US" sz="3000" b="1" dirty="0">
                <a:solidFill>
                  <a:srgbClr val="003478"/>
                </a:solidFill>
              </a:rPr>
              <a:t>→ </a:t>
            </a:r>
            <a:r>
              <a:rPr lang="ko-KR" altLang="en-US" sz="3000" b="1" dirty="0">
                <a:solidFill>
                  <a:srgbClr val="003478"/>
                </a:solidFill>
                <a:latin typeface="Malgun Gothic" pitchFamily="34" charset="0"/>
                <a:ea typeface="Malgun Gothic" pitchFamily="34" charset="-122"/>
                <a:cs typeface="Malgun Gothic" pitchFamily="34" charset="-120"/>
              </a:rPr>
              <a:t>ㄹ </a:t>
            </a:r>
            <a:r>
              <a:rPr lang="en-US" sz="3000" b="1" dirty="0">
                <a:solidFill>
                  <a:srgbClr val="003478"/>
                </a:solidFill>
              </a:rPr>
              <a:t>· </a:t>
            </a:r>
            <a:r>
              <a:rPr lang="ko-KR" altLang="en-US" sz="3000" b="1" dirty="0">
                <a:solidFill>
                  <a:srgbClr val="003478"/>
                </a:solidFill>
                <a:latin typeface="Malgun Gothic" pitchFamily="34" charset="0"/>
                <a:ea typeface="Malgun Gothic" pitchFamily="34" charset="-122"/>
                <a:cs typeface="Malgun Gothic" pitchFamily="34" charset="-120"/>
              </a:rPr>
              <a:t>으 </a:t>
            </a:r>
            <a:r>
              <a:rPr lang="en-US" sz="3000" b="1" dirty="0">
                <a:solidFill>
                  <a:srgbClr val="003478"/>
                </a:solidFill>
              </a:rPr>
              <a:t>se cae</a:t>
            </a:r>
            <a:r>
              <a:rPr lang="ko-KR" altLang="en-US" sz="1500" b="1" i="1" dirty="0">
                <a:solidFill>
                  <a:srgbClr val="8A8DA0"/>
                </a:solidFill>
              </a:rPr>
              <a:t>   ㄷ becomes ㄹ · 으 drops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ㅃ </a:t>
            </a:r>
            <a:r>
              <a:rPr lang="en-US" sz="1800" i="1" dirty="0">
                <a:solidFill>
                  <a:srgbClr val="4236F6"/>
                </a:solidFill>
              </a:rPr>
              <a:t>apretada, sin aire: palma frente a la boca</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ㄷ </a:t>
            </a:r>
            <a:r>
              <a:rPr lang="en-US" sz="2000" b="1" dirty="0">
                <a:solidFill>
                  <a:srgbClr val="003478"/>
                </a:solidFill>
              </a:rPr>
              <a:t>→ </a:t>
            </a:r>
            <a:r>
              <a:rPr lang="ko-KR" altLang="en-US" sz="2000" b="1" dirty="0">
                <a:solidFill>
                  <a:srgbClr val="003478"/>
                </a:solidFill>
                <a:latin typeface="Malgun Gothic" pitchFamily="34" charset="0"/>
                <a:ea typeface="Malgun Gothic" pitchFamily="34" charset="-122"/>
                <a:cs typeface="Malgun Gothic" pitchFamily="34" charset="-120"/>
              </a:rPr>
              <a:t>ㄹ</a:t>
            </a:r>
            <a:endParaRPr lang="en-US" sz="2000" dirty="0"/>
          </a:p>
        </p:txBody>
      </p:sp>
      <p:sp>
        <p:nvSpPr>
          <p:cNvPr id="6" name="Text 4"/>
          <p:cNvSpPr txBox="1"/>
          <p:nvPr/>
        </p:nvSpPr>
        <p:spPr>
          <a:xfrm>
            <a:off x="777240"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들어요</a:t>
            </a:r>
            <a:endParaRPr lang="en-US" sz="5400" dirty="0"/>
          </a:p>
        </p:txBody>
      </p:sp>
      <p:sp>
        <p:nvSpPr>
          <p:cNvPr id="7" name="lista"/>
          <p:cNvSpPr txBox="1"/>
          <p:nvPr/>
        </p:nvSpPr>
        <p:spPr>
          <a:xfrm>
            <a:off x="731520"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듣다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들어요 </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드러요</a:t>
            </a:r>
            <a:r>
              <a:rPr lang="en-US" sz="2000" dirty="0">
                <a:solidFill>
                  <a:srgbClr val="14142B"/>
                </a:solidFill>
              </a:rPr>
              <a:t>]</a:t>
            </a:r>
            <a:endParaRPr lang="en-US" sz="2000" dirty="0"/>
          </a:p>
          <a:p>
            <a:pPr marL="228600" indent="-228600" eaLnBrk="1">
              <a:spcAft>
                <a:spcPts val="800"/>
              </a:spcAft>
              <a:buSzPct val="100000"/>
              <a:buChar char="•"/>
            </a:pPr>
            <a:r>
              <a:rPr lang="en-US" sz="2000" dirty="0">
                <a:solidFill>
                  <a:srgbClr val="14142B"/>
                </a:solidFill>
              </a:rPr>
              <a:t>En Básico 1 era forma fija; hoy tiene regla</a:t>
            </a:r>
            <a:endParaRPr lang="en-US" sz="2000" dirty="0"/>
          </a:p>
        </p:txBody>
      </p:sp>
      <p:sp>
        <p:nvSpPr>
          <p:cNvPr id="8"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9"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으 </a:t>
            </a:r>
            <a:r>
              <a:rPr lang="en-US" sz="2000" b="1" dirty="0">
                <a:solidFill>
                  <a:srgbClr val="003478"/>
                </a:solidFill>
              </a:rPr>
              <a:t>se cae</a:t>
            </a:r>
            <a:endParaRPr lang="en-US" sz="2000" dirty="0"/>
          </a:p>
        </p:txBody>
      </p:sp>
      <p:sp>
        <p:nvSpPr>
          <p:cNvPr id="10" name="Text 8"/>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바빠요</a:t>
            </a:r>
            <a:endParaRPr lang="en-US" sz="5400" dirty="0"/>
          </a:p>
        </p:txBody>
      </p:sp>
      <p:sp>
        <p:nvSpPr>
          <p:cNvPr id="11"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바쁘다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바ㅃ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아요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바빠요 </a:t>
            </a:r>
            <a:r>
              <a:rPr lang="en-US" sz="2000" dirty="0">
                <a:solidFill>
                  <a:srgbClr val="14142B"/>
                </a:solidFill>
              </a:rPr>
              <a:t>(mira </a:t>
            </a:r>
            <a:r>
              <a:rPr lang="ko-KR" altLang="en-US" sz="2000" dirty="0">
                <a:solidFill>
                  <a:srgbClr val="14142B"/>
                </a:solidFill>
                <a:latin typeface="Malgun Gothic" pitchFamily="34" charset="0"/>
                <a:ea typeface="Malgun Gothic" pitchFamily="34" charset="-122"/>
                <a:cs typeface="Malgun Gothic" pitchFamily="34" charset="-120"/>
              </a:rPr>
              <a:t>바</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ㅏ</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쓰다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써요 </a:t>
            </a:r>
            <a:r>
              <a:rPr lang="en-US" sz="2000" dirty="0">
                <a:solidFill>
                  <a:srgbClr val="14142B"/>
                </a:solidFill>
              </a:rPr>
              <a:t>(no hay sílaba antes → </a:t>
            </a:r>
            <a:r>
              <a:rPr lang="ko-KR" altLang="en-US" sz="2000" dirty="0">
                <a:solidFill>
                  <a:srgbClr val="14142B"/>
                </a:solidFill>
                <a:latin typeface="Malgun Gothic" pitchFamily="34" charset="0"/>
                <a:ea typeface="Malgun Gothic" pitchFamily="34" charset="-122"/>
                <a:cs typeface="Malgun Gothic" pitchFamily="34" charset="-120"/>
              </a:rPr>
              <a:t>어요</a:t>
            </a:r>
            <a:r>
              <a:rPr lang="en-US" sz="2000" dirty="0">
                <a:solidFill>
                  <a:srgbClr val="14142B"/>
                </a:solidFill>
              </a:rPr>
              <a:t>)</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르 </a:t>
            </a:r>
            <a:r>
              <a:rPr lang="en-US" sz="3000" b="1" dirty="0">
                <a:solidFill>
                  <a:srgbClr val="003478"/>
                </a:solidFill>
              </a:rPr>
              <a:t>· </a:t>
            </a:r>
            <a:r>
              <a:rPr lang="ko-KR" altLang="en-US" sz="3000" b="1" dirty="0">
                <a:solidFill>
                  <a:srgbClr val="003478"/>
                </a:solidFill>
                <a:latin typeface="Malgun Gothic" pitchFamily="34" charset="0"/>
                <a:ea typeface="Malgun Gothic" pitchFamily="34" charset="-122"/>
                <a:cs typeface="Malgun Gothic" pitchFamily="34" charset="-120"/>
              </a:rPr>
              <a:t>ㄹ</a:t>
            </a:r>
            <a:r>
              <a:rPr lang="ko-KR" altLang="en-US" sz="1500" b="1" i="1" dirty="0">
                <a:solidFill>
                  <a:srgbClr val="8A8DA0"/>
                </a:solidFill>
              </a:rPr>
              <a:t>   르 and ㄹ verbs</a:t>
            </a:r>
            <a:endParaRPr lang="en-US" sz="3000" dirty="0"/>
          </a:p>
        </p:txBody>
      </p:sp>
      <p:sp>
        <p:nvSpPr>
          <p:cNvPr id="3" name="col_0"/>
          <p:cNvSpPr/>
          <p:nvPr/>
        </p:nvSpPr>
        <p:spPr>
          <a:xfrm>
            <a:off x="548640" y="1325880"/>
            <a:ext cx="5385816" cy="4846320"/>
          </a:xfrm>
          <a:prstGeom prst="roundRect">
            <a:avLst>
              <a:gd name="adj" fmla="val 2830"/>
            </a:avLst>
          </a:prstGeom>
          <a:solidFill>
            <a:srgbClr val="F1F0FE"/>
          </a:solidFill>
          <a:ln w="12700">
            <a:solidFill>
              <a:srgbClr val="D9D7F7"/>
            </a:solidFill>
            <a:prstDash val="solid"/>
          </a:ln>
        </p:spPr>
      </p:sp>
      <p:sp>
        <p:nvSpPr>
          <p:cNvPr id="4" name="Text 2"/>
          <p:cNvSpPr txBox="1"/>
          <p:nvPr/>
        </p:nvSpPr>
        <p:spPr>
          <a:xfrm>
            <a:off x="777240" y="150876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르</a:t>
            </a:r>
            <a:r>
              <a:rPr lang="en-US" sz="2000" b="1" dirty="0">
                <a:solidFill>
                  <a:srgbClr val="003478"/>
                </a:solidFill>
              </a:rPr>
              <a:t>: dos formas fijas</a:t>
            </a:r>
            <a:endParaRPr lang="en-US" sz="2000" dirty="0"/>
          </a:p>
        </p:txBody>
      </p:sp>
      <p:sp>
        <p:nvSpPr>
          <p:cNvPr id="5" name="Text 3"/>
          <p:cNvSpPr txBox="1"/>
          <p:nvPr/>
        </p:nvSpPr>
        <p:spPr>
          <a:xfrm>
            <a:off x="777240" y="210312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몰라요</a:t>
            </a:r>
            <a:endParaRPr lang="en-US" sz="5400" dirty="0"/>
          </a:p>
        </p:txBody>
      </p:sp>
      <p:sp>
        <p:nvSpPr>
          <p:cNvPr id="6" name="lista"/>
          <p:cNvSpPr txBox="1"/>
          <p:nvPr/>
        </p:nvSpPr>
        <p:spPr>
          <a:xfrm>
            <a:off x="731520" y="3108960"/>
            <a:ext cx="5020056"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모르다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몰라요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빠르다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빨라요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ㄹㄹ </a:t>
            </a:r>
            <a:r>
              <a:rPr lang="en-US" sz="2000" dirty="0">
                <a:solidFill>
                  <a:srgbClr val="14142B"/>
                </a:solidFill>
              </a:rPr>
              <a:t>= una «l» larga, nunca «r»</a:t>
            </a:r>
            <a:endParaRPr lang="en-US" sz="2000" dirty="0"/>
          </a:p>
        </p:txBody>
      </p:sp>
      <p:sp>
        <p:nvSpPr>
          <p:cNvPr id="7" name="col_1"/>
          <p:cNvSpPr/>
          <p:nvPr/>
        </p:nvSpPr>
        <p:spPr>
          <a:xfrm>
            <a:off x="6254496" y="1325880"/>
            <a:ext cx="5385816" cy="4846320"/>
          </a:xfrm>
          <a:prstGeom prst="roundRect">
            <a:avLst>
              <a:gd name="adj" fmla="val 2830"/>
            </a:avLst>
          </a:prstGeom>
          <a:solidFill>
            <a:srgbClr val="FFFFFF"/>
          </a:solidFill>
          <a:ln w="12700">
            <a:solidFill>
              <a:srgbClr val="D9D7F7"/>
            </a:solidFill>
            <a:prstDash val="solid"/>
          </a:ln>
        </p:spPr>
      </p:sp>
      <p:sp>
        <p:nvSpPr>
          <p:cNvPr id="8" name="Text 6"/>
          <p:cNvSpPr txBox="1"/>
          <p:nvPr/>
        </p:nvSpPr>
        <p:spPr>
          <a:xfrm>
            <a:off x="6483096" y="150876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ㄹ</a:t>
            </a:r>
            <a:r>
              <a:rPr lang="en-US" sz="2000" b="1" dirty="0">
                <a:solidFill>
                  <a:srgbClr val="003478"/>
                </a:solidFill>
              </a:rPr>
              <a:t>: normal en -</a:t>
            </a:r>
            <a:r>
              <a:rPr lang="ko-KR" altLang="en-US" sz="2000" b="1" dirty="0">
                <a:solidFill>
                  <a:srgbClr val="003478"/>
                </a:solidFill>
                <a:latin typeface="Malgun Gothic" pitchFamily="34" charset="0"/>
                <a:ea typeface="Malgun Gothic" pitchFamily="34" charset="-122"/>
                <a:cs typeface="Malgun Gothic" pitchFamily="34" charset="-120"/>
              </a:rPr>
              <a:t>아요</a:t>
            </a:r>
            <a:endParaRPr lang="en-US" sz="2000" dirty="0"/>
          </a:p>
        </p:txBody>
      </p:sp>
      <p:sp>
        <p:nvSpPr>
          <p:cNvPr id="9" name="Text 7"/>
          <p:cNvSpPr txBox="1"/>
          <p:nvPr/>
        </p:nvSpPr>
        <p:spPr>
          <a:xfrm>
            <a:off x="6483096" y="210312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살아요</a:t>
            </a:r>
            <a:endParaRPr lang="en-US" sz="5400" dirty="0"/>
          </a:p>
        </p:txBody>
      </p:sp>
      <p:sp>
        <p:nvSpPr>
          <p:cNvPr id="10" name="lista"/>
          <p:cNvSpPr txBox="1"/>
          <p:nvPr/>
        </p:nvSpPr>
        <p:spPr>
          <a:xfrm>
            <a:off x="6437376" y="3108960"/>
            <a:ext cx="5020056"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살다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살아요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알다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알아요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Formal: la ㄹ </a:t>
            </a:r>
            <a:r>
              <a:rPr lang="en-US" sz="2000" dirty="0">
                <a:solidFill>
                  <a:srgbClr val="14142B"/>
                </a:solidFill>
              </a:rPr>
              <a:t>se va → </a:t>
            </a:r>
            <a:r>
              <a:rPr lang="ko-KR" altLang="en-US" sz="2000" dirty="0">
                <a:solidFill>
                  <a:srgbClr val="14142B"/>
                </a:solidFill>
                <a:latin typeface="Malgun Gothic" pitchFamily="34" charset="0"/>
                <a:ea typeface="Malgun Gothic" pitchFamily="34" charset="-122"/>
                <a:cs typeface="Malgun Gothic" pitchFamily="34" charset="-120"/>
              </a:rPr>
              <a:t>삽니다</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Todo en una tabla</a:t>
            </a:r>
            <a:r>
              <a:rPr lang="en-US" sz="1500" b="1" i="1" dirty="0">
                <a:solidFill>
                  <a:srgbClr val="8A8DA0"/>
                </a:solidFill>
              </a:rPr>
              <a:t>   All in one table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Solo cambian antes de vocal</a:t>
            </a:r>
            <a:endParaRPr lang="en-US" sz="1800" dirty="0"/>
          </a:p>
        </p:txBody>
      </p:sp>
      <p:graphicFrame>
        <p:nvGraphicFramePr>
          <p:cNvPr id="14" name="tabla"/>
          <p:cNvGraphicFramePr>
            <a:graphicFrameLocks noGrp="1"/>
          </p:cNvGraphicFramePr>
          <p:nvPr>
            <p:extLst>
              <p:ext uri="{D42A27DB-BD31-4B8C-83A1-F6EECF244321}">
                <p14:modId xmlns:p14="http://schemas.microsoft.com/office/powerpoint/2010/main" val="2172595864"/>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37210">
                <a:tc>
                  <a:txBody>
                    <a:bodyPr/>
                    <a:lstStyle/>
                    <a:p>
                      <a:pPr marL="0" indent="0" eaLnBrk="1">
                        <a:buNone/>
                      </a:pPr>
                      <a:r>
                        <a:rPr lang="en-US" sz="1600" b="1" dirty="0">
                          <a:solidFill>
                            <a:srgbClr val="FFFFFF"/>
                          </a:solidFill>
                        </a:rPr>
                        <a:t>Patrón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Qué pasa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Ejemplos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ㅂ</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se derrite → 워요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덥다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더워요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춥다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추워요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ㄷ</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se vuelve ㄹ</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듣다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들어요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se cae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바쁘다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바빠요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쓰다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써요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dos formas fijas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모르다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몰라요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빠르다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빨라요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ㄹ</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normal en -아요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살다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살아요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알다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알아요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37210">
                <a:tc>
                  <a:txBody>
                    <a:bodyPr/>
                    <a:lstStyle/>
                    <a:p>
                      <a:pPr marL="0" indent="0" eaLnBrk="1">
                        <a:buNone/>
                      </a:pPr>
                      <a:r>
                        <a:rPr lang="en-US" sz="1600" dirty="0">
                          <a:solidFill>
                            <a:srgbClr val="14142B"/>
                          </a:solidFill>
                        </a:rPr>
                        <a:t>Tu frase (chat)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clima de tu ciudad</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오늘 </a:t>
                      </a:r>
                      <a:r>
                        <a:rPr lang="en-US" sz="1600" dirty="0">
                          <a:solidFill>
                            <a:srgbClr val="14142B"/>
                          </a:solidFill>
                        </a:rPr>
                        <a:t>___</a:t>
                      </a:r>
                      <a:r>
                        <a:rPr lang="ko-KR" altLang="en-US" sz="1600" dirty="0">
                          <a:solidFill>
                            <a:srgbClr val="14142B"/>
                          </a:solidFill>
                          <a:latin typeface="Malgun Gothic" pitchFamily="34" charset="0"/>
                          <a:ea typeface="Malgun Gothic" pitchFamily="34" charset="-122"/>
                          <a:cs typeface="Malgun Gothic" pitchFamily="34" charset="-120"/>
                        </a:rPr>
                        <a:t>은</a:t>
                      </a:r>
                      <a:r>
                        <a:rPr lang="en-US" sz="1600" dirty="0">
                          <a:solidFill>
                            <a:srgbClr val="14142B"/>
                          </a:solidFill>
                        </a:rPr>
                        <a:t>/</a:t>
                      </a:r>
                      <a:r>
                        <a:rPr lang="ko-KR" altLang="en-US" sz="1600" dirty="0">
                          <a:solidFill>
                            <a:srgbClr val="14142B"/>
                          </a:solidFill>
                          <a:latin typeface="Malgun Gothic" pitchFamily="34" charset="0"/>
                          <a:ea typeface="Malgun Gothic" pitchFamily="34" charset="-122"/>
                          <a:cs typeface="Malgun Gothic" pitchFamily="34" charset="-120"/>
                        </a:rPr>
                        <a:t>는 더워요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추워요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7210">
                <a:tc>
                  <a:txBody>
                    <a:bodyPr/>
                    <a:lstStyle/>
                    <a:p>
                      <a:pPr marL="0" indent="0" eaLnBrk="1">
                        <a:buNone/>
                      </a:pPr>
                      <a:r>
                        <a:rPr lang="en-US" sz="1600" dirty="0">
                          <a:solidFill>
                            <a:srgbClr val="14142B"/>
                          </a:solidFill>
                        </a:rPr>
                        <a:t>En voz alta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요즘 바빠요</a:t>
                      </a:r>
                      <a:r>
                        <a:rPr lang="en-US" sz="1600" dirty="0">
                          <a:solidFill>
                            <a:srgbClr val="14142B"/>
                          </a:solidFill>
                        </a:rPr>
                        <a:t>? · </a:t>
                      </a:r>
                      <a:r>
                        <a:rPr lang="ko-KR" altLang="en-US" sz="1600" dirty="0">
                          <a:solidFill>
                            <a:srgbClr val="14142B"/>
                          </a:solidFill>
                          <a:latin typeface="Malgun Gothic" pitchFamily="34" charset="0"/>
                          <a:ea typeface="Malgun Gothic" pitchFamily="34" charset="-122"/>
                          <a:cs typeface="Malgun Gothic" pitchFamily="34" charset="-120"/>
                        </a:rPr>
                        <a:t>알아요</a:t>
                      </a:r>
                      <a:r>
                        <a:rPr lang="en-US" sz="1600" dirty="0">
                          <a:solidFill>
                            <a:srgbClr val="14142B"/>
                          </a:solidFill>
                        </a:rPr>
                        <a:t>? — </a:t>
                      </a:r>
                      <a:r>
                        <a:rPr lang="ko-KR" altLang="en-US" sz="1600" dirty="0">
                          <a:solidFill>
                            <a:srgbClr val="14142B"/>
                          </a:solidFill>
                          <a:latin typeface="Malgun Gothic" pitchFamily="34" charset="0"/>
                          <a:ea typeface="Malgun Gothic" pitchFamily="34" charset="-122"/>
                          <a:cs typeface="Malgun Gothic" pitchFamily="34" charset="-120"/>
                        </a:rPr>
                        <a:t>몰라요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에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에서  </a:t>
            </a:r>
            <a:r>
              <a:rPr lang="en-US" sz="3000" b="1" dirty="0">
                <a:solidFill>
                  <a:srgbClr val="003478"/>
                </a:solidFill>
              </a:rPr>
              <a:t>¿Está o hace?</a:t>
            </a:r>
            <a:r>
              <a:rPr lang="en-US" sz="1500" b="1" i="1" dirty="0">
                <a:solidFill>
                  <a:srgbClr val="8A8DA0"/>
                </a:solidFill>
              </a:rPr>
              <a:t>   Being there or doing there?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회사에 일해요</a:t>
            </a:r>
            <a:r>
              <a:rPr lang="en-US" sz="1800" i="1" dirty="0">
                <a:solidFill>
                  <a:srgbClr val="4236F6"/>
                </a:solidFill>
              </a:rPr>
              <a:t>* → </a:t>
            </a:r>
            <a:r>
              <a:rPr lang="ko-KR" altLang="en-US" sz="1800" i="1" dirty="0">
                <a:solidFill>
                  <a:srgbClr val="4236F6"/>
                </a:solidFill>
                <a:latin typeface="Malgun Gothic" pitchFamily="34" charset="0"/>
                <a:ea typeface="Malgun Gothic" pitchFamily="34" charset="-122"/>
                <a:cs typeface="Malgun Gothic" pitchFamily="34" charset="-120"/>
              </a:rPr>
              <a:t>회사에서 일해요 </a:t>
            </a:r>
            <a:r>
              <a:rPr lang="en-US" sz="1800" i="1" dirty="0">
                <a:solidFill>
                  <a:srgbClr val="4236F6"/>
                </a:solidFill>
              </a:rPr>
              <a:t>(el error de la clase 1)</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에</a:t>
            </a:r>
            <a:r>
              <a:rPr lang="en-US" sz="2000" b="1" dirty="0">
                <a:solidFill>
                  <a:srgbClr val="003478"/>
                </a:solidFill>
              </a:rPr>
              <a:t>: algo está, vas, o es la hora</a:t>
            </a:r>
            <a:endParaRPr lang="en-US" sz="2000" dirty="0"/>
          </a:p>
        </p:txBody>
      </p:sp>
      <p:pic>
        <p:nvPicPr>
          <p:cNvPr id="6" name="col_img_0" descr="C:\Users\Chingu\AppData\Local\Temp\claude\C--Users-Chingu-Desktop-ACADEMIASEULWEB\d4111e1b-5523-44ea-97b2-b1a1d9545b9e\scratchpad\decks\cache\img_2a464c90087fafc4.png"/>
          <p:cNvPicPr>
            <a:picLocks noChangeAspect="1"/>
          </p:cNvPicPr>
          <p:nvPr/>
        </p:nvPicPr>
        <p:blipFill>
          <a:blip r:embed="rId3"/>
          <a:stretch>
            <a:fillRect/>
          </a:stretch>
        </p:blipFill>
        <p:spPr>
          <a:xfrm>
            <a:off x="2487168" y="2651760"/>
            <a:ext cx="1508760" cy="685800"/>
          </a:xfrm>
          <a:prstGeom prst="rect">
            <a:avLst/>
          </a:prstGeom>
        </p:spPr>
      </p:pic>
      <p:sp>
        <p:nvSpPr>
          <p:cNvPr id="7" name="Text 4"/>
          <p:cNvSpPr txBox="1"/>
          <p:nvPr/>
        </p:nvSpPr>
        <p:spPr>
          <a:xfrm>
            <a:off x="777240" y="342900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에</a:t>
            </a:r>
            <a:endParaRPr lang="en-US" sz="5400" dirty="0"/>
          </a:p>
        </p:txBody>
      </p:sp>
      <p:sp>
        <p:nvSpPr>
          <p:cNvPr id="8" name="lista"/>
          <p:cNvSpPr txBox="1"/>
          <p:nvPr/>
        </p:nvSpPr>
        <p:spPr>
          <a:xfrm>
            <a:off x="731520" y="4434840"/>
            <a:ext cx="5020056" cy="160020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900" dirty="0">
                <a:solidFill>
                  <a:srgbClr val="14142B"/>
                </a:solidFill>
                <a:latin typeface="Malgun Gothic" pitchFamily="34" charset="0"/>
                <a:ea typeface="Malgun Gothic" pitchFamily="34" charset="-122"/>
                <a:cs typeface="Malgun Gothic" pitchFamily="34" charset="-120"/>
              </a:rPr>
              <a:t>집에 있어요</a:t>
            </a:r>
            <a:endParaRPr lang="en-US" sz="1900" dirty="0"/>
          </a:p>
          <a:p>
            <a:pPr marL="228600" indent="-228600" eaLnBrk="1">
              <a:spcAft>
                <a:spcPts val="800"/>
              </a:spcAft>
              <a:buSzPct val="100000"/>
              <a:buChar char="•"/>
            </a:pPr>
            <a:r>
              <a:rPr lang="ko-KR" altLang="en-US" sz="1900" dirty="0">
                <a:solidFill>
                  <a:srgbClr val="14142B"/>
                </a:solidFill>
                <a:latin typeface="Malgun Gothic" pitchFamily="34" charset="0"/>
                <a:ea typeface="Malgun Gothic" pitchFamily="34" charset="-122"/>
                <a:cs typeface="Malgun Gothic" pitchFamily="34" charset="-120"/>
              </a:rPr>
              <a:t>회사에 가요</a:t>
            </a:r>
            <a:endParaRPr lang="en-US" sz="1900" dirty="0"/>
          </a:p>
          <a:p>
            <a:pPr marL="228600" indent="-228600" eaLnBrk="1">
              <a:spcAft>
                <a:spcPts val="800"/>
              </a:spcAft>
              <a:buSzPct val="100000"/>
              <a:buChar char="•"/>
            </a:pPr>
            <a:r>
              <a:rPr lang="ko-KR" altLang="en-US" sz="1900" dirty="0">
                <a:solidFill>
                  <a:srgbClr val="14142B"/>
                </a:solidFill>
                <a:latin typeface="Malgun Gothic" pitchFamily="34" charset="0"/>
                <a:ea typeface="Malgun Gothic" pitchFamily="34" charset="-122"/>
                <a:cs typeface="Malgun Gothic" pitchFamily="34" charset="-120"/>
              </a:rPr>
              <a:t>카페에 가요</a:t>
            </a:r>
            <a:endParaRPr lang="en-US" sz="1900" dirty="0"/>
          </a:p>
          <a:p>
            <a:pPr marL="228600" indent="-228600" eaLnBrk="1">
              <a:spcAft>
                <a:spcPts val="800"/>
              </a:spcAft>
              <a:buSzPct val="100000"/>
              <a:buChar char="•"/>
            </a:pPr>
            <a:r>
              <a:rPr lang="ko-KR" altLang="en-US" sz="1900" dirty="0">
                <a:solidFill>
                  <a:srgbClr val="14142B"/>
                </a:solidFill>
                <a:latin typeface="Malgun Gothic" pitchFamily="34" charset="0"/>
                <a:ea typeface="Malgun Gothic" pitchFamily="34" charset="-122"/>
                <a:cs typeface="Malgun Gothic" pitchFamily="34" charset="-120"/>
              </a:rPr>
              <a:t>아홉 시에 출근해요</a:t>
            </a:r>
            <a:endParaRPr lang="en-US" sz="1900" dirty="0"/>
          </a:p>
        </p:txBody>
      </p:sp>
      <p:sp>
        <p:nvSpPr>
          <p:cNvPr id="9"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10"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에서</a:t>
            </a:r>
            <a:r>
              <a:rPr lang="en-US" sz="2000" b="1" dirty="0">
                <a:solidFill>
                  <a:srgbClr val="003478"/>
                </a:solidFill>
              </a:rPr>
              <a:t>: ahí pasa una acción</a:t>
            </a:r>
            <a:endParaRPr lang="en-US" sz="2000" dirty="0"/>
          </a:p>
        </p:txBody>
      </p:sp>
      <p:pic>
        <p:nvPicPr>
          <p:cNvPr id="11" name="col_img_1" descr="C:\Users\Chingu\AppData\Local\Temp\claude\C--Users-Chingu-Desktop-ACADEMIASEULWEB\d4111e1b-5523-44ea-97b2-b1a1d9545b9e\scratchpad\decks\cache\img_ead7cac4ba9cd60d.png"/>
          <p:cNvPicPr>
            <a:picLocks noChangeAspect="1"/>
          </p:cNvPicPr>
          <p:nvPr/>
        </p:nvPicPr>
        <p:blipFill>
          <a:blip r:embed="rId4"/>
          <a:stretch>
            <a:fillRect/>
          </a:stretch>
        </p:blipFill>
        <p:spPr>
          <a:xfrm>
            <a:off x="7790688" y="2651760"/>
            <a:ext cx="2313432" cy="1051560"/>
          </a:xfrm>
          <a:prstGeom prst="rect">
            <a:avLst/>
          </a:prstGeom>
        </p:spPr>
      </p:pic>
      <p:sp>
        <p:nvSpPr>
          <p:cNvPr id="12" name="Text 8"/>
          <p:cNvSpPr txBox="1"/>
          <p:nvPr/>
        </p:nvSpPr>
        <p:spPr>
          <a:xfrm>
            <a:off x="6483096" y="3794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에서</a:t>
            </a:r>
            <a:endParaRPr lang="en-US" sz="5400" dirty="0"/>
          </a:p>
        </p:txBody>
      </p:sp>
      <p:sp>
        <p:nvSpPr>
          <p:cNvPr id="13" name="lista"/>
          <p:cNvSpPr txBox="1"/>
          <p:nvPr/>
        </p:nvSpPr>
        <p:spPr>
          <a:xfrm>
            <a:off x="6437376" y="4800600"/>
            <a:ext cx="5020056"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집에서 쉬어요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회사에서 일해요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카페에서 공부해요</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에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에서  </a:t>
            </a:r>
            <a:r>
              <a:rPr lang="en-US" sz="3000" b="1" dirty="0">
                <a:solidFill>
                  <a:srgbClr val="003478"/>
                </a:solidFill>
              </a:rPr>
              <a:t>Regla de bolsillo</a:t>
            </a:r>
            <a:r>
              <a:rPr lang="en-US" sz="1500" b="1" i="1" dirty="0">
                <a:solidFill>
                  <a:srgbClr val="8A8DA0"/>
                </a:solidFill>
              </a:rPr>
              <a:t>   Pocket rule</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있다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없다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가다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오다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출근하다 </a:t>
            </a:r>
            <a:r>
              <a:rPr lang="en-US" sz="2200" dirty="0">
                <a:solidFill>
                  <a:srgbClr val="14142B"/>
                </a:solidFill>
              </a:rPr>
              <a:t>· una hora → </a:t>
            </a:r>
            <a:r>
              <a:rPr lang="ko-KR" altLang="en-US" sz="2200" dirty="0">
                <a:solidFill>
                  <a:srgbClr val="14142B"/>
                </a:solidFill>
                <a:latin typeface="Malgun Gothic" pitchFamily="34" charset="0"/>
                <a:ea typeface="Malgun Gothic" pitchFamily="34" charset="-122"/>
                <a:cs typeface="Malgun Gothic" pitchFamily="34" charset="-120"/>
              </a:rPr>
              <a:t>에</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Cualquier otra acción que pasa en ese lugar → 에서</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Truco: si en español puedes decir «a» (voy a la oficina), es 에</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살다</a:t>
            </a:r>
            <a:r>
              <a:rPr lang="en-US" sz="2200" dirty="0">
                <a:solidFill>
                  <a:srgbClr val="14142B"/>
                </a:solidFill>
              </a:rPr>
              <a:t>: valen los dos · </a:t>
            </a:r>
            <a:r>
              <a:rPr lang="ko-KR" altLang="en-US" sz="2200" dirty="0">
                <a:solidFill>
                  <a:srgbClr val="14142B"/>
                </a:solidFill>
                <a:latin typeface="Malgun Gothic" pitchFamily="34" charset="0"/>
                <a:ea typeface="Malgun Gothic" pitchFamily="34" charset="-122"/>
                <a:cs typeface="Malgun Gothic" pitchFamily="34" charset="-120"/>
              </a:rPr>
              <a:t>칠레에 살아요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칠레에서 살아요</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Tu frase (chat): 보통 </a:t>
            </a:r>
            <a:r>
              <a:rPr lang="en-US" sz="2200" dirty="0">
                <a:solidFill>
                  <a:srgbClr val="14142B"/>
                </a:solidFill>
              </a:rPr>
              <a:t>___</a:t>
            </a:r>
            <a:r>
              <a:rPr lang="ko-KR" altLang="en-US" sz="2200" dirty="0">
                <a:solidFill>
                  <a:srgbClr val="14142B"/>
                </a:solidFill>
                <a:latin typeface="Malgun Gothic" pitchFamily="34" charset="0"/>
                <a:ea typeface="Malgun Gothic" pitchFamily="34" charset="-122"/>
                <a:cs typeface="Malgun Gothic" pitchFamily="34" charset="-120"/>
              </a:rPr>
              <a:t>에서 한국어를 공부해요</a:t>
            </a:r>
            <a:endParaRPr lang="en-US" sz="22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5"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8600" b="1" dirty="0">
                <a:solidFill>
                  <a:srgbClr val="4236F6"/>
                </a:solidFill>
                <a:latin typeface="Malgun Gothic" pitchFamily="34" charset="0"/>
                <a:ea typeface="Malgun Gothic" pitchFamily="34" charset="-122"/>
                <a:cs typeface="Malgun Gothic" pitchFamily="34" charset="-120"/>
              </a:rPr>
              <a:t>에 </a:t>
            </a:r>
            <a:r>
              <a:rPr lang="en-US" sz="8600" b="1" dirty="0">
                <a:solidFill>
                  <a:srgbClr val="4236F6"/>
                </a:solidFill>
              </a:rPr>
              <a:t>·</a:t>
            </a:r>
            <a:endParaRPr lang="en-US" sz="8600" dirty="0"/>
          </a:p>
          <a:p>
            <a:pPr marL="0" indent="0" algn="ctr" eaLnBrk="1">
              <a:buNone/>
            </a:pPr>
            <a:r>
              <a:rPr lang="ko-KR" altLang="en-US" sz="8600" b="1" dirty="0">
                <a:solidFill>
                  <a:srgbClr val="4236F6"/>
                </a:solidFill>
                <a:latin typeface="Malgun Gothic" pitchFamily="34" charset="0"/>
                <a:ea typeface="Malgun Gothic" pitchFamily="34" charset="-122"/>
                <a:cs typeface="Malgun Gothic" pitchFamily="34" charset="-120"/>
              </a:rPr>
              <a:t>에서</a:t>
            </a:r>
            <a:endParaRPr lang="en-US" sz="8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¿에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에서</a:t>
            </a:r>
            <a:r>
              <a:rPr lang="en-US" sz="3000" b="1" dirty="0">
                <a:solidFill>
                  <a:srgbClr val="003478"/>
                </a:solidFill>
              </a:rPr>
              <a:t>? (1)</a:t>
            </a:r>
            <a:r>
              <a:rPr lang="ko-KR" altLang="en-US" sz="1500" b="1" i="1" dirty="0">
                <a:solidFill>
                  <a:srgbClr val="8A8DA0"/>
                </a:solidFill>
              </a:rPr>
              <a:t>   에 or 에서? (1)</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Jay dice lugar + verbo: arma la frase con 에 </a:t>
            </a:r>
            <a:r>
              <a:rPr lang="en-US" sz="1800" i="1" dirty="0">
                <a:solidFill>
                  <a:srgbClr val="4236F6"/>
                </a:solidFill>
              </a:rPr>
              <a:t>o </a:t>
            </a:r>
            <a:r>
              <a:rPr lang="ko-KR" altLang="en-US" sz="1800" i="1" dirty="0">
                <a:solidFill>
                  <a:srgbClr val="4236F6"/>
                </a:solidFill>
                <a:latin typeface="Malgun Gothic" pitchFamily="34" charset="0"/>
                <a:ea typeface="Malgun Gothic" pitchFamily="34" charset="-122"/>
                <a:cs typeface="Malgun Gothic" pitchFamily="34" charset="-120"/>
              </a:rPr>
              <a:t>에서</a:t>
            </a:r>
            <a:endParaRPr lang="en-US" sz="1800" dirty="0"/>
          </a:p>
        </p:txBody>
      </p:sp>
      <p:sp>
        <p:nvSpPr>
          <p:cNvPr id="4" name="num_0"/>
          <p:cNvSpPr/>
          <p:nvPr/>
        </p:nvSpPr>
        <p:spPr>
          <a:xfrm>
            <a:off x="548640" y="217170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7170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학교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가요</a:t>
            </a:r>
            <a:endParaRPr lang="en-US" sz="2400" dirty="0"/>
          </a:p>
        </p:txBody>
      </p:sp>
      <p:sp>
        <p:nvSpPr>
          <p:cNvPr id="7" name="rev_6_caja"/>
          <p:cNvSpPr/>
          <p:nvPr/>
        </p:nvSpPr>
        <p:spPr>
          <a:xfrm>
            <a:off x="7498080" y="2002536"/>
            <a:ext cx="4142232" cy="795528"/>
          </a:xfrm>
          <a:prstGeom prst="roundRect">
            <a:avLst>
              <a:gd name="adj" fmla="val 13793"/>
            </a:avLst>
          </a:prstGeom>
          <a:solidFill>
            <a:srgbClr val="4236F6"/>
          </a:solidFill>
          <a:ln w="12700">
            <a:solidFill>
              <a:srgbClr val="4236F6"/>
            </a:solidFill>
            <a:prstDash val="solid"/>
          </a:ln>
        </p:spPr>
      </p:sp>
      <p:sp>
        <p:nvSpPr>
          <p:cNvPr id="8" name="rev_6_txt"/>
          <p:cNvSpPr txBox="1"/>
          <p:nvPr/>
        </p:nvSpPr>
        <p:spPr>
          <a:xfrm>
            <a:off x="7589520" y="2002536"/>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학교에 가요</a:t>
            </a:r>
            <a:endParaRPr lang="en-US" sz="2200" dirty="0"/>
          </a:p>
        </p:txBody>
      </p:sp>
      <p:sp>
        <p:nvSpPr>
          <p:cNvPr id="9" name="num_1"/>
          <p:cNvSpPr/>
          <p:nvPr/>
        </p:nvSpPr>
        <p:spPr>
          <a:xfrm>
            <a:off x="548640" y="316839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16839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962656"/>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학교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공부해요</a:t>
            </a:r>
            <a:endParaRPr lang="en-US" sz="2400" dirty="0"/>
          </a:p>
        </p:txBody>
      </p:sp>
      <p:sp>
        <p:nvSpPr>
          <p:cNvPr id="12" name="rev_7_caja"/>
          <p:cNvSpPr/>
          <p:nvPr/>
        </p:nvSpPr>
        <p:spPr>
          <a:xfrm>
            <a:off x="7498080" y="2999232"/>
            <a:ext cx="4142232" cy="795528"/>
          </a:xfrm>
          <a:prstGeom prst="roundRect">
            <a:avLst>
              <a:gd name="adj" fmla="val 13793"/>
            </a:avLst>
          </a:prstGeom>
          <a:solidFill>
            <a:srgbClr val="4236F6"/>
          </a:solidFill>
          <a:ln w="12700">
            <a:solidFill>
              <a:srgbClr val="4236F6"/>
            </a:solidFill>
            <a:prstDash val="solid"/>
          </a:ln>
        </p:spPr>
      </p:sp>
      <p:sp>
        <p:nvSpPr>
          <p:cNvPr id="13" name="rev_7_txt"/>
          <p:cNvSpPr txBox="1"/>
          <p:nvPr/>
        </p:nvSpPr>
        <p:spPr>
          <a:xfrm>
            <a:off x="7589520" y="2999232"/>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학교에서 공부해요</a:t>
            </a:r>
            <a:endParaRPr lang="en-US" sz="2200" dirty="0"/>
          </a:p>
        </p:txBody>
      </p:sp>
      <p:sp>
        <p:nvSpPr>
          <p:cNvPr id="14" name="num_2"/>
          <p:cNvSpPr/>
          <p:nvPr/>
        </p:nvSpPr>
        <p:spPr>
          <a:xfrm>
            <a:off x="548640" y="41650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1650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959352"/>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집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있어요</a:t>
            </a:r>
            <a:endParaRPr lang="en-US" sz="2400" dirty="0"/>
          </a:p>
        </p:txBody>
      </p:sp>
      <p:sp>
        <p:nvSpPr>
          <p:cNvPr id="17" name="rev_8_caja"/>
          <p:cNvSpPr/>
          <p:nvPr/>
        </p:nvSpPr>
        <p:spPr>
          <a:xfrm>
            <a:off x="7498080" y="3995928"/>
            <a:ext cx="4142232" cy="795528"/>
          </a:xfrm>
          <a:prstGeom prst="roundRect">
            <a:avLst>
              <a:gd name="adj" fmla="val 13793"/>
            </a:avLst>
          </a:prstGeom>
          <a:solidFill>
            <a:srgbClr val="4236F6"/>
          </a:solidFill>
          <a:ln w="12700">
            <a:solidFill>
              <a:srgbClr val="4236F6"/>
            </a:solidFill>
            <a:prstDash val="solid"/>
          </a:ln>
        </p:spPr>
      </p:sp>
      <p:sp>
        <p:nvSpPr>
          <p:cNvPr id="18" name="rev_8_txt"/>
          <p:cNvSpPr txBox="1"/>
          <p:nvPr/>
        </p:nvSpPr>
        <p:spPr>
          <a:xfrm>
            <a:off x="7589520" y="3995928"/>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집에 있어요</a:t>
            </a:r>
            <a:endParaRPr lang="en-US" sz="2200" dirty="0"/>
          </a:p>
        </p:txBody>
      </p:sp>
      <p:sp>
        <p:nvSpPr>
          <p:cNvPr id="19" name="num_3"/>
          <p:cNvSpPr/>
          <p:nvPr/>
        </p:nvSpPr>
        <p:spPr>
          <a:xfrm>
            <a:off x="548640" y="516178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516178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956048"/>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공원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운동해요</a:t>
            </a:r>
            <a:endParaRPr lang="en-US" sz="2400" dirty="0"/>
          </a:p>
        </p:txBody>
      </p:sp>
      <p:sp>
        <p:nvSpPr>
          <p:cNvPr id="22" name="rev_9_caja"/>
          <p:cNvSpPr/>
          <p:nvPr/>
        </p:nvSpPr>
        <p:spPr>
          <a:xfrm>
            <a:off x="7498080" y="4992624"/>
            <a:ext cx="4142232" cy="795528"/>
          </a:xfrm>
          <a:prstGeom prst="roundRect">
            <a:avLst>
              <a:gd name="adj" fmla="val 13793"/>
            </a:avLst>
          </a:prstGeom>
          <a:solidFill>
            <a:srgbClr val="4236F6"/>
          </a:solidFill>
          <a:ln w="12700">
            <a:solidFill>
              <a:srgbClr val="4236F6"/>
            </a:solidFill>
            <a:prstDash val="solid"/>
          </a:ln>
        </p:spPr>
      </p:sp>
      <p:sp>
        <p:nvSpPr>
          <p:cNvPr id="23" name="rev_9_txt"/>
          <p:cNvSpPr txBox="1"/>
          <p:nvPr/>
        </p:nvSpPr>
        <p:spPr>
          <a:xfrm>
            <a:off x="7589520" y="4992624"/>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공원에서 운동해요</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¿에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에서</a:t>
            </a:r>
            <a:r>
              <a:rPr lang="en-US" sz="3000" b="1" dirty="0">
                <a:solidFill>
                  <a:srgbClr val="003478"/>
                </a:solidFill>
              </a:rPr>
              <a:t>? (2)</a:t>
            </a:r>
            <a:r>
              <a:rPr lang="ko-KR" altLang="en-US" sz="1500" b="1" i="1" dirty="0">
                <a:solidFill>
                  <a:srgbClr val="8A8DA0"/>
                </a:solidFill>
              </a:rPr>
              <a:t>   에 or 에서? (2)</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Jay dice lugar + verbo: arma la frase con 에 </a:t>
            </a:r>
            <a:r>
              <a:rPr lang="en-US" sz="1800" i="1" dirty="0">
                <a:solidFill>
                  <a:srgbClr val="4236F6"/>
                </a:solidFill>
              </a:rPr>
              <a:t>o </a:t>
            </a:r>
            <a:r>
              <a:rPr lang="ko-KR" altLang="en-US" sz="1800" i="1" dirty="0">
                <a:solidFill>
                  <a:srgbClr val="4236F6"/>
                </a:solidFill>
                <a:latin typeface="Malgun Gothic" pitchFamily="34" charset="0"/>
                <a:ea typeface="Malgun Gothic" pitchFamily="34" charset="-122"/>
                <a:cs typeface="Malgun Gothic" pitchFamily="34" charset="-120"/>
              </a:rPr>
              <a:t>에서</a:t>
            </a:r>
            <a:endParaRPr lang="en-US" sz="1800" dirty="0"/>
          </a:p>
        </p:txBody>
      </p:sp>
      <p:sp>
        <p:nvSpPr>
          <p:cNvPr id="4" name="num_0"/>
          <p:cNvSpPr/>
          <p:nvPr/>
        </p:nvSpPr>
        <p:spPr>
          <a:xfrm>
            <a:off x="548640" y="257495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57495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2369210"/>
            <a:ext cx="5285232"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카페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커피를 마셔요</a:t>
            </a:r>
            <a:endParaRPr lang="en-US" sz="2400" dirty="0"/>
          </a:p>
        </p:txBody>
      </p:sp>
      <p:sp>
        <p:nvSpPr>
          <p:cNvPr id="7" name="rev_10_caja"/>
          <p:cNvSpPr/>
          <p:nvPr/>
        </p:nvSpPr>
        <p:spPr>
          <a:xfrm>
            <a:off x="6702552" y="2405786"/>
            <a:ext cx="4937760" cy="795528"/>
          </a:xfrm>
          <a:prstGeom prst="roundRect">
            <a:avLst>
              <a:gd name="adj" fmla="val 13793"/>
            </a:avLst>
          </a:prstGeom>
          <a:solidFill>
            <a:srgbClr val="4236F6"/>
          </a:solidFill>
          <a:ln w="12700">
            <a:solidFill>
              <a:srgbClr val="4236F6"/>
            </a:solidFill>
            <a:prstDash val="solid"/>
          </a:ln>
        </p:spPr>
      </p:sp>
      <p:sp>
        <p:nvSpPr>
          <p:cNvPr id="8" name="rev_10_txt"/>
          <p:cNvSpPr txBox="1"/>
          <p:nvPr/>
        </p:nvSpPr>
        <p:spPr>
          <a:xfrm>
            <a:off x="6793992" y="2405786"/>
            <a:ext cx="4754880"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카페에서 커피를 마셔요</a:t>
            </a:r>
            <a:endParaRPr lang="en-US" sz="2200" dirty="0"/>
          </a:p>
        </p:txBody>
      </p:sp>
      <p:sp>
        <p:nvSpPr>
          <p:cNvPr id="9" name="num_1"/>
          <p:cNvSpPr/>
          <p:nvPr/>
        </p:nvSpPr>
        <p:spPr>
          <a:xfrm>
            <a:off x="548640" y="357164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57164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3365906"/>
            <a:ext cx="5285232"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회사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출근해요</a:t>
            </a:r>
            <a:endParaRPr lang="en-US" sz="2400" dirty="0"/>
          </a:p>
        </p:txBody>
      </p:sp>
      <p:sp>
        <p:nvSpPr>
          <p:cNvPr id="12" name="rev_11_caja"/>
          <p:cNvSpPr/>
          <p:nvPr/>
        </p:nvSpPr>
        <p:spPr>
          <a:xfrm>
            <a:off x="6702552" y="3402482"/>
            <a:ext cx="4937760" cy="795528"/>
          </a:xfrm>
          <a:prstGeom prst="roundRect">
            <a:avLst>
              <a:gd name="adj" fmla="val 13793"/>
            </a:avLst>
          </a:prstGeom>
          <a:solidFill>
            <a:srgbClr val="4236F6"/>
          </a:solidFill>
          <a:ln w="12700">
            <a:solidFill>
              <a:srgbClr val="4236F6"/>
            </a:solidFill>
            <a:prstDash val="solid"/>
          </a:ln>
        </p:spPr>
      </p:sp>
      <p:sp>
        <p:nvSpPr>
          <p:cNvPr id="13" name="rev_11_txt"/>
          <p:cNvSpPr txBox="1"/>
          <p:nvPr/>
        </p:nvSpPr>
        <p:spPr>
          <a:xfrm>
            <a:off x="6793992" y="3402482"/>
            <a:ext cx="4754880"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회사에 출근해요</a:t>
            </a:r>
            <a:endParaRPr lang="en-US" sz="2200" dirty="0"/>
          </a:p>
        </p:txBody>
      </p:sp>
      <p:sp>
        <p:nvSpPr>
          <p:cNvPr id="14" name="num_2"/>
          <p:cNvSpPr/>
          <p:nvPr/>
        </p:nvSpPr>
        <p:spPr>
          <a:xfrm>
            <a:off x="548640" y="456834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56834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4362602"/>
            <a:ext cx="5285232"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서울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살아요</a:t>
            </a:r>
            <a:endParaRPr lang="en-US" sz="2400" dirty="0"/>
          </a:p>
        </p:txBody>
      </p:sp>
      <p:sp>
        <p:nvSpPr>
          <p:cNvPr id="17" name="rev_12_caja"/>
          <p:cNvSpPr/>
          <p:nvPr/>
        </p:nvSpPr>
        <p:spPr>
          <a:xfrm>
            <a:off x="6702552" y="4399178"/>
            <a:ext cx="4937760" cy="795528"/>
          </a:xfrm>
          <a:prstGeom prst="roundRect">
            <a:avLst>
              <a:gd name="adj" fmla="val 13793"/>
            </a:avLst>
          </a:prstGeom>
          <a:solidFill>
            <a:srgbClr val="4236F6"/>
          </a:solidFill>
          <a:ln w="12700">
            <a:solidFill>
              <a:srgbClr val="4236F6"/>
            </a:solidFill>
            <a:prstDash val="solid"/>
          </a:ln>
        </p:spPr>
      </p:sp>
      <p:sp>
        <p:nvSpPr>
          <p:cNvPr id="18" name="rev_12_txt"/>
          <p:cNvSpPr txBox="1"/>
          <p:nvPr/>
        </p:nvSpPr>
        <p:spPr>
          <a:xfrm>
            <a:off x="6793992" y="4399178"/>
            <a:ext cx="4754880" cy="795528"/>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FFFFFF"/>
                </a:solidFill>
                <a:latin typeface="Malgun Gothic" pitchFamily="34" charset="0"/>
                <a:ea typeface="Malgun Gothic" pitchFamily="34" charset="-122"/>
                <a:cs typeface="Malgun Gothic" pitchFamily="34" charset="-120"/>
              </a:rPr>
              <a:t>서울에 살아요 </a:t>
            </a:r>
            <a:r>
              <a:rPr lang="en-US" sz="1600" b="1" dirty="0">
                <a:solidFill>
                  <a:srgbClr val="FFFFFF"/>
                </a:solidFill>
              </a:rPr>
              <a:t>/ </a:t>
            </a:r>
            <a:r>
              <a:rPr lang="ko-KR" altLang="en-US" sz="1600" b="1" dirty="0">
                <a:solidFill>
                  <a:srgbClr val="FFFFFF"/>
                </a:solidFill>
                <a:latin typeface="Malgun Gothic" pitchFamily="34" charset="0"/>
                <a:ea typeface="Malgun Gothic" pitchFamily="34" charset="-122"/>
                <a:cs typeface="Malgun Gothic" pitchFamily="34" charset="-120"/>
              </a:rPr>
              <a:t>서울에서 살아요 </a:t>
            </a:r>
            <a:r>
              <a:rPr lang="en-US" sz="1600" b="1" dirty="0">
                <a:solidFill>
                  <a:srgbClr val="FFFFFF"/>
                </a:solidFill>
              </a:rPr>
              <a:t>(los dos)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-ㅂ니다</a:t>
            </a:r>
            <a:r>
              <a:rPr lang="en-US" sz="2600" b="1" dirty="0">
                <a:solidFill>
                  <a:srgbClr val="4236F6"/>
                </a:solidFill>
              </a:rPr>
              <a:t>/</a:t>
            </a:r>
            <a:r>
              <a:rPr lang="ko-KR" altLang="en-US" sz="2600" b="1" dirty="0">
                <a:solidFill>
                  <a:srgbClr val="4236F6"/>
                </a:solidFill>
                <a:latin typeface="Malgun Gothic" pitchFamily="34" charset="0"/>
                <a:ea typeface="Malgun Gothic" pitchFamily="34" charset="-122"/>
                <a:cs typeface="Malgun Gothic" pitchFamily="34" charset="-120"/>
              </a:rPr>
              <a:t>습니다  </a:t>
            </a:r>
            <a:r>
              <a:rPr lang="en-US" sz="2600" b="1" dirty="0">
                <a:solidFill>
                  <a:srgbClr val="003478"/>
                </a:solidFill>
              </a:rPr>
              <a:t>El coreano de micrófono</a:t>
            </a:r>
            <a:r>
              <a:rPr lang="en-US" sz="1500" b="1" i="1" dirty="0">
                <a:solidFill>
                  <a:srgbClr val="8A8DA0"/>
                </a:solidFill>
              </a:rPr>
              <a:t>   Microphone Korean</a:t>
            </a:r>
            <a:endParaRPr lang="en-US" sz="3000" dirty="0"/>
          </a:p>
        </p:txBody>
      </p:sp>
      <p:sp>
        <p:nvSpPr>
          <p:cNvPr id="3" name="Text 1"/>
          <p:cNvSpPr txBox="1"/>
          <p:nvPr/>
        </p:nvSpPr>
        <p:spPr>
          <a:xfrm>
            <a:off x="548640" y="1325880"/>
            <a:ext cx="566928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¿Dónde se oye?</a:t>
            </a:r>
            <a:endParaRPr lang="en-US" sz="1800" dirty="0"/>
          </a:p>
        </p:txBody>
      </p:sp>
      <p:sp>
        <p:nvSpPr>
          <p:cNvPr id="4" name="lista"/>
          <p:cNvSpPr txBox="1"/>
          <p:nvPr/>
        </p:nvSpPr>
        <p:spPr>
          <a:xfrm>
            <a:off x="548640" y="1965960"/>
            <a:ext cx="566928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Metro: 이번 역은 시청입니다</a:t>
            </a:r>
            <a:endParaRPr lang="en-US" sz="2400" dirty="0"/>
          </a:p>
          <a:p>
            <a:pPr marL="228600" indent="-228600" eaLnBrk="1">
              <a:spcAft>
                <a:spcPts val="800"/>
              </a:spcAft>
              <a:buSzPct val="100000"/>
              <a:buChar char="•"/>
            </a:pPr>
            <a:r>
              <a:rPr lang="en-US" sz="2400" dirty="0">
                <a:solidFill>
                  <a:srgbClr val="14142B"/>
                </a:solidFill>
              </a:rPr>
              <a:t>Noticias</a:t>
            </a:r>
            <a:endParaRPr lang="en-US" sz="2400" dirty="0"/>
          </a:p>
          <a:p>
            <a:pPr marL="228600" indent="-228600" eaLnBrk="1">
              <a:spcAft>
                <a:spcPts val="800"/>
              </a:spcAft>
              <a:buSzPct val="100000"/>
              <a:buChar char="•"/>
            </a:pPr>
            <a:r>
              <a:rPr lang="en-US" sz="2400" dirty="0">
                <a:solidFill>
                  <a:srgbClr val="14142B"/>
                </a:solidFill>
              </a:rPr>
              <a:t>Tiendas grandes</a:t>
            </a:r>
            <a:endParaRPr lang="en-US" sz="2400" dirty="0"/>
          </a:p>
          <a:p>
            <a:pPr marL="228600" indent="-228600" eaLnBrk="1">
              <a:spcAft>
                <a:spcPts val="800"/>
              </a:spcAft>
              <a:buSzPct val="100000"/>
              <a:buChar char="•"/>
            </a:pPr>
            <a:r>
              <a:rPr lang="en-US" sz="2400" dirty="0">
                <a:solidFill>
                  <a:srgbClr val="14142B"/>
                </a:solidFill>
              </a:rPr>
              <a:t>Presentaciones y reuniones ante un grupo</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Ya lo dices: 감사합니다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반갑습니다</a:t>
            </a:r>
            <a:endParaRPr lang="en-US" sz="2400" dirty="0"/>
          </a:p>
        </p:txBody>
      </p:sp>
      <p:sp>
        <p:nvSpPr>
          <p:cNvPr id="5"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6" name="imagen" descr="C:\Users\Chingu\AppData\Local\Temp\claude\C--Users-Chingu-Desktop-ACADEMIASEULWEB\d4111e1b-5523-44ea-97b2-b1a1d9545b9e\scratchpad\decks\cache\img_c205a980edee5b96.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-ㅂ니다</a:t>
            </a:r>
            <a:r>
              <a:rPr lang="en-US" sz="3000" b="1" dirty="0">
                <a:solidFill>
                  <a:srgbClr val="4236F6"/>
                </a:solidFill>
              </a:rPr>
              <a:t>/</a:t>
            </a:r>
            <a:r>
              <a:rPr lang="ko-KR" altLang="en-US" sz="3000" b="1" dirty="0">
                <a:solidFill>
                  <a:srgbClr val="4236F6"/>
                </a:solidFill>
                <a:latin typeface="Malgun Gothic" pitchFamily="34" charset="0"/>
                <a:ea typeface="Malgun Gothic" pitchFamily="34" charset="-122"/>
                <a:cs typeface="Malgun Gothic" pitchFamily="34" charset="-120"/>
              </a:rPr>
              <a:t>습니다  </a:t>
            </a:r>
            <a:r>
              <a:rPr lang="en-US" sz="3000" b="1" dirty="0">
                <a:solidFill>
                  <a:srgbClr val="003478"/>
                </a:solidFill>
              </a:rPr>
              <a:t>Cómo se forma (reconocer)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La ㅂ </a:t>
            </a:r>
            <a:r>
              <a:rPr lang="en-US" sz="1800" i="1" dirty="0">
                <a:solidFill>
                  <a:srgbClr val="4236F6"/>
                </a:solidFill>
              </a:rPr>
              <a:t>pegada a la </a:t>
            </a:r>
            <a:r>
              <a:rPr lang="ko-KR" altLang="en-US" sz="1800" i="1" dirty="0">
                <a:solidFill>
                  <a:srgbClr val="4236F6"/>
                </a:solidFill>
                <a:latin typeface="Malgun Gothic" pitchFamily="34" charset="0"/>
                <a:ea typeface="Malgun Gothic" pitchFamily="34" charset="-122"/>
                <a:cs typeface="Malgun Gothic" pitchFamily="34" charset="-120"/>
              </a:rPr>
              <a:t>ㄴ </a:t>
            </a:r>
            <a:r>
              <a:rPr lang="en-US" sz="1800" i="1" dirty="0">
                <a:solidFill>
                  <a:srgbClr val="4236F6"/>
                </a:solidFill>
              </a:rPr>
              <a:t>suena </a:t>
            </a:r>
            <a:r>
              <a:rPr lang="ko-KR" altLang="en-US" sz="1800" i="1" dirty="0">
                <a:solidFill>
                  <a:srgbClr val="4236F6"/>
                </a:solidFill>
                <a:latin typeface="Malgun Gothic" pitchFamily="34" charset="0"/>
                <a:ea typeface="Malgun Gothic" pitchFamily="34" charset="-122"/>
                <a:cs typeface="Malgun Gothic" pitchFamily="34" charset="-120"/>
              </a:rPr>
              <a:t>ㅁ</a:t>
            </a:r>
            <a:r>
              <a:rPr lang="en-US" sz="1800" i="1" dirty="0">
                <a:solidFill>
                  <a:srgbClr val="4236F6"/>
                </a:solidFill>
              </a:rPr>
              <a:t>, como en </a:t>
            </a:r>
            <a:r>
              <a:rPr lang="ko-KR" altLang="en-US" sz="1800" i="1" dirty="0">
                <a:solidFill>
                  <a:srgbClr val="4236F6"/>
                </a:solidFill>
                <a:latin typeface="Malgun Gothic" pitchFamily="34" charset="0"/>
                <a:ea typeface="Malgun Gothic" pitchFamily="34" charset="-122"/>
                <a:cs typeface="Malgun Gothic" pitchFamily="34" charset="-120"/>
              </a:rPr>
              <a:t>감사합니다 </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감사함니다</a:t>
            </a:r>
            <a:r>
              <a:rPr lang="en-US" sz="1800" i="1" dirty="0">
                <a:solidFill>
                  <a:srgbClr val="4236F6"/>
                </a:solidFill>
              </a:rPr>
              <a:t>]</a:t>
            </a:r>
            <a:endParaRPr lang="en-US" sz="1800" dirty="0"/>
          </a:p>
        </p:txBody>
      </p:sp>
      <p:graphicFrame>
        <p:nvGraphicFramePr>
          <p:cNvPr id="20" name="tabla"/>
          <p:cNvGraphicFramePr>
            <a:graphicFrameLocks noGrp="1"/>
          </p:cNvGraphicFramePr>
          <p:nvPr>
            <p:extLst>
              <p:ext uri="{D42A27DB-BD31-4B8C-83A1-F6EECF244321}">
                <p14:modId xmlns:p14="http://schemas.microsoft.com/office/powerpoint/2010/main" val="1573711975"/>
              </p:ext>
            </p:extLst>
          </p:nvPr>
        </p:nvGraphicFramePr>
        <p:xfrm>
          <a:off x="548640" y="1874520"/>
          <a:ext cx="11091672" cy="914400"/>
        </p:xfrm>
        <a:graphic>
          <a:graphicData uri="http://schemas.openxmlformats.org/drawingml/2006/table">
            <a:tbl>
              <a:tblPr/>
              <a:tblGrid>
                <a:gridCol w="2772918">
                  <a:extLst>
                    <a:ext uri="{9D8B030D-6E8A-4147-A177-3AD203B41FA5}">
                      <a16:colId xmlns:a16="http://schemas.microsoft.com/office/drawing/2014/main" val="20000"/>
                    </a:ext>
                  </a:extLst>
                </a:gridCol>
                <a:gridCol w="2772918">
                  <a:extLst>
                    <a:ext uri="{9D8B030D-6E8A-4147-A177-3AD203B41FA5}">
                      <a16:colId xmlns:a16="http://schemas.microsoft.com/office/drawing/2014/main" val="20001"/>
                    </a:ext>
                  </a:extLst>
                </a:gridCol>
                <a:gridCol w="2772918">
                  <a:extLst>
                    <a:ext uri="{9D8B030D-6E8A-4147-A177-3AD203B41FA5}">
                      <a16:colId xmlns:a16="http://schemas.microsoft.com/office/drawing/2014/main" val="20002"/>
                    </a:ext>
                  </a:extLst>
                </a:gridCol>
                <a:gridCol w="2772918">
                  <a:extLst>
                    <a:ext uri="{9D8B030D-6E8A-4147-A177-3AD203B41FA5}">
                      <a16:colId xmlns:a16="http://schemas.microsoft.com/office/drawing/2014/main" val="20003"/>
                    </a:ext>
                  </a:extLst>
                </a:gridCol>
              </a:tblGrid>
              <a:tr h="566928">
                <a:tc>
                  <a:txBody>
                    <a:bodyPr/>
                    <a:lstStyle/>
                    <a:p>
                      <a:pPr marL="0" indent="0" eaLnBrk="1">
                        <a:buNone/>
                      </a:pPr>
                      <a:r>
                        <a:rPr lang="en-US" sz="1800" b="1" dirty="0">
                          <a:solidFill>
                            <a:srgbClr val="FFFFFF"/>
                          </a:solidFill>
                        </a:rPr>
                        <a:t>La raíz termina en…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Formal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Ejemplo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Suena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en-US" sz="1800" dirty="0">
                          <a:solidFill>
                            <a:srgbClr val="14142B"/>
                          </a:solidFill>
                        </a:rPr>
                        <a:t>vocal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-ㅂ니다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가다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갑니다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하다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합니다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[감니다</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800" dirty="0">
                          <a:solidFill>
                            <a:srgbClr val="14142B"/>
                          </a:solidFill>
                        </a:rPr>
                        <a:t>consonante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-습니다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먹다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먹습니다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[먹씀니다</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이다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입니다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학생입니다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입니다 </a:t>
                      </a:r>
                      <a:r>
                        <a:rPr lang="en-US" sz="1800" dirty="0">
                          <a:solidFill>
                            <a:srgbClr val="14142B"/>
                          </a:solidFill>
                        </a:rPr>
                        <a:t>[</a:t>
                      </a:r>
                      <a:r>
                        <a:rPr lang="ko-KR" altLang="en-US" sz="1800" dirty="0">
                          <a:solidFill>
                            <a:srgbClr val="14142B"/>
                          </a:solidFill>
                          <a:latin typeface="Malgun Gothic" pitchFamily="34" charset="0"/>
                          <a:ea typeface="Malgun Gothic" pitchFamily="34" charset="-122"/>
                          <a:cs typeface="Malgun Gothic" pitchFamily="34" charset="-120"/>
                        </a:rPr>
                        <a:t>임니다</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ㄹ </a:t>
                      </a:r>
                      <a:r>
                        <a:rPr lang="en-US" sz="1800" dirty="0">
                          <a:solidFill>
                            <a:srgbClr val="14142B"/>
                          </a:solidFill>
                        </a:rPr>
                        <a:t>(se va)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-ㅂ니다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살다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삽니다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[삼니다</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en-US" sz="1800" dirty="0">
                          <a:solidFill>
                            <a:srgbClr val="14142B"/>
                          </a:solidFill>
                        </a:rPr>
                        <a:t>irregulares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no cambian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덥습니다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바쁩니다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Escucha selectiva</a:t>
            </a:r>
            <a:r>
              <a:rPr lang="en-US" sz="1500" b="1" i="1" dirty="0">
                <a:solidFill>
                  <a:srgbClr val="8A8DA0"/>
                </a:solidFill>
              </a:rPr>
              <a:t>   Selective listening</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Escuchar, no leer · Jay lee 6 frases, cada una dos veces. En el chat: número + A (-아요</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어요</a:t>
            </a:r>
            <a:r>
              <a:rPr lang="en-US" sz="1800" i="1" dirty="0">
                <a:solidFill>
                  <a:srgbClr val="4236F6"/>
                </a:solidFill>
              </a:rPr>
              <a:t>, de todos los días) o F (-</a:t>
            </a:r>
            <a:r>
              <a:rPr lang="ko-KR" altLang="en-US" sz="1800" i="1" dirty="0">
                <a:solidFill>
                  <a:srgbClr val="4236F6"/>
                </a:solidFill>
                <a:latin typeface="Malgun Gothic" pitchFamily="34" charset="0"/>
                <a:ea typeface="Malgun Gothic" pitchFamily="34" charset="-122"/>
                <a:cs typeface="Malgun Gothic" pitchFamily="34" charset="-120"/>
              </a:rPr>
              <a:t>ㅂ니다</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습니다</a:t>
            </a:r>
            <a:r>
              <a:rPr lang="en-US" sz="1800" i="1" dirty="0">
                <a:solidFill>
                  <a:srgbClr val="4236F6"/>
                </a:solidFill>
              </a:rPr>
              <a:t>, formal). ¿A quién se la dirías?</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4898989" cy="594360"/>
          </a:xfrm>
          <a:prstGeom prst="rect">
            <a:avLst/>
          </a:prstGeom>
          <a:noFill/>
          <a:ln/>
        </p:spPr>
        <p:txBody>
          <a:bodyPr wrap="square" lIns="0" tIns="0" rIns="0" bIns="0" rtlCol="0" anchor="ctr">
            <a:normAutofit/>
          </a:bodyPr>
          <a:lstStyle/>
          <a:p>
            <a:pPr marL="0" indent="0" eaLnBrk="1">
              <a:buNone/>
            </a:pPr>
            <a:r>
              <a:rPr lang="en-US" sz="2400" dirty="0">
                <a:solidFill>
                  <a:srgbClr val="14142B"/>
                </a:solidFill>
              </a:rPr>
              <a:t>Frase 1</a:t>
            </a:r>
            <a:endParaRPr lang="en-US" sz="2400" dirty="0"/>
          </a:p>
        </p:txBody>
      </p:sp>
      <p:sp>
        <p:nvSpPr>
          <p:cNvPr id="7" name="rev_13_caja"/>
          <p:cNvSpPr/>
          <p:nvPr/>
        </p:nvSpPr>
        <p:spPr>
          <a:xfrm>
            <a:off x="6316309" y="2002536"/>
            <a:ext cx="5324003" cy="521208"/>
          </a:xfrm>
          <a:prstGeom prst="roundRect">
            <a:avLst>
              <a:gd name="adj" fmla="val 21053"/>
            </a:avLst>
          </a:prstGeom>
          <a:solidFill>
            <a:srgbClr val="4236F6"/>
          </a:solidFill>
          <a:ln w="12700">
            <a:solidFill>
              <a:srgbClr val="4236F6"/>
            </a:solidFill>
            <a:prstDash val="solid"/>
          </a:ln>
        </p:spPr>
      </p:sp>
      <p:sp>
        <p:nvSpPr>
          <p:cNvPr id="8" name="rev_13_txt"/>
          <p:cNvSpPr txBox="1"/>
          <p:nvPr/>
        </p:nvSpPr>
        <p:spPr>
          <a:xfrm>
            <a:off x="6407749" y="2002536"/>
            <a:ext cx="5141123" cy="521208"/>
          </a:xfrm>
          <a:prstGeom prst="rect">
            <a:avLst/>
          </a:prstGeom>
          <a:noFill/>
          <a:ln/>
        </p:spPr>
        <p:txBody>
          <a:bodyPr wrap="square" lIns="0" tIns="0" rIns="0" bIns="0" rtlCol="0" anchor="ctr">
            <a:normAutofit/>
          </a:bodyPr>
          <a:lstStyle/>
          <a:p>
            <a:pPr marL="0" indent="0" algn="ctr" eaLnBrk="1">
              <a:buNone/>
            </a:pPr>
            <a:r>
              <a:rPr lang="ko-KR" altLang="en-US" sz="1500" b="1" dirty="0">
                <a:solidFill>
                  <a:srgbClr val="FFFFFF"/>
                </a:solidFill>
                <a:latin typeface="Malgun Gothic" pitchFamily="34" charset="0"/>
                <a:ea typeface="Malgun Gothic" pitchFamily="34" charset="-122"/>
                <a:cs typeface="Malgun Gothic" pitchFamily="34" charset="-120"/>
              </a:rPr>
              <a:t>F · 이번 역은 시청입니다</a:t>
            </a:r>
            <a:r>
              <a:rPr lang="en-US" sz="1500" b="1" dirty="0">
                <a:solidFill>
                  <a:srgbClr val="FFFFFF"/>
                </a:solidFill>
              </a:rPr>
              <a:t>. · a todos: anuncio del metro</a:t>
            </a:r>
            <a:endParaRPr lang="en-US" sz="15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688336"/>
            <a:ext cx="4898989" cy="594360"/>
          </a:xfrm>
          <a:prstGeom prst="rect">
            <a:avLst/>
          </a:prstGeom>
          <a:noFill/>
          <a:ln/>
        </p:spPr>
        <p:txBody>
          <a:bodyPr wrap="square" lIns="0" tIns="0" rIns="0" bIns="0" rtlCol="0" anchor="ctr">
            <a:normAutofit/>
          </a:bodyPr>
          <a:lstStyle/>
          <a:p>
            <a:pPr marL="0" indent="0" eaLnBrk="1">
              <a:buNone/>
            </a:pPr>
            <a:r>
              <a:rPr lang="en-US" sz="2400" dirty="0">
                <a:solidFill>
                  <a:srgbClr val="14142B"/>
                </a:solidFill>
              </a:rPr>
              <a:t>Frase 2</a:t>
            </a:r>
            <a:endParaRPr lang="en-US" sz="2400" dirty="0"/>
          </a:p>
        </p:txBody>
      </p:sp>
      <p:sp>
        <p:nvSpPr>
          <p:cNvPr id="12" name="rev_14_caja"/>
          <p:cNvSpPr/>
          <p:nvPr/>
        </p:nvSpPr>
        <p:spPr>
          <a:xfrm>
            <a:off x="6316309" y="2724912"/>
            <a:ext cx="5324003" cy="521208"/>
          </a:xfrm>
          <a:prstGeom prst="roundRect">
            <a:avLst>
              <a:gd name="adj" fmla="val 21053"/>
            </a:avLst>
          </a:prstGeom>
          <a:solidFill>
            <a:srgbClr val="4236F6"/>
          </a:solidFill>
          <a:ln w="12700">
            <a:solidFill>
              <a:srgbClr val="4236F6"/>
            </a:solidFill>
            <a:prstDash val="solid"/>
          </a:ln>
        </p:spPr>
      </p:sp>
      <p:sp>
        <p:nvSpPr>
          <p:cNvPr id="13" name="rev_14_txt"/>
          <p:cNvSpPr txBox="1"/>
          <p:nvPr/>
        </p:nvSpPr>
        <p:spPr>
          <a:xfrm>
            <a:off x="6407749" y="2724912"/>
            <a:ext cx="5141123" cy="521208"/>
          </a:xfrm>
          <a:prstGeom prst="rect">
            <a:avLst/>
          </a:prstGeom>
          <a:noFill/>
          <a:ln/>
        </p:spPr>
        <p:txBody>
          <a:bodyPr wrap="square" lIns="0" tIns="0" rIns="0" bIns="0" rtlCol="0" anchor="ctr">
            <a:normAutofit/>
          </a:bodyPr>
          <a:lstStyle/>
          <a:p>
            <a:pPr marL="0" indent="0" algn="ctr" eaLnBrk="1">
              <a:buNone/>
            </a:pPr>
            <a:r>
              <a:rPr lang="ko-KR" altLang="en-US" sz="1500" b="1" dirty="0">
                <a:solidFill>
                  <a:srgbClr val="FFFFFF"/>
                </a:solidFill>
                <a:latin typeface="Malgun Gothic" pitchFamily="34" charset="0"/>
                <a:ea typeface="Malgun Gothic" pitchFamily="34" charset="-122"/>
                <a:cs typeface="Malgun Gothic" pitchFamily="34" charset="-120"/>
              </a:rPr>
              <a:t>A · 요즘 너무 바빠요</a:t>
            </a:r>
            <a:r>
              <a:rPr lang="en-US" sz="1500" b="1" dirty="0">
                <a:solidFill>
                  <a:srgbClr val="FFFFFF"/>
                </a:solidFill>
              </a:rPr>
              <a:t>. · a un compañero, a un amigo</a:t>
            </a:r>
            <a:endParaRPr lang="en-US" sz="15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410712"/>
            <a:ext cx="4898989" cy="594360"/>
          </a:xfrm>
          <a:prstGeom prst="rect">
            <a:avLst/>
          </a:prstGeom>
          <a:noFill/>
          <a:ln/>
        </p:spPr>
        <p:txBody>
          <a:bodyPr wrap="square" lIns="0" tIns="0" rIns="0" bIns="0" rtlCol="0" anchor="ctr">
            <a:normAutofit/>
          </a:bodyPr>
          <a:lstStyle/>
          <a:p>
            <a:pPr marL="0" indent="0" eaLnBrk="1">
              <a:buNone/>
            </a:pPr>
            <a:r>
              <a:rPr lang="en-US" sz="2400" dirty="0">
                <a:solidFill>
                  <a:srgbClr val="14142B"/>
                </a:solidFill>
              </a:rPr>
              <a:t>Frase 3</a:t>
            </a:r>
            <a:endParaRPr lang="en-US" sz="2400" dirty="0"/>
          </a:p>
        </p:txBody>
      </p:sp>
      <p:sp>
        <p:nvSpPr>
          <p:cNvPr id="17" name="rev_15_caja"/>
          <p:cNvSpPr/>
          <p:nvPr/>
        </p:nvSpPr>
        <p:spPr>
          <a:xfrm>
            <a:off x="6316309" y="3447288"/>
            <a:ext cx="5324003" cy="521208"/>
          </a:xfrm>
          <a:prstGeom prst="roundRect">
            <a:avLst>
              <a:gd name="adj" fmla="val 21053"/>
            </a:avLst>
          </a:prstGeom>
          <a:solidFill>
            <a:srgbClr val="4236F6"/>
          </a:solidFill>
          <a:ln w="12700">
            <a:solidFill>
              <a:srgbClr val="4236F6"/>
            </a:solidFill>
            <a:prstDash val="solid"/>
          </a:ln>
        </p:spPr>
      </p:sp>
      <p:sp>
        <p:nvSpPr>
          <p:cNvPr id="18" name="rev_15_txt"/>
          <p:cNvSpPr txBox="1"/>
          <p:nvPr/>
        </p:nvSpPr>
        <p:spPr>
          <a:xfrm>
            <a:off x="6407749" y="3447288"/>
            <a:ext cx="5141123" cy="521208"/>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A · 카페에서 공부해요</a:t>
            </a:r>
            <a:r>
              <a:rPr lang="en-US" sz="1800" b="1" dirty="0">
                <a:solidFill>
                  <a:srgbClr val="FFFFFF"/>
                </a:solidFill>
              </a:rPr>
              <a:t>? · a un compañero</a:t>
            </a:r>
            <a:endParaRPr lang="en-US" sz="1800" dirty="0"/>
          </a:p>
        </p:txBody>
      </p:sp>
      <p:sp>
        <p:nvSpPr>
          <p:cNvPr id="19"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133088"/>
            <a:ext cx="4898989" cy="594360"/>
          </a:xfrm>
          <a:prstGeom prst="rect">
            <a:avLst/>
          </a:prstGeom>
          <a:noFill/>
          <a:ln/>
        </p:spPr>
        <p:txBody>
          <a:bodyPr wrap="square" lIns="0" tIns="0" rIns="0" bIns="0" rtlCol="0" anchor="ctr">
            <a:normAutofit/>
          </a:bodyPr>
          <a:lstStyle/>
          <a:p>
            <a:pPr marL="0" indent="0" eaLnBrk="1">
              <a:buNone/>
            </a:pPr>
            <a:r>
              <a:rPr lang="en-US" sz="2400" dirty="0">
                <a:solidFill>
                  <a:srgbClr val="14142B"/>
                </a:solidFill>
              </a:rPr>
              <a:t>Frase 4</a:t>
            </a:r>
            <a:endParaRPr lang="en-US" sz="2400" dirty="0"/>
          </a:p>
        </p:txBody>
      </p:sp>
      <p:sp>
        <p:nvSpPr>
          <p:cNvPr id="22" name="rev_16_caja"/>
          <p:cNvSpPr/>
          <p:nvPr/>
        </p:nvSpPr>
        <p:spPr>
          <a:xfrm>
            <a:off x="6316309" y="4169664"/>
            <a:ext cx="5324003" cy="521208"/>
          </a:xfrm>
          <a:prstGeom prst="roundRect">
            <a:avLst>
              <a:gd name="adj" fmla="val 21053"/>
            </a:avLst>
          </a:prstGeom>
          <a:solidFill>
            <a:srgbClr val="4236F6"/>
          </a:solidFill>
          <a:ln w="12700">
            <a:solidFill>
              <a:srgbClr val="4236F6"/>
            </a:solidFill>
            <a:prstDash val="solid"/>
          </a:ln>
        </p:spPr>
      </p:sp>
      <p:sp>
        <p:nvSpPr>
          <p:cNvPr id="23" name="rev_16_txt"/>
          <p:cNvSpPr txBox="1"/>
          <p:nvPr/>
        </p:nvSpPr>
        <p:spPr>
          <a:xfrm>
            <a:off x="6407749" y="4169664"/>
            <a:ext cx="5141123" cy="521208"/>
          </a:xfrm>
          <a:prstGeom prst="rect">
            <a:avLst/>
          </a:prstGeom>
          <a:noFill/>
          <a:ln/>
        </p:spPr>
        <p:txBody>
          <a:bodyPr wrap="square" lIns="0" tIns="0" rIns="0" bIns="0" rtlCol="0" anchor="ctr">
            <a:normAutofit/>
          </a:bodyPr>
          <a:lstStyle/>
          <a:p>
            <a:pPr marL="0" indent="0" algn="ctr" eaLnBrk="1">
              <a:buNone/>
            </a:pPr>
            <a:r>
              <a:rPr lang="ko-KR" altLang="en-US" sz="1500" b="1" dirty="0">
                <a:solidFill>
                  <a:srgbClr val="FFFFFF"/>
                </a:solidFill>
                <a:latin typeface="Malgun Gothic" pitchFamily="34" charset="0"/>
                <a:ea typeface="Malgun Gothic" pitchFamily="34" charset="-122"/>
                <a:cs typeface="Malgun Gothic" pitchFamily="34" charset="-120"/>
              </a:rPr>
              <a:t>F · 오늘 서울은 춥습니다</a:t>
            </a:r>
            <a:r>
              <a:rPr lang="en-US" sz="1500" b="1" dirty="0">
                <a:solidFill>
                  <a:srgbClr val="FFFFFF"/>
                </a:solidFill>
              </a:rPr>
              <a:t>. · noticias del tiempo</a:t>
            </a:r>
            <a:endParaRPr lang="en-US" sz="1500" dirty="0"/>
          </a:p>
        </p:txBody>
      </p:sp>
      <p:sp>
        <p:nvSpPr>
          <p:cNvPr id="24"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4855464"/>
            <a:ext cx="4898989" cy="594360"/>
          </a:xfrm>
          <a:prstGeom prst="rect">
            <a:avLst/>
          </a:prstGeom>
          <a:noFill/>
          <a:ln/>
        </p:spPr>
        <p:txBody>
          <a:bodyPr wrap="square" lIns="0" tIns="0" rIns="0" bIns="0" rtlCol="0" anchor="ctr">
            <a:normAutofit/>
          </a:bodyPr>
          <a:lstStyle/>
          <a:p>
            <a:pPr marL="0" indent="0" eaLnBrk="1">
              <a:buNone/>
            </a:pPr>
            <a:r>
              <a:rPr lang="en-US" sz="2400" dirty="0">
                <a:solidFill>
                  <a:srgbClr val="14142B"/>
                </a:solidFill>
              </a:rPr>
              <a:t>Frase 5</a:t>
            </a:r>
            <a:endParaRPr lang="en-US" sz="2400" dirty="0"/>
          </a:p>
        </p:txBody>
      </p:sp>
      <p:sp>
        <p:nvSpPr>
          <p:cNvPr id="27" name="rev_17_caja"/>
          <p:cNvSpPr/>
          <p:nvPr/>
        </p:nvSpPr>
        <p:spPr>
          <a:xfrm>
            <a:off x="6316309" y="4892040"/>
            <a:ext cx="5324003" cy="521208"/>
          </a:xfrm>
          <a:prstGeom prst="roundRect">
            <a:avLst>
              <a:gd name="adj" fmla="val 21053"/>
            </a:avLst>
          </a:prstGeom>
          <a:solidFill>
            <a:srgbClr val="4236F6"/>
          </a:solidFill>
          <a:ln w="12700">
            <a:solidFill>
              <a:srgbClr val="4236F6"/>
            </a:solidFill>
            <a:prstDash val="solid"/>
          </a:ln>
        </p:spPr>
      </p:sp>
      <p:sp>
        <p:nvSpPr>
          <p:cNvPr id="28" name="rev_17_txt"/>
          <p:cNvSpPr txBox="1"/>
          <p:nvPr/>
        </p:nvSpPr>
        <p:spPr>
          <a:xfrm>
            <a:off x="6407749" y="4892040"/>
            <a:ext cx="5141123" cy="521208"/>
          </a:xfrm>
          <a:prstGeom prst="rect">
            <a:avLst/>
          </a:prstGeom>
          <a:noFill/>
          <a:ln/>
        </p:spPr>
        <p:txBody>
          <a:bodyPr wrap="square" lIns="0" tIns="0" rIns="0" bIns="0" rtlCol="0" anchor="ctr">
            <a:normAutofit/>
          </a:bodyPr>
          <a:lstStyle/>
          <a:p>
            <a:pPr marL="0" indent="0" algn="ctr" eaLnBrk="1">
              <a:buNone/>
            </a:pPr>
            <a:r>
              <a:rPr lang="ko-KR" altLang="en-US" sz="1500" b="1" dirty="0">
                <a:solidFill>
                  <a:srgbClr val="FFFFFF"/>
                </a:solidFill>
                <a:latin typeface="Malgun Gothic" pitchFamily="34" charset="0"/>
                <a:ea typeface="Malgun Gothic" pitchFamily="34" charset="-122"/>
                <a:cs typeface="Malgun Gothic" pitchFamily="34" charset="-120"/>
              </a:rPr>
              <a:t>A · 보통 일곱 시쯤 일어나요</a:t>
            </a:r>
            <a:r>
              <a:rPr lang="en-US" sz="1500" b="1" dirty="0">
                <a:solidFill>
                  <a:srgbClr val="FFFFFF"/>
                </a:solidFill>
              </a:rPr>
              <a:t>. · conversación de todos los días</a:t>
            </a:r>
            <a:endParaRPr lang="en-US" sz="1500" dirty="0"/>
          </a:p>
        </p:txBody>
      </p:sp>
      <p:sp>
        <p:nvSpPr>
          <p:cNvPr id="29"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0"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1" name="Text 29"/>
          <p:cNvSpPr txBox="1"/>
          <p:nvPr/>
        </p:nvSpPr>
        <p:spPr>
          <a:xfrm>
            <a:off x="1188720" y="5577840"/>
            <a:ext cx="4898989" cy="594360"/>
          </a:xfrm>
          <a:prstGeom prst="rect">
            <a:avLst/>
          </a:prstGeom>
          <a:noFill/>
          <a:ln/>
        </p:spPr>
        <p:txBody>
          <a:bodyPr wrap="square" lIns="0" tIns="0" rIns="0" bIns="0" rtlCol="0" anchor="ctr">
            <a:normAutofit/>
          </a:bodyPr>
          <a:lstStyle/>
          <a:p>
            <a:pPr marL="0" indent="0" eaLnBrk="1">
              <a:buNone/>
            </a:pPr>
            <a:r>
              <a:rPr lang="en-US" sz="2400" dirty="0">
                <a:solidFill>
                  <a:srgbClr val="14142B"/>
                </a:solidFill>
              </a:rPr>
              <a:t>Frase 6</a:t>
            </a:r>
            <a:endParaRPr lang="en-US" sz="2400" dirty="0"/>
          </a:p>
        </p:txBody>
      </p:sp>
      <p:sp>
        <p:nvSpPr>
          <p:cNvPr id="32" name="rev_18_caja"/>
          <p:cNvSpPr/>
          <p:nvPr/>
        </p:nvSpPr>
        <p:spPr>
          <a:xfrm>
            <a:off x="6316309" y="5614416"/>
            <a:ext cx="5324003" cy="521208"/>
          </a:xfrm>
          <a:prstGeom prst="roundRect">
            <a:avLst>
              <a:gd name="adj" fmla="val 21053"/>
            </a:avLst>
          </a:prstGeom>
          <a:solidFill>
            <a:srgbClr val="4236F6"/>
          </a:solidFill>
          <a:ln w="12700">
            <a:solidFill>
              <a:srgbClr val="4236F6"/>
            </a:solidFill>
            <a:prstDash val="solid"/>
          </a:ln>
        </p:spPr>
      </p:sp>
      <p:sp>
        <p:nvSpPr>
          <p:cNvPr id="33" name="rev_18_txt"/>
          <p:cNvSpPr txBox="1"/>
          <p:nvPr/>
        </p:nvSpPr>
        <p:spPr>
          <a:xfrm>
            <a:off x="6407749" y="5614416"/>
            <a:ext cx="5141123" cy="521208"/>
          </a:xfrm>
          <a:prstGeom prst="rect">
            <a:avLst/>
          </a:prstGeom>
          <a:noFill/>
          <a:ln/>
        </p:spPr>
        <p:txBody>
          <a:bodyPr wrap="square" lIns="0" tIns="0" rIns="0" bIns="0" rtlCol="0" anchor="ctr">
            <a:normAutofit/>
          </a:bodyPr>
          <a:lstStyle/>
          <a:p>
            <a:pPr marL="0" indent="0" algn="ctr" eaLnBrk="1">
              <a:buNone/>
            </a:pPr>
            <a:r>
              <a:rPr lang="ko-KR" altLang="en-US" sz="1500" b="1" dirty="0">
                <a:solidFill>
                  <a:srgbClr val="FFFFFF"/>
                </a:solidFill>
                <a:latin typeface="Malgun Gothic" pitchFamily="34" charset="0"/>
                <a:ea typeface="Malgun Gothic" pitchFamily="34" charset="-122"/>
                <a:cs typeface="Malgun Gothic" pitchFamily="34" charset="-120"/>
              </a:rPr>
              <a:t>F · 저는 카밀라입니다</a:t>
            </a:r>
            <a:r>
              <a:rPr lang="en-US" sz="1500" b="1" dirty="0">
                <a:solidFill>
                  <a:srgbClr val="FFFFFF"/>
                </a:solidFill>
              </a:rPr>
              <a:t>. </a:t>
            </a:r>
            <a:r>
              <a:rPr lang="ko-KR" altLang="en-US" sz="1500" b="1" dirty="0">
                <a:solidFill>
                  <a:srgbClr val="FFFFFF"/>
                </a:solidFill>
                <a:latin typeface="Malgun Gothic" pitchFamily="34" charset="0"/>
                <a:ea typeface="Malgun Gothic" pitchFamily="34" charset="-122"/>
                <a:cs typeface="Malgun Gothic" pitchFamily="34" charset="-120"/>
              </a:rPr>
              <a:t>반갑습니다</a:t>
            </a:r>
            <a:r>
              <a:rPr lang="en-US" sz="1500" b="1" dirty="0">
                <a:solidFill>
                  <a:srgbClr val="FFFFFF"/>
                </a:solidFill>
              </a:rPr>
              <a:t>. · presentación ante un grupo</a:t>
            </a:r>
            <a:endParaRPr lang="en-US" sz="15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Tu presentación formal</a:t>
            </a:r>
            <a:r>
              <a:rPr lang="en-US" sz="1500" b="1" i="1" dirty="0">
                <a:solidFill>
                  <a:srgbClr val="8A8DA0"/>
                </a:solidFill>
              </a:rPr>
              <a:t>   Your formal introduction</a:t>
            </a:r>
            <a:endParaRPr lang="en-US" sz="3000" dirty="0"/>
          </a:p>
        </p:txBody>
      </p:sp>
      <p:sp>
        <p:nvSpPr>
          <p:cNvPr id="3" name="panel"/>
          <p:cNvSpPr/>
          <p:nvPr/>
        </p:nvSpPr>
        <p:spPr>
          <a:xfrm>
            <a:off x="1280160" y="1645920"/>
            <a:ext cx="9628632" cy="3108960"/>
          </a:xfrm>
          <a:prstGeom prst="roundRect">
            <a:avLst>
              <a:gd name="adj" fmla="val 8824"/>
            </a:avLst>
          </a:prstGeom>
          <a:solidFill>
            <a:srgbClr val="F1F0FE"/>
          </a:solidFill>
          <a:ln w="12700">
            <a:solidFill>
              <a:srgbClr val="F1F0FE"/>
            </a:solidFill>
            <a:prstDash val="solid"/>
          </a:ln>
        </p:spPr>
      </p:sp>
      <p:sp>
        <p:nvSpPr>
          <p:cNvPr id="4" name="frase_ko"/>
          <p:cNvSpPr txBox="1"/>
          <p:nvPr/>
        </p:nvSpPr>
        <p:spPr>
          <a:xfrm>
            <a:off x="1463040" y="1828800"/>
            <a:ext cx="9262872" cy="1828800"/>
          </a:xfrm>
          <a:prstGeom prst="rect">
            <a:avLst/>
          </a:prstGeom>
          <a:noFill/>
          <a:ln/>
        </p:spPr>
        <p:txBody>
          <a:bodyPr wrap="square" lIns="0" tIns="0" rIns="0" bIns="0" rtlCol="0" anchor="ctr">
            <a:normAutofit/>
          </a:bodyPr>
          <a:lstStyle/>
          <a:p>
            <a:pPr marL="0" indent="0" algn="ctr" eaLnBrk="1">
              <a:buNone/>
            </a:pPr>
            <a:r>
              <a:rPr lang="ko-KR" altLang="en-US" sz="5700" b="1" dirty="0">
                <a:solidFill>
                  <a:srgbClr val="4236F6"/>
                </a:solidFill>
                <a:latin typeface="Malgun Gothic" pitchFamily="34" charset="0"/>
                <a:ea typeface="Malgun Gothic" pitchFamily="34" charset="-122"/>
                <a:cs typeface="Malgun Gothic" pitchFamily="34" charset="-120"/>
              </a:rPr>
              <a:t>저는 </a:t>
            </a:r>
            <a:r>
              <a:rPr lang="en-US" sz="5700" b="1" dirty="0">
                <a:solidFill>
                  <a:srgbClr val="4236F6"/>
                </a:solidFill>
              </a:rPr>
              <a:t>___</a:t>
            </a:r>
            <a:r>
              <a:rPr lang="ko-KR" altLang="en-US" sz="5700" b="1" dirty="0">
                <a:solidFill>
                  <a:srgbClr val="4236F6"/>
                </a:solidFill>
                <a:latin typeface="Malgun Gothic" pitchFamily="34" charset="0"/>
                <a:ea typeface="Malgun Gothic" pitchFamily="34" charset="-122"/>
                <a:cs typeface="Malgun Gothic" pitchFamily="34" charset="-120"/>
              </a:rPr>
              <a:t>입니다</a:t>
            </a:r>
            <a:r>
              <a:rPr lang="en-US" sz="5700" b="1" dirty="0">
                <a:solidFill>
                  <a:srgbClr val="4236F6"/>
                </a:solidFill>
              </a:rPr>
              <a:t>.</a:t>
            </a:r>
            <a:endParaRPr lang="en-US" sz="5700" dirty="0"/>
          </a:p>
          <a:p>
            <a:pPr marL="0" indent="0" algn="ctr" eaLnBrk="1">
              <a:buNone/>
            </a:pPr>
            <a:r>
              <a:rPr lang="ko-KR" altLang="en-US" sz="5700" b="1" dirty="0">
                <a:solidFill>
                  <a:srgbClr val="4236F6"/>
                </a:solidFill>
                <a:latin typeface="Malgun Gothic" pitchFamily="34" charset="0"/>
                <a:ea typeface="Malgun Gothic" pitchFamily="34" charset="-122"/>
                <a:cs typeface="Malgun Gothic" pitchFamily="34" charset="-120"/>
              </a:rPr>
              <a:t>___입니다</a:t>
            </a:r>
            <a:r>
              <a:rPr lang="en-US" sz="5700" b="1" dirty="0">
                <a:solidFill>
                  <a:srgbClr val="4236F6"/>
                </a:solidFill>
              </a:rPr>
              <a:t>. </a:t>
            </a:r>
            <a:r>
              <a:rPr lang="ko-KR" altLang="en-US" sz="5700" b="1" dirty="0">
                <a:solidFill>
                  <a:srgbClr val="4236F6"/>
                </a:solidFill>
                <a:latin typeface="Malgun Gothic" pitchFamily="34" charset="0"/>
                <a:ea typeface="Malgun Gothic" pitchFamily="34" charset="-122"/>
                <a:cs typeface="Malgun Gothic" pitchFamily="34" charset="-120"/>
              </a:rPr>
              <a:t>반갑습니다</a:t>
            </a:r>
            <a:r>
              <a:rPr lang="en-US" sz="5700" b="1" dirty="0">
                <a:solidFill>
                  <a:srgbClr val="4236F6"/>
                </a:solidFill>
              </a:rPr>
              <a:t>.</a:t>
            </a:r>
            <a:endParaRPr lang="en-US" sz="5700" dirty="0"/>
          </a:p>
        </p:txBody>
      </p:sp>
      <p:sp>
        <p:nvSpPr>
          <p:cNvPr id="5" name="Text 3"/>
          <p:cNvSpPr txBox="1"/>
          <p:nvPr/>
        </p:nvSpPr>
        <p:spPr>
          <a:xfrm>
            <a:off x="1783080" y="3657600"/>
            <a:ext cx="8439912" cy="822960"/>
          </a:xfrm>
          <a:prstGeom prst="rect">
            <a:avLst/>
          </a:prstGeom>
          <a:noFill/>
          <a:ln/>
        </p:spPr>
        <p:txBody>
          <a:bodyPr wrap="square" lIns="0" tIns="0" rIns="0" bIns="0" rtlCol="0" anchor="t">
            <a:normAutofit/>
          </a:bodyPr>
          <a:lstStyle/>
          <a:p>
            <a:pPr marL="0" indent="0" algn="ctr" eaLnBrk="1">
              <a:buNone/>
            </a:pPr>
            <a:r>
              <a:rPr lang="en-US" sz="2400" dirty="0">
                <a:solidFill>
                  <a:srgbClr val="5C5F6B"/>
                </a:solidFill>
              </a:rPr>
              <a:t>Soy ___. Soy ___ (tu profesión). Encantado/a.</a:t>
            </a:r>
            <a:endParaRPr lang="en-US" sz="2400" dirty="0"/>
          </a:p>
        </p:txBody>
      </p:sp>
      <p:sp>
        <p:nvSpPr>
          <p:cNvPr id="6" name="lista"/>
          <p:cNvSpPr txBox="1"/>
          <p:nvPr/>
        </p:nvSpPr>
        <p:spPr>
          <a:xfrm>
            <a:off x="1280160" y="4937760"/>
            <a:ext cx="9628632"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Modelo de Jay: 저는 김재희입니다</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한국어 선생님입니다</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반갑습니다</a:t>
            </a:r>
            <a:r>
              <a:rPr lang="en-US" sz="1800" dirty="0">
                <a:solidFill>
                  <a:srgbClr val="14142B"/>
                </a:solidFill>
              </a:rPr>
              <a: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200" b="1" dirty="0">
                <a:solidFill>
                  <a:srgbClr val="4236F6"/>
                </a:solidFill>
                <a:latin typeface="Malgun Gothic" pitchFamily="34" charset="0"/>
                <a:ea typeface="Malgun Gothic" pitchFamily="34" charset="-122"/>
                <a:cs typeface="Malgun Gothic" pitchFamily="34" charset="-120"/>
              </a:rPr>
              <a:t>아홉 시에 출근해요  </a:t>
            </a:r>
            <a:r>
              <a:rPr lang="en-US" sz="2200" b="1" dirty="0">
                <a:solidFill>
                  <a:srgbClr val="003478"/>
                </a:solidFill>
              </a:rPr>
              <a:t>Entro a trabajar a las nueve</a:t>
            </a:r>
            <a:r>
              <a:rPr lang="en-US" sz="1500" b="1" i="1" dirty="0">
                <a:solidFill>
                  <a:srgbClr val="8A8DA0"/>
                </a:solidFill>
              </a:rPr>
              <a:t>   I start work at nine</a:t>
            </a:r>
            <a:endParaRPr lang="en-US" sz="3000" dirty="0"/>
          </a:p>
        </p:txBody>
      </p:sp>
      <p:sp>
        <p:nvSpPr>
          <p:cNvPr id="3" name="Text 1"/>
          <p:cNvSpPr txBox="1"/>
          <p:nvPr/>
        </p:nvSpPr>
        <p:spPr>
          <a:xfrm>
            <a:off x="548640" y="1325880"/>
            <a:ext cx="566928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Seúl, jueves 9:00</a:t>
            </a:r>
            <a:endParaRPr lang="en-US" sz="1800" dirty="0"/>
          </a:p>
        </p:txBody>
      </p:sp>
      <p:sp>
        <p:nvSpPr>
          <p:cNvPr id="4" name="lista"/>
          <p:cNvSpPr txBox="1"/>
          <p:nvPr/>
        </p:nvSpPr>
        <p:spPr>
          <a:xfrm>
            <a:off x="548640" y="1965960"/>
            <a:ext cx="566928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Ahora mismo en Seúl mucha gente acaba de… 출근해요</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아홉 시에 출근해요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여섯 시에 퇴근해요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Al llegar: 안녕하세요</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Si te vas antes (para reconocer): 먼저 가겠습니다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먼저 들어가 보겠습니다</a:t>
            </a:r>
            <a:endParaRPr lang="en-US" sz="2400" dirty="0"/>
          </a:p>
          <a:p>
            <a:pPr marL="228600" indent="-228600" eaLnBrk="1">
              <a:spcAft>
                <a:spcPts val="800"/>
              </a:spcAft>
              <a:buSzPct val="100000"/>
              <a:buChar char="•"/>
            </a:pPr>
            <a:r>
              <a:rPr lang="en-US" sz="2400" dirty="0">
                <a:solidFill>
                  <a:srgbClr val="14142B"/>
                </a:solidFill>
              </a:rPr>
              <a:t>En muchas oficinas; depende de la empresa</a:t>
            </a:r>
            <a:endParaRPr lang="en-US" sz="2400" dirty="0"/>
          </a:p>
        </p:txBody>
      </p:sp>
      <p:sp>
        <p:nvSpPr>
          <p:cNvPr id="5"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6" name="imagen" descr="C:\Users\Chingu\AppData\Local\Temp\claude\C--Users-Chingu-Desktop-ACADEMIASEULWEB\d4111e1b-5523-44ea-97b2-b1a1d9545b9e\scratchpad\decks\cache\img_9cca462b5b702ec4.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Rueda de conjugación (1/4)</a:t>
            </a:r>
            <a:r>
              <a:rPr lang="en-US" sz="1500" b="1" i="1" dirty="0">
                <a:solidFill>
                  <a:srgbClr val="8A8DA0"/>
                </a:solidFill>
              </a:rPr>
              <a:t>   Conjugation wheel (1/4)</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Marcador del grupo: __ / 25 · Tu nombre, tu verbo, 3 segundos: di la forma -아요</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어요</a:t>
            </a:r>
            <a:r>
              <a:rPr lang="en-US" sz="1800" i="1" dirty="0">
                <a:solidFill>
                  <a:srgbClr val="4236F6"/>
                </a:solidFill>
              </a:rPr>
              <a:t>. Regular = 1 punto · irregular = 2</a:t>
            </a:r>
            <a:endParaRPr lang="en-US" sz="1800" dirty="0"/>
          </a:p>
        </p:txBody>
      </p:sp>
      <p:sp>
        <p:nvSpPr>
          <p:cNvPr id="4" name="num_0"/>
          <p:cNvSpPr/>
          <p:nvPr/>
        </p:nvSpPr>
        <p:spPr>
          <a:xfrm>
            <a:off x="548640" y="2106778"/>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0677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가다</a:t>
            </a:r>
            <a:endParaRPr lang="en-US" sz="2400" dirty="0"/>
          </a:p>
        </p:txBody>
      </p:sp>
      <p:sp>
        <p:nvSpPr>
          <p:cNvPr id="7" name="rev_19_caja"/>
          <p:cNvSpPr/>
          <p:nvPr/>
        </p:nvSpPr>
        <p:spPr>
          <a:xfrm>
            <a:off x="7498080" y="2002536"/>
            <a:ext cx="4142232" cy="665683"/>
          </a:xfrm>
          <a:prstGeom prst="roundRect">
            <a:avLst>
              <a:gd name="adj" fmla="val 16484"/>
            </a:avLst>
          </a:prstGeom>
          <a:solidFill>
            <a:srgbClr val="4236F6"/>
          </a:solidFill>
          <a:ln w="12700">
            <a:solidFill>
              <a:srgbClr val="4236F6"/>
            </a:solidFill>
            <a:prstDash val="solid"/>
          </a:ln>
        </p:spPr>
      </p:sp>
      <p:sp>
        <p:nvSpPr>
          <p:cNvPr id="8" name="rev_19_txt"/>
          <p:cNvSpPr txBox="1"/>
          <p:nvPr/>
        </p:nvSpPr>
        <p:spPr>
          <a:xfrm>
            <a:off x="7589520" y="2002536"/>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가요 </a:t>
            </a:r>
            <a:r>
              <a:rPr lang="en-US" sz="2200" b="1" dirty="0">
                <a:solidFill>
                  <a:srgbClr val="FFFFFF"/>
                </a:solidFill>
              </a:rPr>
              <a:t>· 1 punto</a:t>
            </a:r>
            <a:endParaRPr lang="en-US" sz="2200" dirty="0"/>
          </a:p>
        </p:txBody>
      </p:sp>
      <p:sp>
        <p:nvSpPr>
          <p:cNvPr id="9" name="num_1"/>
          <p:cNvSpPr/>
          <p:nvPr/>
        </p:nvSpPr>
        <p:spPr>
          <a:xfrm>
            <a:off x="548640" y="2973629"/>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973629"/>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832811"/>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덥다</a:t>
            </a:r>
            <a:endParaRPr lang="en-US" sz="2400" dirty="0"/>
          </a:p>
        </p:txBody>
      </p:sp>
      <p:sp>
        <p:nvSpPr>
          <p:cNvPr id="12" name="rev_20_caja"/>
          <p:cNvSpPr/>
          <p:nvPr/>
        </p:nvSpPr>
        <p:spPr>
          <a:xfrm>
            <a:off x="7498080" y="2869387"/>
            <a:ext cx="4142232" cy="665683"/>
          </a:xfrm>
          <a:prstGeom prst="roundRect">
            <a:avLst>
              <a:gd name="adj" fmla="val 16484"/>
            </a:avLst>
          </a:prstGeom>
          <a:solidFill>
            <a:srgbClr val="4236F6"/>
          </a:solidFill>
          <a:ln w="12700">
            <a:solidFill>
              <a:srgbClr val="4236F6"/>
            </a:solidFill>
            <a:prstDash val="solid"/>
          </a:ln>
        </p:spPr>
      </p:sp>
      <p:sp>
        <p:nvSpPr>
          <p:cNvPr id="13" name="rev_20_txt"/>
          <p:cNvSpPr txBox="1"/>
          <p:nvPr/>
        </p:nvSpPr>
        <p:spPr>
          <a:xfrm>
            <a:off x="7589520" y="2869387"/>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더워요 </a:t>
            </a:r>
            <a:r>
              <a:rPr lang="en-US" sz="2200" b="1" dirty="0">
                <a:solidFill>
                  <a:srgbClr val="FFFFFF"/>
                </a:solidFill>
              </a:rPr>
              <a:t>· 2 puntos</a:t>
            </a:r>
            <a:endParaRPr lang="en-US" sz="2200" dirty="0"/>
          </a:p>
        </p:txBody>
      </p:sp>
      <p:sp>
        <p:nvSpPr>
          <p:cNvPr id="14" name="num_2"/>
          <p:cNvSpPr/>
          <p:nvPr/>
        </p:nvSpPr>
        <p:spPr>
          <a:xfrm>
            <a:off x="548640" y="3840480"/>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84048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699662"/>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마시다</a:t>
            </a:r>
            <a:endParaRPr lang="en-US" sz="2400" dirty="0"/>
          </a:p>
        </p:txBody>
      </p:sp>
      <p:sp>
        <p:nvSpPr>
          <p:cNvPr id="17" name="rev_21_caja"/>
          <p:cNvSpPr/>
          <p:nvPr/>
        </p:nvSpPr>
        <p:spPr>
          <a:xfrm>
            <a:off x="7498080" y="3736238"/>
            <a:ext cx="4142232" cy="665683"/>
          </a:xfrm>
          <a:prstGeom prst="roundRect">
            <a:avLst>
              <a:gd name="adj" fmla="val 16484"/>
            </a:avLst>
          </a:prstGeom>
          <a:solidFill>
            <a:srgbClr val="4236F6"/>
          </a:solidFill>
          <a:ln w="12700">
            <a:solidFill>
              <a:srgbClr val="4236F6"/>
            </a:solidFill>
            <a:prstDash val="solid"/>
          </a:ln>
        </p:spPr>
      </p:sp>
      <p:sp>
        <p:nvSpPr>
          <p:cNvPr id="18" name="rev_21_txt"/>
          <p:cNvSpPr txBox="1"/>
          <p:nvPr/>
        </p:nvSpPr>
        <p:spPr>
          <a:xfrm>
            <a:off x="7589520" y="3736238"/>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마셔요 </a:t>
            </a:r>
            <a:r>
              <a:rPr lang="en-US" sz="2200" b="1" dirty="0">
                <a:solidFill>
                  <a:srgbClr val="FFFFFF"/>
                </a:solidFill>
              </a:rPr>
              <a:t>· 1 punto</a:t>
            </a:r>
            <a:endParaRPr lang="en-US" sz="2200" dirty="0"/>
          </a:p>
        </p:txBody>
      </p:sp>
      <p:sp>
        <p:nvSpPr>
          <p:cNvPr id="19" name="num_3"/>
          <p:cNvSpPr/>
          <p:nvPr/>
        </p:nvSpPr>
        <p:spPr>
          <a:xfrm>
            <a:off x="548640" y="4707331"/>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707331"/>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566514"/>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듣다</a:t>
            </a:r>
            <a:endParaRPr lang="en-US" sz="2400" dirty="0"/>
          </a:p>
        </p:txBody>
      </p:sp>
      <p:sp>
        <p:nvSpPr>
          <p:cNvPr id="22" name="rev_22_caja"/>
          <p:cNvSpPr/>
          <p:nvPr/>
        </p:nvSpPr>
        <p:spPr>
          <a:xfrm>
            <a:off x="7498080" y="4603090"/>
            <a:ext cx="4142232" cy="665683"/>
          </a:xfrm>
          <a:prstGeom prst="roundRect">
            <a:avLst>
              <a:gd name="adj" fmla="val 16484"/>
            </a:avLst>
          </a:prstGeom>
          <a:solidFill>
            <a:srgbClr val="4236F6"/>
          </a:solidFill>
          <a:ln w="12700">
            <a:solidFill>
              <a:srgbClr val="4236F6"/>
            </a:solidFill>
            <a:prstDash val="solid"/>
          </a:ln>
        </p:spPr>
      </p:sp>
      <p:sp>
        <p:nvSpPr>
          <p:cNvPr id="23" name="rev_22_txt"/>
          <p:cNvSpPr txBox="1"/>
          <p:nvPr/>
        </p:nvSpPr>
        <p:spPr>
          <a:xfrm>
            <a:off x="7589520" y="4603090"/>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들어요 </a:t>
            </a:r>
            <a:r>
              <a:rPr lang="en-US" sz="2200" b="1" dirty="0">
                <a:solidFill>
                  <a:srgbClr val="FFFFFF"/>
                </a:solidFill>
              </a:rPr>
              <a:t>· 2 puntos</a:t>
            </a:r>
            <a:endParaRPr lang="en-US" sz="2200" dirty="0"/>
          </a:p>
        </p:txBody>
      </p:sp>
      <p:sp>
        <p:nvSpPr>
          <p:cNvPr id="24" name="num_4"/>
          <p:cNvSpPr/>
          <p:nvPr/>
        </p:nvSpPr>
        <p:spPr>
          <a:xfrm>
            <a:off x="548640" y="5574182"/>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557418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5433365"/>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씻다</a:t>
            </a:r>
            <a:endParaRPr lang="en-US" sz="2400" dirty="0"/>
          </a:p>
        </p:txBody>
      </p:sp>
      <p:sp>
        <p:nvSpPr>
          <p:cNvPr id="27" name="rev_23_caja"/>
          <p:cNvSpPr/>
          <p:nvPr/>
        </p:nvSpPr>
        <p:spPr>
          <a:xfrm>
            <a:off x="7498080" y="5469941"/>
            <a:ext cx="4142232" cy="665683"/>
          </a:xfrm>
          <a:prstGeom prst="roundRect">
            <a:avLst>
              <a:gd name="adj" fmla="val 16484"/>
            </a:avLst>
          </a:prstGeom>
          <a:solidFill>
            <a:srgbClr val="4236F6"/>
          </a:solidFill>
          <a:ln w="12700">
            <a:solidFill>
              <a:srgbClr val="4236F6"/>
            </a:solidFill>
            <a:prstDash val="solid"/>
          </a:ln>
        </p:spPr>
      </p:sp>
      <p:sp>
        <p:nvSpPr>
          <p:cNvPr id="28" name="rev_23_txt"/>
          <p:cNvSpPr txBox="1"/>
          <p:nvPr/>
        </p:nvSpPr>
        <p:spPr>
          <a:xfrm>
            <a:off x="7589520" y="5469941"/>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씻어요 </a:t>
            </a:r>
            <a:r>
              <a:rPr lang="en-US" sz="2200" b="1" dirty="0">
                <a:solidFill>
                  <a:srgbClr val="FFFFFF"/>
                </a:solidFill>
              </a:rPr>
              <a:t>· 1 punto</a:t>
            </a:r>
            <a:endParaRPr lang="en-US" sz="2200" dirty="0"/>
          </a:p>
        </p:txBody>
      </p:sp>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Rueda de conjugación (2/4)</a:t>
            </a:r>
            <a:r>
              <a:rPr lang="en-US" sz="1500" b="1" i="1" dirty="0">
                <a:solidFill>
                  <a:srgbClr val="8A8DA0"/>
                </a:solidFill>
              </a:rPr>
              <a:t>   Conjugation wheel (2/4)</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Marcador del grupo: __ / 25 · Tu nombre, tu verbo, 3 segundos: di la forma -아요</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어요</a:t>
            </a:r>
            <a:r>
              <a:rPr lang="en-US" sz="1800" i="1" dirty="0">
                <a:solidFill>
                  <a:srgbClr val="4236F6"/>
                </a:solidFill>
              </a:rPr>
              <a:t>. Regular = 1 punto · irregular = 2</a:t>
            </a:r>
            <a:endParaRPr lang="en-US" sz="1800" dirty="0"/>
          </a:p>
        </p:txBody>
      </p:sp>
      <p:sp>
        <p:nvSpPr>
          <p:cNvPr id="4" name="num_0"/>
          <p:cNvSpPr/>
          <p:nvPr/>
        </p:nvSpPr>
        <p:spPr>
          <a:xfrm>
            <a:off x="548640" y="2106778"/>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0677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바쁘다</a:t>
            </a:r>
            <a:endParaRPr lang="en-US" sz="2400" dirty="0"/>
          </a:p>
        </p:txBody>
      </p:sp>
      <p:sp>
        <p:nvSpPr>
          <p:cNvPr id="7" name="rev_24_caja"/>
          <p:cNvSpPr/>
          <p:nvPr/>
        </p:nvSpPr>
        <p:spPr>
          <a:xfrm>
            <a:off x="7498080" y="2002536"/>
            <a:ext cx="4142232" cy="665683"/>
          </a:xfrm>
          <a:prstGeom prst="roundRect">
            <a:avLst>
              <a:gd name="adj" fmla="val 16484"/>
            </a:avLst>
          </a:prstGeom>
          <a:solidFill>
            <a:srgbClr val="4236F6"/>
          </a:solidFill>
          <a:ln w="12700">
            <a:solidFill>
              <a:srgbClr val="4236F6"/>
            </a:solidFill>
            <a:prstDash val="solid"/>
          </a:ln>
        </p:spPr>
      </p:sp>
      <p:sp>
        <p:nvSpPr>
          <p:cNvPr id="8" name="rev_24_txt"/>
          <p:cNvSpPr txBox="1"/>
          <p:nvPr/>
        </p:nvSpPr>
        <p:spPr>
          <a:xfrm>
            <a:off x="7589520" y="2002536"/>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바빠요 </a:t>
            </a:r>
            <a:r>
              <a:rPr lang="en-US" sz="2200" b="1" dirty="0">
                <a:solidFill>
                  <a:srgbClr val="FFFFFF"/>
                </a:solidFill>
              </a:rPr>
              <a:t>· 2 puntos</a:t>
            </a:r>
            <a:endParaRPr lang="en-US" sz="2200" dirty="0"/>
          </a:p>
        </p:txBody>
      </p:sp>
      <p:sp>
        <p:nvSpPr>
          <p:cNvPr id="9" name="num_1"/>
          <p:cNvSpPr/>
          <p:nvPr/>
        </p:nvSpPr>
        <p:spPr>
          <a:xfrm>
            <a:off x="548640" y="2973629"/>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973629"/>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832811"/>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배우다</a:t>
            </a:r>
            <a:endParaRPr lang="en-US" sz="2400" dirty="0"/>
          </a:p>
        </p:txBody>
      </p:sp>
      <p:sp>
        <p:nvSpPr>
          <p:cNvPr id="12" name="rev_25_caja"/>
          <p:cNvSpPr/>
          <p:nvPr/>
        </p:nvSpPr>
        <p:spPr>
          <a:xfrm>
            <a:off x="7498080" y="2869387"/>
            <a:ext cx="4142232" cy="665683"/>
          </a:xfrm>
          <a:prstGeom prst="roundRect">
            <a:avLst>
              <a:gd name="adj" fmla="val 16484"/>
            </a:avLst>
          </a:prstGeom>
          <a:solidFill>
            <a:srgbClr val="4236F6"/>
          </a:solidFill>
          <a:ln w="12700">
            <a:solidFill>
              <a:srgbClr val="4236F6"/>
            </a:solidFill>
            <a:prstDash val="solid"/>
          </a:ln>
        </p:spPr>
      </p:sp>
      <p:sp>
        <p:nvSpPr>
          <p:cNvPr id="13" name="rev_25_txt"/>
          <p:cNvSpPr txBox="1"/>
          <p:nvPr/>
        </p:nvSpPr>
        <p:spPr>
          <a:xfrm>
            <a:off x="7589520" y="2869387"/>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배워요 </a:t>
            </a:r>
            <a:r>
              <a:rPr lang="en-US" sz="2200" b="1" dirty="0">
                <a:solidFill>
                  <a:srgbClr val="FFFFFF"/>
                </a:solidFill>
              </a:rPr>
              <a:t>· 1 punto</a:t>
            </a:r>
            <a:endParaRPr lang="en-US" sz="2200" dirty="0"/>
          </a:p>
        </p:txBody>
      </p:sp>
      <p:sp>
        <p:nvSpPr>
          <p:cNvPr id="14" name="num_2"/>
          <p:cNvSpPr/>
          <p:nvPr/>
        </p:nvSpPr>
        <p:spPr>
          <a:xfrm>
            <a:off x="548640" y="3840480"/>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84048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699662"/>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모르다</a:t>
            </a:r>
            <a:endParaRPr lang="en-US" sz="2400" dirty="0"/>
          </a:p>
        </p:txBody>
      </p:sp>
      <p:sp>
        <p:nvSpPr>
          <p:cNvPr id="17" name="rev_26_caja"/>
          <p:cNvSpPr/>
          <p:nvPr/>
        </p:nvSpPr>
        <p:spPr>
          <a:xfrm>
            <a:off x="7498080" y="3736238"/>
            <a:ext cx="4142232" cy="665683"/>
          </a:xfrm>
          <a:prstGeom prst="roundRect">
            <a:avLst>
              <a:gd name="adj" fmla="val 16484"/>
            </a:avLst>
          </a:prstGeom>
          <a:solidFill>
            <a:srgbClr val="4236F6"/>
          </a:solidFill>
          <a:ln w="12700">
            <a:solidFill>
              <a:srgbClr val="4236F6"/>
            </a:solidFill>
            <a:prstDash val="solid"/>
          </a:ln>
        </p:spPr>
      </p:sp>
      <p:sp>
        <p:nvSpPr>
          <p:cNvPr id="18" name="rev_26_txt"/>
          <p:cNvSpPr txBox="1"/>
          <p:nvPr/>
        </p:nvSpPr>
        <p:spPr>
          <a:xfrm>
            <a:off x="7589520" y="3736238"/>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몰라요 </a:t>
            </a:r>
            <a:r>
              <a:rPr lang="en-US" sz="2200" b="1" dirty="0">
                <a:solidFill>
                  <a:srgbClr val="FFFFFF"/>
                </a:solidFill>
              </a:rPr>
              <a:t>· 2 puntos</a:t>
            </a:r>
            <a:endParaRPr lang="en-US" sz="2200" dirty="0"/>
          </a:p>
        </p:txBody>
      </p:sp>
      <p:sp>
        <p:nvSpPr>
          <p:cNvPr id="19" name="num_3"/>
          <p:cNvSpPr/>
          <p:nvPr/>
        </p:nvSpPr>
        <p:spPr>
          <a:xfrm>
            <a:off x="548640" y="4707331"/>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707331"/>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566514"/>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입다</a:t>
            </a:r>
            <a:endParaRPr lang="en-US" sz="2400" dirty="0"/>
          </a:p>
        </p:txBody>
      </p:sp>
      <p:sp>
        <p:nvSpPr>
          <p:cNvPr id="22" name="rev_27_caja"/>
          <p:cNvSpPr/>
          <p:nvPr/>
        </p:nvSpPr>
        <p:spPr>
          <a:xfrm>
            <a:off x="7498080" y="4603090"/>
            <a:ext cx="4142232" cy="665683"/>
          </a:xfrm>
          <a:prstGeom prst="roundRect">
            <a:avLst>
              <a:gd name="adj" fmla="val 16484"/>
            </a:avLst>
          </a:prstGeom>
          <a:solidFill>
            <a:srgbClr val="4236F6"/>
          </a:solidFill>
          <a:ln w="12700">
            <a:solidFill>
              <a:srgbClr val="4236F6"/>
            </a:solidFill>
            <a:prstDash val="solid"/>
          </a:ln>
        </p:spPr>
      </p:sp>
      <p:sp>
        <p:nvSpPr>
          <p:cNvPr id="23" name="rev_27_txt"/>
          <p:cNvSpPr txBox="1"/>
          <p:nvPr/>
        </p:nvSpPr>
        <p:spPr>
          <a:xfrm>
            <a:off x="7589520" y="4603090"/>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입어요 </a:t>
            </a:r>
            <a:r>
              <a:rPr lang="en-US" sz="2200" b="1" dirty="0">
                <a:solidFill>
                  <a:srgbClr val="FFFFFF"/>
                </a:solidFill>
              </a:rPr>
              <a:t>· 1 punto</a:t>
            </a:r>
            <a:endParaRPr lang="en-US" sz="2200" dirty="0"/>
          </a:p>
        </p:txBody>
      </p:sp>
      <p:sp>
        <p:nvSpPr>
          <p:cNvPr id="24" name="num_4"/>
          <p:cNvSpPr/>
          <p:nvPr/>
        </p:nvSpPr>
        <p:spPr>
          <a:xfrm>
            <a:off x="548640" y="5574182"/>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557418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5433365"/>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춥다</a:t>
            </a:r>
            <a:endParaRPr lang="en-US" sz="2400" dirty="0"/>
          </a:p>
        </p:txBody>
      </p:sp>
      <p:sp>
        <p:nvSpPr>
          <p:cNvPr id="27" name="rev_28_caja"/>
          <p:cNvSpPr/>
          <p:nvPr/>
        </p:nvSpPr>
        <p:spPr>
          <a:xfrm>
            <a:off x="7498080" y="5469941"/>
            <a:ext cx="4142232" cy="665683"/>
          </a:xfrm>
          <a:prstGeom prst="roundRect">
            <a:avLst>
              <a:gd name="adj" fmla="val 16484"/>
            </a:avLst>
          </a:prstGeom>
          <a:solidFill>
            <a:srgbClr val="4236F6"/>
          </a:solidFill>
          <a:ln w="12700">
            <a:solidFill>
              <a:srgbClr val="4236F6"/>
            </a:solidFill>
            <a:prstDash val="solid"/>
          </a:ln>
        </p:spPr>
      </p:sp>
      <p:sp>
        <p:nvSpPr>
          <p:cNvPr id="28" name="rev_28_txt"/>
          <p:cNvSpPr txBox="1"/>
          <p:nvPr/>
        </p:nvSpPr>
        <p:spPr>
          <a:xfrm>
            <a:off x="7589520" y="5469941"/>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추워요 </a:t>
            </a:r>
            <a:r>
              <a:rPr lang="en-US" sz="2200" b="1" dirty="0">
                <a:solidFill>
                  <a:srgbClr val="FFFFFF"/>
                </a:solidFill>
              </a:rPr>
              <a:t>· 2 puntos</a:t>
            </a:r>
            <a:endParaRPr lang="en-US" sz="2200" dirty="0"/>
          </a:p>
        </p:txBody>
      </p:sp>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Rueda de conjugación (3/4)</a:t>
            </a:r>
            <a:r>
              <a:rPr lang="en-US" sz="1500" b="1" i="1" dirty="0">
                <a:solidFill>
                  <a:srgbClr val="8A8DA0"/>
                </a:solidFill>
              </a:rPr>
              <a:t>   Conjugation wheel (3/4)</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Marcador del grupo: __ / 25 · Tu nombre, tu verbo, 3 segundos: di la forma -아요</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어요</a:t>
            </a:r>
            <a:r>
              <a:rPr lang="en-US" sz="1800" i="1" dirty="0">
                <a:solidFill>
                  <a:srgbClr val="4236F6"/>
                </a:solidFill>
              </a:rPr>
              <a:t>. Regular = 1 punto · irregular = 2</a:t>
            </a:r>
            <a:endParaRPr lang="en-US" sz="1800" dirty="0"/>
          </a:p>
        </p:txBody>
      </p:sp>
      <p:sp>
        <p:nvSpPr>
          <p:cNvPr id="4" name="num_0"/>
          <p:cNvSpPr/>
          <p:nvPr/>
        </p:nvSpPr>
        <p:spPr>
          <a:xfrm>
            <a:off x="548640" y="2106778"/>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0677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출근하다</a:t>
            </a:r>
            <a:endParaRPr lang="en-US" sz="2400" dirty="0"/>
          </a:p>
        </p:txBody>
      </p:sp>
      <p:sp>
        <p:nvSpPr>
          <p:cNvPr id="7" name="rev_29_caja"/>
          <p:cNvSpPr/>
          <p:nvPr/>
        </p:nvSpPr>
        <p:spPr>
          <a:xfrm>
            <a:off x="6702552" y="2002536"/>
            <a:ext cx="4937760" cy="665683"/>
          </a:xfrm>
          <a:prstGeom prst="roundRect">
            <a:avLst>
              <a:gd name="adj" fmla="val 16484"/>
            </a:avLst>
          </a:prstGeom>
          <a:solidFill>
            <a:srgbClr val="4236F6"/>
          </a:solidFill>
          <a:ln w="12700">
            <a:solidFill>
              <a:srgbClr val="4236F6"/>
            </a:solidFill>
            <a:prstDash val="solid"/>
          </a:ln>
        </p:spPr>
      </p:sp>
      <p:sp>
        <p:nvSpPr>
          <p:cNvPr id="8" name="rev_29_txt"/>
          <p:cNvSpPr txBox="1"/>
          <p:nvPr/>
        </p:nvSpPr>
        <p:spPr>
          <a:xfrm>
            <a:off x="6793992" y="2002536"/>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출근해요 </a:t>
            </a:r>
            <a:r>
              <a:rPr lang="en-US" sz="2200" b="1" dirty="0">
                <a:solidFill>
                  <a:srgbClr val="FFFFFF"/>
                </a:solidFill>
              </a:rPr>
              <a:t>· 1 punto</a:t>
            </a:r>
            <a:endParaRPr lang="en-US" sz="2200" dirty="0"/>
          </a:p>
        </p:txBody>
      </p:sp>
      <p:sp>
        <p:nvSpPr>
          <p:cNvPr id="9" name="num_1"/>
          <p:cNvSpPr/>
          <p:nvPr/>
        </p:nvSpPr>
        <p:spPr>
          <a:xfrm>
            <a:off x="548640" y="2973629"/>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973629"/>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832811"/>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살다</a:t>
            </a:r>
            <a:endParaRPr lang="en-US" sz="2400" dirty="0"/>
          </a:p>
        </p:txBody>
      </p:sp>
      <p:sp>
        <p:nvSpPr>
          <p:cNvPr id="12" name="rev_30_caja"/>
          <p:cNvSpPr/>
          <p:nvPr/>
        </p:nvSpPr>
        <p:spPr>
          <a:xfrm>
            <a:off x="6702552" y="2869387"/>
            <a:ext cx="4937760" cy="665683"/>
          </a:xfrm>
          <a:prstGeom prst="roundRect">
            <a:avLst>
              <a:gd name="adj" fmla="val 16484"/>
            </a:avLst>
          </a:prstGeom>
          <a:solidFill>
            <a:srgbClr val="4236F6"/>
          </a:solidFill>
          <a:ln w="12700">
            <a:solidFill>
              <a:srgbClr val="4236F6"/>
            </a:solidFill>
            <a:prstDash val="solid"/>
          </a:ln>
        </p:spPr>
      </p:sp>
      <p:sp>
        <p:nvSpPr>
          <p:cNvPr id="13" name="rev_30_txt"/>
          <p:cNvSpPr txBox="1"/>
          <p:nvPr/>
        </p:nvSpPr>
        <p:spPr>
          <a:xfrm>
            <a:off x="6793992" y="2869387"/>
            <a:ext cx="4754880" cy="665683"/>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살아요 </a:t>
            </a:r>
            <a:r>
              <a:rPr lang="en-US" sz="1700" b="1" dirty="0">
                <a:solidFill>
                  <a:srgbClr val="FFFFFF"/>
                </a:solidFill>
              </a:rPr>
              <a:t>(trampa: es normal) · 2 puntos</a:t>
            </a:r>
            <a:endParaRPr lang="en-US" sz="1700" dirty="0"/>
          </a:p>
        </p:txBody>
      </p:sp>
      <p:sp>
        <p:nvSpPr>
          <p:cNvPr id="14" name="num_2"/>
          <p:cNvSpPr/>
          <p:nvPr/>
        </p:nvSpPr>
        <p:spPr>
          <a:xfrm>
            <a:off x="548640" y="3840480"/>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84048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699662"/>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쉬다</a:t>
            </a:r>
            <a:endParaRPr lang="en-US" sz="2400" dirty="0"/>
          </a:p>
        </p:txBody>
      </p:sp>
      <p:sp>
        <p:nvSpPr>
          <p:cNvPr id="17" name="rev_31_caja"/>
          <p:cNvSpPr/>
          <p:nvPr/>
        </p:nvSpPr>
        <p:spPr>
          <a:xfrm>
            <a:off x="6702552" y="3736238"/>
            <a:ext cx="4937760" cy="665683"/>
          </a:xfrm>
          <a:prstGeom prst="roundRect">
            <a:avLst>
              <a:gd name="adj" fmla="val 16484"/>
            </a:avLst>
          </a:prstGeom>
          <a:solidFill>
            <a:srgbClr val="4236F6"/>
          </a:solidFill>
          <a:ln w="12700">
            <a:solidFill>
              <a:srgbClr val="4236F6"/>
            </a:solidFill>
            <a:prstDash val="solid"/>
          </a:ln>
        </p:spPr>
      </p:sp>
      <p:sp>
        <p:nvSpPr>
          <p:cNvPr id="18" name="rev_31_txt"/>
          <p:cNvSpPr txBox="1"/>
          <p:nvPr/>
        </p:nvSpPr>
        <p:spPr>
          <a:xfrm>
            <a:off x="6793992" y="3736238"/>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쉬어요 </a:t>
            </a:r>
            <a:r>
              <a:rPr lang="en-US" sz="2200" b="1" dirty="0">
                <a:solidFill>
                  <a:srgbClr val="FFFFFF"/>
                </a:solidFill>
              </a:rPr>
              <a:t>· 1 punto</a:t>
            </a:r>
            <a:endParaRPr lang="en-US" sz="2200" dirty="0"/>
          </a:p>
        </p:txBody>
      </p:sp>
      <p:sp>
        <p:nvSpPr>
          <p:cNvPr id="19" name="num_3"/>
          <p:cNvSpPr/>
          <p:nvPr/>
        </p:nvSpPr>
        <p:spPr>
          <a:xfrm>
            <a:off x="548640" y="4707331"/>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707331"/>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566514"/>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어렵다</a:t>
            </a:r>
            <a:endParaRPr lang="en-US" sz="2400" dirty="0"/>
          </a:p>
        </p:txBody>
      </p:sp>
      <p:sp>
        <p:nvSpPr>
          <p:cNvPr id="22" name="rev_32_caja"/>
          <p:cNvSpPr/>
          <p:nvPr/>
        </p:nvSpPr>
        <p:spPr>
          <a:xfrm>
            <a:off x="6702552" y="4603090"/>
            <a:ext cx="4937760" cy="665683"/>
          </a:xfrm>
          <a:prstGeom prst="roundRect">
            <a:avLst>
              <a:gd name="adj" fmla="val 16484"/>
            </a:avLst>
          </a:prstGeom>
          <a:solidFill>
            <a:srgbClr val="4236F6"/>
          </a:solidFill>
          <a:ln w="12700">
            <a:solidFill>
              <a:srgbClr val="4236F6"/>
            </a:solidFill>
            <a:prstDash val="solid"/>
          </a:ln>
        </p:spPr>
      </p:sp>
      <p:sp>
        <p:nvSpPr>
          <p:cNvPr id="23" name="rev_32_txt"/>
          <p:cNvSpPr txBox="1"/>
          <p:nvPr/>
        </p:nvSpPr>
        <p:spPr>
          <a:xfrm>
            <a:off x="6793992" y="4603090"/>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어려워요 </a:t>
            </a:r>
            <a:r>
              <a:rPr lang="en-US" sz="2200" b="1" dirty="0">
                <a:solidFill>
                  <a:srgbClr val="FFFFFF"/>
                </a:solidFill>
              </a:rPr>
              <a:t>· 2 puntos</a:t>
            </a:r>
            <a:endParaRPr lang="en-US" sz="2200" dirty="0"/>
          </a:p>
        </p:txBody>
      </p:sp>
      <p:sp>
        <p:nvSpPr>
          <p:cNvPr id="24" name="num_4"/>
          <p:cNvSpPr/>
          <p:nvPr/>
        </p:nvSpPr>
        <p:spPr>
          <a:xfrm>
            <a:off x="548640" y="5574182"/>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557418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5433365"/>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일어나다</a:t>
            </a:r>
            <a:endParaRPr lang="en-US" sz="2400" dirty="0"/>
          </a:p>
        </p:txBody>
      </p:sp>
      <p:sp>
        <p:nvSpPr>
          <p:cNvPr id="27" name="rev_33_caja"/>
          <p:cNvSpPr/>
          <p:nvPr/>
        </p:nvSpPr>
        <p:spPr>
          <a:xfrm>
            <a:off x="6702552" y="5469941"/>
            <a:ext cx="4937760" cy="665683"/>
          </a:xfrm>
          <a:prstGeom prst="roundRect">
            <a:avLst>
              <a:gd name="adj" fmla="val 16484"/>
            </a:avLst>
          </a:prstGeom>
          <a:solidFill>
            <a:srgbClr val="4236F6"/>
          </a:solidFill>
          <a:ln w="12700">
            <a:solidFill>
              <a:srgbClr val="4236F6"/>
            </a:solidFill>
            <a:prstDash val="solid"/>
          </a:ln>
        </p:spPr>
      </p:sp>
      <p:sp>
        <p:nvSpPr>
          <p:cNvPr id="28" name="rev_33_txt"/>
          <p:cNvSpPr txBox="1"/>
          <p:nvPr/>
        </p:nvSpPr>
        <p:spPr>
          <a:xfrm>
            <a:off x="6793992" y="5469941"/>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일어나요 </a:t>
            </a:r>
            <a:r>
              <a:rPr lang="en-US" sz="2200" b="1" dirty="0">
                <a:solidFill>
                  <a:srgbClr val="FFFFFF"/>
                </a:solidFill>
              </a:rPr>
              <a:t>· 1 punto</a:t>
            </a:r>
            <a:endParaRPr lang="en-US" sz="2200" dirty="0"/>
          </a:p>
        </p:txBody>
      </p:sp>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Rueda de conjugación (4/4)</a:t>
            </a:r>
            <a:r>
              <a:rPr lang="en-US" sz="1500" b="1" i="1" dirty="0">
                <a:solidFill>
                  <a:srgbClr val="8A8DA0"/>
                </a:solidFill>
              </a:rPr>
              <a:t>   Conjugation wheel (4/4)</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Marcador del grupo: __ / 25 · Tu nombre, tu verbo, 3 segundos: di la forma -아요</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어요</a:t>
            </a:r>
            <a:r>
              <a:rPr lang="en-US" sz="1800" i="1" dirty="0">
                <a:solidFill>
                  <a:srgbClr val="4236F6"/>
                </a:solidFill>
              </a:rPr>
              <a:t>. Regular = 1 punto · irregular = 2</a:t>
            </a:r>
            <a:endParaRPr lang="en-US" sz="1800" dirty="0"/>
          </a:p>
        </p:txBody>
      </p:sp>
      <p:sp>
        <p:nvSpPr>
          <p:cNvPr id="4" name="num_0"/>
          <p:cNvSpPr/>
          <p:nvPr/>
        </p:nvSpPr>
        <p:spPr>
          <a:xfrm>
            <a:off x="548640" y="2106778"/>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0677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쓰다</a:t>
            </a:r>
            <a:endParaRPr lang="en-US" sz="2400" dirty="0"/>
          </a:p>
        </p:txBody>
      </p:sp>
      <p:sp>
        <p:nvSpPr>
          <p:cNvPr id="7" name="rev_34_caja"/>
          <p:cNvSpPr/>
          <p:nvPr/>
        </p:nvSpPr>
        <p:spPr>
          <a:xfrm>
            <a:off x="7498080" y="2002536"/>
            <a:ext cx="4142232" cy="665683"/>
          </a:xfrm>
          <a:prstGeom prst="roundRect">
            <a:avLst>
              <a:gd name="adj" fmla="val 16484"/>
            </a:avLst>
          </a:prstGeom>
          <a:solidFill>
            <a:srgbClr val="4236F6"/>
          </a:solidFill>
          <a:ln w="12700">
            <a:solidFill>
              <a:srgbClr val="4236F6"/>
            </a:solidFill>
            <a:prstDash val="solid"/>
          </a:ln>
        </p:spPr>
      </p:sp>
      <p:sp>
        <p:nvSpPr>
          <p:cNvPr id="8" name="rev_34_txt"/>
          <p:cNvSpPr txBox="1"/>
          <p:nvPr/>
        </p:nvSpPr>
        <p:spPr>
          <a:xfrm>
            <a:off x="7589520" y="2002536"/>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써요 </a:t>
            </a:r>
            <a:r>
              <a:rPr lang="en-US" sz="2200" b="1" dirty="0">
                <a:solidFill>
                  <a:srgbClr val="FFFFFF"/>
                </a:solidFill>
              </a:rPr>
              <a:t>· 2 puntos</a:t>
            </a:r>
            <a:endParaRPr lang="en-US" sz="2200" dirty="0"/>
          </a:p>
        </p:txBody>
      </p:sp>
      <p:sp>
        <p:nvSpPr>
          <p:cNvPr id="9" name="num_1"/>
          <p:cNvSpPr/>
          <p:nvPr/>
        </p:nvSpPr>
        <p:spPr>
          <a:xfrm>
            <a:off x="548640" y="2973629"/>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973629"/>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832811"/>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퇴근하다</a:t>
            </a:r>
            <a:endParaRPr lang="en-US" sz="2400" dirty="0"/>
          </a:p>
        </p:txBody>
      </p:sp>
      <p:sp>
        <p:nvSpPr>
          <p:cNvPr id="12" name="rev_35_caja"/>
          <p:cNvSpPr/>
          <p:nvPr/>
        </p:nvSpPr>
        <p:spPr>
          <a:xfrm>
            <a:off x="7498080" y="2869387"/>
            <a:ext cx="4142232" cy="665683"/>
          </a:xfrm>
          <a:prstGeom prst="roundRect">
            <a:avLst>
              <a:gd name="adj" fmla="val 16484"/>
            </a:avLst>
          </a:prstGeom>
          <a:solidFill>
            <a:srgbClr val="4236F6"/>
          </a:solidFill>
          <a:ln w="12700">
            <a:solidFill>
              <a:srgbClr val="4236F6"/>
            </a:solidFill>
            <a:prstDash val="solid"/>
          </a:ln>
        </p:spPr>
      </p:sp>
      <p:sp>
        <p:nvSpPr>
          <p:cNvPr id="13" name="rev_35_txt"/>
          <p:cNvSpPr txBox="1"/>
          <p:nvPr/>
        </p:nvSpPr>
        <p:spPr>
          <a:xfrm>
            <a:off x="7589520" y="2869387"/>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퇴근해요 </a:t>
            </a:r>
            <a:r>
              <a:rPr lang="en-US" sz="2200" b="1" dirty="0">
                <a:solidFill>
                  <a:srgbClr val="FFFFFF"/>
                </a:solidFill>
              </a:rPr>
              <a:t>· 1 punto</a:t>
            </a:r>
            <a:endParaRPr lang="en-US" sz="2200" dirty="0"/>
          </a:p>
        </p:txBody>
      </p:sp>
      <p:sp>
        <p:nvSpPr>
          <p:cNvPr id="14" name="num_2"/>
          <p:cNvSpPr/>
          <p:nvPr/>
        </p:nvSpPr>
        <p:spPr>
          <a:xfrm>
            <a:off x="548640" y="3840480"/>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84048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699662"/>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빠르다</a:t>
            </a:r>
            <a:endParaRPr lang="en-US" sz="2400" dirty="0"/>
          </a:p>
        </p:txBody>
      </p:sp>
      <p:sp>
        <p:nvSpPr>
          <p:cNvPr id="17" name="rev_36_caja"/>
          <p:cNvSpPr/>
          <p:nvPr/>
        </p:nvSpPr>
        <p:spPr>
          <a:xfrm>
            <a:off x="7498080" y="3736238"/>
            <a:ext cx="4142232" cy="665683"/>
          </a:xfrm>
          <a:prstGeom prst="roundRect">
            <a:avLst>
              <a:gd name="adj" fmla="val 16484"/>
            </a:avLst>
          </a:prstGeom>
          <a:solidFill>
            <a:srgbClr val="4236F6"/>
          </a:solidFill>
          <a:ln w="12700">
            <a:solidFill>
              <a:srgbClr val="4236F6"/>
            </a:solidFill>
            <a:prstDash val="solid"/>
          </a:ln>
        </p:spPr>
      </p:sp>
      <p:sp>
        <p:nvSpPr>
          <p:cNvPr id="18" name="rev_36_txt"/>
          <p:cNvSpPr txBox="1"/>
          <p:nvPr/>
        </p:nvSpPr>
        <p:spPr>
          <a:xfrm>
            <a:off x="7589520" y="3736238"/>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빨라요 </a:t>
            </a:r>
            <a:r>
              <a:rPr lang="en-US" sz="2200" b="1" dirty="0">
                <a:solidFill>
                  <a:srgbClr val="FFFFFF"/>
                </a:solidFill>
              </a:rPr>
              <a:t>· 2 puntos</a:t>
            </a:r>
            <a:endParaRPr lang="en-US" sz="2200" dirty="0"/>
          </a:p>
        </p:txBody>
      </p:sp>
      <p:sp>
        <p:nvSpPr>
          <p:cNvPr id="19" name="num_3"/>
          <p:cNvSpPr/>
          <p:nvPr/>
        </p:nvSpPr>
        <p:spPr>
          <a:xfrm>
            <a:off x="548640" y="4707331"/>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707331"/>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566514"/>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먹다</a:t>
            </a:r>
            <a:endParaRPr lang="en-US" sz="2400" dirty="0"/>
          </a:p>
        </p:txBody>
      </p:sp>
      <p:sp>
        <p:nvSpPr>
          <p:cNvPr id="22" name="rev_37_caja"/>
          <p:cNvSpPr/>
          <p:nvPr/>
        </p:nvSpPr>
        <p:spPr>
          <a:xfrm>
            <a:off x="7498080" y="4603090"/>
            <a:ext cx="4142232" cy="665683"/>
          </a:xfrm>
          <a:prstGeom prst="roundRect">
            <a:avLst>
              <a:gd name="adj" fmla="val 16484"/>
            </a:avLst>
          </a:prstGeom>
          <a:solidFill>
            <a:srgbClr val="4236F6"/>
          </a:solidFill>
          <a:ln w="12700">
            <a:solidFill>
              <a:srgbClr val="4236F6"/>
            </a:solidFill>
            <a:prstDash val="solid"/>
          </a:ln>
        </p:spPr>
      </p:sp>
      <p:sp>
        <p:nvSpPr>
          <p:cNvPr id="23" name="rev_37_txt"/>
          <p:cNvSpPr txBox="1"/>
          <p:nvPr/>
        </p:nvSpPr>
        <p:spPr>
          <a:xfrm>
            <a:off x="7589520" y="4603090"/>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먹어요 </a:t>
            </a:r>
            <a:r>
              <a:rPr lang="en-US" sz="2200" b="1" dirty="0">
                <a:solidFill>
                  <a:srgbClr val="FFFFFF"/>
                </a:solidFill>
              </a:rPr>
              <a:t>· 1 punto</a:t>
            </a:r>
            <a:endParaRPr lang="en-US" sz="2200" dirty="0"/>
          </a:p>
        </p:txBody>
      </p:sp>
      <p:sp>
        <p:nvSpPr>
          <p:cNvPr id="24" name="num_4"/>
          <p:cNvSpPr/>
          <p:nvPr/>
        </p:nvSpPr>
        <p:spPr>
          <a:xfrm>
            <a:off x="548640" y="5574182"/>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557418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5433365"/>
            <a:ext cx="6080760"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쉽다</a:t>
            </a:r>
            <a:endParaRPr lang="en-US" sz="2400" dirty="0"/>
          </a:p>
        </p:txBody>
      </p:sp>
      <p:sp>
        <p:nvSpPr>
          <p:cNvPr id="27" name="rev_38_caja"/>
          <p:cNvSpPr/>
          <p:nvPr/>
        </p:nvSpPr>
        <p:spPr>
          <a:xfrm>
            <a:off x="7498080" y="5469941"/>
            <a:ext cx="4142232" cy="665683"/>
          </a:xfrm>
          <a:prstGeom prst="roundRect">
            <a:avLst>
              <a:gd name="adj" fmla="val 16484"/>
            </a:avLst>
          </a:prstGeom>
          <a:solidFill>
            <a:srgbClr val="4236F6"/>
          </a:solidFill>
          <a:ln w="12700">
            <a:solidFill>
              <a:srgbClr val="4236F6"/>
            </a:solidFill>
            <a:prstDash val="solid"/>
          </a:ln>
        </p:spPr>
      </p:sp>
      <p:sp>
        <p:nvSpPr>
          <p:cNvPr id="28" name="rev_38_txt"/>
          <p:cNvSpPr txBox="1"/>
          <p:nvPr/>
        </p:nvSpPr>
        <p:spPr>
          <a:xfrm>
            <a:off x="7589520" y="5469941"/>
            <a:ext cx="3959352"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쉬워요 </a:t>
            </a:r>
            <a:r>
              <a:rPr lang="en-US" sz="2200" b="1" dirty="0">
                <a:solidFill>
                  <a:srgbClr val="FFFFFF"/>
                </a:solidFill>
              </a:rPr>
              <a:t>· 2 puntos</a:t>
            </a:r>
            <a:endParaRPr lang="en-US" sz="2200" dirty="0"/>
          </a:p>
        </p:txBody>
      </p:sp>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Salas · 4 rondas</a:t>
            </a:r>
            <a:r>
              <a:rPr lang="en-US" sz="1500" b="1" i="1" dirty="0">
                <a:solidFill>
                  <a:srgbClr val="8A8DA0"/>
                </a:solidFill>
              </a:rPr>
              <a:t>   Breakout rooms · 4 rounds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Jay avisa cuándo cambiar</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Al entrar (20 s): 저는 </a:t>
            </a:r>
            <a:r>
              <a:rPr lang="en-US" sz="2000" dirty="0">
                <a:solidFill>
                  <a:srgbClr val="14142B"/>
                </a:solidFill>
              </a:rPr>
              <a:t>___</a:t>
            </a:r>
            <a:r>
              <a:rPr lang="ko-KR" altLang="en-US" sz="2000" dirty="0">
                <a:solidFill>
                  <a:srgbClr val="14142B"/>
                </a:solidFill>
                <a:latin typeface="Malgun Gothic" pitchFamily="34" charset="0"/>
                <a:ea typeface="Malgun Gothic" pitchFamily="34" charset="-122"/>
                <a:cs typeface="Malgun Gothic" pitchFamily="34" charset="-120"/>
              </a:rPr>
              <a:t>입니다</a:t>
            </a:r>
            <a:r>
              <a:rPr lang="en-US" sz="2000" dirty="0">
                <a:solidFill>
                  <a:srgbClr val="14142B"/>
                </a:solidFill>
              </a:rPr>
              <a:t>. ___</a:t>
            </a:r>
            <a:r>
              <a:rPr lang="ko-KR" altLang="en-US" sz="2000" dirty="0">
                <a:solidFill>
                  <a:srgbClr val="14142B"/>
                </a:solidFill>
                <a:latin typeface="Malgun Gothic" pitchFamily="34" charset="0"/>
                <a:ea typeface="Malgun Gothic" pitchFamily="34" charset="-122"/>
                <a:cs typeface="Malgun Gothic" pitchFamily="34" charset="-120"/>
              </a:rPr>
              <a:t>입니다</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반갑습니다</a:t>
            </a:r>
            <a:r>
              <a:rPr lang="en-US" sz="2000" dirty="0">
                <a:solidFill>
                  <a:srgbClr val="14142B"/>
                </a:solidFill>
              </a:rPr>
              <a:t>. Después, todo en -</a:t>
            </a:r>
            <a:r>
              <a:rPr lang="ko-KR" altLang="en-US" sz="2000" dirty="0">
                <a:solidFill>
                  <a:srgbClr val="14142B"/>
                </a:solidFill>
                <a:latin typeface="Malgun Gothic" pitchFamily="34" charset="0"/>
                <a:ea typeface="Malgun Gothic" pitchFamily="34" charset="-122"/>
                <a:cs typeface="Malgun Gothic" pitchFamily="34" charset="-120"/>
              </a:rPr>
              <a:t>아요</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어요</a:t>
            </a:r>
            <a:endParaRPr lang="en-US" sz="2000" dirty="0"/>
          </a:p>
          <a:p>
            <a:pPr marL="228600" indent="-228600" eaLnBrk="1">
              <a:spcAft>
                <a:spcPts val="800"/>
              </a:spcAft>
              <a:buSzPct val="100000"/>
              <a:buChar char="•"/>
            </a:pPr>
            <a:r>
              <a:rPr lang="en-US" sz="2000" dirty="0">
                <a:solidFill>
                  <a:srgbClr val="14142B"/>
                </a:solidFill>
              </a:rPr>
              <a:t>R1 Mi rutina: lean el diálogo (1 min) y cuenten su día en 8–10 frases, con horas</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R2 La rutina de mi compañero: ___ 씨는 보통 </a:t>
            </a:r>
            <a:r>
              <a:rPr lang="en-US" sz="2000" dirty="0">
                <a:solidFill>
                  <a:srgbClr val="14142B"/>
                </a:solidFill>
              </a:rPr>
              <a:t>___ </a:t>
            </a:r>
            <a:r>
              <a:rPr lang="ko-KR" altLang="en-US" sz="2000" dirty="0">
                <a:solidFill>
                  <a:srgbClr val="14142B"/>
                </a:solidFill>
                <a:latin typeface="Malgun Gothic" pitchFamily="34" charset="0"/>
                <a:ea typeface="Malgun Gothic" pitchFamily="34" charset="-122"/>
                <a:cs typeface="Malgun Gothic" pitchFamily="34" charset="-120"/>
              </a:rPr>
              <a:t>시쯤 일어나요</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네</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아니요</a:t>
            </a:r>
            <a:r>
              <a:rPr lang="en-US" sz="2000" dirty="0">
                <a:solidFill>
                  <a:srgbClr val="14142B"/>
                </a:solidFill>
              </a:rPr>
              <a:t>, ___.</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R3 ¿Dónde estoy?: 여기에서 커피를 마셔요</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그리고 공부해요</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어디예요</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카페예요</a:t>
            </a:r>
            <a:r>
              <a:rPr lang="en-US" sz="2000" dirty="0">
                <a:solidFill>
                  <a:srgbClr val="14142B"/>
                </a:solidFill>
              </a:rPr>
              <a:t>!</a:t>
            </a:r>
            <a:endParaRPr lang="en-US" sz="2000" dirty="0"/>
          </a:p>
          <a:p>
            <a:pPr marL="228600" indent="-228600" eaLnBrk="1">
              <a:spcAft>
                <a:spcPts val="800"/>
              </a:spcAft>
              <a:buSzPct val="100000"/>
              <a:buChar char="•"/>
            </a:pPr>
            <a:r>
              <a:rPr lang="en-US" sz="2000" dirty="0">
                <a:solidFill>
                  <a:srgbClr val="14142B"/>
                </a:solidFill>
              </a:rPr>
              <a:t>R4 Minuto libre, sin cuaderno</a:t>
            </a:r>
            <a:endParaRPr lang="en-US" sz="2000" dirty="0"/>
          </a:p>
          <a:p>
            <a:pPr marL="228600" indent="-228600" eaLnBrk="1">
              <a:spcAft>
                <a:spcPts val="800"/>
              </a:spcAft>
              <a:buSzPct val="100000"/>
              <a:buChar char="•"/>
            </a:pPr>
            <a:r>
              <a:rPr lang="en-US" sz="2000" dirty="0">
                <a:solidFill>
                  <a:srgbClr val="14142B"/>
                </a:solidFill>
              </a:rPr>
              <a:t>Tarjeta: link en el chat (sección 7 de tu material)</a:t>
            </a:r>
            <a:endParaRPr lang="en-US" sz="20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Minuto libre</a:t>
            </a:r>
            <a:r>
              <a:rPr lang="en-US" sz="1500" b="1" i="1" dirty="0">
                <a:solidFill>
                  <a:srgbClr val="8A8DA0"/>
                </a:solidFill>
              </a:rPr>
              <a:t>   Free minute</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Sin cuaderno, en cualquier orden</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보통 몇 시에 일어나요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요즘 바빠요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생일이 언제예요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Si no entiendes: 네</a:t>
            </a:r>
            <a:r>
              <a:rPr lang="en-US" sz="2800" dirty="0">
                <a:solidFill>
                  <a:srgbClr val="14142B"/>
                </a:solidFill>
              </a:rPr>
              <a:t>?</a:t>
            </a:r>
            <a:endParaRPr lang="en-US" sz="2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Lo que oí hoy</a:t>
            </a:r>
            <a:r>
              <a:rPr lang="en-US" sz="1500" b="1" i="1" dirty="0">
                <a:solidFill>
                  <a:srgbClr val="8A8DA0"/>
                </a:solidFill>
              </a:rPr>
              <a:t>   What I heard today</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Sin nombres · Tres errores de hoy (se ajustan a lo que oyó Jay): ¿cómo se dice bien?</a:t>
            </a:r>
            <a:endParaRPr lang="en-US" sz="1800" dirty="0"/>
          </a:p>
        </p:txBody>
      </p:sp>
      <p:sp>
        <p:nvSpPr>
          <p:cNvPr id="4" name="num_0"/>
          <p:cNvSpPr/>
          <p:nvPr/>
        </p:nvSpPr>
        <p:spPr>
          <a:xfrm>
            <a:off x="548640" y="257495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57495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2369210"/>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회사에 일해요</a:t>
            </a:r>
            <a:r>
              <a:rPr lang="en-US" sz="2400" dirty="0">
                <a:solidFill>
                  <a:srgbClr val="14142B"/>
                </a:solidFill>
              </a:rPr>
              <a:t>*</a:t>
            </a:r>
            <a:endParaRPr lang="en-US" sz="2400" dirty="0"/>
          </a:p>
        </p:txBody>
      </p:sp>
      <p:sp>
        <p:nvSpPr>
          <p:cNvPr id="7" name="rev_39_caja"/>
          <p:cNvSpPr/>
          <p:nvPr/>
        </p:nvSpPr>
        <p:spPr>
          <a:xfrm>
            <a:off x="7498080" y="2405786"/>
            <a:ext cx="4142232" cy="795528"/>
          </a:xfrm>
          <a:prstGeom prst="roundRect">
            <a:avLst>
              <a:gd name="adj" fmla="val 13793"/>
            </a:avLst>
          </a:prstGeom>
          <a:solidFill>
            <a:srgbClr val="4236F6"/>
          </a:solidFill>
          <a:ln w="12700">
            <a:solidFill>
              <a:srgbClr val="4236F6"/>
            </a:solidFill>
            <a:prstDash val="solid"/>
          </a:ln>
        </p:spPr>
      </p:sp>
      <p:sp>
        <p:nvSpPr>
          <p:cNvPr id="8" name="rev_39_txt"/>
          <p:cNvSpPr txBox="1"/>
          <p:nvPr/>
        </p:nvSpPr>
        <p:spPr>
          <a:xfrm>
            <a:off x="7589520" y="2405786"/>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회사에서 일해요</a:t>
            </a:r>
            <a:endParaRPr lang="en-US" sz="2200" dirty="0"/>
          </a:p>
        </p:txBody>
      </p:sp>
      <p:sp>
        <p:nvSpPr>
          <p:cNvPr id="9" name="num_1"/>
          <p:cNvSpPr/>
          <p:nvPr/>
        </p:nvSpPr>
        <p:spPr>
          <a:xfrm>
            <a:off x="548640" y="357164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57164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3365906"/>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바쁘어요</a:t>
            </a:r>
            <a:r>
              <a:rPr lang="en-US" sz="2400" dirty="0">
                <a:solidFill>
                  <a:srgbClr val="14142B"/>
                </a:solidFill>
              </a:rPr>
              <a:t>* · </a:t>
            </a:r>
            <a:r>
              <a:rPr lang="ko-KR" altLang="en-US" sz="2400" dirty="0">
                <a:solidFill>
                  <a:srgbClr val="14142B"/>
                </a:solidFill>
                <a:latin typeface="Malgun Gothic" pitchFamily="34" charset="0"/>
                <a:ea typeface="Malgun Gothic" pitchFamily="34" charset="-122"/>
                <a:cs typeface="Malgun Gothic" pitchFamily="34" charset="-120"/>
              </a:rPr>
              <a:t>더버요</a:t>
            </a:r>
            <a:r>
              <a:rPr lang="en-US" sz="2400" dirty="0">
                <a:solidFill>
                  <a:srgbClr val="14142B"/>
                </a:solidFill>
              </a:rPr>
              <a:t>*</a:t>
            </a:r>
            <a:endParaRPr lang="en-US" sz="2400" dirty="0"/>
          </a:p>
        </p:txBody>
      </p:sp>
      <p:sp>
        <p:nvSpPr>
          <p:cNvPr id="12" name="rev_40_caja"/>
          <p:cNvSpPr/>
          <p:nvPr/>
        </p:nvSpPr>
        <p:spPr>
          <a:xfrm>
            <a:off x="7498080" y="3402482"/>
            <a:ext cx="4142232" cy="795528"/>
          </a:xfrm>
          <a:prstGeom prst="roundRect">
            <a:avLst>
              <a:gd name="adj" fmla="val 13793"/>
            </a:avLst>
          </a:prstGeom>
          <a:solidFill>
            <a:srgbClr val="4236F6"/>
          </a:solidFill>
          <a:ln w="12700">
            <a:solidFill>
              <a:srgbClr val="4236F6"/>
            </a:solidFill>
            <a:prstDash val="solid"/>
          </a:ln>
        </p:spPr>
      </p:sp>
      <p:sp>
        <p:nvSpPr>
          <p:cNvPr id="13" name="rev_40_txt"/>
          <p:cNvSpPr txBox="1"/>
          <p:nvPr/>
        </p:nvSpPr>
        <p:spPr>
          <a:xfrm>
            <a:off x="7589520" y="3402482"/>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바빠요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더워요</a:t>
            </a:r>
            <a:endParaRPr lang="en-US" sz="2200" dirty="0"/>
          </a:p>
        </p:txBody>
      </p:sp>
      <p:sp>
        <p:nvSpPr>
          <p:cNvPr id="14" name="num_2"/>
          <p:cNvSpPr/>
          <p:nvPr/>
        </p:nvSpPr>
        <p:spPr>
          <a:xfrm>
            <a:off x="548640" y="456834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56834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4362602"/>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[이브니다</a:t>
            </a:r>
            <a:r>
              <a:rPr lang="en-US" sz="2400" dirty="0">
                <a:solidFill>
                  <a:srgbClr val="14142B"/>
                </a:solidFill>
              </a:rPr>
              <a:t>]* (vocal de apoyo)</a:t>
            </a:r>
            <a:endParaRPr lang="en-US" sz="2400" dirty="0"/>
          </a:p>
        </p:txBody>
      </p:sp>
      <p:sp>
        <p:nvSpPr>
          <p:cNvPr id="17" name="rev_41_caja"/>
          <p:cNvSpPr/>
          <p:nvPr/>
        </p:nvSpPr>
        <p:spPr>
          <a:xfrm>
            <a:off x="7498080" y="4399178"/>
            <a:ext cx="4142232" cy="795528"/>
          </a:xfrm>
          <a:prstGeom prst="roundRect">
            <a:avLst>
              <a:gd name="adj" fmla="val 13793"/>
            </a:avLst>
          </a:prstGeom>
          <a:solidFill>
            <a:srgbClr val="4236F6"/>
          </a:solidFill>
          <a:ln w="12700">
            <a:solidFill>
              <a:srgbClr val="4236F6"/>
            </a:solidFill>
            <a:prstDash val="solid"/>
          </a:ln>
        </p:spPr>
      </p:sp>
      <p:sp>
        <p:nvSpPr>
          <p:cNvPr id="18" name="rev_41_txt"/>
          <p:cNvSpPr txBox="1"/>
          <p:nvPr/>
        </p:nvSpPr>
        <p:spPr>
          <a:xfrm>
            <a:off x="7589520" y="4399178"/>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입니다 </a:t>
            </a:r>
            <a:r>
              <a:rPr lang="en-US" sz="2200" b="1" dirty="0">
                <a:solidFill>
                  <a:srgbClr val="FFFFFF"/>
                </a:solidFill>
              </a:rPr>
              <a:t>[</a:t>
            </a:r>
            <a:r>
              <a:rPr lang="ko-KR" altLang="en-US" sz="2200" b="1" dirty="0">
                <a:solidFill>
                  <a:srgbClr val="FFFFFF"/>
                </a:solidFill>
                <a:latin typeface="Malgun Gothic" pitchFamily="34" charset="0"/>
                <a:ea typeface="Malgun Gothic" pitchFamily="34" charset="-122"/>
                <a:cs typeface="Malgun Gothic" pitchFamily="34" charset="-120"/>
              </a:rPr>
              <a:t>임니다</a:t>
            </a:r>
            <a:r>
              <a:rPr lang="en-US" sz="2200" b="1" dirty="0">
                <a:solidFill>
                  <a:srgbClr val="FFFFFF"/>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Las 3 frases de hoy</a:t>
            </a:r>
            <a:r>
              <a:rPr lang="en-US" sz="1500" b="1" i="1" dirty="0">
                <a:solidFill>
                  <a:srgbClr val="8A8DA0"/>
                </a:solidFill>
              </a:rPr>
              <a:t>   Today's 3 sentences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Primero Jay, despacio; después todos</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씻고 아침을 먹어요</a:t>
            </a:r>
            <a:r>
              <a:rPr lang="en-US" sz="2800" dirty="0">
                <a:solidFill>
                  <a:srgbClr val="14142B"/>
                </a:solidFill>
              </a:rPr>
              <a:t>. — Me lavo y desayuno.</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회사에서 일해요</a:t>
            </a:r>
            <a:r>
              <a:rPr lang="en-US" sz="2800" dirty="0">
                <a:solidFill>
                  <a:srgbClr val="14142B"/>
                </a:solidFill>
              </a:rPr>
              <a:t>. — Trabajo en la oficina.</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요즘 너무 바빠요</a:t>
            </a:r>
            <a:r>
              <a:rPr lang="en-US" sz="2800" dirty="0">
                <a:solidFill>
                  <a:srgbClr val="14142B"/>
                </a:solidFill>
              </a:rPr>
              <a:t>. — Estos días ando súper ocupado/a.</a:t>
            </a:r>
            <a:endParaRPr lang="en-US" sz="2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Tarea (≈ 30 min)</a:t>
            </a:r>
            <a:r>
              <a:rPr lang="en-US" sz="1500" b="1" i="1" dirty="0">
                <a:solidFill>
                  <a:srgbClr val="8A8DA0"/>
                </a:solidFill>
              </a:rPr>
              <a:t>   Homework (≈ 30 min)</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1 · Hoja 3: tabla de 20 verbos en -아요</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어요 </a:t>
            </a:r>
            <a:r>
              <a:rPr lang="en-US" sz="2000" dirty="0">
                <a:solidFill>
                  <a:srgbClr val="14142B"/>
                </a:solidFill>
              </a:rPr>
              <a:t>y -</a:t>
            </a:r>
            <a:r>
              <a:rPr lang="ko-KR" altLang="en-US" sz="2000" dirty="0">
                <a:solidFill>
                  <a:srgbClr val="14142B"/>
                </a:solidFill>
                <a:latin typeface="Malgun Gothic" pitchFamily="34" charset="0"/>
                <a:ea typeface="Malgun Gothic" pitchFamily="34" charset="-122"/>
                <a:cs typeface="Malgun Gothic" pitchFamily="34" charset="-120"/>
              </a:rPr>
              <a:t>ㅂ니다</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습니다 </a:t>
            </a:r>
            <a:r>
              <a:rPr lang="en-US" sz="2000" dirty="0">
                <a:solidFill>
                  <a:srgbClr val="14142B"/>
                </a:solidFill>
              </a:rPr>
              <a:t>(12 min)</a:t>
            </a:r>
            <a:endParaRPr lang="en-US" sz="2000" dirty="0"/>
          </a:p>
          <a:p>
            <a:pPr marL="228600" indent="-228600" eaLnBrk="1">
              <a:spcAft>
                <a:spcPts val="800"/>
              </a:spcAft>
              <a:buSzPct val="100000"/>
              <a:buChar char="•"/>
            </a:pPr>
            <a:r>
              <a:rPr lang="en-US" sz="2000" dirty="0">
                <a:solidFill>
                  <a:srgbClr val="14142B"/>
                </a:solidFill>
              </a:rPr>
              <a:t>2 · Lector → Practicar → Palabras, 3 rondas seguidas + captura de Progreso (5 min)</a:t>
            </a:r>
            <a:endParaRPr lang="en-US" sz="2000" dirty="0"/>
          </a:p>
          <a:p>
            <a:pPr marL="228600" indent="-228600" eaLnBrk="1">
              <a:spcAft>
                <a:spcPts val="800"/>
              </a:spcAft>
              <a:buSzPct val="100000"/>
              <a:buChar char="•"/>
            </a:pPr>
            <a:r>
              <a:rPr lang="en-US" sz="2000" dirty="0">
                <a:solidFill>
                  <a:srgbClr val="14142B"/>
                </a:solidFill>
              </a:rPr>
              <a:t>3 · Quiz en línea 1: 10 preguntas, cuenta como tarea (8 min)</a:t>
            </a:r>
            <a:endParaRPr lang="en-US" sz="2000" dirty="0"/>
          </a:p>
          <a:p>
            <a:pPr marL="228600" indent="-228600" eaLnBrk="1">
              <a:spcAft>
                <a:spcPts val="800"/>
              </a:spcAft>
              <a:buSzPct val="100000"/>
              <a:buChar char="•"/>
            </a:pPr>
            <a:r>
              <a:rPr lang="en-US" sz="2000" dirty="0">
                <a:solidFill>
                  <a:srgbClr val="14142B"/>
                </a:solidFill>
              </a:rPr>
              <a:t>4 · Prepara la S4: 5 cosas que hiciste el fin de semana pasado (5 min)</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Reto: 3 frases con -고 있어요 </a:t>
            </a:r>
            <a:r>
              <a:rPr lang="en-US" sz="2000" dirty="0">
                <a:solidFill>
                  <a:srgbClr val="14142B"/>
                </a:solidFill>
              </a:rPr>
              <a:t>· Rescate: 6 verbos + audio de 30 s de tu rutina</a:t>
            </a:r>
            <a:endParaRPr lang="en-US" sz="2000" dirty="0"/>
          </a:p>
          <a:p>
            <a:pPr marL="228600" indent="-228600" eaLnBrk="1">
              <a:spcAft>
                <a:spcPts val="800"/>
              </a:spcAft>
              <a:buSzPct val="100000"/>
              <a:buChar char="•"/>
            </a:pPr>
            <a:r>
              <a:rPr lang="en-US" sz="2000" dirty="0">
                <a:solidFill>
                  <a:srgbClr val="14142B"/>
                </a:solidFill>
              </a:rPr>
              <a:t>Plazo: miércoles 11 de noviembre, 21:00 (hora de Chile)</a:t>
            </a:r>
            <a:endParaRPr lang="en-US" sz="20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691640"/>
            <a:ext cx="10725912" cy="1097280"/>
          </a:xfrm>
          <a:prstGeom prst="rect">
            <a:avLst/>
          </a:prstGeom>
          <a:noFill/>
          <a:ln/>
        </p:spPr>
        <p:txBody>
          <a:bodyPr wrap="square" lIns="0" tIns="0" rIns="0" bIns="0" rtlCol="0" anchor="ctr"/>
          <a:lstStyle/>
          <a:p>
            <a:pPr marL="0" indent="0" algn="ctr" eaLnBrk="1">
              <a:buNone/>
            </a:pPr>
            <a:r>
              <a:rPr lang="ko-KR" altLang="en-US" sz="3000" b="1" dirty="0">
                <a:solidFill>
                  <a:srgbClr val="FFFFFF"/>
                </a:solidFill>
                <a:latin typeface="Malgun Gothic" pitchFamily="34" charset="0"/>
                <a:ea typeface="Malgun Gothic" pitchFamily="34" charset="-122"/>
                <a:cs typeface="Malgun Gothic" pitchFamily="34" charset="-120"/>
              </a:rPr>
              <a:t>감사합니다</a:t>
            </a:r>
            <a:r>
              <a:rPr lang="en-US" sz="3000" b="1" dirty="0">
                <a:solidFill>
                  <a:srgbClr val="FFFFFF"/>
                </a:solidFill>
              </a:rPr>
              <a:t>! </a:t>
            </a:r>
            <a:r>
              <a:rPr lang="ko-KR" altLang="en-US" sz="3000" b="1" dirty="0">
                <a:solidFill>
                  <a:srgbClr val="FFFFFF"/>
                </a:solidFill>
                <a:latin typeface="Malgun Gothic" pitchFamily="34" charset="0"/>
                <a:ea typeface="Malgun Gothic" pitchFamily="34" charset="-122"/>
                <a:cs typeface="Malgun Gothic" pitchFamily="34" charset="-120"/>
              </a:rPr>
              <a:t>화이팅</a:t>
            </a:r>
            <a:r>
              <a:rPr lang="en-US" sz="3000" b="1" dirty="0">
                <a:solidFill>
                  <a:srgbClr val="FFFFFF"/>
                </a:solidFill>
              </a:rPr>
              <a:t>!  ¡Gracias! ¡Ánimo!</a:t>
            </a:r>
            <a:endParaRPr lang="en-US" sz="4000" dirty="0"/>
          </a:p>
        </p:txBody>
      </p:sp>
      <p:sp>
        <p:nvSpPr>
          <p:cNvPr id="3" name="Text 0"/>
          <p:cNvSpPr>
            <a:spLocks noGrp="1"/>
          </p:cNvSpPr>
          <p:nvPr>
            <p:ph type="body" idx="102" hasCustomPrompt="1"/>
          </p:nvPr>
        </p:nvSpPr>
        <p:spPr>
          <a:xfrm>
            <a:off x="1463040" y="2971800"/>
            <a:ext cx="9262872" cy="2926080"/>
          </a:xfrm>
          <a:prstGeom prst="rect">
            <a:avLst/>
          </a:prstGeom>
          <a:noFill/>
          <a:ln/>
        </p:spPr>
        <p:txBody>
          <a:bodyPr wrap="square" lIns="0" tIns="0" rIns="0" bIns="0" rtlCol="0" anchor="t">
            <a:normAutofit/>
          </a:bodyPr>
          <a:lstStyle/>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오늘 정말 잘했어요</a:t>
            </a:r>
            <a:r>
              <a:rPr lang="en-US" sz="2200" dirty="0">
                <a:solidFill>
                  <a:srgbClr val="FFFFFF"/>
                </a:solidFill>
              </a:rPr>
              <a:t>!</a:t>
            </a:r>
            <a:endParaRPr lang="en-US" sz="2200" dirty="0"/>
          </a:p>
          <a:p>
            <a:pPr marL="0" indent="0" algn="ctr" eaLnBrk="1">
              <a:buNone/>
            </a:pPr>
            <a:r>
              <a:rPr lang="en-US" sz="2200" dirty="0">
                <a:solidFill>
                  <a:srgbClr val="FFFFFF"/>
                </a:solidFill>
              </a:rPr>
              <a:t>Clase 4: el pasado · abre con el quiz 3</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Quiz 3: irregulares, 에 </a:t>
            </a:r>
            <a:r>
              <a:rPr lang="en-US" sz="2200" dirty="0">
                <a:solidFill>
                  <a:srgbClr val="FFFFFF"/>
                </a:solidFill>
              </a:rPr>
              <a:t>o </a:t>
            </a:r>
            <a:r>
              <a:rPr lang="ko-KR" altLang="en-US" sz="2200" dirty="0">
                <a:solidFill>
                  <a:srgbClr val="FFFFFF"/>
                </a:solidFill>
                <a:latin typeface="Malgun Gothic" pitchFamily="34" charset="0"/>
                <a:ea typeface="Malgun Gothic" pitchFamily="34" charset="-122"/>
                <a:cs typeface="Malgun Gothic" pitchFamily="34" charset="-120"/>
              </a:rPr>
              <a:t>에서 </a:t>
            </a:r>
            <a:r>
              <a:rPr lang="en-US" sz="2200" dirty="0">
                <a:solidFill>
                  <a:srgbClr val="FFFFFF"/>
                </a:solidFill>
              </a:rPr>
              <a:t>y ¿cuál es formal?</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-고 있어요</a:t>
            </a:r>
            <a:r>
              <a:rPr lang="ko-KR" altLang="en-US" sz="1500" b="1" i="1" dirty="0">
                <a:solidFill>
                  <a:srgbClr val="8A8DA0"/>
                </a:solidFill>
              </a:rPr>
              <a:t>   -고 있어요 (happening now)</a:t>
            </a:r>
            <a:endParaRPr lang="en-US" sz="3000" dirty="0"/>
          </a:p>
        </p:txBody>
      </p:sp>
      <p:sp>
        <p:nvSpPr>
          <p:cNvPr id="3" name="panel"/>
          <p:cNvSpPr/>
          <p:nvPr/>
        </p:nvSpPr>
        <p:spPr>
          <a:xfrm>
            <a:off x="1280160" y="1645920"/>
            <a:ext cx="9628632" cy="3108960"/>
          </a:xfrm>
          <a:prstGeom prst="roundRect">
            <a:avLst>
              <a:gd name="adj" fmla="val 8824"/>
            </a:avLst>
          </a:prstGeom>
          <a:solidFill>
            <a:srgbClr val="F1F0FE"/>
          </a:solidFill>
          <a:ln w="12700">
            <a:solidFill>
              <a:srgbClr val="F1F0FE"/>
            </a:solidFill>
            <a:prstDash val="solid"/>
          </a:ln>
        </p:spPr>
      </p:sp>
      <p:sp>
        <p:nvSpPr>
          <p:cNvPr id="4" name="frase_ko"/>
          <p:cNvSpPr txBox="1"/>
          <p:nvPr/>
        </p:nvSpPr>
        <p:spPr>
          <a:xfrm>
            <a:off x="1463040" y="1828800"/>
            <a:ext cx="9262872" cy="1828800"/>
          </a:xfrm>
          <a:prstGeom prst="rect">
            <a:avLst/>
          </a:prstGeom>
          <a:noFill/>
          <a:ln/>
        </p:spPr>
        <p:txBody>
          <a:bodyPr wrap="square" lIns="0" tIns="0" rIns="0" bIns="0" rtlCol="0" anchor="ctr">
            <a:normAutofit/>
          </a:bodyPr>
          <a:lstStyle/>
          <a:p>
            <a:pPr marL="0" indent="0" algn="ctr" eaLnBrk="1">
              <a:buNone/>
            </a:pPr>
            <a:r>
              <a:rPr lang="ko-KR" altLang="en-US" sz="5300" b="1" dirty="0">
                <a:solidFill>
                  <a:srgbClr val="4236F6"/>
                </a:solidFill>
                <a:latin typeface="Malgun Gothic" pitchFamily="34" charset="0"/>
                <a:ea typeface="Malgun Gothic" pitchFamily="34" charset="-122"/>
                <a:cs typeface="Malgun Gothic" pitchFamily="34" charset="-120"/>
              </a:rPr>
              <a:t>지금 뭐 하고 있어요</a:t>
            </a:r>
            <a:r>
              <a:rPr lang="en-US" sz="5300" b="1" dirty="0">
                <a:solidFill>
                  <a:srgbClr val="4236F6"/>
                </a:solidFill>
              </a:rPr>
              <a:t>? —</a:t>
            </a:r>
            <a:endParaRPr lang="en-US" sz="5300" dirty="0"/>
          </a:p>
          <a:p>
            <a:pPr marL="0" indent="0" algn="ctr" eaLnBrk="1">
              <a:buNone/>
            </a:pPr>
            <a:r>
              <a:rPr lang="ko-KR" altLang="en-US" sz="5300" b="1" dirty="0">
                <a:solidFill>
                  <a:srgbClr val="4236F6"/>
                </a:solidFill>
                <a:latin typeface="Malgun Gothic" pitchFamily="34" charset="0"/>
                <a:ea typeface="Malgun Gothic" pitchFamily="34" charset="-122"/>
                <a:cs typeface="Malgun Gothic" pitchFamily="34" charset="-120"/>
              </a:rPr>
              <a:t>한국어를 공부하고 있어요</a:t>
            </a:r>
            <a:r>
              <a:rPr lang="en-US" sz="5300" b="1" dirty="0">
                <a:solidFill>
                  <a:srgbClr val="4236F6"/>
                </a:solidFill>
              </a:rPr>
              <a:t>.</a:t>
            </a:r>
            <a:endParaRPr lang="en-US" sz="5300" dirty="0"/>
          </a:p>
        </p:txBody>
      </p:sp>
      <p:sp>
        <p:nvSpPr>
          <p:cNvPr id="5" name="Text 3"/>
          <p:cNvSpPr txBox="1"/>
          <p:nvPr/>
        </p:nvSpPr>
        <p:spPr>
          <a:xfrm>
            <a:off x="1783080" y="3657600"/>
            <a:ext cx="8439912" cy="822960"/>
          </a:xfrm>
          <a:prstGeom prst="rect">
            <a:avLst/>
          </a:prstGeom>
          <a:noFill/>
          <a:ln/>
        </p:spPr>
        <p:txBody>
          <a:bodyPr wrap="square" lIns="0" tIns="0" rIns="0" bIns="0" rtlCol="0" anchor="t">
            <a:normAutofit/>
          </a:bodyPr>
          <a:lstStyle/>
          <a:p>
            <a:pPr marL="0" indent="0" algn="ctr" eaLnBrk="1">
              <a:buNone/>
            </a:pPr>
            <a:r>
              <a:rPr lang="en-US" sz="2400" dirty="0">
                <a:solidFill>
                  <a:srgbClr val="5C5F6B"/>
                </a:solidFill>
              </a:rPr>
              <a:t>¿Qué estás haciendo ahora? — Estoy estudiando coreano.</a:t>
            </a:r>
            <a:endParaRPr lang="en-US" sz="2400" dirty="0"/>
          </a:p>
        </p:txBody>
      </p:sp>
      <p:sp>
        <p:nvSpPr>
          <p:cNvPr id="6" name="lista"/>
          <p:cNvSpPr txBox="1"/>
          <p:nvPr/>
        </p:nvSpPr>
        <p:spPr>
          <a:xfrm>
            <a:off x="1280160" y="4937760"/>
            <a:ext cx="9628632"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Reto · raíz + 고 있어요</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듣고 있어요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쉬고 있어요</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어디예요</a:t>
            </a:r>
            <a:r>
              <a:rPr lang="en-US" sz="3000" b="1" dirty="0">
                <a:solidFill>
                  <a:srgbClr val="4236F6"/>
                </a:solidFill>
              </a:rPr>
              <a:t>?  </a:t>
            </a:r>
            <a:r>
              <a:rPr lang="en-US" sz="3000" b="1" dirty="0">
                <a:solidFill>
                  <a:srgbClr val="003478"/>
                </a:solidFill>
              </a:rPr>
              <a:t>¿Dónde estoy?</a:t>
            </a:r>
            <a:r>
              <a:rPr lang="en-US" sz="1500" b="1" i="1" dirty="0">
                <a:solidFill>
                  <a:srgbClr val="8A8DA0"/>
                </a:solidFill>
              </a:rPr>
              <a:t>   Where am I?</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여기에서 </a:t>
            </a:r>
            <a:r>
              <a:rPr lang="en-US" sz="1800" i="1" dirty="0">
                <a:solidFill>
                  <a:srgbClr val="4236F6"/>
                </a:solidFill>
              </a:rPr>
              <a:t>___</a:t>
            </a:r>
            <a:r>
              <a:rPr lang="ko-KR" altLang="en-US" sz="1800" i="1" dirty="0">
                <a:solidFill>
                  <a:srgbClr val="4236F6"/>
                </a:solidFill>
                <a:latin typeface="Malgun Gothic" pitchFamily="34" charset="0"/>
                <a:ea typeface="Malgun Gothic" pitchFamily="34" charset="-122"/>
                <a:cs typeface="Malgun Gothic" pitchFamily="34" charset="-120"/>
              </a:rPr>
              <a:t>아요</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어요</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그리고 </a:t>
            </a:r>
            <a:r>
              <a:rPr lang="en-US" sz="1800" i="1" dirty="0">
                <a:solidFill>
                  <a:srgbClr val="4236F6"/>
                </a:solidFill>
              </a:rPr>
              <a:t>___. </a:t>
            </a:r>
            <a:r>
              <a:rPr lang="ko-KR" altLang="en-US" sz="1800" i="1" dirty="0">
                <a:solidFill>
                  <a:srgbClr val="4236F6"/>
                </a:solidFill>
                <a:latin typeface="Malgun Gothic" pitchFamily="34" charset="0"/>
                <a:ea typeface="Malgun Gothic" pitchFamily="34" charset="-122"/>
                <a:cs typeface="Malgun Gothic" pitchFamily="34" charset="-120"/>
              </a:rPr>
              <a:t>어디예요</a:t>
            </a:r>
            <a:r>
              <a:rPr lang="en-US" sz="1800" i="1" dirty="0">
                <a:solidFill>
                  <a:srgbClr val="4236F6"/>
                </a:solidFill>
              </a:rPr>
              <a:t>?</a:t>
            </a:r>
            <a:endParaRPr lang="en-US" sz="1800" dirty="0"/>
          </a:p>
        </p:txBody>
      </p:sp>
      <p:sp>
        <p:nvSpPr>
          <p:cNvPr id="4" name="card_0"/>
          <p:cNvSpPr/>
          <p:nvPr/>
        </p:nvSpPr>
        <p:spPr>
          <a:xfrm>
            <a:off x="548640"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ecb9b4ed8e98.png"/>
          <p:cNvPicPr>
            <a:picLocks noChangeAspect="1"/>
          </p:cNvPicPr>
          <p:nvPr/>
        </p:nvPicPr>
        <p:blipFill>
          <a:blip r:embed="rId15"/>
          <a:stretch>
            <a:fillRect/>
          </a:stretch>
        </p:blipFill>
        <p:spPr>
          <a:xfrm>
            <a:off x="1832762" y="1984248"/>
            <a:ext cx="976579" cy="976579"/>
          </a:xfrm>
          <a:prstGeom prst="rect">
            <a:avLst/>
          </a:prstGeom>
        </p:spPr>
      </p:pic>
      <p:sp>
        <p:nvSpPr>
          <p:cNvPr id="6" name="Text 3"/>
          <p:cNvSpPr txBox="1"/>
          <p:nvPr/>
        </p:nvSpPr>
        <p:spPr>
          <a:xfrm>
            <a:off x="548640"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카페</a:t>
            </a:r>
            <a:endParaRPr lang="en-US" sz="2500" dirty="0"/>
          </a:p>
        </p:txBody>
      </p:sp>
      <p:sp>
        <p:nvSpPr>
          <p:cNvPr id="7" name="Text 4"/>
          <p:cNvSpPr txBox="1"/>
          <p:nvPr/>
        </p:nvSpPr>
        <p:spPr>
          <a:xfrm>
            <a:off x="621792" y="338602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café</a:t>
            </a:r>
            <a:endParaRPr lang="en-US" sz="1600" dirty="0"/>
          </a:p>
        </p:txBody>
      </p:sp>
      <p:pic>
        <p:nvPicPr>
          <p:cNvPr id="1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6"/>
          <a:stretch>
            <a:fillRect/>
          </a:stretch>
        </p:blipFill>
        <p:spPr>
          <a:xfrm>
            <a:off x="3691128" y="1947672"/>
            <a:ext cx="310896" cy="310896"/>
          </a:xfrm>
          <a:prstGeom prst="rect">
            <a:avLst/>
          </a:prstGeom>
        </p:spPr>
      </p:pic>
      <p:sp>
        <p:nvSpPr>
          <p:cNvPr id="9" name="card_1"/>
          <p:cNvSpPr/>
          <p:nvPr/>
        </p:nvSpPr>
        <p:spPr>
          <a:xfrm>
            <a:off x="4322064"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0" name="dibujo_1" descr="C:\Users\Chingu\AppData\Local\Temp\claude\C--Users-Chingu-Desktop-ACADEMIASEULWEB\d4111e1b-5523-44ea-97b2-b1a1d9545b9e\scratchpad\decks\cache\eca791.png"/>
          <p:cNvPicPr>
            <a:picLocks noChangeAspect="1"/>
          </p:cNvPicPr>
          <p:nvPr/>
        </p:nvPicPr>
        <p:blipFill>
          <a:blip r:embed="rId17"/>
          <a:stretch>
            <a:fillRect/>
          </a:stretch>
        </p:blipFill>
        <p:spPr>
          <a:xfrm>
            <a:off x="5606186" y="1984248"/>
            <a:ext cx="976579" cy="976579"/>
          </a:xfrm>
          <a:prstGeom prst="rect">
            <a:avLst/>
          </a:prstGeom>
        </p:spPr>
      </p:pic>
      <p:sp>
        <p:nvSpPr>
          <p:cNvPr id="11" name="Text 6"/>
          <p:cNvSpPr txBox="1"/>
          <p:nvPr/>
        </p:nvSpPr>
        <p:spPr>
          <a:xfrm>
            <a:off x="4322064"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집</a:t>
            </a:r>
            <a:endParaRPr lang="en-US" sz="2500" dirty="0"/>
          </a:p>
        </p:txBody>
      </p:sp>
      <p:sp>
        <p:nvSpPr>
          <p:cNvPr id="12" name="Text 7"/>
          <p:cNvSpPr txBox="1"/>
          <p:nvPr/>
        </p:nvSpPr>
        <p:spPr>
          <a:xfrm>
            <a:off x="4395216" y="338602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casa</a:t>
            </a:r>
            <a:endParaRPr lang="en-US" sz="1600" dirty="0"/>
          </a:p>
        </p:txBody>
      </p:sp>
      <p:pic>
        <p:nvPicPr>
          <p:cNvPr id="8"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6"/>
          <a:stretch>
            <a:fillRect/>
          </a:stretch>
        </p:blipFill>
        <p:spPr>
          <a:xfrm>
            <a:off x="7464552" y="1947672"/>
            <a:ext cx="310896" cy="310896"/>
          </a:xfrm>
          <a:prstGeom prst="rect">
            <a:avLst/>
          </a:prstGeom>
        </p:spPr>
      </p:pic>
      <p:sp>
        <p:nvSpPr>
          <p:cNvPr id="14" name="card_2"/>
          <p:cNvSpPr/>
          <p:nvPr/>
        </p:nvSpPr>
        <p:spPr>
          <a:xfrm>
            <a:off x="8095488"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5" name="dibujo_2" descr="C:\Users\Chingu\AppData\Local\Temp\claude\C--Users-Chingu-Desktop-ACADEMIASEULWEB\d4111e1b-5523-44ea-97b2-b1a1d9545b9e\scratchpad\decks\cache\ed9a8cec82ac.png"/>
          <p:cNvPicPr>
            <a:picLocks noChangeAspect="1"/>
          </p:cNvPicPr>
          <p:nvPr/>
        </p:nvPicPr>
        <p:blipFill>
          <a:blip r:embed="rId18"/>
          <a:stretch>
            <a:fillRect/>
          </a:stretch>
        </p:blipFill>
        <p:spPr>
          <a:xfrm>
            <a:off x="9379610" y="1984248"/>
            <a:ext cx="976579" cy="976579"/>
          </a:xfrm>
          <a:prstGeom prst="rect">
            <a:avLst/>
          </a:prstGeom>
        </p:spPr>
      </p:pic>
      <p:sp>
        <p:nvSpPr>
          <p:cNvPr id="16" name="Text 9"/>
          <p:cNvSpPr txBox="1"/>
          <p:nvPr/>
        </p:nvSpPr>
        <p:spPr>
          <a:xfrm>
            <a:off x="8095488"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회사</a:t>
            </a:r>
            <a:endParaRPr lang="en-US" sz="2500" dirty="0"/>
          </a:p>
        </p:txBody>
      </p:sp>
      <p:sp>
        <p:nvSpPr>
          <p:cNvPr id="17" name="Text 10"/>
          <p:cNvSpPr txBox="1"/>
          <p:nvPr/>
        </p:nvSpPr>
        <p:spPr>
          <a:xfrm>
            <a:off x="8168640" y="338602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oficina, empresa</a:t>
            </a:r>
            <a:endParaRPr lang="en-US" sz="1600" dirty="0"/>
          </a:p>
        </p:txBody>
      </p:sp>
      <p:pic>
        <p:nvPicPr>
          <p:cNvPr id="18"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6"/>
          <a:stretch>
            <a:fillRect/>
          </a:stretch>
        </p:blipFill>
        <p:spPr>
          <a:xfrm>
            <a:off x="11237976" y="1947672"/>
            <a:ext cx="310896" cy="310896"/>
          </a:xfrm>
          <a:prstGeom prst="rect">
            <a:avLst/>
          </a:prstGeom>
        </p:spPr>
      </p:pic>
      <p:sp>
        <p:nvSpPr>
          <p:cNvPr id="19" name="card_3"/>
          <p:cNvSpPr/>
          <p:nvPr/>
        </p:nvSpPr>
        <p:spPr>
          <a:xfrm>
            <a:off x="548640"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0" name="dibujo_3" descr="C:\Users\Chingu\AppData\Local\Temp\claude\C--Users-Chingu-Desktop-ACADEMIASEULWEB\d4111e1b-5523-44ea-97b2-b1a1d9545b9e\scratchpad\decks\cache\ed9599eab590.png"/>
          <p:cNvPicPr>
            <a:picLocks noChangeAspect="1"/>
          </p:cNvPicPr>
          <p:nvPr/>
        </p:nvPicPr>
        <p:blipFill>
          <a:blip r:embed="rId19"/>
          <a:stretch>
            <a:fillRect/>
          </a:stretch>
        </p:blipFill>
        <p:spPr>
          <a:xfrm>
            <a:off x="1832762" y="4247388"/>
            <a:ext cx="976579" cy="976579"/>
          </a:xfrm>
          <a:prstGeom prst="rect">
            <a:avLst/>
          </a:prstGeom>
        </p:spPr>
      </p:pic>
      <p:sp>
        <p:nvSpPr>
          <p:cNvPr id="21" name="Text 12"/>
          <p:cNvSpPr txBox="1"/>
          <p:nvPr/>
        </p:nvSpPr>
        <p:spPr>
          <a:xfrm>
            <a:off x="548640"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학교</a:t>
            </a:r>
            <a:endParaRPr lang="en-US" sz="2500" dirty="0"/>
          </a:p>
        </p:txBody>
      </p:sp>
      <p:sp>
        <p:nvSpPr>
          <p:cNvPr id="22" name="Text 13"/>
          <p:cNvSpPr txBox="1"/>
          <p:nvPr/>
        </p:nvSpPr>
        <p:spPr>
          <a:xfrm>
            <a:off x="621792" y="564916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escuela</a:t>
            </a:r>
            <a:endParaRPr lang="en-US" sz="1600" dirty="0"/>
          </a:p>
        </p:txBody>
      </p:sp>
      <p:pic>
        <p:nvPicPr>
          <p:cNvPr id="23"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6"/>
          <a:stretch>
            <a:fillRect/>
          </a:stretch>
        </p:blipFill>
        <p:spPr>
          <a:xfrm>
            <a:off x="3691128" y="4210812"/>
            <a:ext cx="310896" cy="310896"/>
          </a:xfrm>
          <a:prstGeom prst="rect">
            <a:avLst/>
          </a:prstGeom>
        </p:spPr>
      </p:pic>
      <p:sp>
        <p:nvSpPr>
          <p:cNvPr id="24" name="card_4"/>
          <p:cNvSpPr/>
          <p:nvPr/>
        </p:nvSpPr>
        <p:spPr>
          <a:xfrm>
            <a:off x="4322064"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5" name="dibujo_4" descr="C:\Users\Chingu\AppData\Local\Temp\claude\C--Users-Chingu-Desktop-ACADEMIASEULWEB\d4111e1b-5523-44ea-97b2-b1a1d9545b9e\scratchpad\decks\cache\eab3b5ec9b90.png"/>
          <p:cNvPicPr>
            <a:picLocks noChangeAspect="1"/>
          </p:cNvPicPr>
          <p:nvPr/>
        </p:nvPicPr>
        <p:blipFill>
          <a:blip r:embed="rId20"/>
          <a:stretch>
            <a:fillRect/>
          </a:stretch>
        </p:blipFill>
        <p:spPr>
          <a:xfrm>
            <a:off x="5606186" y="4247388"/>
            <a:ext cx="976579" cy="976579"/>
          </a:xfrm>
          <a:prstGeom prst="rect">
            <a:avLst/>
          </a:prstGeom>
        </p:spPr>
      </p:pic>
      <p:sp>
        <p:nvSpPr>
          <p:cNvPr id="26" name="Text 15"/>
          <p:cNvSpPr txBox="1"/>
          <p:nvPr/>
        </p:nvSpPr>
        <p:spPr>
          <a:xfrm>
            <a:off x="4322064"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공원</a:t>
            </a:r>
            <a:endParaRPr lang="en-US" sz="2500" dirty="0"/>
          </a:p>
        </p:txBody>
      </p:sp>
      <p:sp>
        <p:nvSpPr>
          <p:cNvPr id="27" name="Text 16"/>
          <p:cNvSpPr txBox="1"/>
          <p:nvPr/>
        </p:nvSpPr>
        <p:spPr>
          <a:xfrm>
            <a:off x="4395216" y="564916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parque</a:t>
            </a:r>
            <a:endParaRPr lang="en-US" sz="1600" dirty="0"/>
          </a:p>
        </p:txBody>
      </p:sp>
      <p:pic>
        <p:nvPicPr>
          <p:cNvPr id="28"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6"/>
          <a:stretch>
            <a:fillRect/>
          </a:stretch>
        </p:blipFill>
        <p:spPr>
          <a:xfrm>
            <a:off x="7464552" y="4210812"/>
            <a:ext cx="310896" cy="310896"/>
          </a:xfrm>
          <a:prstGeom prst="rect">
            <a:avLst/>
          </a:prstGeom>
        </p:spPr>
      </p:pic>
      <p:sp>
        <p:nvSpPr>
          <p:cNvPr id="29" name="card_5"/>
          <p:cNvSpPr/>
          <p:nvPr/>
        </p:nvSpPr>
        <p:spPr>
          <a:xfrm>
            <a:off x="8095488"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0" name="dibujo_5" descr="C:\Users\Chingu\AppData\Local\Temp\claude\C--Users-Chingu-Desktop-ACADEMIASEULWEB\d4111e1b-5523-44ea-97b2-b1a1d9545b9e\scratchpad\decks\cache\ec8b9deb8bb9.png"/>
          <p:cNvPicPr>
            <a:picLocks noChangeAspect="1"/>
          </p:cNvPicPr>
          <p:nvPr/>
        </p:nvPicPr>
        <p:blipFill>
          <a:blip r:embed="rId21"/>
          <a:stretch>
            <a:fillRect/>
          </a:stretch>
        </p:blipFill>
        <p:spPr>
          <a:xfrm>
            <a:off x="9379610" y="4247388"/>
            <a:ext cx="976579" cy="976579"/>
          </a:xfrm>
          <a:prstGeom prst="rect">
            <a:avLst/>
          </a:prstGeom>
        </p:spPr>
      </p:pic>
      <p:sp>
        <p:nvSpPr>
          <p:cNvPr id="31" name="Text 18"/>
          <p:cNvSpPr txBox="1"/>
          <p:nvPr/>
        </p:nvSpPr>
        <p:spPr>
          <a:xfrm>
            <a:off x="8095488"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식당</a:t>
            </a:r>
            <a:endParaRPr lang="en-US" sz="2500" dirty="0"/>
          </a:p>
        </p:txBody>
      </p:sp>
      <p:sp>
        <p:nvSpPr>
          <p:cNvPr id="32" name="Text 19"/>
          <p:cNvSpPr txBox="1"/>
          <p:nvPr/>
        </p:nvSpPr>
        <p:spPr>
          <a:xfrm>
            <a:off x="8168640" y="564916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restaurante</a:t>
            </a:r>
            <a:endParaRPr lang="en-US" sz="1600" dirty="0"/>
          </a:p>
        </p:txBody>
      </p:sp>
      <p:pic>
        <p:nvPicPr>
          <p:cNvPr id="33"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6"/>
          <a:stretch>
            <a:fillRect/>
          </a:stretch>
        </p:blipFill>
        <p:spPr>
          <a:xfrm>
            <a:off x="11237976" y="4210812"/>
            <a:ext cx="310896" cy="310896"/>
          </a:xfrm>
          <a:prstGeom prst="rect">
            <a:avLst/>
          </a:prstGeom>
        </p:spPr>
      </p:pic>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34</a:t>
            </a:fld>
            <a:endParaRPr lang="en-US"/>
          </a:p>
        </p:txBody>
      </p:sp>
    </p:spTree>
  </p:cSld>
  <p:clrMapOvr>
    <a:masterClrMapping/>
  </p:clrMapOvr>
</p:sld>
</file>

<file path=ppt/theme/theme1.xml><?xml version="1.0" encoding="utf-8"?>
<a:theme xmlns:a="http://schemas.openxmlformats.org/drawingml/2006/main" name="Academia Seul">
  <a:themeElements>
    <a:clrScheme name="Academia Seul">
      <a:dk1>
        <a:srgbClr val="14142B"/>
      </a:dk1>
      <a:lt1>
        <a:srgbClr val="FFFFFF"/>
      </a:lt1>
      <a:dk2>
        <a:srgbClr val="003478"/>
      </a:dk2>
      <a:lt2>
        <a:srgbClr val="F1F0FE"/>
      </a:lt2>
      <a:accent1>
        <a:srgbClr val="4236F6"/>
      </a:accent1>
      <a:accent2>
        <a:srgbClr val="E8B84B"/>
      </a:accent2>
      <a:accent3>
        <a:srgbClr val="003478"/>
      </a:accent3>
      <a:accent4>
        <a:srgbClr val="8A83FF"/>
      </a:accent4>
      <a:accent5>
        <a:srgbClr val="5C5F6B"/>
      </a:accent5>
      <a:accent6>
        <a:srgbClr val="B8962E"/>
      </a:accent6>
      <a:hlink>
        <a:srgbClr val="4236F6"/>
      </a:hlink>
      <a:folHlink>
        <a:srgbClr val="003478"/>
      </a:folHlink>
    </a:clrScheme>
    <a:fontScheme name="Academia Se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5627</Words>
  <Application>Microsoft Office PowerPoint</Application>
  <PresentationFormat>Widescreen</PresentationFormat>
  <Paragraphs>518</Paragraphs>
  <Slides>34</Slides>
  <Notes>34</Notes>
  <HiddenSlides>0</HiddenSlides>
  <MMClips>7</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Malgun Gothic</vt:lpstr>
      <vt:lpstr>Arial</vt:lpstr>
      <vt:lpstr>Academia Seul</vt:lpstr>
      <vt:lpstr>Mientras llegan</vt:lpstr>
      <vt:lpstr>Quiz 2   Quiz 2</vt:lpstr>
      <vt:lpstr>Quiz 2 · respuestas   Quiz 2 · answers</vt:lpstr>
      <vt:lpstr>Hoy vas a poder decir…   Today you'll be able to say…</vt:lpstr>
      <vt:lpstr>Mi día (fotos)   My day (photos)</vt:lpstr>
      <vt:lpstr>Mi día (frases)   My day (sentences)</vt:lpstr>
      <vt:lpstr>-고 y 쯤   -고 (and) and 쯤 (around)</vt:lpstr>
      <vt:lpstr>-아요/어요  El presente que ya sabes   The present you already know</vt:lpstr>
      <vt:lpstr>¿덥어요?   Why not 덥어요?</vt:lpstr>
      <vt:lpstr>ㅂ se derrite   ㅂ melts</vt:lpstr>
      <vt:lpstr>ㄷ → ㄹ · 으 se cae   ㄷ becomes ㄹ · 으 drops</vt:lpstr>
      <vt:lpstr>르 · ㄹ   르 and ㄹ verbs</vt:lpstr>
      <vt:lpstr>Todo en una tabla   All in one table</vt:lpstr>
      <vt:lpstr>에 · 에서  ¿Está o hace?   Being there or doing there?</vt:lpstr>
      <vt:lpstr>에 · 에서  Regla de bolsillo   Pocket rule</vt:lpstr>
      <vt:lpstr>¿에 o 에서? (1)   에 or 에서? (1)</vt:lpstr>
      <vt:lpstr>¿에 o 에서? (2)   에 or 에서? (2)</vt:lpstr>
      <vt:lpstr>-ㅂ니다/습니다  El coreano de micrófono   Microphone Korean</vt:lpstr>
      <vt:lpstr>-ㅂ니다/습니다  Cómo se forma (reconocer)</vt:lpstr>
      <vt:lpstr>Escucha selectiva   Selective listening</vt:lpstr>
      <vt:lpstr>Tu presentación formal   Your formal introduction</vt:lpstr>
      <vt:lpstr>아홉 시에 출근해요  Entro a trabajar a las nueve   I start work at nine</vt:lpstr>
      <vt:lpstr>Rueda de conjugación (1/4)   Conjugation wheel (1/4)</vt:lpstr>
      <vt:lpstr>Rueda de conjugación (2/4)   Conjugation wheel (2/4)</vt:lpstr>
      <vt:lpstr>Rueda de conjugación (3/4)   Conjugation wheel (3/4)</vt:lpstr>
      <vt:lpstr>Rueda de conjugación (4/4)   Conjugation wheel (4/4)</vt:lpstr>
      <vt:lpstr>Salas · 4 rondas   Breakout rooms · 4 rounds</vt:lpstr>
      <vt:lpstr>Minuto libre   Free minute</vt:lpstr>
      <vt:lpstr>Lo que oí hoy   What I heard today</vt:lpstr>
      <vt:lpstr>Las 3 frases de hoy   Today's 3 sentences</vt:lpstr>
      <vt:lpstr>Tarea (≈ 30 min)   Homework (≈ 30 min)</vt:lpstr>
      <vt:lpstr>감사합니다! 화이팅!  ¡Gracias! ¡Ánimo!</vt:lpstr>
      <vt:lpstr>-고 있어요   -고 있어요 (happening now)</vt:lpstr>
      <vt:lpstr>어디예요?  ¿Dónde estoy?   Where am I?</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Básico 2 (A1.2) · Semana 3 · Presente completo · Mi rutina</dc:title>
  <dc:subject>PptxGenJS Presentation</dc:subject>
  <dc:creator>Academia Seúl</dc:creator>
  <cp:lastModifiedBy>Jae Hee Kim</cp:lastModifiedBy>
  <cp:revision>2</cp:revision>
  <dcterms:created xsi:type="dcterms:W3CDTF">2026-10-16T10:02:34Z</dcterms:created>
  <dcterms:modified xsi:type="dcterms:W3CDTF">2026-10-16T10:03:55Z</dcterms:modified>
</cp:coreProperties>
</file>