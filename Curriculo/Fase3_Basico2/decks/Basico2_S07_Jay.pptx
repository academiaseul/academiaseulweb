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7" id="{B5009A4D-A84E-FD2A-F673-AF8AD2AA587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11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21:00. Inicia la grabación en la nube desde el minuto 0 (Basico2_S07_2026-12-02) y saluda: 안녕하세요, 여러분! Pon el chat en «Solo anfitriones y coanfitriones» antes de pegar el quiz. Ten sobre la mesa una taza de café, una de té y la billetera con el billete de 천 원.
Fuente: Nueva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21:00–21:05 (3 min para responder). Di: «¡Semana 7, la última antes del examen! Quiz relámpago de la semana 6: 5 preguntas, 3 minutos, en 한글.» Pega el mismo texto en el chat, que va solo al anfitrión. Mientras escriben, crea las salas y asígnalas a mano con la lista de parejas del oral de la clase 8 (sin abrirlas).
Fuente: Nueva (texto en C.3)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 los 3 minutos del quiz. Formato TOPIK I, ítem original ([validar] D-S7-6: si prefieres uno oficial de topik.go.kr, reemplázalo y anota la cita en esta lámina). No digas la respuesta: va en la lámina siguiente.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21:04–21:05 (1 min de clave + 30 s de hoja 6). «La 1 es la regla de oro de la semana pasada: ante una invitación, 못 más una razón; 안 가요 suena a “no quiero”. La 4: 운동 안 해요, con el 안 en el medio.» Hoja 6: 따라 하세요: 운동 안 해요. 몰라요. Guarda el chat y anota el puntaje (1 punto por ítem).
Fuente: Nueva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21:05–21:06. Chat de nuevo en «Todos». «Hoy el libro trae 9 partículas. Tranquilos: no las vamos a meter todas a la fuerza. Tres mecanismos los van a decir hoy, tres los usan en frases hechas y dos solo se reconocen. En el examen, las partículas se eligen de un recuadro: reconocerlas ya es sumar puntos.»
Fuente: Plantilla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21:06 (30 s). Lee las cinco despacio y pide el coro solo de la primera: 따라 하세요: 저도 가요! Cierra con: «Al final de la clase, las otras cuatro también son suyas.»
Fuente: B.8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21:06–21:07 (1 min, en coreano, despacio, levantando cada taza): 저는 커피를 좋아해요. 차도 좋아해요. 그리고 아침에는 커피만 마셔요. Pregunta a alguien con una taza en cámara «카밀라 씨는 커피를 좋아해요?» y, si dice 네, responde «저도요!» con la mano en el pecho. Repite con dos alumnos más.
Imagen: incluida (dibujo de la casa).
Fuente: Foto tuya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21:07–21:09 (1 min 30 s, en español). «도 es “también”; 만 es “solo”. Son etiquetas que se pegan a la palabra, como 은/는. A las tres grandes las reemplazan: 저는 → 저도, 커피를 → 커피만. Nunca las dos juntas: 저는도 no existe. A 에 y 에서 no los reemplazan: se suman.» Es la regla que más puntos da en la sección de partículas del examen.
Fuente: Idea de Particulas_Coreanas_Editable.pptx L3 + julio S4 (error 저도는)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21:09–21:10 (1 min, español). Dos regalos para hispanohablantes: «también» y «solo» flotan en español, pero en coreano se pegan a la palabra que cambian (저도 커피를 마셔요 vs 저는 커피도 마셔요); y 저도요 sirve para «yo también» y para «yo tampoco»: el 도 más la negación de tu amigo hacen el «tampoco». Cierra con el coro: 따라 하세요: 저도요!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21:10–21:12 (2 min, 6 alumnos). Llama nombres en orden y anuncia tres por adelantado («Camila, Daniel, prepárate Sofía»); cada uno reacciona a la frase anterior con 도 o 만 y dice una frase suya con 을/를. Si alguien dice «저는도», levanta dos dedos y junta uno: «저도. 다시 한번.» Marca en tu lista quién ya tuvo turno.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 (20 s, español). «¿Ven el 만 escondido aquí? 잠깐 es “un ratito”, y 만, “solo”: “solo un momentito”. Lo oyes en el metro para pasar entre la gente. Y les sirve el miércoles que viene: si en la conversación se quedan en blanco, 잠깐만요… y piensan.» Coro: 따라 하세요: 잠깐만요!
Imagen: incluida (dibujo de la casa).
Fuente: Nueva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21:12–21:13 (1 min, en coreano, con las dos fotos): 제 고향은 서울이에요. 지금은 산티아고에 살아요. 서울이 산티아고보다 더 커요. 맞아요? Espera el 맞아요 y sigue: 그리고 오늘은… 산티아고가 서울보다 더 더워요! 서울은 지금 추워요. [validar] Mira el clima el martes 1 (D-S7-5).
Imagen: incluida (dibujo de la casa).
Fuente: Fotos libres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21:13–21:15 (1 min 30 s, español). «보다 es el “que” de “más que”. En español: Seúl es más grande que Santiago; en coreano: Seúl, Santiago-que, más grande. La palabra que lleva 보다 es la que pierde. 더 es “más”: ustedes déjenlo, que ayuda.» Advierte del gemelo 보다 = ver (봐요): la partícula va pegada al sustantivo y no se conjuga. Señala con el dedo los irregulares de la S3: 커요, 빨라요, 달라요.
Imagen: incluida (dibujo de la casa).
Fuente: Nueva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21:15–21:16 (1 min, español + coreano). Pregunta a 2 alumnos: 커피하고 차, 뭐가 더 좋아요? «Y “el más” es 제일, justo antes del verbo: 커피를 제일 좋아해요 = lo que más me gusta es el café. 한국에서 서울이 제일 커요 (ese “de” es 에서).»
Fuente: Idea de 쯤 수업 201202 (보다 con gustos)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21:16–21:18 (2 min 30 s; 5 alumnos + 3 con 제일). Cada uno reacciona a la frase anterior (맞아요 si es un dato; 저도요 o 저는 아니에요 si es un gusto) y dice su comparación. Cierra con 한국 음식은 뭘 제일 좋아해요? a 3 alumnos. Si alguien invierte el orden, pregunta «¿quién gana?» y señala la palabra con 보다: «esta pierde»; si dice 크어요: «커요. 따라 하세요: 커요.»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21:18–21:19 (45 s, en coreano, con tu semana en pantalla): 저는 수요일마다 여러분을 만나요. 아침마다 커피를 마셔요. 주말마다 운동해요. 그리고 매일 김치를 먹어요! Deja que deduzcan qué es 마다 antes de explicarlo en la lámina siguiente.
Imagen: incluida (dibujo de la casa).
Fuente: Nueva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21:19–21:20 (1 min, español). «마다 es “cada” y se pega a la palabra. “Todos los días” ya lo tienen: 매일 (o 날마다); 매일마다 es “cada todos los días”: sobra uno.» La escala va de más a menos y se pone antes del verbo; 전혀 안 es de la semana pasada. 매일마다, en gris con una línea.
Fuente: Nueva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21:20–21:22. Frase ancla (1 min): «No hay una respuesta para más de 50 millones de personas.» Modela: 한국 사람은 매운 음식을 좋아해요? — 음… 사람마다 달라요. 저는 좋아해요. 제 친구는 잘 못 먹어요. Usa el espejo («¿los chilenos comen pan todos los días?») y haz el coro dos veces: 따라 하세요: 사람마다 달라요. Luego 1 min 15 s de preguntas a 4 alumnos que no hablaron: 주말마다 뭐 해요? · 아침마다 뭐 해요? · 커피를 자주 마셔요? · 한국 음식을 자주 먹어요?
Fuente: Nueva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21:22 (30 s, en coreano, abriendo la billetera frente a la cámara): 어… 지갑에 천 원밖에 없어요. 천 원만 있어요. Si no tienes el billete, usa la foto o un billete de tu país («imaginen que esto es 천 원»).
Imagen: incluida (dibujo de la casa).
Fuente: Foto tuya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21:22–21:24 (1 min, español). «El español hace lo mismo: “no tengo más que mil wones”, con un NO. En coreano, 밖에 va siempre con un verbo negativo.» Explica 천 y 만 sin 일 y el chiste de 만 원만 (el primer 만 es “diez mil” y el segundo, “solo”). Coro dos veces: 따라 하세요: 지갑에 천 원밖에 없어요, marcando [처눤바께 업써요] en el chat.
Imagen: incluida (dibujo de la casa).
Fuente: Idea de Sesion_08_Comprar.pptx L9 (precios en 원), sin dólares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21:24 (30 s, español). «En Corea vas a leer y oír mucho 하나밖에 안 남았어요: es la frase favorita para vender, en la panadería, en las tiendas y en las compras en línea. 하나, 밖에, 안 y un pasado: ya la entienden entera.» Si preguntan, 남았어요 es “quedó”: se reconoce, no se pide.
Imagen: incluida (dibujo de la casa).
Fuente: Nueva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21:24–21:25 (30 s). Pon el chat en «Solo anfitriones y coanfitriones» y di: «Miren su escritorio. Escríbanme por chat, solo a mí, una frase con 만 o con 밖에. Tienen 30 segundos; mientras tanto les cuento dos frases hechas.» Elige 4 frases bien armadas para la adivinanza de L25.
Fuente: Nueva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21:25–21:26 (1 min 10 s). En coreano: 어제 엄마한테 전화했어요. 생일에 친구한테 선물을 줬어요. Explica que 한테 es la «a» de quien recibe algo y la trampa del español (엄마를 전화해요, en gris con una línea); con lugares, 에. Coro: 따라 하세요: 엄마한테 전화해요, y pregunta a 1 alumno: 누구한테 자주 전화해요? Si alguien dice 할머니한테 선물을 줬어요, vale esta semana; con mayores, el verbo respetuoso llega en Conversacional ([validar] D-S7-4).
Fuente: Nueva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21:26–21:27 (50 s). En coreano: 오늘 산티아고는 여름처럼 더워요! Explica los tres «como» del español y haz el coro: 따라 하세요: 여름처럼 더워요. Termina con el cumplido para reconocer, 한국 사람처럼 말해요!: «se lo voy a decir a cada uno cuando se lo gane» ([validar] D-S7-2).
Fuente: Idea de 쯤 수업 201202 (처럼), con otros ejemplos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21:27–21:29 (2 min). Chat de nuevo en «Todos». Lee 4 frases mezcladas de las que llegaron (si una tiene un error, léela corregida sin decir nada) y el grupo adivina en coro: ___ 씨 책상이에요! → 맞아요? … 잘했어요! Cierra en 20 s (las dos últimas líneas aparecen con clic): «다니엘 씨 책상 = el escritorio de Daniel: el “de” existe, es 의, pero hablando casi siempre se omite. Y 제 es 저 + 의.»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21:29–21:30 (30 s cada uno). «쯤 ya lo conocen de la semana 3: 일곱 시쯤, el “tipo las siete” chileno o el “como a las siete” mexicano; también va con cantidades: 만 원쯤. Y 의: 제 = 저의; 친구의 생일 = 친구 생일. Basta con entenderlos cuando los lean o los oigan.» Si vas atrasado, es lo primero que se recorta: «쯤 y 의, en su material».
Fuente: Idea de 의 210111 (solo la tabla)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21:30–21:33. Chat en «Solo anfitriones y coanfitriones». «Formato examen. Leo cada frase dos veces; ustedes escriben solo la partícula y al final mandan todo en un mensaje: “1 도, 2 만…”.» 잘 들으세요! Lee dos veces cada una, a velocidad natural: 1) 저도 커피를 좋아해요. 2) 저는 주말에만 운동해요. 3) 기차가 버스보다 더 빨라요. 4) 아침마다 커피를 마셔요. 5) 책상 위에 휴대폰밖에 없어요. 6) 친구한테 선물을 줬어요. 7) 회사에서 일해요. 8) 제 동생이 저보다 키가 커요.
Fuente: Nueva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21:33–21:35 (1 min de clave + 1 min de lectura). Pide la reacción de la mano a quien tuvo 7 u 8. «La 2 y la 7 son las trampas: 에만 lleva el 에, y 회사에서 porque trabajar es una acción.» Tres alumnos que no hablaron en el bloque de 마다 leen la 3, la 5 y la 8; en la 5: [휴대폰바께 업써요]. 다시 한번. Chat a «Todos» y guarda el chat.
Fuente: Nueva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21:35–21:36 (40 s). «Salas de 2 (alguna de 3), 19 minutos. Hoy su compañero es su pareja para la conversación de la clase 8: aprovechen para conocerse. Abran ahora la sección 7 de su material, porque en la sala no ven este chat.» Pega el texto de respaldo de las 4 rondas, abre las salas ya creadas (cierre automático a los 18 min + 60 s) y di 화이팅! Mensajes a las salas a las 21:42, 21:47 y 21:52; a las 21:54 vuelve a la sala principal con L30 en pantalla.
Fuente: Nueva
Lámina 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21:55–21:57. Primero, 3 resúmenes (1 min): llama a 3 que hablaron poco con «오늘 뭐 배웠어요?»; basta una frase con una partícula de hoy, y responde 잘했어요! Luego 2–3 errores (45 s) con el grupo repitiendo la forma correcta. La fila 4 es opcional: cámbiala por lo que más hayas oído en las salas.
Fuente: Nueva
Lámina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 (45 s). «Primero yo, despacio; después ustedes.» Di cada frase tú solo, lento y con 2 s de pausa, y después el grupo en coro. De aquí se recorta el clip B2_S07_frases_clave.mp3: tu versión va sola, lenta y limpia.
Fuente: B.12
Lámina 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21:57–21:59 (2 min, español). Insiste en que la Hoja 7 es obligatoria porque es igualita a la sección 2 del examen, y que va por privado, no al grupo. Anuncia que esta noche publicas en el grupo las parejas y la tarjeta de la conversación. Si cambiaste la línea del certificado (DECISIÓN DE JAY 2) o decidiste grabar la conversación con el celular (DECISIÓN DE JAY 4), aquí van 15 s con el texto de C.15.
Fuente: Nueva
Lámina 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de los 2 min de tarea. «El lunes 7 llega el simulacro corto, 10 preguntas. Y el miércoles: 21:00 calentamiento, 21:10 examen escrito tipeado en 한글 (prueben el teclado), 21:40 la conversación. Si saben que no pueden venir el 9, avísenme esta semana.» No anuncies ninguna regla del certificado: está pendiente de decisión.
Fuente: E.5, F.5
Lámina 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21:59–22:00 (30 s). En coreano: 잘했어요, 여러분! 다음 주에 만나요! 화이팅! y el grupo responde 감사합니다! (수고했어요 queda para la clase 8: es su frase ancla). A las 22:00 en punto, «Finalizar reunión para todos».
Fuente: Plantilla
Lámina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emergencia o plan B (si falla el deck o sobra tiempo). Repasa la tabla con el grupo y pide un ejemplo propio por fila. Es la tabla de la sección 3.6 del material del alumno.
Fuente: Formato de Particulas_Coreanas_Editable.pptx L7 (Resumen para pizarra)
Lámina E1a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Emergencia o plan B. Recuerda las tres preguntas para elegir la partícula: ¿quién o qué? (은/는, 이/가, 을/를) · ¿dónde o cuándo? (에, 에서) · ¿hay un también, solo, más que, cada, a alguien o un no… más que? Al final, revisar la forma según el 받침.
Fuente: Formato de Particulas_Coreanas_Editable.pptx L7 (Resumen para pizarra)
Lámina E1b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Emergencia (C.11, actividad 4): dos voluntarios leen los tres intercambios y el grupo reacciona (저도요, 맞아요). Es el ejemplo que el diseño permite mostrar en la S7 como anticipo de la conversación de la clase 8; en el último se omite 그렇지만, que es de la S8.
Fuente: F.4
Lámina 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7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7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7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Mientras llegan</a:t>
            </a:r>
            <a:r>
              <a:rPr lang="en-US" sz="1500" b="1" i="1" dirty="0">
                <a:solidFill>
                  <a:srgbClr val="8A8DA0"/>
                </a:solidFill>
              </a:rPr>
              <a:t>   While you join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Básico 2 · Semana 7 · miércoles 2 de diciembre · 21:00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Ten a mano tus fotos para comparar: dos ciudades, dos comidas, dos ídolos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Tu escritorio, a la vista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Abre la sección 7 de tu material (tarjeta de sala)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El chat del quiz va solo a Jay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4100" b="1" dirty="0">
                <a:solidFill>
                  <a:srgbClr val="4236F6"/>
                </a:solidFill>
              </a:rPr>
              <a:t>!</a:t>
            </a:r>
            <a:endParaRPr lang="en-US" sz="41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6</a:t>
            </a:r>
            <a:r>
              <a:rPr lang="en-US" sz="1500" b="1" i="1" dirty="0">
                <a:solidFill>
                  <a:srgbClr val="8A8DA0"/>
                </a:solidFill>
              </a:rPr>
              <a:t>   Quiz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 en 한글 </a:t>
            </a:r>
            <a:r>
              <a:rPr lang="en-US" sz="1800" i="1" dirty="0">
                <a:solidFill>
                  <a:srgbClr val="4236F6"/>
                </a:solidFill>
              </a:rPr>
              <a:t>en el chat (solo a Jay): 1 … 2 … 3 … 4 … 5 … · 3 minutos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¿안 </a:t>
            </a:r>
            <a:r>
              <a:rPr lang="en-US" sz="2200" dirty="0">
                <a:solidFill>
                  <a:srgbClr val="14142B"/>
                </a:solidFill>
              </a:rPr>
              <a:t>o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</a:t>
            </a:r>
            <a:r>
              <a:rPr lang="en-US" sz="2200" dirty="0">
                <a:solidFill>
                  <a:srgbClr val="14142B"/>
                </a:solidFill>
              </a:rPr>
              <a:t>?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미안해요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내일은 일이 있어서 </a:t>
            </a:r>
            <a:r>
              <a:rPr lang="en-US" sz="2200" dirty="0">
                <a:solidFill>
                  <a:srgbClr val="14142B"/>
                </a:solidFill>
              </a:rPr>
              <a:t>___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2200" dirty="0">
                <a:solidFill>
                  <a:srgbClr val="14142B"/>
                </a:solidFill>
              </a:rPr>
              <a:t>.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같이 가요</a:t>
            </a:r>
            <a:r>
              <a:rPr lang="en-US" sz="2200" dirty="0">
                <a:solidFill>
                  <a:srgbClr val="14142B"/>
                </a:solidFill>
              </a:rPr>
              <a:t>!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먹어요 </a:t>
            </a:r>
            <a:r>
              <a:rPr lang="en-US" sz="2200" dirty="0">
                <a:solidFill>
                  <a:srgbClr val="14142B"/>
                </a:solidFill>
              </a:rPr>
              <a:t>→ con -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않아요</a:t>
            </a:r>
            <a:r>
              <a:rPr lang="en-US" sz="2200" dirty="0">
                <a:solidFill>
                  <a:srgbClr val="14142B"/>
                </a:solidFill>
              </a:rPr>
              <a:t>: ______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«Sé nadar / puedo nadar» (수영하다</a:t>
            </a:r>
            <a:r>
              <a:rPr lang="en-US" sz="2200" dirty="0">
                <a:solidFill>
                  <a:srgbClr val="14142B"/>
                </a:solidFill>
              </a:rPr>
              <a:t>): ______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«No hago ejercicio», con 안 </a:t>
            </a:r>
            <a:r>
              <a:rPr lang="en-US" sz="2200" dirty="0">
                <a:solidFill>
                  <a:srgbClr val="14142B"/>
                </a:solidFill>
              </a:rPr>
              <a:t>(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</a:t>
            </a:r>
            <a:r>
              <a:rPr lang="en-US" sz="2200" dirty="0">
                <a:solidFill>
                  <a:srgbClr val="14142B"/>
                </a:solidFill>
              </a:rPr>
              <a:t>): ______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5) Lee el mensaje de la pantalla y elige 1, 2, 3 o 4.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6 · ítem 5</a:t>
            </a:r>
            <a:r>
              <a:rPr lang="en-US" sz="1500" b="1" i="1" dirty="0">
                <a:solidFill>
                  <a:srgbClr val="8A8DA0"/>
                </a:solidFill>
              </a:rPr>
              <a:t>   Quiz 6 · item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Lee el mensaje. ¿Qué es verdad?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카밀라</a:t>
            </a:r>
            <a:r>
              <a:rPr lang="en-US" sz="2400" dirty="0">
                <a:solidFill>
                  <a:srgbClr val="14142B"/>
                </a:solidFill>
              </a:rPr>
              <a:t>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다니엘 씨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봤어요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바다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</a:t>
            </a:r>
            <a:r>
              <a:rPr lang="en-US" sz="2400" dirty="0">
                <a:solidFill>
                  <a:srgbClr val="14142B"/>
                </a:solidFill>
              </a:rPr>
              <a:t>!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미안해요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토요일에는 일이 있어서 못 가요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일요일에 같이 가요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카밀라 씨는 토요일에 일이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카밀라 씨는 일요일에 일해요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다니엘 씨는 토요일에 일이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카밀라 씨는 바다에 안 갈 거예요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Clave + hoja 6</a:t>
            </a:r>
            <a:r>
              <a:rPr lang="en-US" sz="1500" b="1" i="1" dirty="0">
                <a:solidFill>
                  <a:srgbClr val="8A8DA0"/>
                </a:solidFill>
              </a:rPr>
              <a:t>   Answer key + worksheet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Clave del quiz 6 y dos errores de la hoja 6</a:t>
            </a:r>
            <a:endParaRPr lang="en-US" sz="18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28129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Respuesta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Nota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Ante una invitación: 못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+ una razón (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가요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suena a «no quiero»)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먹지 않아요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수영할 수 있어요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También vale 수영을 할 수 있어요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안 해요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 안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va en el medio (también vale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운동을 안 해요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①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Camila tiene trabajo el sábado y quiere ir al mar el domingo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Hoja 6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운동해요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안 해요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Lo incorrecto, en gris con una línea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Hoja 6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알아요 </a:t>
                      </a: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5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몰라요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500" dirty="0">
                          <a:solidFill>
                            <a:srgbClr val="14142B"/>
                          </a:solidFill>
                        </a:rPr>
                        <a:t>Lo incorrecto, en gris con una línea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Partículas pro</a:t>
            </a:r>
            <a:endParaRPr lang="en-US" sz="4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600" dirty="0">
                <a:solidFill>
                  <a:srgbClr val="E8B84B"/>
                </a:solidFill>
              </a:rPr>
              <a:t>Básico 2 · Semana 7 · 9 partículas: 3 para decir · 3 en frases hechas · 2 para reconocer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decir: 도 </a:t>
            </a:r>
            <a:r>
              <a:rPr lang="en-US" sz="1600" dirty="0">
                <a:solidFill>
                  <a:srgbClr val="E8B84B"/>
                </a:solidFill>
              </a:rPr>
              <a:t>y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600" dirty="0">
                <a:solidFill>
                  <a:srgbClr val="E8B84B"/>
                </a:solidFill>
              </a:rPr>
              <a:t>·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sz="1600" dirty="0">
                <a:solidFill>
                  <a:srgbClr val="E8B84B"/>
                </a:solidFill>
              </a:rPr>
              <a:t>·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마다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frases hechas: 밖에 </a:t>
            </a:r>
            <a:r>
              <a:rPr lang="en-US" sz="1600" dirty="0">
                <a:solidFill>
                  <a:srgbClr val="E8B84B"/>
                </a:solidFill>
              </a:rPr>
              <a:t>·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한테 </a:t>
            </a:r>
            <a:r>
              <a:rPr lang="en-US" sz="1600" dirty="0">
                <a:solidFill>
                  <a:srgbClr val="E8B84B"/>
                </a:solidFill>
              </a:rPr>
              <a:t>·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reconocer: 쯤 </a:t>
            </a:r>
            <a:r>
              <a:rPr lang="en-US" sz="1600" dirty="0">
                <a:solidFill>
                  <a:srgbClr val="E8B84B"/>
                </a:solidFill>
              </a:rPr>
              <a:t>·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endParaRPr lang="en-US" sz="2200" dirty="0"/>
          </a:p>
          <a:p>
            <a:pPr marL="0" indent="0" eaLnBrk="1">
              <a:buNone/>
            </a:pPr>
            <a:r>
              <a:rPr lang="en-US" sz="1600" dirty="0">
                <a:solidFill>
                  <a:srgbClr val="E8B84B"/>
                </a:solidFill>
              </a:rPr>
              <a:t>En el examen, las partículas se eligen de un recuadro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Hoy vas a poder decir</a:t>
            </a:r>
            <a:r>
              <a:rPr lang="en-US" sz="1500" b="1" i="1" dirty="0">
                <a:solidFill>
                  <a:srgbClr val="8A8DA0"/>
                </a:solidFill>
              </a:rPr>
              <a:t>   Today you will be able to say</a:t>
            </a:r>
            <a:endParaRPr lang="en-US" sz="3000" dirty="0"/>
          </a:p>
        </p:txBody>
      </p:sp>
      <p:graphicFrame>
        <p:nvGraphicFramePr>
          <p:cNvPr id="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57293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저도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! /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커피만 마셔요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¡Yo también voy! / Yo solo tomo café.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서울이 산티아고보다 더 커요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Seúl es más grande que Santiago.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주말마다 운동해요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Hago ejercicio cada fin de semana.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지갑에 천 원밖에 없어요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En la billetera no tengo más que mil wones.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사람마다 달라요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Depende de la persona.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sz="3000" b="1" dirty="0">
                <a:solidFill>
                  <a:srgbClr val="003478"/>
                </a:solidFill>
              </a:rPr>
              <a:t>y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</a:t>
            </a:r>
            <a:r>
              <a:rPr lang="en-US" sz="1500" b="1" i="1" dirty="0">
                <a:solidFill>
                  <a:srgbClr val="8A8DA0"/>
                </a:solidFill>
              </a:rPr>
              <a:t>   Also and only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sz="1800" i="1" dirty="0">
                <a:solidFill>
                  <a:srgbClr val="4236F6"/>
                </a:solidFill>
              </a:rPr>
              <a:t>= también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800" i="1" dirty="0">
                <a:solidFill>
                  <a:srgbClr val="4236F6"/>
                </a:solidFill>
              </a:rPr>
              <a:t>= solo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커피를 좋아해요</a:t>
            </a:r>
            <a:r>
              <a:rPr lang="en-US" sz="2800" dirty="0">
                <a:solidFill>
                  <a:srgbClr val="14142B"/>
                </a:solidFill>
              </a:rPr>
              <a:t>. — Me gusta el café.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차도 좋아해요</a:t>
            </a:r>
            <a:r>
              <a:rPr lang="en-US" sz="2800" dirty="0">
                <a:solidFill>
                  <a:srgbClr val="14142B"/>
                </a:solidFill>
              </a:rPr>
              <a:t>. — También me gusta el té.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아침에는 커피만 마셔요</a:t>
            </a:r>
            <a:r>
              <a:rPr lang="en-US" sz="2800" dirty="0">
                <a:solidFill>
                  <a:srgbClr val="14142B"/>
                </a:solidFill>
              </a:rPr>
              <a:t>. — En la mañana solo tomo café.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저도요</a:t>
            </a:r>
            <a:r>
              <a:rPr lang="en-US" sz="2800" dirty="0">
                <a:solidFill>
                  <a:srgbClr val="14142B"/>
                </a:solidFill>
              </a:rPr>
              <a:t>! — ¡Yo también!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5920aa6524572c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Se van / se quedan</a:t>
            </a:r>
            <a:r>
              <a:rPr lang="en-US" sz="1500" b="1" i="1" dirty="0">
                <a:solidFill>
                  <a:srgbClr val="8A8DA0"/>
                </a:solidFill>
              </a:rPr>
              <a:t>   Replace or add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800" i="1" dirty="0">
                <a:solidFill>
                  <a:srgbClr val="4236F6"/>
                </a:solidFill>
              </a:rPr>
              <a:t>reemplazan 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800" i="1" dirty="0">
                <a:solidFill>
                  <a:srgbClr val="4236F6"/>
                </a:solidFill>
              </a:rPr>
              <a:t>· se suman 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1800" dirty="0"/>
          </a:p>
        </p:txBody>
      </p:sp>
      <p:graphicFrame>
        <p:nvGraphicFramePr>
          <p:cNvPr id="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017462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Antes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 도 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 </a:t>
                      </a:r>
                      <a:r>
                        <a:rPr lang="ko-KR" alt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Qué pasa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 va: 도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reemplaza a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 va: 만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reemplaza a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동생이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동생도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 va: 도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reemplaza a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산티아고에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산티아고에도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 queda: 도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se suma a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집에서만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 queda: 만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se suma a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Nunca las dos juntas (저는도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, en gris con una línea)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저도요  </a:t>
            </a:r>
            <a:r>
              <a:rPr lang="en-US" sz="3000" b="1" dirty="0">
                <a:solidFill>
                  <a:srgbClr val="003478"/>
                </a:solidFill>
              </a:rPr>
              <a:t>Yo también = yo tampoco</a:t>
            </a:r>
            <a:r>
              <a:rPr lang="en-US" sz="1500" b="1" i="1" dirty="0">
                <a:solidFill>
                  <a:srgbClr val="8A8DA0"/>
                </a:solidFill>
              </a:rPr>
              <a:t>   Me too / me neither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sz="1800" i="1" dirty="0">
                <a:solidFill>
                  <a:srgbClr val="4236F6"/>
                </a:solidFill>
              </a:rPr>
              <a:t>+ la negación de tu amigo = «tampoco»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저도요</a:t>
            </a:r>
            <a:r>
              <a:rPr lang="en-US" sz="2200" dirty="0">
                <a:solidFill>
                  <a:srgbClr val="14142B"/>
                </a:solidFill>
              </a:rPr>
              <a:t>! = ¡yo también! y ¡yo tampoco!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저는 고기를 안 먹어요</a:t>
            </a:r>
            <a:r>
              <a:rPr lang="en-US" sz="2200" dirty="0">
                <a:solidFill>
                  <a:srgbClr val="14142B"/>
                </a:solidFill>
              </a:rPr>
              <a:t>.  B: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저도요</a:t>
            </a:r>
            <a:r>
              <a:rPr lang="en-US" sz="2200" dirty="0">
                <a:solidFill>
                  <a:srgbClr val="14142B"/>
                </a:solidFill>
              </a:rPr>
              <a:t>! (¡Yo tampoco!)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 가요</a:t>
            </a:r>
            <a:r>
              <a:rPr lang="en-US" sz="2200" dirty="0">
                <a:solidFill>
                  <a:srgbClr val="14142B"/>
                </a:solidFill>
              </a:rPr>
              <a:t>. = Yo también voy.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 안 가요</a:t>
            </a:r>
            <a:r>
              <a:rPr lang="en-US" sz="2200" dirty="0">
                <a:solidFill>
                  <a:srgbClr val="14142B"/>
                </a:solidFill>
              </a:rPr>
              <a:t>. = Yo tampoco voy.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 커피를 마셔요</a:t>
            </a:r>
            <a:r>
              <a:rPr lang="en-US" sz="2200" dirty="0">
                <a:solidFill>
                  <a:srgbClr val="14142B"/>
                </a:solidFill>
              </a:rPr>
              <a:t>. = Yo también tomo café (como tú).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커피도 마셔요</a:t>
            </a:r>
            <a:r>
              <a:rPr lang="en-US" sz="2200" dirty="0">
                <a:solidFill>
                  <a:srgbClr val="14142B"/>
                </a:solidFill>
              </a:rPr>
              <a:t>. = Tomo café también (además de té).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저도요</a:t>
            </a:r>
            <a:endParaRPr lang="en-US" sz="77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Cadena 도 </a:t>
            </a:r>
            <a:r>
              <a:rPr lang="en-US" sz="3000" b="1" dirty="0">
                <a:solidFill>
                  <a:srgbClr val="003478"/>
                </a:solidFill>
              </a:rPr>
              <a:t>/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</a:t>
            </a:r>
            <a:r>
              <a:rPr lang="en-US" sz="1500" b="1" i="1" dirty="0">
                <a:solidFill>
                  <a:srgbClr val="8A8DA0"/>
                </a:solidFill>
              </a:rPr>
              <a:t>   Chain: also / only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Reacciona con 도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800" i="1" dirty="0">
                <a:solidFill>
                  <a:srgbClr val="4236F6"/>
                </a:solidFill>
              </a:rPr>
              <a:t>y di una frase tuya con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Reacciona: 저도</a:t>
            </a:r>
            <a:r>
              <a:rPr lang="en-US" sz="2400" dirty="0">
                <a:solidFill>
                  <a:srgbClr val="14142B"/>
                </a:solidFill>
              </a:rPr>
              <a:t>… /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</a:t>
            </a:r>
            <a:r>
              <a:rPr lang="en-US" sz="2400" dirty="0">
                <a:solidFill>
                  <a:srgbClr val="14142B"/>
                </a:solidFill>
              </a:rPr>
              <a:t>…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frase: 저는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Jay: 저는 커피를 좋아해요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저도 커피를 좋아해요</a:t>
            </a:r>
            <a:r>
              <a:rPr lang="en-US" sz="2400" dirty="0">
                <a:solidFill>
                  <a:srgbClr val="14142B"/>
                </a:solidFill>
              </a:rPr>
              <a:t>! (o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차만 마셔요</a:t>
            </a:r>
            <a:r>
              <a:rPr lang="en-US" sz="2400" dirty="0">
                <a:solidFill>
                  <a:srgbClr val="14142B"/>
                </a:solidFill>
              </a:rPr>
              <a:t>.) 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매일 빵을 먹어요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저도요</a:t>
            </a:r>
            <a:r>
              <a:rPr lang="en-US" sz="2400" dirty="0">
                <a:solidFill>
                  <a:srgbClr val="14142B"/>
                </a:solidFill>
              </a:rPr>
              <a:t>! + tu frase…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잠깐만요  </a:t>
            </a:r>
            <a:r>
              <a:rPr lang="en-US" sz="3000" b="1" dirty="0">
                <a:solidFill>
                  <a:srgbClr val="003478"/>
                </a:solidFill>
              </a:rPr>
              <a:t>Un momento</a:t>
            </a:r>
            <a:r>
              <a:rPr lang="en-US" sz="1500" b="1" i="1" dirty="0">
                <a:solidFill>
                  <a:srgbClr val="8A8DA0"/>
                </a:solidFill>
              </a:rPr>
              <a:t>   Just a moment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c1513bea1d2080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잠깐만요</a:t>
            </a:r>
            <a:r>
              <a:rPr lang="en-US" sz="6400" b="1" dirty="0">
                <a:solidFill>
                  <a:srgbClr val="4236F6"/>
                </a:solidFill>
              </a:rPr>
              <a:t>!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¡Un momento! / ¡Permiso! (para pasar en el metro)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 </a:t>
            </a:r>
            <a:r>
              <a:rPr lang="en-US" sz="1800" dirty="0">
                <a:solidFill>
                  <a:srgbClr val="14142B"/>
                </a:solidFill>
              </a:rPr>
              <a:t>+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800" dirty="0">
                <a:solidFill>
                  <a:srgbClr val="14142B"/>
                </a:solidFill>
              </a:rPr>
              <a:t>+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 </a:t>
            </a:r>
            <a:r>
              <a:rPr lang="en-US" sz="1800" dirty="0">
                <a:solidFill>
                  <a:srgbClr val="14142B"/>
                </a:solidFill>
              </a:rPr>
              <a:t>= «solo un momentito» · Úsalo el miércoles si te quedas en blanco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Más que: 보다</a:t>
            </a:r>
            <a:r>
              <a:rPr lang="en-US" sz="1500" b="1" i="1" dirty="0">
                <a:solidFill>
                  <a:srgbClr val="8A8DA0"/>
                </a:solidFill>
              </a:rPr>
              <a:t>   More than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Seúl y Santiago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서울이 산티아고보다 더 커요</a:t>
            </a:r>
            <a:r>
              <a:rPr lang="en-US" sz="2800" dirty="0">
                <a:solidFill>
                  <a:srgbClr val="14142B"/>
                </a:solidFill>
              </a:rPr>
              <a:t>. — Seúl es más grande que Santiago.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맞아요</a:t>
            </a:r>
            <a:r>
              <a:rPr lang="en-US" sz="2800" dirty="0">
                <a:solidFill>
                  <a:srgbClr val="14142B"/>
                </a:solidFill>
              </a:rPr>
              <a:t>! — ¡Así es!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산티아고가 서울보다 더 더워요</a:t>
            </a:r>
            <a:r>
              <a:rPr lang="en-US" sz="2800" dirty="0">
                <a:solidFill>
                  <a:srgbClr val="14142B"/>
                </a:solidFill>
              </a:rPr>
              <a:t>. — Hoy en Santiago hace más calor que en Seúl.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d3df7ad1aa1e3e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384" y="1463040"/>
            <a:ext cx="3212063" cy="3703320"/>
          </a:xfrm>
          <a:prstGeom prst="rect">
            <a:avLst/>
          </a:prstGeom>
        </p:spPr>
      </p:pic>
      <p:sp>
        <p:nvSpPr>
          <p:cNvPr id="7" name="ko_grande"/>
          <p:cNvSpPr txBox="1"/>
          <p:nvPr/>
        </p:nvSpPr>
        <p:spPr>
          <a:xfrm>
            <a:off x="6583680" y="525780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El orden</a:t>
            </a:r>
            <a:r>
              <a:rPr lang="en-US" sz="1500" b="1" i="1" dirty="0">
                <a:solidFill>
                  <a:srgbClr val="8A8DA0"/>
                </a:solidFill>
              </a:rPr>
              <a:t>   Word order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B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더 </a:t>
            </a:r>
            <a:r>
              <a:rPr lang="en-US" sz="1800" i="1" dirty="0">
                <a:solidFill>
                  <a:srgbClr val="4236F6"/>
                </a:solidFill>
              </a:rPr>
              <a:t>___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«Seúl es más grande que Santiago» → 서울이 산티아고보다 더 커요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palabra con 보다 </a:t>
            </a:r>
            <a:r>
              <a:rPr lang="en-US" sz="2400" dirty="0">
                <a:solidFill>
                  <a:srgbClr val="14142B"/>
                </a:solidFill>
              </a:rPr>
              <a:t>pierde la comparación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gustos: 저는 커피보다 차를 더 좋아해요</a:t>
            </a:r>
            <a:r>
              <a:rPr lang="en-US" sz="2400" dirty="0">
                <a:solidFill>
                  <a:srgbClr val="14142B"/>
                </a:solidFill>
              </a:rPr>
              <a:t>. (me gusta más el té)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sz="2400" dirty="0">
                <a:solidFill>
                  <a:srgbClr val="14142B"/>
                </a:solidFill>
              </a:rPr>
              <a:t>(que) ≠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sz="2400" dirty="0">
                <a:solidFill>
                  <a:srgbClr val="14142B"/>
                </a:solidFill>
              </a:rPr>
              <a:t>(ver: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빨라요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달라요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1e50bcc814e427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¿Cuál más? · 제일</a:t>
            </a:r>
            <a:r>
              <a:rPr lang="en-US" sz="1500" b="1" i="1" dirty="0">
                <a:solidFill>
                  <a:srgbClr val="8A8DA0"/>
                </a:solidFill>
              </a:rPr>
              <a:t>   Which one more? · The most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 responde con 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더 </a:t>
            </a:r>
            <a:r>
              <a:rPr lang="en-US" sz="2400" dirty="0">
                <a:solidFill>
                  <a:srgbClr val="14142B"/>
                </a:solidFill>
              </a:rPr>
              <a:t>___?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어디가 더 </a:t>
            </a:r>
            <a:r>
              <a:rPr lang="en-US" sz="2400" dirty="0">
                <a:solidFill>
                  <a:srgbClr val="14142B"/>
                </a:solidFill>
              </a:rPr>
              <a:t>___?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더 </a:t>
            </a:r>
            <a:r>
              <a:rPr lang="en-US" sz="2400" dirty="0">
                <a:solidFill>
                  <a:srgbClr val="14142B"/>
                </a:solidFill>
              </a:rPr>
              <a:t>___?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커피하고 차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더 좋아요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더 좋아요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서울하고 산티아고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어디가 더 커요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서울이 더 커요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형하고 동생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더 키가 커요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동생이 더 커요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 </a:t>
            </a:r>
            <a:r>
              <a:rPr lang="en-US" sz="2400" dirty="0">
                <a:solidFill>
                  <a:srgbClr val="14142B"/>
                </a:solidFill>
              </a:rPr>
              <a:t>= el más: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제일 좋아해요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한국에서 서울이 제일 커요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</a:t>
            </a:r>
            <a:endParaRPr lang="en-US" sz="9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Cadena 보다</a:t>
            </a:r>
            <a:r>
              <a:rPr lang="en-US" sz="1500" b="1" i="1" dirty="0">
                <a:solidFill>
                  <a:srgbClr val="8A8DA0"/>
                </a:solidFill>
              </a:rPr>
              <a:t>   Chain: comparisons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Una comparación sobre ti o tu familia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저보다 키가 커요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 좋아해요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___이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더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Reacciona: 맞아요</a:t>
            </a:r>
            <a:r>
              <a:rPr lang="en-US" sz="2400" dirty="0">
                <a:solidFill>
                  <a:srgbClr val="14142B"/>
                </a:solidFill>
              </a:rPr>
              <a:t>!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저도요</a:t>
            </a:r>
            <a:r>
              <a:rPr lang="en-US" sz="2400" dirty="0">
                <a:solidFill>
                  <a:srgbClr val="14142B"/>
                </a:solidFill>
              </a:rPr>
              <a:t>!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아니에요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cerrar: 한국 음식은 뭘 제일 좋아해요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불고기를 제일 좋아해요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Cada: 마다</a:t>
            </a:r>
            <a:r>
              <a:rPr lang="en-US" sz="1500" b="1" i="1" dirty="0">
                <a:solidFill>
                  <a:srgbClr val="8A8DA0"/>
                </a:solidFill>
              </a:rPr>
              <a:t>   Every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c9cb3eb8d54e68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semana de Jay</a:t>
            </a:r>
            <a:endParaRPr lang="en-US" sz="1800" dirty="0"/>
          </a:p>
        </p:txBody>
      </p:sp>
      <p:graphicFrame>
        <p:nvGraphicFramePr>
          <p:cNvPr id="1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132470"/>
              </p:ext>
            </p:extLst>
          </p:nvPr>
        </p:nvGraphicFramePr>
        <p:xfrm>
          <a:off x="548640" y="1874520"/>
          <a:ext cx="6931152" cy="914400"/>
        </p:xfrm>
        <a:graphic>
          <a:graphicData uri="http://schemas.openxmlformats.org/drawingml/2006/table">
            <a:tbl>
              <a:tblPr/>
              <a:tblGrid>
                <a:gridCol w="3465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5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Cuándo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Qué hace Jay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수요일마다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여러분을 만나요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아침마다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 마셔요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주말마다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김치를 먹어요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¿Cada cuánto?</a:t>
            </a:r>
            <a:r>
              <a:rPr lang="en-US" sz="1500" b="1" i="1" dirty="0">
                <a:solidFill>
                  <a:srgbClr val="8A8DA0"/>
                </a:solidFill>
              </a:rPr>
              <a:t>   How often?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Van antes del verbo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___마다 </a:t>
            </a:r>
            <a:r>
              <a:rPr lang="en-US" sz="2400" dirty="0">
                <a:solidFill>
                  <a:srgbClr val="14142B"/>
                </a:solidFill>
              </a:rPr>
              <a:t>= cada: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주말마다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아침마다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수요일마다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생일마다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</a:t>
            </a:r>
            <a:r>
              <a:rPr lang="en-US" sz="2400" dirty="0">
                <a:solidFill>
                  <a:srgbClr val="14142B"/>
                </a:solidFill>
              </a:rPr>
              <a:t>todos los días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</a:t>
            </a:r>
            <a:r>
              <a:rPr lang="en-US" sz="2400" dirty="0">
                <a:solidFill>
                  <a:srgbClr val="14142B"/>
                </a:solidFill>
              </a:rPr>
              <a:t>seguido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가끔 </a:t>
            </a:r>
            <a:r>
              <a:rPr lang="en-US" sz="2400" dirty="0">
                <a:solidFill>
                  <a:srgbClr val="14142B"/>
                </a:solidFill>
              </a:rPr>
              <a:t>a veces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전혀 안 </a:t>
            </a:r>
            <a:r>
              <a:rPr lang="en-US" sz="2400" dirty="0">
                <a:solidFill>
                  <a:srgbClr val="14142B"/>
                </a:solidFill>
              </a:rPr>
              <a:t>nunca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자주 마셔요</a:t>
            </a:r>
            <a:r>
              <a:rPr lang="en-US" sz="2400" dirty="0">
                <a:solidFill>
                  <a:srgbClr val="14142B"/>
                </a:solidFill>
              </a:rPr>
              <a:t>.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가끔 영화를 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매일마다 </a:t>
            </a:r>
            <a:r>
              <a:rPr lang="en-US" sz="2400" dirty="0">
                <a:solidFill>
                  <a:srgbClr val="14142B"/>
                </a:solidFill>
              </a:rPr>
              <a:t>no: sobra uno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운동해요 </a:t>
            </a:r>
            <a:r>
              <a:rPr lang="en-US" sz="2400" dirty="0">
                <a:solidFill>
                  <a:srgbClr val="14142B"/>
                </a:solidFill>
              </a:rPr>
              <a:t>(o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날마다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달라요  </a:t>
            </a:r>
            <a:r>
              <a:rPr lang="en-US" sz="2600" b="1" dirty="0">
                <a:solidFill>
                  <a:srgbClr val="003478"/>
                </a:solidFill>
              </a:rPr>
              <a:t>Depende de la persona</a:t>
            </a:r>
            <a:r>
              <a:rPr lang="en-US" sz="1500" b="1" i="1" dirty="0">
                <a:solidFill>
                  <a:srgbClr val="8A8DA0"/>
                </a:solidFill>
              </a:rPr>
              <a:t>   It depends on the person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달라요</a:t>
            </a:r>
            <a:r>
              <a:rPr lang="en-US" sz="6400" b="1" dirty="0">
                <a:solidFill>
                  <a:srgbClr val="4236F6"/>
                </a:solidFill>
              </a:rPr>
              <a:t>.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Depende de la persona. / Cada persona es distinta.</a:t>
            </a:r>
            <a:endParaRPr lang="en-US" sz="2400" dirty="0"/>
          </a:p>
        </p:txBody>
      </p:sp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32720" y="4160520"/>
            <a:ext cx="384048" cy="384048"/>
          </a:xfrm>
          <a:prstGeom prst="rect">
            <a:avLst/>
          </a:prstGeom>
        </p:spPr>
      </p:pic>
      <p:sp>
        <p:nvSpPr>
          <p:cNvPr id="7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¿A los coreanos les gusta el picante? ¿Los chilenos comen pan todos los días? · También: 도시마다 달라요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Mi billetera</a:t>
            </a:r>
            <a:r>
              <a:rPr lang="en-US" sz="1500" b="1" i="1" dirty="0">
                <a:solidFill>
                  <a:srgbClr val="8A8DA0"/>
                </a:solidFill>
              </a:rPr>
              <a:t>   My wallet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af568a39115259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지갑에 천 원밖에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5700" b="1" dirty="0">
                <a:solidFill>
                  <a:srgbClr val="4236F6"/>
                </a:solidFill>
              </a:rPr>
              <a:t>.</a:t>
            </a:r>
            <a:endParaRPr lang="en-US" sz="57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En la billetera no tengo más que mil wones.</a:t>
            </a:r>
            <a:endParaRPr lang="en-US" sz="2400" dirty="0"/>
          </a:p>
        </p:txBody>
      </p:sp>
      <p:sp>
        <p:nvSpPr>
          <p:cNvPr id="7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천 원만 있어요</a:t>
            </a:r>
            <a:r>
              <a:rPr lang="en-US" sz="1800" dirty="0">
                <a:solidFill>
                  <a:srgbClr val="14142B"/>
                </a:solidFill>
              </a:rPr>
              <a:t>. · [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지가베 처눤바께 업써요</a:t>
            </a:r>
            <a:r>
              <a:rPr lang="en-US" sz="1800" dirty="0">
                <a:solidFill>
                  <a:srgbClr val="14142B"/>
                </a:solidFill>
              </a:rPr>
              <a:t>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Nada más que: 밖에 </a:t>
            </a:r>
            <a:r>
              <a:rPr lang="en-US" sz="3000" b="1" dirty="0">
                <a:solidFill>
                  <a:srgbClr val="003478"/>
                </a:solidFill>
              </a:rPr>
              <a:t>+ NO</a:t>
            </a:r>
            <a:r>
              <a:rPr lang="en-US" sz="1500" b="1" i="1" dirty="0">
                <a:solidFill>
                  <a:srgbClr val="8A8DA0"/>
                </a:solidFill>
              </a:rPr>
              <a:t>   Nothing but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«No tengo más que…» = ___밖에 없어요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 </a:t>
            </a:r>
            <a:r>
              <a:rPr lang="en-US" sz="2200" dirty="0">
                <a:solidFill>
                  <a:srgbClr val="14142B"/>
                </a:solidFill>
              </a:rPr>
              <a:t>va siempre con un verbo negativo: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r>
              <a:rPr lang="en-US" sz="2200" dirty="0">
                <a:solidFill>
                  <a:srgbClr val="14142B"/>
                </a:solidFill>
              </a:rPr>
              <a:t>…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</a:t>
            </a:r>
            <a:r>
              <a:rPr lang="en-US" sz="2200" dirty="0">
                <a:solidFill>
                  <a:srgbClr val="14142B"/>
                </a:solidFill>
              </a:rPr>
              <a:t>…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 원밖에 없어요 </a:t>
            </a:r>
            <a:r>
              <a:rPr lang="en-US" sz="2200" dirty="0">
                <a:solidFill>
                  <a:srgbClr val="14142B"/>
                </a:solidFill>
              </a:rPr>
              <a:t>=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 원만 있어요 </a:t>
            </a:r>
            <a:r>
              <a:rPr lang="en-US" sz="2200" dirty="0">
                <a:solidFill>
                  <a:srgbClr val="14142B"/>
                </a:solidFill>
              </a:rPr>
              <a:t>(con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 </a:t>
            </a:r>
            <a:r>
              <a:rPr lang="en-US" sz="2200" dirty="0">
                <a:solidFill>
                  <a:srgbClr val="14142B"/>
                </a:solidFill>
              </a:rPr>
              <a:t>suena a «¡qué poco!»)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Billetes: 천 원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오천 원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 원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오만 원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 </a:t>
            </a:r>
            <a:r>
              <a:rPr lang="en-US" sz="2200" dirty="0">
                <a:solidFill>
                  <a:srgbClr val="14142B"/>
                </a:solidFill>
              </a:rPr>
              <a:t>= mil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2200" dirty="0">
                <a:solidFill>
                  <a:srgbClr val="14142B"/>
                </a:solidFill>
              </a:rPr>
              <a:t>= diez mil · sin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sz="2200" dirty="0">
                <a:solidFill>
                  <a:srgbClr val="14142B"/>
                </a:solidFill>
              </a:rPr>
              <a:t>delante: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 원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 원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 원만 있어요 </a:t>
            </a:r>
            <a:r>
              <a:rPr lang="en-US" sz="2200" dirty="0">
                <a:solidFill>
                  <a:srgbClr val="14142B"/>
                </a:solidFill>
              </a:rPr>
              <a:t>= diez mil + solo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[처눤바께 업써요</a:t>
            </a:r>
            <a:r>
              <a:rPr lang="en-US" sz="2200" dirty="0">
                <a:solidFill>
                  <a:srgbClr val="14142B"/>
                </a:solidFill>
              </a:rPr>
              <a:t>]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a964995201a125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384" y="1463040"/>
            <a:ext cx="3212063" cy="3703320"/>
          </a:xfrm>
          <a:prstGeom prst="rect">
            <a:avLst/>
          </a:prstGeom>
        </p:spPr>
      </p:pic>
      <p:sp>
        <p:nvSpPr>
          <p:cNvPr id="7" name="ko_grande"/>
          <p:cNvSpPr txBox="1"/>
          <p:nvPr/>
        </p:nvSpPr>
        <p:spPr>
          <a:xfrm>
            <a:off x="6583680" y="525780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하나밖에 안 남았어요  </a:t>
            </a:r>
            <a:r>
              <a:rPr lang="en-US" sz="3000" b="1" dirty="0">
                <a:solidFill>
                  <a:srgbClr val="003478"/>
                </a:solidFill>
              </a:rPr>
              <a:t>Solo queda uno</a:t>
            </a:r>
            <a:r>
              <a:rPr lang="en-US" sz="1500" b="1" i="1" dirty="0">
                <a:solidFill>
                  <a:srgbClr val="8A8DA0"/>
                </a:solidFill>
              </a:rPr>
              <a:t>   Only one left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7e7a0173adbba53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하나밖에 안 남았어요</a:t>
            </a:r>
            <a:r>
              <a:rPr lang="en-US" sz="4500" b="1" dirty="0">
                <a:solidFill>
                  <a:srgbClr val="4236F6"/>
                </a:solidFill>
              </a:rPr>
              <a:t>!</a:t>
            </a:r>
            <a:endParaRPr lang="en-US" sz="45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¡Solo queda uno!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La frase favorita para vender: panadería, tiendas, compras en línea · para reconocer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Tu escritorio</a:t>
            </a:r>
            <a:r>
              <a:rPr lang="en-US" sz="1500" b="1" i="1" dirty="0">
                <a:solidFill>
                  <a:srgbClr val="8A8DA0"/>
                </a:solidFill>
              </a:rPr>
              <a:t>   Your desk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Escríbele a Jay por chat (solo a Jay) · 30 segundos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 없어요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공책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펜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안경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열쇠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¿No sabes una palabra? Escríbela en español: Jay te la da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alguien: 한테</a:t>
            </a:r>
            <a:r>
              <a:rPr lang="en-US" sz="1500" b="1" i="1" dirty="0">
                <a:solidFill>
                  <a:srgbClr val="8A8DA0"/>
                </a:solidFill>
              </a:rPr>
              <a:t>   To someone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«a» de persona, con 주다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전화하다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편지를 쓰다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엄마한테 전화했어요</a:t>
            </a:r>
            <a:r>
              <a:rPr lang="en-US" sz="2200" dirty="0">
                <a:solidFill>
                  <a:srgbClr val="14142B"/>
                </a:solidFill>
              </a:rPr>
              <a:t>. — Llamé a mi mamá.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친구한테 선물을 줬어요</a:t>
            </a:r>
            <a:r>
              <a:rPr lang="en-US" sz="2200" dirty="0">
                <a:solidFill>
                  <a:srgbClr val="14142B"/>
                </a:solidFill>
              </a:rPr>
              <a:t>. — Le di un regalo a mi amigo.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동생한테 편지를 썼어요</a:t>
            </a:r>
            <a:r>
              <a:rPr lang="en-US" sz="2200" dirty="0">
                <a:solidFill>
                  <a:srgbClr val="14142B"/>
                </a:solidFill>
              </a:rPr>
              <a:t>. — Le escribí una carta a mi hermano menor.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엄마를 전화해요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엄마한테 전화해요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Lugar: 회사에 전화해요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</a:t>
            </a:r>
            <a:r>
              <a:rPr lang="en-US" sz="2200" dirty="0">
                <a:solidFill>
                  <a:srgbClr val="14142B"/>
                </a:solidFill>
              </a:rPr>
              <a:t>=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한테</a:t>
            </a:r>
            <a:r>
              <a:rPr lang="en-US" sz="2200" dirty="0">
                <a:solidFill>
                  <a:srgbClr val="14142B"/>
                </a:solidFill>
              </a:rPr>
              <a:t>, en lo escrito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주다 </a:t>
            </a:r>
            <a:r>
              <a:rPr lang="en-US" sz="2200" dirty="0">
                <a:solidFill>
                  <a:srgbClr val="14142B"/>
                </a:solidFill>
              </a:rPr>
              <a:t>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줘요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줬어요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한테</a:t>
            </a:r>
            <a:endParaRPr lang="en-US" sz="9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Como: 처럼</a:t>
            </a:r>
            <a:r>
              <a:rPr lang="en-US" sz="1500" b="1" i="1" dirty="0">
                <a:solidFill>
                  <a:srgbClr val="8A8DA0"/>
                </a:solidFill>
              </a:rPr>
              <a:t>   Like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r>
              <a:rPr lang="en-US" sz="1800" i="1" dirty="0">
                <a:solidFill>
                  <a:srgbClr val="4236F6"/>
                </a:solidFill>
              </a:rPr>
              <a:t>= como (parecido a)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산티아고는 여름처럼 더워요</a:t>
            </a:r>
            <a:r>
              <a:rPr lang="en-US" sz="2200" dirty="0">
                <a:solidFill>
                  <a:srgbClr val="14142B"/>
                </a:solidFill>
              </a:rPr>
              <a:t>! — Hoy en Santiago hace calor, como en verano.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la sala, con tus fotos: 이 음식은 김치처럼 매워요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reconocer: 한국 사람처럼 말해요</a:t>
            </a:r>
            <a:r>
              <a:rPr lang="en-US" sz="2200" dirty="0">
                <a:solidFill>
                  <a:srgbClr val="14142B"/>
                </a:solidFill>
              </a:rPr>
              <a:t>! — ¡Hablas como coreano!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es el «¿cómo?» (어떻게</a:t>
            </a:r>
            <a:r>
              <a:rPr lang="en-US" sz="2200" dirty="0">
                <a:solidFill>
                  <a:srgbClr val="14142B"/>
                </a:solidFill>
              </a:rPr>
              <a:t>) ni el «yo como» (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r>
              <a:rPr lang="en-US" sz="2200" dirty="0">
                <a:solidFill>
                  <a:srgbClr val="14142B"/>
                </a:solidFill>
              </a:rPr>
              <a:t>)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</a:t>
            </a:r>
            <a:endParaRPr lang="en-US" sz="9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 책상이에요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¿De quién es?</a:t>
            </a:r>
            <a:r>
              <a:rPr lang="en-US" sz="1500" b="1" i="1" dirty="0">
                <a:solidFill>
                  <a:srgbClr val="8A8DA0"/>
                </a:solidFill>
              </a:rPr>
              <a:t>   Whose desk is 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Jay lee 4 escritorios; el grupo adivina en coreano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 컴퓨터밖에 없어요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 책상이에요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다니엘 씨 책상이에요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씨 책상이에요</a:t>
            </a:r>
            <a:r>
              <a:rPr lang="en-US" sz="2400" dirty="0">
                <a:solidFill>
                  <a:srgbClr val="14142B"/>
                </a:solidFill>
              </a:rPr>
              <a:t>! — ¡Es el escritorio de ___!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씨 책상 </a:t>
            </a:r>
            <a:r>
              <a:rPr lang="en-US" sz="2400" dirty="0">
                <a:solidFill>
                  <a:srgbClr val="14142B"/>
                </a:solidFill>
              </a:rPr>
              <a:t>= 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씨의 책상</a:t>
            </a:r>
            <a:r>
              <a:rPr lang="en-US" sz="2400" dirty="0">
                <a:solidFill>
                  <a:srgbClr val="14142B"/>
                </a:solidFill>
              </a:rPr>
              <a:t>: al hablar, el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2400" dirty="0">
                <a:solidFill>
                  <a:srgbClr val="14142B"/>
                </a:solidFill>
              </a:rPr>
              <a:t>se omite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</a:t>
            </a:r>
            <a:r>
              <a:rPr lang="en-US" sz="2400" dirty="0">
                <a:solidFill>
                  <a:srgbClr val="14142B"/>
                </a:solidFill>
              </a:rPr>
              <a:t>=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</a:t>
            </a:r>
            <a:endParaRPr lang="en-US" sz="4100" dirty="0"/>
          </a:p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책상이에요</a:t>
            </a:r>
            <a:r>
              <a:rPr lang="en-US" sz="4100" b="1" dirty="0">
                <a:solidFill>
                  <a:srgbClr val="4236F6"/>
                </a:solidFill>
              </a:rPr>
              <a:t>?</a:t>
            </a:r>
            <a:endParaRPr lang="en-US" sz="4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쯤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 </a:t>
            </a:r>
            <a:r>
              <a:rPr lang="en-US" sz="3000" b="1" dirty="0">
                <a:solidFill>
                  <a:srgbClr val="003478"/>
                </a:solidFill>
              </a:rPr>
              <a:t>Para reconocer</a:t>
            </a:r>
            <a:r>
              <a:rPr lang="en-US" sz="1500" b="1" i="1" dirty="0">
                <a:solidFill>
                  <a:srgbClr val="8A8DA0"/>
                </a:solidFill>
              </a:rPr>
              <a:t>   To recognize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Lectura en casa: material 3.5 · no están entre las 11 del examen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Más o menos, «tipo»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쯤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시쯤 </a:t>
            </a:r>
            <a:r>
              <a:rPr lang="en-US" sz="2000" dirty="0">
                <a:solidFill>
                  <a:srgbClr val="14142B"/>
                </a:solidFill>
              </a:rPr>
              <a:t>= tipo las siete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 원쯤 </a:t>
            </a:r>
            <a:r>
              <a:rPr lang="en-US" sz="2000" dirty="0">
                <a:solidFill>
                  <a:srgbClr val="14142B"/>
                </a:solidFill>
              </a:rPr>
              <a:t>= unos diez mil wones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De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</a:t>
            </a:r>
            <a:r>
              <a:rPr lang="en-US" sz="2000" dirty="0">
                <a:solidFill>
                  <a:srgbClr val="14142B"/>
                </a:solidFill>
              </a:rPr>
              <a:t>=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저의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</a:t>
            </a:r>
            <a:r>
              <a:rPr lang="en-US" sz="2000" dirty="0">
                <a:solidFill>
                  <a:srgbClr val="14142B"/>
                </a:solidFill>
              </a:rPr>
              <a:t>=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친구의 생일 </a:t>
            </a:r>
            <a:r>
              <a:rPr lang="en-US" sz="2000" dirty="0">
                <a:solidFill>
                  <a:srgbClr val="14142B"/>
                </a:solidFill>
              </a:rPr>
              <a:t>→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생일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Dictado (formato examen)</a:t>
            </a:r>
            <a:r>
              <a:rPr lang="en-US" sz="1500" b="1" i="1" dirty="0">
                <a:solidFill>
                  <a:srgbClr val="8A8DA0"/>
                </a:solidFill>
              </a:rPr>
              <a:t>   Particle dictation (exam format)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Recuadro: 은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마다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한테 </a:t>
            </a:r>
            <a:r>
              <a:rPr lang="en-US" sz="1800" i="1" dirty="0">
                <a:solidFill>
                  <a:srgbClr val="4236F6"/>
                </a:solidFill>
              </a:rPr>
              <a:t>· Escribe solo la partícula: 1 … 8</a:t>
            </a:r>
            <a:endParaRPr lang="en-US" sz="1800" dirty="0"/>
          </a:p>
        </p:txBody>
      </p:sp>
      <p:graphicFrame>
        <p:nvGraphicFramePr>
          <p:cNvPr id="2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87154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Frase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 좋아해요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주말에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기차가 버스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빨라요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 마셔요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책상 위에 휴대폰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선물을 줬어요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 동생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저보다 키가 커요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Clave del dictado</a:t>
            </a:r>
            <a:r>
              <a:rPr lang="en-US" sz="1500" b="1" i="1" dirty="0">
                <a:solidFill>
                  <a:srgbClr val="8A8DA0"/>
                </a:solidFill>
              </a:rPr>
              <a:t>   Dictation key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partícula, en azul</a:t>
            </a:r>
            <a:endParaRPr lang="en-US" sz="1800" dirty="0"/>
          </a:p>
        </p:txBody>
      </p:sp>
      <p:graphicFrame>
        <p:nvGraphicFramePr>
          <p:cNvPr id="2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28727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Frase completa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Partícula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저도 커피를 좋아해요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주말에만 운동해요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에만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기차가 버스보다 더 빨라요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아침마다 커피를 마셔요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책상 위에 휴대폰밖에 없어요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밖에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친구한테 선물을 줬어요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회사에서 일해요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 동생이 저보다 키가 커요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· 4 rondas</a:t>
            </a:r>
            <a:r>
              <a:rPr lang="en-US" sz="1500" b="1" i="1" dirty="0">
                <a:solidFill>
                  <a:srgbClr val="8A8DA0"/>
                </a:solidFill>
              </a:rPr>
              <a:t>   Breakout rooms · 4 rounds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Hoy tu pareja = tu pareja de la conversación de la clase 8 · Material, sección 7</a:t>
            </a:r>
            <a:endParaRPr lang="en-US" sz="1800" dirty="0"/>
          </a:p>
        </p:txBody>
      </p:sp>
      <p:graphicFrame>
        <p:nvGraphicFramePr>
          <p:cNvPr id="30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751269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Ronda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Qué hacen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R1 · Comparar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21:36 (6 min)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pares (tus fotos + 서울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산티아고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라면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피자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dos ídolos) + una frase con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R2 · Solo tengo…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21:42 (5 min)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Escritorio y billetera: ___만 있어요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___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밖에 없어요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reacción con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R3 · ¿Cada cuánto?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21:47 (5 min)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Encuesta: 마다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자주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R4 · Minuto libre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21:52 (3 min)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mirar nada · después de cada respuesta: 자주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___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· ___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씨는요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 que oí hoy</a:t>
            </a:r>
            <a:r>
              <a:rPr lang="en-US" sz="1500" b="1" i="1" dirty="0">
                <a:solidFill>
                  <a:srgbClr val="8A8DA0"/>
                </a:solidFill>
              </a:rPr>
              <a:t>   What I heard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Lo incorrecto, en gris con una línea</a:t>
            </a:r>
            <a:endParaRPr lang="en-US" sz="1800" dirty="0"/>
          </a:p>
        </p:txBody>
      </p:sp>
      <p:graphicFrame>
        <p:nvGraphicFramePr>
          <p:cNvPr id="3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5374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Lo que oí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Así se dice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reemplaza a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 원밖에 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 원밖에 없어요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밖에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pide un 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엄마를 전화해요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엄마한테 전화해요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한테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= la «a» de persona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산티아고가 서울보다 더 커요 </a:t>
                      </a:r>
                      <a:r>
                        <a:rPr lang="en-US" sz="1600" strike="sngStrike" dirty="0">
                          <a:solidFill>
                            <a:srgbClr val="8A8DA0"/>
                          </a:solidFill>
                        </a:rPr>
                        <a:t>(queriendo decir que Seúl es más grande)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서울이 산티아고보다 더 커요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 palabra con 보다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pierde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Las 3 frases de hoy</a:t>
            </a:r>
            <a:r>
              <a:rPr lang="en-US" sz="1500" b="1" i="1" dirty="0">
                <a:solidFill>
                  <a:srgbClr val="8A8DA0"/>
                </a:solidFill>
              </a:rPr>
              <a:t>   Today's 3 key phrases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Primero Jay, solo y lento; después, el grupo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저도요</a:t>
            </a:r>
            <a:r>
              <a:rPr lang="en-US" sz="2800" dirty="0">
                <a:solidFill>
                  <a:srgbClr val="14142B"/>
                </a:solidFill>
              </a:rPr>
              <a:t>! — ¡Yo también! / ¡Yo tampoco!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서울이 산티아고보다 더 커요</a:t>
            </a:r>
            <a:r>
              <a:rPr lang="en-US" sz="2800" dirty="0">
                <a:solidFill>
                  <a:srgbClr val="14142B"/>
                </a:solidFill>
              </a:rPr>
              <a:t>. — Seúl es más grande que Santiago.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달라요</a:t>
            </a:r>
            <a:r>
              <a:rPr lang="en-US" sz="2800" dirty="0">
                <a:solidFill>
                  <a:srgbClr val="14142B"/>
                </a:solidFill>
              </a:rPr>
              <a:t>. — Depende de la persona.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Tarea (≈ 30 min)</a:t>
            </a:r>
            <a:r>
              <a:rPr lang="en-US" sz="1500" b="1" i="1" dirty="0">
                <a:solidFill>
                  <a:srgbClr val="8A8DA0"/>
                </a:solidFill>
              </a:rPr>
              <a:t>  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Antes del miércoles 9 de diciembre, 21:00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1 Hoja de partículas 7 (sección 9.1): obligatoria · por privado a Jay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Si la mandas hasta el dom 6, vuelve corregida el mar 8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2 Tus 20 palabras (lista 9.2): marca las que no salen solas y repásalas en voz alta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5 frases comparando tu país con Corea (보다 </a:t>
            </a:r>
            <a:r>
              <a:rPr lang="en-US" sz="1800" dirty="0">
                <a:solidFill>
                  <a:srgbClr val="14142B"/>
                </a:solidFill>
              </a:rPr>
              <a:t>/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r>
              <a:rPr lang="en-US" sz="1800" dirty="0">
                <a:solidFill>
                  <a:srgbClr val="14142B"/>
                </a:solidFill>
              </a:rPr>
              <a:t>/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r>
              <a:rPr lang="en-US" sz="1800" dirty="0">
                <a:solidFill>
                  <a:srgbClr val="14142B"/>
                </a:solidFill>
              </a:rPr>
              <a:t>) + audio al grupo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4 Tu pareja y tu tarjeta de la conversación: practiquen 5 min antes del miércoles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Reto: 처럼 </a:t>
            </a:r>
            <a:r>
              <a:rPr lang="en-US" sz="1800" dirty="0">
                <a:solidFill>
                  <a:srgbClr val="14142B"/>
                </a:solidFill>
              </a:rPr>
              <a:t>y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한테 </a:t>
            </a:r>
            <a:r>
              <a:rPr lang="en-US" sz="1800" dirty="0">
                <a:solidFill>
                  <a:srgbClr val="14142B"/>
                </a:solidFill>
              </a:rPr>
              <a:t>en frases propias + -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</a:t>
            </a:r>
            <a:r>
              <a:rPr lang="en-US" sz="1800" dirty="0">
                <a:solidFill>
                  <a:srgbClr val="14142B"/>
                </a:solidFill>
              </a:rPr>
              <a:t>/ -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지만 </a:t>
            </a:r>
            <a:r>
              <a:rPr lang="en-US" sz="1800" dirty="0">
                <a:solidFill>
                  <a:srgbClr val="14142B"/>
                </a:solidFill>
              </a:rPr>
              <a:t>· Rescate: solo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r>
              <a:rPr lang="en-US" sz="1800" dirty="0">
                <a:solidFill>
                  <a:srgbClr val="14142B"/>
                </a:solidFill>
              </a:rPr>
              <a:t>,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800" dirty="0">
                <a:solidFill>
                  <a:srgbClr val="14142B"/>
                </a:solidFill>
              </a:rPr>
              <a:t>y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</a:t>
            </a:r>
            <a:endParaRPr lang="en-US" sz="1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 que viene</a:t>
            </a:r>
            <a:r>
              <a:rPr lang="en-US" sz="1500" b="1" i="1" dirty="0">
                <a:solidFill>
                  <a:srgbClr val="8A8DA0"/>
                </a:solidFill>
              </a:rPr>
              <a:t>   What's next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Lun 7 dic: simulacro corto del examen (10 preguntas)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Mié 9 dic, 21:00: calentamiento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21:10: examen escrito, tipeado en 한글 </a:t>
            </a:r>
            <a:r>
              <a:rPr lang="en-US" sz="2200" dirty="0">
                <a:solidFill>
                  <a:srgbClr val="14142B"/>
                </a:solidFill>
              </a:rPr>
              <a:t>(prueba tu teclado coreano)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21:40: conversación en parejas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¿No puedes venir? Avísale a Jay esta semana</a:t>
            </a:r>
            <a:endParaRPr lang="en-US" sz="22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만나요</a:t>
            </a:r>
            <a:r>
              <a:rPr lang="en-US" sz="2600" b="1" dirty="0">
                <a:solidFill>
                  <a:srgbClr val="FFFFFF"/>
                </a:solidFill>
              </a:rPr>
              <a:t>!  ¡Nos vemos la próxima semana!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잘했어요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Las 11 del examen (1/2)</a:t>
            </a:r>
            <a:r>
              <a:rPr lang="en-US" sz="1500" b="1" i="1" dirty="0">
                <a:solidFill>
                  <a:srgbClr val="8A8DA0"/>
                </a:solidFill>
              </a:rPr>
              <a:t>   The 11 exam particles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Tras vocal · tras consonante</a:t>
            </a:r>
            <a:endParaRPr lang="en-US" sz="1800" dirty="0"/>
          </a:p>
        </p:txBody>
      </p:sp>
      <p:graphicFrame>
        <p:nvGraphicFramePr>
          <p:cNvPr id="3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375519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Partícula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Vocal · consonante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Para qué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tema («en cuanto a…»), contraste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대학생이에요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 고향은 멕시코예요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sujeto; lo nuevo; con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y en preguntas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형제가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더 커요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objeto: qué comes, ves, compras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 마셔요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영화를 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dónde está, a dónde va, cuándo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한국에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일곱 시에 일어나요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dónde ocurre una acción; «desde»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회사에서 일해요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서울에서 부산까지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también / tampoco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저도 가요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Las 11 del examen (2/2)</a:t>
            </a:r>
            <a:r>
              <a:rPr lang="en-US" sz="1500" b="1" i="1" dirty="0">
                <a:solidFill>
                  <a:srgbClr val="8A8DA0"/>
                </a:solidFill>
              </a:rPr>
              <a:t>   The 11 exam particles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800" i="1" dirty="0">
                <a:solidFill>
                  <a:srgbClr val="4236F6"/>
                </a:solidFill>
              </a:rPr>
              <a:t>reemplazan 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800" i="1" dirty="0">
                <a:solidFill>
                  <a:srgbClr val="4236F6"/>
                </a:solidFill>
              </a:rPr>
              <a:t>, pero se suman 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1800" i="1" dirty="0">
                <a:solidFill>
                  <a:srgbClr val="4236F6"/>
                </a:solidFill>
              </a:rPr>
              <a:t>y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1800" dirty="0"/>
          </a:p>
        </p:txBody>
      </p:sp>
      <p:graphicFrame>
        <p:nvGraphicFramePr>
          <p:cNvPr id="3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12203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Partícula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Vocal · consonante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Para qué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solo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커피만 마셔요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밖에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밖에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nada más que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 원밖에 없어요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más que (con 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서울이 산티아고보다 더 커요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cada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주말마다 운동해요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한테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a (una persona)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친구한테 선물을 줬어요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Así suena una conversación</a:t>
            </a:r>
            <a:r>
              <a:rPr lang="en-US" sz="1500" b="1" i="1" dirty="0">
                <a:solidFill>
                  <a:srgbClr val="8A8DA0"/>
                </a:solidFill>
              </a:rPr>
              <a:t>   What a conversation sounds like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Tres intercambios de ejemplo para la clase 8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보통 몇 시에 일어나요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여섯 시 반쯤 일어나요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씻고 커피를 마셔요</a:t>
            </a:r>
            <a:r>
              <a:rPr lang="en-US" sz="2400" dirty="0">
                <a:solidFill>
                  <a:srgbClr val="14142B"/>
                </a:solidFill>
              </a:rPr>
              <a:t>. 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씨는요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수영할 수 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네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수영은 할 수 있지만 운전은 못 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멕시코하고 한국은 뭐가 달라요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음</a:t>
            </a:r>
            <a:r>
              <a:rPr lang="en-US" sz="2400" dirty="0">
                <a:solidFill>
                  <a:srgbClr val="14142B"/>
                </a:solidFill>
              </a:rPr>
              <a:t>…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멕시코 음식이 한국 음식보다 더 매워요</a:t>
            </a:r>
            <a:r>
              <a:rPr lang="en-US" sz="2400" dirty="0">
                <a:solidFill>
                  <a:srgbClr val="14142B"/>
                </a:solidFill>
              </a:rPr>
              <a:t>!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하하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달라요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5981</Words>
  <Application>Microsoft Office PowerPoint</Application>
  <PresentationFormat>Widescreen</PresentationFormat>
  <Paragraphs>504</Paragraphs>
  <Slides>37</Slides>
  <Notes>37</Notes>
  <HiddenSlides>0</HiddenSlides>
  <MMClips>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Malgun Gothic</vt:lpstr>
      <vt:lpstr>Arial</vt:lpstr>
      <vt:lpstr>Academia Seul</vt:lpstr>
      <vt:lpstr>안녕하세요!  Mientras llegan   While you join</vt:lpstr>
      <vt:lpstr>Quiz 6   Quiz 6</vt:lpstr>
      <vt:lpstr>Quiz 6 · ítem 5   Quiz 6 · item 5</vt:lpstr>
      <vt:lpstr>Clave + hoja 6   Answer key + worksheet 6</vt:lpstr>
      <vt:lpstr>Partículas pro</vt:lpstr>
      <vt:lpstr>Hoy vas a poder decir   Today you will be able to say</vt:lpstr>
      <vt:lpstr>도 · 만  도 y 만   Also and only</vt:lpstr>
      <vt:lpstr>Se van / se quedan   Replace or add</vt:lpstr>
      <vt:lpstr>저도요  Yo también = yo tampoco   Me too / me neither</vt:lpstr>
      <vt:lpstr>Cadena 도 / 만   Chain: also / only</vt:lpstr>
      <vt:lpstr>잠깐만요  Un momento   Just a moment</vt:lpstr>
      <vt:lpstr>Más que: 보다   More than</vt:lpstr>
      <vt:lpstr>El orden   Word order</vt:lpstr>
      <vt:lpstr>¿Cuál más? · 제일   Which one more? · The most</vt:lpstr>
      <vt:lpstr>Cadena 보다   Chain: comparisons</vt:lpstr>
      <vt:lpstr>Cada: 마다   Every</vt:lpstr>
      <vt:lpstr>¿Cada cuánto?   How often?</vt:lpstr>
      <vt:lpstr>사람마다 달라요  Depende de la persona   It depends on the person</vt:lpstr>
      <vt:lpstr>Mi billetera   My wallet</vt:lpstr>
      <vt:lpstr>Nada más que: 밖에 + NO   Nothing but</vt:lpstr>
      <vt:lpstr>하나밖에 안 남았어요  Solo queda uno   Only one left</vt:lpstr>
      <vt:lpstr>Tu escritorio   Your desk</vt:lpstr>
      <vt:lpstr>A alguien: 한테   To someone</vt:lpstr>
      <vt:lpstr>Como: 처럼   Like</vt:lpstr>
      <vt:lpstr>누구 책상이에요?  ¿De quién es?   Whose desk is it?</vt:lpstr>
      <vt:lpstr>쯤 · 의  Para reconocer   To recognize</vt:lpstr>
      <vt:lpstr>Dictado (formato examen)   Particle dictation (exam format)</vt:lpstr>
      <vt:lpstr>Clave del dictado   Dictation key</vt:lpstr>
      <vt:lpstr>Salas · 4 rondas   Breakout rooms · 4 rounds</vt:lpstr>
      <vt:lpstr>Lo que oí hoy   What I heard today</vt:lpstr>
      <vt:lpstr>Las 3 frases de hoy   Today's 3 key phrases</vt:lpstr>
      <vt:lpstr>Tarea (≈ 30 min)   Homework</vt:lpstr>
      <vt:lpstr>Lo que viene   What's next</vt:lpstr>
      <vt:lpstr>다음 주에 만나요!  ¡Nos vemos la próxima semana!</vt:lpstr>
      <vt:lpstr>Las 11 del examen (1/2)   The 11 exam particles (1/2)</vt:lpstr>
      <vt:lpstr>Las 11 del examen (2/2)   The 11 exam particles (2/2)</vt:lpstr>
      <vt:lpstr>Así suena una conversación   What a conversation sounds like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7 · Partículas pro · comparar, precisar y matizar</dc:title>
  <dc:subject>PptxGenJS Presentation</dc:subject>
  <dc:creator>Academia Seúl</dc:creator>
  <cp:lastModifiedBy>Jae Hee Kim</cp:lastModifiedBy>
  <cp:revision>2</cp:revision>
  <dcterms:created xsi:type="dcterms:W3CDTF">2026-10-16T10:02:35Z</dcterms:created>
  <dcterms:modified xsi:type="dcterms:W3CDTF">2026-10-16T10:04:15Z</dcterms:modified>
</cp:coreProperties>
</file>