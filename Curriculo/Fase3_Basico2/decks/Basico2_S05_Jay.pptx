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mana 5" id="{A4D5CA22-CA54-DB2F-C680-043EC67F5BF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2370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Portada: se proyecta mientras entran (desde las 20:58). A las 21:00 pasa a la lámina 1.
Fuente: Portada agregada (no está en C.17)
Lámina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21:00–21:01 · 1 min. Inicia la grabación en la nube desde aquí (Basico2_S05_2026-11-18) y saluda: «안녕하세요, 여러분!». En Chile es miércoles 18 y en Corea ya es jueves 19 a las 9:00; el 11/11 fue el miércoles pasado: 지난주 수요일은 빼빼로데이였어요. 따라 하세요: «빼빼로데이였어요» (coro). En 30 s: galletita en forma de palito, 11/11 parecen cuatro palitos, fecha comercial popular desde los años 90, no fiesta tradicional; y fíjense en 였어요, el pasado de la semana pasada, último viaje al pasado antes del quiz 4. Si alguien menciona el 수능: hoy, a esta misma hora, en Corea se está rindiendo; «lo vemos la próxima semana» (no lo desarrolles: es el gancho de la S6).
Imagen: incluida (dibujo de la casa).
Fuente: Nueva
Lámina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21:01–21:04:15 · 30 s de consigna + 2 min + 45 s de clave. Antes de hablar, chat en 'solo anfitrión'; a las 21:03:30, «Tiempo»: guarda el chat y vuelve a ponerlo en 'todos'. Revela la clave con clic y comenta solo el error más repetido: 먹었어요, no 먹았어요 (먹 tiene ㅓ: mano arriba solo para ㅏ y ㅗ), o 대학생이었어요 (받침 → 이었어요; con vocal, 였어요, como el 빼빼로데이였어요 de hace un minuto). Un error de tipeo que no es de gramática (갔어오) vale; el ítem 4 vale 1 punto entre los dos huecos y el 5 va en su propia columna (revisar D-12: ítem original).
Fuente: Nueva (clave en C.16.1)
Lámina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 · termina a las 21:05 en punto. «Tres cosas que vi en sus hojas 4»: lees las frases ya corregidas y el grupo repite la buena (따라 하세요). Estas cuatro son las de respaldo de la clave del quiz 4: deja 3, o reemplázalas por los 3 errores más repetidos de las Hojas 4 (revísalas el lun 16 o mar 17 nov). Nunca en rojo: lo incorrecto va tachado en gris.
Fuente: Nueva
Lámina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21:05 · 20 s. «Hoy vas a poder decir estas cinco frases. Todavía no se las explico: primero les cuento mi plan.» No las leas ni las expliques: solo que las miren.
Fuente: Nueva (sección 0 de la guía)
Lámina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21:05–21:08 · 1 min 30 s de plan + 1 min de chequeo. Dilo dos veces, despacio y con gestos (calendario, mano-avión, mano-tren, cámara, dos dedos para 'una o la otra'); las frases aparecen una por una y al final 거예요 queda resaltado en azul en todas. Adáptalas a tu plan real sin salir de la lista. Chequeo en coro: «제가 버스로 부산에 갈 거예요?» → «아니요! 기차로!» → «네, 기차로 갈 거예요. 잘했어요!» · «제가 내년 일월에 한국에 갈 거예요?» → «네!» · «부산에서 영화를 볼 거예요?» → «아니요! 사진!». Cierra: «¿Qué palabra se repitió en todas las frases? 거예요: eso es el futuro.»
Imagen: incluida (dibujo de la casa).
Fuente: Nueva (foto de Jay)
Lámina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21:08 · 2 min. 거예요 es 'voy a…' y también '-ré': se arma con la raíz, como el pasado de la semana pasada. Vocal: una ㄹ abajo; consonante: 을, como el español pone una 'e' delante de 'sp' (nadie dice 'Spaña'). Dos trampas: si la raíz ya termina en ㄹ no se agrega nada (살 거예요, 놀 거예요), y 듣다 cambia como en 들어요 (들을 거예요). Gesto: mano arriba = vocal, puño = consonante.
Fuente: Sesion_10_Futuro_Vacaciones.pptx L3 (adaptada: sin romanización ni voseo, azul y lila en vez de rojo y rosado)
Lámina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· coro. Se escribe separado y con 예, aunque al hablar suena [에]; y después de la ㄹ la ㄱ se aprieta: se escribe 거, suena 꺼. 따라 하세요, tú → grupo, dos veces: 갈 거예요 · 먹을 거예요 · 할 거예요 · 들을 거예요 · 살 거예요. Si alguien de julio dice '갈 고예요': «거! 입을 벌려요» con el gesto de boca abierta (ㅓ, no ㅗ: labios sin redondear).
Fuente: Nueva
Lámina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La regla de siempre: 어제, 오늘, 내일, 지금 y 매일 van sin 에; lo demás, con 에 (이번 주말에, 다음 주에, 내년에). Truco de escritura: 지난주 va junto y 다음 주 separado, así lo pide el diccionario. Si hay 15 s más: igual que en español, el presente también sirve para el futuro (내일 부산에 가요); 거예요 suena más a plan decidido. «Guarden esto: en 20 minutos lo usamos para invitar.»
Fuente: Nueva
Lámina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21:12–21:15 · 3 min. Anuncia juntos los 5 nombres para que activen el micrófono ya; los demás escriben su respuesta en el chat. «___ 씨, 이번 주말에 뭐 할 거예요?» → «친구를 만날 거예요.» → «잘했어요!» y repites la frase bien dicha, con [꺼]. Si sale 만나을 거예요 o 먹ㄹ 거예요: mano arriba (vocal) o puño (consonante) + «다시 한번»; máximo dos intentos y, si no sale, 'lo vemos en tu sala'. Lee 2 respuestas del chat, corregidas, sin nombrar a nadie; si el grupo va rápido, el 5.º le pregunta al 6.º.
Fuente: Nueva
Lámina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21:15 · 1 min 30 s. Coro: 비행기로 · 기차로 · 버스로 · 차로 · 지하철로. 로 es el 'en' de 'en avión, en tren': tras vocal y tras ㄹ, 로 (지하철로); tras otra consonante, 으로 (손으로, con la mano). A pie es distinto, como en español: «걸어서 가요» (coro). Ojo: 차 es auto y también té: 차로 가요, voy en auto; 차를 마셔요, tomo té.
Fuente: Nueva
Lámina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Si dices 비행기에 가요, vas hacia el avión, no en avión. El mismo 로 sirve para idiomas: muestras una taza, «이거 한국어로 뭐예요?» → coro → «컵이에요!». «La pregunta más útil del curso: úsenla conmigo cuando quieran.» Si vas atrasado, deja solo 비행기로 frente a 비행기에 (el resto está en la sección 3.3 del material).
Imagen: incluida (dibujo de la casa).
Fuente: Nueva
Lámina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21:17:30–21:19 · 1 min 30 s. Cinco nombres nuevos, micrófonos abiertos: «___ 씨, 회사에 뭐로 가요?» (o 학교에); el resto escribe la suya en el chat. Cierra con humor: «한국에 뭐로 갈 거예요? 걸어서?» → «아니요! 비행기로 갈 거예요!» → «잘했어요!». Si alguien pregunta, tú puedes decir 뭐 타고 갈 거예요? ('¿a qué te vas a subir?'): es la versión de la calle; no se pide.
Fuente: Nueva
Lámina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21:19 · 1 min 30 s. «¿Cuántos días de vacaciones de verano creen que toma un oficinista en Seúl?» Muchos toman solo 3 a 5 días seguidos, a fines de julio o comienzos de agosto: viaje corto e intenso a Jeju, Busan o Japón en un fin de semana largo. A Jeju casi todos van en avión: es una isla y no tiene tren. 따라 하세요: 여름휴가에 제주도에 갈 거예요 (coro, dos veces). Di 'muchos', nunca 'todos'.
Imagen: incluida (dibujo de la casa).
Fuente: Sesion_10_Futuro_Vacaciones.pptx L7 (solo los 3 destinos, sin romanización)
Lámina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30 s. En español decimos 'vacaciones' para todo; en coreano hay dos: 휴가, las del trabajo, y 방학, las del colegio o la universidad. Lee los dos ejemplos en coreano. Pregunta para el chat: «¿Cuántos días seguidos toma la gente en tu país, y cuándo?» y lee 2 respuestas. No generalices: muchos, no todos; depende del trabajo.
Fuente: Nueva
Lámina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21:22 · 1 min 30 s. «¿Y si todavía no decides?» Recuerda tu plan: 먹거나 … 쉴 거예요. Tres cosas: -거나 no cambia nunca; suena [먹꺼나], la misma tensión de hoy; y el tiempo va solo al final, como 'voy a ver una película o descansar'. En la lámina, 봤거나 va tachado en gris. 따라 하세요: 영화를 보거나 쉴 거예요 (coro).
Fuente: Nueva
Lámina 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Entre dos cosas, (이)나: con vocal 나, con consonante 이나, como el español, que cambia la 'o' por 'u' delante de otra o. Ojo: aquí la ㄹ cuenta como consonante normal (지하철이나). No lo confundan con el 하고 de la semana pasada: 커피하고 차 son los dos; 커피나 차, uno de los dos.
Fuente: Particulas_Coreanas_Editable.pptx L6 (idea del contraste 하고 / (이)나)
Lámina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Opcional: se muestra 20 s o queda solo en el PDF del deck. Es la misma lógica de 이에요/예요, 은/는 y 을/를: esta semana la regla del 받침 aparece tres veces. Si alguien pregunta por qué 지하철이나 y no 지하철나: la ㄹ es especial solo con las formas que empiezan con 으.
Fuente: Particulas_Coreanas_Editable.pptx L7 (adaptada: filas de (으)로 y (이)나, ejemplos de esta semana)
Lámina 16b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21:24:30–21:27 · 2 min 30 s. Cuatro nombres, micrófonos abiertos, dos dedos en cámara: «___ 씨, 이번 주말에 뭐 할 거예요? 두 개!» → «잘했어요!». Si alguien pone el tiempo dos veces (볼 거나, 봤거나): «El tiempo, una sola vez, al final» + «다시 한번». Cierre relámpago en el chat, todos a la vez, con 커피나 ___; lee 2 en voz alta.
Fuente: Nueva
Lámina 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21:27 · 1 min. Para invitar, 같이 + el verbo en presente (coro de los tres ejemplos); para aceptar, 좋아요!. 같이 영화 볼 거예요? va tachado en gris: pregunta '¿van a ver la película juntos?', no invita. Si me oyen decir 같이 갈까요?, es otra forma de invitar que aprenden en Conversacional 1: va pequeño, en gris, solo para reconocer. Y la pre-invitación: primero «토요일에 뭐 할 거예요?».
Fuente: Nueva
Lámina 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21:28–21:30 · 2 min. Haz el modelo del role play con un voluntario (mejor un perfil A de las parejas nuevas): tú eres A. Explica: R1, muestras la foto, tu pareja te hace 5 preguntas (여기가 어디예요? · 언제 갈 거예요? · 누구하고 갈 거예요? · 뭐로 갈 거예요? · 거기에서 뭐 할 거예요?) y cuentas tu plan de 3 días en 6 frases; R2, cada uno su agenda, día por día, y en '—' se dice 시간이 있어요! (tengo tiempo) hasta encontrar el día libre e invitar; R3, minuto libre. «Abran ahora la sección 7. 화이팅!»
Fuente: Nueva
Lámina 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21:30–21:35 · 5 min. «Digo un verbo y una palabra de tiempo; tú dices una frase corta en 3 segundos. 어제: pasado. 오늘, 매일: presente. 내일, 다음 주에, 내년에: futuro. 어제 갔어요 vale.» Un alumno por verbo, en el orden de la lista de participantes, sin pausas: 1 가다 · 어제 → 어제 ___에 갔어요 · 2 가다 · 내일 → 내일 ___에 갈 거예요 · 3 먹다 · 오늘 → 오늘 ___을/를 먹어요 · 4 먹다 · 내일 → 내일 ___을/를 먹을 거예요 · 5 듣다 · 어제 → 어제 음악을 들었어요 · 6 듣다 · 내일 → 내일 음악을 들을 거예요 · 7 살다 · 내년에 → 내년에 ___에 살 거예요 · 8 놀다 · 어제 → 어제 친구하고 놀았어요 · 9 쉬다 · 이번 주말에 → 이번 주말에 집에서 쉴 거예요 · 10 만나다 · 지난주에 → 지난주에 친구를 만났어요 · 11 사진을 찍다 · 내일 → 내일 사진을 찍을 거예요 · 12 공부하다 · 매일 → 매일 한국어를 공부해요 · 13 영화를 보다 · 다음 주에 → 다음 주에 영화를 볼 거예요 · 14 일하다 · 작년에 → 작년에 회사에서 일했어요 · 15 구경하다 · 내년에 → 내년에 서울을 구경할 거예요. Si sobra tiempo, segunda vuelta con el mismo verbo y otra palabra de tiempo (el alumno 1 recibe 가다 · 매일). Si alguien se congela, das el comienzo («어제… 갔…») y vuelves a esa persona al final. Corrección al vuelo, en coreano: «먹을 거예요, 다시 한번» · «[갈꺼에요]» · «들을 거예요!». Si aparecen 가을 거예요 o 먹ㄹ 거예요, drill de 3 segundos: «가!» → «갈 거예요!» · «먹!» → «먹을 거예요!» · «놀!» → «놀 거예요!» · «듣!» → «들을 거예요!». A las 21:34:30, pega el link de la tarjeta (o el texto de respaldo de las 3 rondas) y abre las salas.
Fuente: Nueva (lista en C.16.6)
Lámina 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21:55 · 1 min 15 s. Tres alumnos (uno por perfil, de salas distintas) cuentan en una frase el plan de su pareja: «___ 씨, 파트너는 뭐 할 거예요?» → «다니엘 씨는 기차로 부산에 갈 거예요.» → «잘했어요!». Es el bloque publicado 'tres alumnos resumen la clase en una frase'. Revisar D.7: si prefieres no usar 파트너, di «___ 씨는 뭐 할 거예요?» señalando a la pareja.
Fuente: Nueva
Lámina 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Tres errores del día, con la frase buena en pantalla; cámbialos en vivo por lo que oíste en las salas. El grupo repite cada una en coro. Casi seguro serán estos tres: la ㅓ de 거 (갈 거예요, no 갈 고예요: boca abierta, labios sin redondear), 비행기로 y no 비행기에, y el tiempo una sola vez con -거나 (보거나 쉴 거예요, no 봤거나).
Fuente: Nueva
Lámina 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«Primero yo, despacio; después ustedes.» Tú solo, lento y claro, con 2 s de pausa entre frases; el grupo repite cada una. De aquí se recorta B2_S05_frases_clave.mp3: tu versión tiene que ir sola, lenta y limpia.
Fuente: B.12 del diseño
Lámina 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30 s. Compartes 20 s el Lector (Practicar → Palabras; pestaña Progreso). En el Lector, la consigna es decir cada palabra en voz alta antes de tocar (las opciones traen letras latinas). Cuatro: anoten 3 cosas que saben hacer, 3 que no y piensen en una invitación que tendrían que rechazar: «la semana que viene aprendemos a decir que no, con estilo». La clase 6 empieza con el quiz 5: 갈 거예요, 먹을 거예요, 살 거예요 y 로.
Imagen: incluida (dibujo de la casa).
Fuente: Nueva
Lámina 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s. «잘했어요, 여러분! 다음 주에 봐요! 화이팅!» → grupo: «감사합니다!». A las 22:00 en punto: 'Finalizar reunión para todos', vaya donde vaya la clase.
Fuente: Plantilla
Lámina 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si sobran 2–4 minutos en la sala principal. Piensas un destino y el grupo pregunta solo con preguntas de 네/아니요; quien adivina piensa el siguiente. Otras opciones de emergencia: leer la escena 2 del diálogo con dos voluntarios, o dictar en el chat las 3 frases clave (gana un «잘했어요!» quien las escribe primero con el espacio en 갈 거예요).
Imagen: incluida (dibujo de la casa).
Fuente: Nueva
Lámina Extra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PORTADA">
    <p:bg>
      <p:bgPr>
        <a:solidFill>
          <a:srgbClr val="0034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hingu/Desktop/ACADEMIASEULWEB/public/email/sell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FFFF"/>
                </a:solidFill>
              </a:rPr>
              <a:t>ACADEMIA SEÚL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44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E8B84B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6" name="Text 1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3DA"/>
                </a:solidFill>
              </a:rPr>
              <a:t>Básico 2 (A1.2) · Semana 5 · Jay Kim (김재희) · Academia Seúl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003478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pic>
        <p:nvPicPr>
          <p:cNvPr id="3" name="Image 0" descr="C:/Users/Chingu/Desktop/ACADEMIASEULWEB/public/email/sello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411480"/>
            <a:ext cx="502920" cy="502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DA0"/>
                </a:solidFill>
              </a:rPr>
              <a:t>Básico 2 (A1.2) · Semana 5 · Jay Kim (김재희) · Academia Seúl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CIERRE">
    <p:bg>
      <p:bgPr>
        <a:solidFill>
          <a:srgbClr val="423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hingu/Desktop/ACADEMIASEULWEB/public/email/sell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02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1463040" y="2971800"/>
            <a:ext cx="9262872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0"/>
          <p:cNvSpPr txBox="1"/>
          <p:nvPr/>
        </p:nvSpPr>
        <p:spPr>
          <a:xfrm>
            <a:off x="731520" y="626364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D7F7"/>
                </a:solidFill>
              </a:rPr>
              <a:t>Básico 2 (A1.2) · Semana 5 · Jay Kim (김재희) · Academia Seúl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0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0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0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0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0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mp3"/><Relationship Id="rId13" Type="http://schemas.openxmlformats.org/officeDocument/2006/relationships/slideLayout" Target="../slideLayouts/slideLayout3.xml"/><Relationship Id="rId18" Type="http://schemas.openxmlformats.org/officeDocument/2006/relationships/image" Target="../media/image8.png"/><Relationship Id="rId3" Type="http://schemas.microsoft.com/office/2007/relationships/media" Target="../media/media2.mp3"/><Relationship Id="rId7" Type="http://schemas.microsoft.com/office/2007/relationships/media" Target="../media/media4.mp3"/><Relationship Id="rId12" Type="http://schemas.openxmlformats.org/officeDocument/2006/relationships/audio" Target="../media/media6.mp3"/><Relationship Id="rId17" Type="http://schemas.openxmlformats.org/officeDocument/2006/relationships/image" Target="../media/image7.png"/><Relationship Id="rId2" Type="http://schemas.openxmlformats.org/officeDocument/2006/relationships/audio" Target="../media/media1.mp3"/><Relationship Id="rId16" Type="http://schemas.openxmlformats.org/officeDocument/2006/relationships/image" Target="../media/image6.png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11" Type="http://schemas.microsoft.com/office/2007/relationships/media" Target="../media/media6.mp3"/><Relationship Id="rId5" Type="http://schemas.microsoft.com/office/2007/relationships/media" Target="../media/media3.mp3"/><Relationship Id="rId15" Type="http://schemas.openxmlformats.org/officeDocument/2006/relationships/image" Target="../media/image5.png"/><Relationship Id="rId10" Type="http://schemas.openxmlformats.org/officeDocument/2006/relationships/audio" Target="../media/media5.mp3"/><Relationship Id="rId19" Type="http://schemas.openxmlformats.org/officeDocument/2006/relationships/image" Target="../media/image9.png"/><Relationship Id="rId4" Type="http://schemas.openxmlformats.org/officeDocument/2006/relationships/audio" Target="../media/media2.mp3"/><Relationship Id="rId9" Type="http://schemas.microsoft.com/office/2007/relationships/media" Target="../media/media5.mp3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_ko"/>
          <p:cNvSpPr txBox="1"/>
          <p:nvPr/>
        </p:nvSpPr>
        <p:spPr>
          <a:xfrm>
            <a:off x="640080" y="16916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 eaLnBrk="1">
              <a:buNone/>
            </a:pPr>
            <a:r>
              <a:rPr lang="ko-KR" altLang="en-US" sz="6600" b="1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 거예요</a:t>
            </a:r>
            <a:r>
              <a:rPr lang="en-US" sz="6600" b="1" dirty="0">
                <a:solidFill>
                  <a:srgbClr val="E8B84B"/>
                </a:solidFill>
              </a:rPr>
              <a:t>!</a:t>
            </a:r>
            <a:endParaRPr lang="en-US" sz="66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1">
              <a:buNone/>
            </a:pPr>
            <a:r>
              <a:rPr lang="en-US" sz="4400" b="1" dirty="0">
                <a:solidFill>
                  <a:srgbClr val="FFFFFF"/>
                </a:solidFill>
              </a:rPr>
              <a:t>Semana 5 · El futuro y tus planes</a:t>
            </a:r>
            <a:endParaRPr lang="en-US" sz="44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200" dirty="0">
                <a:solidFill>
                  <a:srgbClr val="E8B84B"/>
                </a:solidFill>
              </a:rPr>
              <a:t>Básico 2 (A1.2) · El futuro y tus planes</a:t>
            </a:r>
            <a:endParaRPr lang="en-US" sz="2200" dirty="0"/>
          </a:p>
          <a:p>
            <a:pPr marL="0" indent="0" eaLnBrk="1">
              <a:buNone/>
            </a:pPr>
            <a:r>
              <a:rPr lang="en-US" sz="2200" dirty="0">
                <a:solidFill>
                  <a:srgbClr val="E8B84B"/>
                </a:solidFill>
              </a:rPr>
              <a:t>Miércoles 18 de noviembre de 2026 · 21:00 (hora de Chile)</a:t>
            </a:r>
            <a:endParaRPr lang="en-US" sz="2200" dirty="0"/>
          </a:p>
          <a:p>
            <a:pPr marL="0" indent="0" eaLnBrk="1">
              <a:buNone/>
            </a:pPr>
            <a:r>
              <a:rPr lang="ko-KR" altLang="en-US" sz="22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Jay Kim · 김재희 선생님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2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 miércoles pasado fue 빼빼로데이</a:t>
            </a:r>
            <a:r>
              <a:rPr lang="en-US" sz="1500" b="1" i="1" dirty="0">
                <a:solidFill>
                  <a:srgbClr val="8A8DA0"/>
                </a:solidFill>
              </a:rPr>
              <a:t>   Last Wednesday was Pepero Day in Korea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459da47c090dda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panel"/>
          <p:cNvSpPr/>
          <p:nvPr/>
        </p:nvSpPr>
        <p:spPr>
          <a:xfrm>
            <a:off x="548640" y="1645920"/>
            <a:ext cx="6931152" cy="3108960"/>
          </a:xfrm>
          <a:prstGeom prst="roundRect">
            <a:avLst>
              <a:gd name="adj" fmla="val 8824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5" name="frase_ko"/>
          <p:cNvSpPr txBox="1"/>
          <p:nvPr/>
        </p:nvSpPr>
        <p:spPr>
          <a:xfrm>
            <a:off x="731520" y="1828800"/>
            <a:ext cx="6565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4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지난주 수요일은</a:t>
            </a:r>
            <a:endParaRPr lang="en-US" sz="5400" dirty="0"/>
          </a:p>
          <a:p>
            <a:pPr marL="0" indent="0" algn="ctr" eaLnBrk="1">
              <a:buNone/>
            </a:pPr>
            <a:r>
              <a:rPr lang="ko-KR" altLang="en-US" sz="54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빼빼로데이</a:t>
            </a: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였어요</a:t>
            </a:r>
            <a:r>
              <a:rPr lang="en-US" sz="5400" b="1" dirty="0">
                <a:solidFill>
                  <a:srgbClr val="003478"/>
                </a:solidFill>
              </a:rPr>
              <a:t>.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3657600"/>
            <a:ext cx="5742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24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 miércoles pasado (11/11) fue el día del 빼빼로</a:t>
            </a:r>
            <a:r>
              <a:rPr lang="en-US" sz="2400" dirty="0">
                <a:solidFill>
                  <a:srgbClr val="5C5F6B"/>
                </a:solidFill>
              </a:rPr>
              <a:t>.</a:t>
            </a:r>
            <a:endParaRPr lang="en-US" sz="2400" dirty="0"/>
          </a:p>
        </p:txBody>
      </p:sp>
      <p:sp>
        <p:nvSpPr>
          <p:cNvPr id="7" name="lista"/>
          <p:cNvSpPr txBox="1"/>
          <p:nvPr/>
        </p:nvSpPr>
        <p:spPr>
          <a:xfrm>
            <a:off x="548640" y="4937760"/>
            <a:ext cx="6931152" cy="1234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지난주 수요일은 빼빼로데이였어요 </a:t>
            </a:r>
            <a:r>
              <a:rPr lang="en-US" sz="1800" dirty="0">
                <a:solidFill>
                  <a:srgbClr val="14142B"/>
                </a:solidFill>
              </a:rPr>
              <a:t>· 11/11 =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지난주 수요일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</a:t>
            </a:r>
            <a:r>
              <a:rPr lang="en-US" sz="3000" b="1" dirty="0">
                <a:solidFill>
                  <a:srgbClr val="4236F6"/>
                </a:solidFill>
              </a:rPr>
              <a:t>4  </a:t>
            </a:r>
            <a:r>
              <a:rPr lang="en-US" sz="3000" b="1" dirty="0">
                <a:solidFill>
                  <a:srgbClr val="003478"/>
                </a:solidFill>
              </a:rPr>
              <a:t>Quiz 4</a:t>
            </a:r>
            <a:r>
              <a:rPr lang="en-US" sz="1500" b="1" i="1" dirty="0">
                <a:solidFill>
                  <a:srgbClr val="8A8DA0"/>
                </a:solidFill>
              </a:rPr>
              <a:t>   Quiz 4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Sobre la semana 4 · un solo mensaje: 1) … 5) · el chat va solo a Jay · 2 minutos · 쓰세요 </a:t>
            </a:r>
            <a:r>
              <a:rPr lang="en-US" sz="1800" i="1" dirty="0">
                <a:solidFill>
                  <a:srgbClr val="4236F6"/>
                </a:solidFill>
              </a:rPr>
              <a:t>· escriban en el chat, en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</a:t>
            </a:r>
            <a:r>
              <a:rPr lang="en-US" sz="1800" i="1" dirty="0">
                <a:solidFill>
                  <a:srgbClr val="4236F6"/>
                </a:solidFill>
              </a:rPr>
              <a:t>, todo en un solo mensaje. En la 5 (lee y elige la opción que coincide con el texto), solo el número.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10677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67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가다 </a:t>
            </a:r>
            <a:r>
              <a:rPr lang="en-US" sz="2400" dirty="0">
                <a:solidFill>
                  <a:srgbClr val="14142B"/>
                </a:solidFill>
              </a:rPr>
              <a:t>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학교에 </a:t>
            </a:r>
            <a:r>
              <a:rPr lang="en-US" sz="2400" dirty="0">
                <a:solidFill>
                  <a:srgbClr val="14142B"/>
                </a:solidFill>
              </a:rPr>
              <a:t>______.</a:t>
            </a:r>
            <a:endParaRPr lang="en-US" sz="2400" dirty="0"/>
          </a:p>
        </p:txBody>
      </p:sp>
      <p:sp>
        <p:nvSpPr>
          <p:cNvPr id="7" name="rev_0_caja"/>
          <p:cNvSpPr/>
          <p:nvPr/>
        </p:nvSpPr>
        <p:spPr>
          <a:xfrm>
            <a:off x="7498080" y="2002536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0_txt"/>
          <p:cNvSpPr txBox="1"/>
          <p:nvPr/>
        </p:nvSpPr>
        <p:spPr>
          <a:xfrm>
            <a:off x="7589520" y="2002536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갔어요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973629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736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32811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먹다 </a:t>
            </a:r>
            <a:r>
              <a:rPr lang="en-US" sz="2400" dirty="0">
                <a:solidFill>
                  <a:srgbClr val="14142B"/>
                </a:solidFill>
              </a:rPr>
              <a:t>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김치를 </a:t>
            </a:r>
            <a:r>
              <a:rPr lang="en-US" sz="2400" dirty="0">
                <a:solidFill>
                  <a:srgbClr val="14142B"/>
                </a:solidFill>
              </a:rPr>
              <a:t>______.</a:t>
            </a:r>
            <a:endParaRPr lang="en-US" sz="2400" dirty="0"/>
          </a:p>
        </p:txBody>
      </p:sp>
      <p:sp>
        <p:nvSpPr>
          <p:cNvPr id="12" name="rev_1_caja"/>
          <p:cNvSpPr/>
          <p:nvPr/>
        </p:nvSpPr>
        <p:spPr>
          <a:xfrm>
            <a:off x="7498080" y="2869387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1_txt"/>
          <p:cNvSpPr txBox="1"/>
          <p:nvPr/>
        </p:nvSpPr>
        <p:spPr>
          <a:xfrm>
            <a:off x="7589520" y="2869387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먹었어요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699662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작년에는 대학생</a:t>
            </a:r>
            <a:r>
              <a:rPr lang="en-US" sz="2300" dirty="0">
                <a:solidFill>
                  <a:srgbClr val="14142B"/>
                </a:solidFill>
              </a:rPr>
              <a:t>______. </a:t>
            </a: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회사원이에요</a:t>
            </a:r>
            <a:r>
              <a:rPr lang="en-US" sz="2300" dirty="0">
                <a:solidFill>
                  <a:srgbClr val="14142B"/>
                </a:solidFill>
              </a:rPr>
              <a:t>.</a:t>
            </a:r>
            <a:endParaRPr lang="en-US" sz="2300" dirty="0"/>
          </a:p>
        </p:txBody>
      </p:sp>
      <p:sp>
        <p:nvSpPr>
          <p:cNvPr id="17" name="rev_2_caja"/>
          <p:cNvSpPr/>
          <p:nvPr/>
        </p:nvSpPr>
        <p:spPr>
          <a:xfrm>
            <a:off x="7498080" y="3736238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2_txt"/>
          <p:cNvSpPr txBox="1"/>
          <p:nvPr/>
        </p:nvSpPr>
        <p:spPr>
          <a:xfrm>
            <a:off x="7589520" y="3736238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이었어요</a:t>
            </a:r>
            <a:endParaRPr lang="en-US" sz="2200" dirty="0"/>
          </a:p>
        </p:txBody>
      </p:sp>
      <p:sp>
        <p:nvSpPr>
          <p:cNvPr id="19" name="num_3"/>
          <p:cNvSpPr/>
          <p:nvPr/>
        </p:nvSpPr>
        <p:spPr>
          <a:xfrm>
            <a:off x="548640" y="4707331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70733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566514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아홉 시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 시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일했어요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22" name="rev_3_caja"/>
          <p:cNvSpPr/>
          <p:nvPr/>
        </p:nvSpPr>
        <p:spPr>
          <a:xfrm>
            <a:off x="7498080" y="4603090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3_txt"/>
          <p:cNvSpPr txBox="1"/>
          <p:nvPr/>
        </p:nvSpPr>
        <p:spPr>
          <a:xfrm>
            <a:off x="7589520" y="4603090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 </a:t>
            </a:r>
            <a:r>
              <a:rPr lang="en-US" sz="2200" b="1" dirty="0">
                <a:solidFill>
                  <a:srgbClr val="FFFFFF"/>
                </a:solidFill>
              </a:rPr>
              <a:t>·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</a:t>
            </a:r>
            <a:endParaRPr lang="en-US" sz="2200" dirty="0"/>
          </a:p>
        </p:txBody>
      </p:sp>
      <p:sp>
        <p:nvSpPr>
          <p:cNvPr id="24" name="num_4"/>
          <p:cNvSpPr/>
          <p:nvPr/>
        </p:nvSpPr>
        <p:spPr>
          <a:xfrm>
            <a:off x="548640" y="557418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5741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5433365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다음을 읽고 내용과 같은 것을 고르십시오</a:t>
            </a:r>
            <a:r>
              <a:rPr lang="en-US" sz="1200" dirty="0">
                <a:solidFill>
                  <a:srgbClr val="14142B"/>
                </a:solidFill>
              </a:rPr>
              <a:t>. 「</a:t>
            </a:r>
            <a:r>
              <a:rPr lang="ko-KR" altLang="en-US" sz="1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토요일에 친구하고 공원에 갔어요</a:t>
            </a:r>
            <a:r>
              <a:rPr lang="en-US" sz="1200" dirty="0">
                <a:solidFill>
                  <a:srgbClr val="14142B"/>
                </a:solidFill>
              </a:rPr>
              <a:t>. </a:t>
            </a:r>
            <a:r>
              <a:rPr lang="ko-KR" altLang="en-US" sz="1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공원에서 같이 운동했어요</a:t>
            </a:r>
            <a:r>
              <a:rPr lang="en-US" sz="1200" dirty="0">
                <a:solidFill>
                  <a:srgbClr val="14142B"/>
                </a:solidFill>
              </a:rPr>
              <a:t>. </a:t>
            </a:r>
            <a:r>
              <a:rPr lang="ko-KR" altLang="en-US" sz="1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카페에서 커피를 마셨어요</a:t>
            </a:r>
            <a:r>
              <a:rPr lang="en-US" sz="1200" dirty="0">
                <a:solidFill>
                  <a:srgbClr val="14142B"/>
                </a:solidFill>
              </a:rPr>
              <a:t>. </a:t>
            </a:r>
            <a:r>
              <a:rPr lang="ko-KR" altLang="en-US" sz="1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일요일에는 집에서 쉬었어요</a:t>
            </a:r>
            <a:r>
              <a:rPr lang="en-US" sz="1200" dirty="0">
                <a:solidFill>
                  <a:srgbClr val="14142B"/>
                </a:solidFill>
              </a:rPr>
              <a:t>.」 ① </a:t>
            </a:r>
            <a:r>
              <a:rPr lang="ko-KR" altLang="en-US" sz="1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토요일에 혼자 공원에 갔어요</a:t>
            </a:r>
            <a:r>
              <a:rPr lang="en-US" sz="1200" dirty="0">
                <a:solidFill>
                  <a:srgbClr val="14142B"/>
                </a:solidFill>
              </a:rPr>
              <a:t>. ② </a:t>
            </a:r>
            <a:r>
              <a:rPr lang="ko-KR" altLang="en-US" sz="1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공원에서 커피를 마셨어요</a:t>
            </a:r>
            <a:r>
              <a:rPr lang="en-US" sz="1200" dirty="0">
                <a:solidFill>
                  <a:srgbClr val="14142B"/>
                </a:solidFill>
              </a:rPr>
              <a:t>. ③ </a:t>
            </a:r>
            <a:r>
              <a:rPr lang="ko-KR" altLang="en-US" sz="1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친구하고 운동했어요</a:t>
            </a:r>
            <a:r>
              <a:rPr lang="en-US" sz="1200" dirty="0">
                <a:solidFill>
                  <a:srgbClr val="14142B"/>
                </a:solidFill>
              </a:rPr>
              <a:t>. ④ </a:t>
            </a:r>
            <a:r>
              <a:rPr lang="ko-KR" altLang="en-US" sz="1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일요일에 카페에 갔어요</a:t>
            </a:r>
            <a:r>
              <a:rPr lang="en-US" sz="1200" dirty="0">
                <a:solidFill>
                  <a:srgbClr val="14142B"/>
                </a:solidFill>
              </a:rPr>
              <a:t>.</a:t>
            </a:r>
            <a:endParaRPr lang="en-US" sz="1200" dirty="0"/>
          </a:p>
        </p:txBody>
      </p:sp>
      <p:sp>
        <p:nvSpPr>
          <p:cNvPr id="27" name="rev_4_caja"/>
          <p:cNvSpPr/>
          <p:nvPr/>
        </p:nvSpPr>
        <p:spPr>
          <a:xfrm>
            <a:off x="7498080" y="5469941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4_txt"/>
          <p:cNvSpPr txBox="1"/>
          <p:nvPr/>
        </p:nvSpPr>
        <p:spPr>
          <a:xfrm>
            <a:off x="7589520" y="5469941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친구하고 운동했어요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Hoja 4 · lo que vi</a:t>
            </a:r>
            <a:r>
              <a:rPr lang="en-US" sz="1500" b="1" i="1" dirty="0">
                <a:solidFill>
                  <a:srgbClr val="8A8DA0"/>
                </a:solidFill>
              </a:rPr>
              <a:t>   Worksheet 4 · what I saw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La frase buena, en grande; la de la hoja, tachada en gris y pequeña</a:t>
            </a:r>
            <a:endParaRPr lang="en-US" sz="1800" dirty="0"/>
          </a:p>
        </p:txBody>
      </p:sp>
      <p:graphicFrame>
        <p:nvGraphicFramePr>
          <p:cNvPr id="5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993733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En la hoja (tachado, en gris)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Así se escribe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strike="sngStrike" dirty="0">
                          <a:solidFill>
                            <a:srgbClr val="8A8D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먹았어요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먹었어요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strike="sngStrike" dirty="0">
                          <a:solidFill>
                            <a:srgbClr val="8A8D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듣었어요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들었어요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strike="sngStrike" dirty="0">
                          <a:solidFill>
                            <a:srgbClr val="8A8D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서울부터 부산까지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서울에서 부산까지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strike="sngStrike" dirty="0">
                          <a:solidFill>
                            <a:srgbClr val="8A8D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대학생였어요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대학생이었어요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Hoy vas a poder decir</a:t>
            </a:r>
            <a:r>
              <a:rPr lang="en-US" sz="1500" b="1" i="1" dirty="0">
                <a:solidFill>
                  <a:srgbClr val="8A8DA0"/>
                </a:solidFill>
              </a:rPr>
              <a:t>   Today you'll be able to say</a:t>
            </a:r>
            <a:endParaRPr lang="en-US" sz="3000" dirty="0"/>
          </a:p>
        </p:txBody>
      </p:sp>
      <p:graphicFrame>
        <p:nvGraphicFramePr>
          <p:cNvPr id="6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402824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Coreano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Español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주말에 뭐 할 거예요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 —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친구를 만날 거예요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¿Qué vas a hacer este fin de semana? — Voy a juntarme con un amigo.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내년에 한국에 갈 거예요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비행기로 갈 거예요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El próximo año voy a ir a Corea. Voy a ir en avión.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토요일에 영화를 보거나 집에서 쉴 거예요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El sábado voy a ver una película o a descansar en casa.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바다를 보고 사진을 찍을 거예요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Voy a ver el mar y sacar fotos.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주에 같이 영화 봐요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! —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좋아요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!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¡La próxima semana veamos una película juntos! — ¡Dale!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 계획  </a:t>
            </a:r>
            <a:r>
              <a:rPr lang="en-US" sz="3000" b="1" dirty="0">
                <a:solidFill>
                  <a:srgbClr val="003478"/>
                </a:solidFill>
              </a:rPr>
              <a:t>Mi plan</a:t>
            </a:r>
            <a:r>
              <a:rPr lang="en-US" sz="1500" b="1" i="1" dirty="0">
                <a:solidFill>
                  <a:srgbClr val="8A8DA0"/>
                </a:solidFill>
              </a:rPr>
              <a:t>   My plan</a:t>
            </a:r>
            <a:endParaRPr lang="en-US" sz="3000" dirty="0"/>
          </a:p>
        </p:txBody>
      </p:sp>
      <p:sp>
        <p:nvSpPr>
          <p:cNvPr id="3" name="lista"/>
          <p:cNvSpPr txBox="1"/>
          <p:nvPr/>
        </p:nvSpPr>
        <p:spPr>
          <a:xfrm>
            <a:off x="548640" y="1325880"/>
            <a:ext cx="5669280" cy="484632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내년 일월에 한국에 갈 거예요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비행기로 갈 거예요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서울에서 가족을 만날 거예요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기차로 부산에 갈 거예요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부산에서 바다를 보고 사진을 찍을 거예요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저녁에는 한국 음식을 먹거나 호텔에서 쉴 거예요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4" name="panel"/>
          <p:cNvSpPr/>
          <p:nvPr/>
        </p:nvSpPr>
        <p:spPr>
          <a:xfrm>
            <a:off x="6446520" y="1371600"/>
            <a:ext cx="5193792" cy="4800600"/>
          </a:xfrm>
          <a:prstGeom prst="roundRect">
            <a:avLst>
              <a:gd name="adj" fmla="val 4762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5" name="imagen" descr="C:\Users\Chingu\AppData\Local\Temp\claude\C--Users-Chingu-Desktop-ACADEMIASEULWEB\d4111e1b-5523-44ea-97b2-b1a1d9545b9e\scratchpad\decks\cache\img_74e0b5c8077b47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33" y="1463040"/>
            <a:ext cx="4005165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-(으</a:t>
            </a:r>
            <a:r>
              <a:rPr lang="en-US" sz="3000" b="1" dirty="0">
                <a:solidFill>
                  <a:srgbClr val="003478"/>
                </a:solidFill>
              </a:rPr>
              <a:t>)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 거예요 </a:t>
            </a:r>
            <a:r>
              <a:rPr lang="en-US" sz="3000" b="1" dirty="0">
                <a:solidFill>
                  <a:srgbClr val="003478"/>
                </a:solidFill>
              </a:rPr>
              <a:t>· voy a…</a:t>
            </a:r>
            <a:r>
              <a:rPr lang="ko-KR" altLang="en-US" sz="1500" b="1" i="1" dirty="0">
                <a:solidFill>
                  <a:srgbClr val="8A8DA0"/>
                </a:solidFill>
              </a:rPr>
              <a:t>   -(으)ㄹ 거예요 · going to…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Como en E-spaña: después de consonante, la vocal de apoyo 으</a:t>
            </a:r>
            <a:endParaRPr lang="en-US" sz="1800" dirty="0"/>
          </a:p>
        </p:txBody>
      </p:sp>
      <p:graphicFrame>
        <p:nvGraphicFramePr>
          <p:cNvPr id="8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706872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La raíz termina en…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Se agrega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Ejemplos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vocal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-ㄹ 거예요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가다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갈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보다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볼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쉬다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쉴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하다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consonante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-을 거예요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먹다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먹을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찍다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찍을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ㄹ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nada: la ㄹ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ya está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살다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살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놀다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놀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ㄷ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(como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들어요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ㄷ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ㄹ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+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을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듣다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들을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Se escribe · se dice</a:t>
            </a:r>
            <a:r>
              <a:rPr lang="en-US" sz="1500" b="1" i="1" dirty="0">
                <a:solidFill>
                  <a:srgbClr val="8A8DA0"/>
                </a:solidFill>
              </a:rPr>
              <a:t>   How it's written · how it sounds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 escribe 거</a:t>
            </a:r>
            <a:r>
              <a:rPr lang="en-US" sz="1800" i="1" dirty="0">
                <a:solidFill>
                  <a:srgbClr val="4236F6"/>
                </a:solidFill>
              </a:rPr>
              <a:t>, suena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꺼 </a:t>
            </a:r>
            <a:r>
              <a:rPr lang="en-US" sz="1800" i="1" dirty="0">
                <a:solidFill>
                  <a:srgbClr val="4236F6"/>
                </a:solidFill>
              </a:rPr>
              <a:t>· se escribe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r>
              <a:rPr lang="en-US" sz="1800" i="1" dirty="0">
                <a:solidFill>
                  <a:srgbClr val="4236F6"/>
                </a:solidFill>
              </a:rPr>
              <a:t>, suena [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</a:t>
            </a:r>
            <a:r>
              <a:rPr lang="en-US" sz="1800" i="1" dirty="0">
                <a:solidFill>
                  <a:srgbClr val="4236F6"/>
                </a:solidFill>
              </a:rPr>
              <a:t>]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Se escribe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4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 거예요</a:t>
            </a:r>
            <a:endParaRPr lang="en-US" sz="49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separado: 갈 </a:t>
            </a:r>
            <a:r>
              <a:rPr lang="en-US" sz="1800" dirty="0">
                <a:solidFill>
                  <a:srgbClr val="14142B"/>
                </a:solidFill>
              </a:rPr>
              <a:t>·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거예요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 예</a:t>
            </a:r>
            <a:r>
              <a:rPr lang="en-US" sz="1800" dirty="0">
                <a:solidFill>
                  <a:srgbClr val="14142B"/>
                </a:solidFill>
              </a:rPr>
              <a:t>: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거예요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먹을 거예요 </a:t>
            </a:r>
            <a:r>
              <a:rPr lang="en-US" sz="1800" dirty="0">
                <a:solidFill>
                  <a:srgbClr val="14142B"/>
                </a:solidFill>
              </a:rPr>
              <a:t>·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거예요 </a:t>
            </a:r>
            <a:r>
              <a:rPr lang="en-US" sz="1800" dirty="0">
                <a:solidFill>
                  <a:srgbClr val="14142B"/>
                </a:solidFill>
              </a:rPr>
              <a:t>·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들을 거예요 </a:t>
            </a:r>
            <a:r>
              <a:rPr lang="en-US" sz="1800" dirty="0">
                <a:solidFill>
                  <a:srgbClr val="14142B"/>
                </a:solidFill>
              </a:rPr>
              <a:t>·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 거예요</a:t>
            </a:r>
            <a:endParaRPr lang="en-US" sz="1800" dirty="0"/>
          </a:p>
        </p:txBody>
      </p:sp>
      <p:sp>
        <p:nvSpPr>
          <p:cNvPr id="8" name="col_1"/>
          <p:cNvSpPr/>
          <p:nvPr/>
        </p:nvSpPr>
        <p:spPr>
          <a:xfrm>
            <a:off x="4352544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Suena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4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[갈꺼에요</a:t>
            </a:r>
            <a:r>
              <a:rPr lang="en-US" sz="4100" b="1" dirty="0">
                <a:solidFill>
                  <a:srgbClr val="4236F6"/>
                </a:solidFill>
              </a:rPr>
              <a:t>]</a:t>
            </a:r>
            <a:endParaRPr lang="en-US" sz="4100" dirty="0"/>
          </a:p>
        </p:txBody>
      </p:sp>
      <p:sp>
        <p:nvSpPr>
          <p:cNvPr id="11" name="lista"/>
          <p:cNvSpPr txBox="1"/>
          <p:nvPr/>
        </p:nvSpPr>
        <p:spPr>
          <a:xfrm>
            <a:off x="4535424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먹을 거예요 </a:t>
            </a:r>
            <a:r>
              <a:rPr lang="en-US" sz="1800" dirty="0">
                <a:solidFill>
                  <a:srgbClr val="14142B"/>
                </a:solidFill>
              </a:rPr>
              <a:t>[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머글꺼에요</a:t>
            </a:r>
            <a:r>
              <a:rPr lang="en-US" sz="1800" dirty="0">
                <a:solidFill>
                  <a:srgbClr val="14142B"/>
                </a:solidFill>
              </a:rPr>
              <a:t>]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거예요 </a:t>
            </a:r>
            <a:r>
              <a:rPr lang="en-US" sz="1800" dirty="0">
                <a:solidFill>
                  <a:srgbClr val="14142B"/>
                </a:solidFill>
              </a:rPr>
              <a:t>[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할꺼에요</a:t>
            </a:r>
            <a:r>
              <a:rPr lang="en-US" sz="1800" dirty="0">
                <a:solidFill>
                  <a:srgbClr val="14142B"/>
                </a:solidFill>
              </a:rPr>
              <a:t>]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들을 거예요 </a:t>
            </a:r>
            <a:r>
              <a:rPr lang="en-US" sz="1800" dirty="0">
                <a:solidFill>
                  <a:srgbClr val="14142B"/>
                </a:solidFill>
              </a:rPr>
              <a:t>[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드를꺼에요</a:t>
            </a:r>
            <a:r>
              <a:rPr lang="en-US" sz="1800" dirty="0">
                <a:solidFill>
                  <a:srgbClr val="14142B"/>
                </a:solidFill>
              </a:rPr>
              <a:t>]</a:t>
            </a:r>
            <a:endParaRPr lang="en-US" sz="1800" dirty="0"/>
          </a:p>
        </p:txBody>
      </p:sp>
      <p:sp>
        <p:nvSpPr>
          <p:cNvPr id="12" name="col_2"/>
          <p:cNvSpPr/>
          <p:nvPr/>
        </p:nvSpPr>
        <p:spPr>
          <a:xfrm>
            <a:off x="8156448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Así no (tachado, en gris)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300" b="1" strike="sngStrike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갈거예요</a:t>
            </a:r>
            <a:endParaRPr lang="en-US" sz="5300" dirty="0"/>
          </a:p>
        </p:txBody>
      </p:sp>
      <p:sp>
        <p:nvSpPr>
          <p:cNvPr id="15" name="lista"/>
          <p:cNvSpPr txBox="1"/>
          <p:nvPr/>
        </p:nvSpPr>
        <p:spPr>
          <a:xfrm>
            <a:off x="8339328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strike="sngStrike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 거에요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</a:t>
            </a:r>
            <a:r>
              <a:rPr lang="en-US" sz="3000" b="1" dirty="0">
                <a:solidFill>
                  <a:srgbClr val="4236F6"/>
                </a:solidFill>
              </a:rPr>
              <a:t>?  </a:t>
            </a:r>
            <a:r>
              <a:rPr lang="en-US" sz="3000" b="1" dirty="0">
                <a:solidFill>
                  <a:srgbClr val="003478"/>
                </a:solidFill>
              </a:rPr>
              <a:t>¿Cuándo?</a:t>
            </a:r>
            <a:r>
              <a:rPr lang="en-US" sz="1500" b="1" i="1" dirty="0">
                <a:solidFill>
                  <a:srgbClr val="8A8DA0"/>
                </a:solidFill>
              </a:rPr>
              <a:t>   When?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 에</a:t>
            </a:r>
            <a:r>
              <a:rPr lang="en-US" sz="1800" i="1" dirty="0">
                <a:solidFill>
                  <a:srgbClr val="4236F6"/>
                </a:solidFill>
              </a:rPr>
              <a:t>: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</a:t>
            </a:r>
            <a:r>
              <a:rPr lang="en-US" sz="1800" i="1" dirty="0">
                <a:solidFill>
                  <a:srgbClr val="4236F6"/>
                </a:solidFill>
              </a:rPr>
              <a:t>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</a:t>
            </a:r>
            <a:r>
              <a:rPr lang="en-US" sz="1800" i="1" dirty="0">
                <a:solidFill>
                  <a:srgbClr val="4236F6"/>
                </a:solidFill>
              </a:rPr>
              <a:t>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</a:t>
            </a:r>
            <a:r>
              <a:rPr lang="en-US" sz="1800" i="1" dirty="0">
                <a:solidFill>
                  <a:srgbClr val="4236F6"/>
                </a:solidFill>
              </a:rPr>
              <a:t>—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지난주 </a:t>
            </a:r>
            <a:r>
              <a:rPr lang="en-US" sz="1800" i="1" dirty="0">
                <a:solidFill>
                  <a:srgbClr val="4236F6"/>
                </a:solidFill>
              </a:rPr>
              <a:t>(junto) 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 </a:t>
            </a:r>
            <a:r>
              <a:rPr lang="en-US" sz="1800" i="1" dirty="0">
                <a:solidFill>
                  <a:srgbClr val="4236F6"/>
                </a:solidFill>
              </a:rPr>
              <a:t>(separado) —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부산에 가요 </a:t>
            </a:r>
            <a:r>
              <a:rPr lang="en-US" sz="1800" i="1" dirty="0">
                <a:solidFill>
                  <a:srgbClr val="4236F6"/>
                </a:solidFill>
              </a:rPr>
              <a:t>también es futuro</a:t>
            </a:r>
            <a:endParaRPr lang="en-US" sz="1800" dirty="0"/>
          </a:p>
        </p:txBody>
      </p:sp>
      <p:graphicFrame>
        <p:nvGraphicFramePr>
          <p:cNvPr id="10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862295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Pasado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Ahora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Futuro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어제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지난주에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주말에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주에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작년에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내년에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주말에 뭐 할 거예요</a:t>
            </a:r>
            <a:r>
              <a:rPr lang="en-US" sz="2200" b="1" dirty="0">
                <a:solidFill>
                  <a:srgbClr val="4236F6"/>
                </a:solidFill>
              </a:rPr>
              <a:t>?  </a:t>
            </a:r>
            <a:r>
              <a:rPr lang="en-US" sz="2200" b="1" dirty="0">
                <a:solidFill>
                  <a:srgbClr val="003478"/>
                </a:solidFill>
              </a:rPr>
              <a:t>¿Qué vas a hacer este fin de semana?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말하세요 </a:t>
            </a:r>
            <a:r>
              <a:rPr lang="en-US" sz="1800" i="1" dirty="0">
                <a:solidFill>
                  <a:srgbClr val="4236F6"/>
                </a:solidFill>
              </a:rPr>
              <a:t>· digan (5 voces) —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쓰세요 </a:t>
            </a:r>
            <a:r>
              <a:rPr lang="en-US" sz="1800" i="1" dirty="0">
                <a:solidFill>
                  <a:srgbClr val="4236F6"/>
                </a:solidFill>
              </a:rPr>
              <a:t>· escriban: los demás, en el chat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dibujo_0" descr="C:\Users\Chingu\AppData\Local\Temp\claude\C--Users-Chingu-Desktop-ACADEMIASEULWEB\d4111e1b-5523-44ea-97b2-b1a1d9545b9e\scratchpad\decks\cache\ec89aceb8ba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61084" y="1984248"/>
            <a:ext cx="976579" cy="97657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97911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쉬다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338602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descansar</a:t>
            </a:r>
            <a:endParaRPr lang="en-US" sz="1600" dirty="0"/>
          </a:p>
        </p:txBody>
      </p:sp>
      <p:pic>
        <p:nvPicPr>
          <p:cNvPr id="8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2747772" y="1947672"/>
            <a:ext cx="310896" cy="310896"/>
          </a:xfrm>
          <a:prstGeom prst="rect">
            <a:avLst/>
          </a:prstGeom>
        </p:spPr>
      </p:pic>
      <p:sp>
        <p:nvSpPr>
          <p:cNvPr id="9" name="card_1"/>
          <p:cNvSpPr/>
          <p:nvPr/>
        </p:nvSpPr>
        <p:spPr>
          <a:xfrm>
            <a:off x="3378708" y="187452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3378708" y="2228393"/>
            <a:ext cx="2601468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친구를 만나다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451860" y="2920136"/>
            <a:ext cx="2455164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juntarse con un amigo</a:t>
            </a:r>
            <a:endParaRPr lang="en-US" sz="1600" dirty="0"/>
          </a:p>
        </p:txBody>
      </p:sp>
      <p:sp>
        <p:nvSpPr>
          <p:cNvPr id="12" name="card_2"/>
          <p:cNvSpPr/>
          <p:nvPr/>
        </p:nvSpPr>
        <p:spPr>
          <a:xfrm>
            <a:off x="6208776" y="187452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208776" y="2228393"/>
            <a:ext cx="2601468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영화를 보다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6281928" y="2920136"/>
            <a:ext cx="2455164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ver una película</a:t>
            </a:r>
            <a:endParaRPr lang="en-US" sz="1600" dirty="0"/>
          </a:p>
        </p:txBody>
      </p:sp>
      <p:pic>
        <p:nvPicPr>
          <p:cNvPr id="20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8407908" y="1947672"/>
            <a:ext cx="310896" cy="310896"/>
          </a:xfrm>
          <a:prstGeom prst="rect">
            <a:avLst/>
          </a:prstGeom>
        </p:spPr>
      </p:pic>
      <p:sp>
        <p:nvSpPr>
          <p:cNvPr id="16" name="card_3"/>
          <p:cNvSpPr/>
          <p:nvPr/>
        </p:nvSpPr>
        <p:spPr>
          <a:xfrm>
            <a:off x="9038844" y="187452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7" name="dibujo_3" descr="C:\Users\Chingu\AppData\Local\Temp\claude\C--Users-Chingu-Desktop-ACADEMIASEULWEB\d4111e1b-5523-44ea-97b2-b1a1d9545b9e\scratchpad\decks\cache\ec9ab4eb8f99ed9598eb8ba4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51288" y="1984248"/>
            <a:ext cx="976579" cy="97657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38844" y="297911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운동하다</a:t>
            </a:r>
            <a:endParaRPr lang="en-US" sz="2100" dirty="0"/>
          </a:p>
        </p:txBody>
      </p:sp>
      <p:sp>
        <p:nvSpPr>
          <p:cNvPr id="19" name="Text 13"/>
          <p:cNvSpPr txBox="1"/>
          <p:nvPr/>
        </p:nvSpPr>
        <p:spPr>
          <a:xfrm>
            <a:off x="9111996" y="338602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hacer ejercicio</a:t>
            </a:r>
            <a:endParaRPr lang="en-US" sz="1600" dirty="0"/>
          </a:p>
        </p:txBody>
      </p:sp>
      <p:pic>
        <p:nvPicPr>
          <p:cNvPr id="33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21" name="card_4"/>
          <p:cNvSpPr/>
          <p:nvPr/>
        </p:nvSpPr>
        <p:spPr>
          <a:xfrm>
            <a:off x="548640" y="413766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2" name="dibujo_4" descr="C:\Users\Chingu\AppData\Local\Temp\claude\C--Users-Chingu-Desktop-ACADEMIASEULWEB\d4111e1b-5523-44ea-97b2-b1a1d9545b9e\scratchpad\decks\cache\ec9a94eba6aced9598eb8ba4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61084" y="4247388"/>
            <a:ext cx="976579" cy="976579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48640" y="524225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요리하다</a:t>
            </a:r>
            <a:endParaRPr lang="en-US" sz="2100" dirty="0"/>
          </a:p>
        </p:txBody>
      </p:sp>
      <p:sp>
        <p:nvSpPr>
          <p:cNvPr id="24" name="Text 16"/>
          <p:cNvSpPr txBox="1"/>
          <p:nvPr/>
        </p:nvSpPr>
        <p:spPr>
          <a:xfrm>
            <a:off x="621792" y="564916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cocinar</a:t>
            </a:r>
            <a:endParaRPr lang="en-US" sz="1600" dirty="0"/>
          </a:p>
        </p:txBody>
      </p:sp>
      <p:pic>
        <p:nvPicPr>
          <p:cNvPr id="15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2747772" y="4210812"/>
            <a:ext cx="310896" cy="310896"/>
          </a:xfrm>
          <a:prstGeom prst="rect">
            <a:avLst/>
          </a:prstGeom>
        </p:spPr>
      </p:pic>
      <p:sp>
        <p:nvSpPr>
          <p:cNvPr id="26" name="card_5"/>
          <p:cNvSpPr/>
          <p:nvPr/>
        </p:nvSpPr>
        <p:spPr>
          <a:xfrm>
            <a:off x="3378708" y="413766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27" name="Text 18"/>
          <p:cNvSpPr txBox="1"/>
          <p:nvPr/>
        </p:nvSpPr>
        <p:spPr>
          <a:xfrm>
            <a:off x="3378708" y="4491533"/>
            <a:ext cx="2601468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한국어를 공부하다</a:t>
            </a:r>
            <a:endParaRPr lang="en-US" sz="2000" dirty="0"/>
          </a:p>
        </p:txBody>
      </p:sp>
      <p:sp>
        <p:nvSpPr>
          <p:cNvPr id="28" name="Text 19"/>
          <p:cNvSpPr txBox="1"/>
          <p:nvPr/>
        </p:nvSpPr>
        <p:spPr>
          <a:xfrm>
            <a:off x="3451860" y="5183276"/>
            <a:ext cx="2455164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estudiar coreano</a:t>
            </a:r>
            <a:endParaRPr lang="en-US" sz="1600" dirty="0"/>
          </a:p>
        </p:txBody>
      </p:sp>
      <p:sp>
        <p:nvSpPr>
          <p:cNvPr id="29" name="card_6"/>
          <p:cNvSpPr/>
          <p:nvPr/>
        </p:nvSpPr>
        <p:spPr>
          <a:xfrm>
            <a:off x="6208776" y="413766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0" name="dibujo_6" descr="C:\Users\Chingu\AppData\Local\Temp\claude\C--Users-Chingu-Desktop-ACADEMIASEULWEB\d4111e1b-5523-44ea-97b2-b1a1d9545b9e\scratchpad\decks\cache\ec9dbced9598eb8ba4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21220" y="4247388"/>
            <a:ext cx="976579" cy="976579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6208776" y="5242255"/>
            <a:ext cx="260146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일하다</a:t>
            </a:r>
            <a:endParaRPr lang="en-US" sz="2100" dirty="0"/>
          </a:p>
        </p:txBody>
      </p:sp>
      <p:sp>
        <p:nvSpPr>
          <p:cNvPr id="32" name="Text 22"/>
          <p:cNvSpPr txBox="1"/>
          <p:nvPr/>
        </p:nvSpPr>
        <p:spPr>
          <a:xfrm>
            <a:off x="6281928" y="5649163"/>
            <a:ext cx="2455164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trabajar</a:t>
            </a:r>
            <a:endParaRPr lang="en-US" sz="1600" dirty="0"/>
          </a:p>
        </p:txBody>
      </p:sp>
      <p:pic>
        <p:nvPicPr>
          <p:cNvPr id="37" name="Media 4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8407908" y="4210812"/>
            <a:ext cx="310896" cy="310896"/>
          </a:xfrm>
          <a:prstGeom prst="rect">
            <a:avLst/>
          </a:prstGeom>
        </p:spPr>
      </p:pic>
      <p:sp>
        <p:nvSpPr>
          <p:cNvPr id="34" name="card_7"/>
          <p:cNvSpPr/>
          <p:nvPr/>
        </p:nvSpPr>
        <p:spPr>
          <a:xfrm>
            <a:off x="9038844" y="4137660"/>
            <a:ext cx="2601468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35" name="Text 24"/>
          <p:cNvSpPr txBox="1"/>
          <p:nvPr/>
        </p:nvSpPr>
        <p:spPr>
          <a:xfrm>
            <a:off x="9038844" y="4491533"/>
            <a:ext cx="2601468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놀다</a:t>
            </a:r>
            <a:endParaRPr lang="en-US" sz="2100" dirty="0"/>
          </a:p>
        </p:txBody>
      </p:sp>
      <p:sp>
        <p:nvSpPr>
          <p:cNvPr id="36" name="Text 25"/>
          <p:cNvSpPr txBox="1"/>
          <p:nvPr/>
        </p:nvSpPr>
        <p:spPr>
          <a:xfrm>
            <a:off x="9111996" y="5183276"/>
            <a:ext cx="2455164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salir a divertirse, jugar</a:t>
            </a:r>
            <a:endParaRPr lang="en-US" sz="1600" dirty="0"/>
          </a:p>
        </p:txBody>
      </p:sp>
      <p:pic>
        <p:nvPicPr>
          <p:cNvPr id="38" name="Media 5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1237976" y="4210812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뭐로 가요</a:t>
            </a:r>
            <a:r>
              <a:rPr lang="en-US" sz="3000" b="1" dirty="0">
                <a:solidFill>
                  <a:srgbClr val="4236F6"/>
                </a:solidFill>
              </a:rPr>
              <a:t>?  </a:t>
            </a:r>
            <a:r>
              <a:rPr lang="en-US" sz="3000" b="1" dirty="0">
                <a:solidFill>
                  <a:srgbClr val="003478"/>
                </a:solidFill>
              </a:rPr>
              <a:t>¿En qué vas?</a:t>
            </a:r>
            <a:r>
              <a:rPr lang="en-US" sz="1500" b="1" i="1" dirty="0">
                <a:solidFill>
                  <a:srgbClr val="8A8DA0"/>
                </a:solidFill>
              </a:rPr>
              <a:t>   How do you get there?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Vocal o ㄹ </a:t>
            </a:r>
            <a:r>
              <a:rPr lang="en-US" sz="1800" i="1" dirty="0">
                <a:solidFill>
                  <a:srgbClr val="4236F6"/>
                </a:solidFill>
              </a:rPr>
              <a:t>→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</a:t>
            </a:r>
            <a:r>
              <a:rPr lang="en-US" sz="1800" i="1" dirty="0">
                <a:solidFill>
                  <a:srgbClr val="4236F6"/>
                </a:solidFill>
              </a:rPr>
              <a:t>· otra consonante →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</a:t>
            </a:r>
            <a:r>
              <a:rPr lang="en-US" sz="1800" i="1" dirty="0">
                <a:solidFill>
                  <a:srgbClr val="4236F6"/>
                </a:solidFill>
              </a:rPr>
              <a:t>(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손으로</a:t>
            </a:r>
            <a:r>
              <a:rPr lang="en-US" sz="1800" i="1" dirty="0">
                <a:solidFill>
                  <a:srgbClr val="4236F6"/>
                </a:solidFill>
              </a:rPr>
              <a:t>) 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 </a:t>
            </a:r>
            <a:r>
              <a:rPr lang="en-US" sz="1800" i="1" dirty="0">
                <a:solidFill>
                  <a:srgbClr val="4236F6"/>
                </a:solidFill>
              </a:rPr>
              <a:t>= auto y también té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228393"/>
            <a:ext cx="3544824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3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비행기로</a:t>
            </a:r>
            <a:endParaRPr lang="en-US" sz="43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920136"/>
            <a:ext cx="3398520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en avión</a:t>
            </a:r>
            <a:endParaRPr lang="en-US" sz="1600" dirty="0"/>
          </a:p>
        </p:txBody>
      </p:sp>
      <p:sp>
        <p:nvSpPr>
          <p:cNvPr id="7" name="card_1"/>
          <p:cNvSpPr/>
          <p:nvPr/>
        </p:nvSpPr>
        <p:spPr>
          <a:xfrm>
            <a:off x="4322064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22064" y="2228393"/>
            <a:ext cx="3544824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3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기차로</a:t>
            </a:r>
            <a:endParaRPr lang="en-US" sz="4300" dirty="0"/>
          </a:p>
        </p:txBody>
      </p:sp>
      <p:sp>
        <p:nvSpPr>
          <p:cNvPr id="9" name="Text 7"/>
          <p:cNvSpPr txBox="1"/>
          <p:nvPr/>
        </p:nvSpPr>
        <p:spPr>
          <a:xfrm>
            <a:off x="4395216" y="2920136"/>
            <a:ext cx="3398520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en tren</a:t>
            </a:r>
            <a:endParaRPr lang="en-US" sz="1600" dirty="0"/>
          </a:p>
        </p:txBody>
      </p:sp>
      <p:sp>
        <p:nvSpPr>
          <p:cNvPr id="10" name="card_2"/>
          <p:cNvSpPr/>
          <p:nvPr/>
        </p:nvSpPr>
        <p:spPr>
          <a:xfrm>
            <a:off x="8095488" y="187452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95488" y="2228393"/>
            <a:ext cx="3544824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3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버스로</a:t>
            </a:r>
            <a:endParaRPr lang="en-US" sz="4300" dirty="0"/>
          </a:p>
        </p:txBody>
      </p:sp>
      <p:sp>
        <p:nvSpPr>
          <p:cNvPr id="12" name="Text 10"/>
          <p:cNvSpPr txBox="1"/>
          <p:nvPr/>
        </p:nvSpPr>
        <p:spPr>
          <a:xfrm>
            <a:off x="8168640" y="2920136"/>
            <a:ext cx="3398520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en bus</a:t>
            </a:r>
            <a:endParaRPr lang="en-US" sz="1600" dirty="0"/>
          </a:p>
        </p:txBody>
      </p:sp>
      <p:sp>
        <p:nvSpPr>
          <p:cNvPr id="13" name="card_3"/>
          <p:cNvSpPr/>
          <p:nvPr/>
        </p:nvSpPr>
        <p:spPr>
          <a:xfrm>
            <a:off x="548640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48640" y="4491533"/>
            <a:ext cx="3544824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3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차로</a:t>
            </a:r>
            <a:endParaRPr lang="en-US" sz="4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5183276"/>
            <a:ext cx="3398520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en auto</a:t>
            </a:r>
            <a:endParaRPr lang="en-US" sz="1600" dirty="0"/>
          </a:p>
        </p:txBody>
      </p:sp>
      <p:sp>
        <p:nvSpPr>
          <p:cNvPr id="16" name="card_4"/>
          <p:cNvSpPr/>
          <p:nvPr/>
        </p:nvSpPr>
        <p:spPr>
          <a:xfrm>
            <a:off x="4322064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322064" y="4491533"/>
            <a:ext cx="3544824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3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지하철로</a:t>
            </a:r>
            <a:endParaRPr lang="en-US" sz="4300" dirty="0"/>
          </a:p>
        </p:txBody>
      </p:sp>
      <p:sp>
        <p:nvSpPr>
          <p:cNvPr id="18" name="Text 16"/>
          <p:cNvSpPr txBox="1"/>
          <p:nvPr/>
        </p:nvSpPr>
        <p:spPr>
          <a:xfrm>
            <a:off x="4395216" y="5183276"/>
            <a:ext cx="3398520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 metro (ㄹ </a:t>
            </a:r>
            <a:r>
              <a:rPr lang="en-US" sz="1600" dirty="0">
                <a:solidFill>
                  <a:srgbClr val="5C5F6B"/>
                </a:solidFill>
              </a:rPr>
              <a:t>+ </a:t>
            </a:r>
            <a:r>
              <a:rPr lang="ko-KR" altLang="en-US" sz="16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r>
              <a:rPr lang="en-US" sz="1600" dirty="0">
                <a:solidFill>
                  <a:srgbClr val="5C5F6B"/>
                </a:solidFill>
              </a:rPr>
              <a:t>: una 'l' larga)</a:t>
            </a:r>
            <a:endParaRPr lang="en-US" sz="1600" dirty="0"/>
          </a:p>
        </p:txBody>
      </p:sp>
      <p:sp>
        <p:nvSpPr>
          <p:cNvPr id="19" name="card_5"/>
          <p:cNvSpPr/>
          <p:nvPr/>
        </p:nvSpPr>
        <p:spPr>
          <a:xfrm>
            <a:off x="8095488" y="4137660"/>
            <a:ext cx="3544824" cy="203454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095488" y="4491533"/>
            <a:ext cx="3544824" cy="691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43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걸어서</a:t>
            </a:r>
            <a:endParaRPr lang="en-US" sz="4300" dirty="0"/>
          </a:p>
        </p:txBody>
      </p:sp>
      <p:sp>
        <p:nvSpPr>
          <p:cNvPr id="21" name="Text 19"/>
          <p:cNvSpPr txBox="1"/>
          <p:nvPr/>
        </p:nvSpPr>
        <p:spPr>
          <a:xfrm>
            <a:off x="8095488" y="5183276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[거러서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168640" y="5457596"/>
            <a:ext cx="3398520" cy="641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dirty="0">
                <a:solidFill>
                  <a:srgbClr val="5C5F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pie (sin 로</a:t>
            </a:r>
            <a:r>
              <a:rPr lang="en-US" sz="1600" dirty="0">
                <a:solidFill>
                  <a:srgbClr val="5C5F6B"/>
                </a:solidFill>
              </a:rPr>
              <a:t>)</a:t>
            </a:r>
            <a:endParaRPr lang="en-US" sz="1600" dirty="0"/>
          </a:p>
        </p:txBody>
      </p:sp>
      <p:pic>
        <p:nvPicPr>
          <p:cNvPr id="23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37976" y="4210812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Tres "en"</a:t>
            </a:r>
            <a:r>
              <a:rPr lang="en-US" sz="1500" b="1" i="1" dirty="0">
                <a:solidFill>
                  <a:srgbClr val="8A8DA0"/>
                </a:solidFill>
              </a:rPr>
              <a:t>   Three ways to say "in"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7f465c91213557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25880"/>
            <a:ext cx="6931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En español todo es 'en'; en coreano, tres partículas</a:t>
            </a:r>
            <a:endParaRPr lang="en-US" sz="1800" dirty="0"/>
          </a:p>
        </p:txBody>
      </p:sp>
      <p:graphicFrame>
        <p:nvGraphicFramePr>
          <p:cNvPr id="13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454959"/>
              </p:ext>
            </p:extLst>
          </p:nvPr>
        </p:nvGraphicFramePr>
        <p:xfrm>
          <a:off x="548640" y="1874520"/>
          <a:ext cx="6931152" cy="914400"/>
        </p:xfrm>
        <a:graphic>
          <a:graphicData uri="http://schemas.openxmlformats.org/drawingml/2006/table">
            <a:tbl>
              <a:tblPr/>
              <a:tblGrid>
                <a:gridCol w="2310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0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0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Coreano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Qué dice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Español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비행기로 가요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el medio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Voy en avión.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비행기에서 영화를 봐요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dónde ocurre la acción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Veo una película en el avión.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비행기에 있어요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dónde está algo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Está en el avión.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이거 한국어로 뭐예요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el idioma también es un medio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¿Cómo se dice esto en coreano?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회사에 뭐로 가요</a:t>
            </a:r>
            <a:r>
              <a:rPr lang="en-US" sz="2200" b="1" dirty="0">
                <a:solidFill>
                  <a:srgbClr val="4236F6"/>
                </a:solidFill>
              </a:rPr>
              <a:t>?  </a:t>
            </a:r>
            <a:r>
              <a:rPr lang="en-US" sz="2200" b="1" dirty="0">
                <a:solidFill>
                  <a:srgbClr val="003478"/>
                </a:solidFill>
              </a:rPr>
              <a:t>¿En qué vas a la oficina?</a:t>
            </a:r>
            <a:r>
              <a:rPr lang="en-US" sz="1500" b="1" i="1" dirty="0">
                <a:solidFill>
                  <a:srgbClr val="8A8DA0"/>
                </a:solidFill>
              </a:rPr>
              <a:t>   How do you get to work?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말하세요 </a:t>
            </a:r>
            <a:r>
              <a:rPr lang="en-US" sz="1800" i="1" dirty="0">
                <a:solidFill>
                  <a:srgbClr val="4236F6"/>
                </a:solidFill>
              </a:rPr>
              <a:t>· digan (5 voces) —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쓰세요 </a:t>
            </a:r>
            <a:r>
              <a:rPr lang="en-US" sz="1800" i="1" dirty="0">
                <a:solidFill>
                  <a:srgbClr val="4236F6"/>
                </a:solidFill>
              </a:rPr>
              <a:t>· los demás, en el chat · Respondan con su medio real.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57495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5749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369210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회사에 뭐로 가요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7" name="rev_5_caja"/>
          <p:cNvSpPr/>
          <p:nvPr/>
        </p:nvSpPr>
        <p:spPr>
          <a:xfrm>
            <a:off x="7498080" y="2405786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5_txt"/>
          <p:cNvSpPr txBox="1"/>
          <p:nvPr/>
        </p:nvSpPr>
        <p:spPr>
          <a:xfrm>
            <a:off x="7589520" y="2405786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지하철로 가요</a:t>
            </a:r>
            <a:r>
              <a:rPr lang="en-US" sz="1900" b="1" dirty="0">
                <a:solidFill>
                  <a:srgbClr val="FFFFFF"/>
                </a:solidFill>
              </a:rPr>
              <a:t>. / </a:t>
            </a: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버스로 가요</a:t>
            </a:r>
            <a:r>
              <a:rPr lang="en-US" sz="1900" b="1" dirty="0">
                <a:solidFill>
                  <a:srgbClr val="FFFFFF"/>
                </a:solidFill>
              </a:rPr>
              <a:t>.</a:t>
            </a:r>
            <a:endParaRPr lang="en-US" sz="1900" dirty="0"/>
          </a:p>
        </p:txBody>
      </p:sp>
      <p:sp>
        <p:nvSpPr>
          <p:cNvPr id="9" name="num_1"/>
          <p:cNvSpPr/>
          <p:nvPr/>
        </p:nvSpPr>
        <p:spPr>
          <a:xfrm>
            <a:off x="548640" y="357164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57164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365906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학교에 뭐로 가요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12" name="rev_6_caja"/>
          <p:cNvSpPr/>
          <p:nvPr/>
        </p:nvSpPr>
        <p:spPr>
          <a:xfrm>
            <a:off x="7498080" y="3402482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6_txt"/>
          <p:cNvSpPr txBox="1"/>
          <p:nvPr/>
        </p:nvSpPr>
        <p:spPr>
          <a:xfrm>
            <a:off x="7589520" y="3402482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걸어서 가요</a:t>
            </a:r>
            <a:r>
              <a:rPr lang="en-US" sz="2200" b="1" dirty="0">
                <a:solidFill>
                  <a:srgbClr val="FFFFFF"/>
                </a:solidFill>
              </a:rPr>
              <a:t>. /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차로 가요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456834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5683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36260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한국에 뭐로 갈 거예요</a:t>
            </a:r>
            <a:r>
              <a:rPr lang="en-US" sz="2400" dirty="0">
                <a:solidFill>
                  <a:srgbClr val="14142B"/>
                </a:solidFill>
              </a:rPr>
              <a:t>?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걸어서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17" name="rev_7_caja"/>
          <p:cNvSpPr/>
          <p:nvPr/>
        </p:nvSpPr>
        <p:spPr>
          <a:xfrm>
            <a:off x="7498080" y="4399178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7_txt"/>
          <p:cNvSpPr txBox="1"/>
          <p:nvPr/>
        </p:nvSpPr>
        <p:spPr>
          <a:xfrm>
            <a:off x="7589520" y="4399178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2100" b="1" dirty="0">
                <a:solidFill>
                  <a:srgbClr val="FFFFFF"/>
                </a:solidFill>
              </a:rPr>
              <a:t>! </a:t>
            </a:r>
            <a:r>
              <a:rPr lang="ko-KR" alt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비행기로 갈 거예요</a:t>
            </a:r>
            <a:r>
              <a:rPr lang="en-US" sz="2100" b="1" dirty="0">
                <a:solidFill>
                  <a:srgbClr val="FFFFFF"/>
                </a:solidFill>
              </a:rPr>
              <a:t>!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여름휴가  </a:t>
            </a:r>
            <a:r>
              <a:rPr lang="en-US" sz="3000" b="1" dirty="0">
                <a:solidFill>
                  <a:srgbClr val="003478"/>
                </a:solidFill>
              </a:rPr>
              <a:t>Vacaciones cortas</a:t>
            </a:r>
            <a:r>
              <a:rPr lang="en-US" sz="1500" b="1" i="1" dirty="0">
                <a:solidFill>
                  <a:srgbClr val="8A8DA0"/>
                </a:solidFill>
              </a:rPr>
              <a:t>   Short summer vacations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49ff0ebd200c21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panel"/>
          <p:cNvSpPr/>
          <p:nvPr/>
        </p:nvSpPr>
        <p:spPr>
          <a:xfrm>
            <a:off x="548640" y="1645920"/>
            <a:ext cx="6931152" cy="3108960"/>
          </a:xfrm>
          <a:prstGeom prst="roundRect">
            <a:avLst>
              <a:gd name="adj" fmla="val 8824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5" name="frase_ko"/>
          <p:cNvSpPr txBox="1"/>
          <p:nvPr/>
        </p:nvSpPr>
        <p:spPr>
          <a:xfrm>
            <a:off x="731520" y="1828800"/>
            <a:ext cx="6565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여름휴가에</a:t>
            </a:r>
            <a:endParaRPr lang="en-US" sz="5000" dirty="0"/>
          </a:p>
          <a:p>
            <a:pPr marL="0" indent="0" algn="ctr" eaLnBrk="1">
              <a:buNone/>
            </a:pPr>
            <a:r>
              <a:rPr lang="ko-KR" altLang="en-US" sz="5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제주도에 갈 거예요</a:t>
            </a:r>
            <a:r>
              <a:rPr lang="en-US" sz="5000" b="1" dirty="0">
                <a:solidFill>
                  <a:srgbClr val="4236F6"/>
                </a:solidFill>
              </a:rPr>
              <a:t>.</a:t>
            </a:r>
            <a:endParaRPr lang="en-US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3657600"/>
            <a:ext cx="5742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2400" dirty="0">
                <a:solidFill>
                  <a:srgbClr val="5C5F6B"/>
                </a:solidFill>
              </a:rPr>
              <a:t>En las vacaciones de verano voy a ir a Jeju.</a:t>
            </a:r>
            <a:endParaRPr lang="en-US" sz="2400" dirty="0"/>
          </a:p>
        </p:txBody>
      </p:sp>
      <p:sp>
        <p:nvSpPr>
          <p:cNvPr id="7" name="lista"/>
          <p:cNvSpPr txBox="1"/>
          <p:nvPr/>
        </p:nvSpPr>
        <p:spPr>
          <a:xfrm>
            <a:off x="548640" y="4937760"/>
            <a:ext cx="6931152" cy="1234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Muchos trabajadores: 3–5 días seguidos · fines de julio o comienzos de agosto · Seúl → Jeju en avión · Seúl → Busan en tren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휴가 </a:t>
            </a:r>
            <a:r>
              <a:rPr lang="en-US" sz="3000" b="1" dirty="0">
                <a:solidFill>
                  <a:srgbClr val="4236F6"/>
                </a:solidFill>
              </a:rPr>
              <a:t>·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방학  </a:t>
            </a:r>
            <a:r>
              <a:rPr lang="en-US" sz="3000" b="1" dirty="0">
                <a:solidFill>
                  <a:srgbClr val="003478"/>
                </a:solidFill>
              </a:rPr>
              <a:t>Dos vacaciones</a:t>
            </a:r>
            <a:r>
              <a:rPr lang="en-US" sz="1500" b="1" i="1" dirty="0">
                <a:solidFill>
                  <a:srgbClr val="8A8DA0"/>
                </a:solidFill>
              </a:rPr>
              <a:t>   Two kinds of vacation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Hemisferio sur: vacaciones largas en enero y febrero · ¿Y en tu país? Escríbelo en el chat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Del trabajo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휴가</a:t>
            </a:r>
            <a:endParaRPr lang="en-US" sz="54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5020056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las vacaciones del trabajo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회사원이에요</a:t>
            </a:r>
            <a:r>
              <a:rPr lang="en-US" sz="2000" dirty="0">
                <a:solidFill>
                  <a:srgbClr val="14142B"/>
                </a:solidFill>
              </a:rPr>
              <a:t>.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휴가가 있어요</a:t>
            </a:r>
            <a:r>
              <a:rPr lang="en-US" sz="2000" dirty="0">
                <a:solidFill>
                  <a:srgbClr val="14142B"/>
                </a:solidFill>
              </a:rPr>
              <a:t>.</a:t>
            </a:r>
            <a:endParaRPr lang="en-US" sz="2000" dirty="0"/>
          </a:p>
        </p:txBody>
      </p:sp>
      <p:sp>
        <p:nvSpPr>
          <p:cNvPr id="8" name="col_1"/>
          <p:cNvSpPr/>
          <p:nvPr/>
        </p:nvSpPr>
        <p:spPr>
          <a:xfrm>
            <a:off x="6254496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Del colegio o la universidad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26517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방학</a:t>
            </a:r>
            <a:endParaRPr lang="en-US" sz="5400" dirty="0"/>
          </a:p>
        </p:txBody>
      </p:sp>
      <p:sp>
        <p:nvSpPr>
          <p:cNvPr id="11" name="lista"/>
          <p:cNvSpPr txBox="1"/>
          <p:nvPr/>
        </p:nvSpPr>
        <p:spPr>
          <a:xfrm>
            <a:off x="6437376" y="3657600"/>
            <a:ext cx="5020056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largas, en verano y en invierno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대학생이에요</a:t>
            </a:r>
            <a:r>
              <a:rPr lang="en-US" sz="2000" dirty="0">
                <a:solidFill>
                  <a:srgbClr val="14142B"/>
                </a:solidFill>
              </a:rPr>
              <a:t>.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방학이 있어요</a:t>
            </a:r>
            <a:r>
              <a:rPr lang="en-US" sz="2000" dirty="0">
                <a:solidFill>
                  <a:srgbClr val="14142B"/>
                </a:solidFill>
              </a:rPr>
              <a:t>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-거나 </a:t>
            </a:r>
            <a:r>
              <a:rPr lang="en-US" sz="3000" b="1" dirty="0">
                <a:solidFill>
                  <a:srgbClr val="003478"/>
                </a:solidFill>
              </a:rPr>
              <a:t>· o (entre acciones)</a:t>
            </a:r>
            <a:r>
              <a:rPr lang="ko-KR" altLang="en-US" sz="1500" b="1" i="1" dirty="0">
                <a:solidFill>
                  <a:srgbClr val="8A8DA0"/>
                </a:solidFill>
              </a:rPr>
              <a:t>   -거나 · or (between actions)</a:t>
            </a:r>
            <a:endParaRPr lang="en-US" sz="3000" dirty="0"/>
          </a:p>
        </p:txBody>
      </p:sp>
      <p:sp>
        <p:nvSpPr>
          <p:cNvPr id="3" name="lista"/>
          <p:cNvSpPr txBox="1"/>
          <p:nvPr/>
        </p:nvSpPr>
        <p:spPr>
          <a:xfrm>
            <a:off x="548640" y="1325880"/>
            <a:ext cx="6949440" cy="484632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영화를 보거나 쉴 거예요</a:t>
            </a:r>
            <a:r>
              <a:rPr lang="en-US" sz="2200" dirty="0">
                <a:solidFill>
                  <a:srgbClr val="14142B"/>
                </a:solidFill>
              </a:rPr>
              <a:t>. — Voy a ver una película o a descansar.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-거나 </a:t>
            </a:r>
            <a:r>
              <a:rPr lang="en-US" sz="2200" dirty="0">
                <a:solidFill>
                  <a:srgbClr val="14142B"/>
                </a:solidFill>
              </a:rPr>
              <a:t>se pega a la raíz y no cambia: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보거나 </a:t>
            </a:r>
            <a:r>
              <a:rPr lang="en-US" sz="2200" dirty="0">
                <a:solidFill>
                  <a:srgbClr val="14142B"/>
                </a:solidFill>
              </a:rPr>
              <a:t>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먹거나 </a:t>
            </a:r>
            <a:r>
              <a:rPr lang="en-US" sz="2200" dirty="0">
                <a:solidFill>
                  <a:srgbClr val="14142B"/>
                </a:solidFill>
              </a:rPr>
              <a:t>[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먹꺼나</a:t>
            </a:r>
            <a:r>
              <a:rPr lang="en-US" sz="2200" dirty="0">
                <a:solidFill>
                  <a:srgbClr val="14142B"/>
                </a:solidFill>
              </a:rPr>
              <a:t>] 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듣거나 </a:t>
            </a:r>
            <a:r>
              <a:rPr lang="en-US" sz="2200" dirty="0">
                <a:solidFill>
                  <a:srgbClr val="14142B"/>
                </a:solidFill>
              </a:rPr>
              <a:t>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놀거나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 tiempo va una sola vez, al final, como en español: 보거나 쉴 거예요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Así no: 봤거나 쉴 거예요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 plan: 저녁에는 한국 음식을 먹거나 호텔에서 쉴 거예요</a:t>
            </a:r>
            <a:r>
              <a:rPr lang="en-US" sz="2200" dirty="0">
                <a:solidFill>
                  <a:srgbClr val="14142B"/>
                </a:solidFill>
              </a:rPr>
              <a:t>.</a:t>
            </a:r>
            <a:endParaRPr lang="en-US" sz="2200" dirty="0"/>
          </a:p>
        </p:txBody>
      </p:sp>
      <p:sp>
        <p:nvSpPr>
          <p:cNvPr id="4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5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9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-거나</a:t>
            </a:r>
            <a:endParaRPr lang="en-US" sz="9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(이</a:t>
            </a:r>
            <a:r>
              <a:rPr lang="en-US" sz="3000" b="1" dirty="0">
                <a:solidFill>
                  <a:srgbClr val="003478"/>
                </a:solidFill>
              </a:rPr>
              <a:t>)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 </a:t>
            </a:r>
            <a:r>
              <a:rPr lang="en-US" sz="3000" b="1" dirty="0">
                <a:solidFill>
                  <a:srgbClr val="003478"/>
                </a:solidFill>
              </a:rPr>
              <a:t>· o (entre cosas)</a:t>
            </a:r>
            <a:r>
              <a:rPr lang="ko-KR" altLang="en-US" sz="1500" b="1" i="1" dirty="0">
                <a:solidFill>
                  <a:srgbClr val="8A8DA0"/>
                </a:solidFill>
              </a:rPr>
              <a:t>   (이)나 · or (between things)</a:t>
            </a:r>
            <a:endParaRPr lang="en-US" sz="3000" dirty="0"/>
          </a:p>
        </p:txBody>
      </p:sp>
      <p:sp>
        <p:nvSpPr>
          <p:cNvPr id="3" name="lista"/>
          <p:cNvSpPr txBox="1"/>
          <p:nvPr/>
        </p:nvSpPr>
        <p:spPr>
          <a:xfrm>
            <a:off x="548640" y="1325880"/>
            <a:ext cx="6949440" cy="484632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커피나 차 </a:t>
            </a:r>
            <a:r>
              <a:rPr lang="en-US" sz="2400" dirty="0">
                <a:solidFill>
                  <a:srgbClr val="14142B"/>
                </a:solidFill>
              </a:rPr>
              <a:t>— café o té (vocal 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</a:t>
            </a:r>
            <a:r>
              <a:rPr lang="en-US" sz="2400" dirty="0">
                <a:solidFill>
                  <a:srgbClr val="14142B"/>
                </a:solidFill>
              </a:rPr>
              <a:t>)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빵이나 밥 </a:t>
            </a:r>
            <a:r>
              <a:rPr lang="en-US" sz="2400" dirty="0">
                <a:solidFill>
                  <a:srgbClr val="14142B"/>
                </a:solidFill>
              </a:rPr>
              <a:t>— pan o arroz (consonante 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이나</a:t>
            </a:r>
            <a:r>
              <a:rPr lang="en-US" sz="2400" dirty="0">
                <a:solidFill>
                  <a:srgbClr val="14142B"/>
                </a:solidFill>
              </a:rPr>
              <a:t>)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지하철이나 버스 </a:t>
            </a:r>
            <a:r>
              <a:rPr lang="en-US" sz="2400" dirty="0">
                <a:solidFill>
                  <a:srgbClr val="14142B"/>
                </a:solidFill>
              </a:rPr>
              <a:t>— metro o bus (aquí la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 </a:t>
            </a:r>
            <a:r>
              <a:rPr lang="en-US" sz="2400" dirty="0">
                <a:solidFill>
                  <a:srgbClr val="14142B"/>
                </a:solidFill>
              </a:rPr>
              <a:t>cuenta como consonante)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커피하고 차 </a:t>
            </a:r>
            <a:r>
              <a:rPr lang="en-US" sz="2400" dirty="0">
                <a:solidFill>
                  <a:srgbClr val="14142B"/>
                </a:solidFill>
              </a:rPr>
              <a:t>= los dos 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커피나 차 </a:t>
            </a:r>
            <a:r>
              <a:rPr lang="en-US" sz="2400" dirty="0">
                <a:solidFill>
                  <a:srgbClr val="14142B"/>
                </a:solidFill>
              </a:rPr>
              <a:t>= uno de los dos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Como el español: siete u ocho</a:t>
            </a:r>
            <a:endParaRPr lang="en-US" sz="2400" dirty="0"/>
          </a:p>
        </p:txBody>
      </p:sp>
      <p:sp>
        <p:nvSpPr>
          <p:cNvPr id="4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5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73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(이</a:t>
            </a:r>
            <a:r>
              <a:rPr lang="en-US" sz="7300" b="1" dirty="0">
                <a:solidFill>
                  <a:srgbClr val="4236F6"/>
                </a:solidFill>
              </a:rPr>
              <a:t>)</a:t>
            </a:r>
            <a:r>
              <a:rPr lang="ko-KR" altLang="en-US" sz="73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</a:t>
            </a:r>
            <a:endParaRPr lang="en-US" sz="7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 regla del 받침</a:t>
            </a:r>
            <a:r>
              <a:rPr lang="en-US" sz="3000" b="1" dirty="0">
                <a:solidFill>
                  <a:srgbClr val="003478"/>
                </a:solidFill>
              </a:rPr>
              <a:t>, tres veces</a:t>
            </a:r>
            <a:r>
              <a:rPr lang="ko-KR" altLang="en-US" sz="1500" b="1" i="1" dirty="0">
                <a:solidFill>
                  <a:srgbClr val="8A8DA0"/>
                </a:solidFill>
              </a:rPr>
              <a:t>   The 받침 rule, three times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 ㄹ </a:t>
            </a:r>
            <a:r>
              <a:rPr lang="en-US" sz="1800" i="1" dirty="0">
                <a:solidFill>
                  <a:srgbClr val="4236F6"/>
                </a:solidFill>
              </a:rPr>
              <a:t>es especial solo con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 </a:t>
            </a:r>
            <a:r>
              <a:rPr lang="en-US" sz="1800" i="1" dirty="0">
                <a:solidFill>
                  <a:srgbClr val="4236F6"/>
                </a:solidFill>
              </a:rPr>
              <a:t>(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거예요</a:t>
            </a:r>
            <a:r>
              <a:rPr lang="en-US" sz="1800" i="1" dirty="0">
                <a:solidFill>
                  <a:srgbClr val="4236F6"/>
                </a:solidFill>
              </a:rPr>
              <a:t>,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r>
              <a:rPr lang="en-US" sz="1800" i="1" dirty="0">
                <a:solidFill>
                  <a:srgbClr val="4236F6"/>
                </a:solidFill>
              </a:rPr>
              <a:t>); con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이나</a:t>
            </a:r>
            <a:r>
              <a:rPr lang="en-US" sz="1800" i="1" dirty="0">
                <a:solidFill>
                  <a:srgbClr val="4236F6"/>
                </a:solidFill>
              </a:rPr>
              <a:t>, la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 </a:t>
            </a:r>
            <a:r>
              <a:rPr lang="en-US" sz="1800" i="1" dirty="0">
                <a:solidFill>
                  <a:srgbClr val="4236F6"/>
                </a:solidFill>
              </a:rPr>
              <a:t>es una consonante más</a:t>
            </a:r>
            <a:endParaRPr lang="en-US" sz="1800" dirty="0"/>
          </a:p>
        </p:txBody>
      </p:sp>
      <p:graphicFrame>
        <p:nvGraphicFramePr>
          <p:cNvPr id="19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671781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Vocal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Consonante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ㄹ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Futuro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갈 거예요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먹을 거예요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살 거예요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Medio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차로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손으로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지하철로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O entre cosas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커피나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빵이나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지하철이나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 개</a:t>
            </a:r>
            <a:r>
              <a:rPr lang="en-US" sz="3000" b="1" dirty="0">
                <a:solidFill>
                  <a:srgbClr val="4236F6"/>
                </a:solidFill>
              </a:rPr>
              <a:t>!  </a:t>
            </a:r>
            <a:r>
              <a:rPr lang="en-US" sz="3000" b="1" dirty="0">
                <a:solidFill>
                  <a:srgbClr val="003478"/>
                </a:solidFill>
              </a:rPr>
              <a:t>¡Dos opciones!</a:t>
            </a:r>
            <a:r>
              <a:rPr lang="en-US" sz="1500" b="1" i="1" dirty="0">
                <a:solidFill>
                  <a:srgbClr val="8A8DA0"/>
                </a:solidFill>
              </a:rPr>
              <a:t>   Two options!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말하세요 </a:t>
            </a:r>
            <a:r>
              <a:rPr lang="en-US" sz="1800" i="1" dirty="0">
                <a:solidFill>
                  <a:srgbClr val="4236F6"/>
                </a:solidFill>
              </a:rPr>
              <a:t>· digan (4 voces) —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쓰세요 </a:t>
            </a:r>
            <a:r>
              <a:rPr lang="en-US" sz="1800" i="1" dirty="0">
                <a:solidFill>
                  <a:srgbClr val="4236F6"/>
                </a:solidFill>
              </a:rPr>
              <a:t>· todos, en el chat · Responde con dos opciones (-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거나</a:t>
            </a:r>
            <a:r>
              <a:rPr lang="en-US" sz="1800" i="1" dirty="0">
                <a:solidFill>
                  <a:srgbClr val="4236F6"/>
                </a:solidFill>
              </a:rPr>
              <a:t>). Después, todos escriben en el chat con (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1800" i="1" dirty="0">
                <a:solidFill>
                  <a:srgbClr val="4236F6"/>
                </a:solidFill>
              </a:rPr>
              <a:t>)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</a:t>
            </a:r>
            <a:r>
              <a:rPr lang="en-US" sz="1800" i="1" dirty="0">
                <a:solidFill>
                  <a:srgbClr val="4236F6"/>
                </a:solidFill>
              </a:rPr>
              <a:t>.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841955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84195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476195"/>
            <a:ext cx="6080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주말에 뭐 할 거예요</a:t>
            </a:r>
            <a:r>
              <a:rPr lang="en-US" sz="2400" dirty="0">
                <a:solidFill>
                  <a:srgbClr val="14142B"/>
                </a:solidFill>
              </a:rPr>
              <a:t>?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 개</a:t>
            </a:r>
            <a:r>
              <a:rPr lang="en-US" sz="2400" dirty="0">
                <a:solidFill>
                  <a:srgbClr val="14142B"/>
                </a:solidFill>
              </a:rPr>
              <a:t>!</a:t>
            </a:r>
            <a:endParaRPr lang="en-US" sz="2400" dirty="0"/>
          </a:p>
        </p:txBody>
      </p:sp>
      <p:sp>
        <p:nvSpPr>
          <p:cNvPr id="7" name="rev_8_caja"/>
          <p:cNvSpPr/>
          <p:nvPr/>
        </p:nvSpPr>
        <p:spPr>
          <a:xfrm>
            <a:off x="7498080" y="2512771"/>
            <a:ext cx="4142232" cy="1115568"/>
          </a:xfrm>
          <a:prstGeom prst="roundRect">
            <a:avLst>
              <a:gd name="adj" fmla="val 9836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8_txt"/>
          <p:cNvSpPr txBox="1"/>
          <p:nvPr/>
        </p:nvSpPr>
        <p:spPr>
          <a:xfrm>
            <a:off x="7589520" y="2512771"/>
            <a:ext cx="39593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산에 가거나 집에서 쉴 거예요</a:t>
            </a:r>
            <a:r>
              <a:rPr lang="en-US" sz="1900" b="1" dirty="0">
                <a:solidFill>
                  <a:srgbClr val="FFFFFF"/>
                </a:solidFill>
              </a:rPr>
              <a:t>.</a:t>
            </a:r>
            <a:endParaRPr lang="en-US" sz="1900" dirty="0"/>
          </a:p>
        </p:txBody>
      </p:sp>
      <p:sp>
        <p:nvSpPr>
          <p:cNvPr id="9" name="num_1"/>
          <p:cNvSpPr/>
          <p:nvPr/>
        </p:nvSpPr>
        <p:spPr>
          <a:xfrm>
            <a:off x="548640" y="4158691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15869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792931"/>
            <a:ext cx="6080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아침에 뭐 마셔요</a:t>
            </a:r>
            <a:r>
              <a:rPr lang="en-US" sz="2400" dirty="0">
                <a:solidFill>
                  <a:srgbClr val="14142B"/>
                </a:solidFill>
              </a:rPr>
              <a:t>?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커피나 차</a:t>
            </a:r>
            <a:r>
              <a:rPr lang="en-US" sz="2400" dirty="0">
                <a:solidFill>
                  <a:srgbClr val="14142B"/>
                </a:solidFill>
              </a:rPr>
              <a:t>?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쓰세요</a:t>
            </a:r>
            <a:r>
              <a:rPr lang="en-US" sz="2400" dirty="0">
                <a:solidFill>
                  <a:srgbClr val="14142B"/>
                </a:solidFill>
              </a:rPr>
              <a:t>!</a:t>
            </a:r>
            <a:endParaRPr lang="en-US" sz="2400" dirty="0"/>
          </a:p>
        </p:txBody>
      </p:sp>
      <p:sp>
        <p:nvSpPr>
          <p:cNvPr id="12" name="rev_9_caja"/>
          <p:cNvSpPr/>
          <p:nvPr/>
        </p:nvSpPr>
        <p:spPr>
          <a:xfrm>
            <a:off x="7498080" y="3829507"/>
            <a:ext cx="4142232" cy="1115568"/>
          </a:xfrm>
          <a:prstGeom prst="roundRect">
            <a:avLst>
              <a:gd name="adj" fmla="val 9836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9_txt"/>
          <p:cNvSpPr txBox="1"/>
          <p:nvPr/>
        </p:nvSpPr>
        <p:spPr>
          <a:xfrm>
            <a:off x="7589520" y="3829507"/>
            <a:ext cx="39593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커피나 우유를 마셔요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같이 </a:t>
            </a:r>
            <a:r>
              <a:rPr lang="en-US" sz="2200" b="1" dirty="0">
                <a:solidFill>
                  <a:srgbClr val="4236F6"/>
                </a:solidFill>
              </a:rPr>
              <a:t>___</a:t>
            </a: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아요</a:t>
            </a:r>
            <a:r>
              <a:rPr lang="en-US" sz="2200" b="1" dirty="0">
                <a:solidFill>
                  <a:srgbClr val="4236F6"/>
                </a:solidFill>
              </a:rPr>
              <a:t>/</a:t>
            </a: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어요</a:t>
            </a:r>
            <a:r>
              <a:rPr lang="en-US" sz="2200" b="1" dirty="0">
                <a:solidFill>
                  <a:srgbClr val="4236F6"/>
                </a:solidFill>
              </a:rPr>
              <a:t>! — </a:t>
            </a: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좋아요</a:t>
            </a:r>
            <a:r>
              <a:rPr lang="en-US" sz="2200" b="1" dirty="0">
                <a:solidFill>
                  <a:srgbClr val="4236F6"/>
                </a:solidFill>
              </a:rPr>
              <a:t>!  </a:t>
            </a:r>
            <a:r>
              <a:rPr lang="en-US" sz="2200" b="1" dirty="0">
                <a:solidFill>
                  <a:srgbClr val="003478"/>
                </a:solidFill>
              </a:rPr>
              <a:t>Para invitar: juntos + presente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Como nuestro '¡vamos!': presente para proponer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같이 영화 봐요</a:t>
            </a:r>
            <a:r>
              <a:rPr lang="en-US" sz="2400" dirty="0">
                <a:solidFill>
                  <a:srgbClr val="14142B"/>
                </a:solidFill>
              </a:rPr>
              <a:t>! 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같이 가요</a:t>
            </a:r>
            <a:r>
              <a:rPr lang="en-US" sz="2400" dirty="0">
                <a:solidFill>
                  <a:srgbClr val="14142B"/>
                </a:solidFill>
              </a:rPr>
              <a:t>! 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같이 한국 음식 먹어요</a:t>
            </a:r>
            <a:r>
              <a:rPr lang="en-US" sz="2400" dirty="0">
                <a:solidFill>
                  <a:srgbClr val="14142B"/>
                </a:solidFill>
              </a:rPr>
              <a:t>!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좋아요</a:t>
            </a:r>
            <a:r>
              <a:rPr lang="en-US" sz="2400" dirty="0">
                <a:solidFill>
                  <a:srgbClr val="14142B"/>
                </a:solidFill>
              </a:rPr>
              <a:t>! — ¡Dale!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Antes de invitar, como en español: 토요일에 뭐 할 거예요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Así no se invita: 같이 영화 볼 거예요</a:t>
            </a:r>
            <a:r>
              <a:rPr lang="en-US" sz="2400" dirty="0">
                <a:solidFill>
                  <a:srgbClr val="14142B"/>
                </a:solidFill>
              </a:rPr>
              <a:t>? (pregunta por un plan)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Solo reconocer: 같이 갈까요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같이 </a:t>
            </a:r>
            <a:r>
              <a:rPr lang="en-US" sz="2800" b="1" dirty="0">
                <a:solidFill>
                  <a:srgbClr val="4236F6"/>
                </a:solidFill>
              </a:rPr>
              <a:t>___</a:t>
            </a: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아요</a:t>
            </a:r>
            <a:r>
              <a:rPr lang="en-US" sz="2800" b="1" dirty="0">
                <a:solidFill>
                  <a:srgbClr val="4236F6"/>
                </a:solidFill>
              </a:rPr>
              <a:t>/</a:t>
            </a: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어요</a:t>
            </a:r>
            <a:r>
              <a:rPr lang="en-US" sz="2800" b="1" dirty="0">
                <a:solidFill>
                  <a:srgbClr val="4236F6"/>
                </a:solidFill>
              </a:rPr>
              <a:t>! — </a:t>
            </a: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좋아요</a:t>
            </a:r>
            <a:r>
              <a:rPr lang="en-US" sz="2800" b="1" dirty="0">
                <a:solidFill>
                  <a:srgbClr val="4236F6"/>
                </a:solidFill>
              </a:rPr>
              <a:t>!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Salas · 3 rondas</a:t>
            </a:r>
            <a:r>
              <a:rPr lang="en-US" sz="1500" b="1" i="1" dirty="0">
                <a:solidFill>
                  <a:srgbClr val="8A8DA0"/>
                </a:solidFill>
              </a:rPr>
              <a:t>   Breakout rooms · 3 rounds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Abre ya la sección 7 de tu material: dentro de la sala no ves este chat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R1 (hasta 21:44) Vacaciones soñadas: foto + 5 preguntas + plan de 3 días en 6 frases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R2 (hasta 21:51) Quedemos: A = 1.º en la lista de Zoom (trío: C) · '—' = 시간이 있어요</a:t>
            </a:r>
            <a:r>
              <a:rPr lang="en-US" sz="2000" dirty="0">
                <a:solidFill>
                  <a:srgbClr val="14142B"/>
                </a:solidFill>
              </a:rPr>
              <a:t>!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R3 (hasta 21:54) Minuto libre, sin cuaderno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토요일에 뭐 할 거예요</a:t>
            </a:r>
            <a:r>
              <a:rPr lang="en-US" sz="2000" dirty="0">
                <a:solidFill>
                  <a:srgbClr val="14142B"/>
                </a:solidFill>
              </a:rPr>
              <a:t>? — B: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</a:t>
            </a:r>
            <a:r>
              <a:rPr lang="en-US" sz="2000" dirty="0">
                <a:solidFill>
                  <a:srgbClr val="14142B"/>
                </a:solidFill>
              </a:rPr>
              <a:t>…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영화를 보거나 쉴 거예요</a:t>
            </a:r>
            <a:r>
              <a:rPr lang="en-US" sz="2000" dirty="0">
                <a:solidFill>
                  <a:srgbClr val="14142B"/>
                </a:solidFill>
              </a:rPr>
              <a:t>. — A: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같이 산에 가요</a:t>
            </a:r>
            <a:r>
              <a:rPr lang="en-US" sz="2000" dirty="0">
                <a:solidFill>
                  <a:srgbClr val="14142B"/>
                </a:solidFill>
              </a:rPr>
              <a:t>!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좋아요</a:t>
            </a:r>
            <a:r>
              <a:rPr lang="en-US" sz="2000" dirty="0">
                <a:solidFill>
                  <a:srgbClr val="14142B"/>
                </a:solidFill>
              </a:rPr>
              <a:t>!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시에 만나요</a:t>
            </a:r>
            <a:r>
              <a:rPr lang="en-US" sz="2000" dirty="0">
                <a:solidFill>
                  <a:srgbClr val="14142B"/>
                </a:solidFill>
              </a:rPr>
              <a:t>? — A: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 시에 만나요</a:t>
            </a:r>
            <a:r>
              <a:rPr lang="en-US" sz="2000" dirty="0">
                <a:solidFill>
                  <a:srgbClr val="14142B"/>
                </a:solidFill>
              </a:rPr>
              <a:t>. — B: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어디에서 만나요</a:t>
            </a:r>
            <a:r>
              <a:rPr lang="en-US" sz="2000" dirty="0">
                <a:solidFill>
                  <a:srgbClr val="14142B"/>
                </a:solidFill>
              </a:rPr>
              <a:t>?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지하철역 앞에서 만나요</a:t>
            </a:r>
            <a:r>
              <a:rPr lang="en-US" sz="2000" dirty="0">
                <a:solidFill>
                  <a:srgbClr val="14142B"/>
                </a:solidFill>
              </a:rPr>
              <a:t>.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토요일에 봐요</a:t>
            </a:r>
            <a:r>
              <a:rPr lang="en-US" sz="2000" dirty="0">
                <a:solidFill>
                  <a:srgbClr val="14142B"/>
                </a:solidFill>
              </a:rPr>
              <a:t>!</a:t>
            </a:r>
            <a:endParaRPr lang="en-US" sz="20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Tres tiempos, una frase</a:t>
            </a:r>
            <a:r>
              <a:rPr lang="en-US" sz="1500" b="1" i="1" dirty="0">
                <a:solidFill>
                  <a:srgbClr val="8A8DA0"/>
                </a:solidFill>
              </a:rPr>
              <a:t>   Three tenses, one sentence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segundos por persona · mano arriba = raíz con ㅏ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ㅗ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Pasado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</a:t>
            </a:r>
            <a:endParaRPr lang="en-US" sz="54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지난주에 </a:t>
            </a:r>
            <a:r>
              <a:rPr lang="en-US" sz="1800" dirty="0">
                <a:solidFill>
                  <a:srgbClr val="14142B"/>
                </a:solidFill>
              </a:rPr>
              <a:t>·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작년에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갔어요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</p:txBody>
      </p:sp>
      <p:sp>
        <p:nvSpPr>
          <p:cNvPr id="8" name="col_1"/>
          <p:cNvSpPr/>
          <p:nvPr/>
        </p:nvSpPr>
        <p:spPr>
          <a:xfrm>
            <a:off x="4352544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Presente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4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</a:t>
            </a:r>
            <a:r>
              <a:rPr lang="en-US" sz="4100" b="1" dirty="0">
                <a:solidFill>
                  <a:srgbClr val="4236F6"/>
                </a:solidFill>
              </a:rPr>
              <a:t>· </a:t>
            </a:r>
            <a:r>
              <a:rPr lang="ko-KR" altLang="en-US" sz="4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</a:t>
            </a:r>
            <a:endParaRPr lang="en-US" sz="4100" dirty="0"/>
          </a:p>
        </p:txBody>
      </p:sp>
      <p:sp>
        <p:nvSpPr>
          <p:cNvPr id="11" name="lista"/>
          <p:cNvSpPr txBox="1"/>
          <p:nvPr/>
        </p:nvSpPr>
        <p:spPr>
          <a:xfrm>
            <a:off x="4535424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한국어를 공부해요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</p:txBody>
      </p:sp>
      <p:sp>
        <p:nvSpPr>
          <p:cNvPr id="12" name="col_2"/>
          <p:cNvSpPr/>
          <p:nvPr/>
        </p:nvSpPr>
        <p:spPr>
          <a:xfrm>
            <a:off x="8156448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Futuro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</a:t>
            </a:r>
            <a:endParaRPr lang="en-US" sz="5400" dirty="0"/>
          </a:p>
        </p:txBody>
      </p:sp>
      <p:sp>
        <p:nvSpPr>
          <p:cNvPr id="15" name="lista"/>
          <p:cNvSpPr txBox="1"/>
          <p:nvPr/>
        </p:nvSpPr>
        <p:spPr>
          <a:xfrm>
            <a:off x="8339328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주에 </a:t>
            </a:r>
            <a:r>
              <a:rPr lang="en-US" sz="1800" dirty="0">
                <a:solidFill>
                  <a:srgbClr val="14142B"/>
                </a:solidFill>
              </a:rPr>
              <a:t>·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내년에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사진을 찍을 거예요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파트너는 뭐 할 거예요</a:t>
            </a:r>
            <a:r>
              <a:rPr lang="en-US" sz="2600" b="1" dirty="0">
                <a:solidFill>
                  <a:srgbClr val="4236F6"/>
                </a:solidFill>
              </a:rPr>
              <a:t>?  </a:t>
            </a:r>
            <a:r>
              <a:rPr lang="en-US" sz="2600" b="1" dirty="0">
                <a:solidFill>
                  <a:srgbClr val="003478"/>
                </a:solidFill>
              </a:rPr>
              <a:t>¿Qué va a hacer tu pareja?</a:t>
            </a:r>
            <a:endParaRPr lang="en-US" sz="3000" dirty="0"/>
          </a:p>
        </p:txBody>
      </p:sp>
      <p:sp>
        <p:nvSpPr>
          <p:cNvPr id="3" name="panel"/>
          <p:cNvSpPr/>
          <p:nvPr/>
        </p:nvSpPr>
        <p:spPr>
          <a:xfrm>
            <a:off x="1280160" y="1645920"/>
            <a:ext cx="9628632" cy="3108960"/>
          </a:xfrm>
          <a:prstGeom prst="roundRect">
            <a:avLst>
              <a:gd name="adj" fmla="val 8824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4" name="frase_ko"/>
          <p:cNvSpPr txBox="1"/>
          <p:nvPr/>
        </p:nvSpPr>
        <p:spPr>
          <a:xfrm>
            <a:off x="1463040" y="1828800"/>
            <a:ext cx="92628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6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 씨는 </a:t>
            </a:r>
            <a:r>
              <a:rPr lang="en-US" sz="6400" b="1" dirty="0">
                <a:solidFill>
                  <a:srgbClr val="4236F6"/>
                </a:solidFill>
              </a:rPr>
              <a:t>___ </a:t>
            </a:r>
            <a:r>
              <a:rPr lang="ko-KR" altLang="en-US" sz="6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거예요</a:t>
            </a:r>
            <a:r>
              <a:rPr lang="en-US" sz="6400" b="1" dirty="0">
                <a:solidFill>
                  <a:srgbClr val="4236F6"/>
                </a:solidFill>
              </a:rPr>
              <a:t>.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3657600"/>
            <a:ext cx="8439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2400" dirty="0">
                <a:solidFill>
                  <a:srgbClr val="5C5F6B"/>
                </a:solidFill>
              </a:rPr>
              <a:t>___ va a …</a:t>
            </a:r>
            <a:endParaRPr lang="en-US" sz="2400" dirty="0"/>
          </a:p>
        </p:txBody>
      </p:sp>
      <p:sp>
        <p:nvSpPr>
          <p:cNvPr id="6" name="lista"/>
          <p:cNvSpPr txBox="1"/>
          <p:nvPr/>
        </p:nvSpPr>
        <p:spPr>
          <a:xfrm>
            <a:off x="1280160" y="4937760"/>
            <a:ext cx="9628632" cy="1234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Ejemplo: 다니엘 씨는 기차로 부산에 갈 거예요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Lo que oí hoy</a:t>
            </a:r>
            <a:r>
              <a:rPr lang="en-US" sz="1500" b="1" i="1" dirty="0">
                <a:solidFill>
                  <a:srgbClr val="8A8DA0"/>
                </a:solidFill>
              </a:rPr>
              <a:t>   What I heard today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Siempre la frase buena en pantalla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 거예요 </a:t>
            </a:r>
            <a:r>
              <a:rPr lang="en-US" sz="2800" dirty="0">
                <a:solidFill>
                  <a:srgbClr val="14142B"/>
                </a:solidFill>
              </a:rPr>
              <a:t>[</a:t>
            </a: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갈꺼에요</a:t>
            </a:r>
            <a:r>
              <a:rPr lang="en-US" sz="2800" dirty="0">
                <a:solidFill>
                  <a:srgbClr val="14142B"/>
                </a:solidFill>
              </a:rPr>
              <a:t>] · </a:t>
            </a: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ㅓ</a:t>
            </a:r>
            <a:r>
              <a:rPr lang="en-US" sz="2800" dirty="0">
                <a:solidFill>
                  <a:srgbClr val="14142B"/>
                </a:solidFill>
              </a:rPr>
              <a:t>, con la boca abierta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비행기로 가요 </a:t>
            </a:r>
            <a:r>
              <a:rPr lang="en-US" sz="2800" dirty="0">
                <a:solidFill>
                  <a:srgbClr val="14142B"/>
                </a:solidFill>
              </a:rPr>
              <a:t>· </a:t>
            </a: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</a:t>
            </a:r>
            <a:r>
              <a:rPr lang="en-US" sz="2800" dirty="0">
                <a:solidFill>
                  <a:srgbClr val="14142B"/>
                </a:solidFill>
              </a:rPr>
              <a:t>= en qué vas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영화를 보거나 쉴 거예요 </a:t>
            </a:r>
            <a:r>
              <a:rPr lang="en-US" sz="2800" dirty="0">
                <a:solidFill>
                  <a:srgbClr val="14142B"/>
                </a:solidFill>
              </a:rPr>
              <a:t>· el tiempo, una vez, al final</a:t>
            </a:r>
            <a:endParaRPr lang="en-US" sz="28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Las 3 frases de hoy</a:t>
            </a:r>
            <a:r>
              <a:rPr lang="en-US" sz="1500" b="1" i="1" dirty="0">
                <a:solidFill>
                  <a:srgbClr val="8A8DA0"/>
                </a:solidFill>
              </a:rPr>
              <a:t>   Today's 3 key sentences</a:t>
            </a:r>
            <a:endParaRPr lang="en-US" sz="3000" dirty="0"/>
          </a:p>
        </p:txBody>
      </p:sp>
      <p:sp>
        <p:nvSpPr>
          <p:cNvPr id="3" name="lista"/>
          <p:cNvSpPr txBox="1"/>
          <p:nvPr/>
        </p:nvSpPr>
        <p:spPr>
          <a:xfrm>
            <a:off x="548640" y="1325880"/>
            <a:ext cx="6949440" cy="484632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주에 뭐 할 거예요</a:t>
            </a:r>
            <a:r>
              <a:rPr lang="en-US" sz="2800" dirty="0">
                <a:solidFill>
                  <a:srgbClr val="14142B"/>
                </a:solidFill>
              </a:rPr>
              <a:t>? — ¿Qué vas a hacer la próxima semana?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기차로 부산에 갈 거예요</a:t>
            </a:r>
            <a:r>
              <a:rPr lang="en-US" sz="2800" dirty="0">
                <a:solidFill>
                  <a:srgbClr val="14142B"/>
                </a:solidFill>
              </a:rPr>
              <a:t>. — Voy a ir a Busan en tren.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영화를 보거나 쉴 거예요</a:t>
            </a:r>
            <a:r>
              <a:rPr lang="en-US" sz="2800" dirty="0">
                <a:solidFill>
                  <a:srgbClr val="14142B"/>
                </a:solidFill>
              </a:rPr>
              <a:t>. — Voy a ver una película o a descansar.</a:t>
            </a:r>
            <a:endParaRPr lang="en-US" sz="2800" dirty="0"/>
          </a:p>
        </p:txBody>
      </p:sp>
      <p:sp>
        <p:nvSpPr>
          <p:cNvPr id="4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5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2200" b="1" dirty="0">
                <a:solidFill>
                  <a:srgbClr val="003478"/>
                </a:solidFill>
              </a:rPr>
              <a:t>Tarea · ≈ 30 min · antes del mié 25, 21:00</a:t>
            </a:r>
            <a:r>
              <a:rPr lang="en-US" sz="1500" b="1" i="1" dirty="0">
                <a:solidFill>
                  <a:srgbClr val="8A8DA0"/>
                </a:solidFill>
              </a:rPr>
              <a:t>   Homework · about 30 min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Entrega en el grupo de WhatsApp del curso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566928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1 · Hoja 5 (12 min): el itinerario de Minji (12 huecos) + tu plan del finde en 4 frases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2 · Lector → Practicar → Palabras, 3 rondas seguidas (5 min) + captura de Progreso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3 · Quiz en línea 2 (8 min): 10 preguntas; el link llega esta noche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4 · Prepara la S6 (5 min): 3 cosas que sabes hacer, 3 que no y una invitación a rechazar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Reto: 뭐 타고 갈 거예요</a:t>
            </a:r>
            <a:r>
              <a:rPr lang="en-US" sz="2000" dirty="0">
                <a:solidFill>
                  <a:srgbClr val="14142B"/>
                </a:solidFill>
              </a:rPr>
              <a:t>? + 2 frases con -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</a:t>
            </a:r>
            <a:r>
              <a:rPr lang="en-US" sz="2000" dirty="0">
                <a:solidFill>
                  <a:srgbClr val="14142B"/>
                </a:solidFill>
              </a:rPr>
              <a:t>· Rescate: sin los huecos 6 y 8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Quiz 5: 갈 </a:t>
            </a:r>
            <a:r>
              <a:rPr lang="en-US" sz="2000" dirty="0">
                <a:solidFill>
                  <a:srgbClr val="14142B"/>
                </a:solidFill>
              </a:rPr>
              <a:t>·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먹을 </a:t>
            </a:r>
            <a:r>
              <a:rPr lang="en-US" sz="2000" dirty="0">
                <a:solidFill>
                  <a:srgbClr val="14142B"/>
                </a:solidFill>
              </a:rPr>
              <a:t>·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 거예요 </a:t>
            </a:r>
            <a:r>
              <a:rPr lang="en-US" sz="2000" dirty="0">
                <a:solidFill>
                  <a:srgbClr val="14142B"/>
                </a:solidFill>
              </a:rPr>
              <a:t>·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endParaRPr lang="en-US" sz="2000" dirty="0"/>
          </a:p>
        </p:txBody>
      </p:sp>
      <p:sp>
        <p:nvSpPr>
          <p:cNvPr id="5" name="panel"/>
          <p:cNvSpPr/>
          <p:nvPr/>
        </p:nvSpPr>
        <p:spPr>
          <a:xfrm>
            <a:off x="6446520" y="1371600"/>
            <a:ext cx="5193792" cy="4800600"/>
          </a:xfrm>
          <a:prstGeom prst="roundRect">
            <a:avLst>
              <a:gd name="adj" fmla="val 4762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imagen" descr="C:/Users/Chingu/Desktop/ACADEMIASEULWEB/Curriculo/fuente/decks/img/B2S5/L24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549" y="1463040"/>
            <a:ext cx="4005733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잘했어요</a:t>
            </a:r>
            <a:r>
              <a:rPr lang="en-US" sz="2200" b="1" dirty="0">
                <a:solidFill>
                  <a:srgbClr val="FFFFFF"/>
                </a:solidFill>
              </a:rPr>
              <a:t>!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주에 봐요</a:t>
            </a:r>
            <a:r>
              <a:rPr lang="en-US" sz="2200" b="1" dirty="0">
                <a:solidFill>
                  <a:srgbClr val="FFFFFF"/>
                </a:solidFill>
              </a:rPr>
              <a:t>!  ¡Muy bien! ¡Nos vemos la próxima semana!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1463040" y="2971800"/>
            <a:ext cx="92628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</a:t>
            </a:r>
            <a:r>
              <a:rPr lang="en-US" sz="2200" dirty="0">
                <a:solidFill>
                  <a:srgbClr val="FFFFFF"/>
                </a:solidFill>
              </a:rPr>
              <a:t>!</a:t>
            </a:r>
            <a:endParaRPr lang="en-US" sz="2200" dirty="0"/>
          </a:p>
          <a:p>
            <a:pPr marL="0" indent="0" algn="ctr" eaLnBrk="1">
              <a:buNone/>
            </a:pPr>
            <a:r>
              <a:rPr lang="en-US" sz="2200" dirty="0">
                <a:solidFill>
                  <a:srgbClr val="FFFFFF"/>
                </a:solidFill>
              </a:rPr>
              <a:t>Clase 6: miércoles 25 de noviembre, 21:00 (hora de Chile)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¿Adónde voy?</a:t>
            </a:r>
            <a:r>
              <a:rPr lang="en-US" sz="1500" b="1" i="1" dirty="0">
                <a:solidFill>
                  <a:srgbClr val="8A8DA0"/>
                </a:solidFill>
              </a:rPr>
              <a:t>   Where am I going?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Actividad de emergencia · pregunten solo con 네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 </a:t>
            </a:r>
            <a:r>
              <a:rPr lang="en-US" sz="1800" i="1" dirty="0">
                <a:solidFill>
                  <a:srgbClr val="4236F6"/>
                </a:solidFill>
              </a:rPr>
              <a:t>· Jay piensa un destino. Pregunten: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비행기로 갈 거예요</a:t>
            </a:r>
            <a:r>
              <a:rPr lang="en-US" sz="1800" i="1" dirty="0">
                <a:solidFill>
                  <a:srgbClr val="4236F6"/>
                </a:solidFill>
              </a:rPr>
              <a:t>? 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바다가 있어요</a:t>
            </a:r>
            <a:r>
              <a:rPr lang="en-US" sz="1800" i="1" dirty="0">
                <a:solidFill>
                  <a:srgbClr val="4236F6"/>
                </a:solidFill>
              </a:rPr>
              <a:t>? 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거기에서 한국 음식을 먹을 거예요</a:t>
            </a:r>
            <a:r>
              <a:rPr lang="en-US" sz="1800" i="1" dirty="0">
                <a:solidFill>
                  <a:srgbClr val="4236F6"/>
                </a:solidFill>
              </a:rPr>
              <a:t>?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965960"/>
            <a:ext cx="2635758" cy="4206240"/>
          </a:xfrm>
          <a:prstGeom prst="roundRect">
            <a:avLst>
              <a:gd name="adj" fmla="val 5204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item_img_0" descr="C:\Users\Chingu\AppData\Local\Temp\claude\C--Users-Chingu-Desktop-ACADEMIASEULWEB\d4111e1b-5523-44ea-97b2-b1a1d9545b9e\scratchpad\decks\cache\img_47d9033fe05017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06549"/>
            <a:ext cx="2416302" cy="2416302"/>
          </a:xfrm>
          <a:prstGeom prst="rect">
            <a:avLst/>
          </a:prstGeom>
        </p:spPr>
      </p:pic>
      <p:sp>
        <p:nvSpPr>
          <p:cNvPr id="6" name="num_0"/>
          <p:cNvSpPr/>
          <p:nvPr/>
        </p:nvSpPr>
        <p:spPr>
          <a:xfrm>
            <a:off x="640080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617720"/>
            <a:ext cx="24528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2200" dirty="0">
                <a:solidFill>
                  <a:srgbClr val="14142B"/>
                </a:solidFill>
              </a:rPr>
              <a:t>Foto 1</a:t>
            </a:r>
            <a:endParaRPr lang="en-US" sz="2200" dirty="0"/>
          </a:p>
        </p:txBody>
      </p:sp>
      <p:sp>
        <p:nvSpPr>
          <p:cNvPr id="9" name="rev_10_caja"/>
          <p:cNvSpPr/>
          <p:nvPr/>
        </p:nvSpPr>
        <p:spPr>
          <a:xfrm>
            <a:off x="658368" y="5440680"/>
            <a:ext cx="2416302" cy="640080"/>
          </a:xfrm>
          <a:prstGeom prst="roundRect">
            <a:avLst>
              <a:gd name="adj" fmla="val 1714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0" name="rev_10_txt"/>
          <p:cNvSpPr txBox="1"/>
          <p:nvPr/>
        </p:nvSpPr>
        <p:spPr>
          <a:xfrm>
            <a:off x="685800" y="5440680"/>
            <a:ext cx="23614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</a:t>
            </a:r>
            <a:endParaRPr lang="en-US" sz="2000" dirty="0"/>
          </a:p>
        </p:txBody>
      </p:sp>
      <p:sp>
        <p:nvSpPr>
          <p:cNvPr id="11" name="card_1"/>
          <p:cNvSpPr/>
          <p:nvPr/>
        </p:nvSpPr>
        <p:spPr>
          <a:xfrm>
            <a:off x="3367278" y="1965960"/>
            <a:ext cx="2635758" cy="4206240"/>
          </a:xfrm>
          <a:prstGeom prst="roundRect">
            <a:avLst>
              <a:gd name="adj" fmla="val 5204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2" name="item_img_1" descr="C:\Users\Chingu\AppData\Local\Temp\claude\C--Users-Chingu-Desktop-ACADEMIASEULWEB\d4111e1b-5523-44ea-97b2-b1a1d9545b9e\scratchpad\decks\cache\img_659428b678fd4e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7006" y="2106549"/>
            <a:ext cx="2416302" cy="2416302"/>
          </a:xfrm>
          <a:prstGeom prst="rect">
            <a:avLst/>
          </a:prstGeom>
        </p:spPr>
      </p:pic>
      <p:sp>
        <p:nvSpPr>
          <p:cNvPr id="13" name="num_1"/>
          <p:cNvSpPr/>
          <p:nvPr/>
        </p:nvSpPr>
        <p:spPr>
          <a:xfrm>
            <a:off x="3458718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45871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458718" y="4617720"/>
            <a:ext cx="24528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2200" dirty="0">
                <a:solidFill>
                  <a:srgbClr val="14142B"/>
                </a:solidFill>
              </a:rPr>
              <a:t>Foto 2</a:t>
            </a:r>
            <a:endParaRPr lang="en-US" sz="2200" dirty="0"/>
          </a:p>
        </p:txBody>
      </p:sp>
      <p:sp>
        <p:nvSpPr>
          <p:cNvPr id="16" name="rev_11_caja"/>
          <p:cNvSpPr/>
          <p:nvPr/>
        </p:nvSpPr>
        <p:spPr>
          <a:xfrm>
            <a:off x="3477006" y="5440680"/>
            <a:ext cx="2416302" cy="640080"/>
          </a:xfrm>
          <a:prstGeom prst="roundRect">
            <a:avLst>
              <a:gd name="adj" fmla="val 1714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7" name="rev_11_txt"/>
          <p:cNvSpPr txBox="1"/>
          <p:nvPr/>
        </p:nvSpPr>
        <p:spPr>
          <a:xfrm>
            <a:off x="3504438" y="5440680"/>
            <a:ext cx="23614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</a:t>
            </a:r>
            <a:endParaRPr lang="en-US" sz="2000" dirty="0"/>
          </a:p>
        </p:txBody>
      </p:sp>
      <p:sp>
        <p:nvSpPr>
          <p:cNvPr id="18" name="card_2"/>
          <p:cNvSpPr/>
          <p:nvPr/>
        </p:nvSpPr>
        <p:spPr>
          <a:xfrm>
            <a:off x="6185916" y="1965960"/>
            <a:ext cx="2635758" cy="4206240"/>
          </a:xfrm>
          <a:prstGeom prst="roundRect">
            <a:avLst>
              <a:gd name="adj" fmla="val 5204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9" name="item_img_2" descr="C:\Users\Chingu\AppData\Local\Temp\claude\C--Users-Chingu-Desktop-ACADEMIASEULWEB\d4111e1b-5523-44ea-97b2-b1a1d9545b9e\scratchpad\decks\cache\img_f1bc48cd970c0ca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5644" y="2106549"/>
            <a:ext cx="2416302" cy="2416302"/>
          </a:xfrm>
          <a:prstGeom prst="rect">
            <a:avLst/>
          </a:prstGeom>
        </p:spPr>
      </p:pic>
      <p:sp>
        <p:nvSpPr>
          <p:cNvPr id="20" name="num_2"/>
          <p:cNvSpPr/>
          <p:nvPr/>
        </p:nvSpPr>
        <p:spPr>
          <a:xfrm>
            <a:off x="6277356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277356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6277356" y="4617720"/>
            <a:ext cx="24528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2200" dirty="0">
                <a:solidFill>
                  <a:srgbClr val="14142B"/>
                </a:solidFill>
              </a:rPr>
              <a:t>Foto 3</a:t>
            </a:r>
            <a:endParaRPr lang="en-US" sz="2200" dirty="0"/>
          </a:p>
        </p:txBody>
      </p:sp>
      <p:sp>
        <p:nvSpPr>
          <p:cNvPr id="23" name="rev_12_caja"/>
          <p:cNvSpPr/>
          <p:nvPr/>
        </p:nvSpPr>
        <p:spPr>
          <a:xfrm>
            <a:off x="6295644" y="5440680"/>
            <a:ext cx="2416302" cy="640080"/>
          </a:xfrm>
          <a:prstGeom prst="roundRect">
            <a:avLst>
              <a:gd name="adj" fmla="val 1714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4" name="rev_12_txt"/>
          <p:cNvSpPr txBox="1"/>
          <p:nvPr/>
        </p:nvSpPr>
        <p:spPr>
          <a:xfrm>
            <a:off x="6323076" y="5440680"/>
            <a:ext cx="23614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제주도</a:t>
            </a:r>
            <a:endParaRPr lang="en-US" sz="2000" dirty="0"/>
          </a:p>
        </p:txBody>
      </p:sp>
      <p:sp>
        <p:nvSpPr>
          <p:cNvPr id="25" name="card_3"/>
          <p:cNvSpPr/>
          <p:nvPr/>
        </p:nvSpPr>
        <p:spPr>
          <a:xfrm>
            <a:off x="9004554" y="1965960"/>
            <a:ext cx="2635758" cy="4206240"/>
          </a:xfrm>
          <a:prstGeom prst="roundRect">
            <a:avLst>
              <a:gd name="adj" fmla="val 5204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6" name="item_img_3" descr="C:\Users\Chingu\AppData\Local\Temp\claude\C--Users-Chingu-Desktop-ACADEMIASEULWEB\d4111e1b-5523-44ea-97b2-b1a1d9545b9e\scratchpad\decks\cache\img_f61f3cfb175bff2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4282" y="2106549"/>
            <a:ext cx="2416302" cy="2416302"/>
          </a:xfrm>
          <a:prstGeom prst="rect">
            <a:avLst/>
          </a:prstGeom>
        </p:spPr>
      </p:pic>
      <p:sp>
        <p:nvSpPr>
          <p:cNvPr id="27" name="num_3"/>
          <p:cNvSpPr/>
          <p:nvPr/>
        </p:nvSpPr>
        <p:spPr>
          <a:xfrm>
            <a:off x="9095994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9095994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9095994" y="4617720"/>
            <a:ext cx="24528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2200" dirty="0">
                <a:solidFill>
                  <a:srgbClr val="14142B"/>
                </a:solidFill>
              </a:rPr>
              <a:t>Foto 4</a:t>
            </a:r>
            <a:endParaRPr lang="en-US" sz="2200" dirty="0"/>
          </a:p>
        </p:txBody>
      </p:sp>
      <p:sp>
        <p:nvSpPr>
          <p:cNvPr id="30" name="rev_13_caja"/>
          <p:cNvSpPr/>
          <p:nvPr/>
        </p:nvSpPr>
        <p:spPr>
          <a:xfrm>
            <a:off x="9114282" y="5440680"/>
            <a:ext cx="2416302" cy="640080"/>
          </a:xfrm>
          <a:prstGeom prst="roundRect">
            <a:avLst>
              <a:gd name="adj" fmla="val 1714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1" name="rev_13_txt"/>
          <p:cNvSpPr txBox="1"/>
          <p:nvPr/>
        </p:nvSpPr>
        <p:spPr>
          <a:xfrm>
            <a:off x="9141714" y="5440680"/>
            <a:ext cx="23614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일본 </a:t>
            </a:r>
            <a:r>
              <a:rPr lang="en-US" sz="2000" b="1" dirty="0">
                <a:solidFill>
                  <a:srgbClr val="FFFFFF"/>
                </a:solidFill>
              </a:rPr>
              <a:t>(Tokio)</a:t>
            </a:r>
            <a:endParaRPr lang="en-US" sz="20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24" grpId="0" animBg="1"/>
      <p:bldP spid="31" grpId="0" animBg="1"/>
    </p:bldLst>
  </p:timing>
</p:sld>
</file>

<file path=ppt/theme/theme1.xml><?xml version="1.0" encoding="utf-8"?>
<a:theme xmlns:a="http://schemas.openxmlformats.org/drawingml/2006/main" name="Academia Seul">
  <a:themeElements>
    <a:clrScheme name="Academia Seul">
      <a:dk1>
        <a:srgbClr val="14142B"/>
      </a:dk1>
      <a:lt1>
        <a:srgbClr val="FFFFFF"/>
      </a:lt1>
      <a:dk2>
        <a:srgbClr val="003478"/>
      </a:dk2>
      <a:lt2>
        <a:srgbClr val="F1F0FE"/>
      </a:lt2>
      <a:accent1>
        <a:srgbClr val="4236F6"/>
      </a:accent1>
      <a:accent2>
        <a:srgbClr val="E8B84B"/>
      </a:accent2>
      <a:accent3>
        <a:srgbClr val="003478"/>
      </a:accent3>
      <a:accent4>
        <a:srgbClr val="8A83FF"/>
      </a:accent4>
      <a:accent5>
        <a:srgbClr val="5C5F6B"/>
      </a:accent5>
      <a:accent6>
        <a:srgbClr val="B8962E"/>
      </a:accent6>
      <a:hlink>
        <a:srgbClr val="4236F6"/>
      </a:hlink>
      <a:folHlink>
        <a:srgbClr val="003478"/>
      </a:folHlink>
    </a:clrScheme>
    <a:fontScheme name="Academia Seu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5208</Words>
  <Application>Microsoft Office PowerPoint</Application>
  <PresentationFormat>Widescreen</PresentationFormat>
  <Paragraphs>369</Paragraphs>
  <Slides>28</Slides>
  <Notes>28</Notes>
  <HiddenSlides>0</HiddenSlides>
  <MMClips>7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Malgun Gothic</vt:lpstr>
      <vt:lpstr>Arial</vt:lpstr>
      <vt:lpstr>Academia Seul</vt:lpstr>
      <vt:lpstr>Semana 5 · El futuro y tus planes</vt:lpstr>
      <vt:lpstr>El miércoles pasado fue 빼빼로데이   Last Wednesday was Pepero Day in Korea</vt:lpstr>
      <vt:lpstr>퀴즈 4  Quiz 4   Quiz 4</vt:lpstr>
      <vt:lpstr>Hoja 4 · lo que vi   Worksheet 4 · what I saw</vt:lpstr>
      <vt:lpstr>Hoy vas a poder decir   Today you'll be able to say</vt:lpstr>
      <vt:lpstr>제 계획  Mi plan   My plan</vt:lpstr>
      <vt:lpstr>-(으)ㄹ 거예요 · voy a…   -(으)ㄹ 거예요 · going to…</vt:lpstr>
      <vt:lpstr>Se escribe · se dice   How it's written · how it sounds</vt:lpstr>
      <vt:lpstr>언제?  ¿Cuándo?   When?</vt:lpstr>
      <vt:lpstr>이번 주말에 뭐 할 거예요?  ¿Qué vas a hacer este fin de semana?</vt:lpstr>
      <vt:lpstr>뭐로 가요?  ¿En qué vas?   How do you get there?</vt:lpstr>
      <vt:lpstr>Tres "en"   Three ways to say "in"</vt:lpstr>
      <vt:lpstr>회사에 뭐로 가요?  ¿En qué vas a la oficina?   How do you get to work?</vt:lpstr>
      <vt:lpstr>여름휴가  Vacaciones cortas   Short summer vacations</vt:lpstr>
      <vt:lpstr>휴가 · 방학  Dos vacaciones   Two kinds of vacation</vt:lpstr>
      <vt:lpstr>-거나 · o (entre acciones)   -거나 · or (between actions)</vt:lpstr>
      <vt:lpstr>(이)나 · o (entre cosas)   (이)나 · or (between things)</vt:lpstr>
      <vt:lpstr>La regla del 받침, tres veces   The 받침 rule, three times</vt:lpstr>
      <vt:lpstr>두 개!  ¡Dos opciones!   Two options!</vt:lpstr>
      <vt:lpstr>같이 ___아요/어요! — 좋아요!  Para invitar: juntos + presente</vt:lpstr>
      <vt:lpstr>Salas · 3 rondas   Breakout rooms · 3 rounds</vt:lpstr>
      <vt:lpstr>Tres tiempos, una frase   Three tenses, one sentence</vt:lpstr>
      <vt:lpstr>파트너는 뭐 할 거예요?  ¿Qué va a hacer tu pareja?</vt:lpstr>
      <vt:lpstr>Lo que oí hoy   What I heard today</vt:lpstr>
      <vt:lpstr>Las 3 frases de hoy   Today's 3 key sentences</vt:lpstr>
      <vt:lpstr>Tarea · ≈ 30 min · antes del mié 25, 21:00   Homework · about 30 min</vt:lpstr>
      <vt:lpstr>잘했어요! 다음 주에 봐요!  ¡Muy bien! ¡Nos vemos la próxima semana!</vt:lpstr>
      <vt:lpstr>¿Adónde voy?   Where am I going?</vt:lpstr>
    </vt:vector>
  </TitlesOfParts>
  <Company>Academia Seúl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Básico 2 (A1.2) · Semana 5 · 갈 거예요! · El futuro y tus planes</dc:title>
  <dc:subject>PptxGenJS Presentation</dc:subject>
  <dc:creator>Academia Seúl</dc:creator>
  <cp:lastModifiedBy>Jae Hee Kim</cp:lastModifiedBy>
  <cp:revision>2</cp:revision>
  <dcterms:created xsi:type="dcterms:W3CDTF">2026-10-16T10:02:35Z</dcterms:created>
  <dcterms:modified xsi:type="dcterms:W3CDTF">2026-10-16T10:04:05Z</dcterms:modified>
</cp:coreProperties>
</file>