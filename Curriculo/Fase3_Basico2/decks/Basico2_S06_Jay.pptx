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12192000"/>
  <p:defaultTextStyle>
    <a:lvl1pPr marL="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mana 6" id="{A15C02ED-8A2A-71D8-9BE1-63F9CD7BF36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9427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20:50–21:00, en pantalla mientras entran (Compartir sonido marcado). A las 21:00 en punto, graba desde el minuto 0 (Basico2_S06_2026-11-25) y saluda: «안녕하세요, 여러분!». Antes de pasar a L2, pon el chat en 'solo anfitrión'.
Fuente: Portada de la plantilla
Lámina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21:00–21:03:30. «Arrancamos con el quiz de la semana 5: cinco preguntas en pantalla, un solo mensaje, numerado, en 한글; tienen dos minutos y medio; como siempre, el chat me llega solo a mí.» No reveles aquí: la clave aparece en L4a. Alterna con L3 para que vean el ítem 5 (o deja L3 en pantalla el último minuto).
Fuente: Nueva (clave en C.16)
Lámina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Ítem original con el formato de las preguntas TOPIK I '¿de qué se habla?' (revisar D-12: si prefieres uno oficial de topik.go.kr, cita edición y número). A las 21:03:30, «끝!»: guarda el chat y vuelve a ponerlo en 'todos'. El ítem 5 se anota en su propia columna.
Fuente: Nueva (clave en C.16)
Lámina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21:03:30 · 1 min. «Uno: 갈 거예요. Dos: 먹을 거예요: 먹 termina en consonante. Tres, la trampa: 살 거예요, 살다 ya tiene ㄹ. Cuatro: 지하철로. Cinco: ③ 계획, un plan: 'voy a ir', 'voy a ir en avión'.» Felicita por nombre («잘했어요, ___!»). Si alguien escribió 가을 거예요 o 살을 거예요: el gesto de la S5 + «다시 한번», preguntando '¿termina en vocal o en consonante?'; 갈거예요 junto no resta en el quiz, se anota para la hoja.
Fuente: Nueva
Lámina 4a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1 min, termina a las 21:05. Las dos preguntas del quiz en línea 2 son de respaldo (la 5 y la 8 de su clave, en la guía de la S5): el lun 23 cámbialas por las 2 más falladas según el resumen del formulario y resuelve cada una en 20 s. Termina con el error frecuente de la Hoja 5 en 10 s (este, o el que anotaste: 가을 거예요, 갈거예요 sin espacio). La forma mala va tachada en gris.
Fuente: Nueva (preguntas del quiz en línea 2: guía de la S5, C.16.4)
Lámina 4b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21:05 · 40 s. «¿Se acuerdan de la clase de la semana pasada? En Corea eran las 9 de la mañana del jueves 19, y se rendía el 수능, el examen de ingreso a la universidad.» Mientras teníamos la clase 5 corría la primera prueba, que es de coreano, 국어 (revisar: confirma el horario 2026 en kice.re.kr): estudiamos coreano a la misma hora que ellos. A quien va a rendir un examen se le dice 시험 잘 보세요!: solo para reconocer. Guiño de 10 s: «¿Se acuerdan de la sopa del cumpleaños, 미역국? Antes de un examen, muchos no la comen; se los cuento al final… o lo leen en el blog.» Si preguntan por los aviones: una línea y sigues.
Imagen: incluida (dibujo de la casa).
Fuente: Nueva
Lámina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s. «Esto es lo que van a poder decir al final de la clase. No lo expliquemos: solo mírenlo.»
Fuente: Nueva (sección 0 de la guía)
Lámina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21:06 · 1 min. Dices cada frase dos veces, con gesto, sin traducir; ellos escriben en el chat qué entendieron. Las frases aparecen con clic y confirmas lo que escribieron. «Hoy son tres piezas: dos 'no' distintos, 안 y 못, y un 'sí puedo': 할 수 있어요.» Revisar: si alguna no es verdad para ti, cambia el verbo, no la estructura.
Imagen: incluida (dibujo de la casa).
Fuente: Nueva (fotos de Jay)
Lámina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21:07 · 1 min 30 s. El 안 va justo delante del verbo, como nuestro 'no': primero la carne, después 안, después el verbo; la forma mala va tachada en gris. 따라 하세요: 고기를 안 먹어요 · 커피를 안 마셔요 · 오늘은 안 바빠요! Rol de experto (20 s): pide a alguien del Nivel 1 de julio un ejemplo (esperable: 학교에 안 가요) y anúncialos como 'los expertos de 안' en sus salas.
Fuente: Nueva
Lámina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 30 s. Con los verbos 'sustantivo de actividad + 하다' (운동하다, 공부하다, 일하다, 요리하다, 수영하다), el 안 se mete al medio, justo antes de 하다: 'ejercicio no hago'. Prueba rápida: si puedes decir 운동을 해요, el 안 va al medio. No se parten 좋아하다 ni los adjetivos en 하다 (피곤하다). 따라 하세요: 운동 안 해요 · 공부 안 해요 · 일 안 해요 · 안 좋아해요.
Fuente: Nueva
Lámina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 30 s. Lee 3 respuestas en voz alta con el nombre y pide a esos 3 que la digan con micrófono; corrige solo forma y posición («다시 한번… 잘했어요!»). Esperables: 저는 고기를 안 먹어요 · 저는 술을 안 마셔요 · 저는 커피를 안 마셔요 · 저는 운동 안 해요. Si aparece 저는 안 운동해요: «¿운동을 해요? Sí → al medio: 운동 안 해요.»
Fuente: Nueva
Lámina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21:11:30 · 1 min 30 s. Raíz + 지 않아요, sin regla de vocales: dice exactamente lo mismo que 안. Se oye más en textos, noticias o cuando alguien habla más formal; en la conversación diaria gana la corta. La ㅎ de 않아요 se cae, como en 좋아요 [조아요], y 먹지 suena [먹찌]. 따라 하세요: 먹지 않아요 · 운동하지 않아요.
Fuente: Nueva
Lámina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21:13 · 1 min. 못 quiere decir 'no puedo' o 'no sé', y va en el mismo lugar que 안. 매운 음식을 잘 못 먹어요 es una frase que en Corea van a usar mucho: 'no como bien el picante', o sea, no lo aguanto. 따라 하세요: 못 가요 · 수영 못 해요 · 매운 음식을 잘 못 먹어요.
Fuente: Sesion_11_Cierre_A1.pptx L5 (parte 'Alternativa 못'), adaptada
Lámina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21:14 · 1 min · la lámina clave de la semana. En español 'no voy' sirve para todo; en coreano hay que elegir. Truco: termina la frase mentalmente: '…porque no quiero' o 'porque no lo hago' = 안; '…porque no puedo' o 'porque no sé' = 못. Con adjetivos, solo 안: estar ocupado no es algo que puedas o no puedas. Aviso: en una invitación, 안 가요 suena a 'no quiero ir'; casi siempre van a querer 못 가요.
Fuente: Sesion_11_Cierre_A1.pptx L6, adaptada (sin romanización ni voseo, azul en vez de coral, sin generalizar, + 'con adjetivos, solo 안')
Lámina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21:15 · ≈ 15 s por frase, sin comentar cada una. Lees la situación en español y la frase con un 'mmm' en el hueco; después de cada una, dices la frase correcta y el grupo hace eco. Si la galería se divide en la 3: las dos se pueden decir, pero dicen cosas distintas (안 마셔요, no quiero; 못 마셔요, no puedo, me hace mal): es la idea del 'por qué' de la ronda 2.
Fuente: Nueva
Lámina 14a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Mismo ritmo que 14a: las 7 frases suman 1 min 45 s. Chat (30 s): «Una cosa que no sabes hacer: 저는 ___ 못 해요»; lee dos en voz alta.
Fuente: Nueva
Lámina 14b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 15 s (el bloque termina a las 21:19). Tres casos según lo que viene después; y nunca [모스] ni [모트]: la última consonante de 못 se corta, sin vocal. 따라 하세요: 못 해요 … 못 먹어요 … 못 가요, y escribe los tres corchetes en el chat. La forma larga de 못, -지 못해요 (가지 못해요), solo se reconoce: la van a ver escrita.
Fuente: Nueva
Lámina 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21:19 · 2 min. Es la misma pieza de la semana pasada: 갈 거예요 → 갈 수 있어요; si saben el futuro, ya saben esto, con las mismas trampas (놀 수, 들을 수). Para 'no puedo', 있어요 → 없어요. Después de esa ㄹ la ㅅ se tensa: [할쑤], como [갈꺼에요]. Mismo gesto de la S5 (vocal / consonante). 따라 하세요: 할 수 있어요 · 먹을 수 있어요 · 할 수 없어요.
Fuente: Sesion_11_Cierre_A1.pptx L5 '§11.3 · PODER', adaptada (ejemplos nuevos, sin la línea romanizada)
Lámina 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21:21 · 1 min 30 s. «Todos juntos, porque es verdad»: coro de 저는 한글을 읽을 수 있어요! «Hace unos meses no podían decir eso.» Al chat: una cosa que saben hacer, de las que anotaron para hoy; lee 3 y corrige. Si alguien pide un verbo que no está, dáselo como palabra a pedido sin detenerte (스키를 타다 · 자전거를 타다 · 피아노를 치다).
Fuente: Nueva
Lámina 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21:22:30 · 1 min 30 s. Coro de las cuatro respuestas. 전혀 es 'para nada' y siempre va con verbo negativo; 못 해요 y 할 수 없어요 dicen casi lo mismo (못 es más de conversación). En este nivel, 수영할 수 있어요 sirve para 'puedo nadar' y para 'sé nadar'. Pregunta a dos alumnos: «___ 씨, 운전할 수 있어요?» · «___ 씨, 매운 음식을 먹을 수 있어요?» → «잘했어요!»
Fuente: Nueva
Lámina 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21:24 · 1 min. Con estas cuatro no se usa 안 (la columna 'Así no' va tachada en gris). 싫어해요 es directo, más cerca de 'no me gusta nada'; con la comida de alguien, mejor 안 좋아해요 o, todavía mejor, 잘 못 먹어요. Chequeo en coro: «BTS 알아요?» → «네, 알아요!» o «아니요, 몰라요!» → «잘했어요!». Si vas atrasado: 20 s, solo la lámina y 'nunca 안 알아요'.
Fuente: Nueva
Lámina 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21:25 · 1 min 30 s. Pregunta al chat cómo rechazan una invitación en su país y lee 2–3 ('ahí vemos', 'te aviso', 'la próxima sí'). En Corea un 'no' seco suele sonar brusco, y muchos dicen 못 + una razón + 다음에: coro de la frase ancla, dos veces. 일이 있어서 es 'es que tengo algo', una frase hecha (la regla de -아서 llega en Conversacional 1), y 다음에 같이 가요 muchas veces es cortesía, no promesa. No generalices: hay gente muy directa; es una forma amable que se oye mucho.
Fuente: Diseño de burbujas de Sesion_11_Cierre_A1.pptx L8; contenido nuevo
Lámina 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21:26:30 · 1 min 30 s entre 21a y 21b, en burbujas de chat. Tú lees a 다니엘; un alumno de perfil A lee a 카밀라 («___ 씨, 읽으세요»). Preguntas en español: «¿Por qué no puede 카밀라 el jueves?» (일이 있어서) · «¿Qué día sí puede?» (금요일). Fíjate en 금요일은요?: así se propone otro día.
Fuente: Nueva (diálogo de la guía, escena 1)
Lámina 21a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Tercera pregunta: «¿다니엘 come picante?» (잘 못 먹어요). El truco del 네 (30 s): en español diríamos 'No, no pica'; en coreano, 네 dice 'lo que dijiste es correcto'. Si responden 아니요, están diciendo que sí pica. Si vas atrasado, lees tú solo, sin alumno ni preguntas, y dejas solo el truco del 네.
Fuente: Nueva (diálogo de la guía, escena 1)
Lámina 21b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21:28 · 2 min. -지만 = 'pero', pegado a la raíz del primer verbo; los dos 은/는 son el contraste de la semana 1. Hoy se usa como fórmula. 따라 하세요: 운전은 할 수 있지만 수영은 못 해요. Al chat, la suya; lee 2. Si alguien la arma con 먹다 (매운 음식은 먹을 수 있지만…): «¡perfecto!».
Fuente: Diseño de Sesion_10_Futuro_Vacaciones.pptx L5 '§10.3 · CONTRASTE -지만'; ejemplos nuevos
Lámina 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21:30–21:34:30. (a) 1 min, primero todos y las 4 últimas por nombre: 운동해요 → 운동 안 해요 · 바빠요 → 안 바빠요 · 공부해요 → 공부 안 해요 · 매워요 → 안 매워요 · 고기를 먹어요 → 고기를 안 먹어요 · 좋아해요 → 안 좋아해요 · 일해요 → 일 안 해요. (b) 1 min con el gesto de 'no puedo': 먹어요 → 못 먹어요 [몬머거요] · 봐요 → 못 봐요 [몯뽜요] · 마셔요 → 못 마셔요 [몬마셔요] · 운전해요 → 운전 못 해요; corrige al vuelo («다시 한번: [모태요]»). (c) 2 min 30 s, lista de participantes en pantalla: modelas «___ 씨, 기타를 칠 수 있어요?» → «아니요, 전혀 못 쳐요!» y sigue la vuelta; si a las 21:34 vas por el alumno 10, corta (el resto completa la columna 1 en la sala).
Fuente: Nueva
Lámina 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21:34:30 · 30 s; los horarios ya están en la lámina, no los leas. «Salas con su pareja, 20 minutos. Abran ya la sección 7: en la sala no ven este chat. La columna 3 soy yo: cuando entre, pregúntenme. Las rondas cambian con mi mensaje. Respuestas inventadas valen. 화이팅!» Abre las 7 salas (cierre automático a los 19 min + 60 s de cuenta regresiva) y transmite los mensajes a las 21:41, 21:45 y 21:51.
Fuente: Nueva
Lámina 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21:55 · Primero, 1 min 30 s de resumen de 3 alumnos (uno de perfil A, uno de B o C y alguien que habló poco): «___ 씨, 파트너는 뭐 할 수 있어요?» → «다니엘 씨는 수영할 수 있지만 운전은 못 해요.» → el aludido confirma «네!»; corrige solo el verbo o el 안/못 (revisar, sin 파트너: «___ 씨, ___ 씨는 뭐 할 수 있어요?»). Después, 1 min: tres errores con la forma correcta y todos repiten la buena. Nunca en rojo ni con letras latinas: el error de pronunciación va en 한글 entre corchetes.
Fuente: Nueva
Lámina 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«Primero yo, despacio; después ustedes.» Tú solo, lento, con 2 s de pausa; el grupo repite cada frase; luego las tres a ritmo natural. De aquí sale B2_S06_frases_clave.mp3 (lo recorta producción en 48 h): tu versión va sola, lenta y limpia.
Fuente: B.12 del diseño
Lámina 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 15 s. Compartes 20 s el Lector (Practicar → Pictogramas; pestaña Progreso). Después de cada ronda eligen 2 imágenes y dicen una frase con 안, 못 o 할 수 있어요 (커피를 안 마셔요 · 바다에서 수영할 수 있어요); la línea con letras latinas se tapa. El audio son 6 frases sobre lo que saben hacer y lo que no. Para la clase 7, dos ciudades, comidas o ídolos para comparar, con una foto de cada uno, y su escritorio a la vista: «Sí, en serio.»
Fuente: Nueva
Lámina 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s. Anticipo del quiz 6 y el dato de la sopa: muchos no comen 미역국 antes de un examen porque es resbalosa, y en coreano 'resbalarse' en un examen es reprobar (está en el blog). Despedida: «여러분, 화이팅! 감사합니다!» (con el curso corrido una semana, el 수능 ya fue: la despedida «오늘 수능 보는 학생들, 화이팅!» ya no corresponde). A las 22:00 en punto: 'Finalizar reunión para todos'.
Fuente: Nueva
Lámina 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Emergencia: solo si sobran 2–4 min en la sala principal. «기타를 칠 수 있어요? 손 드세요!» y cuentas en voz alta con números nativos (S2): «한 명, 두 명… 다섯 명이 기타를 칠 수 있어요!». Sigue con 수영, 운전, 춤 y 매운 음식. Otras opciones: excusas creativas ante planes absurdos («내일 아침 다섯 시에 같이 운동해요!») o dictado de 못 en el chat.
Fuente: Nueva
Lámina E1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Extensión para salas o alumnos que terminan antes. Mismo truco que 있어요 / 없어요: con estas palabras no se usa 안. No entra en el quiz 6.
Fuente: Nueva
Lámina E2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PORTADA">
    <p:bg>
      <p:bgPr>
        <a:solidFill>
          <a:srgbClr val="0034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hingu/Desktop/ACADEMIASEULWEB/public/email/sell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0020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FFFFF"/>
                </a:solidFill>
              </a:rPr>
              <a:t>ACADEMIA SEÚL</a:t>
            </a: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40080" y="30632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44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640080" y="4160520"/>
            <a:ext cx="108813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rgbClr val="E8B84B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6" name="Text 1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3DA"/>
                </a:solidFill>
              </a:rPr>
              <a:t>Básico 2 (A1.2) · Semana 6 · Jay Kim (김재희) · Academia Seúl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rgbClr val="003478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pic>
        <p:nvPicPr>
          <p:cNvPr id="3" name="Image 0" descr="C:/Users/Chingu/Desktop/ACADEMIASEULWEB/public/email/sello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411480"/>
            <a:ext cx="502920" cy="502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DA0"/>
                </a:solidFill>
              </a:rPr>
              <a:t>Básico 2 (A1.2) · Semana 6 · Jay Kim (김재희) · Academia Seúl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CIERRE">
    <p:bg>
      <p:bgPr>
        <a:solidFill>
          <a:srgbClr val="423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hingu/Desktop/ACADEMIASEULWEB/public/email/sell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029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1691640"/>
            <a:ext cx="1072591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1463040" y="2971800"/>
            <a:ext cx="9262872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 0"/>
          <p:cNvSpPr txBox="1"/>
          <p:nvPr/>
        </p:nvSpPr>
        <p:spPr>
          <a:xfrm>
            <a:off x="731520" y="626364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D7F7"/>
                </a:solidFill>
              </a:rPr>
              <a:t>Básico 2 (A1.2) · Semana 6 · Jay Kim (김재희) · Academia Seúl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0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0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0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0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0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audio" Target="../media/media6.mp3"/><Relationship Id="rId13" Type="http://schemas.openxmlformats.org/officeDocument/2006/relationships/image" Target="../media/image4.png"/><Relationship Id="rId3" Type="http://schemas.microsoft.com/office/2007/relationships/media" Target="../media/media4.mp3"/><Relationship Id="rId7" Type="http://schemas.microsoft.com/office/2007/relationships/media" Target="../media/media6.mp3"/><Relationship Id="rId12" Type="http://schemas.openxmlformats.org/officeDocument/2006/relationships/notesSlide" Target="../notesSlides/notesSlide32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p3"/><Relationship Id="rId11" Type="http://schemas.openxmlformats.org/officeDocument/2006/relationships/slideLayout" Target="../slideLayouts/slideLayout3.xml"/><Relationship Id="rId5" Type="http://schemas.microsoft.com/office/2007/relationships/media" Target="../media/media5.mp3"/><Relationship Id="rId10" Type="http://schemas.openxmlformats.org/officeDocument/2006/relationships/audio" Target="../media/media7.mp3"/><Relationship Id="rId4" Type="http://schemas.openxmlformats.org/officeDocument/2006/relationships/audio" Target="../media/media4.mp3"/><Relationship Id="rId9" Type="http://schemas.microsoft.com/office/2007/relationships/media" Target="../media/media7.mp3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_ko"/>
          <p:cNvSpPr txBox="1"/>
          <p:nvPr/>
        </p:nvSpPr>
        <p:spPr>
          <a:xfrm>
            <a:off x="640080" y="169164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marL="0" indent="0" eaLnBrk="1">
              <a:buNone/>
            </a:pPr>
            <a:r>
              <a:rPr lang="ko-KR" altLang="en-US" sz="6600" b="1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안녕하세요</a:t>
            </a:r>
            <a:r>
              <a:rPr lang="en-US" sz="6600" b="1" dirty="0">
                <a:solidFill>
                  <a:srgbClr val="E8B84B"/>
                </a:solidFill>
              </a:rPr>
              <a:t>!</a:t>
            </a:r>
            <a:endParaRPr lang="en-US" sz="66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40080" y="3063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1">
              <a:buNone/>
            </a:pPr>
            <a:r>
              <a:rPr lang="en-US" sz="4400" b="1" dirty="0">
                <a:solidFill>
                  <a:srgbClr val="FFFFFF"/>
                </a:solidFill>
              </a:rPr>
              <a:t>Mientras llegan</a:t>
            </a:r>
            <a:endParaRPr lang="en-US" sz="44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640080" y="416052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22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Semana 6 · 못 가요 </a:t>
            </a:r>
            <a:r>
              <a:rPr lang="en-US" sz="2200" dirty="0">
                <a:solidFill>
                  <a:srgbClr val="E8B84B"/>
                </a:solidFill>
              </a:rPr>
              <a:t>· Negación y habilidad · </a:t>
            </a:r>
            <a:r>
              <a:rPr lang="ko-KR" altLang="en-US" sz="22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</a:t>
            </a:r>
            <a:r>
              <a:rPr lang="en-US" sz="2200" dirty="0">
                <a:solidFill>
                  <a:srgbClr val="E8B84B"/>
                </a:solidFill>
              </a:rPr>
              <a:t>· </a:t>
            </a:r>
            <a:r>
              <a:rPr lang="ko-KR" altLang="en-US" sz="22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</a:t>
            </a:r>
            <a:r>
              <a:rPr lang="en-US" sz="2200" dirty="0">
                <a:solidFill>
                  <a:srgbClr val="E8B84B"/>
                </a:solidFill>
              </a:rPr>
              <a:t>· </a:t>
            </a:r>
            <a:r>
              <a:rPr lang="ko-KR" altLang="en-US" sz="22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 있어요</a:t>
            </a:r>
            <a:endParaRPr lang="en-US" sz="2200" dirty="0"/>
          </a:p>
          <a:p>
            <a:pPr marL="0" indent="0" eaLnBrk="1">
              <a:buNone/>
            </a:pPr>
            <a:r>
              <a:rPr lang="ko-KR" altLang="en-US" sz="22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 Corea: jueves 26, 09:00 · el jueves pasado fue el 수능</a:t>
            </a:r>
            <a:endParaRPr lang="en-US" sz="2200" dirty="0"/>
          </a:p>
          <a:p>
            <a:pPr marL="0" indent="0" eaLnBrk="1">
              <a:buNone/>
            </a:pPr>
            <a:r>
              <a:rPr lang="en-US" sz="2200" dirty="0">
                <a:solidFill>
                  <a:srgbClr val="E8B84B"/>
                </a:solidFill>
              </a:rPr>
              <a:t>El quiz 5 empieza a las 21:00: abre el chat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</a:t>
            </a:r>
            <a:r>
              <a:rPr lang="en-US" sz="3000" b="1" dirty="0">
                <a:solidFill>
                  <a:srgbClr val="4236F6"/>
                </a:solidFill>
              </a:rPr>
              <a:t>5  </a:t>
            </a:r>
            <a:r>
              <a:rPr lang="en-US" sz="3000" b="1" dirty="0">
                <a:solidFill>
                  <a:srgbClr val="003478"/>
                </a:solidFill>
              </a:rPr>
              <a:t>Quiz 5 (1–4)</a:t>
            </a:r>
            <a:r>
              <a:rPr lang="en-US" sz="1500" b="1" i="1" dirty="0">
                <a:solidFill>
                  <a:srgbClr val="8A8DA0"/>
                </a:solidFill>
              </a:rPr>
              <a:t>   Quiz 5 (1–4)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 solo mensaje, numerado, en 한글 </a:t>
            </a:r>
            <a:r>
              <a:rPr lang="en-US" sz="1800" i="1" dirty="0">
                <a:solidFill>
                  <a:srgbClr val="4236F6"/>
                </a:solidFill>
              </a:rPr>
              <a:t>· 2,5 min · el chat va solo a Jay 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쓰세요 </a:t>
            </a:r>
            <a:r>
              <a:rPr lang="en-US" sz="1800" i="1" dirty="0">
                <a:solidFill>
                  <a:srgbClr val="4236F6"/>
                </a:solidFill>
              </a:rPr>
              <a:t>· escriban 1) a 5) en un solo mensaje (la 5 está en la lámina siguiente).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17170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71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 부산에 </a:t>
            </a:r>
            <a:r>
              <a:rPr lang="en-US" sz="2400" dirty="0">
                <a:solidFill>
                  <a:srgbClr val="14142B"/>
                </a:solidFill>
              </a:rPr>
              <a:t>______. (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가다 </a:t>
            </a:r>
            <a:r>
              <a:rPr lang="en-US" sz="2400" dirty="0">
                <a:solidFill>
                  <a:srgbClr val="14142B"/>
                </a:solidFill>
              </a:rPr>
              <a:t>· futuro)</a:t>
            </a:r>
            <a:endParaRPr lang="en-US" sz="2400" dirty="0"/>
          </a:p>
        </p:txBody>
      </p:sp>
      <p:sp>
        <p:nvSpPr>
          <p:cNvPr id="7" name="rev_0_caja"/>
          <p:cNvSpPr/>
          <p:nvPr/>
        </p:nvSpPr>
        <p:spPr>
          <a:xfrm>
            <a:off x="7498080" y="2002536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0_txt"/>
          <p:cNvSpPr txBox="1"/>
          <p:nvPr/>
        </p:nvSpPr>
        <p:spPr>
          <a:xfrm>
            <a:off x="7589520" y="2002536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 거예요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316839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683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62656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저녁에 불고기를 </a:t>
            </a:r>
            <a:r>
              <a:rPr lang="en-US" sz="2400" dirty="0">
                <a:solidFill>
                  <a:srgbClr val="14142B"/>
                </a:solidFill>
              </a:rPr>
              <a:t>______. (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먹다 </a:t>
            </a:r>
            <a:r>
              <a:rPr lang="en-US" sz="2400" dirty="0">
                <a:solidFill>
                  <a:srgbClr val="14142B"/>
                </a:solidFill>
              </a:rPr>
              <a:t>· futuro)</a:t>
            </a:r>
            <a:endParaRPr lang="en-US" sz="2400" dirty="0"/>
          </a:p>
        </p:txBody>
      </p:sp>
      <p:sp>
        <p:nvSpPr>
          <p:cNvPr id="12" name="rev_1_caja"/>
          <p:cNvSpPr/>
          <p:nvPr/>
        </p:nvSpPr>
        <p:spPr>
          <a:xfrm>
            <a:off x="7498080" y="2999232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1_txt"/>
          <p:cNvSpPr txBox="1"/>
          <p:nvPr/>
        </p:nvSpPr>
        <p:spPr>
          <a:xfrm>
            <a:off x="7589520" y="2999232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먹을 거예요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416509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1650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95935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내년에 서울에서 </a:t>
            </a:r>
            <a:r>
              <a:rPr lang="en-US" sz="2400" dirty="0">
                <a:solidFill>
                  <a:srgbClr val="14142B"/>
                </a:solidFill>
              </a:rPr>
              <a:t>______. (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살다 </a:t>
            </a:r>
            <a:r>
              <a:rPr lang="en-US" sz="2400" dirty="0">
                <a:solidFill>
                  <a:srgbClr val="14142B"/>
                </a:solidFill>
              </a:rPr>
              <a:t>· futuro)</a:t>
            </a:r>
            <a:endParaRPr lang="en-US" sz="2400" dirty="0"/>
          </a:p>
        </p:txBody>
      </p:sp>
      <p:sp>
        <p:nvSpPr>
          <p:cNvPr id="17" name="rev_2_caja"/>
          <p:cNvSpPr/>
          <p:nvPr/>
        </p:nvSpPr>
        <p:spPr>
          <a:xfrm>
            <a:off x="7498080" y="3995928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2_txt"/>
          <p:cNvSpPr txBox="1"/>
          <p:nvPr/>
        </p:nvSpPr>
        <p:spPr>
          <a:xfrm>
            <a:off x="7589520" y="3995928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 거예요</a:t>
            </a:r>
            <a:endParaRPr lang="en-US" sz="2200" dirty="0"/>
          </a:p>
        </p:txBody>
      </p:sp>
      <p:sp>
        <p:nvSpPr>
          <p:cNvPr id="19" name="num_3"/>
          <p:cNvSpPr/>
          <p:nvPr/>
        </p:nvSpPr>
        <p:spPr>
          <a:xfrm>
            <a:off x="548640" y="516178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1617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956048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회사에 지하철</a:t>
            </a:r>
            <a:r>
              <a:rPr lang="en-US" sz="2400" dirty="0">
                <a:solidFill>
                  <a:srgbClr val="14142B"/>
                </a:solidFill>
              </a:rPr>
              <a:t>___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22" name="rev_3_caja"/>
          <p:cNvSpPr/>
          <p:nvPr/>
        </p:nvSpPr>
        <p:spPr>
          <a:xfrm>
            <a:off x="7498080" y="4992624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3_txt"/>
          <p:cNvSpPr txBox="1"/>
          <p:nvPr/>
        </p:nvSpPr>
        <p:spPr>
          <a:xfrm>
            <a:off x="7589520" y="4992624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</a:t>
            </a:r>
            <a:r>
              <a:rPr lang="en-US" sz="3000" b="1" dirty="0">
                <a:solidFill>
                  <a:srgbClr val="4236F6"/>
                </a:solidFill>
              </a:rPr>
              <a:t>5  </a:t>
            </a:r>
            <a:r>
              <a:rPr lang="en-US" sz="3000" b="1" dirty="0">
                <a:solidFill>
                  <a:srgbClr val="003478"/>
                </a:solidFill>
              </a:rPr>
              <a:t>Quiz 5 · ítem 5</a:t>
            </a:r>
            <a:r>
              <a:rPr lang="en-US" sz="1500" b="1" i="1" dirty="0">
                <a:solidFill>
                  <a:srgbClr val="8A8DA0"/>
                </a:solidFill>
              </a:rPr>
              <a:t>   Quiz 5 · item 5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Estilo TOPIK I · solo el número · 읽고 고르세요 </a:t>
            </a:r>
            <a:r>
              <a:rPr lang="en-US" sz="1800" i="1" dirty="0">
                <a:solidFill>
                  <a:srgbClr val="4236F6"/>
                </a:solidFill>
              </a:rPr>
              <a:t>(lee y elige): 「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주말에 제주도에 갈 거예요</a:t>
            </a:r>
            <a:r>
              <a:rPr lang="en-US" sz="1800" i="1" dirty="0">
                <a:solidFill>
                  <a:srgbClr val="4236F6"/>
                </a:solidFill>
              </a:rPr>
              <a:t>.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비행기로 갈 거예요</a:t>
            </a:r>
            <a:r>
              <a:rPr lang="en-US" sz="1800" i="1" dirty="0">
                <a:solidFill>
                  <a:srgbClr val="4236F6"/>
                </a:solidFill>
              </a:rPr>
              <a:t>.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호텔은 바다 앞에 있어요</a:t>
            </a:r>
            <a:r>
              <a:rPr lang="en-US" sz="1800" i="1" dirty="0">
                <a:solidFill>
                  <a:srgbClr val="4236F6"/>
                </a:solidFill>
              </a:rPr>
              <a:t>.」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323697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871216"/>
            <a:ext cx="6080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5) 무엇에 대한 이야기입니까</a:t>
            </a:r>
            <a:r>
              <a:rPr lang="en-US" sz="2300" dirty="0">
                <a:solidFill>
                  <a:srgbClr val="14142B"/>
                </a:solidFill>
              </a:rPr>
              <a:t>? (¿De qué habla?) ① </a:t>
            </a: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</a:t>
            </a:r>
            <a:r>
              <a:rPr lang="en-US" sz="2300" dirty="0">
                <a:solidFill>
                  <a:srgbClr val="14142B"/>
                </a:solidFill>
              </a:rPr>
              <a:t>② </a:t>
            </a: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 </a:t>
            </a:r>
            <a:r>
              <a:rPr lang="en-US" sz="2300" dirty="0">
                <a:solidFill>
                  <a:srgbClr val="14142B"/>
                </a:solidFill>
              </a:rPr>
              <a:t>③ </a:t>
            </a: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</a:t>
            </a:r>
            <a:r>
              <a:rPr lang="en-US" sz="2300" dirty="0">
                <a:solidFill>
                  <a:srgbClr val="14142B"/>
                </a:solidFill>
              </a:rPr>
              <a:t>④ </a:t>
            </a: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취미</a:t>
            </a:r>
            <a:endParaRPr lang="en-US" sz="2300" dirty="0"/>
          </a:p>
        </p:txBody>
      </p:sp>
      <p:sp>
        <p:nvSpPr>
          <p:cNvPr id="7" name="rev_4_caja"/>
          <p:cNvSpPr/>
          <p:nvPr/>
        </p:nvSpPr>
        <p:spPr>
          <a:xfrm>
            <a:off x="7498080" y="2907792"/>
            <a:ext cx="4142232" cy="1115568"/>
          </a:xfrm>
          <a:prstGeom prst="roundRect">
            <a:avLst>
              <a:gd name="adj" fmla="val 9836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4_txt"/>
          <p:cNvSpPr txBox="1"/>
          <p:nvPr/>
        </p:nvSpPr>
        <p:spPr>
          <a:xfrm>
            <a:off x="7589520" y="2907792"/>
            <a:ext cx="39593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계획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</a:t>
            </a:r>
            <a:r>
              <a:rPr lang="en-US" sz="3000" b="1" dirty="0">
                <a:solidFill>
                  <a:srgbClr val="4236F6"/>
                </a:solidFill>
              </a:rPr>
              <a:t>5  </a:t>
            </a:r>
            <a:r>
              <a:rPr lang="en-US" sz="3000" b="1" dirty="0">
                <a:solidFill>
                  <a:srgbClr val="003478"/>
                </a:solidFill>
              </a:rPr>
              <a:t>Clave del quiz 5</a:t>
            </a:r>
            <a:r>
              <a:rPr lang="en-US" sz="1500" b="1" i="1" dirty="0">
                <a:solidFill>
                  <a:srgbClr val="8A8DA0"/>
                </a:solidFill>
              </a:rPr>
              <a:t>   Quiz 5 answer key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Las respuestas aparecen con clic · ¿Qué escribiste? Compara.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10677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067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5285232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 부산에 </a:t>
            </a:r>
            <a:r>
              <a:rPr lang="en-US" sz="2400" dirty="0">
                <a:solidFill>
                  <a:srgbClr val="14142B"/>
                </a:solidFill>
              </a:rPr>
              <a:t>______. (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가다</a:t>
            </a:r>
            <a:r>
              <a:rPr lang="en-US" sz="2400" dirty="0">
                <a:solidFill>
                  <a:srgbClr val="14142B"/>
                </a:solidFill>
              </a:rPr>
              <a:t>)</a:t>
            </a:r>
            <a:endParaRPr lang="en-US" sz="2400" dirty="0"/>
          </a:p>
        </p:txBody>
      </p:sp>
      <p:sp>
        <p:nvSpPr>
          <p:cNvPr id="7" name="rev_5_caja"/>
          <p:cNvSpPr/>
          <p:nvPr/>
        </p:nvSpPr>
        <p:spPr>
          <a:xfrm>
            <a:off x="6702552" y="2002536"/>
            <a:ext cx="4937760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5_txt"/>
          <p:cNvSpPr txBox="1"/>
          <p:nvPr/>
        </p:nvSpPr>
        <p:spPr>
          <a:xfrm>
            <a:off x="6793992" y="2002536"/>
            <a:ext cx="4754880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 거예요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2973629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9736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832811"/>
            <a:ext cx="5285232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저녁에 불고기를 </a:t>
            </a:r>
            <a:r>
              <a:rPr lang="en-US" sz="2300" dirty="0">
                <a:solidFill>
                  <a:srgbClr val="14142B"/>
                </a:solidFill>
              </a:rPr>
              <a:t>______. (</a:t>
            </a: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먹다</a:t>
            </a:r>
            <a:r>
              <a:rPr lang="en-US" sz="2300" dirty="0">
                <a:solidFill>
                  <a:srgbClr val="14142B"/>
                </a:solidFill>
              </a:rPr>
              <a:t>)</a:t>
            </a:r>
            <a:endParaRPr lang="en-US" sz="2300" dirty="0"/>
          </a:p>
        </p:txBody>
      </p:sp>
      <p:sp>
        <p:nvSpPr>
          <p:cNvPr id="12" name="rev_6_caja"/>
          <p:cNvSpPr/>
          <p:nvPr/>
        </p:nvSpPr>
        <p:spPr>
          <a:xfrm>
            <a:off x="6702552" y="2869387"/>
            <a:ext cx="4937760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6_txt"/>
          <p:cNvSpPr txBox="1"/>
          <p:nvPr/>
        </p:nvSpPr>
        <p:spPr>
          <a:xfrm>
            <a:off x="6793992" y="2869387"/>
            <a:ext cx="4754880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먹을 거예요 </a:t>
            </a:r>
            <a:r>
              <a:rPr lang="en-US" sz="2200" b="1" dirty="0">
                <a:solidFill>
                  <a:srgbClr val="FFFFFF"/>
                </a:solidFill>
              </a:rPr>
              <a:t>(consonante →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r>
              <a:rPr lang="en-US" sz="2200" b="1" dirty="0">
                <a:solidFill>
                  <a:srgbClr val="FFFFFF"/>
                </a:solidFill>
              </a:rPr>
              <a:t>)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699662"/>
            <a:ext cx="5285232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내년에 서울에서 </a:t>
            </a:r>
            <a:r>
              <a:rPr lang="en-US" sz="2300" dirty="0">
                <a:solidFill>
                  <a:srgbClr val="14142B"/>
                </a:solidFill>
              </a:rPr>
              <a:t>______. (</a:t>
            </a: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살다</a:t>
            </a:r>
            <a:r>
              <a:rPr lang="en-US" sz="2300" dirty="0">
                <a:solidFill>
                  <a:srgbClr val="14142B"/>
                </a:solidFill>
              </a:rPr>
              <a:t>)</a:t>
            </a:r>
            <a:endParaRPr lang="en-US" sz="2300" dirty="0"/>
          </a:p>
        </p:txBody>
      </p:sp>
      <p:sp>
        <p:nvSpPr>
          <p:cNvPr id="17" name="rev_7_caja"/>
          <p:cNvSpPr/>
          <p:nvPr/>
        </p:nvSpPr>
        <p:spPr>
          <a:xfrm>
            <a:off x="6702552" y="3736238"/>
            <a:ext cx="4937760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7_txt"/>
          <p:cNvSpPr txBox="1"/>
          <p:nvPr/>
        </p:nvSpPr>
        <p:spPr>
          <a:xfrm>
            <a:off x="6793992" y="3736238"/>
            <a:ext cx="4754880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 거예요 </a:t>
            </a:r>
            <a:r>
              <a:rPr lang="en-US" sz="1900" b="1" dirty="0">
                <a:solidFill>
                  <a:srgbClr val="FFFFFF"/>
                </a:solidFill>
              </a:rPr>
              <a:t>(</a:t>
            </a:r>
            <a:r>
              <a:rPr lang="ko-KR" alt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ㄹ</a:t>
            </a:r>
            <a:r>
              <a:rPr lang="en-US" sz="1900" b="1" dirty="0">
                <a:solidFill>
                  <a:srgbClr val="FFFFFF"/>
                </a:solidFill>
              </a:rPr>
              <a:t>: no se agrega nada)</a:t>
            </a:r>
            <a:endParaRPr lang="en-US" sz="1900" dirty="0"/>
          </a:p>
        </p:txBody>
      </p:sp>
      <p:sp>
        <p:nvSpPr>
          <p:cNvPr id="19" name="num_3"/>
          <p:cNvSpPr/>
          <p:nvPr/>
        </p:nvSpPr>
        <p:spPr>
          <a:xfrm>
            <a:off x="548640" y="4707331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70733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566514"/>
            <a:ext cx="5285232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회사에 지하철</a:t>
            </a:r>
            <a:r>
              <a:rPr lang="en-US" sz="2400" dirty="0">
                <a:solidFill>
                  <a:srgbClr val="14142B"/>
                </a:solidFill>
              </a:rPr>
              <a:t>___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22" name="rev_8_caja"/>
          <p:cNvSpPr/>
          <p:nvPr/>
        </p:nvSpPr>
        <p:spPr>
          <a:xfrm>
            <a:off x="6702552" y="4603090"/>
            <a:ext cx="4937760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8_txt"/>
          <p:cNvSpPr txBox="1"/>
          <p:nvPr/>
        </p:nvSpPr>
        <p:spPr>
          <a:xfrm>
            <a:off x="6793992" y="4603090"/>
            <a:ext cx="4754880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</a:t>
            </a:r>
            <a:r>
              <a:rPr lang="en-US" sz="2200" b="1" dirty="0">
                <a:solidFill>
                  <a:srgbClr val="FFFFFF"/>
                </a:solidFill>
              </a:rPr>
              <a:t>(tras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ㄹ</a:t>
            </a:r>
            <a:r>
              <a:rPr lang="en-US" sz="2200" b="1" dirty="0">
                <a:solidFill>
                  <a:srgbClr val="FFFFFF"/>
                </a:solidFill>
              </a:rPr>
              <a:t>, solo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r>
              <a:rPr lang="en-US" sz="2200" b="1" dirty="0">
                <a:solidFill>
                  <a:srgbClr val="FFFFFF"/>
                </a:solidFill>
              </a:rPr>
              <a:t>)</a:t>
            </a:r>
            <a:endParaRPr lang="en-US" sz="2200" dirty="0"/>
          </a:p>
        </p:txBody>
      </p:sp>
      <p:sp>
        <p:nvSpPr>
          <p:cNvPr id="24" name="num_4"/>
          <p:cNvSpPr/>
          <p:nvPr/>
        </p:nvSpPr>
        <p:spPr>
          <a:xfrm>
            <a:off x="548640" y="557418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557418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5433365"/>
            <a:ext cx="5285232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무엇에 대한 이야기입니까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</p:txBody>
      </p:sp>
      <p:sp>
        <p:nvSpPr>
          <p:cNvPr id="27" name="rev_9_caja"/>
          <p:cNvSpPr/>
          <p:nvPr/>
        </p:nvSpPr>
        <p:spPr>
          <a:xfrm>
            <a:off x="6702552" y="5469941"/>
            <a:ext cx="4937760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8" name="rev_9_txt"/>
          <p:cNvSpPr txBox="1"/>
          <p:nvPr/>
        </p:nvSpPr>
        <p:spPr>
          <a:xfrm>
            <a:off x="6793992" y="5469941"/>
            <a:ext cx="4754880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계획</a:t>
            </a:r>
            <a:endParaRPr lang="en-US" sz="2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Quiz en línea 2 y Hoja 5</a:t>
            </a:r>
            <a:r>
              <a:rPr lang="en-US" sz="1500" b="1" i="1" dirty="0">
                <a:solidFill>
                  <a:srgbClr val="8A8DA0"/>
                </a:solidFill>
              </a:rPr>
              <a:t>   Online quiz 2 and worksheet 5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Las 2 preguntas más falladas + 1 error frecuente de la Hoja 5 (se completa el lun 23) · ¿Qué va? Las respuestas aparecen con clic.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57495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5749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369210"/>
            <a:ext cx="5285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1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Quiz en línea 2 · ¿Qué va en el hueco? 내일</a:t>
            </a:r>
            <a:r>
              <a:rPr lang="en-US" sz="2100" dirty="0">
                <a:solidFill>
                  <a:srgbClr val="14142B"/>
                </a:solidFill>
              </a:rPr>
              <a:t>___ </a:t>
            </a:r>
            <a:r>
              <a:rPr lang="ko-KR" altLang="en-US" sz="21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한국에 갈 거예요</a:t>
            </a:r>
            <a:r>
              <a:rPr lang="en-US" sz="2100" dirty="0">
                <a:solidFill>
                  <a:srgbClr val="14142B"/>
                </a:solidFill>
              </a:rPr>
              <a:t>.</a:t>
            </a:r>
            <a:endParaRPr lang="en-US" sz="2100" dirty="0"/>
          </a:p>
        </p:txBody>
      </p:sp>
      <p:sp>
        <p:nvSpPr>
          <p:cNvPr id="7" name="rev_10_caja"/>
          <p:cNvSpPr/>
          <p:nvPr/>
        </p:nvSpPr>
        <p:spPr>
          <a:xfrm>
            <a:off x="6702552" y="2405786"/>
            <a:ext cx="4937760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10_txt"/>
          <p:cNvSpPr txBox="1"/>
          <p:nvPr/>
        </p:nvSpPr>
        <p:spPr>
          <a:xfrm>
            <a:off x="6793992" y="2405786"/>
            <a:ext cx="4754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Nada: 내일 </a:t>
            </a:r>
            <a:r>
              <a:rPr lang="en-US" sz="2200" b="1" dirty="0">
                <a:solidFill>
                  <a:srgbClr val="FFFFFF"/>
                </a:solidFill>
              </a:rPr>
              <a:t>va sin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357164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57164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365906"/>
            <a:ext cx="5285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Quiz en línea 2 · 주말에 영화를 </a:t>
            </a:r>
            <a:r>
              <a:rPr lang="en-US" sz="2400" dirty="0">
                <a:solidFill>
                  <a:srgbClr val="14142B"/>
                </a:solidFill>
              </a:rPr>
              <a:t>______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집에서 쉴 거예요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12" name="rev_11_caja"/>
          <p:cNvSpPr/>
          <p:nvPr/>
        </p:nvSpPr>
        <p:spPr>
          <a:xfrm>
            <a:off x="6702552" y="3402482"/>
            <a:ext cx="4937760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11_txt"/>
          <p:cNvSpPr txBox="1"/>
          <p:nvPr/>
        </p:nvSpPr>
        <p:spPr>
          <a:xfrm>
            <a:off x="6793992" y="3402482"/>
            <a:ext cx="4754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보거나 </a:t>
            </a:r>
            <a:r>
              <a:rPr lang="en-US" sz="2200" b="1" dirty="0">
                <a:solidFill>
                  <a:srgbClr val="FFFFFF"/>
                </a:solidFill>
              </a:rPr>
              <a:t>(-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거나</a:t>
            </a:r>
            <a:r>
              <a:rPr lang="en-US" sz="2200" b="1" dirty="0">
                <a:solidFill>
                  <a:srgbClr val="FFFFFF"/>
                </a:solidFill>
              </a:rPr>
              <a:t>; el tiempo, solo al final)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456834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56834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4362602"/>
            <a:ext cx="5285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Hoja 5 · 지하철으로 가요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17" name="rev_12_caja"/>
          <p:cNvSpPr/>
          <p:nvPr/>
        </p:nvSpPr>
        <p:spPr>
          <a:xfrm>
            <a:off x="6702552" y="4399178"/>
            <a:ext cx="4937760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12_txt"/>
          <p:cNvSpPr txBox="1"/>
          <p:nvPr/>
        </p:nvSpPr>
        <p:spPr>
          <a:xfrm>
            <a:off x="6793992" y="4399178"/>
            <a:ext cx="4754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지하철로 가요</a:t>
            </a:r>
            <a:r>
              <a:rPr lang="en-US" sz="2000" b="1" dirty="0">
                <a:solidFill>
                  <a:srgbClr val="FFFFFF"/>
                </a:solidFill>
              </a:rPr>
              <a:t>. (tras </a:t>
            </a: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ㄹ</a:t>
            </a:r>
            <a:r>
              <a:rPr lang="en-US" sz="2000" b="1" dirty="0">
                <a:solidFill>
                  <a:srgbClr val="FFFFFF"/>
                </a:solidFill>
              </a:rPr>
              <a:t>, solo </a:t>
            </a: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r>
              <a:rPr lang="en-US" sz="2000" b="1" dirty="0">
                <a:solidFill>
                  <a:srgbClr val="FFFFFF"/>
                </a:solidFill>
              </a:rPr>
              <a:t>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지난주 목요일</a:t>
            </a:r>
            <a:r>
              <a:rPr lang="en-US" sz="2200" b="1" dirty="0">
                <a:solidFill>
                  <a:srgbClr val="4236F6"/>
                </a:solidFill>
              </a:rPr>
              <a:t>, </a:t>
            </a: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한국은</a:t>
            </a:r>
            <a:r>
              <a:rPr lang="en-US" sz="2200" b="1" dirty="0">
                <a:solidFill>
                  <a:srgbClr val="4236F6"/>
                </a:solidFill>
              </a:rPr>
              <a:t>… </a:t>
            </a: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수능  </a:t>
            </a:r>
            <a:r>
              <a:rPr lang="ko-KR" altLang="en-US" sz="22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 jueves pasado en Corea… el 수능</a:t>
            </a:r>
            <a:endParaRPr lang="en-US" sz="3000" dirty="0"/>
          </a:p>
        </p:txBody>
      </p:sp>
      <p:pic>
        <p:nvPicPr>
          <p:cNvPr id="3" name="imagen" descr="C:\Users\Chingu\AppData\Local\Temp\claude\C--Users-Chingu-Desktop-ACADEMIASEULWEB\d4111e1b-5523-44ea-97b2-b1a1d9545b9e\scratchpad\decks\cache\img_fdb42216d040bac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4112" y="1508760"/>
            <a:ext cx="3886200" cy="4480560"/>
          </a:xfrm>
          <a:prstGeom prst="rect">
            <a:avLst/>
          </a:prstGeom>
        </p:spPr>
      </p:pic>
      <p:sp>
        <p:nvSpPr>
          <p:cNvPr id="4" name="panel"/>
          <p:cNvSpPr/>
          <p:nvPr/>
        </p:nvSpPr>
        <p:spPr>
          <a:xfrm>
            <a:off x="548640" y="1645920"/>
            <a:ext cx="6931152" cy="3108960"/>
          </a:xfrm>
          <a:prstGeom prst="roundRect">
            <a:avLst>
              <a:gd name="adj" fmla="val 8824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5" name="frase_ko"/>
          <p:cNvSpPr txBox="1"/>
          <p:nvPr/>
        </p:nvSpPr>
        <p:spPr>
          <a:xfrm>
            <a:off x="731520" y="1828800"/>
            <a:ext cx="6565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6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 잘 보세요</a:t>
            </a:r>
            <a:r>
              <a:rPr lang="en-US" sz="6400" b="1" dirty="0">
                <a:solidFill>
                  <a:srgbClr val="4236F6"/>
                </a:solidFill>
              </a:rPr>
              <a:t>!</a:t>
            </a:r>
            <a:endParaRPr lang="en-US" sz="64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3657600"/>
            <a:ext cx="5742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2400" dirty="0">
                <a:solidFill>
                  <a:srgbClr val="5C5F6B"/>
                </a:solidFill>
              </a:rPr>
              <a:t>¡Que te vaya bien en el examen! (solo reconocer)</a:t>
            </a:r>
            <a:endParaRPr lang="en-US" sz="2400" dirty="0"/>
          </a:p>
        </p:txBody>
      </p:sp>
      <p:pic>
        <p:nvPicPr>
          <p:cNvPr id="7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903720" y="4160520"/>
            <a:ext cx="384048" cy="384048"/>
          </a:xfrm>
          <a:prstGeom prst="rect">
            <a:avLst/>
          </a:prstGeom>
        </p:spPr>
      </p:pic>
      <p:sp>
        <p:nvSpPr>
          <p:cNvPr id="8" name="lista"/>
          <p:cNvSpPr txBox="1"/>
          <p:nvPr/>
        </p:nvSpPr>
        <p:spPr>
          <a:xfrm>
            <a:off x="548640" y="4937760"/>
            <a:ext cx="6931152" cy="1234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Jueves 19 nov · 09:00 · primera prueba: 국어 </a:t>
            </a:r>
            <a:r>
              <a:rPr lang="en-US" sz="1800" dirty="0">
                <a:solidFill>
                  <a:srgbClr val="14142B"/>
                </a:solidFill>
              </a:rPr>
              <a:t>· ¿y el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미역국</a:t>
            </a:r>
            <a:r>
              <a:rPr lang="en-US" sz="1800" dirty="0">
                <a:solidFill>
                  <a:srgbClr val="14142B"/>
                </a:solidFill>
              </a:rPr>
              <a:t>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Hoy vas a poder decir…</a:t>
            </a:r>
            <a:r>
              <a:rPr lang="en-US" sz="1500" b="1" i="1" dirty="0">
                <a:solidFill>
                  <a:srgbClr val="8A8DA0"/>
                </a:solidFill>
              </a:rPr>
              <a:t>   Today you'll be able to say…</a:t>
            </a:r>
            <a:endParaRPr lang="en-US" sz="3000" dirty="0"/>
          </a:p>
        </p:txBody>
      </p:sp>
      <p:graphicFrame>
        <p:nvGraphicFramePr>
          <p:cNvPr id="8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247384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5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Coreano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Español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저는 고기를 안 먹어요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Yo no como carne.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수영할 수 있어요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? —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아니요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수영 못 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¿Sabes nadar? — No, no sé nadar.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매운 음식을 잘 못 먹어요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No aguanto mucho el picante.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미안해요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내일은 일이 있어서 못 가요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다음에 같이 가요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!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Perdón, mañana tengo algo y no puedo ir. ¡Vamos la próxima!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운전은 할 수 있지만 수영은 못 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Manejar sí sé, pero nadar no.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Tres cosas de Jay</a:t>
            </a:r>
            <a:r>
              <a:rPr lang="en-US" sz="1500" b="1" i="1" dirty="0">
                <a:solidFill>
                  <a:srgbClr val="8A8DA0"/>
                </a:solidFill>
              </a:rPr>
              <a:t>   Three things about Jay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Mira la foto y escribe en el chat, en español, qué entendiste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566928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담배를 안 피워요</a:t>
            </a:r>
            <a:r>
              <a:rPr lang="en-US" sz="2800" dirty="0">
                <a:solidFill>
                  <a:srgbClr val="14142B"/>
                </a:solidFill>
              </a:rPr>
              <a:t>.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춤을 잘 못 춰요</a:t>
            </a:r>
            <a:r>
              <a:rPr lang="en-US" sz="2800" dirty="0">
                <a:solidFill>
                  <a:srgbClr val="14142B"/>
                </a:solidFill>
              </a:rPr>
              <a:t>.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저는 운전할 수 있어요</a:t>
            </a:r>
            <a:r>
              <a:rPr lang="en-US" sz="2800" dirty="0">
                <a:solidFill>
                  <a:srgbClr val="14142B"/>
                </a:solidFill>
              </a:rPr>
              <a:t>.</a:t>
            </a:r>
            <a:endParaRPr lang="en-US" sz="2800" dirty="0"/>
          </a:p>
        </p:txBody>
      </p:sp>
      <p:sp>
        <p:nvSpPr>
          <p:cNvPr id="5" name="panel"/>
          <p:cNvSpPr/>
          <p:nvPr/>
        </p:nvSpPr>
        <p:spPr>
          <a:xfrm>
            <a:off x="6446520" y="1371600"/>
            <a:ext cx="5193792" cy="4800600"/>
          </a:xfrm>
          <a:prstGeom prst="roundRect">
            <a:avLst>
              <a:gd name="adj" fmla="val 4762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imagen" descr="C:\Users\Chingu\AppData\Local\Temp\claude\C--Users-Chingu-Desktop-ACADEMIASEULWEB\d4111e1b-5523-44ea-97b2-b1a1d9545b9e\scratchpad\decks\cache\img_11060ad6089cf4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33" y="1463040"/>
            <a:ext cx="4005165" cy="4617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</a:t>
            </a:r>
            <a:r>
              <a:rPr lang="en-US" sz="3000" b="1" dirty="0">
                <a:solidFill>
                  <a:srgbClr val="003478"/>
                </a:solidFill>
              </a:rPr>
              <a:t>= "no" delante del verbo</a:t>
            </a:r>
            <a:r>
              <a:rPr lang="ko-KR" altLang="en-US" sz="1500" b="1" i="1" dirty="0">
                <a:solidFill>
                  <a:srgbClr val="8A8DA0"/>
                </a:solidFill>
              </a:rPr>
              <a:t>   안 = "not" before the verb</a:t>
            </a:r>
            <a:endParaRPr lang="en-US" sz="3000" dirty="0"/>
          </a:p>
        </p:txBody>
      </p:sp>
      <p:sp>
        <p:nvSpPr>
          <p:cNvPr id="3" name="lista"/>
          <p:cNvSpPr txBox="1"/>
          <p:nvPr/>
        </p:nvSpPr>
        <p:spPr>
          <a:xfrm>
            <a:off x="548640" y="1325880"/>
            <a:ext cx="6949440" cy="484632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고기를 안 먹어요</a:t>
            </a:r>
            <a:r>
              <a:rPr lang="en-US" sz="2400" dirty="0">
                <a:solidFill>
                  <a:srgbClr val="14142B"/>
                </a:solidFill>
              </a:rPr>
              <a:t>. — No como carne.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커피를 안 마셔요</a:t>
            </a:r>
            <a:r>
              <a:rPr lang="en-US" sz="2400" dirty="0">
                <a:solidFill>
                  <a:srgbClr val="14142B"/>
                </a:solidFill>
              </a:rPr>
              <a:t>. — No tomo café.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También con adjetivos: 안 바빠요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매워요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안 바빠요</a:t>
            </a:r>
            <a:r>
              <a:rPr lang="en-US" sz="2400" dirty="0">
                <a:solidFill>
                  <a:srgbClr val="14142B"/>
                </a:solidFill>
              </a:rPr>
              <a:t>!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 objeto va antes. Así no: 안 고기를 먹어요</a:t>
            </a:r>
            <a:endParaRPr lang="en-US" sz="2400" dirty="0"/>
          </a:p>
        </p:txBody>
      </p:sp>
      <p:sp>
        <p:nvSpPr>
          <p:cNvPr id="4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5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9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</a:t>
            </a:r>
            <a:endParaRPr lang="en-US" sz="9600" dirty="0"/>
          </a:p>
        </p:txBody>
      </p:sp>
      <p:pic>
        <p:nvPicPr>
          <p:cNvPr id="6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601200" y="4983480"/>
            <a:ext cx="384048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¿Dónde va el 안</a:t>
            </a:r>
            <a:r>
              <a:rPr lang="en-US" sz="3000" b="1" dirty="0">
                <a:solidFill>
                  <a:srgbClr val="003478"/>
                </a:solidFill>
              </a:rPr>
              <a:t>?</a:t>
            </a:r>
            <a:r>
              <a:rPr lang="ko-KR" altLang="en-US" sz="1500" b="1" i="1" dirty="0">
                <a:solidFill>
                  <a:srgbClr val="8A8DA0"/>
                </a:solidFill>
              </a:rPr>
              <a:t>   Where does 안 go?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Prueba: ¿운동을 해요</a:t>
            </a:r>
            <a:r>
              <a:rPr lang="en-US" sz="1800" i="1" dirty="0">
                <a:solidFill>
                  <a:srgbClr val="4236F6"/>
                </a:solidFill>
              </a:rPr>
              <a:t>? → al medio · Así no: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운동해요</a:t>
            </a:r>
            <a:endParaRPr lang="en-US" sz="1800" dirty="0"/>
          </a:p>
        </p:txBody>
      </p:sp>
      <p:sp>
        <p:nvSpPr>
          <p:cNvPr id="4" name="col_0"/>
          <p:cNvSpPr/>
          <p:nvPr/>
        </p:nvSpPr>
        <p:spPr>
          <a:xfrm>
            <a:off x="548640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2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 medio (actividad + 하다</a:t>
            </a:r>
            <a:r>
              <a:rPr lang="en-US" sz="2000" b="1" dirty="0">
                <a:solidFill>
                  <a:srgbClr val="003478"/>
                </a:solidFill>
              </a:rPr>
              <a:t>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 안 해요</a:t>
            </a:r>
            <a:endParaRPr lang="en-US" sz="5400" dirty="0"/>
          </a:p>
        </p:txBody>
      </p:sp>
      <p:sp>
        <p:nvSpPr>
          <p:cNvPr id="7" name="lista"/>
          <p:cNvSpPr txBox="1"/>
          <p:nvPr/>
        </p:nvSpPr>
        <p:spPr>
          <a:xfrm>
            <a:off x="731520" y="3657600"/>
            <a:ext cx="5020056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공부 안 해요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안 해요</a:t>
            </a:r>
            <a:endParaRPr lang="en-US" sz="2000" dirty="0"/>
          </a:p>
        </p:txBody>
      </p:sp>
      <p:sp>
        <p:nvSpPr>
          <p:cNvPr id="8" name="col_1"/>
          <p:cNvSpPr/>
          <p:nvPr/>
        </p:nvSpPr>
        <p:spPr>
          <a:xfrm>
            <a:off x="6254496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83096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Adelante (no se parten)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83096" y="265176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좋아해요</a:t>
            </a:r>
            <a:endParaRPr lang="en-US" sz="5400" dirty="0"/>
          </a:p>
        </p:txBody>
      </p:sp>
      <p:sp>
        <p:nvSpPr>
          <p:cNvPr id="11" name="lista"/>
          <p:cNvSpPr txBox="1"/>
          <p:nvPr/>
        </p:nvSpPr>
        <p:spPr>
          <a:xfrm>
            <a:off x="6437376" y="3657600"/>
            <a:ext cx="5020056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피곤해요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바빠요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Tu frase</a:t>
            </a:r>
            <a:r>
              <a:rPr lang="en-US" sz="1500" b="1" i="1" dirty="0">
                <a:solidFill>
                  <a:srgbClr val="8A8DA0"/>
                </a:solidFill>
              </a:rPr>
              <a:t>   Your sentence</a:t>
            </a:r>
            <a:endParaRPr lang="en-US" sz="3000" dirty="0"/>
          </a:p>
        </p:txBody>
      </p:sp>
      <p:sp>
        <p:nvSpPr>
          <p:cNvPr id="3" name="panel"/>
          <p:cNvSpPr/>
          <p:nvPr/>
        </p:nvSpPr>
        <p:spPr>
          <a:xfrm>
            <a:off x="1280160" y="1645920"/>
            <a:ext cx="9628632" cy="3108960"/>
          </a:xfrm>
          <a:prstGeom prst="roundRect">
            <a:avLst>
              <a:gd name="adj" fmla="val 8824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4" name="frase_ko"/>
          <p:cNvSpPr txBox="1"/>
          <p:nvPr/>
        </p:nvSpPr>
        <p:spPr>
          <a:xfrm>
            <a:off x="1463040" y="1828800"/>
            <a:ext cx="92628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</a:t>
            </a:r>
            <a:r>
              <a:rPr lang="en-US" sz="5700" b="1" dirty="0">
                <a:solidFill>
                  <a:srgbClr val="4236F6"/>
                </a:solidFill>
              </a:rPr>
              <a:t>___</a:t>
            </a:r>
            <a:r>
              <a:rPr lang="ko-KR" altLang="en-US" sz="5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r>
              <a:rPr lang="en-US" sz="5700" b="1" dirty="0">
                <a:solidFill>
                  <a:srgbClr val="4236F6"/>
                </a:solidFill>
              </a:rPr>
              <a:t>/</a:t>
            </a:r>
            <a:r>
              <a:rPr lang="ko-KR" altLang="en-US" sz="5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안</a:t>
            </a:r>
            <a:endParaRPr lang="en-US" sz="5700" dirty="0"/>
          </a:p>
          <a:p>
            <a:pPr marL="0" indent="0" algn="ctr" eaLnBrk="1">
              <a:buNone/>
            </a:pPr>
            <a:r>
              <a:rPr lang="ko-KR" altLang="en-US" sz="5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___아요</a:t>
            </a:r>
            <a:r>
              <a:rPr lang="en-US" sz="5700" b="1" dirty="0">
                <a:solidFill>
                  <a:srgbClr val="4236F6"/>
                </a:solidFill>
              </a:rPr>
              <a:t>/</a:t>
            </a:r>
            <a:r>
              <a:rPr lang="ko-KR" altLang="en-US" sz="5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어요</a:t>
            </a:r>
            <a:r>
              <a:rPr lang="en-US" sz="5700" b="1" dirty="0">
                <a:solidFill>
                  <a:srgbClr val="4236F6"/>
                </a:solidFill>
              </a:rPr>
              <a:t>.</a:t>
            </a:r>
            <a:endParaRPr lang="en-US" sz="57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3657600"/>
            <a:ext cx="8439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2400" dirty="0">
                <a:solidFill>
                  <a:srgbClr val="5C5F6B"/>
                </a:solidFill>
              </a:rPr>
              <a:t>Yo no ___.</a:t>
            </a:r>
            <a:endParaRPr lang="en-US" sz="2400" dirty="0"/>
          </a:p>
        </p:txBody>
      </p:sp>
      <p:sp>
        <p:nvSpPr>
          <p:cNvPr id="6" name="lista"/>
          <p:cNvSpPr txBox="1"/>
          <p:nvPr/>
        </p:nvSpPr>
        <p:spPr>
          <a:xfrm>
            <a:off x="1280160" y="4937760"/>
            <a:ext cx="9628632" cy="1234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쓰세요 </a:t>
            </a:r>
            <a:r>
              <a:rPr lang="en-US" sz="1800" dirty="0">
                <a:solidFill>
                  <a:srgbClr val="14142B"/>
                </a:solidFill>
              </a:rPr>
              <a:t>· escribe en el chat (30 s): una cosa que no comes, no tomas o no haces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 forma larga: -지 않아요</a:t>
            </a:r>
            <a:r>
              <a:rPr lang="ko-KR" altLang="en-US" sz="1500" b="1" i="1" dirty="0">
                <a:solidFill>
                  <a:srgbClr val="8A8DA0"/>
                </a:solidFill>
              </a:rPr>
              <a:t>   The long form: -지 않아요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않아요 </a:t>
            </a:r>
            <a:r>
              <a:rPr lang="en-US" sz="1800" i="1" dirty="0">
                <a:solidFill>
                  <a:srgbClr val="4236F6"/>
                </a:solidFill>
              </a:rPr>
              <a:t>[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아나요</a:t>
            </a:r>
            <a:r>
              <a:rPr lang="en-US" sz="1800" i="1" dirty="0">
                <a:solidFill>
                  <a:srgbClr val="4236F6"/>
                </a:solidFill>
              </a:rPr>
              <a:t>] 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먹지 </a:t>
            </a:r>
            <a:r>
              <a:rPr lang="en-US" sz="1800" i="1" dirty="0">
                <a:solidFill>
                  <a:srgbClr val="4236F6"/>
                </a:solidFill>
              </a:rPr>
              <a:t>[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먹찌</a:t>
            </a:r>
            <a:r>
              <a:rPr lang="en-US" sz="1800" i="1" dirty="0">
                <a:solidFill>
                  <a:srgbClr val="4236F6"/>
                </a:solidFill>
              </a:rPr>
              <a:t>] · ¿Dudas dónde va el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</a:t>
            </a:r>
            <a:r>
              <a:rPr lang="en-US" sz="1800" i="1" dirty="0">
                <a:solidFill>
                  <a:srgbClr val="4236F6"/>
                </a:solidFill>
              </a:rPr>
              <a:t>? → la larga, que nunca falla</a:t>
            </a:r>
            <a:endParaRPr lang="en-US" sz="1800" dirty="0"/>
          </a:p>
        </p:txBody>
      </p:sp>
      <p:graphicFrame>
        <p:nvGraphicFramePr>
          <p:cNvPr id="13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708586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Diccionario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Corta (conversación)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Larga (más formal)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먹다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먹어요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먹지 않아요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가다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가요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가지 않아요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운동하다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운동 안 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운동하지 않아요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바쁘다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바빠요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바쁘지 않아요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</a:t>
            </a:r>
            <a:r>
              <a:rPr lang="en-US" sz="3000" b="1" dirty="0">
                <a:solidFill>
                  <a:srgbClr val="003478"/>
                </a:solidFill>
              </a:rPr>
              <a:t>= no puedo / no sé</a:t>
            </a:r>
            <a:r>
              <a:rPr lang="ko-KR" altLang="en-US" sz="1500" b="1" i="1" dirty="0">
                <a:solidFill>
                  <a:srgbClr val="8A8DA0"/>
                </a:solidFill>
              </a:rPr>
              <a:t>   못 = can't / don't know how</a:t>
            </a:r>
            <a:endParaRPr lang="en-US" sz="3000" dirty="0"/>
          </a:p>
        </p:txBody>
      </p:sp>
      <p:sp>
        <p:nvSpPr>
          <p:cNvPr id="3" name="lista"/>
          <p:cNvSpPr txBox="1"/>
          <p:nvPr/>
        </p:nvSpPr>
        <p:spPr>
          <a:xfrm>
            <a:off x="548640" y="1325880"/>
            <a:ext cx="6949440" cy="484632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가요</a:t>
            </a:r>
            <a:r>
              <a:rPr lang="en-US" sz="2800" dirty="0">
                <a:solidFill>
                  <a:srgbClr val="14142B"/>
                </a:solidFill>
              </a:rPr>
              <a:t>. — No puedo ir.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수영 못 해요</a:t>
            </a:r>
            <a:r>
              <a:rPr lang="en-US" sz="2800" dirty="0">
                <a:solidFill>
                  <a:srgbClr val="14142B"/>
                </a:solidFill>
              </a:rPr>
              <a:t>. — No sé nadar.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매운 음식을 잘 못 먹어요</a:t>
            </a:r>
            <a:r>
              <a:rPr lang="en-US" sz="2800" dirty="0">
                <a:solidFill>
                  <a:srgbClr val="14142B"/>
                </a:solidFill>
              </a:rPr>
              <a:t>. — No aguanto mucho el picante.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 donde va 안</a:t>
            </a:r>
            <a:r>
              <a:rPr lang="en-US" sz="2800" dirty="0">
                <a:solidFill>
                  <a:srgbClr val="14142B"/>
                </a:solidFill>
              </a:rPr>
              <a:t>: delante del verbo y al medio con los verbos de </a:t>
            </a: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하다</a:t>
            </a:r>
            <a:endParaRPr lang="en-US" sz="2800" dirty="0"/>
          </a:p>
        </p:txBody>
      </p:sp>
      <p:sp>
        <p:nvSpPr>
          <p:cNvPr id="4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5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9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</a:t>
            </a:r>
            <a:endParaRPr lang="en-US" sz="9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¿안 </a:t>
            </a:r>
            <a:r>
              <a:rPr lang="en-US" sz="3000" b="1" dirty="0">
                <a:solidFill>
                  <a:srgbClr val="003478"/>
                </a:solidFill>
              </a:rPr>
              <a:t>o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</a:t>
            </a:r>
            <a:r>
              <a:rPr lang="en-US" sz="3000" b="1" dirty="0">
                <a:solidFill>
                  <a:srgbClr val="003478"/>
                </a:solidFill>
              </a:rPr>
              <a:t>?</a:t>
            </a:r>
            <a:r>
              <a:rPr lang="ko-KR" altLang="en-US" sz="1500" b="1" i="1" dirty="0">
                <a:solidFill>
                  <a:srgbClr val="8A8DA0"/>
                </a:solidFill>
              </a:rPr>
              <a:t>   안 or 못?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 voy… ¿por qué? · Con adjetivos, solo 안 </a:t>
            </a:r>
            <a:r>
              <a:rPr lang="en-US" sz="1800" i="1" dirty="0">
                <a:solidFill>
                  <a:srgbClr val="4236F6"/>
                </a:solidFill>
              </a:rPr>
              <a:t>(así no: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바빠요</a:t>
            </a:r>
            <a:r>
              <a:rPr lang="en-US" sz="1800" i="1" dirty="0">
                <a:solidFill>
                  <a:srgbClr val="4236F6"/>
                </a:solidFill>
              </a:rPr>
              <a:t>) · En una invitación: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</a:t>
            </a:r>
            <a:r>
              <a:rPr lang="en-US" sz="1800" i="1" dirty="0">
                <a:solidFill>
                  <a:srgbClr val="4236F6"/>
                </a:solidFill>
              </a:rPr>
              <a:t>+ razón</a:t>
            </a:r>
            <a:endParaRPr lang="en-US" sz="1800" dirty="0"/>
          </a:p>
        </p:txBody>
      </p:sp>
      <p:sp>
        <p:nvSpPr>
          <p:cNvPr id="4" name="col_0"/>
          <p:cNvSpPr/>
          <p:nvPr/>
        </p:nvSpPr>
        <p:spPr>
          <a:xfrm>
            <a:off x="548640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…porque no quiero (decisión o estado)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가요</a:t>
            </a:r>
            <a:endParaRPr lang="en-US" sz="5400" dirty="0"/>
          </a:p>
        </p:txBody>
      </p:sp>
      <p:sp>
        <p:nvSpPr>
          <p:cNvPr id="7" name="lista"/>
          <p:cNvSpPr txBox="1"/>
          <p:nvPr/>
        </p:nvSpPr>
        <p:spPr>
          <a:xfrm>
            <a:off x="731520" y="3657600"/>
            <a:ext cx="5020056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No voy porque decidí no ir, o porque no lo hago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요즘 다이어트해요</a:t>
            </a:r>
            <a:r>
              <a:rPr lang="en-US" sz="2000" dirty="0">
                <a:solidFill>
                  <a:srgbClr val="14142B"/>
                </a:solidFill>
              </a:rPr>
              <a:t>.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빵을 안 먹어요</a:t>
            </a:r>
            <a:r>
              <a:rPr lang="en-US" sz="2000" dirty="0">
                <a:solidFill>
                  <a:srgbClr val="14142B"/>
                </a:solidFill>
              </a:rPr>
              <a:t>.</a:t>
            </a:r>
            <a:endParaRPr lang="en-US" sz="2000" dirty="0"/>
          </a:p>
        </p:txBody>
      </p:sp>
      <p:sp>
        <p:nvSpPr>
          <p:cNvPr id="8" name="col_1"/>
          <p:cNvSpPr/>
          <p:nvPr/>
        </p:nvSpPr>
        <p:spPr>
          <a:xfrm>
            <a:off x="6254496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83096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…porque no puedo / no sé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83096" y="265176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가요</a:t>
            </a:r>
            <a:endParaRPr lang="en-US" sz="5400" dirty="0"/>
          </a:p>
        </p:txBody>
      </p:sp>
      <p:sp>
        <p:nvSpPr>
          <p:cNvPr id="11" name="lista"/>
          <p:cNvSpPr txBox="1"/>
          <p:nvPr/>
        </p:nvSpPr>
        <p:spPr>
          <a:xfrm>
            <a:off x="6437376" y="3657600"/>
            <a:ext cx="5020056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No voy porque algo me lo impide, o no sé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내일은 일이 있어서 못 가요</a:t>
            </a:r>
            <a:r>
              <a:rPr lang="en-US" sz="2000" dirty="0">
                <a:solidFill>
                  <a:srgbClr val="14142B"/>
                </a:solidFill>
              </a:rPr>
              <a:t>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¿1 dedo o 2 dedos? (1–4)</a:t>
            </a:r>
            <a:r>
              <a:rPr lang="en-US" sz="1500" b="1" i="1" dirty="0">
                <a:solidFill>
                  <a:srgbClr val="8A8DA0"/>
                </a:solidFill>
              </a:rPr>
              <a:t>   One finger or two? (1–4)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dedo = 안 </a:t>
            </a:r>
            <a:r>
              <a:rPr lang="en-US" sz="1800" i="1" dirty="0">
                <a:solidFill>
                  <a:srgbClr val="4236F6"/>
                </a:solidFill>
              </a:rPr>
              <a:t>· 2 dedos =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</a:t>
            </a:r>
            <a:r>
              <a:rPr lang="en-US" sz="1800" i="1" dirty="0">
                <a:solidFill>
                  <a:srgbClr val="4236F6"/>
                </a:solidFill>
              </a:rPr>
              <a:t>· vista de galería · Lee la situación y muestra 1 o 2 dedos a la cámara.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17170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71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Estoy a dieta. 빵을 </a:t>
            </a:r>
            <a:r>
              <a:rPr lang="en-US" sz="2400" dirty="0">
                <a:solidFill>
                  <a:srgbClr val="14142B"/>
                </a:solidFill>
              </a:rPr>
              <a:t>___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7" name="rev_13_caja"/>
          <p:cNvSpPr/>
          <p:nvPr/>
        </p:nvSpPr>
        <p:spPr>
          <a:xfrm>
            <a:off x="7498080" y="2002536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13_txt"/>
          <p:cNvSpPr txBox="1"/>
          <p:nvPr/>
        </p:nvSpPr>
        <p:spPr>
          <a:xfrm>
            <a:off x="7589520" y="2002536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안 </a:t>
            </a:r>
            <a:r>
              <a:rPr lang="en-US" sz="2200" b="1" dirty="0">
                <a:solidFill>
                  <a:srgbClr val="FFFFFF"/>
                </a:solidFill>
              </a:rPr>
              <a:t>—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빵을 안 먹어요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316839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683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62656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Mañana trabajo hasta tarde. 내일 영화 </a:t>
            </a:r>
            <a:r>
              <a:rPr lang="en-US" sz="2400" dirty="0">
                <a:solidFill>
                  <a:srgbClr val="14142B"/>
                </a:solidFill>
              </a:rPr>
              <a:t>___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봐요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12" name="rev_14_caja"/>
          <p:cNvSpPr/>
          <p:nvPr/>
        </p:nvSpPr>
        <p:spPr>
          <a:xfrm>
            <a:off x="7498080" y="2999232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14_txt"/>
          <p:cNvSpPr txBox="1"/>
          <p:nvPr/>
        </p:nvSpPr>
        <p:spPr>
          <a:xfrm>
            <a:off x="7589520" y="2999232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못 </a:t>
            </a:r>
            <a:r>
              <a:rPr lang="en-US" sz="2200" b="1" dirty="0">
                <a:solidFill>
                  <a:srgbClr val="FFFFFF"/>
                </a:solidFill>
              </a:rPr>
              <a:t>—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 영화 못 봐요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416509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1650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95935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 me gusta el café. 커피를 </a:t>
            </a:r>
            <a:r>
              <a:rPr lang="en-US" sz="2400" dirty="0">
                <a:solidFill>
                  <a:srgbClr val="14142B"/>
                </a:solidFill>
              </a:rPr>
              <a:t>___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마셔요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17" name="rev_15_caja"/>
          <p:cNvSpPr/>
          <p:nvPr/>
        </p:nvSpPr>
        <p:spPr>
          <a:xfrm>
            <a:off x="7498080" y="3995928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15_txt"/>
          <p:cNvSpPr txBox="1"/>
          <p:nvPr/>
        </p:nvSpPr>
        <p:spPr>
          <a:xfrm>
            <a:off x="7589520" y="3995928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안 </a:t>
            </a:r>
            <a:r>
              <a:rPr lang="en-US" sz="2200" b="1" dirty="0">
                <a:solidFill>
                  <a:srgbClr val="FFFFFF"/>
                </a:solidFill>
              </a:rPr>
              <a:t>—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커피를 안 마셔요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19" name="num_3"/>
          <p:cNvSpPr/>
          <p:nvPr/>
        </p:nvSpPr>
        <p:spPr>
          <a:xfrm>
            <a:off x="548640" y="516178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1617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956048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 sé nadar. 수영 </a:t>
            </a:r>
            <a:r>
              <a:rPr lang="en-US" sz="2400" dirty="0">
                <a:solidFill>
                  <a:srgbClr val="14142B"/>
                </a:solidFill>
              </a:rPr>
              <a:t>___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22" name="rev_16_caja"/>
          <p:cNvSpPr/>
          <p:nvPr/>
        </p:nvSpPr>
        <p:spPr>
          <a:xfrm>
            <a:off x="7498080" y="4992624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16_txt"/>
          <p:cNvSpPr txBox="1"/>
          <p:nvPr/>
        </p:nvSpPr>
        <p:spPr>
          <a:xfrm>
            <a:off x="7589520" y="4992624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못 </a:t>
            </a:r>
            <a:r>
              <a:rPr lang="en-US" sz="2200" b="1" dirty="0">
                <a:solidFill>
                  <a:srgbClr val="FFFFFF"/>
                </a:solidFill>
              </a:rPr>
              <a:t>—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수영 못 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¿1 dedo o 2 dedos? (5–7)</a:t>
            </a:r>
            <a:r>
              <a:rPr lang="en-US" sz="1500" b="1" i="1" dirty="0">
                <a:solidFill>
                  <a:srgbClr val="8A8DA0"/>
                </a:solidFill>
              </a:rPr>
              <a:t>   One finger or two? (5–7)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dedo = 안 </a:t>
            </a:r>
            <a:r>
              <a:rPr lang="en-US" sz="1800" i="1" dirty="0">
                <a:solidFill>
                  <a:srgbClr val="4236F6"/>
                </a:solidFill>
              </a:rPr>
              <a:t>· 2 dedos =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</a:t>
            </a:r>
            <a:r>
              <a:rPr lang="en-US" sz="1800" i="1" dirty="0">
                <a:solidFill>
                  <a:srgbClr val="4236F6"/>
                </a:solidFill>
              </a:rPr>
              <a:t>· Lee la situación y muestra 1 o 2 dedos a la cámara. Al final,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쓰세요 </a:t>
            </a:r>
            <a:r>
              <a:rPr lang="en-US" sz="1800" i="1" dirty="0">
                <a:solidFill>
                  <a:srgbClr val="4236F6"/>
                </a:solidFill>
              </a:rPr>
              <a:t>en el chat.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17170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71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5285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Hoy es domingo. 오늘은 일 </a:t>
            </a:r>
            <a:r>
              <a:rPr lang="en-US" sz="2400" dirty="0">
                <a:solidFill>
                  <a:srgbClr val="14142B"/>
                </a:solidFill>
              </a:rPr>
              <a:t>___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7" name="rev_17_caja"/>
          <p:cNvSpPr/>
          <p:nvPr/>
        </p:nvSpPr>
        <p:spPr>
          <a:xfrm>
            <a:off x="6702552" y="2002536"/>
            <a:ext cx="4937760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17_txt"/>
          <p:cNvSpPr txBox="1"/>
          <p:nvPr/>
        </p:nvSpPr>
        <p:spPr>
          <a:xfrm>
            <a:off x="6793992" y="2002536"/>
            <a:ext cx="4754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안 </a:t>
            </a:r>
            <a:r>
              <a:rPr lang="en-US" sz="2200" b="1" dirty="0">
                <a:solidFill>
                  <a:srgbClr val="FFFFFF"/>
                </a:solidFill>
              </a:rPr>
              <a:t>—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일 안 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316839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683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62656"/>
            <a:ext cx="5285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 tengo auto. 차로 </a:t>
            </a:r>
            <a:r>
              <a:rPr lang="en-US" sz="2400" dirty="0">
                <a:solidFill>
                  <a:srgbClr val="14142B"/>
                </a:solidFill>
              </a:rPr>
              <a:t>___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12" name="rev_18_caja"/>
          <p:cNvSpPr/>
          <p:nvPr/>
        </p:nvSpPr>
        <p:spPr>
          <a:xfrm>
            <a:off x="6702552" y="2999232"/>
            <a:ext cx="4937760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18_txt"/>
          <p:cNvSpPr txBox="1"/>
          <p:nvPr/>
        </p:nvSpPr>
        <p:spPr>
          <a:xfrm>
            <a:off x="6793992" y="2999232"/>
            <a:ext cx="4754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못 </a:t>
            </a:r>
            <a:r>
              <a:rPr lang="en-US" sz="2200" b="1" dirty="0">
                <a:solidFill>
                  <a:srgbClr val="FFFFFF"/>
                </a:solidFill>
              </a:rPr>
              <a:t>—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차로 못 가요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416509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1650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959352"/>
            <a:ext cx="5285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Hoy no estoy ocupado. ___ 바빠요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17" name="rev_19_caja"/>
          <p:cNvSpPr/>
          <p:nvPr/>
        </p:nvSpPr>
        <p:spPr>
          <a:xfrm>
            <a:off x="6702552" y="3995928"/>
            <a:ext cx="4937760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19_txt"/>
          <p:cNvSpPr txBox="1"/>
          <p:nvPr/>
        </p:nvSpPr>
        <p:spPr>
          <a:xfrm>
            <a:off x="6793992" y="3995928"/>
            <a:ext cx="4754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안 </a:t>
            </a:r>
            <a:r>
              <a:rPr lang="en-US" sz="2200" b="1" dirty="0">
                <a:solidFill>
                  <a:srgbClr val="FFFFFF"/>
                </a:solidFill>
              </a:rPr>
              <a:t>—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바빠요 </a:t>
            </a:r>
            <a:r>
              <a:rPr lang="en-US" sz="2200" b="1" dirty="0">
                <a:solidFill>
                  <a:srgbClr val="FFFFFF"/>
                </a:solidFill>
              </a:rPr>
              <a:t>(con adjetivo,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</a:t>
            </a:r>
            <a:r>
              <a:rPr lang="en-US" sz="2200" b="1" dirty="0">
                <a:solidFill>
                  <a:srgbClr val="FFFFFF"/>
                </a:solidFill>
              </a:rPr>
              <a:t>no va).</a:t>
            </a:r>
            <a:endParaRPr lang="en-US" sz="2200" dirty="0"/>
          </a:p>
        </p:txBody>
      </p:sp>
      <p:sp>
        <p:nvSpPr>
          <p:cNvPr id="19" name="num_3"/>
          <p:cNvSpPr/>
          <p:nvPr/>
        </p:nvSpPr>
        <p:spPr>
          <a:xfrm>
            <a:off x="548640" y="516178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1617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956048"/>
            <a:ext cx="5285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쓰세요 </a:t>
            </a:r>
            <a:r>
              <a:rPr lang="en-US" sz="2400" dirty="0">
                <a:solidFill>
                  <a:srgbClr val="14142B"/>
                </a:solidFill>
              </a:rPr>
              <a:t>· Una cosa que no sabes hacer.</a:t>
            </a:r>
            <a:endParaRPr lang="en-US" sz="2400" dirty="0"/>
          </a:p>
        </p:txBody>
      </p:sp>
      <p:sp>
        <p:nvSpPr>
          <p:cNvPr id="22" name="rev_20_caja"/>
          <p:cNvSpPr/>
          <p:nvPr/>
        </p:nvSpPr>
        <p:spPr>
          <a:xfrm>
            <a:off x="6702552" y="4992624"/>
            <a:ext cx="4937760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20_txt"/>
          <p:cNvSpPr txBox="1"/>
          <p:nvPr/>
        </p:nvSpPr>
        <p:spPr>
          <a:xfrm>
            <a:off x="6793992" y="4992624"/>
            <a:ext cx="4754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</a:t>
            </a:r>
            <a:r>
              <a:rPr lang="en-US" sz="2200" b="1" dirty="0">
                <a:solidFill>
                  <a:srgbClr val="FFFFFF"/>
                </a:solidFill>
              </a:rPr>
              <a:t>___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</a:t>
            </a:r>
            <a:r>
              <a:rPr lang="en-US" sz="3000" b="1" dirty="0">
                <a:solidFill>
                  <a:srgbClr val="003478"/>
                </a:solidFill>
              </a:rPr>
              <a:t>suena distinto</a:t>
            </a:r>
            <a:r>
              <a:rPr lang="ko-KR" altLang="en-US" sz="1500" b="1" i="1" dirty="0">
                <a:solidFill>
                  <a:srgbClr val="8A8DA0"/>
                </a:solidFill>
              </a:rPr>
              <a:t>   못 changes its sound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Nunca [모스가요</a:t>
            </a:r>
            <a:r>
              <a:rPr lang="en-US" sz="1800" i="1" dirty="0">
                <a:solidFill>
                  <a:srgbClr val="4236F6"/>
                </a:solidFill>
              </a:rPr>
              <a:t>]: la última consonante de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</a:t>
            </a:r>
            <a:r>
              <a:rPr lang="en-US" sz="1800" i="1" dirty="0">
                <a:solidFill>
                  <a:srgbClr val="4236F6"/>
                </a:solidFill>
              </a:rPr>
              <a:t>se corta · Reconocer: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가지 못해요 </a:t>
            </a:r>
            <a:r>
              <a:rPr lang="en-US" sz="1800" i="1" dirty="0">
                <a:solidFill>
                  <a:srgbClr val="4236F6"/>
                </a:solidFill>
              </a:rPr>
              <a:t>=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가요</a:t>
            </a:r>
            <a:endParaRPr lang="en-US" sz="1800" dirty="0"/>
          </a:p>
        </p:txBody>
      </p:sp>
      <p:graphicFrame>
        <p:nvGraphicFramePr>
          <p:cNvPr id="18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296949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Después de 못 </a:t>
                      </a: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viene…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Suena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Ejemplos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ㅎ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un soplo: ㅌ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못 해요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[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모태요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] 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수영 못 해요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[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수영모태요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]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ㅁ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o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ㄴ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[몬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]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못 먹어요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[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몬머거요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] 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못 마셔요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[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몬마셔요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]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ㄱ ㄷ ㅂ ㅅ ㅈ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[몯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] y la siguiente, tensa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못 가요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[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몯까요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] 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못 자요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[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몯짜요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] 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못 봐요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[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몯뽜요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]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-(으</a:t>
            </a:r>
            <a:r>
              <a:rPr lang="en-US" sz="3000" b="1" dirty="0">
                <a:solidFill>
                  <a:srgbClr val="003478"/>
                </a:solidFill>
              </a:rPr>
              <a:t>)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ㄹ 수 있어요 </a:t>
            </a:r>
            <a:r>
              <a:rPr lang="en-US" sz="3000" b="1" dirty="0">
                <a:solidFill>
                  <a:srgbClr val="003478"/>
                </a:solidFill>
              </a:rPr>
              <a:t>· puedo, sé</a:t>
            </a:r>
            <a:r>
              <a:rPr lang="ko-KR" altLang="en-US" sz="1500" b="1" i="1" dirty="0">
                <a:solidFill>
                  <a:srgbClr val="8A8DA0"/>
                </a:solidFill>
              </a:rPr>
              <a:t>   -(으)ㄹ 수 있어요 · can, know how 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la pieza de 갈 거예요 </a:t>
            </a:r>
            <a:r>
              <a:rPr lang="en-US" sz="1800" i="1" dirty="0">
                <a:solidFill>
                  <a:srgbClr val="4236F6"/>
                </a:solidFill>
              </a:rPr>
              <a:t>· se escribe separado: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</a:t>
            </a:r>
            <a:r>
              <a:rPr lang="en-US" sz="1800" i="1" dirty="0">
                <a:solidFill>
                  <a:srgbClr val="4236F6"/>
                </a:solidFill>
              </a:rPr>
              <a:t>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 </a:t>
            </a:r>
            <a:r>
              <a:rPr lang="en-US" sz="1800" i="1" dirty="0">
                <a:solidFill>
                  <a:srgbClr val="4236F6"/>
                </a:solidFill>
              </a:rPr>
              <a:t>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있어요 </a:t>
            </a:r>
            <a:r>
              <a:rPr lang="en-US" sz="1800" i="1" dirty="0">
                <a:solidFill>
                  <a:srgbClr val="4236F6"/>
                </a:solidFill>
              </a:rPr>
              <a:t>· [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할쑤이써요</a:t>
            </a:r>
            <a:r>
              <a:rPr lang="en-US" sz="1800" i="1" dirty="0">
                <a:solidFill>
                  <a:srgbClr val="4236F6"/>
                </a:solidFill>
              </a:rPr>
              <a:t>]</a:t>
            </a:r>
            <a:endParaRPr lang="en-US" sz="1800" dirty="0"/>
          </a:p>
        </p:txBody>
      </p:sp>
      <p:graphicFrame>
        <p:nvGraphicFramePr>
          <p:cNvPr id="19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900800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Caso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Pones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Ejemplo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vocal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-ㄹ 수 있어요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 수 있어요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갈 수 있어요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consonante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-을 수 있어요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먹을 수 있어요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ㄹ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nada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놀 수 있어요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ㄷ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(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듣다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ㄷ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→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ㄹ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+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을 수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들을 수 있어요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no puedo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있어요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→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 수 없어요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[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할쑤업써요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]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한글을 읽을 수 있어요</a:t>
            </a:r>
            <a:r>
              <a:rPr lang="en-US" sz="2200" b="1" dirty="0">
                <a:solidFill>
                  <a:srgbClr val="4236F6"/>
                </a:solidFill>
              </a:rPr>
              <a:t>!  </a:t>
            </a:r>
            <a:r>
              <a:rPr lang="ko-KR" altLang="en-US" sz="22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¡Puedo leer 한글</a:t>
            </a:r>
            <a:r>
              <a:rPr lang="en-US" sz="2200" b="1" dirty="0">
                <a:solidFill>
                  <a:srgbClr val="003478"/>
                </a:solidFill>
              </a:rPr>
              <a:t>!</a:t>
            </a:r>
            <a:r>
              <a:rPr lang="en-US" sz="1500" b="1" i="1" dirty="0">
                <a:solidFill>
                  <a:srgbClr val="8A8DA0"/>
                </a:solidFill>
              </a:rPr>
              <a:t>   I can read Hangul!</a:t>
            </a:r>
            <a:endParaRPr lang="en-US" sz="3000" dirty="0"/>
          </a:p>
        </p:txBody>
      </p:sp>
      <p:sp>
        <p:nvSpPr>
          <p:cNvPr id="3" name="panel"/>
          <p:cNvSpPr/>
          <p:nvPr/>
        </p:nvSpPr>
        <p:spPr>
          <a:xfrm>
            <a:off x="1280160" y="1645920"/>
            <a:ext cx="9628632" cy="3108960"/>
          </a:xfrm>
          <a:prstGeom prst="roundRect">
            <a:avLst>
              <a:gd name="adj" fmla="val 8824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4" name="frase_ko"/>
          <p:cNvSpPr txBox="1"/>
          <p:nvPr/>
        </p:nvSpPr>
        <p:spPr>
          <a:xfrm>
            <a:off x="1463040" y="1828800"/>
            <a:ext cx="92628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한글을 읽을 수 있어요</a:t>
            </a:r>
            <a:r>
              <a:rPr lang="en-US" sz="5100" b="1" dirty="0">
                <a:solidFill>
                  <a:srgbClr val="4236F6"/>
                </a:solidFill>
              </a:rPr>
              <a:t>!</a:t>
            </a:r>
            <a:endParaRPr lang="en-US" sz="51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3657600"/>
            <a:ext cx="8439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24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¡Puedo leer 한글</a:t>
            </a:r>
            <a:r>
              <a:rPr lang="en-US" sz="2400" dirty="0">
                <a:solidFill>
                  <a:srgbClr val="5C5F6B"/>
                </a:solidFill>
              </a:rPr>
              <a:t>!</a:t>
            </a:r>
            <a:endParaRPr lang="en-US" sz="2400" dirty="0"/>
          </a:p>
        </p:txBody>
      </p:sp>
      <p:sp>
        <p:nvSpPr>
          <p:cNvPr id="6" name="lista"/>
          <p:cNvSpPr txBox="1"/>
          <p:nvPr/>
        </p:nvSpPr>
        <p:spPr>
          <a:xfrm>
            <a:off x="1280160" y="4937760"/>
            <a:ext cx="9628632" cy="1234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Tu frase (쓰세요</a:t>
            </a:r>
            <a:r>
              <a:rPr lang="en-US" sz="1800" dirty="0">
                <a:solidFill>
                  <a:srgbClr val="14142B"/>
                </a:solidFill>
              </a:rPr>
              <a:t>, en el chat):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</a:t>
            </a:r>
            <a:r>
              <a:rPr lang="en-US" sz="1800" dirty="0">
                <a:solidFill>
                  <a:srgbClr val="14142B"/>
                </a:solidFill>
              </a:rPr>
              <a:t>___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 있어요</a:t>
            </a:r>
            <a:r>
              <a:rPr lang="en-US" sz="1800" dirty="0">
                <a:solidFill>
                  <a:srgbClr val="14142B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¿Puedes…? · ¿Sabes…?</a:t>
            </a:r>
            <a:r>
              <a:rPr lang="en-US" sz="1500" b="1" i="1" dirty="0">
                <a:solidFill>
                  <a:srgbClr val="8A8DA0"/>
                </a:solidFill>
              </a:rPr>
              <a:t>   Can you…? · Do you know how to…?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De más a menos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수영할 수 있어요</a:t>
            </a:r>
            <a:r>
              <a:rPr lang="en-US" sz="2400" dirty="0">
                <a:solidFill>
                  <a:srgbClr val="14142B"/>
                </a:solidFill>
              </a:rPr>
              <a:t>? (la voz sube al final)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</a:t>
            </a:r>
            <a:r>
              <a:rPr lang="en-US" sz="2400" dirty="0">
                <a:solidFill>
                  <a:srgbClr val="14142B"/>
                </a:solidFill>
              </a:rPr>
              <a:t>,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 있어요</a:t>
            </a:r>
            <a:r>
              <a:rPr lang="en-US" sz="2400" dirty="0">
                <a:solidFill>
                  <a:srgbClr val="14142B"/>
                </a:solidFill>
              </a:rPr>
              <a:t>. — Sí.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조금 할 수 있어요</a:t>
            </a:r>
            <a:r>
              <a:rPr lang="en-US" sz="2400" dirty="0">
                <a:solidFill>
                  <a:srgbClr val="14142B"/>
                </a:solidFill>
              </a:rPr>
              <a:t>. — Un poco.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2400" dirty="0">
                <a:solidFill>
                  <a:srgbClr val="14142B"/>
                </a:solidFill>
              </a:rPr>
              <a:t>,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해요</a:t>
            </a:r>
            <a:r>
              <a:rPr lang="en-US" sz="2400" dirty="0">
                <a:solidFill>
                  <a:srgbClr val="14142B"/>
                </a:solidFill>
              </a:rPr>
              <a:t>. — No.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전혀 못 해요</a:t>
            </a:r>
            <a:r>
              <a:rPr lang="en-US" sz="2400" dirty="0">
                <a:solidFill>
                  <a:srgbClr val="14142B"/>
                </a:solidFill>
              </a:rPr>
              <a:t>. — Para nada.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해요 </a:t>
            </a:r>
            <a:r>
              <a:rPr lang="en-US" sz="2400" dirty="0">
                <a:solidFill>
                  <a:srgbClr val="14142B"/>
                </a:solidFill>
              </a:rPr>
              <a:t>≈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 없어요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전혀 </a:t>
            </a:r>
            <a:r>
              <a:rPr lang="en-US" sz="2400" dirty="0">
                <a:solidFill>
                  <a:srgbClr val="14142B"/>
                </a:solidFill>
              </a:rPr>
              <a:t>va siempre con un 'no'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2600" b="1" dirty="0">
                <a:solidFill>
                  <a:srgbClr val="003478"/>
                </a:solidFill>
              </a:rPr>
              <a:t>Palabras que ya son negativas</a:t>
            </a:r>
            <a:r>
              <a:rPr lang="en-US" sz="1500" b="1" i="1" dirty="0">
                <a:solidFill>
                  <a:srgbClr val="8A8DA0"/>
                </a:solidFill>
              </a:rPr>
              <a:t>   Words that are already negative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BTS 알아요</a:t>
            </a:r>
            <a:r>
              <a:rPr lang="en-US" sz="1800" i="1" dirty="0">
                <a:solidFill>
                  <a:srgbClr val="4236F6"/>
                </a:solidFill>
              </a:rPr>
              <a:t>? —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</a:t>
            </a:r>
            <a:r>
              <a:rPr lang="en-US" sz="1800" i="1" dirty="0">
                <a:solidFill>
                  <a:srgbClr val="4236F6"/>
                </a:solidFill>
              </a:rPr>
              <a:t>,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알아요</a:t>
            </a:r>
            <a:r>
              <a:rPr lang="en-US" sz="1800" i="1" dirty="0">
                <a:solidFill>
                  <a:srgbClr val="4236F6"/>
                </a:solidFill>
              </a:rPr>
              <a:t>! /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1800" i="1" dirty="0">
                <a:solidFill>
                  <a:srgbClr val="4236F6"/>
                </a:solidFill>
              </a:rPr>
              <a:t>,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몰라요</a:t>
            </a:r>
            <a:r>
              <a:rPr lang="en-US" sz="1800" i="1" dirty="0">
                <a:solidFill>
                  <a:srgbClr val="4236F6"/>
                </a:solidFill>
              </a:rPr>
              <a:t>!</a:t>
            </a:r>
            <a:endParaRPr lang="en-US" sz="1800" dirty="0"/>
          </a:p>
        </p:txBody>
      </p:sp>
      <p:graphicFrame>
        <p:nvGraphicFramePr>
          <p:cNvPr id="22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01145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Sí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Así no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있어요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알아요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몰라요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알아요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학생이에요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학생이 아니에요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학생이에요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좋아해요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싫어해요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(fuerte) 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좋아해요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(más suave)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El arte de decir que no</a:t>
            </a:r>
            <a:r>
              <a:rPr lang="en-US" sz="1500" b="1" i="1" dirty="0">
                <a:solidFill>
                  <a:srgbClr val="8A8DA0"/>
                </a:solidFill>
              </a:rPr>
              <a:t>   The art of saying no</a:t>
            </a:r>
            <a:endParaRPr lang="en-US" sz="3000" dirty="0"/>
          </a:p>
        </p:txBody>
      </p:sp>
      <p:sp>
        <p:nvSpPr>
          <p:cNvPr id="3" name="panel"/>
          <p:cNvSpPr/>
          <p:nvPr/>
        </p:nvSpPr>
        <p:spPr>
          <a:xfrm>
            <a:off x="1280160" y="1645920"/>
            <a:ext cx="9628632" cy="3108960"/>
          </a:xfrm>
          <a:prstGeom prst="roundRect">
            <a:avLst>
              <a:gd name="adj" fmla="val 8824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4" name="frase_ko"/>
          <p:cNvSpPr txBox="1"/>
          <p:nvPr/>
        </p:nvSpPr>
        <p:spPr>
          <a:xfrm>
            <a:off x="1463040" y="1828800"/>
            <a:ext cx="92628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미안해요</a:t>
            </a:r>
            <a:r>
              <a:rPr lang="en-US" sz="5700" b="1" dirty="0">
                <a:solidFill>
                  <a:srgbClr val="4236F6"/>
                </a:solidFill>
              </a:rPr>
              <a:t>, </a:t>
            </a:r>
            <a:r>
              <a:rPr lang="ko-KR" altLang="en-US" sz="5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일이 있어서 못</a:t>
            </a:r>
            <a:endParaRPr lang="en-US" sz="5700" dirty="0"/>
          </a:p>
          <a:p>
            <a:pPr marL="0" indent="0" algn="ctr" eaLnBrk="1">
              <a:buNone/>
            </a:pPr>
            <a:r>
              <a:rPr lang="ko-KR" altLang="en-US" sz="5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가요</a:t>
            </a:r>
            <a:r>
              <a:rPr lang="en-US" sz="5700" b="1" dirty="0">
                <a:solidFill>
                  <a:srgbClr val="4236F6"/>
                </a:solidFill>
              </a:rPr>
              <a:t>. </a:t>
            </a:r>
            <a:r>
              <a:rPr lang="ko-KR" altLang="en-US" sz="5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다음에 같이 가요</a:t>
            </a:r>
            <a:r>
              <a:rPr lang="en-US" sz="5700" b="1" dirty="0">
                <a:solidFill>
                  <a:srgbClr val="4236F6"/>
                </a:solidFill>
              </a:rPr>
              <a:t>!</a:t>
            </a:r>
            <a:endParaRPr lang="en-US" sz="57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3657600"/>
            <a:ext cx="8439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2400" dirty="0">
                <a:solidFill>
                  <a:srgbClr val="5C5F6B"/>
                </a:solidFill>
              </a:rPr>
              <a:t>Perdón, es que tengo algo y no puedo ir. ¡Vamos la próxima!</a:t>
            </a:r>
            <a:endParaRPr lang="en-US" sz="2400" dirty="0"/>
          </a:p>
        </p:txBody>
      </p:sp>
      <p:sp>
        <p:nvSpPr>
          <p:cNvPr id="6" name="lista"/>
          <p:cNvSpPr txBox="1"/>
          <p:nvPr/>
        </p:nvSpPr>
        <p:spPr>
          <a:xfrm>
            <a:off x="1280160" y="4937760"/>
            <a:ext cx="9628632" cy="1234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</a:t>
            </a:r>
            <a:r>
              <a:rPr lang="en-US" sz="1800" dirty="0">
                <a:solidFill>
                  <a:srgbClr val="14142B"/>
                </a:solidFill>
              </a:rPr>
              <a:t>+ razón +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다음에 </a:t>
            </a:r>
            <a:r>
              <a:rPr lang="en-US" sz="1800" dirty="0">
                <a:solidFill>
                  <a:srgbClr val="14142B"/>
                </a:solidFill>
              </a:rPr>
              <a:t>· como nuestro 'ahí vemos' o 'la próxima sí'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카톡  </a:t>
            </a:r>
            <a:r>
              <a:rPr lang="en-US" sz="3000" b="1" dirty="0">
                <a:solidFill>
                  <a:srgbClr val="003478"/>
                </a:solidFill>
              </a:rPr>
              <a:t>KakaoTalk (1/2)</a:t>
            </a:r>
            <a:r>
              <a:rPr lang="en-US" sz="1500" b="1" i="1" dirty="0">
                <a:solidFill>
                  <a:srgbClr val="8A8DA0"/>
                </a:solidFill>
              </a:rPr>
              <a:t>   KakaoTalk chat (1/2)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다니엘 </a:t>
            </a:r>
            <a:r>
              <a:rPr lang="en-US" sz="1800" i="1" dirty="0">
                <a:solidFill>
                  <a:srgbClr val="4236F6"/>
                </a:solidFill>
              </a:rPr>
              <a:t>le escribe a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카밀라 </a:t>
            </a:r>
            <a:r>
              <a:rPr lang="en-US" sz="1800" i="1" dirty="0">
                <a:solidFill>
                  <a:srgbClr val="4236F6"/>
                </a:solidFill>
              </a:rPr>
              <a:t>· miércoles en la noche</a:t>
            </a:r>
            <a:endParaRPr lang="en-US" sz="1800" dirty="0"/>
          </a:p>
        </p:txBody>
      </p:sp>
      <p:graphicFrame>
        <p:nvGraphicFramePr>
          <p:cNvPr id="24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123842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5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카톡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다니엘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카밀라 씨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!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내일 저녁에 같이 한국 식당에 가요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!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카밀라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,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미안해요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내일은 일이 있어서 못 가요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다니엘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정말요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?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금요일은요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카밀라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금요일은 갈 수 있어요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!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다니엘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좋아요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!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카밀라 씨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,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매운 음식을 먹을 수 있어요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카톡  </a:t>
            </a:r>
            <a:r>
              <a:rPr lang="en-US" sz="3000" b="1" dirty="0">
                <a:solidFill>
                  <a:srgbClr val="003478"/>
                </a:solidFill>
              </a:rPr>
              <a:t>KakaoTalk (2/2)</a:t>
            </a:r>
            <a:r>
              <a:rPr lang="en-US" sz="1500" b="1" i="1" dirty="0">
                <a:solidFill>
                  <a:srgbClr val="8A8DA0"/>
                </a:solidFill>
              </a:rPr>
              <a:t>   KakaoTalk chat (2/2)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Truco: 불고기는 안 매워요</a:t>
            </a:r>
            <a:r>
              <a:rPr lang="en-US" sz="1800" i="1" dirty="0">
                <a:solidFill>
                  <a:srgbClr val="4236F6"/>
                </a:solidFill>
              </a:rPr>
              <a:t>? —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</a:t>
            </a:r>
            <a:r>
              <a:rPr lang="en-US" sz="1800" i="1" dirty="0">
                <a:solidFill>
                  <a:srgbClr val="4236F6"/>
                </a:solidFill>
              </a:rPr>
              <a:t>,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매워요</a:t>
            </a:r>
            <a:r>
              <a:rPr lang="en-US" sz="1800" i="1" dirty="0">
                <a:solidFill>
                  <a:srgbClr val="4236F6"/>
                </a:solidFill>
              </a:rPr>
              <a:t>. (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</a:t>
            </a:r>
            <a:r>
              <a:rPr lang="en-US" sz="1800" i="1" dirty="0">
                <a:solidFill>
                  <a:srgbClr val="4236F6"/>
                </a:solidFill>
              </a:rPr>
              <a:t>= lo que dijiste es cierto)</a:t>
            </a:r>
            <a:endParaRPr lang="en-US" sz="1800" dirty="0"/>
          </a:p>
        </p:txBody>
      </p:sp>
      <p:graphicFrame>
        <p:nvGraphicFramePr>
          <p:cNvPr id="25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261721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5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카톡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카밀라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,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잘 먹어요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!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다니엘 씨는요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다니엘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저는 잘 못 먹어요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불고기는 안 매워요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카밀라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,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매워요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!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금요일 일곱 시에 식당 앞에서 만나요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!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다니엘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좋아요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!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금요일에 만나요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!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-지만 </a:t>
            </a:r>
            <a:r>
              <a:rPr lang="en-US" sz="3000" b="1" dirty="0">
                <a:solidFill>
                  <a:srgbClr val="003478"/>
                </a:solidFill>
              </a:rPr>
              <a:t>· pero (fórmula)</a:t>
            </a:r>
            <a:r>
              <a:rPr lang="ko-KR" altLang="en-US" sz="1500" b="1" i="1" dirty="0">
                <a:solidFill>
                  <a:srgbClr val="8A8DA0"/>
                </a:solidFill>
              </a:rPr>
              <a:t>   -지만 · but (set phrase)</a:t>
            </a:r>
            <a:endParaRPr lang="en-US" sz="3000" dirty="0"/>
          </a:p>
        </p:txBody>
      </p:sp>
      <p:sp>
        <p:nvSpPr>
          <p:cNvPr id="3" name="lista"/>
          <p:cNvSpPr txBox="1"/>
          <p:nvPr/>
        </p:nvSpPr>
        <p:spPr>
          <a:xfrm>
            <a:off x="548640" y="1325880"/>
            <a:ext cx="6949440" cy="484632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운전은 할 수 있지만 수영은 못 해요</a:t>
            </a:r>
            <a:r>
              <a:rPr lang="en-US" sz="2400" dirty="0">
                <a:solidFill>
                  <a:srgbClr val="14142B"/>
                </a:solidFill>
              </a:rPr>
              <a:t>. — Manejar sí sé, pero nadar no.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기타는 못 치지만 노래는 할 수 있어요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</a:t>
            </a:r>
            <a:r>
              <a:rPr lang="en-US" sz="2400" dirty="0">
                <a:solidFill>
                  <a:srgbClr val="14142B"/>
                </a:solidFill>
              </a:rPr>
              <a:t>/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r>
              <a:rPr lang="en-US" sz="2400" dirty="0">
                <a:solidFill>
                  <a:srgbClr val="14142B"/>
                </a:solidFill>
              </a:rPr>
              <a:t>…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</a:t>
            </a:r>
            <a:r>
              <a:rPr lang="en-US" sz="2400" dirty="0">
                <a:solidFill>
                  <a:srgbClr val="14142B"/>
                </a:solidFill>
              </a:rPr>
              <a:t>/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r>
              <a:rPr lang="en-US" sz="2400" dirty="0">
                <a:solidFill>
                  <a:srgbClr val="14142B"/>
                </a:solidFill>
              </a:rPr>
              <a:t>= contraste (semana 1)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Tu frase: ___은</a:t>
            </a:r>
            <a:r>
              <a:rPr lang="en-US" sz="2400" dirty="0">
                <a:solidFill>
                  <a:srgbClr val="14142B"/>
                </a:solidFill>
              </a:rPr>
              <a:t>/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할 수 있지만 </a:t>
            </a:r>
            <a:r>
              <a:rPr lang="en-US" sz="2400" dirty="0">
                <a:solidFill>
                  <a:srgbClr val="14142B"/>
                </a:solidFill>
              </a:rPr>
              <a:t>___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</a:t>
            </a:r>
            <a:r>
              <a:rPr lang="en-US" sz="2400" dirty="0">
                <a:solidFill>
                  <a:srgbClr val="14142B"/>
                </a:solidFill>
              </a:rPr>
              <a:t>/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못 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La regla completa, en la semana 8</a:t>
            </a:r>
            <a:endParaRPr lang="en-US" sz="2400" dirty="0"/>
          </a:p>
        </p:txBody>
      </p:sp>
      <p:sp>
        <p:nvSpPr>
          <p:cNvPr id="4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5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9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-지만</a:t>
            </a:r>
            <a:endParaRPr lang="en-US" sz="9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Drill</a:t>
            </a:r>
            <a:r>
              <a:rPr lang="en-US" sz="1500" b="1" i="1" dirty="0">
                <a:solidFill>
                  <a:srgbClr val="8A8DA0"/>
                </a:solidFill>
              </a:rPr>
              <a:t>   Drill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Micrófono abierto solo quien tiene turno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(a) Con 안</a:t>
            </a:r>
            <a:r>
              <a:rPr lang="en-US" sz="2200" dirty="0">
                <a:solidFill>
                  <a:srgbClr val="14142B"/>
                </a:solidFill>
              </a:rPr>
              <a:t>: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커피를 마셔요</a:t>
            </a:r>
            <a:r>
              <a:rPr lang="en-US" sz="2200" dirty="0">
                <a:solidFill>
                  <a:srgbClr val="14142B"/>
                </a:solidFill>
              </a:rPr>
              <a:t>! →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커피를 안 마셔요</a:t>
            </a:r>
            <a:r>
              <a:rPr lang="en-US" sz="2200" dirty="0">
                <a:solidFill>
                  <a:srgbClr val="14142B"/>
                </a:solidFill>
              </a:rPr>
              <a:t>!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(b) Con 못</a:t>
            </a:r>
            <a:r>
              <a:rPr lang="en-US" sz="2200" dirty="0">
                <a:solidFill>
                  <a:srgbClr val="14142B"/>
                </a:solidFill>
              </a:rPr>
              <a:t>: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가요 </a:t>
            </a:r>
            <a:r>
              <a:rPr lang="en-US" sz="2200" dirty="0">
                <a:solidFill>
                  <a:srgbClr val="14142B"/>
                </a:solidFill>
              </a:rPr>
              <a:t>→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가요 </a:t>
            </a:r>
            <a:r>
              <a:rPr lang="en-US" sz="2200" dirty="0">
                <a:solidFill>
                  <a:srgbClr val="14142B"/>
                </a:solidFill>
              </a:rPr>
              <a:t>[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몯까요</a:t>
            </a:r>
            <a:r>
              <a:rPr lang="en-US" sz="2200" dirty="0">
                <a:solidFill>
                  <a:srgbClr val="14142B"/>
                </a:solidFill>
              </a:rPr>
              <a:t>] 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수영해요 </a:t>
            </a:r>
            <a:r>
              <a:rPr lang="en-US" sz="2200" dirty="0">
                <a:solidFill>
                  <a:srgbClr val="14142B"/>
                </a:solidFill>
              </a:rPr>
              <a:t>→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수영 못 해요 </a:t>
            </a:r>
            <a:r>
              <a:rPr lang="en-US" sz="2200" dirty="0">
                <a:solidFill>
                  <a:srgbClr val="14142B"/>
                </a:solidFill>
              </a:rPr>
              <a:t>[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수영모태요</a:t>
            </a:r>
            <a:r>
              <a:rPr lang="en-US" sz="2200" dirty="0">
                <a:solidFill>
                  <a:srgbClr val="14142B"/>
                </a:solidFill>
              </a:rPr>
              <a:t>]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Trampa: 알아요 </a:t>
            </a:r>
            <a:r>
              <a:rPr lang="en-US" sz="2200" dirty="0">
                <a:solidFill>
                  <a:srgbClr val="14142B"/>
                </a:solidFill>
              </a:rPr>
              <a:t>→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몰라요</a:t>
            </a:r>
            <a:r>
              <a:rPr lang="en-US" sz="2200" dirty="0">
                <a:solidFill>
                  <a:srgbClr val="14142B"/>
                </a:solidFill>
              </a:rPr>
              <a:t>! 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있어요 </a:t>
            </a:r>
            <a:r>
              <a:rPr lang="en-US" sz="2200" dirty="0">
                <a:solidFill>
                  <a:srgbClr val="14142B"/>
                </a:solidFill>
              </a:rPr>
              <a:t>→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</a:t>
            </a:r>
            <a:r>
              <a:rPr lang="en-US" sz="2200" dirty="0">
                <a:solidFill>
                  <a:srgbClr val="14142B"/>
                </a:solidFill>
              </a:rPr>
              <a:t>!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(c) Cadena: ___ 씨</a:t>
            </a:r>
            <a:r>
              <a:rPr lang="en-US" sz="2200" dirty="0">
                <a:solidFill>
                  <a:srgbClr val="14142B"/>
                </a:solidFill>
              </a:rPr>
              <a:t>, ___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 있어요</a:t>
            </a:r>
            <a:r>
              <a:rPr lang="en-US" sz="2200" dirty="0">
                <a:solidFill>
                  <a:srgbClr val="14142B"/>
                </a:solidFill>
              </a:rPr>
              <a:t>? → responde en 3 segundos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Anota la respuesta en la columna 1 de tu encuesta: ○ △ ×</a:t>
            </a:r>
            <a:endParaRPr lang="en-US" sz="22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Salas · 20 min</a:t>
            </a:r>
            <a:r>
              <a:rPr lang="en-US" sz="1500" b="1" i="1" dirty="0">
                <a:solidFill>
                  <a:srgbClr val="8A8DA0"/>
                </a:solidFill>
              </a:rPr>
              <a:t>   Breakout rooms · 20 min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Respuestas inventadas valen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R1 · 21:35 · Encuesta ○ △ × + 2 frases sobre tu pareja (tercera persona)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R2 · 21:41 · Tres tarjetas, tres negaciones: ¿안</a:t>
            </a:r>
            <a:r>
              <a:rPr lang="en-US" sz="2000" dirty="0">
                <a:solidFill>
                  <a:srgbClr val="14142B"/>
                </a:solidFill>
              </a:rPr>
              <a:t>,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</a:t>
            </a:r>
            <a:r>
              <a:rPr lang="en-US" sz="2000" dirty="0">
                <a:solidFill>
                  <a:srgbClr val="14142B"/>
                </a:solidFill>
              </a:rPr>
              <a:t>o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 없어요</a:t>
            </a:r>
            <a:r>
              <a:rPr lang="en-US" sz="2000" dirty="0">
                <a:solidFill>
                  <a:srgbClr val="14142B"/>
                </a:solidFill>
              </a:rPr>
              <a:t>? Di por qué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R3 · 21:45 · La invitación: 미안해요 </a:t>
            </a:r>
            <a:r>
              <a:rPr lang="en-US" sz="2000" dirty="0">
                <a:solidFill>
                  <a:srgbClr val="14142B"/>
                </a:solidFill>
              </a:rPr>
              <a:t>+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</a:t>
            </a:r>
            <a:r>
              <a:rPr lang="en-US" sz="2000" dirty="0">
                <a:solidFill>
                  <a:srgbClr val="14142B"/>
                </a:solidFill>
              </a:rPr>
              <a:t>+ razón +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다음에 같이 가요</a:t>
            </a:r>
            <a:r>
              <a:rPr lang="en-US" sz="2000" dirty="0">
                <a:solidFill>
                  <a:srgbClr val="14142B"/>
                </a:solidFill>
              </a:rPr>
              <a:t>!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Minuto libre · 21:51 · 뭐 할 수 있어요</a:t>
            </a:r>
            <a:r>
              <a:rPr lang="en-US" sz="2000" dirty="0">
                <a:solidFill>
                  <a:srgbClr val="14142B"/>
                </a:solidFill>
              </a:rPr>
              <a:t>? ·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휴가에 어디에 갈 거예요</a:t>
            </a:r>
            <a:r>
              <a:rPr lang="en-US" sz="2000" dirty="0">
                <a:solidFill>
                  <a:srgbClr val="14142B"/>
                </a:solidFill>
              </a:rPr>
              <a:t>?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Tu tarjeta: sección 7 del material (ábrela ahora)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La columna 3 es Jay: cuando entre a tu sala, ¡pregúntale!</a:t>
            </a:r>
            <a:endParaRPr lang="en-US" sz="20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Lo que oí hoy</a:t>
            </a:r>
            <a:r>
              <a:rPr lang="en-US" sz="1500" b="1" i="1" dirty="0">
                <a:solidFill>
                  <a:srgbClr val="8A8DA0"/>
                </a:solidFill>
              </a:rPr>
              <a:t>   What I heard today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Se completa con lo que oíste en las salas</a:t>
            </a:r>
            <a:endParaRPr lang="en-US" sz="1800" dirty="0"/>
          </a:p>
        </p:txBody>
      </p:sp>
      <p:graphicFrame>
        <p:nvGraphicFramePr>
          <p:cNvPr id="29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98900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5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Lo que oí (tachado, en gris)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Así se dice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strike="sngStrike" dirty="0">
                          <a:solidFill>
                            <a:srgbClr val="8A8D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운동해요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운동 안 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strike="sngStrike" dirty="0">
                          <a:solidFill>
                            <a:srgbClr val="8A8D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못 바빠요 </a:t>
                      </a:r>
                      <a:r>
                        <a:rPr lang="en-US" sz="1800" strike="sngStrike" dirty="0">
                          <a:solidFill>
                            <a:srgbClr val="8A8DA0"/>
                          </a:solidFill>
                        </a:rPr>
                        <a:t>· </a:t>
                      </a:r>
                      <a:r>
                        <a:rPr lang="ko-KR" altLang="en-US" sz="1800" strike="sngStrike" dirty="0">
                          <a:solidFill>
                            <a:srgbClr val="8A8D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알아요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바빠요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몰라요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strike="sngStrike" dirty="0">
                          <a:solidFill>
                            <a:srgbClr val="8A8D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[모스가요</a:t>
                      </a:r>
                      <a:r>
                        <a:rPr lang="en-US" sz="1800" strike="sngStrike" dirty="0">
                          <a:solidFill>
                            <a:srgbClr val="8A8DA0"/>
                          </a:solidFill>
                        </a:rPr>
                        <a:t>] · [</a:t>
                      </a:r>
                      <a:r>
                        <a:rPr lang="ko-KR" altLang="en-US" sz="1800" strike="sngStrike" dirty="0">
                          <a:solidFill>
                            <a:srgbClr val="8A8D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몯해요</a:t>
                      </a:r>
                      <a:r>
                        <a:rPr lang="en-US" sz="1800" strike="sngStrike" dirty="0">
                          <a:solidFill>
                            <a:srgbClr val="8A8DA0"/>
                          </a:solidFill>
                        </a:rPr>
                        <a:t>]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[몯까요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] · [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모태요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]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Las 3 frases de hoy</a:t>
            </a:r>
            <a:r>
              <a:rPr lang="en-US" sz="1500" b="1" i="1" dirty="0">
                <a:solidFill>
                  <a:srgbClr val="8A8DA0"/>
                </a:solidFill>
              </a:rPr>
              <a:t>   Today's 3 key sentences</a:t>
            </a:r>
            <a:endParaRPr lang="en-US" sz="3000" dirty="0"/>
          </a:p>
        </p:txBody>
      </p:sp>
      <p:sp>
        <p:nvSpPr>
          <p:cNvPr id="3" name="lista"/>
          <p:cNvSpPr txBox="1"/>
          <p:nvPr/>
        </p:nvSpPr>
        <p:spPr>
          <a:xfrm>
            <a:off x="548640" y="1325880"/>
            <a:ext cx="6949440" cy="484632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수영할 수 있어요</a:t>
            </a:r>
            <a:r>
              <a:rPr lang="en-US" sz="2800" dirty="0">
                <a:solidFill>
                  <a:srgbClr val="14142B"/>
                </a:solidFill>
              </a:rPr>
              <a:t>? — ¿Sabes nadar?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미안해요</a:t>
            </a:r>
            <a:r>
              <a:rPr lang="en-US" sz="2800" dirty="0">
                <a:solidFill>
                  <a:srgbClr val="14142B"/>
                </a:solidFill>
              </a:rPr>
              <a:t>, </a:t>
            </a: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내일은 못 가요</a:t>
            </a:r>
            <a:r>
              <a:rPr lang="en-US" sz="2800" dirty="0">
                <a:solidFill>
                  <a:srgbClr val="14142B"/>
                </a:solidFill>
              </a:rPr>
              <a:t>. — Perdón, mañana no puedo ir.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다음에 같이 가요</a:t>
            </a:r>
            <a:r>
              <a:rPr lang="en-US" sz="2800" dirty="0">
                <a:solidFill>
                  <a:srgbClr val="14142B"/>
                </a:solidFill>
              </a:rPr>
              <a:t>! — ¡Vamos la próxima!</a:t>
            </a:r>
            <a:endParaRPr lang="en-US" sz="2800" dirty="0"/>
          </a:p>
        </p:txBody>
      </p:sp>
      <p:sp>
        <p:nvSpPr>
          <p:cNvPr id="4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5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Tarea (≈ 30 min)</a:t>
            </a:r>
            <a:r>
              <a:rPr lang="en-US" sz="1500" b="1" i="1" dirty="0">
                <a:solidFill>
                  <a:srgbClr val="8A8DA0"/>
                </a:solidFill>
              </a:rPr>
              <a:t>   Homework (about 30 min)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Plazo: miércoles 2 de diciembre, 21:00 (hora de Chile) · todo en el grupo de WhatsApp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1 · Lector → Practicar → Pictogramas: 3 rondas + reto de voz (5 min) + captura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Hoja 6 (15 min): 15 situaciones + 2 frases en forma larga (-지 않아요</a:t>
            </a:r>
            <a:r>
              <a:rPr lang="en-US" sz="2000" dirty="0">
                <a:solidFill>
                  <a:srgbClr val="14142B"/>
                </a:solidFill>
              </a:rPr>
              <a:t>) + 5 y 5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Audio de 40 s: 할 수 있어요</a:t>
            </a:r>
            <a:r>
              <a:rPr lang="en-US" sz="2000" dirty="0">
                <a:solidFill>
                  <a:srgbClr val="14142B"/>
                </a:solidFill>
              </a:rPr>
              <a:t>,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해요 </a:t>
            </a:r>
            <a:r>
              <a:rPr lang="en-US" sz="2000" dirty="0">
                <a:solidFill>
                  <a:srgbClr val="14142B"/>
                </a:solidFill>
              </a:rPr>
              <a:t>(5 min; puedes usar la Parte B)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4 · Prepara la S7 (5 min): 2 ciudades, comidas o ídolos + fotos; tu escritorio a la vista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Reto: forma larga en 5 situaciones + 1 frase con -지만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Rescate: solo situaciones 1–10 con 안 </a:t>
            </a:r>
            <a:r>
              <a:rPr lang="en-US" sz="2000" dirty="0">
                <a:solidFill>
                  <a:srgbClr val="14142B"/>
                </a:solidFill>
              </a:rPr>
              <a:t>o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</a:t>
            </a:r>
            <a:r>
              <a:rPr lang="en-US" sz="2000" dirty="0">
                <a:solidFill>
                  <a:srgbClr val="14142B"/>
                </a:solidFill>
              </a:rPr>
              <a:t>+ el audio</a:t>
            </a:r>
            <a:endParaRPr lang="en-US" sz="20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169164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r>
              <a:rPr lang="en-US" sz="3000" b="1" dirty="0">
                <a:solidFill>
                  <a:srgbClr val="FFFFFF"/>
                </a:solidFill>
              </a:rPr>
              <a:t>! </a:t>
            </a:r>
            <a:r>
              <a:rPr lang="ko-KR" alt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</a:t>
            </a:r>
            <a:r>
              <a:rPr lang="en-US" sz="3000" b="1" dirty="0">
                <a:solidFill>
                  <a:srgbClr val="FFFFFF"/>
                </a:solidFill>
              </a:rPr>
              <a:t>!  Nos vemos en la semana 7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2" hasCustomPrompt="1"/>
          </p:nvPr>
        </p:nvSpPr>
        <p:spPr>
          <a:xfrm>
            <a:off x="1463040" y="2971800"/>
            <a:ext cx="92628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2200" dirty="0">
                <a:solidFill>
                  <a:srgbClr val="FFFFFF"/>
                </a:solidFill>
              </a:rPr>
              <a:t>Clase 7: miércoles 2 de diciembre, 21:00 (hora de Chile)</a:t>
            </a:r>
            <a:endParaRPr lang="en-US" sz="2200" dirty="0"/>
          </a:p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Quiz 6: 안 </a:t>
            </a:r>
            <a:r>
              <a:rPr lang="en-US" sz="2200" dirty="0">
                <a:solidFill>
                  <a:srgbClr val="FFFFFF"/>
                </a:solidFill>
              </a:rPr>
              <a:t>o </a:t>
            </a:r>
            <a:r>
              <a:rPr lang="ko-KR" alt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</a:t>
            </a:r>
            <a:r>
              <a:rPr lang="en-US" sz="2200" dirty="0">
                <a:solidFill>
                  <a:srgbClr val="FFFFFF"/>
                </a:solidFill>
              </a:rPr>
              <a:t>· </a:t>
            </a:r>
            <a:r>
              <a:rPr lang="ko-KR" alt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먹지 않아요 </a:t>
            </a:r>
            <a:r>
              <a:rPr lang="en-US" sz="2200" dirty="0">
                <a:solidFill>
                  <a:srgbClr val="FFFFFF"/>
                </a:solidFill>
              </a:rPr>
              <a:t>· </a:t>
            </a:r>
            <a:r>
              <a:rPr lang="ko-KR" alt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 있어요 </a:t>
            </a:r>
            <a:r>
              <a:rPr lang="en-US" sz="2200" dirty="0">
                <a:solidFill>
                  <a:srgbClr val="FFFFFF"/>
                </a:solidFill>
              </a:rPr>
              <a:t>· </a:t>
            </a:r>
            <a:r>
              <a:rPr lang="ko-KR" alt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 안 해요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¿Quién puede…? 손 드세요</a:t>
            </a:r>
            <a:r>
              <a:rPr lang="en-US" sz="1500" b="1" i="1" dirty="0">
                <a:solidFill>
                  <a:srgbClr val="8A8DA0"/>
                </a:solidFill>
              </a:rPr>
              <a:t>   Who can…? Raise your hand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기타를 칠 수 있어요</a:t>
            </a:r>
            <a:r>
              <a:rPr lang="en-US" sz="1800" i="1" dirty="0">
                <a:solidFill>
                  <a:srgbClr val="4236F6"/>
                </a:solidFill>
              </a:rPr>
              <a:t>?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드세요</a:t>
            </a:r>
            <a:r>
              <a:rPr lang="en-US" sz="1800" i="1" dirty="0">
                <a:solidFill>
                  <a:srgbClr val="4236F6"/>
                </a:solidFill>
              </a:rPr>
              <a:t>! 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 명</a:t>
            </a:r>
            <a:r>
              <a:rPr lang="en-US" sz="1800" i="1" dirty="0">
                <a:solidFill>
                  <a:srgbClr val="4236F6"/>
                </a:solidFill>
              </a:rPr>
              <a:t>,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 명</a:t>
            </a:r>
            <a:r>
              <a:rPr lang="en-US" sz="1800" i="1" dirty="0">
                <a:solidFill>
                  <a:srgbClr val="4236F6"/>
                </a:solidFill>
              </a:rPr>
              <a:t>… ___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228393"/>
            <a:ext cx="3544824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3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수영하다</a:t>
            </a:r>
            <a:endParaRPr lang="en-US" sz="43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920136"/>
            <a:ext cx="3398520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nadar</a:t>
            </a:r>
            <a:endParaRPr lang="en-US" sz="1600" dirty="0"/>
          </a:p>
        </p:txBody>
      </p:sp>
      <p:pic>
        <p:nvPicPr>
          <p:cNvPr id="7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3691128" y="1947672"/>
            <a:ext cx="310896" cy="310896"/>
          </a:xfrm>
          <a:prstGeom prst="rect">
            <a:avLst/>
          </a:prstGeom>
        </p:spPr>
      </p:pic>
      <p:sp>
        <p:nvSpPr>
          <p:cNvPr id="8" name="card_1"/>
          <p:cNvSpPr/>
          <p:nvPr/>
        </p:nvSpPr>
        <p:spPr>
          <a:xfrm>
            <a:off x="4322064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322064" y="2228393"/>
            <a:ext cx="3544824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3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운전하다</a:t>
            </a:r>
            <a:endParaRPr lang="en-US" sz="4300" dirty="0"/>
          </a:p>
        </p:txBody>
      </p:sp>
      <p:sp>
        <p:nvSpPr>
          <p:cNvPr id="10" name="Text 7"/>
          <p:cNvSpPr txBox="1"/>
          <p:nvPr/>
        </p:nvSpPr>
        <p:spPr>
          <a:xfrm>
            <a:off x="4395216" y="2920136"/>
            <a:ext cx="3398520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manejar</a:t>
            </a:r>
            <a:endParaRPr lang="en-US" sz="1600" dirty="0"/>
          </a:p>
        </p:txBody>
      </p:sp>
      <p:pic>
        <p:nvPicPr>
          <p:cNvPr id="11" name="Media 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7464552" y="1947672"/>
            <a:ext cx="310896" cy="310896"/>
          </a:xfrm>
          <a:prstGeom prst="rect">
            <a:avLst/>
          </a:prstGeom>
        </p:spPr>
      </p:pic>
      <p:sp>
        <p:nvSpPr>
          <p:cNvPr id="12" name="card_2"/>
          <p:cNvSpPr/>
          <p:nvPr/>
        </p:nvSpPr>
        <p:spPr>
          <a:xfrm>
            <a:off x="8095488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8095488" y="2228393"/>
            <a:ext cx="3544824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3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기타를 치다</a:t>
            </a:r>
            <a:endParaRPr lang="en-US" sz="4300" dirty="0"/>
          </a:p>
        </p:txBody>
      </p:sp>
      <p:sp>
        <p:nvSpPr>
          <p:cNvPr id="14" name="Text 10"/>
          <p:cNvSpPr txBox="1"/>
          <p:nvPr/>
        </p:nvSpPr>
        <p:spPr>
          <a:xfrm>
            <a:off x="8168640" y="2920136"/>
            <a:ext cx="3398520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tocar la guitarra</a:t>
            </a:r>
            <a:endParaRPr lang="en-US" sz="1600" dirty="0"/>
          </a:p>
        </p:txBody>
      </p:sp>
      <p:pic>
        <p:nvPicPr>
          <p:cNvPr id="19" name="Media 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1237976" y="1947672"/>
            <a:ext cx="310896" cy="310896"/>
          </a:xfrm>
          <a:prstGeom prst="rect">
            <a:avLst/>
          </a:prstGeom>
        </p:spPr>
      </p:pic>
      <p:sp>
        <p:nvSpPr>
          <p:cNvPr id="16" name="card_3"/>
          <p:cNvSpPr/>
          <p:nvPr/>
        </p:nvSpPr>
        <p:spPr>
          <a:xfrm>
            <a:off x="2435352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2435352" y="4491533"/>
            <a:ext cx="3544824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3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춤을 추다</a:t>
            </a:r>
            <a:endParaRPr lang="en-US" sz="4300" dirty="0"/>
          </a:p>
        </p:txBody>
      </p:sp>
      <p:sp>
        <p:nvSpPr>
          <p:cNvPr id="18" name="Text 13"/>
          <p:cNvSpPr txBox="1"/>
          <p:nvPr/>
        </p:nvSpPr>
        <p:spPr>
          <a:xfrm>
            <a:off x="2508504" y="5183276"/>
            <a:ext cx="3398520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bailar</a:t>
            </a:r>
            <a:endParaRPr lang="en-US" sz="1600" dirty="0"/>
          </a:p>
        </p:txBody>
      </p:sp>
      <p:pic>
        <p:nvPicPr>
          <p:cNvPr id="23" name="Media 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5577840" y="4210812"/>
            <a:ext cx="310896" cy="310896"/>
          </a:xfrm>
          <a:prstGeom prst="rect">
            <a:avLst/>
          </a:prstGeom>
        </p:spPr>
      </p:pic>
      <p:sp>
        <p:nvSpPr>
          <p:cNvPr id="20" name="card_4"/>
          <p:cNvSpPr/>
          <p:nvPr/>
        </p:nvSpPr>
        <p:spPr>
          <a:xfrm>
            <a:off x="6208776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21" name="Text 15"/>
          <p:cNvSpPr txBox="1"/>
          <p:nvPr/>
        </p:nvSpPr>
        <p:spPr>
          <a:xfrm>
            <a:off x="6208776" y="4491533"/>
            <a:ext cx="3544824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3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매운 음식</a:t>
            </a:r>
            <a:endParaRPr lang="en-US" sz="4300" dirty="0"/>
          </a:p>
        </p:txBody>
      </p:sp>
      <p:sp>
        <p:nvSpPr>
          <p:cNvPr id="22" name="Text 16"/>
          <p:cNvSpPr txBox="1"/>
          <p:nvPr/>
        </p:nvSpPr>
        <p:spPr>
          <a:xfrm>
            <a:off x="6281928" y="5183276"/>
            <a:ext cx="3398520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comida picante</a:t>
            </a:r>
            <a:endParaRPr lang="en-US" sz="1600" dirty="0"/>
          </a:p>
        </p:txBody>
      </p:sp>
      <p:pic>
        <p:nvPicPr>
          <p:cNvPr id="15" name="Media 4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9351264" y="4210812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Bonus: -있다 </a:t>
            </a:r>
            <a:r>
              <a:rPr lang="en-US" sz="3000" b="1" dirty="0">
                <a:solidFill>
                  <a:srgbClr val="003478"/>
                </a:solidFill>
              </a:rPr>
              <a:t>→ -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없다</a:t>
            </a:r>
            <a:r>
              <a:rPr lang="ko-KR" altLang="en-US" sz="1500" b="1" i="1" dirty="0">
                <a:solidFill>
                  <a:srgbClr val="8A8DA0"/>
                </a:solidFill>
              </a:rPr>
              <a:t>   Bonus: -있다 → -없다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Mismo truco que 있어요 </a:t>
            </a:r>
            <a:r>
              <a:rPr lang="en-US" sz="1800" i="1" dirty="0">
                <a:solidFill>
                  <a:srgbClr val="4236F6"/>
                </a:solidFill>
              </a:rPr>
              <a:t>/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 </a:t>
            </a:r>
            <a:r>
              <a:rPr lang="en-US" sz="1800" i="1" dirty="0">
                <a:solidFill>
                  <a:srgbClr val="4236F6"/>
                </a:solidFill>
              </a:rPr>
              <a:t>· extensión: no entra en el quiz</a:t>
            </a:r>
            <a:endParaRPr lang="en-US" sz="1800" dirty="0"/>
          </a:p>
        </p:txBody>
      </p:sp>
      <p:graphicFrame>
        <p:nvGraphicFramePr>
          <p:cNvPr id="34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357198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5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재미있어요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(es entretenido)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재미없어요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(es aburrido)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맛있어요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(es rico)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맛없어요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(no es rico)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33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ademia Seul">
  <a:themeElements>
    <a:clrScheme name="Academia Seul">
      <a:dk1>
        <a:srgbClr val="14142B"/>
      </a:dk1>
      <a:lt1>
        <a:srgbClr val="FFFFFF"/>
      </a:lt1>
      <a:dk2>
        <a:srgbClr val="003478"/>
      </a:dk2>
      <a:lt2>
        <a:srgbClr val="F1F0FE"/>
      </a:lt2>
      <a:accent1>
        <a:srgbClr val="4236F6"/>
      </a:accent1>
      <a:accent2>
        <a:srgbClr val="E8B84B"/>
      </a:accent2>
      <a:accent3>
        <a:srgbClr val="003478"/>
      </a:accent3>
      <a:accent4>
        <a:srgbClr val="8A83FF"/>
      </a:accent4>
      <a:accent5>
        <a:srgbClr val="5C5F6B"/>
      </a:accent5>
      <a:accent6>
        <a:srgbClr val="B8962E"/>
      </a:accent6>
      <a:hlink>
        <a:srgbClr val="4236F6"/>
      </a:hlink>
      <a:folHlink>
        <a:srgbClr val="003478"/>
      </a:folHlink>
    </a:clrScheme>
    <a:fontScheme name="Academia Seu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5740</Words>
  <Application>Microsoft Office PowerPoint</Application>
  <PresentationFormat>Widescreen</PresentationFormat>
  <Paragraphs>413</Paragraphs>
  <Slides>33</Slides>
  <Notes>33</Notes>
  <HiddenSlides>0</HiddenSlides>
  <MMClips>7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Malgun Gothic</vt:lpstr>
      <vt:lpstr>Arial</vt:lpstr>
      <vt:lpstr>Academia Seul</vt:lpstr>
      <vt:lpstr>Mientras llegan</vt:lpstr>
      <vt:lpstr>퀴즈 5  Quiz 5 (1–4)   Quiz 5 (1–4)</vt:lpstr>
      <vt:lpstr>퀴즈 5  Quiz 5 · ítem 5   Quiz 5 · item 5</vt:lpstr>
      <vt:lpstr>퀴즈 5  Clave del quiz 5   Quiz 5 answer key</vt:lpstr>
      <vt:lpstr>Quiz en línea 2 y Hoja 5   Online quiz 2 and worksheet 5</vt:lpstr>
      <vt:lpstr>지난주 목요일, 한국은… 수능  El jueves pasado en Corea… el 수능</vt:lpstr>
      <vt:lpstr>Hoy vas a poder decir…   Today you'll be able to say…</vt:lpstr>
      <vt:lpstr>Tres cosas de Jay   Three things about Jay</vt:lpstr>
      <vt:lpstr>안 = "no" delante del verbo   안 = "not" before the verb</vt:lpstr>
      <vt:lpstr>¿Dónde va el 안?   Where does 안 go?</vt:lpstr>
      <vt:lpstr>Tu frase   Your sentence</vt:lpstr>
      <vt:lpstr>La forma larga: -지 않아요   The long form: -지 않아요</vt:lpstr>
      <vt:lpstr>못 = no puedo / no sé   못 = can't / don't know how</vt:lpstr>
      <vt:lpstr>¿안 o 못?   안 or 못?</vt:lpstr>
      <vt:lpstr>¿1 dedo o 2 dedos? (1–4)   One finger or two? (1–4)</vt:lpstr>
      <vt:lpstr>¿1 dedo o 2 dedos? (5–7)   One finger or two? (5–7)</vt:lpstr>
      <vt:lpstr>못 suena distinto   못 changes its sound</vt:lpstr>
      <vt:lpstr>-(으)ㄹ 수 있어요 · puedo, sé   -(으)ㄹ 수 있어요 · can, know how to</vt:lpstr>
      <vt:lpstr>저는 한글을 읽을 수 있어요!  ¡Puedo leer 한글!   I can read Hangul!</vt:lpstr>
      <vt:lpstr>¿Puedes…? · ¿Sabes…?   Can you…? · Do you know how to…?</vt:lpstr>
      <vt:lpstr>Palabras que ya son negativas   Words that are already negative</vt:lpstr>
      <vt:lpstr>El arte de decir que no   The art of saying no</vt:lpstr>
      <vt:lpstr>카톡  KakaoTalk (1/2)   KakaoTalk chat (1/2)</vt:lpstr>
      <vt:lpstr>카톡  KakaoTalk (2/2)   KakaoTalk chat (2/2)</vt:lpstr>
      <vt:lpstr>-지만 · pero (fórmula)   -지만 · but (set phrase)</vt:lpstr>
      <vt:lpstr>Drill   Drill</vt:lpstr>
      <vt:lpstr>Salas · 20 min   Breakout rooms · 20 min</vt:lpstr>
      <vt:lpstr>Lo que oí hoy   What I heard today</vt:lpstr>
      <vt:lpstr>Las 3 frases de hoy   Today's 3 key sentences</vt:lpstr>
      <vt:lpstr>Tarea (≈ 30 min)   Homework (about 30 min)</vt:lpstr>
      <vt:lpstr>감사합니다! 화이팅!  Nos vemos en la semana 7</vt:lpstr>
      <vt:lpstr>¿Quién puede…? 손 드세요   Who can…? Raise your hand</vt:lpstr>
      <vt:lpstr>Bonus: -있다 → -없다   Bonus: -있다 → -없다</vt:lpstr>
    </vt:vector>
  </TitlesOfParts>
  <Company>Academia Seúl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Básico 2 (A1.2) · Semana 6 · 못 가요 · Negación y habilidad</dc:title>
  <dc:subject>PptxGenJS Presentation</dc:subject>
  <dc:creator>Academia Seúl</dc:creator>
  <cp:lastModifiedBy>Jae Hee Kim</cp:lastModifiedBy>
  <cp:revision>2</cp:revision>
  <dcterms:created xsi:type="dcterms:W3CDTF">2026-10-16T10:02:35Z</dcterms:created>
  <dcterms:modified xsi:type="dcterms:W3CDTF">2026-10-16T10:04:10Z</dcterms:modified>
</cp:coreProperties>
</file>