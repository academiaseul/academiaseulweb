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4" id="{1FD53434-7A2F-92A2-C84A-DC418E19369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182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21:00, mientras entran. Graba desde el minuto 0 (Grabar → En la nube). «안녕하세요, 여러분!» «¡Bienvenidos a la semana 4! Estamos en la mitad del curso: hoy la clase es normal, sin examen extra, y al final les cuento qué reciben esta semana.»
Fuente: Nueva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21:00–21:02:30 · 2,5 min. Antes de hablar, chat en «solo anfitrión». «Quiz 3: cinco preguntas, en un solo mensaje, así: 1) … 5). Como siempre, el chat me llega solo a mí.» Mientras escriben, crea las 5 salas y asigna a mano con tu lista de tríos. A las 21:02:30, «끝!»: guarda el chat y vuelve a ponerlo en «todos».
Imagen: incluida (dibujo de la casa).
Fuente: Nueva (ítem 5 original estilo TOPIK I, tipo aviso; revisar D-12 / S4-9)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21:02:30–21:03:30 · 1 min. Clic ítem por ítem. Si hay un error repetido, una línea: «덥다 → 더워요 (la ㅂ se vuelve 워); 모르다 → 몰라요; 회사에서 일해요: trabajar es una acción; 에 es para estar e ir.» En el 5: «Ojo con la trampa: 쉽니다 aquí viene de 쉬다: 쉬어요 → 쉽니다. ‘Es fácil’ sería 쉽습니다.» «잘했어요!»
Fuente: Nueva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21:03:30–21:04:15 · 45 s. «Del quiz en línea, lo que más costó fue esto.» Se llena el martes 10 con el resumen del formulario: deja los 2 ítems con más errores (estos 3 son los más probables si no hay datos). Una frase por ítem. «La clave completa de la Hoja 3 queda en la carpeta con la grabación.»
Fuente: Nueva (se llena el martes 10 de noviembre)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 · 10 s (L5 + L6 = 20 s en total). Con la portada en pantalla: «Hoy, el pasado: al final de la clase vas a contar tu fin de semana.» Todavía no expliques nada. Pasa directo a L6 (las 5 frases) y, después, pregunta en coreano «여러분, 주말 잘 보냈어요?» para entrar al fin de semana de Jay (L7).
Fuente: Portada de la plantilla (no usar la portada de julio, que dice «Profesora · Jay Kim»)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 · 20 s (con L5). «Al final de la clase vas a decir todo esto de tu propia vida.» Después: «여러분, 주말 잘 보냈어요?» (pausa) «Esa pregunta la vas a oír cada lunes en Corea, en la oficina o en la universidad. Hoy aprendes a responderla. Primero, mi fin de semana.»
Fuente: Nueva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21:06–21:07. Una frase por foto, despacio, señalando; haz clic para que la frase aparezca después de decirla. Es un guion de ejemplo (revisar S4-2): cámbialo por tu fin de semana real (sáb 7 – dom 8 nov) y conserva un 부터~까지, un 하고 y un adjetivo (맛있었어요 / 피곤했어요).
Imagen: incluida (dibujo de la casa).
Fuente: Nueva (fotos de Jay)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21:07–21:08. Fotos 4 a 6, igual que en L7. Comprensión (40 s), en coreano; acepta respuestas de una palabra (운동! · 친구하고!). Cierra: «Todo eso fue pasado, y lo entendieron sin que les explicara nada. Ahora vemos cómo se arma.» Si vas atrasado: 4 fotos y una sola pregunta.
Imagen: incluida (dibujo de la casa).
Fuente: Nueva; idea de A1_Nivel_1/09_Pasado/Sesion_09_Pasado.pptx L10 (sin su frase con -아서)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21:08–21:09 · 1 min. Vista de galería. «Si oyes presente, un dedo a la cámara; si oyes pasado, dos.» Di: 가요 · 갔어요 · 먹어요 · 먹었어요 · 봐요 · 했어요 · 샀어요 · 쉬어요. Después: «¿Qué tiene el pasado que no tiene el presente? Una ㅆ apretada: [가써요], [해써요]. Esa es la marca.» Sin cámara: 1 o 2 en el chat.
Imagen: incluida (dibujo de la casa).
Fuente: Nueva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21:09–21:10 · 1:30. «Buena noticia: si sabes el presente, ya sabes el pasado. Toma tu presente, quítale el 요 y ponle ㅆ어요. La ㅆ se va abajo, como 받침.» Animación fila por fila. «따라 하세요»: coro de las cinco, dos veces. «Por eso la semana 3 era tan importante: el presente es la puerta del pasado.»
Fuente: A1_Nivel_1/09_Pasado/Sesion_09_Pasado.pptx L4, adaptada: coral FF5C5C → azul 4236F6, sin la línea de romanización, sin voseo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21:10–21:11 · 1 min. «¿Y si el verbo es nuevo y solo lo tienes en diccionario? Mira la última vocal de la raíz. Si es ㅏ u ㅗ, mano arriba: -았어요. Si es otra: -었어요. Y 하다, siempre 했어요.» «¿먹다 tiene ㅏ o ㅗ? No. Entonces 먹었어요. Nunca 먹았어요.» Coro con el gesto.
Imagen: incluida (dibujo de la casa).
Fuente: A1_Nivel_1/09_Pasado/Sesion_09_Pasado.pptx L3, adaptada: sin coral, sin romanización «-eosseoyo / -asseoyo», sin voseo, sin «Cero memorización de irregulares»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21:11–21:12 · 1 min. «El truco del presente salva también a los irregulares: si el presente está bien, el pasado sale solo.» Coro rápido: «더워요 → 더웠어요 · 추워요 → 추웠어요 · 들어요 → 들었어요 · 바빠요 → 바빴어요 · 몰라요 → 몰랐어요.» «Y 살아요 → 살았어요: la ㄹ no molesta.»
Fuente: Nueva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21:12–21:13 · 1 min. Di en coreano: «작년에는 대학생이었어요. 지금은 회사원이에요.» «Para ‘era’, el 이에요/예요 de la semana 1 pasa a 이었어요 después de consonante y a 였어요 después de vocal. Y para ‘estaba en’: el 있다 de la semana 1, en pasado: 집에 있었어요. Nunca 집이었어요: eso es ‘era una casa’.»
Fuente: Nueva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21:13–21:14 · 1 min. «El español tiene ‘fui’, ‘iba’, ‘he ido’. El coreano, en este nivel, tiene uno: 갔어요. Lo que en español hace el verbo, en coreano lo hacen las palabras de tiempo: 어제, 작년에, 오늘. Y los estados también: ‘estaba cansado’ y ‘estuve cansado’ son 피곤했어요.» Si preguntan por «¿has ido alguna vez?»: es otra forma, de Conversacional; no se enseña. Si vas atrasado: 20 s.
Fuente: Nueva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21:14–21:16 · 1:30. «Primera frase propia. Van a hablar [5 nombres de tu lista]: abran el micrófono. Todos los demás, escriban la suya en el chat, en 한글.» «소피아 씨, 어제 뭐 했어요?» Si hay error, recast natural («아, 친구를 만났어요!»); «다시 한번» solo si falla la forma (먹았어요*). Cierra con «잘했어요!».
Fuente: Nueva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21:16–21:17:30 · 1:30. «Regla de bolsillo: si en español dices ‘el ___’ (el sábado, el fin de semana, la semana pasada, el año pasado), lleva 에. Si es una palabra suelta como ‘ayer’, ‘hoy’, ‘ahora’, ‘todos los días’, va sin nada.» Check en el chat: escriban 에 o una X (→ X · 에 · 에 · X). «Para contrastar, el 은/는 de la semana 1 se pega al 에: 작년에는 대학생이었어요. 지금은 회사원이에요.»
Fuente: Nueva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21:17:30–21:19 · 1:30. «Desde la semana 3 dicen 씻고 아침을 먹어요. En pasado es igual: el pasado va solo en el último verbo.» Coro de las dos frases. «No hace falta 먹었고: el primero va desnudo. Es un truco para unir, no hay que usarlo; si te sale, bien.» Si vas atrasado, se salta (queda en la sección 3.9 del material y en el reto).
Fuente: Nueva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21:19–21:21 · 2 min. «우리 수업은 몇 시부터 몇 시까지예요?» (señalas el reloj; → 아홉 시부터 열 시까지!) «네! 밤 아홉 시부터 열 시까지예요.» «부터 = desde, para tiempo. 까지 = hasta, para tiempo y lugar. Para ‘desde’ un lugar, el 에서 de la semana 3, ahora como punto de partida. Cada uno puede ir solo. Y nada de 에 delante.» «까지. 따라 하세요: 까지!» «ㄲ apretada, sin aire. Si dicen [가지], dijeron ‘berenjena’.»
Imagen: incluida (dibujo de la casa).
Fuente: A1_Nivel_1/07_Rutina_Diaria/Sesion_07_Rutina_Diaria_v2.pptx L12, corregida: 서울부터 부산까지 → 서울에서 부산까지; sin «Uno solo no funciona»; sin «buteo...kkaji»; amarillo y coral → azul/navy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21:21–21:23 · 2 min. «다니엘 씨, 몇 시부터 몇 시까지 일해요? 공부해요?» (→ respuesta en presente) «어제는요?» (→ …부터 …까지 일했어요). Tres alumnos. «Los demás, en el chat: su horario de ayer con 부터 y 까지.»
Fuente: Nueva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21:23–21:25 · 2 min. «선생님은 토요일에 누구하고 점심을 먹었어요?» (→ 친구하고!) «하고 = ‘con’, y también ‘y’ entre dos cosas: 빵하고 커피. (이)랑 es lo mismo, más de conversación: 이랑 después de consonante, 랑 después de vocal. 하고 no cambia nunca: si dudas, 하고. Ojo: une sustantivos.» «같이 [가치]: 친구하고 같이 갔어요.» «ㅌ más 이 suena 치. Y lo contrario de 같이: 혼자.»
Fuente: 07_Rutina_Diaria L15–L16 o Particulas_Coreanas_Editable.pptx L6, adaptadas: 와/과 solo para reconocer, sin 함께, fondo rosado FFC8C8 → lila ECE9FF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21:25–21:27 · 2 min. En voz alta, a 3–4 alumnos: «주말에 누구하고 뭐 했어요?» (→ ___하고/(이)랑 ___했어요). Si alguien estuvo solo: «아, 혼자 쉬었어요!» Después, el check en el chat: «¿이랑 o 랑?»; clic para revelar cada respuesta.
Fuente: Nueva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21:27–21:30 · 3 min. «En Seúl, el lunes, alguien te va a preguntar 주말 잘 보냈어요? Es cortesía: no esperan un relato, solo una o dos cosas concretas.» Hay cafés en todas partes (palabra que se oye: 카공, de 카페 + 공부; revisar S4-6) y «me quedé descansando en casa» es perfecto, sin culpa. Coro de la frase ancla dos veces (tú preguntas, el grupo responde; después al revés) y 2 alumnos responden con su fin de semana. Di «muchos», «en Seúl»; nunca «los coreanos».
Imagen: incluida (dibujo de la casa).
Fuente: Nueva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21:30–21:34 · 4 min. «Yo digo una frase en presente; el que sigue en la lista la pasa al pasado y le agrega un tiempo. Tres segundos. Mano arriba si la vocal es ㅏ u ㅗ.» Frases (solo en tu pantalla): 1 친구를 만나요. 2 영화를 봐요. 3 커피를 마셔요. 4 집에서 쉬어요. 5 요리해요. 6 한국어를 공부해요. 7 빵을 사요. 8 음악을 들어요. 9 너무 바빠요. 10 날씨가 추워요. 11 동생하고 놀아요. 12 너무 피곤해요. 13 숙제를 해요. 14 저는 대학생이에요. 15 한국 음식을 먹어요. 16 정말 재미있어요. 17 저는 몰라요. Corrige al vuelo (먹았어요* → «¿먹 tiene ㅏ o ㅗ?»; [해서요] → «apriétala: [해써요]»); si alguien se traba 3 s, «다음!».
Fuente: Nueva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21:34–21:35 · 1 min. «Salas de 3, 20 minutos. Abran ahora la sección 7 de su material: el chat de la sala es otro.» El rol de tarjeta no es el perfil del diagnóstico. Pega en el chat el texto de respaldo y abre las salas (asignadas en el bloque 1; cierre a los 19 min + 60 s). Mensajes a las 21:41 (R2) y 21:51 (R3). En tu circuito (≈ 3,5 min por sala, primero las que tienen un perfil C) anota el mini-diario de cada alumno en la tabla de mitad de curso.
Fuente: Nueva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21:55–21:57. Primero, 3 alumnos resumen la clase en una frase en coreano (1:15): «¿Quién parte?»; si nadie, nombras a quien abrió un mini-diario que escuchaste. «잘했어요!» Después, la lámina (1 min): ajusta los errores a lo que oíste; clic para la forma correcta y coro.
Fuente: Nueva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21:57–21:58 · 1 min. «Primero yo, despacio; después ustedes.» Tú solo, con 2 s de pausa; el grupo repite cada frase. Dos vueltas. De aquí se recorta B2_S04_frases_clave.mp3: tu versión va sola, lenta y limpia.
Fuente: Diseño B.12
Lámina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21:58 · 1:15 (con L28). «Unos 28 minutos, antes de la clase 5, el miércoles 18. Uno: el mini-diario, tres frases en pasado sobre tu día, aquí en el grupo. Dos: el Lector, Números, tres rondas seguidas cuando arriba diga ‘nativos’ o ‘mezclados’, y la captura. Tres: la Hoja 4, ejercicios 9 y 10. Cuatro: elige un lugar al que quieras viajar y guarda una foto.» Si arriba dice «sino-coreanos», la juegan igual hasta que cambie.
Fuente: Nueva
Lámina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21:59. «Y la mitad del curso: el domingo 15 les llega la guía de estudio de las semanas 1 a 4 y a cada uno, por privado, mi comentario en tres líneas. Desde la clase 5, parejas nuevas.» (Plazo del comentario: DECISIÓN DE JAY 8.)
Fuente: Nueva
Lámina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21:59:30 · 30 s. «La clase 5 abre con el quiz 4: pasado y 부터~까지.» «오늘 정말 잘했어요! 감사합니다!» → grupo: «감사합니다!» 22:00 en punto: «Finalizar reunión para todos».
Fuente: Plantilla
Lámina 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si sobra tiempo. 1: abres tú con tus 3 frases (la falsa la eliges tú) y el grupo escribe 1, 2 o 3; después un voluntario. 2: dictas 가요 · 봤어요 · 먹었어요 · 쉬어요 · 했어요 · 사요 · 놀았어요 · 들어요 (→ P · PA · PA · P · PA · P · PA · P). 3: dictas tu semana real con 부터~까지 (월요일부터 금요일까지… 밤 아홉 시부터 열 시까지 수업이 있어요). 4: cuentas en coreano: 여섯 명이 카페에 갔어요!
Fuente: Nueva (C.11)
Lámina Extra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2 (A1.2) · Semana 4 · Jay Kim (김재희)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2 (A1.2) · Semana 4 · Jay Kim (김재희)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2 (A1.2) · Semana 4 · Jay Kim (김재희)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3000" b="1" dirty="0">
                <a:solidFill>
                  <a:srgbClr val="4236F6"/>
                </a:solidFill>
              </a:rPr>
              <a:t>!  </a:t>
            </a:r>
            <a:r>
              <a:rPr lang="en-US" sz="3000" b="1" dirty="0">
                <a:solidFill>
                  <a:srgbClr val="003478"/>
                </a:solidFill>
              </a:rPr>
              <a:t>Mientras llegan</a:t>
            </a:r>
            <a:r>
              <a:rPr lang="en-US" sz="1500" b="1" i="1" dirty="0">
                <a:solidFill>
                  <a:srgbClr val="8A8DA0"/>
                </a:solidFill>
              </a:rPr>
              <a:t>   While you join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Semana 4 · mitad del curso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Ten el chat abierto: en 1 minuto, quiz 3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Chile 21:00 · México 18:00 · Colombia y Perú 19:00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EE.UU. (Este) 19:00 (desde el domingo 1 de noviembre) · España 01:00 (jueves)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Corea: jueves 12, 09:00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4100" b="1" dirty="0">
                <a:solidFill>
                  <a:srgbClr val="4236F6"/>
                </a:solidFill>
              </a:rPr>
              <a:t>!</a:t>
            </a:r>
            <a:endParaRPr lang="en-US" sz="41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3</a:t>
            </a:r>
            <a:r>
              <a:rPr lang="en-US" sz="1500" b="1" i="1" dirty="0">
                <a:solidFill>
                  <a:srgbClr val="8A8DA0"/>
                </a:solidFill>
              </a:rPr>
              <a:t>   Quiz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Un solo mensaje (el chat va solo a Jay): 1) … 5)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Ítems 1 a 4</a:t>
            </a:r>
            <a:endParaRPr lang="en-US" sz="2000" dirty="0"/>
          </a:p>
        </p:txBody>
      </p:sp>
      <p:sp>
        <p:nvSpPr>
          <p:cNvPr id="6" name="lista"/>
          <p:cNvSpPr txBox="1"/>
          <p:nvPr/>
        </p:nvSpPr>
        <p:spPr>
          <a:xfrm>
            <a:off x="731520" y="2651760"/>
            <a:ext cx="5020056" cy="338328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덥다 </a:t>
            </a:r>
            <a:r>
              <a:rPr lang="en-US" sz="2000" dirty="0">
                <a:solidFill>
                  <a:srgbClr val="14142B"/>
                </a:solidFill>
              </a:rPr>
              <a:t>→ ___ (presente, -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아요</a:t>
            </a:r>
            <a:r>
              <a:rPr lang="en-US" sz="2000" dirty="0">
                <a:solidFill>
                  <a:srgbClr val="14142B"/>
                </a:solidFill>
              </a:rPr>
              <a:t>/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어요</a:t>
            </a:r>
            <a:r>
              <a:rPr lang="en-US" sz="2000" dirty="0">
                <a:solidFill>
                  <a:srgbClr val="14142B"/>
                </a:solidFill>
              </a:rPr>
              <a:t>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모르다 </a:t>
            </a:r>
            <a:r>
              <a:rPr lang="en-US" sz="2000" dirty="0">
                <a:solidFill>
                  <a:srgbClr val="14142B"/>
                </a:solidFill>
              </a:rPr>
              <a:t>→ ___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회사</a:t>
            </a:r>
            <a:r>
              <a:rPr lang="en-US" sz="2000" dirty="0">
                <a:solidFill>
                  <a:srgbClr val="14142B"/>
                </a:solidFill>
              </a:rPr>
              <a:t>___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일해요</a:t>
            </a:r>
            <a:r>
              <a:rPr lang="en-US" sz="2000" dirty="0">
                <a:solidFill>
                  <a:srgbClr val="14142B"/>
                </a:solidFill>
              </a:rPr>
              <a:t>. (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sz="2000" dirty="0">
                <a:solidFill>
                  <a:srgbClr val="14142B"/>
                </a:solidFill>
              </a:rPr>
              <a:t>/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lang="en-US" sz="2000" dirty="0">
                <a:solidFill>
                  <a:srgbClr val="14142B"/>
                </a:solidFill>
              </a:rPr>
              <a:t>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¿Cuál es formal? ① 가요 </a:t>
            </a:r>
            <a:r>
              <a:rPr lang="en-US" sz="2000" dirty="0">
                <a:solidFill>
                  <a:srgbClr val="14142B"/>
                </a:solidFill>
              </a:rPr>
              <a:t>②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갑니다</a:t>
            </a:r>
            <a:endParaRPr lang="en-US" sz="2000" dirty="0"/>
          </a:p>
        </p:txBody>
      </p:sp>
      <p:sp>
        <p:nvSpPr>
          <p:cNvPr id="7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5 · Lee el aviso. ¿Qué frase es correcta?</a:t>
            </a:r>
            <a:endParaRPr lang="en-US" sz="2000" dirty="0"/>
          </a:p>
        </p:txBody>
      </p:sp>
      <p:pic>
        <p:nvPicPr>
          <p:cNvPr id="9" name="col_img_1" descr="C:\Users\Chingu\AppData\Local\Temp\claude\C--Users-Chingu-Desktop-ACADEMIASEULWEB\d4111e1b-5523-44ea-97b2-b1a1d9545b9e\scratchpad\decks\cache\img_86a9c21ae62eda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2651760"/>
            <a:ext cx="1508760" cy="6858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83096" y="342900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한강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4434840"/>
            <a:ext cx="5020056" cy="160020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화요일 </a:t>
            </a:r>
            <a:r>
              <a:rPr lang="en-US" sz="1200" dirty="0">
                <a:solidFill>
                  <a:srgbClr val="14142B"/>
                </a:solidFill>
              </a:rPr>
              <a:t>~ </a:t>
            </a: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 </a:t>
            </a:r>
            <a:r>
              <a:rPr lang="en-US" sz="1200" dirty="0">
                <a:solidFill>
                  <a:srgbClr val="14142B"/>
                </a:solidFill>
              </a:rPr>
              <a:t>· </a:t>
            </a: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</a:t>
            </a:r>
            <a:r>
              <a:rPr lang="en-US" sz="1200" dirty="0">
                <a:solidFill>
                  <a:srgbClr val="14142B"/>
                </a:solidFill>
              </a:rPr>
              <a:t>8:00 ~ </a:t>
            </a: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</a:t>
            </a:r>
            <a:r>
              <a:rPr lang="en-US" sz="1200" dirty="0">
                <a:solidFill>
                  <a:srgbClr val="14142B"/>
                </a:solidFill>
              </a:rPr>
              <a:t>10:00</a:t>
            </a:r>
            <a:endParaRPr lang="en-US" sz="1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월요일은 쉽니다</a:t>
            </a:r>
            <a:r>
              <a:rPr lang="en-US" sz="1200" dirty="0">
                <a:solidFill>
                  <a:srgbClr val="14142B"/>
                </a:solidFill>
              </a:rPr>
              <a:t>.</a:t>
            </a:r>
            <a:endParaRPr lang="en-US" sz="1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카페는 매일 쉬어요</a:t>
            </a:r>
            <a:r>
              <a:rPr lang="en-US" sz="1200" dirty="0">
                <a:solidFill>
                  <a:srgbClr val="14142B"/>
                </a:solidFill>
              </a:rPr>
              <a:t>.</a:t>
            </a:r>
            <a:endParaRPr lang="en-US" sz="1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카페는 월요일에 쉬어요</a:t>
            </a:r>
            <a:r>
              <a:rPr lang="en-US" sz="1200" dirty="0">
                <a:solidFill>
                  <a:srgbClr val="14142B"/>
                </a:solidFill>
              </a:rPr>
              <a:t>.</a:t>
            </a:r>
            <a:endParaRPr lang="en-US" sz="1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여기는 식당이에요</a:t>
            </a:r>
            <a:r>
              <a:rPr lang="en-US" sz="1200" dirty="0">
                <a:solidFill>
                  <a:srgbClr val="14142B"/>
                </a:solidFill>
              </a:rPr>
              <a:t>.</a:t>
            </a:r>
            <a:endParaRPr lang="en-US" sz="1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카페는 토요일에 쉬어요</a:t>
            </a:r>
            <a:r>
              <a:rPr lang="en-US" sz="1200" dirty="0">
                <a:solidFill>
                  <a:srgbClr val="14142B"/>
                </a:solidFill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3 · respuestas</a:t>
            </a:r>
            <a:r>
              <a:rPr lang="en-US" sz="1500" b="1" i="1" dirty="0">
                <a:solidFill>
                  <a:srgbClr val="8A8DA0"/>
                </a:solidFill>
              </a:rPr>
              <a:t>   Quiz 3 · answers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Revisa tus respuestas (clic para ver cada una)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덥다 </a:t>
            </a:r>
            <a:r>
              <a:rPr lang="en-US" sz="2400" dirty="0">
                <a:solidFill>
                  <a:srgbClr val="14142B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rev_0_caja"/>
          <p:cNvSpPr/>
          <p:nvPr/>
        </p:nvSpPr>
        <p:spPr>
          <a:xfrm>
            <a:off x="6702552" y="2002536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0_txt"/>
          <p:cNvSpPr txBox="1"/>
          <p:nvPr/>
        </p:nvSpPr>
        <p:spPr>
          <a:xfrm>
            <a:off x="6793992" y="2002536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더워요 </a:t>
            </a:r>
            <a:r>
              <a:rPr lang="en-US" sz="2200" b="1" dirty="0">
                <a:solidFill>
                  <a:srgbClr val="FFFFFF"/>
                </a:solidFill>
              </a:rPr>
              <a:t>(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모르다 </a:t>
            </a:r>
            <a:r>
              <a:rPr lang="en-US" sz="2400" dirty="0">
                <a:solidFill>
                  <a:srgbClr val="14142B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rev_1_caja"/>
          <p:cNvSpPr/>
          <p:nvPr/>
        </p:nvSpPr>
        <p:spPr>
          <a:xfrm>
            <a:off x="6702552" y="2869387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_txt"/>
          <p:cNvSpPr txBox="1"/>
          <p:nvPr/>
        </p:nvSpPr>
        <p:spPr>
          <a:xfrm>
            <a:off x="6793992" y="2869387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몰라요 </a:t>
            </a:r>
            <a:r>
              <a:rPr lang="en-US" sz="2200" b="1" dirty="0">
                <a:solidFill>
                  <a:srgbClr val="FFFFFF"/>
                </a:solidFill>
              </a:rPr>
              <a:t>(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르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ㄹ라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rev_2_caja"/>
          <p:cNvSpPr/>
          <p:nvPr/>
        </p:nvSpPr>
        <p:spPr>
          <a:xfrm>
            <a:off x="6702552" y="3736238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_txt"/>
          <p:cNvSpPr txBox="1"/>
          <p:nvPr/>
        </p:nvSpPr>
        <p:spPr>
          <a:xfrm>
            <a:off x="6793992" y="3736238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sz="2100" b="1" dirty="0">
                <a:solidFill>
                  <a:srgbClr val="FFFFFF"/>
                </a:solidFill>
              </a:rPr>
              <a:t>(una acción en un lugar)</a:t>
            </a:r>
            <a:endParaRPr lang="en-US" sz="21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¿Cuál es formal? ① 가요 </a:t>
            </a:r>
            <a:r>
              <a:rPr lang="en-US" sz="2300" dirty="0">
                <a:solidFill>
                  <a:srgbClr val="14142B"/>
                </a:solidFill>
              </a:rPr>
              <a:t>②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갑니다</a:t>
            </a:r>
            <a:endParaRPr lang="en-US" sz="2300" dirty="0"/>
          </a:p>
        </p:txBody>
      </p:sp>
      <p:sp>
        <p:nvSpPr>
          <p:cNvPr id="22" name="rev_3_caja"/>
          <p:cNvSpPr/>
          <p:nvPr/>
        </p:nvSpPr>
        <p:spPr>
          <a:xfrm>
            <a:off x="6702552" y="4603090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_txt"/>
          <p:cNvSpPr txBox="1"/>
          <p:nvPr/>
        </p:nvSpPr>
        <p:spPr>
          <a:xfrm>
            <a:off x="6793992" y="4603090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갑니다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한강</a:t>
            </a:r>
            <a:r>
              <a:rPr lang="en-US" sz="2300" dirty="0">
                <a:solidFill>
                  <a:srgbClr val="14142B"/>
                </a:solidFill>
              </a:rPr>
              <a:t>: ¿qué frase es correcta?</a:t>
            </a:r>
            <a:endParaRPr lang="en-US" sz="2300" dirty="0"/>
          </a:p>
        </p:txBody>
      </p:sp>
      <p:sp>
        <p:nvSpPr>
          <p:cNvPr id="27" name="rev_4_caja"/>
          <p:cNvSpPr/>
          <p:nvPr/>
        </p:nvSpPr>
        <p:spPr>
          <a:xfrm>
            <a:off x="6702552" y="5469941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4_txt"/>
          <p:cNvSpPr txBox="1"/>
          <p:nvPr/>
        </p:nvSpPr>
        <p:spPr>
          <a:xfrm>
            <a:off x="6793992" y="5469941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카페는 월요일에 쉬어요</a:t>
            </a:r>
            <a:r>
              <a:rPr lang="en-US" sz="1900" b="1" dirty="0">
                <a:solidFill>
                  <a:srgbClr val="FFFFFF"/>
                </a:solidFill>
              </a:rPr>
              <a:t>. ·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쉽니다 </a:t>
            </a:r>
            <a:r>
              <a:rPr lang="en-US" sz="1900" b="1" dirty="0">
                <a:solidFill>
                  <a:srgbClr val="FFFFFF"/>
                </a:solidFill>
              </a:rPr>
              <a:t>←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쉬다 </a:t>
            </a:r>
            <a:r>
              <a:rPr lang="en-US" sz="1900" b="1" dirty="0">
                <a:solidFill>
                  <a:srgbClr val="FFFFFF"/>
                </a:solidFill>
              </a:rPr>
              <a:t>(no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쉽다</a:t>
            </a:r>
            <a:r>
              <a:rPr lang="en-US" sz="1900" b="1" dirty="0">
                <a:solidFill>
                  <a:srgbClr val="FFFFFF"/>
                </a:solidFill>
              </a:rPr>
              <a:t>)</a:t>
            </a:r>
            <a:endParaRPr lang="en-US" sz="1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2600" b="1" dirty="0">
                <a:solidFill>
                  <a:srgbClr val="003478"/>
                </a:solidFill>
              </a:rPr>
              <a:t>Quiz en línea 1: lo que más costó</a:t>
            </a:r>
            <a:r>
              <a:rPr lang="en-US" sz="1500" b="1" i="1" dirty="0">
                <a:solidFill>
                  <a:srgbClr val="8A8DA0"/>
                </a:solidFill>
              </a:rPr>
              <a:t>   Online quiz 1: what was hardest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Clave de la Hoja 3: en la carpeta · Los ítems con más errores del quiz en línea 1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57495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74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369210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바쁘다 </a:t>
            </a:r>
            <a:r>
              <a:rPr lang="en-US" sz="2400" dirty="0">
                <a:solidFill>
                  <a:srgbClr val="14142B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rev_5_caja"/>
          <p:cNvSpPr/>
          <p:nvPr/>
        </p:nvSpPr>
        <p:spPr>
          <a:xfrm>
            <a:off x="6702552" y="2405786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5_txt"/>
          <p:cNvSpPr txBox="1"/>
          <p:nvPr/>
        </p:nvSpPr>
        <p:spPr>
          <a:xfrm>
            <a:off x="6793992" y="2405786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바빠요 </a:t>
            </a:r>
            <a:r>
              <a:rPr lang="en-US" sz="2200" b="1" dirty="0">
                <a:solidFill>
                  <a:srgbClr val="FFFFFF"/>
                </a:solidFill>
              </a:rPr>
              <a:t>(no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바쁘어요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57164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71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65906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듣다 </a:t>
            </a:r>
            <a:r>
              <a:rPr lang="en-US" sz="2400" dirty="0">
                <a:solidFill>
                  <a:srgbClr val="14142B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rev_6_caja"/>
          <p:cNvSpPr/>
          <p:nvPr/>
        </p:nvSpPr>
        <p:spPr>
          <a:xfrm>
            <a:off x="6702552" y="3402482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6_txt"/>
          <p:cNvSpPr txBox="1"/>
          <p:nvPr/>
        </p:nvSpPr>
        <p:spPr>
          <a:xfrm>
            <a:off x="6793992" y="3402482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들어요 </a:t>
            </a:r>
            <a:r>
              <a:rPr lang="en-US" sz="2200" b="1" dirty="0">
                <a:solidFill>
                  <a:srgbClr val="FFFFFF"/>
                </a:solidFill>
              </a:rPr>
              <a:t>(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드러요 </a:t>
            </a:r>
            <a:r>
              <a:rPr lang="en-US" sz="2200" b="1" dirty="0">
                <a:solidFill>
                  <a:srgbClr val="FFFFFF"/>
                </a:solidFill>
              </a:rPr>
              <a:t>es cómo suena, no cómo se escribe)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56834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68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62602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칠레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살아요</a:t>
            </a:r>
            <a:endParaRPr lang="en-US" sz="2400" dirty="0"/>
          </a:p>
        </p:txBody>
      </p:sp>
      <p:sp>
        <p:nvSpPr>
          <p:cNvPr id="17" name="rev_7_caja"/>
          <p:cNvSpPr/>
          <p:nvPr/>
        </p:nvSpPr>
        <p:spPr>
          <a:xfrm>
            <a:off x="6702552" y="4399178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7_txt"/>
          <p:cNvSpPr txBox="1"/>
          <p:nvPr/>
        </p:nvSpPr>
        <p:spPr>
          <a:xfrm>
            <a:off x="6793992" y="4399178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칠레에 살아요 </a:t>
            </a:r>
            <a:r>
              <a:rPr lang="en-US" sz="2200" b="1" dirty="0">
                <a:solidFill>
                  <a:srgbClr val="FFFFFF"/>
                </a:solidFill>
              </a:rPr>
              <a:t>/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칠레에서 살아요</a:t>
            </a:r>
            <a:r>
              <a:rPr lang="en-US" sz="2200" b="1" dirty="0">
                <a:solidFill>
                  <a:srgbClr val="FFFFFF"/>
                </a:solidFill>
              </a:rPr>
              <a:t>: los dos están bien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6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El pasado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200" dirty="0">
                <a:solidFill>
                  <a:srgbClr val="E8B84B"/>
                </a:solidFill>
              </a:rPr>
              <a:t>Básico 2 · Semana 4 · Hoy cuentas tu fin de semana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Básico 2 (A1.2) · con Jay (김재희</a:t>
            </a:r>
            <a:r>
              <a:rPr lang="en-US" sz="2200" dirty="0">
                <a:solidFill>
                  <a:srgbClr val="E8B84B"/>
                </a:solidFill>
              </a:rPr>
              <a:t>)</a:t>
            </a:r>
            <a:endParaRPr lang="en-US" sz="2200" dirty="0"/>
          </a:p>
          <a:p>
            <a:pPr marL="0" indent="0" eaLnBrk="1">
              <a:buNone/>
            </a:pPr>
            <a:r>
              <a:rPr lang="en-US" sz="2200" dirty="0">
                <a:solidFill>
                  <a:srgbClr val="E8B84B"/>
                </a:solidFill>
              </a:rPr>
              <a:t>Miércoles 11 de noviembre de 2026 · mitad del curso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Hoy vas a poder decir…</a:t>
            </a:r>
            <a:r>
              <a:rPr lang="en-US" sz="1500" b="1" i="1" dirty="0">
                <a:solidFill>
                  <a:srgbClr val="8A8DA0"/>
                </a:solidFill>
              </a:rPr>
              <a:t>   Today you'll be able to say…</a:t>
            </a:r>
            <a:endParaRPr lang="en-US" sz="3000" dirty="0"/>
          </a:p>
        </p:txBody>
      </p:sp>
      <p:graphicFrame>
        <p:nvGraphicFramePr>
          <p:cNvPr id="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975870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주말에 뭐 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친구하고 카페에 갔어요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¿Qué hiciste el fin de semana? — Fui a un café con un amigo.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어제 집에서 쉬었어요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드라마를 봤어요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Ayer descansé en casa. Vi una serie.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아홉 시부터 여섯 시까지 일했어요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너무 피곤했어요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Trabajé de nueve a seis. Estaba muy cansado.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지난주에 부산에 갔어요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정말 재미있었어요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La semana pasada fui a Busan. Lo pasé muy bien.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작년에는 대학생이었어요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지금은 회사원이에요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El año pasado era universitario. Ahora trabajo en una oficina.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잘 보냈어요</a:t>
            </a:r>
            <a:r>
              <a:rPr lang="en-US" sz="2600" b="1" dirty="0">
                <a:solidFill>
                  <a:srgbClr val="4236F6"/>
                </a:solidFill>
              </a:rPr>
              <a:t>?  </a:t>
            </a:r>
            <a:r>
              <a:rPr lang="en-US" sz="2600" b="1" dirty="0">
                <a:solidFill>
                  <a:srgbClr val="003478"/>
                </a:solidFill>
              </a:rPr>
              <a:t>¿Qué tal el fin de semana?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El fin de semana de Jay · Mira la foto y escucha a Jay (la frase aparece después)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3575304" cy="420624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3ed592e326f7dc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892" y="2057400"/>
            <a:ext cx="1828800" cy="1828800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31920"/>
            <a:ext cx="3392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Foto 1 · parque</a:t>
            </a:r>
            <a:endParaRPr lang="en-US" sz="2200" dirty="0"/>
          </a:p>
        </p:txBody>
      </p:sp>
      <p:sp>
        <p:nvSpPr>
          <p:cNvPr id="9" name="rev_8_caja"/>
          <p:cNvSpPr/>
          <p:nvPr/>
        </p:nvSpPr>
        <p:spPr>
          <a:xfrm>
            <a:off x="658368" y="5212080"/>
            <a:ext cx="3355848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8_txt"/>
          <p:cNvSpPr txBox="1"/>
          <p:nvPr/>
        </p:nvSpPr>
        <p:spPr>
          <a:xfrm>
            <a:off x="685800" y="521208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 아침에 공원에서 운동했어요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card_1"/>
          <p:cNvSpPr/>
          <p:nvPr/>
        </p:nvSpPr>
        <p:spPr>
          <a:xfrm>
            <a:off x="4306824" y="1965960"/>
            <a:ext cx="3575304" cy="420624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828d0bd2313f88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076" y="2057400"/>
            <a:ext cx="1828800" cy="1828800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4398264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9826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398264" y="3931920"/>
            <a:ext cx="3392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Foto 2 · café</a:t>
            </a:r>
            <a:endParaRPr lang="en-US" sz="2200" dirty="0"/>
          </a:p>
        </p:txBody>
      </p:sp>
      <p:sp>
        <p:nvSpPr>
          <p:cNvPr id="16" name="rev_9_caja"/>
          <p:cNvSpPr/>
          <p:nvPr/>
        </p:nvSpPr>
        <p:spPr>
          <a:xfrm>
            <a:off x="4416552" y="5212080"/>
            <a:ext cx="3355848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9_txt"/>
          <p:cNvSpPr txBox="1"/>
          <p:nvPr/>
        </p:nvSpPr>
        <p:spPr>
          <a:xfrm>
            <a:off x="4443984" y="521208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열한 시부터 한 시까지 카페에 있었어요</a:t>
            </a:r>
            <a:r>
              <a:rPr lang="en-US" sz="1700" b="1" dirty="0">
                <a:solidFill>
                  <a:srgbClr val="FFFFFF"/>
                </a:solidFill>
              </a:rPr>
              <a:t>.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마셨어요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18" name="card_2"/>
          <p:cNvSpPr/>
          <p:nvPr/>
        </p:nvSpPr>
        <p:spPr>
          <a:xfrm>
            <a:off x="8065008" y="1965960"/>
            <a:ext cx="3575304" cy="420624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f8803db8c51278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260" y="2057400"/>
            <a:ext cx="1828800" cy="1828800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8156448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15644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6448" y="3931920"/>
            <a:ext cx="3392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Foto 3 · amigo + comida</a:t>
            </a:r>
            <a:endParaRPr lang="en-US" sz="2200" dirty="0"/>
          </a:p>
        </p:txBody>
      </p:sp>
      <p:sp>
        <p:nvSpPr>
          <p:cNvPr id="23" name="rev_10_caja"/>
          <p:cNvSpPr/>
          <p:nvPr/>
        </p:nvSpPr>
        <p:spPr>
          <a:xfrm>
            <a:off x="8174736" y="5212080"/>
            <a:ext cx="3355848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10_txt"/>
          <p:cNvSpPr txBox="1"/>
          <p:nvPr/>
        </p:nvSpPr>
        <p:spPr>
          <a:xfrm>
            <a:off x="8202168" y="521208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친구하고 점심을 먹었어요</a:t>
            </a:r>
            <a:r>
              <a:rPr lang="en-US" sz="1700" b="1" dirty="0">
                <a:solidFill>
                  <a:srgbClr val="FFFFFF"/>
                </a:solidFill>
              </a:rPr>
              <a:t>.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음식을 먹었어요</a:t>
            </a:r>
            <a:r>
              <a:rPr lang="en-US" sz="1700" b="1" dirty="0">
                <a:solidFill>
                  <a:srgbClr val="FFFFFF"/>
                </a:solidFill>
              </a:rPr>
              <a:t>.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맛있었어요</a:t>
            </a:r>
            <a:r>
              <a:rPr lang="en-US" sz="1700" b="1" dirty="0">
                <a:solidFill>
                  <a:srgbClr val="FFFFFF"/>
                </a:solidFill>
              </a:rPr>
              <a:t>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잘 보냈어요</a:t>
            </a:r>
            <a:r>
              <a:rPr lang="en-US" sz="2600" b="1" dirty="0">
                <a:solidFill>
                  <a:srgbClr val="4236F6"/>
                </a:solidFill>
              </a:rPr>
              <a:t>?  </a:t>
            </a:r>
            <a:r>
              <a:rPr lang="en-US" sz="2600" b="1" dirty="0">
                <a:solidFill>
                  <a:srgbClr val="003478"/>
                </a:solidFill>
              </a:rPr>
              <a:t>¿Qué tal el fin de semana?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El fin de semana de Jay + 3 preguntas · Fotos 4 a 6 y tres preguntas: responde con una palabra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6" name="item_img_0" descr="C:\Users\Chingu\AppData\Local\Temp\claude\C--Users-Chingu-Desktop-ACADEMIASEULWEB\d4111e1b-5523-44ea-97b2-b1a1d9545b9e\scratchpad\decks\cache\img_92c7616cd79c96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984248"/>
            <a:ext cx="557784" cy="557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56232" y="196596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Foto 4 · libro</a:t>
            </a:r>
            <a:endParaRPr lang="en-US" sz="2400" dirty="0"/>
          </a:p>
        </p:txBody>
      </p:sp>
      <p:sp>
        <p:nvSpPr>
          <p:cNvPr id="8" name="rev_11_caja"/>
          <p:cNvSpPr/>
          <p:nvPr/>
        </p:nvSpPr>
        <p:spPr>
          <a:xfrm>
            <a:off x="6702552" y="200253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11_txt"/>
          <p:cNvSpPr txBox="1"/>
          <p:nvPr/>
        </p:nvSpPr>
        <p:spPr>
          <a:xfrm>
            <a:off x="6793992" y="200253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오후에 책을 샀어요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12" name="item_img_1" descr="C:\Users\Chingu\AppData\Local\Temp\claude\C--Users-Chingu-Desktop-ACADEMIASEULWEB\d4111e1b-5523-44ea-97b2-b1a1d9545b9e\scratchpad\decks\cache\img_96094c28e2418e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706624"/>
            <a:ext cx="557784" cy="5577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56232" y="268833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Foto 5 · sofá</a:t>
            </a:r>
            <a:endParaRPr lang="en-US" sz="2400" dirty="0"/>
          </a:p>
        </p:txBody>
      </p:sp>
      <p:sp>
        <p:nvSpPr>
          <p:cNvPr id="14" name="rev_12_caja"/>
          <p:cNvSpPr/>
          <p:nvPr/>
        </p:nvSpPr>
        <p:spPr>
          <a:xfrm>
            <a:off x="6702552" y="2724912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5" name="rev_12_txt"/>
          <p:cNvSpPr txBox="1"/>
          <p:nvPr/>
        </p:nvSpPr>
        <p:spPr>
          <a:xfrm>
            <a:off x="6793992" y="272491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일요일에는 집에서 쉬었어요</a:t>
            </a:r>
            <a:r>
              <a:rPr lang="en-US" sz="1500" b="1" dirty="0">
                <a:solidFill>
                  <a:srgbClr val="FFFFFF"/>
                </a:solidFill>
              </a:rPr>
              <a:t>. </a:t>
            </a: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드라마를 봤어요</a:t>
            </a:r>
            <a:r>
              <a:rPr lang="en-US" sz="1500" b="1" dirty="0">
                <a:solidFill>
                  <a:srgbClr val="FFFFFF"/>
                </a:solidFill>
              </a:rPr>
              <a:t>.</a:t>
            </a:r>
            <a:endParaRPr lang="en-US" sz="1500" dirty="0"/>
          </a:p>
        </p:txBody>
      </p:sp>
      <p:sp>
        <p:nvSpPr>
          <p:cNvPr id="16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18" name="item_img_2" descr="C:\Users\Chingu\AppData\Local\Temp\claude\C--Users-Chingu-Desktop-ACADEMIASEULWEB\d4111e1b-5523-44ea-97b2-b1a1d9545b9e\scratchpad\decks\cache\img_79bbf46c5c613d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429000"/>
            <a:ext cx="557784" cy="5577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856232" y="341071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Foto 6 · cocina</a:t>
            </a:r>
            <a:endParaRPr lang="en-US" sz="2400" dirty="0"/>
          </a:p>
        </p:txBody>
      </p:sp>
      <p:sp>
        <p:nvSpPr>
          <p:cNvPr id="20" name="rev_13_caja"/>
          <p:cNvSpPr/>
          <p:nvPr/>
        </p:nvSpPr>
        <p:spPr>
          <a:xfrm>
            <a:off x="6702552" y="3447288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1" name="rev_13_txt"/>
          <p:cNvSpPr txBox="1"/>
          <p:nvPr/>
        </p:nvSpPr>
        <p:spPr>
          <a:xfrm>
            <a:off x="6793992" y="3447288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저녁에 혼자 요리했어요</a:t>
            </a:r>
            <a:r>
              <a:rPr lang="en-US" sz="1500" b="1" dirty="0">
                <a:solidFill>
                  <a:srgbClr val="FFFFFF"/>
                </a:solidFill>
              </a:rPr>
              <a:t>. </a:t>
            </a: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</a:t>
            </a:r>
            <a:r>
              <a:rPr lang="en-US" sz="1500" b="1" dirty="0">
                <a:solidFill>
                  <a:srgbClr val="FFFFFF"/>
                </a:solidFill>
              </a:rPr>
              <a:t>… </a:t>
            </a: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피곤했어요</a:t>
            </a:r>
            <a:r>
              <a:rPr lang="en-US" sz="1500" b="1" dirty="0">
                <a:solidFill>
                  <a:srgbClr val="FFFFFF"/>
                </a:solidFill>
              </a:rPr>
              <a:t>!</a:t>
            </a:r>
            <a:endParaRPr lang="en-US" sz="1500" dirty="0"/>
          </a:p>
        </p:txBody>
      </p:sp>
      <p:sp>
        <p:nvSpPr>
          <p:cNvPr id="22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856232" y="413308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선생님은 토요일 아침에 뭐 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25" name="rev_14_caja"/>
          <p:cNvSpPr/>
          <p:nvPr/>
        </p:nvSpPr>
        <p:spPr>
          <a:xfrm>
            <a:off x="6702552" y="4169664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6" name="rev_14_txt"/>
          <p:cNvSpPr txBox="1"/>
          <p:nvPr/>
        </p:nvSpPr>
        <p:spPr>
          <a:xfrm>
            <a:off x="6793992" y="4169664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운동했어요 </a:t>
            </a:r>
            <a:r>
              <a:rPr lang="en-US" sz="2200" b="1" dirty="0">
                <a:solidFill>
                  <a:srgbClr val="FFFFFF"/>
                </a:solidFill>
              </a:rPr>
              <a:t>(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공원에서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27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856232" y="485546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누구하고 점심을 먹었어요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30" name="rev_15_caja"/>
          <p:cNvSpPr/>
          <p:nvPr/>
        </p:nvSpPr>
        <p:spPr>
          <a:xfrm>
            <a:off x="6702552" y="4892040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15_txt"/>
          <p:cNvSpPr txBox="1"/>
          <p:nvPr/>
        </p:nvSpPr>
        <p:spPr>
          <a:xfrm>
            <a:off x="6793992" y="4892040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친구하고</a:t>
            </a:r>
            <a:endParaRPr lang="en-US" sz="2200" dirty="0"/>
          </a:p>
        </p:txBody>
      </p:sp>
      <p:sp>
        <p:nvSpPr>
          <p:cNvPr id="32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1856232" y="55778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시부터 몇 시까지 카페에 있었어요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35" name="rev_16_caja"/>
          <p:cNvSpPr/>
          <p:nvPr/>
        </p:nvSpPr>
        <p:spPr>
          <a:xfrm>
            <a:off x="6702552" y="561441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6" name="rev_16_txt"/>
          <p:cNvSpPr txBox="1"/>
          <p:nvPr/>
        </p:nvSpPr>
        <p:spPr>
          <a:xfrm>
            <a:off x="6793992" y="561441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열한 시부터 한 시까지</a:t>
            </a:r>
            <a:endParaRPr lang="en-US" sz="2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 animBg="1"/>
      <p:bldP spid="31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¿Hoy o ya pasó?</a:t>
            </a:r>
            <a:r>
              <a:rPr lang="en-US" sz="1500" b="1" i="1" dirty="0">
                <a:solidFill>
                  <a:srgbClr val="8A8DA0"/>
                </a:solidFill>
              </a:rPr>
              <a:t>   Now or already past?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Las formas no se muestran: se oyen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1 dedo a la cámara = presente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2 dedos = pasado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f6190ef148c34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-았</a:t>
            </a:r>
            <a:r>
              <a:rPr lang="en-US" sz="3000" b="1" dirty="0">
                <a:solidFill>
                  <a:srgbClr val="4236F6"/>
                </a:solidFill>
              </a:rPr>
              <a:t>/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었어요  </a:t>
            </a:r>
            <a:r>
              <a:rPr lang="en-US" sz="3000" b="1" dirty="0">
                <a:solidFill>
                  <a:srgbClr val="003478"/>
                </a:solidFill>
              </a:rPr>
              <a:t>Si sabes el presente…</a:t>
            </a:r>
            <a:r>
              <a:rPr lang="en-US" sz="1500" b="1" i="1" dirty="0">
                <a:solidFill>
                  <a:srgbClr val="8A8DA0"/>
                </a:solidFill>
              </a:rPr>
              <a:t>   If you know the present…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…ya sabes el pasado: quita el 요 </a:t>
            </a:r>
            <a:r>
              <a:rPr lang="en-US" sz="1800" i="1" dirty="0">
                <a:solidFill>
                  <a:srgbClr val="4236F6"/>
                </a:solidFill>
              </a:rPr>
              <a:t>y pon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ㅆ어요 </a:t>
            </a:r>
            <a:r>
              <a:rPr lang="en-US" sz="1800" i="1" dirty="0">
                <a:solidFill>
                  <a:srgbClr val="4236F6"/>
                </a:solidFill>
              </a:rPr>
              <a:t>(la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ㅆ </a:t>
            </a:r>
            <a:r>
              <a:rPr lang="en-US" sz="1800" i="1" dirty="0">
                <a:solidFill>
                  <a:srgbClr val="4236F6"/>
                </a:solidFill>
              </a:rPr>
              <a:t>baja como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r>
              <a:rPr lang="en-US" sz="1800" i="1" dirty="0">
                <a:solidFill>
                  <a:srgbClr val="4236F6"/>
                </a:solidFill>
              </a:rPr>
              <a:t>)</a:t>
            </a:r>
            <a:endParaRPr lang="en-US" sz="1800" dirty="0"/>
          </a:p>
        </p:txBody>
      </p:sp>
      <p:graphicFrame>
        <p:nvGraphicFramePr>
          <p:cNvPr id="11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023046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Presente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Quita 요 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+ 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ㅆ어요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Pasado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Suena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ㅆ어요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갔어요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[가써요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봐요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봐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ㅆ어요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봤어요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[봐써요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먹어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ㅆ어요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[머거써요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마셔요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ㅆ어요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마셨어요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ㅆ어요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[해써요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Verbos nuevos: la mano arriba</a:t>
            </a:r>
            <a:r>
              <a:rPr lang="en-US" sz="1500" b="1" i="1" dirty="0">
                <a:solidFill>
                  <a:srgbClr val="8A8DA0"/>
                </a:solidFill>
              </a:rPr>
              <a:t>   New verbs: hand up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b59bcd9725c394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Mira la última vocal de la raíz (lo que queda al quitar 다</a:t>
            </a:r>
            <a:r>
              <a:rPr lang="en-US" sz="1800" i="1" dirty="0">
                <a:solidFill>
                  <a:srgbClr val="4236F6"/>
                </a:solidFill>
              </a:rPr>
              <a:t>)</a:t>
            </a:r>
            <a:endParaRPr lang="en-US" sz="1800" dirty="0"/>
          </a:p>
        </p:txBody>
      </p:sp>
      <p:graphicFrame>
        <p:nvGraphicFramePr>
          <p:cNvPr id="12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582741"/>
              </p:ext>
            </p:extLst>
          </p:nvPr>
        </p:nvGraphicFramePr>
        <p:xfrm>
          <a:off x="548640" y="1874520"/>
          <a:ext cx="6931152" cy="914400"/>
        </p:xfrm>
        <a:graphic>
          <a:graphicData uri="http://schemas.openxmlformats.org/drawingml/2006/table">
            <a:tbl>
              <a:tblPr/>
              <a:tblGrid>
                <a:gridCol w="2310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0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Última vocal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Pasado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Ejemplos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ㅏ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u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ㅗ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(mano arriba)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-았어요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만나다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만났어요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놀다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놀았어요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cualquier otra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먹었어요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여행하다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여행했어요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¿먹다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 no tiene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ㅏ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ni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ㅗ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먹었어요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(nunca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먹았어요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*)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2200" b="1" dirty="0">
                <a:solidFill>
                  <a:srgbClr val="003478"/>
                </a:solidFill>
              </a:rPr>
              <a:t>Los irregulares de la S3, en pasado</a:t>
            </a:r>
            <a:r>
              <a:rPr lang="en-US" sz="1500" b="1" i="1" dirty="0">
                <a:solidFill>
                  <a:srgbClr val="8A8DA0"/>
                </a:solidFill>
              </a:rPr>
              <a:t>   Week 3 irregulars, in the past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Si el presente está bien, el pasado sale solo</a:t>
            </a:r>
            <a:endParaRPr lang="en-US" sz="1800" dirty="0"/>
          </a:p>
        </p:txBody>
      </p:sp>
      <p:graphicFrame>
        <p:nvGraphicFramePr>
          <p:cNvPr id="13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566219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Patrón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Diccionario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Presente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Pasado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ㅂ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덥다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더워요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더웠어요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ㅂ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춥다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추워요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추웠어요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ㄷ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듣다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바쁘다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바빠요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바빴어요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모르다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몰라요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몰랐어요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ㄹ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(regular)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살다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살아요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살았어요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이었어요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였어요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있었어요  </a:t>
            </a:r>
            <a:r>
              <a:rPr lang="en-US" sz="3000" b="1" dirty="0">
                <a:solidFill>
                  <a:srgbClr val="003478"/>
                </a:solidFill>
              </a:rPr>
              <a:t>Era · estaba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El ser / estar de la semana 1, en pasado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Era ___ (con un sustantivo)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4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이었어요 </a:t>
            </a:r>
            <a:r>
              <a:rPr lang="en-US" sz="4200" b="1" dirty="0">
                <a:solidFill>
                  <a:srgbClr val="4236F6"/>
                </a:solidFill>
              </a:rPr>
              <a:t>· </a:t>
            </a:r>
            <a:r>
              <a:rPr lang="ko-KR" altLang="en-US" sz="4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였어요</a:t>
            </a:r>
            <a:endParaRPr lang="en-US" sz="42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 </a:t>
            </a:r>
            <a:r>
              <a:rPr lang="en-US" sz="2000" dirty="0">
                <a:solidFill>
                  <a:srgbClr val="14142B"/>
                </a:solidFill>
              </a:rPr>
              <a:t>→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이었어요</a:t>
            </a:r>
            <a:r>
              <a:rPr lang="en-US" sz="2000" dirty="0">
                <a:solidFill>
                  <a:srgbClr val="14142B"/>
                </a:solidFill>
              </a:rPr>
              <a:t>: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대학생이었어요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vocal → 였어요</a:t>
            </a:r>
            <a:r>
              <a:rPr lang="en-US" sz="2000" dirty="0">
                <a:solidFill>
                  <a:srgbClr val="14142B"/>
                </a:solidFill>
              </a:rPr>
              <a:t>: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의사였어요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작년에는 대학생이었어요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회사원이에요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Estaba en ___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있었어요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집에 있었어요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집이었어요</a:t>
            </a:r>
            <a:r>
              <a:rPr lang="en-US" sz="2000" dirty="0">
                <a:solidFill>
                  <a:srgbClr val="14142B"/>
                </a:solidFill>
              </a:rPr>
              <a:t>* = «era una casa»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Un solo pasado</a:t>
            </a:r>
            <a:r>
              <a:rPr lang="en-US" sz="1500" b="1" i="1" dirty="0">
                <a:solidFill>
                  <a:srgbClr val="8A8DA0"/>
                </a:solidFill>
              </a:rPr>
              <a:t>   Just one past tense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fui · iba · he ido → 갔어요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</a:t>
            </a:r>
            <a:r>
              <a:rPr lang="en-US" sz="1800" i="1" dirty="0">
                <a:solidFill>
                  <a:srgbClr val="4236F6"/>
                </a:solidFill>
              </a:rPr>
              <a:t>/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작년에 </a:t>
            </a:r>
            <a:r>
              <a:rPr lang="en-US" sz="1800" i="1" dirty="0">
                <a:solidFill>
                  <a:srgbClr val="4236F6"/>
                </a:solidFill>
              </a:rPr>
              <a:t>/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r>
              <a:rPr lang="en-US" sz="1800" i="1" dirty="0">
                <a:solidFill>
                  <a:srgbClr val="4236F6"/>
                </a:solidFill>
              </a:rPr>
              <a:t>hacen el trabajo del verbo</a:t>
            </a:r>
            <a:endParaRPr lang="en-US" sz="1800" dirty="0"/>
          </a:p>
        </p:txBody>
      </p:sp>
      <p:graphicFrame>
        <p:nvGraphicFramePr>
          <p:cNvPr id="1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527500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Ayer fui al café.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어제 카페에 갔어요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El año pasado iba al café todos los días.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작년에는 매일 카페에 갔어요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Hoy he ido al café.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카페에 갔어요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Estaba cansado. / Estuve cansado.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피곤했어요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Lo pasé bien.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재미있었어요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 turno: 어제 뭐 했어요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en-US" sz="1500" b="1" i="1" dirty="0">
                <a:solidFill>
                  <a:srgbClr val="8A8DA0"/>
                </a:solidFill>
              </a:rPr>
              <a:t>   Your turn: what did you do yesterday?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1280160" y="1645920"/>
            <a:ext cx="962863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4" name="frase_ko"/>
          <p:cNvSpPr txBox="1"/>
          <p:nvPr/>
        </p:nvSpPr>
        <p:spPr>
          <a:xfrm>
            <a:off x="1463040" y="182880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뭐 했어요</a:t>
            </a:r>
            <a:r>
              <a:rPr lang="en-US" sz="6400" b="1" dirty="0">
                <a:solidFill>
                  <a:srgbClr val="4236F6"/>
                </a:solidFill>
              </a:rPr>
              <a:t>?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3657600"/>
            <a:ext cx="8439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¿Qué hiciste ayer?</a:t>
            </a:r>
            <a:endParaRPr lang="en-US" sz="2400" dirty="0"/>
          </a:p>
        </p:txBody>
      </p:sp>
      <p:sp>
        <p:nvSpPr>
          <p:cNvPr id="6" name="lista"/>
          <p:cNvSpPr txBox="1"/>
          <p:nvPr/>
        </p:nvSpPr>
        <p:spPr>
          <a:xfrm>
            <a:off x="1280160" y="4937760"/>
            <a:ext cx="962863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5 nombres (micrófono) · los demás, en el chat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¿Cuándo? Con 에 </a:t>
            </a:r>
            <a:r>
              <a:rPr lang="en-US" sz="3000" b="1" dirty="0">
                <a:solidFill>
                  <a:srgbClr val="003478"/>
                </a:solidFill>
              </a:rPr>
              <a:t>o sin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ko-KR" altLang="en-US" sz="1500" b="1" i="1" dirty="0">
                <a:solidFill>
                  <a:srgbClr val="8A8DA0"/>
                </a:solidFill>
              </a:rPr>
              <a:t>   When? With or without 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 en el chat: 어제</a:t>
            </a:r>
            <a:r>
              <a:rPr lang="en-US" sz="1800" i="1" dirty="0">
                <a:solidFill>
                  <a:srgbClr val="4236F6"/>
                </a:solidFill>
              </a:rPr>
              <a:t>___?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</a:t>
            </a:r>
            <a:r>
              <a:rPr lang="en-US" sz="1800" i="1" dirty="0">
                <a:solidFill>
                  <a:srgbClr val="4236F6"/>
                </a:solidFill>
              </a:rPr>
              <a:t>___?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</a:t>
            </a:r>
            <a:r>
              <a:rPr lang="en-US" sz="1800" i="1" dirty="0">
                <a:solidFill>
                  <a:srgbClr val="4236F6"/>
                </a:solidFill>
              </a:rPr>
              <a:t>___?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r>
              <a:rPr lang="en-US" sz="1800" i="1" dirty="0">
                <a:solidFill>
                  <a:srgbClr val="4236F6"/>
                </a:solidFill>
              </a:rPr>
              <a:t>___?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에</a:t>
            </a:r>
            <a:endParaRPr lang="en-US" sz="2000" dirty="0"/>
          </a:p>
        </p:txBody>
      </p:sp>
      <p:sp>
        <p:nvSpPr>
          <p:cNvPr id="6" name="lista"/>
          <p:cNvSpPr txBox="1"/>
          <p:nvPr/>
        </p:nvSpPr>
        <p:spPr>
          <a:xfrm>
            <a:off x="731520" y="2651760"/>
            <a:ext cx="3118104" cy="338328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</a:t>
            </a:r>
            <a:endParaRPr lang="en-US" sz="1800" dirty="0"/>
          </a:p>
        </p:txBody>
      </p:sp>
      <p:sp>
        <p:nvSpPr>
          <p:cNvPr id="7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 에</a:t>
            </a:r>
            <a:endParaRPr lang="en-US" sz="2000" dirty="0"/>
          </a:p>
        </p:txBody>
      </p:sp>
      <p:sp>
        <p:nvSpPr>
          <p:cNvPr id="9" name="lista"/>
          <p:cNvSpPr txBox="1"/>
          <p:nvPr/>
        </p:nvSpPr>
        <p:spPr>
          <a:xfrm>
            <a:off x="4535424" y="2651760"/>
            <a:ext cx="3118104" cy="338328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토요일에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주말에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지난주에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작년에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아침에</a:t>
            </a:r>
            <a:endParaRPr lang="en-US" sz="1800" dirty="0"/>
          </a:p>
        </p:txBody>
      </p:sp>
      <p:sp>
        <p:nvSpPr>
          <p:cNvPr id="10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Truco y detalles</a:t>
            </a:r>
            <a:endParaRPr lang="en-US" sz="2000" dirty="0"/>
          </a:p>
        </p:txBody>
      </p:sp>
      <p:sp>
        <p:nvSpPr>
          <p:cNvPr id="12" name="lista"/>
          <p:cNvSpPr txBox="1"/>
          <p:nvPr/>
        </p:nvSpPr>
        <p:spPr>
          <a:xfrm>
            <a:off x="8339328" y="2651760"/>
            <a:ext cx="3118104" cy="338328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¿Dirías «el ___»? → 에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Contraste: 작년에는</a:t>
            </a:r>
            <a:r>
              <a:rPr lang="en-US" sz="1800" dirty="0">
                <a:solidFill>
                  <a:srgbClr val="14142B"/>
                </a:solidFill>
              </a:rPr>
              <a:t>…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</a:t>
            </a:r>
            <a:r>
              <a:rPr lang="en-US" sz="1800" dirty="0">
                <a:solidFill>
                  <a:srgbClr val="14142B"/>
                </a:solidFill>
              </a:rPr>
              <a:t>…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Junto: 지난주 </a:t>
            </a:r>
            <a:r>
              <a:rPr lang="en-US" sz="1800" dirty="0">
                <a:solidFill>
                  <a:srgbClr val="14142B"/>
                </a:solidFill>
              </a:rPr>
              <a:t>· separado: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주말</a:t>
            </a:r>
            <a:r>
              <a:rPr lang="en-US" sz="1800" dirty="0">
                <a:solidFill>
                  <a:srgbClr val="14142B"/>
                </a:solidFill>
              </a:rPr>
              <a:t>,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아침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Bonus: -고 </a:t>
            </a:r>
            <a:r>
              <a:rPr lang="en-US" sz="3000" b="1" dirty="0">
                <a:solidFill>
                  <a:srgbClr val="003478"/>
                </a:solidFill>
              </a:rPr>
              <a:t>en pasado</a:t>
            </a:r>
            <a:r>
              <a:rPr lang="ko-KR" altLang="en-US" sz="1500" b="1" i="1" dirty="0">
                <a:solidFill>
                  <a:srgbClr val="8A8DA0"/>
                </a:solidFill>
              </a:rPr>
              <a:t>   Bonus: -고 in the past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El pasado, solo al final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밥을 먹고 커피를 마셨어요</a:t>
            </a:r>
            <a:r>
              <a:rPr lang="en-US" sz="2800" dirty="0">
                <a:solidFill>
                  <a:srgbClr val="14142B"/>
                </a:solidFill>
              </a:rPr>
              <a:t>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친구를 만나고 영화를 봤어요</a:t>
            </a:r>
            <a:r>
              <a:rPr lang="en-US" sz="2800" dirty="0">
                <a:solidFill>
                  <a:srgbClr val="14142B"/>
                </a:solidFill>
              </a:rPr>
              <a:t>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primer verbo va sin tiempo: 먹고 </a:t>
            </a:r>
            <a:r>
              <a:rPr lang="en-US" sz="2800" dirty="0">
                <a:solidFill>
                  <a:srgbClr val="14142B"/>
                </a:solidFill>
              </a:rPr>
              <a:t>+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마셨어요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No es obligatorio: dos frases cortas también están perfectas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Desde… hasta…: 부터 </a:t>
            </a:r>
            <a:r>
              <a:rPr lang="en-US" sz="3000" b="1" dirty="0">
                <a:solidFill>
                  <a:srgbClr val="003478"/>
                </a:solidFill>
              </a:rPr>
              <a:t>~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</a:t>
            </a:r>
            <a:r>
              <a:rPr lang="en-US" sz="3000" b="1" dirty="0">
                <a:solidFill>
                  <a:srgbClr val="003478"/>
                </a:solidFill>
              </a:rPr>
              <a:t>·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sz="3000" b="1" dirty="0">
                <a:solidFill>
                  <a:srgbClr val="003478"/>
                </a:solidFill>
              </a:rPr>
              <a:t>~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r>
              <a:rPr lang="en-US" sz="1500" b="1" i="1" dirty="0">
                <a:solidFill>
                  <a:srgbClr val="8A8DA0"/>
                </a:solidFill>
              </a:rPr>
              <a:t>   From… to…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Van después de la palabra, como todas las partículas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Tiempo: desde… hasta…</a:t>
            </a:r>
            <a:endParaRPr lang="en-US" sz="2000" dirty="0"/>
          </a:p>
        </p:txBody>
      </p:sp>
      <p:pic>
        <p:nvPicPr>
          <p:cNvPr id="6" name="col_img_0" descr="C:\Users\Chingu\AppData\Local\Temp\claude\C--Users-Chingu-Desktop-ACADEMIASEULWEB\d4111e1b-5523-44ea-97b2-b1a1d9545b9e\scratchpad\decks\cache\img_87b03a14e1d535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651760"/>
            <a:ext cx="1508760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42900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</a:t>
            </a:r>
            <a:r>
              <a:rPr lang="en-US" sz="5400" b="1" dirty="0">
                <a:solidFill>
                  <a:srgbClr val="4236F6"/>
                </a:solidFill>
              </a:rPr>
              <a:t>~ 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5400" dirty="0"/>
          </a:p>
        </p:txBody>
      </p:sp>
      <p:sp>
        <p:nvSpPr>
          <p:cNvPr id="8" name="lista"/>
          <p:cNvSpPr txBox="1"/>
          <p:nvPr/>
        </p:nvSpPr>
        <p:spPr>
          <a:xfrm>
            <a:off x="731520" y="4434840"/>
            <a:ext cx="5020056" cy="160020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아홉 시부터 열 시까지 </a:t>
            </a:r>
            <a:r>
              <a:rPr lang="en-US" sz="1900" dirty="0">
                <a:solidFill>
                  <a:srgbClr val="14142B"/>
                </a:solidFill>
              </a:rPr>
              <a:t>(nuestra clase)</a:t>
            </a:r>
            <a:endParaRPr lang="en-US" sz="19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</a:t>
            </a:r>
            <a:r>
              <a:rPr lang="en-US" sz="1900" dirty="0">
                <a:solidFill>
                  <a:srgbClr val="14142B"/>
                </a:solidFill>
              </a:rPr>
              <a:t>= desde 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</a:t>
            </a:r>
            <a:r>
              <a:rPr lang="en-US" sz="1900" dirty="0">
                <a:solidFill>
                  <a:srgbClr val="14142B"/>
                </a:solidFill>
              </a:rPr>
              <a:t>= hasta</a:t>
            </a:r>
            <a:endParaRPr lang="en-US" sz="19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Solos: 여섯 시까지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월요일부터</a:t>
            </a:r>
            <a:endParaRPr lang="en-US" sz="19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 시부터 </a:t>
            </a:r>
            <a:r>
              <a:rPr lang="en-US" sz="1900" dirty="0">
                <a:solidFill>
                  <a:srgbClr val="14142B"/>
                </a:solidFill>
              </a:rPr>
              <a:t>(no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 시에부터</a:t>
            </a:r>
            <a:r>
              <a:rPr lang="en-US" sz="1900" dirty="0">
                <a:solidFill>
                  <a:srgbClr val="14142B"/>
                </a:solidFill>
              </a:rPr>
              <a:t>*)</a:t>
            </a:r>
            <a:endParaRPr lang="en-US" sz="1900" dirty="0"/>
          </a:p>
        </p:txBody>
      </p:sp>
      <p:sp>
        <p:nvSpPr>
          <p:cNvPr id="9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Lugares: de… a…</a:t>
            </a:r>
            <a:endParaRPr lang="en-US" sz="2000" dirty="0"/>
          </a:p>
        </p:txBody>
      </p:sp>
      <p:pic>
        <p:nvPicPr>
          <p:cNvPr id="11" name="col_img_1" descr="C:\Users\Chingu\AppData\Local\Temp\claude\C--Users-Chingu-Desktop-ACADEMIASEULWEB\d4111e1b-5523-44ea-97b2-b1a1d9545b9e\scratchpad\decks\cache\img_a890aabbc14af2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651760"/>
            <a:ext cx="1508760" cy="6858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83096" y="342900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sz="5400" b="1" dirty="0">
                <a:solidFill>
                  <a:srgbClr val="4236F6"/>
                </a:solidFill>
              </a:rPr>
              <a:t>~ 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5400" dirty="0"/>
          </a:p>
        </p:txBody>
      </p:sp>
      <p:sp>
        <p:nvSpPr>
          <p:cNvPr id="13" name="lista"/>
          <p:cNvSpPr txBox="1"/>
          <p:nvPr/>
        </p:nvSpPr>
        <p:spPr>
          <a:xfrm>
            <a:off x="6437376" y="4434840"/>
            <a:ext cx="5020056" cy="160020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서울에서 부산까지</a:t>
            </a:r>
            <a:endParaRPr lang="en-US" sz="17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sz="1700" dirty="0">
                <a:solidFill>
                  <a:srgbClr val="14142B"/>
                </a:solidFill>
              </a:rPr>
              <a:t>= desde (lugar), el mismo de la semana 3</a:t>
            </a:r>
            <a:endParaRPr lang="en-US" sz="17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</a:t>
            </a:r>
            <a:r>
              <a:rPr lang="en-US" sz="1700" dirty="0">
                <a:solidFill>
                  <a:srgbClr val="14142B"/>
                </a:solidFill>
              </a:rPr>
              <a:t>≠ </a:t>
            </a:r>
            <a:r>
              <a:rPr lang="ko-KR" altLang="en-US" sz="17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 </a:t>
            </a:r>
            <a:r>
              <a:rPr lang="en-US" sz="1700" dirty="0">
                <a:solidFill>
                  <a:srgbClr val="14142B"/>
                </a:solidFill>
              </a:rPr>
              <a:t>(berenjena): </a:t>
            </a:r>
            <a:r>
              <a:rPr lang="ko-KR" altLang="en-US" sz="17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ㄲ </a:t>
            </a:r>
            <a:r>
              <a:rPr lang="en-US" sz="1700" dirty="0">
                <a:solidFill>
                  <a:srgbClr val="14142B"/>
                </a:solidFill>
              </a:rPr>
              <a:t>apretada, sin aire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 turno: 몇 시부터 몇 시까지</a:t>
            </a:r>
            <a:r>
              <a:rPr lang="en-US" sz="2200" b="1" dirty="0">
                <a:solidFill>
                  <a:srgbClr val="003478"/>
                </a:solidFill>
              </a:rPr>
              <a:t>…?</a:t>
            </a:r>
            <a:r>
              <a:rPr lang="en-US" sz="1500" b="1" i="1" dirty="0">
                <a:solidFill>
                  <a:srgbClr val="8A8DA0"/>
                </a:solidFill>
              </a:rPr>
              <a:t>   Your turn: from what time to what time…?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1280160" y="1645920"/>
            <a:ext cx="962863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4" name="frase_ko"/>
          <p:cNvSpPr txBox="1"/>
          <p:nvPr/>
        </p:nvSpPr>
        <p:spPr>
          <a:xfrm>
            <a:off x="1463040" y="182880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시부터 몇 시까지</a:t>
            </a:r>
            <a:endParaRPr lang="en-US" sz="5700" dirty="0"/>
          </a:p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일해요</a:t>
            </a:r>
            <a:r>
              <a:rPr lang="en-US" sz="5700" b="1" dirty="0">
                <a:solidFill>
                  <a:srgbClr val="4236F6"/>
                </a:solidFill>
              </a:rPr>
              <a:t>? 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공부해요</a:t>
            </a:r>
            <a:r>
              <a:rPr lang="en-US" sz="5700" b="1" dirty="0">
                <a:solidFill>
                  <a:srgbClr val="4236F6"/>
                </a:solidFill>
              </a:rPr>
              <a:t>?</a:t>
            </a:r>
            <a:endParaRPr lang="en-US" sz="57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3657600"/>
            <a:ext cx="8439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¿De qué hora a qué hora trabajas? ¿Estudias?</a:t>
            </a:r>
            <a:endParaRPr lang="en-US" sz="2400" dirty="0"/>
          </a:p>
        </p:txBody>
      </p:sp>
      <p:sp>
        <p:nvSpPr>
          <p:cNvPr id="6" name="lista"/>
          <p:cNvSpPr txBox="1"/>
          <p:nvPr/>
        </p:nvSpPr>
        <p:spPr>
          <a:xfrm>
            <a:off x="1280160" y="4937760"/>
            <a:ext cx="962863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어제는요</a:t>
            </a:r>
            <a:r>
              <a:rPr lang="en-US" sz="1800" dirty="0">
                <a:solidFill>
                  <a:srgbClr val="14142B"/>
                </a:solidFill>
              </a:rPr>
              <a:t>? · Los demás, en el chat: tu horario de ayer con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</a:t>
            </a:r>
            <a:r>
              <a:rPr lang="en-US" sz="1800" dirty="0">
                <a:solidFill>
                  <a:srgbClr val="14142B"/>
                </a:solidFill>
              </a:rPr>
              <a:t>y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¿Con quién? 하고 </a:t>
            </a:r>
            <a:r>
              <a:rPr lang="en-US" sz="3000" b="1" dirty="0">
                <a:solidFill>
                  <a:srgbClr val="003478"/>
                </a:solidFill>
              </a:rPr>
              <a:t>· (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3000" b="1" dirty="0">
                <a:solidFill>
                  <a:srgbClr val="003478"/>
                </a:solidFill>
              </a:rPr>
              <a:t>)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랑</a:t>
            </a:r>
            <a:r>
              <a:rPr lang="ko-KR" altLang="en-US" sz="1500" b="1" i="1" dirty="0">
                <a:solidFill>
                  <a:srgbClr val="8A8DA0"/>
                </a:solidFill>
              </a:rPr>
              <a:t>   With whom? 하고 · (이)랑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Une sustantivos; para unir acciones, -고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</a:t>
            </a:r>
            <a:endParaRPr lang="en-US" sz="1800" dirty="0"/>
          </a:p>
        </p:txBody>
      </p:sp>
      <p:graphicFrame>
        <p:nvGraphicFramePr>
          <p:cNvPr id="21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905604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Partícula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Cuándo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Ejemplos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 · y; sirve siempre (si dudas, 하고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친구하고 점심을 먹었어요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빵하고 커피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이랑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después de consonante (받침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동생이랑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선생님이랑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랑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después de vocal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친구랑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엄마랑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/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escrito: solo para reconocer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같이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juntos · solo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친구하고 같이 갔어요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혼자 갔어요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¿Con quién?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누구하고 갔어요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친구하고요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 turno: 주말에 누구하고 뭐 했어요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 en el chat: ¿이랑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랑</a:t>
            </a:r>
            <a:r>
              <a:rPr lang="en-US" sz="1800" i="1" dirty="0">
                <a:solidFill>
                  <a:srgbClr val="4236F6"/>
                </a:solidFill>
              </a:rPr>
              <a:t>?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7170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7" name="rev_17_caja"/>
          <p:cNvSpPr/>
          <p:nvPr/>
        </p:nvSpPr>
        <p:spPr>
          <a:xfrm>
            <a:off x="7498080" y="200253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7_txt"/>
          <p:cNvSpPr txBox="1"/>
          <p:nvPr/>
        </p:nvSpPr>
        <p:spPr>
          <a:xfrm>
            <a:off x="7589520" y="200253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동생이랑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16839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6265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12" name="rev_18_caja"/>
          <p:cNvSpPr/>
          <p:nvPr/>
        </p:nvSpPr>
        <p:spPr>
          <a:xfrm>
            <a:off x="7498080" y="299923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8_txt"/>
          <p:cNvSpPr txBox="1"/>
          <p:nvPr/>
        </p:nvSpPr>
        <p:spPr>
          <a:xfrm>
            <a:off x="7589520" y="299923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친구랑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1650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59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17" name="rev_19_caja"/>
          <p:cNvSpPr/>
          <p:nvPr/>
        </p:nvSpPr>
        <p:spPr>
          <a:xfrm>
            <a:off x="7498080" y="399592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9_txt"/>
          <p:cNvSpPr txBox="1"/>
          <p:nvPr/>
        </p:nvSpPr>
        <p:spPr>
          <a:xfrm>
            <a:off x="7589520" y="399592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엄마랑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516178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1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5604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22" name="rev_20_caja"/>
          <p:cNvSpPr/>
          <p:nvPr/>
        </p:nvSpPr>
        <p:spPr>
          <a:xfrm>
            <a:off x="7498080" y="4992624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20_txt"/>
          <p:cNvSpPr txBox="1"/>
          <p:nvPr/>
        </p:nvSpPr>
        <p:spPr>
          <a:xfrm>
            <a:off x="7589520" y="4992624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선생님이랑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2200" b="1" dirty="0">
                <a:solidFill>
                  <a:srgbClr val="003478"/>
                </a:solidFill>
              </a:rPr>
              <a:t>¿Qué tal el finde? Fui a un café</a:t>
            </a:r>
            <a:r>
              <a:rPr lang="en-US" sz="1500" b="1" i="1" dirty="0">
                <a:solidFill>
                  <a:srgbClr val="8A8DA0"/>
                </a:solidFill>
              </a:rPr>
              <a:t>   How was your weekend? I went to a café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 pregunta del lunes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잘 보냈어요</a:t>
            </a:r>
            <a:r>
              <a:rPr lang="en-US" sz="2200" dirty="0">
                <a:solidFill>
                  <a:srgbClr val="14142B"/>
                </a:solidFill>
              </a:rPr>
              <a:t>? —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친구하고 카페에 갔어요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Se oye cada lunes en Seúl, en la oficina o en la universidad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En Seúl hay cafés en todas partes: para juntarse, estudiar, descansar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집에서 쉬었어요 </a:t>
            </a:r>
            <a:r>
              <a:rPr lang="en-US" sz="2200" dirty="0">
                <a:solidFill>
                  <a:srgbClr val="14142B"/>
                </a:solidFill>
              </a:rPr>
              <a:t>también es una respuesta perfecta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Como nuestro «¿y, qué tal el finde?»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63ce8c9bebe0e1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384" y="1463040"/>
            <a:ext cx="3212063" cy="3703320"/>
          </a:xfrm>
          <a:prstGeom prst="rect">
            <a:avLst/>
          </a:prstGeom>
        </p:spPr>
      </p:pic>
      <p:sp>
        <p:nvSpPr>
          <p:cNvPr id="7" name="ko_grande"/>
          <p:cNvSpPr txBox="1"/>
          <p:nvPr/>
        </p:nvSpPr>
        <p:spPr>
          <a:xfrm>
            <a:off x="6583680" y="525780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잘 보냈어요</a:t>
            </a:r>
            <a:r>
              <a:rPr lang="en-US" sz="2400" b="1" dirty="0">
                <a:solidFill>
                  <a:srgbClr val="4236F6"/>
                </a:solidFill>
              </a:rPr>
              <a:t>? — </a:t>
            </a: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400" b="1" dirty="0">
                <a:solidFill>
                  <a:srgbClr val="4236F6"/>
                </a:solidFill>
              </a:rPr>
              <a:t>,</a:t>
            </a:r>
            <a:endParaRPr lang="en-US" sz="2400" dirty="0"/>
          </a:p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친구하고 카페에 갔어요</a:t>
            </a:r>
            <a:r>
              <a:rPr lang="en-US" sz="2400" b="1" dirty="0">
                <a:solidFill>
                  <a:srgbClr val="4236F6"/>
                </a:solidFill>
              </a:rPr>
              <a:t>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2200" b="1" dirty="0">
                <a:solidFill>
                  <a:srgbClr val="003478"/>
                </a:solidFill>
              </a:rPr>
              <a:t>Drill: presente → pasado + ¿cuándo?</a:t>
            </a:r>
            <a:r>
              <a:rPr lang="en-US" sz="1500" b="1" i="1" dirty="0">
                <a:solidFill>
                  <a:srgbClr val="8A8DA0"/>
                </a:solidFill>
              </a:rPr>
              <a:t>   Drill: present → past + when?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3 segundos por persona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Jay dice una frase en presente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Tú la pasas al pasado y le agregas un tiempo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어제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토요일에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지난주에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작년에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아침에</a:t>
            </a:r>
            <a:r>
              <a:rPr lang="en-US" sz="2400" dirty="0">
                <a:solidFill>
                  <a:srgbClr val="14142B"/>
                </a:solidFill>
              </a:rPr>
              <a:t>…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Mano arriba: ㅏ </a:t>
            </a:r>
            <a:r>
              <a:rPr lang="en-US" sz="2400" dirty="0">
                <a:solidFill>
                  <a:srgbClr val="14142B"/>
                </a:solidFill>
              </a:rPr>
              <a:t>/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 </a:t>
            </a:r>
            <a:r>
              <a:rPr lang="en-US" sz="2400" dirty="0">
                <a:solidFill>
                  <a:srgbClr val="14142B"/>
                </a:solidFill>
              </a:rPr>
              <a:t>→ -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았어요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Orden: [nombres de la lista de Zoom]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Salas de 3 · 3 rondas</a:t>
            </a:r>
            <a:r>
              <a:rPr lang="en-US" sz="1500" b="1" i="1" dirty="0">
                <a:solidFill>
                  <a:srgbClr val="8A8DA0"/>
                </a:solidFill>
              </a:rPr>
              <a:t>   Rooms of 3 · 3 rounds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A = primer nombre del trío en orden alfabético; después B y C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 Agenda (6'): A = 민지 </a:t>
            </a:r>
            <a:r>
              <a:rPr lang="en-US" sz="2200" dirty="0">
                <a:solidFill>
                  <a:srgbClr val="14142B"/>
                </a:solidFill>
              </a:rPr>
              <a:t>· B =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하준 </a:t>
            </a:r>
            <a:r>
              <a:rPr lang="en-US" sz="2200" dirty="0">
                <a:solidFill>
                  <a:srgbClr val="14142B"/>
                </a:solidFill>
              </a:rPr>
              <a:t>· C =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루시아 </a:t>
            </a:r>
            <a:r>
              <a:rPr lang="en-US" sz="2200" dirty="0">
                <a:solidFill>
                  <a:srgbClr val="14142B"/>
                </a:solidFill>
              </a:rPr>
              <a:t>· mira solo tu tarjeta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R2 Mini-diario (10'): tu fin de semana en 5 frases, sin leer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 otros 2 preguntan: 누구하고 갔어요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 먹었어요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 Minuto libre (3'), sin cuaderno: 주말에 뭐 했어요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어디에서 공부해요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Tarjeta: sección 7 de tu material (ábrela ahora)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Lo que oí hoy</a:t>
            </a:r>
            <a:r>
              <a:rPr lang="en-US" sz="1500" b="1" i="1" dirty="0">
                <a:solidFill>
                  <a:srgbClr val="8A8DA0"/>
                </a:solidFill>
              </a:rPr>
              <a:t>   What I heard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Se llena en vivo · sin nombres · Errores del día: ¿cómo se dice bien?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57495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74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36921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먹았어요</a:t>
            </a:r>
            <a:r>
              <a:rPr lang="en-US" sz="2400" dirty="0">
                <a:solidFill>
                  <a:srgbClr val="14142B"/>
                </a:solidFill>
              </a:rPr>
              <a:t>*</a:t>
            </a:r>
            <a:endParaRPr lang="en-US" sz="2400" dirty="0"/>
          </a:p>
        </p:txBody>
      </p:sp>
      <p:sp>
        <p:nvSpPr>
          <p:cNvPr id="7" name="rev_21_caja"/>
          <p:cNvSpPr/>
          <p:nvPr/>
        </p:nvSpPr>
        <p:spPr>
          <a:xfrm>
            <a:off x="7498080" y="240578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21_txt"/>
          <p:cNvSpPr txBox="1"/>
          <p:nvPr/>
        </p:nvSpPr>
        <p:spPr>
          <a:xfrm>
            <a:off x="7589520" y="240578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먹었어요 </a:t>
            </a:r>
            <a:r>
              <a:rPr lang="en-US" sz="1800" b="1" dirty="0">
                <a:solidFill>
                  <a:srgbClr val="FFFFFF"/>
                </a:solidFill>
              </a:rPr>
              <a:t>(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 </a:t>
            </a:r>
            <a:r>
              <a:rPr lang="en-US" sz="1800" b="1" dirty="0">
                <a:solidFill>
                  <a:srgbClr val="FFFFFF"/>
                </a:solidFill>
              </a:rPr>
              <a:t>no tiene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 </a:t>
            </a:r>
            <a:r>
              <a:rPr lang="en-US" sz="1800" b="1" dirty="0">
                <a:solidFill>
                  <a:srgbClr val="FFFFFF"/>
                </a:solidFill>
              </a:rPr>
              <a:t>ni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r>
              <a:rPr lang="en-US" sz="1800" b="1" dirty="0">
                <a:solidFill>
                  <a:srgbClr val="FFFFFF"/>
                </a:solidFill>
              </a:rPr>
              <a:t>)</a:t>
            </a:r>
            <a:endParaRPr lang="en-US" sz="1800" dirty="0"/>
          </a:p>
        </p:txBody>
      </p:sp>
      <p:sp>
        <p:nvSpPr>
          <p:cNvPr id="9" name="num_1"/>
          <p:cNvSpPr/>
          <p:nvPr/>
        </p:nvSpPr>
        <p:spPr>
          <a:xfrm>
            <a:off x="548640" y="357164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71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6590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어제에</a:t>
            </a:r>
            <a:r>
              <a:rPr lang="en-US" sz="2400" dirty="0">
                <a:solidFill>
                  <a:srgbClr val="14142B"/>
                </a:solidFill>
              </a:rPr>
              <a:t>*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 </a:t>
            </a:r>
            <a:r>
              <a:rPr lang="en-US" sz="2400" dirty="0">
                <a:solidFill>
                  <a:srgbClr val="14142B"/>
                </a:solidFill>
              </a:rPr>
              <a:t>(sin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</p:txBody>
      </p:sp>
      <p:sp>
        <p:nvSpPr>
          <p:cNvPr id="12" name="rev_22_caja"/>
          <p:cNvSpPr/>
          <p:nvPr/>
        </p:nvSpPr>
        <p:spPr>
          <a:xfrm>
            <a:off x="7498080" y="340248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2_txt"/>
          <p:cNvSpPr txBox="1"/>
          <p:nvPr/>
        </p:nvSpPr>
        <p:spPr>
          <a:xfrm>
            <a:off x="7589520" y="340248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</a:t>
            </a:r>
            <a:r>
              <a:rPr lang="en-US" sz="2200" b="1" dirty="0">
                <a:solidFill>
                  <a:srgbClr val="FFFFFF"/>
                </a:solidFill>
              </a:rPr>
              <a:t>·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토요일에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56834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68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6260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[해서요</a:t>
            </a:r>
            <a:r>
              <a:rPr lang="en-US" sz="2400" dirty="0">
                <a:solidFill>
                  <a:srgbClr val="14142B"/>
                </a:solidFill>
              </a:rPr>
              <a:t>]*</a:t>
            </a:r>
            <a:endParaRPr lang="en-US" sz="2400" dirty="0"/>
          </a:p>
        </p:txBody>
      </p:sp>
      <p:sp>
        <p:nvSpPr>
          <p:cNvPr id="17" name="rev_23_caja"/>
          <p:cNvSpPr/>
          <p:nvPr/>
        </p:nvSpPr>
        <p:spPr>
          <a:xfrm>
            <a:off x="7498080" y="439917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3_txt"/>
          <p:cNvSpPr txBox="1"/>
          <p:nvPr/>
        </p:nvSpPr>
        <p:spPr>
          <a:xfrm>
            <a:off x="7589520" y="439917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[해써요</a:t>
            </a:r>
            <a:r>
              <a:rPr lang="en-US" sz="2100" b="1" dirty="0">
                <a:solidFill>
                  <a:srgbClr val="FFFFFF"/>
                </a:solidFill>
              </a:rPr>
              <a:t>]: la </a:t>
            </a: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ㅆ</a:t>
            </a:r>
            <a:r>
              <a:rPr lang="en-US" sz="2100" b="1" dirty="0">
                <a:solidFill>
                  <a:srgbClr val="FFFFFF"/>
                </a:solidFill>
              </a:rPr>
              <a:t>, apretada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Las 3 frases de hoy</a:t>
            </a:r>
            <a:r>
              <a:rPr lang="en-US" sz="1500" b="1" i="1" dirty="0">
                <a:solidFill>
                  <a:srgbClr val="8A8DA0"/>
                </a:solidFill>
              </a:rPr>
              <a:t>   Today's 3 sentences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Primero Jay, despacio; después todos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주말에 뭐 했어요</a:t>
            </a:r>
            <a:r>
              <a:rPr lang="en-US" sz="2800" dirty="0">
                <a:solidFill>
                  <a:srgbClr val="14142B"/>
                </a:solidFill>
              </a:rPr>
              <a:t>? — ¿Qué hiciste el fin de semana?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친구하고 영화를 봤어요</a:t>
            </a:r>
            <a:r>
              <a:rPr lang="en-US" sz="2800" dirty="0">
                <a:solidFill>
                  <a:srgbClr val="14142B"/>
                </a:solidFill>
              </a:rPr>
              <a:t>. — Vi una película con un amigo.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 시부터 여섯 시까지 일했어요</a:t>
            </a:r>
            <a:r>
              <a:rPr lang="en-US" sz="2800" dirty="0">
                <a:solidFill>
                  <a:srgbClr val="14142B"/>
                </a:solidFill>
              </a:rPr>
              <a:t>. — Trabajé de nueve a seis.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Tarea (≈ 28 min)</a:t>
            </a:r>
            <a:r>
              <a:rPr lang="en-US" sz="1500" b="1" i="1" dirty="0">
                <a:solidFill>
                  <a:srgbClr val="8A8DA0"/>
                </a:solidFill>
              </a:rPr>
              <a:t>   Homework (≈ 28 min)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Plazo: miércoles 18 de noviembre, 21:00 (hora de Chile)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1 · Mini-diario: 3 frases en pasado sobre tu día de hoy, en el grupo (5 min)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2 · Lector → Practicar → Números: 3 rondas «nativos» o «mezclados» + captura (8 min)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3 · Hoja 4 = ejercicios 9 y 10 del material (12 min)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4 · Foto de un lugar al que quieras viajar (3 min)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Reto: une 2 frases con -고 </a:t>
            </a:r>
            <a:r>
              <a:rPr lang="en-US" sz="2000" dirty="0">
                <a:solidFill>
                  <a:srgbClr val="14142B"/>
                </a:solidFill>
              </a:rPr>
              <a:t>· Rescate: mini-diario + las 8 primeras frases de la hoja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Mitad del curso</a:t>
            </a:r>
            <a:r>
              <a:rPr lang="en-US" sz="1500" b="1" i="1" dirty="0">
                <a:solidFill>
                  <a:srgbClr val="8A8DA0"/>
                </a:solidFill>
              </a:rPr>
              <a:t>   Mid-course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Sin examen extra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Domingo 15 de noviembre: guía de estudio de las semanas 1 a 4, en el grupo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Por privado, tu comentario en 3 líneas: fortaleza, foco y siguiente paso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Desde la clase 5: parejas nuevas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3000" b="1" dirty="0">
                <a:solidFill>
                  <a:srgbClr val="FFFFFF"/>
                </a:solidFill>
              </a:rPr>
              <a:t>!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3000" b="1" dirty="0">
                <a:solidFill>
                  <a:srgbClr val="FFFFFF"/>
                </a:solidFill>
              </a:rPr>
              <a:t>!  ¡Gracias! ¡Ánimo!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정말 잘했어요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Clase 5: quiz 4 (pasado y 부터</a:t>
            </a:r>
            <a:r>
              <a:rPr lang="en-US" sz="2200" dirty="0">
                <a:solidFill>
                  <a:srgbClr val="FFFFFF"/>
                </a:solidFill>
              </a:rPr>
              <a:t>~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r>
              <a:rPr lang="en-US" sz="2200" dirty="0">
                <a:solidFill>
                  <a:srgbClr val="FFFFFF"/>
                </a:solidFill>
              </a:rPr>
              <a:t>)</a:t>
            </a:r>
            <a:endParaRPr lang="en-US" sz="2200" dirty="0"/>
          </a:p>
          <a:p>
            <a:pPr marL="0" indent="0" algn="ctr" eaLnBrk="1">
              <a:buNone/>
            </a:pPr>
            <a:r>
              <a:rPr lang="en-US" sz="2200" dirty="0">
                <a:solidFill>
                  <a:srgbClr val="FFFFFF"/>
                </a:solidFill>
              </a:rPr>
              <a:t>Traigan su foto de viaje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Emergencia</a:t>
            </a:r>
            <a:r>
              <a:rPr lang="en-US" sz="1500" b="1" i="1" dirty="0">
                <a:solidFill>
                  <a:srgbClr val="8A8DA0"/>
                </a:solidFill>
              </a:rPr>
              <a:t>   Backup activities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Si sobra tiempo en la sala principal (2–4 min)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Dos verdades y una mentira: ① 토요일에 부산에 갔어요</a:t>
            </a:r>
            <a:r>
              <a:rPr lang="en-US" sz="2200" dirty="0">
                <a:solidFill>
                  <a:srgbClr val="14142B"/>
                </a:solidFill>
              </a:rPr>
              <a:t>. ②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일요일에 요리했어요</a:t>
            </a:r>
            <a:r>
              <a:rPr lang="en-US" sz="2200" dirty="0">
                <a:solidFill>
                  <a:srgbClr val="14142B"/>
                </a:solidFill>
              </a:rPr>
              <a:t>. ③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열한 시에 잤어요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2 · ¿Hoy o ya pasó? En el chat: P (presente) o PA (pasado)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3 · La agenda de Jay: anota las horas en cifras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Encuesta: 주말에 카페에 갔어요</a:t>
            </a:r>
            <a:r>
              <a:rPr lang="en-US" sz="2200" dirty="0">
                <a:solidFill>
                  <a:srgbClr val="14142B"/>
                </a:solidFill>
              </a:rPr>
              <a:t>?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집에서 쉬었어요</a:t>
            </a:r>
            <a:r>
              <a:rPr lang="en-US" sz="2200" dirty="0">
                <a:solidFill>
                  <a:srgbClr val="14142B"/>
                </a:solidFill>
              </a:rPr>
              <a:t>? 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r>
              <a:rPr lang="en-US" sz="2200" dirty="0">
                <a:solidFill>
                  <a:srgbClr val="14142B"/>
                </a:solidFill>
              </a:rPr>
              <a:t>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5169</Words>
  <Application>Microsoft Office PowerPoint</Application>
  <PresentationFormat>Widescreen</PresentationFormat>
  <Paragraphs>429</Paragraphs>
  <Slides>30</Slides>
  <Notes>30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Malgun Gothic</vt:lpstr>
      <vt:lpstr>Arial</vt:lpstr>
      <vt:lpstr>Academia Seul</vt:lpstr>
      <vt:lpstr>안녕하세요!  Mientras llegan   While you join</vt:lpstr>
      <vt:lpstr>Quiz 3   Quiz 3</vt:lpstr>
      <vt:lpstr>Quiz 3 · respuestas   Quiz 3 · answers</vt:lpstr>
      <vt:lpstr>Quiz en línea 1: lo que más costó   Online quiz 1: what was hardest</vt:lpstr>
      <vt:lpstr>El pasado</vt:lpstr>
      <vt:lpstr>Hoy vas a poder decir…   Today you'll be able to say…</vt:lpstr>
      <vt:lpstr>주말 잘 보냈어요?  ¿Qué tal el fin de semana? (1)</vt:lpstr>
      <vt:lpstr>주말 잘 보냈어요?  ¿Qué tal el fin de semana? (2)</vt:lpstr>
      <vt:lpstr>¿Hoy o ya pasó?   Now or already past?</vt:lpstr>
      <vt:lpstr>-았/었어요  Si sabes el presente…   If you know the present…</vt:lpstr>
      <vt:lpstr>Verbos nuevos: la mano arriba   New verbs: hand up</vt:lpstr>
      <vt:lpstr>Los irregulares de la S3, en pasado   Week 3 irregulars, in the past</vt:lpstr>
      <vt:lpstr>이었어요 · 였어요 · 있었어요  Era · estaba</vt:lpstr>
      <vt:lpstr>Un solo pasado   Just one past tense</vt:lpstr>
      <vt:lpstr>Tu turno: 어제 뭐 했어요?   Your turn: what did you do yesterday?</vt:lpstr>
      <vt:lpstr>¿Cuándo? Con 에 o sin 에   When? With or without 에</vt:lpstr>
      <vt:lpstr>Bonus: -고 en pasado   Bonus: -고 in the past</vt:lpstr>
      <vt:lpstr>Desde… hasta…: 부터 ~ 까지 · 에서 ~ 까지   From… to…</vt:lpstr>
      <vt:lpstr>Tu turno: 몇 시부터 몇 시까지…?   Your turn: from what time to what time…?</vt:lpstr>
      <vt:lpstr>¿Con quién? 하고 · (이)랑   With whom? 하고 · (이)랑</vt:lpstr>
      <vt:lpstr>Tu turno: 주말에 누구하고 뭐 했어요?</vt:lpstr>
      <vt:lpstr>¿Qué tal el finde? Fui a un café   How was your weekend? I went to a café</vt:lpstr>
      <vt:lpstr>Drill: presente → pasado + ¿cuándo?   Drill: present → past + when?</vt:lpstr>
      <vt:lpstr>Salas de 3 · 3 rondas   Rooms of 3 · 3 rounds</vt:lpstr>
      <vt:lpstr>Lo que oí hoy   What I heard today</vt:lpstr>
      <vt:lpstr>Las 3 frases de hoy   Today's 3 sentences</vt:lpstr>
      <vt:lpstr>Tarea (≈ 28 min)   Homework (≈ 28 min)</vt:lpstr>
      <vt:lpstr>Mitad del curso   Mid-course</vt:lpstr>
      <vt:lpstr>감사합니다! 화이팅!  ¡Gracias! ¡Ánimo!</vt:lpstr>
      <vt:lpstr>Emergencia   Backup activities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2 (A1.2) · Semana 4 · El pasado · -았/었어요 (mitad del curso)</dc:title>
  <dc:subject>PptxGenJS Presentation</dc:subject>
  <dc:creator>Academia Seúl</dc:creator>
  <cp:lastModifiedBy>Jae Hee Kim</cp:lastModifiedBy>
  <cp:revision>2</cp:revision>
  <dcterms:created xsi:type="dcterms:W3CDTF">2026-10-16T10:02:34Z</dcterms:created>
  <dcterms:modified xsi:type="dcterms:W3CDTF">2026-10-16T10:04:00Z</dcterms:modified>
</cp:coreProperties>
</file>