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2" id="{4B2F9EFF-043C-6704-135D-9F08144844E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6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21:00–21:01. Inicia la grabación en la nube (Basico2_S02_2026-10-28). A 2–3 por nombre: «카밀라 씨, 안녕하세요! 요즘 어떻게 지내요?» → «잘 지내요. 선생님은요?» (si alguien te dice ___ 씨는요?, sonríe y modela 선생님은요?). Pon el chat en 'solo anfitrión' para el quiz y crea 5 salas vacías con 'elegir sala' (sin abrirlas).
Imagen: incluida (dibujo de la casa).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21:01, unos segundos, de paso hacia el quiz. «Hoy: tu edad, tu cumpleaños, tu teléfono y la hora a la que haces las cosas.»
Fuente: Portada de la plantilla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21:01–21:04. «Quiz 1: cinco preguntas sobre la semana 1. Empiecen ya; respondan en el chat en una sola línea. Hoy el chat me llega solo a mí. Tienen hasta las 21:03 y media.» Lee cada ítem una vez mientras responden; el 5, en coreano y despacio, y explica que 무엇에 대한 이야기입니까 es la pregunta del TOPIK ('¿de qué se habla?'), solo para reconocer. A las 21:03:30 guarda el chat y lee la clave (aparece con clic): 1 이 · 2 이 y 은 · 3 없어요 · 4 살아요 · 5 ③ 취미. En el 2, si pusieron 이 en la respuesta, no está mal: punto igual.
Imagen: incluida (dibujo de la casa).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21:04–21:05. «De la Hoja 1, dos cosas que vi en varias hojas.» Muestra los 2 errores (sin nombres), di la forma correcta y el grupo la repite en coro. Si usas la reserva: estar en un lugar es 에 있어요; 지금 집이에요 se oye en la calle (atajo coloquial, por eso sin asterisco), pero la forma del examen es 집에 있어요; y para tener, la cosa lleva 이/가 por escrito. Si apareció 회사에 일해요, solo márcalo (semana 3). Al terminar, el chat vuelve a 'todos'.
Fuente: Nueva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21:05–21:06 (1 min 30). Señala cada reloj: «여러분, 지금 칠레는 밤 아홉 시예요. 한국은 아침 아홉 시예요.» «오늘은 시월 이십팔 일 수요일이에요. 한국은… 시월 이십구 일 목요일이에요!» (ES) «En Corea ya es mañana: jueves, nueve de la mañana; mientras ustedes terminan el día, allá la gente llega a la oficina. Hoy van a poder decir todo esto: la hora, la fecha, tu edad, tu cumpleaños y tu teléfono.»
Imagen: incluida (dibujo de la casa).
Fuente: Nueva (calendario) + A1_Nivel_1/05_Fechas_Numeros/Clase_Numeros_Fechas_Hora.pptx L3 (fotos de reloj y calendario)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21:06–21:08 (1 min 30). «Fíjense en lo que acabo de decir: 아홉 시 y 이십팔 일, dos números distintos. Los sino-coreanos, 일, 이, 삼, son para leer cifras: fechas, minutos, teléfonos, precios. Los nativos, 하나, 둘, 셋, son para contar: cosas, personas, años de edad… y la hora del reloj. Y la hora mezcla los dos.» Comparte el Lector (Aprender 7, 'Trucos que salvan vidas') con sonido, toca el audio de 세 시 삼십 분 y coro ×2. A los de julio: «Lo llamaron 'el gran mestizaje': hoy lo mismo, sin letras latinas en los corchetes.»
Fuente: Adaptada de Clase_Numeros_Fechas_Hora.pptx L4 · clip del Lector (Aprender 7)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21:08–21:10 (1 min 30), en vista de galería para ver las bocas. «Los nativos del 1 al 10. Los de julio primero, el resto se suma.» Coro ×2: 하나, 둘, 셋, 넷, 다섯, 여섯, 일곱, 여덟, 아홉, 열! Marca 여덟 [여덜] (la ㅂ no suena) y la ㅓ de 여섯 y 다섯, con la boca abierta y sin redondear. «Del 11 al 19 es 열 + el número»: coro rápido de 열하나 a 열아홉, una vez.
Fuente: Clase_Numeros_Fechas_Hora.pptx L6, sin romanización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21:10–21:11 (1 min 30). «En español 'uno' se acorta delante de un sustantivo: un año, veintiún años. En coreano pasa lo mismo delante del contador, con cuatro números y con el 20. Contador es la palabra que dice qué cuentas: 시 para la hora, 살 para los años de edad. El resto no cambia.» Coro: 한 시, 두 시, 세 시, 네 시 · 한 살, 두 살 · 스무 살. Si preguntan: también 열한 시, 열두 시, 스물한 살, 스물두 살 (el acortamiento va con la última cifra).
Fuente: Nueva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21:11–21:13 (1 min 30). Coro: «따라 하세요: 한 시, 두 시, 세 시, 네 시, 다섯 시, 여섯 시, 일곱 시, 여덟 시, 아홉 시, 열 시, 열한 시, 열두 시.» «La pregunta: 몇 시예요?, '¿qué hora es?'. 몇 es 'cuántos' o 'qué número'. Ojo con la ㅊ de 몇: se oye [멷씨], con la ㅅ apretada; en diez minutos les explico por qué.» Escribe [멷씨] en el chat.
Imagen: incluida (dibujo de la casa).
Fuente: Clase_Numeros_Fechas_Hora.pptx L11 (parte 'la regla'), adaptada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21:13–21:14 (1 min). «Para decir tu edad necesitas las decenas nativas; no hay que memorizarlas hoy: están en tu tarjeta de números.» Dilas una vez tú solo; el grupo repite solo 스물, 서른, 마흔; luego 스무 살 · 스물다섯 살 · 서른한 살. «Veinte exacto es 스무 살; veintiuno, 스물한 살. La pregunta: 몇 살이에요? [멷싸리에요]. Regla de la casa: tu edad puede ser real, inventada o la de tu mascota.» (KO) «제 강아지는 세 살이에요.»
Imagen: incluida (dibujo de la casa).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21:14–21:15 (1 min 30, unos 15 s por alumno). Di los 6 nombres juntos y pide micrófonos abiertos. Tres alumnos, edad: «소피아 씨, 몇 살이에요?» → «___ 살이에요.»; si dice 이십오 살: «나이는… 스물다섯 살.» y gesto de 'otra vez'. Tres alumnos, reloj: «다니엘 씨, 몇 시예요?»; si dice 사 시: «네 시» (4 dedos + 'nativo'). Máximo dos intentos y «잘했어요!» a cada uno.
Imagen: incluida (dibujo de la casa).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21:15–21:16 (1 min). «Los meses son facilísimos: número sino + 월. Pero dos se 'gastaron' de tanto decirlos: 6월 no es 육월, es 유월; 10월 no es 십월, es 시월. Son las únicas dos. Hoy es 시월.» Coro con ritmo: 일월 … 십이월. «¿Se acuerdan de la 연음 de la semana 1? 일월 suena [이뤌]; 삼월, [사뭘].» 유월 y 시월 van destacados en azul.
Fuente: A1_Nivel_1/05_Fechas_Numeros/Sesion_05_Fechas_Numeros_v4.pptx L8 + Clase_Numeros_Fechas_Hora.pptx L9 (sin romanización)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21:16–21:17 (1 min). «En español decimos 'miércoles 28 de octubre de 2026'. En coreano va al revés, de lo grande a lo chico, como una dirección: año, mes, día, día de la semana. Se escribe 10월 28일 y se lee 시월 이십팔 일.» Coro: «오늘은 시월 이십팔 일 수요일이에요.» Explica 생일이 언제예요? y 오늘은 며칠이에요? (며칠 se escribe así, nunca 몇 일: lo van a ver mal escrito hasta en Corea). Di tu fecha («제 생일은 ___월 ___일이에요.») y lanza «여러분, 생일이 언제예요?» sin esperar respuesta: es la pregunta de la cadena.
Fuente: Sesion_05_Fechas_Numeros_v4.pptx L9 + L11, adaptadas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21:17–21:18 (40 s). «Buena noticia: son nuestros mismos planetas. 월요일, luna: lunes. 화요일, fuego, Marte: martes. 수요일, agua, Mercurio: miércoles. 목요일, madera, Júpiter: jueves. 금요일, metal, Venus: viernes. 토요일, tierra, Saturno: Saturday. 일요일, sol: Sunday.» Coro una vez: 월요일 … 일요일. Luego «오늘은 무슨 요일이에요?» → «수요일이에요!» (la pregunta solo se reconoce). Si vas atrasado: solo el coro.
Fuente: Clase_Numeros_Fechas_Hora.pptx L10 corregida (hanja, no 'Kenji', + el puente de los planetas) + Sesion_05_Fechas_Numeros_v4.pptx L10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21:18–21:19 (1 min). «Los minutos son sino: 오 분, 십 분, 삼십 분. 'Y media' es 반: 세 시 반. Y la parte del día va antes de la hora: 오전, a. m.; 오후, p. m.; o más coloquial, 아침, 점심, 저녁, 밤. Nadie dice 'las veintiuna': se dice 밤 아홉 시.» Coro: 아침 일곱 시 · 오후 세 시 십오 분 · 밤 아홉 시 반. Marca: 삼십 분 suena [삼십뿐], la misma tensión de 몇 시.
Fuente: Clase_Numeros_Fechas_Hora.pptx L11 (sin 전/후 ni 새벽)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21:19–21:21 (1 min 30). «Teléfono: sino, cifra por cifra, y el cero es 공. Se hace una pausa entre grupos.» (KO) «전화번호가 뭐예요? — 구, 팔칠육오, 사삼이일이에요.» Dictado: «Escriban en el chat, en cifras, lo que digo.» Di cada ítem dos veces, a velocidad normal: «구, 이사육팔, 일삼오칠» · «유월 이십 일» · «시월 삼십일 일»; después muestra la clave con clic y léela en voz alta.
Fuente: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21:21–21:23 (2 min 50, unos 10 s por alumno). Comparte la hoja 'Calendario del curso'. «Yo le pregunto a Camila; Camila responde y le pregunta a quien sigue en la lista de Zoom, por su nombre. La fecha va en coreano.» (KO) «카밀라 씨, 생일이 언제예요?»; mientras hablan, escribes el nombre en la fila del mes; con 유월 o 시월 bien dichos, «잘했어요!»; si alguien dice 육월, repites «유월» y sigue. Si hay un cumpleaños esta semana: «와! 생일 축하해요!» (reconocer). A las 21:22:50, corta: los que faltan lo dicen en su sala (R3).
Imagen: incluida (dibujo de la casa).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21:23–21:25 (1 min 30). «Para decir cuándo haces algo, el tiempo lleva 에. Es nuestro 'a las' (일곱 시에), el 'el' de 'el lunes' (월요일에) y el 'en' de 'en mi cumpleaños' (생일에).» «Una regla que les va a ahorrar errores: un solo 에, al final del bloque de tiempo: 'el miércoles a las nueve de la noche' es 수요일 밤 아홉 시에, no 수요일에 밤에 아홉 시에.» Coro: 일곱 시에 일어나요. 월요일에 일해요. 수요일 밤 아홉 시에 한국어를 공부해요.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21:25–21:26 (1 min). «Algunas palabras ya son 'tiempo' por sí solas y no llevan 에: 오늘, 지금, 매일, y más adelante 어제 y 내일. Igual que en español: nadie dice 'en hoy' ni 'a ahora'. Por eso 지금 몇 시예요? no lleva 에.» (KO) «매일 일곱 시에 일어나요.» «Miren: en la misma frase, 매일 sin 에 y 일곱 시 con 에.» Coro.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21:26–21:27 (1 min 30). Con 3 alumnos, por su nombre real: «발렌티나 씨, 몇 시에 자요?» · «호세 씨, 몇 시에 일어나요?» · «마리아 씨, 몇 시에 점심을 먹어요?». Si omite 에: «열한 시에» con el índice arriba; si lo pone con 오늘: «오늘… sin 에». Si alguien se acuesta después de medianoche: «새벽 한 시에 자요.» (새벽 = madrugada, solo reconocer). Observa sin nota: ¿pone 에 con la hora y lo quita con 오늘/매일?
Fuente: Nueva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21:27–21:28 (1 min 10). «Hasta hace poco, en Corea una persona podía tener dos edades: la 'edad coreana' tradicional (naces con un año y todos suman un año juntos en Año Nuevo) y la internacional, 만 나이, la que usamos nosotros. Desde junio de 2023, la única oficial es 만 나이: la ley la fija para todo trámite y el gobierno pidió usarla también en la vida diaria.» «Camila nació el 15 de junio de 1996: hoy tiene 30, 서른 살; con la edad tradicional tendría 31. Por eso todavía van a oír dos números para la misma persona.» Solo si preguntan: algunas normas (servicio militar, venta de alcohol a menores) cuentan por año de nacimiento.
Fuente: Nueva (texto publicado)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21:28–21:29 (50 s). «¿Por qué en Corea te preguntan la edad al conocerte? No es solo curiosidad: sirve para saber cómo hablarte. Si el otro es mayor, se le habla con más cortesía, y entre amigos la edad decide si le dices 언니, 오빠, 누나 o 형.» «Entre compañeros de clase, 몇 살이에요? es normal; a alguien claramente mayor se le pregunta 나이가 어떻게 되세요?: basta con reconocerla. Y en nuestra clase la edad puede ser inventada: esa diferencia también es cultura.»
Fuente: Nueva (matiz [YA])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21:29–21:30 (1 min). «En muchas familias coreanas el cumpleaños empieza con esta sopa de algas, 미역국. Es la sopa que toma la mamá después del parto: en tu cumpleaños te recuerda a ella. En Latinoamérica tenemos torta y 'cumpleaños feliz'; en Corea también hay torta y la misma melodía, pero el 미역국 es lo que sabe a cumpleaños.» Coro ×2: «따라 하세요: 생일에 미역국을 먹어요.» Chat: «¿Qué comes tú en tu cumpleaños?» (lee 1 respuesta). La canción no se canta, y no adelantes el 미역국 del 수능 (semana 6).
Imagen: incluida (dibujo de la casa).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21:30:00 en punto: «여러분, 지금 몇 시예요?» → todos: «밤 아홉 시 반이에요!» «Esa es una de las metas de hoy, y es verdad: son las nueve y media.» «Cadena de 3 segundos: digo tu nombre, miras tu tarjeta y la dices en coreano; si no sale en 3 segundos, la digo yo y la repites.» Llama por orden de la lista de Zoom y anuncia al siguiente ('Sofía; prepárate, Daniel'); la clave aparece con clic después de cada turno.
Fuente: Nueva (clave en C.16)
Lámina 24a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21:31–21:32. Sigue la cadena, anunciando siempre al siguiente. Corrección al vuelo, solo en coreano: «[멷씨]» · «유월» · «스무 살» · «세 시» (4 dedos, 'nativo'). A los perfil C dales tarjetas de hora (1, 4, 11, 15), no fechas largas.
Fuente: Nueva (clave en C.16)
Lámina 24b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21:32–21:33. Tarjetas 12–16: con ellas cada alumno tiene la suya (16 en total). En la 12, modela 십육 일 [심뉴길] sin explicar la regla. Si vas atrasado, usa 10 tarjetas en vez de 16.
Fuente: Nueva (clave en C.16)
Lámina 24c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21:33–21:34, solo si sobra tiempo. Tarjetas de tiempo + verbo: con 에 en la hora y el día; sin 에 con 오늘 y 매일. A las 21:34 pasa a la consigna de salas (L25), pase lo que pase.
Fuente: Nueva (clave en C.16)
Lámina 24d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21:34–21:35. «Ahora ustedes: salas de 3, 19 minutos. Su sala está en la lámina: al abrirse, elijan la suya. Abran ahora la sección 7 de su material: el chat de la sala es otro. Ronda 1, dictado; ronda 2, reloj humano; ronda 3, encuesta de cumpleaños y edades; al final, minuto libre sin cuaderno. Les aviso cuándo cambiar. 화이팅!» A los de julio: «Si vienes de julio, eres el experto de la hora de tu sala: al empezar la ronda 2, un minuto en español sobre 세 시 삼십 분.» Abre a las 21:35 ('elegir sala' y 'volver' ON, cierre a los 19 min + 60 s); transmite mensajes a las 21:40, 21:45 y 21:51.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21:55–21:57. Primero (1 min), 3 alumnos (un A, un B y un C, el C al final) dicen una frase en coreano de algo que hoy pueden decir y ayer no (제 생일은 유월 십오 일이에요 · 일곱 시에 일어나요 · 오늘은 시월 이십팔 일이에요). Luego (1 min) los tres errores, con la forma correcta y el grupo repitiendo: «삼 시 → 세 시: la hora es nativa» · «오늘에, 매일에 → 오늘, 매일: sin 에» · «육월 → 유월; [며시] → 몇 시 [멷씨]». Ajústalos a lo que oíste en las salas.
Fuente: Nueva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21:57–21:58 (1 min). «Primero yo, despacio; después ustedes.» Tú solo, lento, con 2 segundos de pausa; el grupo repite cada frase. De aquí se recorta el clip B2_S02_frases_clave.mp3: tu versión va sola, lenta y limpia.
Fuente: Diseño B.12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21:58–21:59 (1 min 30). Comparte 20 s el Lector (Aprender 7 → botón 'Practicar números'; muestra el encabezado 'Lectura · sino-coreanos'). «Unos 30 minutos, antes de la clase 3. Uno: el Lector, Aprender 7 y después Números, rondas seguidas hasta que el encabezado diga 'nativos' tres veces y 'mezclados' tres veces; si empieza en 'sino-coreanos', sigue de largo, y tapen la línea de corrección. Captura de Progreso.» «Dos: la Hoja 2, tus datos en cifras y como se leen. Tres: un audio de 40 segundos con 5 horas de tu día, con 에. Cuatro: anota 8 cosas que haces en un día normal: son la clase 3. Todo va en el mensaje del grupo esta noche.»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(30 s). «La clase 3 abre con el quiz 2: una hora, una edad, una fecha, una respuesta con 에 y una lectura cortita de un horario.» (KO) «잘했어요! 화이팅!» Con leve inclinación: «감사합니다!» → el grupo: «감사합니다!». A las 22:00 en punto: 'Finalizar reunión para todos'.
Fuente: Nueva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o extensión (C.11, 4). Es la tarjeta de la sección 3.5 del material. Lectura en coro: primero la columna nativa y después la sino, marcando las formas cortas 한, 두, 세, 네 delante del contador.
Fuente: Nueva (base: OnePager_Numeros_Sino_vs_Nativo.pdf de julio, rehecha desde la sección 3.5 del material)
Lámina Extra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o extensión. Lectura en coro de la columna nativa de las decenas (스물, 서른, 마흔, 쉰). Recuerda: 스무 살, pero 스물한 살.
Fuente: Nueva (base: OnePager_Numeros_Sino_vs_Nativo.pdf de julio, rehecha desde la sección 3.5 del material)
Lámina Extra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o extensión. Lectura en coro de 예순 a 아흔 y de 천 · 만 · 원, solo para reconocer: «천 원 · 만 원: un billete de mil y uno de diez mil». Los nativos llegan hasta 99; desde 100, solo sino (백 살).
Fuente: Nueva (base: OnePager_Numeros_Sino_vs_Nativo.pdf de julio, rehecha desde la sección 3.5 del material)
Lámina Extra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2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2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2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Mientras llegan</a:t>
            </a:r>
            <a:r>
              <a:rPr lang="en-US" sz="1500" b="1" i="1" dirty="0">
                <a:solidFill>
                  <a:srgbClr val="8A8DA0"/>
                </a:solidFill>
              </a:rPr>
              <a:t>   While everyone joins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어떻게 지내요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잘 지내요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선생님은요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Santiago: miércoles 21:00 · 서울</a:t>
            </a:r>
            <a:r>
              <a:rPr lang="en-US" sz="2400" dirty="0">
                <a:solidFill>
                  <a:srgbClr val="14142B"/>
                </a:solidFill>
              </a:rPr>
              <a:t>: jueves 09:00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Hoy: tu edad, tu cumpleaños, tu teléfono y la hora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Ten a mano tus datos de la tarea 4 (reales o inventados)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ec3e66a7940696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2 · Números aplicados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Básico 2 (A1.2) · Números aplicados · 28 de octubre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Miércoles 28 de octubre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en-US" sz="1900" dirty="0">
                <a:solidFill>
                  <a:srgbClr val="E8B84B"/>
                </a:solidFill>
              </a:rPr>
              <a:t>Edad · cumpleaños · hora · teléfono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9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 </a:t>
            </a:r>
            <a:r>
              <a:rPr lang="en-US" sz="3000" b="1" dirty="0">
                <a:solidFill>
                  <a:srgbClr val="003478"/>
                </a:solidFill>
              </a:rPr>
              <a:t>Quiz 1</a:t>
            </a:r>
            <a:r>
              <a:rPr lang="en-US" sz="1500" b="1" i="1" dirty="0">
                <a:solidFill>
                  <a:srgbClr val="8A8DA0"/>
                </a:solidFill>
              </a:rPr>
              <a:t>   Quiz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Hasta las 21:03:30 · el chat llega solo a Jay · Responde en el chat, en una sola línea: 1… 2… 3… 4… 5…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00707" y="1965960"/>
            <a:ext cx="5268773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아니에요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000707" y="2832811"/>
            <a:ext cx="5268773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고향</a:t>
            </a:r>
            <a:r>
              <a:rPr lang="en-US" sz="2300" dirty="0">
                <a:solidFill>
                  <a:srgbClr val="14142B"/>
                </a:solidFill>
              </a:rPr>
              <a:t>___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어디예요</a:t>
            </a:r>
            <a:r>
              <a:rPr lang="en-US" sz="2300" dirty="0">
                <a:solidFill>
                  <a:srgbClr val="14142B"/>
                </a:solidFill>
              </a:rPr>
              <a:t>? —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고향</a:t>
            </a:r>
            <a:r>
              <a:rPr lang="en-US" sz="2300" dirty="0">
                <a:solidFill>
                  <a:srgbClr val="14142B"/>
                </a:solidFill>
              </a:rPr>
              <a:t>___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멕시코예요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200" b="1" dirty="0">
                <a:solidFill>
                  <a:srgbClr val="FFFFFF"/>
                </a:solidFill>
              </a:rPr>
              <a:t>/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16" name="item_img_2" descr="C:\Users\Chingu\AppData\Local\Temp\claude\C--Users-Chingu-Desktop-ACADEMIASEULWEB\d4111e1b-5523-44ea-97b2-b1a1d9545b9e\scratchpad\decks\cache\img_d7e7e3d0226a61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17950"/>
            <a:ext cx="702259" cy="70225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000707" y="3699662"/>
            <a:ext cx="5268773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(dibujo) 집에 강아지가 </a:t>
            </a:r>
            <a:r>
              <a:rPr lang="en-US" sz="2300" dirty="0">
                <a:solidFill>
                  <a:srgbClr val="14142B"/>
                </a:solidFill>
              </a:rPr>
              <a:t>______.</a:t>
            </a:r>
            <a:endParaRPr lang="en-US" sz="2300" dirty="0"/>
          </a:p>
        </p:txBody>
      </p:sp>
      <p:sp>
        <p:nvSpPr>
          <p:cNvPr id="18" name="rev_2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000707" y="4566514"/>
            <a:ext cx="5268773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칠레에 </a:t>
            </a:r>
            <a:r>
              <a:rPr lang="en-US" sz="2400" dirty="0">
                <a:solidFill>
                  <a:srgbClr val="14142B"/>
                </a:solidFill>
              </a:rPr>
              <a:t>______.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살다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23" name="rev_3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3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살아요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2000707" y="5433365"/>
            <a:ext cx="5268773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대한 이야기입니까</a:t>
            </a:r>
            <a:r>
              <a:rPr lang="en-US" sz="1500" dirty="0">
                <a:solidFill>
                  <a:srgbClr val="14142B"/>
                </a:solidFill>
              </a:rPr>
              <a:t>? 「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요리를 좋아해요</a:t>
            </a:r>
            <a:r>
              <a:rPr lang="en-US" sz="1500" dirty="0">
                <a:solidFill>
                  <a:srgbClr val="14142B"/>
                </a:solidFill>
              </a:rPr>
              <a:t>.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한국 요리를 배워요</a:t>
            </a:r>
            <a:r>
              <a:rPr lang="en-US" sz="1500" dirty="0">
                <a:solidFill>
                  <a:srgbClr val="14142B"/>
                </a:solidFill>
              </a:rPr>
              <a:t>.」 ①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 </a:t>
            </a:r>
            <a:r>
              <a:rPr lang="en-US" sz="1500" dirty="0">
                <a:solidFill>
                  <a:srgbClr val="14142B"/>
                </a:solidFill>
              </a:rPr>
              <a:t>②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</a:t>
            </a:r>
            <a:r>
              <a:rPr lang="en-US" sz="1500" dirty="0">
                <a:solidFill>
                  <a:srgbClr val="14142B"/>
                </a:solidFill>
              </a:rPr>
              <a:t>③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취미 </a:t>
            </a:r>
            <a:r>
              <a:rPr lang="en-US" sz="1500" dirty="0">
                <a:solidFill>
                  <a:srgbClr val="14142B"/>
                </a:solidFill>
              </a:rPr>
              <a:t>④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고향</a:t>
            </a:r>
            <a:endParaRPr lang="en-US" sz="1500" dirty="0"/>
          </a:p>
        </p:txBody>
      </p:sp>
      <p:sp>
        <p:nvSpPr>
          <p:cNvPr id="28" name="rev_4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4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취미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9" grpId="0" animBg="1"/>
      <p:bldP spid="24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Hoja 1: lo que vi</a:t>
            </a:r>
            <a:r>
              <a:rPr lang="en-US" sz="1500" b="1" i="1" dirty="0">
                <a:solidFill>
                  <a:srgbClr val="8A8DA0"/>
                </a:solidFill>
              </a:rPr>
              <a:t>   Worksheet 1: what I saw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Dos cosas que se repitieron (sin nombres)</a:t>
            </a:r>
            <a:endParaRPr lang="en-US" sz="18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65552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En varias hojas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Mejor así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집이에요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집에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 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강아지가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¿Qué hora es en Seúl?</a:t>
            </a:r>
            <a:r>
              <a:rPr lang="en-US" sz="1500" b="1" i="1" dirty="0">
                <a:solidFill>
                  <a:srgbClr val="8A8DA0"/>
                </a:solidFill>
              </a:rPr>
              <a:t>   What time is it in Seoul?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Corea ya es mañana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Santiago · miércoles 21:05</a:t>
            </a:r>
            <a:endParaRPr lang="en-US" sz="2000" dirty="0"/>
          </a:p>
        </p:txBody>
      </p:sp>
      <p:pic>
        <p:nvPicPr>
          <p:cNvPr id="6" name="col_img_0" descr="C:\Users\Chingu\AppData\Local\Temp\claude\C--Users-Chingu-Desktop-ACADEMIASEULWEB\d4111e1b-5523-44ea-97b2-b1a1d9545b9e\scratchpad\decks\cache\img_4b3ebda6b50c1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651760"/>
            <a:ext cx="3218688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2062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</a:t>
            </a:r>
            <a:endParaRPr lang="en-US" sz="54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5212080"/>
            <a:ext cx="5020056" cy="82296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칠레는 밤 아홉 시예요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시월 이십팔 일 수요일이에요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Seúl · jueves 09:05</a:t>
            </a:r>
            <a:endParaRPr lang="en-US" sz="2000" dirty="0"/>
          </a:p>
        </p:txBody>
      </p:sp>
      <p:pic>
        <p:nvPicPr>
          <p:cNvPr id="11" name="col_img_1" descr="C:\Users\Chingu\AppData\Local\Temp\claude\C--Users-Chingu-Desktop-ACADEMIASEULWEB\d4111e1b-5523-44ea-97b2-b1a1d9545b9e\scratchpad\decks\cache\img_38af6a8a5117e9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0" y="2651760"/>
            <a:ext cx="3218688" cy="1463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83096" y="42062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5400" dirty="0"/>
          </a:p>
        </p:txBody>
      </p:sp>
      <p:sp>
        <p:nvSpPr>
          <p:cNvPr id="13" name="lista"/>
          <p:cNvSpPr txBox="1"/>
          <p:nvPr/>
        </p:nvSpPr>
        <p:spPr>
          <a:xfrm>
            <a:off x="6437376" y="5212080"/>
            <a:ext cx="5020056" cy="82296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아침 아홉 시예요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</a:t>
            </a:r>
            <a:r>
              <a:rPr lang="en-US" sz="2000" dirty="0">
                <a:solidFill>
                  <a:srgbClr val="14142B"/>
                </a:solidFill>
              </a:rPr>
              <a:t>…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 이십구 일 목요일이에요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Dos maneras de contar</a:t>
            </a:r>
            <a:r>
              <a:rPr lang="en-US" sz="1500" b="1" i="1" dirty="0">
                <a:solidFill>
                  <a:srgbClr val="8A8DA0"/>
                </a:solidFill>
              </a:rPr>
              <a:t>   Two ways of counting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Hora = nativo · minutos = sino · edad = nativo · fecha, teléfono y precio = sino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Sino-coreanos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3600" b="1" dirty="0">
                <a:solidFill>
                  <a:srgbClr val="4236F6"/>
                </a:solidFill>
              </a:rPr>
              <a:t>· </a:t>
            </a:r>
            <a:r>
              <a:rPr lang="ko-KR" altLang="en-US" sz="3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3600" b="1" dirty="0">
                <a:solidFill>
                  <a:srgbClr val="4236F6"/>
                </a:solidFill>
              </a:rPr>
              <a:t>· </a:t>
            </a:r>
            <a:r>
              <a:rPr lang="ko-KR" altLang="en-US" sz="3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r>
              <a:rPr lang="en-US" sz="3600" b="1" dirty="0">
                <a:solidFill>
                  <a:srgbClr val="4236F6"/>
                </a:solidFill>
              </a:rPr>
              <a:t>…</a:t>
            </a:r>
            <a:endParaRPr lang="en-US" sz="36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Para leer cifras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Fecha · minutos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Teléfono · precio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Nativos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3000" b="1" dirty="0">
                <a:solidFill>
                  <a:srgbClr val="4236F6"/>
                </a:solidFill>
              </a:rPr>
              <a:t>…</a:t>
            </a:r>
            <a:endParaRPr lang="en-US" sz="30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Para contar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Hora del reloj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Años de edad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La hora mezcla los dos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 삼십 분</a:t>
            </a:r>
            <a:endParaRPr lang="en-US" sz="36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r>
              <a:rPr lang="en-US" sz="1800" dirty="0">
                <a:solidFill>
                  <a:srgbClr val="14142B"/>
                </a:solidFill>
              </a:rPr>
              <a:t>= nativo (hora)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삼십 </a:t>
            </a:r>
            <a:r>
              <a:rPr lang="en-US" sz="1800" dirty="0">
                <a:solidFill>
                  <a:srgbClr val="14142B"/>
                </a:solidFill>
              </a:rPr>
              <a:t>= sino (minutos)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= 3:30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3000" b="1" dirty="0">
                <a:solidFill>
                  <a:srgbClr val="4236F6"/>
                </a:solidFill>
              </a:rPr>
              <a:t>…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 </a:t>
            </a:r>
            <a:r>
              <a:rPr lang="en-US" sz="3000" b="1" dirty="0">
                <a:solidFill>
                  <a:srgbClr val="003478"/>
                </a:solidFill>
              </a:rPr>
              <a:t>Nativos del 1 al 10 (y hasta 19)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 11 al 19: 열 </a:t>
            </a:r>
            <a:r>
              <a:rPr lang="en-US" sz="1800" i="1" dirty="0">
                <a:solidFill>
                  <a:srgbClr val="4236F6"/>
                </a:solidFill>
              </a:rPr>
              <a:t>+ el número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여덜</a:t>
            </a:r>
            <a:r>
              <a:rPr lang="en-US" sz="1800" i="1" dirty="0">
                <a:solidFill>
                  <a:srgbClr val="4236F6"/>
                </a:solidFill>
              </a:rPr>
              <a:t>]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ile_1"/>
          <p:cNvSpPr/>
          <p:nvPr/>
        </p:nvSpPr>
        <p:spPr>
          <a:xfrm>
            <a:off x="2165822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5822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211542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ile_2"/>
          <p:cNvSpPr/>
          <p:nvPr/>
        </p:nvSpPr>
        <p:spPr>
          <a:xfrm>
            <a:off x="3783003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3003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828723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ile_3"/>
          <p:cNvSpPr/>
          <p:nvPr/>
        </p:nvSpPr>
        <p:spPr>
          <a:xfrm>
            <a:off x="5400185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0185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45905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ile_4"/>
          <p:cNvSpPr/>
          <p:nvPr/>
        </p:nvSpPr>
        <p:spPr>
          <a:xfrm>
            <a:off x="7017367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7367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063087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5</a:t>
            </a:r>
            <a:endParaRPr lang="en-US" sz="1700" dirty="0"/>
          </a:p>
        </p:txBody>
      </p:sp>
      <p:sp>
        <p:nvSpPr>
          <p:cNvPr id="19" name="tile_5"/>
          <p:cNvSpPr/>
          <p:nvPr/>
        </p:nvSpPr>
        <p:spPr>
          <a:xfrm>
            <a:off x="8634549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34549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680269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6</a:t>
            </a:r>
            <a:endParaRPr lang="en-US" sz="1700" dirty="0"/>
          </a:p>
        </p:txBody>
      </p:sp>
      <p:sp>
        <p:nvSpPr>
          <p:cNvPr id="22" name="tile_6"/>
          <p:cNvSpPr/>
          <p:nvPr/>
        </p:nvSpPr>
        <p:spPr>
          <a:xfrm>
            <a:off x="10251730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1730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0297450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7</a:t>
            </a:r>
            <a:endParaRPr lang="en-US" sz="1700" dirty="0"/>
          </a:p>
        </p:txBody>
      </p:sp>
      <p:sp>
        <p:nvSpPr>
          <p:cNvPr id="25" name="tile_7"/>
          <p:cNvSpPr/>
          <p:nvPr/>
        </p:nvSpPr>
        <p:spPr>
          <a:xfrm>
            <a:off x="1357231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57231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1402951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8</a:t>
            </a:r>
            <a:endParaRPr lang="en-US" sz="1700" dirty="0"/>
          </a:p>
        </p:txBody>
      </p:sp>
      <p:sp>
        <p:nvSpPr>
          <p:cNvPr id="28" name="tile_8"/>
          <p:cNvSpPr/>
          <p:nvPr/>
        </p:nvSpPr>
        <p:spPr>
          <a:xfrm>
            <a:off x="2974413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74413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3020133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9</a:t>
            </a:r>
            <a:endParaRPr lang="en-US" sz="1700" dirty="0"/>
          </a:p>
        </p:txBody>
      </p:sp>
      <p:sp>
        <p:nvSpPr>
          <p:cNvPr id="31" name="tile_9"/>
          <p:cNvSpPr/>
          <p:nvPr/>
        </p:nvSpPr>
        <p:spPr>
          <a:xfrm>
            <a:off x="4591594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1594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4637314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10</a:t>
            </a:r>
            <a:endParaRPr lang="en-US" sz="1700" dirty="0"/>
          </a:p>
        </p:txBody>
      </p:sp>
      <p:sp>
        <p:nvSpPr>
          <p:cNvPr id="34" name="tile_10"/>
          <p:cNvSpPr/>
          <p:nvPr/>
        </p:nvSpPr>
        <p:spPr>
          <a:xfrm>
            <a:off x="6208776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08776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열하나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254496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11</a:t>
            </a:r>
            <a:endParaRPr lang="en-US" sz="1700" dirty="0"/>
          </a:p>
        </p:txBody>
      </p:sp>
      <p:sp>
        <p:nvSpPr>
          <p:cNvPr id="37" name="tile_11"/>
          <p:cNvSpPr/>
          <p:nvPr/>
        </p:nvSpPr>
        <p:spPr>
          <a:xfrm>
            <a:off x="7825958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25958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열둘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7871678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12</a:t>
            </a:r>
            <a:endParaRPr lang="en-US" sz="1700" dirty="0"/>
          </a:p>
        </p:txBody>
      </p:sp>
      <p:sp>
        <p:nvSpPr>
          <p:cNvPr id="40" name="tile_12"/>
          <p:cNvSpPr/>
          <p:nvPr/>
        </p:nvSpPr>
        <p:spPr>
          <a:xfrm>
            <a:off x="9443139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43139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열아홉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9488859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19</a:t>
            </a:r>
            <a:endParaRPr lang="en-US" sz="17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 </a:t>
            </a:r>
            <a:r>
              <a:rPr lang="en-US" sz="3000" b="1" dirty="0">
                <a:solidFill>
                  <a:srgbClr val="003478"/>
                </a:solidFill>
              </a:rPr>
              <a:t>'Uno' → 'un'</a:t>
            </a:r>
            <a:r>
              <a:rPr lang="en-US" sz="1500" b="1" i="1" dirty="0">
                <a:solidFill>
                  <a:srgbClr val="8A8DA0"/>
                </a:solidFill>
              </a:rPr>
              <a:t>   'One' becomes 'a'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en español: un año, veintiún años · el resto no cambia: 다섯 시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</a:t>
            </a:r>
            <a:endParaRPr lang="en-US" sz="1800" dirty="0"/>
          </a:p>
        </p:txBody>
      </p:sp>
      <p:graphicFrame>
        <p:nvGraphicFramePr>
          <p:cNvPr id="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18037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Número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Delante de 살 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o 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 시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 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(2)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 시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스물두 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(3)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 시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서른세 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넷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(4)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 시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마흔네 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스물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(20)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스무 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(pero 21 =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스물한 살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hora es?</a:t>
            </a:r>
            <a:r>
              <a:rPr lang="en-US" sz="1500" b="1" i="1" dirty="0">
                <a:solidFill>
                  <a:srgbClr val="8A8DA0"/>
                </a:solidFill>
              </a:rPr>
              <a:t>   What time is it?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a2642c762ac65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멷씨</a:t>
            </a:r>
            <a:r>
              <a:rPr lang="en-US" sz="1800" i="1" dirty="0">
                <a:solidFill>
                  <a:srgbClr val="4236F6"/>
                </a:solidFill>
              </a:rPr>
              <a:t>] · la hora, siempre con nativos</a:t>
            </a:r>
            <a:endParaRPr lang="en-US" sz="1800" dirty="0"/>
          </a:p>
        </p:txBody>
      </p:sp>
      <p:sp>
        <p:nvSpPr>
          <p:cNvPr id="5" name="tile_0"/>
          <p:cNvSpPr/>
          <p:nvPr/>
        </p:nvSpPr>
        <p:spPr>
          <a:xfrm>
            <a:off x="548640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시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1:00</a:t>
            </a:r>
            <a:endParaRPr lang="en-US" sz="1200" dirty="0"/>
          </a:p>
        </p:txBody>
      </p:sp>
      <p:sp>
        <p:nvSpPr>
          <p:cNvPr id="8" name="tile_1"/>
          <p:cNvSpPr/>
          <p:nvPr/>
        </p:nvSpPr>
        <p:spPr>
          <a:xfrm>
            <a:off x="2338578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38578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시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2384298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2:00</a:t>
            </a:r>
            <a:endParaRPr lang="en-US" sz="1200" dirty="0"/>
          </a:p>
        </p:txBody>
      </p:sp>
      <p:sp>
        <p:nvSpPr>
          <p:cNvPr id="11" name="tile_2"/>
          <p:cNvSpPr/>
          <p:nvPr/>
        </p:nvSpPr>
        <p:spPr>
          <a:xfrm>
            <a:off x="4128516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28516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4174236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3:00</a:t>
            </a:r>
            <a:endParaRPr lang="en-US" sz="1200" dirty="0"/>
          </a:p>
        </p:txBody>
      </p:sp>
      <p:sp>
        <p:nvSpPr>
          <p:cNvPr id="14" name="tile_3"/>
          <p:cNvSpPr/>
          <p:nvPr/>
        </p:nvSpPr>
        <p:spPr>
          <a:xfrm>
            <a:off x="5918454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18454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시</a:t>
            </a:r>
            <a:endParaRPr lang="en-US" sz="3100" dirty="0"/>
          </a:p>
        </p:txBody>
      </p:sp>
      <p:sp>
        <p:nvSpPr>
          <p:cNvPr id="16" name="Text 13"/>
          <p:cNvSpPr txBox="1"/>
          <p:nvPr/>
        </p:nvSpPr>
        <p:spPr>
          <a:xfrm>
            <a:off x="5964174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4:00</a:t>
            </a:r>
            <a:endParaRPr lang="en-US" sz="1200" dirty="0"/>
          </a:p>
        </p:txBody>
      </p:sp>
      <p:sp>
        <p:nvSpPr>
          <p:cNvPr id="17" name="tile_4"/>
          <p:cNvSpPr/>
          <p:nvPr/>
        </p:nvSpPr>
        <p:spPr>
          <a:xfrm>
            <a:off x="548640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시</a:t>
            </a:r>
            <a:endParaRPr lang="en-US" sz="3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5:00</a:t>
            </a:r>
            <a:endParaRPr lang="en-US" sz="1200" dirty="0"/>
          </a:p>
        </p:txBody>
      </p:sp>
      <p:sp>
        <p:nvSpPr>
          <p:cNvPr id="20" name="tile_5"/>
          <p:cNvSpPr/>
          <p:nvPr/>
        </p:nvSpPr>
        <p:spPr>
          <a:xfrm>
            <a:off x="2338578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38578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시</a:t>
            </a:r>
            <a:endParaRPr lang="en-US" sz="3100" dirty="0"/>
          </a:p>
        </p:txBody>
      </p:sp>
      <p:sp>
        <p:nvSpPr>
          <p:cNvPr id="22" name="Text 19"/>
          <p:cNvSpPr txBox="1"/>
          <p:nvPr/>
        </p:nvSpPr>
        <p:spPr>
          <a:xfrm>
            <a:off x="2384298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6:00</a:t>
            </a:r>
            <a:endParaRPr lang="en-US" sz="1200" dirty="0"/>
          </a:p>
        </p:txBody>
      </p:sp>
      <p:sp>
        <p:nvSpPr>
          <p:cNvPr id="23" name="tile_6"/>
          <p:cNvSpPr/>
          <p:nvPr/>
        </p:nvSpPr>
        <p:spPr>
          <a:xfrm>
            <a:off x="4128516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28516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</a:t>
            </a:r>
            <a:endParaRPr lang="en-US" sz="3100" dirty="0"/>
          </a:p>
        </p:txBody>
      </p:sp>
      <p:sp>
        <p:nvSpPr>
          <p:cNvPr id="25" name="Text 22"/>
          <p:cNvSpPr txBox="1"/>
          <p:nvPr/>
        </p:nvSpPr>
        <p:spPr>
          <a:xfrm>
            <a:off x="4174236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7:00</a:t>
            </a:r>
            <a:endParaRPr lang="en-US" sz="1200" dirty="0"/>
          </a:p>
        </p:txBody>
      </p:sp>
      <p:sp>
        <p:nvSpPr>
          <p:cNvPr id="26" name="tile_7"/>
          <p:cNvSpPr/>
          <p:nvPr/>
        </p:nvSpPr>
        <p:spPr>
          <a:xfrm>
            <a:off x="5918454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18454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 시</a:t>
            </a:r>
            <a:endParaRPr lang="en-US" sz="3100" dirty="0"/>
          </a:p>
        </p:txBody>
      </p:sp>
      <p:sp>
        <p:nvSpPr>
          <p:cNvPr id="28" name="Text 25"/>
          <p:cNvSpPr txBox="1"/>
          <p:nvPr/>
        </p:nvSpPr>
        <p:spPr>
          <a:xfrm>
            <a:off x="5964174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8:00</a:t>
            </a:r>
            <a:endParaRPr lang="en-US" sz="1200" dirty="0"/>
          </a:p>
        </p:txBody>
      </p:sp>
      <p:sp>
        <p:nvSpPr>
          <p:cNvPr id="29" name="tile_8"/>
          <p:cNvSpPr/>
          <p:nvPr/>
        </p:nvSpPr>
        <p:spPr>
          <a:xfrm>
            <a:off x="548640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</a:t>
            </a:r>
            <a:endParaRPr lang="en-US" sz="31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9:00</a:t>
            </a:r>
            <a:endParaRPr lang="en-US" sz="1200" dirty="0"/>
          </a:p>
        </p:txBody>
      </p:sp>
      <p:sp>
        <p:nvSpPr>
          <p:cNvPr id="32" name="tile_9"/>
          <p:cNvSpPr/>
          <p:nvPr/>
        </p:nvSpPr>
        <p:spPr>
          <a:xfrm>
            <a:off x="2338578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38578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 시</a:t>
            </a:r>
            <a:endParaRPr lang="en-US" sz="3100" dirty="0"/>
          </a:p>
        </p:txBody>
      </p:sp>
      <p:sp>
        <p:nvSpPr>
          <p:cNvPr id="34" name="Text 31"/>
          <p:cNvSpPr txBox="1"/>
          <p:nvPr/>
        </p:nvSpPr>
        <p:spPr>
          <a:xfrm>
            <a:off x="2384298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10:00</a:t>
            </a:r>
            <a:endParaRPr lang="en-US" sz="1200" dirty="0"/>
          </a:p>
        </p:txBody>
      </p:sp>
      <p:sp>
        <p:nvSpPr>
          <p:cNvPr id="35" name="tile_10"/>
          <p:cNvSpPr/>
          <p:nvPr/>
        </p:nvSpPr>
        <p:spPr>
          <a:xfrm>
            <a:off x="4128516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28516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시</a:t>
            </a:r>
            <a:endParaRPr lang="en-US" sz="3100" dirty="0"/>
          </a:p>
        </p:txBody>
      </p:sp>
      <p:sp>
        <p:nvSpPr>
          <p:cNvPr id="37" name="Text 34"/>
          <p:cNvSpPr txBox="1"/>
          <p:nvPr/>
        </p:nvSpPr>
        <p:spPr>
          <a:xfrm>
            <a:off x="4174236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11:00</a:t>
            </a:r>
            <a:endParaRPr lang="en-US" sz="1200" dirty="0"/>
          </a:p>
        </p:txBody>
      </p:sp>
      <p:sp>
        <p:nvSpPr>
          <p:cNvPr id="38" name="tile_11"/>
          <p:cNvSpPr/>
          <p:nvPr/>
        </p:nvSpPr>
        <p:spPr>
          <a:xfrm>
            <a:off x="5918454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18454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열두 시</a:t>
            </a:r>
            <a:endParaRPr lang="en-US" sz="3100" dirty="0"/>
          </a:p>
        </p:txBody>
      </p:sp>
      <p:sp>
        <p:nvSpPr>
          <p:cNvPr id="40" name="Text 37"/>
          <p:cNvSpPr txBox="1"/>
          <p:nvPr/>
        </p:nvSpPr>
        <p:spPr>
          <a:xfrm>
            <a:off x="5964174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12:00</a:t>
            </a:r>
            <a:endParaRPr lang="en-US" sz="12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¿Cuántos años tienes?</a:t>
            </a:r>
            <a:r>
              <a:rPr lang="en-US" sz="1500" b="1" i="1" dirty="0">
                <a:solidFill>
                  <a:srgbClr val="8A8DA0"/>
                </a:solidFill>
              </a:rPr>
              <a:t>   How old are you?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ed23416044732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edad: real o inventada · 제 강아지는 세 살이에요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5" name="tile_0"/>
          <p:cNvSpPr/>
          <p:nvPr/>
        </p:nvSpPr>
        <p:spPr>
          <a:xfrm>
            <a:off x="548640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20</a:t>
            </a:r>
            <a:endParaRPr lang="en-US" sz="1200" dirty="0"/>
          </a:p>
        </p:txBody>
      </p:sp>
      <p:sp>
        <p:nvSpPr>
          <p:cNvPr id="8" name="tile_1"/>
          <p:cNvSpPr/>
          <p:nvPr/>
        </p:nvSpPr>
        <p:spPr>
          <a:xfrm>
            <a:off x="2338578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38578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384298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30</a:t>
            </a:r>
            <a:endParaRPr lang="en-US" sz="1200" dirty="0"/>
          </a:p>
        </p:txBody>
      </p:sp>
      <p:sp>
        <p:nvSpPr>
          <p:cNvPr id="11" name="tile_2"/>
          <p:cNvSpPr/>
          <p:nvPr/>
        </p:nvSpPr>
        <p:spPr>
          <a:xfrm>
            <a:off x="4128516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28516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마흔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174236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40</a:t>
            </a:r>
            <a:endParaRPr lang="en-US" sz="1200" dirty="0"/>
          </a:p>
        </p:txBody>
      </p:sp>
      <p:sp>
        <p:nvSpPr>
          <p:cNvPr id="14" name="tile_3"/>
          <p:cNvSpPr/>
          <p:nvPr/>
        </p:nvSpPr>
        <p:spPr>
          <a:xfrm>
            <a:off x="5918454" y="187452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18454" y="194767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쉰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964174" y="269382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50</a:t>
            </a:r>
            <a:endParaRPr lang="en-US" sz="1200" dirty="0"/>
          </a:p>
        </p:txBody>
      </p:sp>
      <p:sp>
        <p:nvSpPr>
          <p:cNvPr id="17" name="tile_4"/>
          <p:cNvSpPr/>
          <p:nvPr/>
        </p:nvSpPr>
        <p:spPr>
          <a:xfrm>
            <a:off x="548640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예순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60</a:t>
            </a:r>
            <a:endParaRPr lang="en-US" sz="1200" dirty="0"/>
          </a:p>
        </p:txBody>
      </p:sp>
      <p:sp>
        <p:nvSpPr>
          <p:cNvPr id="20" name="tile_5"/>
          <p:cNvSpPr/>
          <p:nvPr/>
        </p:nvSpPr>
        <p:spPr>
          <a:xfrm>
            <a:off x="2338578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38578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일흔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2384298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70</a:t>
            </a:r>
            <a:endParaRPr lang="en-US" sz="1200" dirty="0"/>
          </a:p>
        </p:txBody>
      </p:sp>
      <p:sp>
        <p:nvSpPr>
          <p:cNvPr id="23" name="tile_6"/>
          <p:cNvSpPr/>
          <p:nvPr/>
        </p:nvSpPr>
        <p:spPr>
          <a:xfrm>
            <a:off x="4128516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28516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여든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4174236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80</a:t>
            </a:r>
            <a:endParaRPr lang="en-US" sz="1200" dirty="0"/>
          </a:p>
        </p:txBody>
      </p:sp>
      <p:sp>
        <p:nvSpPr>
          <p:cNvPr id="26" name="tile_7"/>
          <p:cNvSpPr/>
          <p:nvPr/>
        </p:nvSpPr>
        <p:spPr>
          <a:xfrm>
            <a:off x="5918454" y="338328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18454" y="345643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아흔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5964174" y="420258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90</a:t>
            </a:r>
            <a:endParaRPr lang="en-US" sz="1200" dirty="0"/>
          </a:p>
        </p:txBody>
      </p:sp>
      <p:sp>
        <p:nvSpPr>
          <p:cNvPr id="29" name="tile_8"/>
          <p:cNvSpPr/>
          <p:nvPr/>
        </p:nvSpPr>
        <p:spPr>
          <a:xfrm>
            <a:off x="1443609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43609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 살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1489329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20 años</a:t>
            </a:r>
            <a:endParaRPr lang="en-US" sz="1200" dirty="0"/>
          </a:p>
        </p:txBody>
      </p:sp>
      <p:sp>
        <p:nvSpPr>
          <p:cNvPr id="32" name="tile_9"/>
          <p:cNvSpPr/>
          <p:nvPr/>
        </p:nvSpPr>
        <p:spPr>
          <a:xfrm>
            <a:off x="3233547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33547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3279267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25 años</a:t>
            </a:r>
            <a:endParaRPr lang="en-US" sz="1200" dirty="0"/>
          </a:p>
        </p:txBody>
      </p:sp>
      <p:sp>
        <p:nvSpPr>
          <p:cNvPr id="35" name="tile_10"/>
          <p:cNvSpPr/>
          <p:nvPr/>
        </p:nvSpPr>
        <p:spPr>
          <a:xfrm>
            <a:off x="5023485" y="4892040"/>
            <a:ext cx="1561338" cy="1280160"/>
          </a:xfrm>
          <a:prstGeom prst="roundRect">
            <a:avLst>
              <a:gd name="adj" fmla="val 10714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3485" y="4965192"/>
            <a:ext cx="1561338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서른한 살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5069205" y="5711342"/>
            <a:ext cx="1469898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200" dirty="0">
                <a:solidFill>
                  <a:srgbClr val="5C5F6B"/>
                </a:solidFill>
              </a:rPr>
              <a:t>31 años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turno</a:t>
            </a:r>
            <a:r>
              <a:rPr lang="en-US" sz="1500" b="1" i="1" dirty="0">
                <a:solidFill>
                  <a:srgbClr val="8A8DA0"/>
                </a:solidFill>
              </a:rPr>
              <a:t>   Your turn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hora y la edad, con nativos · 몇 시예요</a:t>
            </a:r>
            <a:r>
              <a:rPr lang="en-US" sz="1800" i="1" dirty="0">
                <a:solidFill>
                  <a:srgbClr val="4236F6"/>
                </a:solidFill>
              </a:rPr>
              <a:t>?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21513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151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6" name="item_img_0" descr="C:\Users\Chingu\AppData\Local\Temp\claude\C--Users-Chingu-Desktop-ACADEMIASEULWEB\d4111e1b-5523-44ea-97b2-b1a1d9545b9e\scratchpad\decks\cache\img_a58c50f703ed10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86534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12848" y="1965960"/>
            <a:ext cx="426110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 · 몇 시예요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8" name="rev_5_caja"/>
          <p:cNvSpPr/>
          <p:nvPr/>
        </p:nvSpPr>
        <p:spPr>
          <a:xfrm>
            <a:off x="6702552" y="2002536"/>
            <a:ext cx="4937760" cy="882396"/>
          </a:xfrm>
          <a:prstGeom prst="roundRect">
            <a:avLst>
              <a:gd name="adj" fmla="val 12435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6793992" y="2002536"/>
            <a:ext cx="475488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시예요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329869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986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2" name="item_img_1" descr="C:\Users\Chingu\AppData\Local\Temp\claude\C--Users-Chingu-Desktop-ACADEMIASEULWEB\d4111e1b-5523-44ea-97b2-b1a1d9545b9e\scratchpad\decks\cache\img_0fbebb8ebc297c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070098"/>
            <a:ext cx="914400" cy="914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12848" y="3049524"/>
            <a:ext cx="426110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 · 몇 시예요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4" name="rev_6_caja"/>
          <p:cNvSpPr/>
          <p:nvPr/>
        </p:nvSpPr>
        <p:spPr>
          <a:xfrm>
            <a:off x="6702552" y="3086100"/>
            <a:ext cx="4937760" cy="882396"/>
          </a:xfrm>
          <a:prstGeom prst="roundRect">
            <a:avLst>
              <a:gd name="adj" fmla="val 12435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5" name="rev_6_txt"/>
          <p:cNvSpPr txBox="1"/>
          <p:nvPr/>
        </p:nvSpPr>
        <p:spPr>
          <a:xfrm>
            <a:off x="6793992" y="3086100"/>
            <a:ext cx="475488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시예요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6" name="num_2"/>
          <p:cNvSpPr/>
          <p:nvPr/>
        </p:nvSpPr>
        <p:spPr>
          <a:xfrm>
            <a:off x="548640" y="438226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382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18" name="item_img_2" descr="C:\Users\Chingu\AppData\Local\Temp\claude\C--Users-Chingu-Desktop-ACADEMIASEULWEB\d4111e1b-5523-44ea-97b2-b1a1d9545b9e\scratchpad\decks\cache\img_0668c7a115ab87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153662"/>
            <a:ext cx="914400" cy="9144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12848" y="4133088"/>
            <a:ext cx="426110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7:00 · 몇 시예요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0" name="rev_7_caja"/>
          <p:cNvSpPr/>
          <p:nvPr/>
        </p:nvSpPr>
        <p:spPr>
          <a:xfrm>
            <a:off x="6702552" y="4169664"/>
            <a:ext cx="4937760" cy="882396"/>
          </a:xfrm>
          <a:prstGeom prst="roundRect">
            <a:avLst>
              <a:gd name="adj" fmla="val 12435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1" name="rev_7_txt"/>
          <p:cNvSpPr txBox="1"/>
          <p:nvPr/>
        </p:nvSpPr>
        <p:spPr>
          <a:xfrm>
            <a:off x="6793992" y="4169664"/>
            <a:ext cx="475488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시예요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2" name="num_3"/>
          <p:cNvSpPr/>
          <p:nvPr/>
        </p:nvSpPr>
        <p:spPr>
          <a:xfrm>
            <a:off x="548640" y="546582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54658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2212848" y="5216652"/>
            <a:ext cx="426110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5" name="rev_8_caja"/>
          <p:cNvSpPr/>
          <p:nvPr/>
        </p:nvSpPr>
        <p:spPr>
          <a:xfrm>
            <a:off x="6702552" y="5253228"/>
            <a:ext cx="4937760" cy="882396"/>
          </a:xfrm>
          <a:prstGeom prst="roundRect">
            <a:avLst>
              <a:gd name="adj" fmla="val 12435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6" name="rev_8_txt"/>
          <p:cNvSpPr txBox="1"/>
          <p:nvPr/>
        </p:nvSpPr>
        <p:spPr>
          <a:xfrm>
            <a:off x="6793992" y="5253228"/>
            <a:ext cx="475488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살이에요</a:t>
            </a:r>
            <a:r>
              <a:rPr lang="en-US" sz="2200" b="1" dirty="0">
                <a:solidFill>
                  <a:srgbClr val="FFFFFF"/>
                </a:solidFill>
              </a:rPr>
              <a:t>. 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 살 </a:t>
            </a:r>
            <a:r>
              <a:rPr lang="en-US" sz="2200" b="1" dirty="0">
                <a:solidFill>
                  <a:srgbClr val="FFFFFF"/>
                </a:solidFill>
              </a:rPr>
              <a:t>·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 </a:t>
            </a:r>
            <a:r>
              <a:rPr lang="en-US" sz="2200" b="1" dirty="0">
                <a:solidFill>
                  <a:srgbClr val="FFFFFF"/>
                </a:solidFill>
              </a:rPr>
              <a:t>·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서른한 살</a:t>
            </a:r>
            <a:r>
              <a:rPr lang="en-US" sz="2200" b="1" dirty="0">
                <a:solidFill>
                  <a:srgbClr val="FFFFFF"/>
                </a:solidFill>
              </a:rPr>
              <a:t>…)</a:t>
            </a:r>
            <a:endParaRPr lang="en-US" sz="2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일월 </a:t>
            </a:r>
            <a:r>
              <a:rPr lang="en-US" sz="3000" b="1" dirty="0">
                <a:solidFill>
                  <a:srgbClr val="4236F6"/>
                </a:solidFill>
              </a:rPr>
              <a:t>…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십이월  </a:t>
            </a:r>
            <a:r>
              <a:rPr lang="en-US" sz="3000" b="1" dirty="0">
                <a:solidFill>
                  <a:srgbClr val="003478"/>
                </a:solidFill>
              </a:rPr>
              <a:t>Los 12 meses</a:t>
            </a:r>
            <a:r>
              <a:rPr lang="en-US" sz="1500" b="1" i="1" dirty="0">
                <a:solidFill>
                  <a:srgbClr val="8A8DA0"/>
                </a:solidFill>
              </a:rPr>
              <a:t>   The 12 months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</a:t>
            </a:r>
            <a:r>
              <a:rPr lang="en-US" sz="1800" i="1" dirty="0">
                <a:solidFill>
                  <a:srgbClr val="4236F6"/>
                </a:solidFill>
              </a:rPr>
              <a:t>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유월 </a:t>
            </a:r>
            <a:r>
              <a:rPr lang="en-US" sz="1800" i="1" dirty="0">
                <a:solidFill>
                  <a:srgbClr val="4236F6"/>
                </a:solidFill>
              </a:rPr>
              <a:t>· 10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sz="1800" i="1" dirty="0">
                <a:solidFill>
                  <a:srgbClr val="4236F6"/>
                </a:solidFill>
              </a:rPr>
              <a:t>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연음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일월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이뤌</a:t>
            </a:r>
            <a:r>
              <a:rPr lang="en-US" sz="1800" i="1" dirty="0">
                <a:solidFill>
                  <a:srgbClr val="4236F6"/>
                </a:solidFill>
              </a:rPr>
              <a:t>]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삼월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사뭘</a:t>
            </a:r>
            <a:r>
              <a:rPr lang="en-US" sz="1800" i="1" dirty="0">
                <a:solidFill>
                  <a:srgbClr val="4236F6"/>
                </a:solidFill>
              </a:rPr>
              <a:t>]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enero</a:t>
            </a:r>
            <a:endParaRPr lang="en-US" sz="1700" dirty="0"/>
          </a:p>
        </p:txBody>
      </p:sp>
      <p:sp>
        <p:nvSpPr>
          <p:cNvPr id="7" name="tile_1"/>
          <p:cNvSpPr/>
          <p:nvPr/>
        </p:nvSpPr>
        <p:spPr>
          <a:xfrm>
            <a:off x="2165822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5822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이월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211542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febrero</a:t>
            </a:r>
            <a:endParaRPr lang="en-US" sz="1700" dirty="0"/>
          </a:p>
        </p:txBody>
      </p:sp>
      <p:sp>
        <p:nvSpPr>
          <p:cNvPr id="10" name="tile_2"/>
          <p:cNvSpPr/>
          <p:nvPr/>
        </p:nvSpPr>
        <p:spPr>
          <a:xfrm>
            <a:off x="3783003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3003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삼월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828723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marzo</a:t>
            </a:r>
            <a:endParaRPr lang="en-US" sz="1700" dirty="0"/>
          </a:p>
        </p:txBody>
      </p:sp>
      <p:sp>
        <p:nvSpPr>
          <p:cNvPr id="13" name="tile_3"/>
          <p:cNvSpPr/>
          <p:nvPr/>
        </p:nvSpPr>
        <p:spPr>
          <a:xfrm>
            <a:off x="5400185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0185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사월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45905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abril</a:t>
            </a:r>
            <a:endParaRPr lang="en-US" sz="1700" dirty="0"/>
          </a:p>
        </p:txBody>
      </p:sp>
      <p:sp>
        <p:nvSpPr>
          <p:cNvPr id="16" name="tile_4"/>
          <p:cNvSpPr/>
          <p:nvPr/>
        </p:nvSpPr>
        <p:spPr>
          <a:xfrm>
            <a:off x="7017367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7367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오월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063087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mayo</a:t>
            </a:r>
            <a:endParaRPr lang="en-US" sz="1700" dirty="0"/>
          </a:p>
        </p:txBody>
      </p:sp>
      <p:sp>
        <p:nvSpPr>
          <p:cNvPr id="19" name="tile_5"/>
          <p:cNvSpPr/>
          <p:nvPr/>
        </p:nvSpPr>
        <p:spPr>
          <a:xfrm>
            <a:off x="8634549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34549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유월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680269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junio (no 육월</a:t>
            </a:r>
            <a:r>
              <a:rPr lang="en-US" sz="1700" dirty="0">
                <a:solidFill>
                  <a:srgbClr val="5C5F6B"/>
                </a:solidFill>
              </a:rPr>
              <a:t>)</a:t>
            </a:r>
            <a:endParaRPr lang="en-US" sz="1700" dirty="0"/>
          </a:p>
        </p:txBody>
      </p:sp>
      <p:sp>
        <p:nvSpPr>
          <p:cNvPr id="22" name="tile_6"/>
          <p:cNvSpPr/>
          <p:nvPr/>
        </p:nvSpPr>
        <p:spPr>
          <a:xfrm>
            <a:off x="10251730" y="187452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1730" y="194767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칠월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0297450" y="317662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julio</a:t>
            </a:r>
            <a:endParaRPr lang="en-US" sz="1700" dirty="0"/>
          </a:p>
        </p:txBody>
      </p:sp>
      <p:sp>
        <p:nvSpPr>
          <p:cNvPr id="25" name="tile_7"/>
          <p:cNvSpPr/>
          <p:nvPr/>
        </p:nvSpPr>
        <p:spPr>
          <a:xfrm>
            <a:off x="2165822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65822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팔월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2211542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agosto</a:t>
            </a:r>
            <a:endParaRPr lang="en-US" sz="1700" dirty="0"/>
          </a:p>
        </p:txBody>
      </p:sp>
      <p:sp>
        <p:nvSpPr>
          <p:cNvPr id="28" name="tile_8"/>
          <p:cNvSpPr/>
          <p:nvPr/>
        </p:nvSpPr>
        <p:spPr>
          <a:xfrm>
            <a:off x="3783003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83003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구월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3828723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septiembre</a:t>
            </a:r>
            <a:endParaRPr lang="en-US" sz="1700" dirty="0"/>
          </a:p>
        </p:txBody>
      </p:sp>
      <p:sp>
        <p:nvSpPr>
          <p:cNvPr id="31" name="tile_9"/>
          <p:cNvSpPr/>
          <p:nvPr/>
        </p:nvSpPr>
        <p:spPr>
          <a:xfrm>
            <a:off x="5400185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00185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5445905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octubre (no 십월</a:t>
            </a:r>
            <a:r>
              <a:rPr lang="en-US" sz="1700" dirty="0">
                <a:solidFill>
                  <a:srgbClr val="5C5F6B"/>
                </a:solidFill>
              </a:rPr>
              <a:t>)</a:t>
            </a:r>
            <a:endParaRPr lang="en-US" sz="1700" dirty="0"/>
          </a:p>
        </p:txBody>
      </p:sp>
      <p:sp>
        <p:nvSpPr>
          <p:cNvPr id="34" name="tile_10"/>
          <p:cNvSpPr/>
          <p:nvPr/>
        </p:nvSpPr>
        <p:spPr>
          <a:xfrm>
            <a:off x="7017367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17367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십일월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7063087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noviembre</a:t>
            </a:r>
            <a:endParaRPr lang="en-US" sz="1700" dirty="0"/>
          </a:p>
        </p:txBody>
      </p:sp>
      <p:sp>
        <p:nvSpPr>
          <p:cNvPr id="37" name="tile_11"/>
          <p:cNvSpPr/>
          <p:nvPr/>
        </p:nvSpPr>
        <p:spPr>
          <a:xfrm>
            <a:off x="8634549" y="4137660"/>
            <a:ext cx="1388582" cy="2034540"/>
          </a:xfrm>
          <a:prstGeom prst="roundRect">
            <a:avLst>
              <a:gd name="adj" fmla="val 9878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34549" y="4210812"/>
            <a:ext cx="1388582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십이월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8680269" y="5439766"/>
            <a:ext cx="129714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diciembre</a:t>
            </a:r>
            <a:endParaRPr lang="en-US" sz="1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 </a:t>
            </a:r>
            <a:r>
              <a:rPr lang="en-US" sz="2200" b="1" dirty="0">
                <a:solidFill>
                  <a:srgbClr val="003478"/>
                </a:solidFill>
              </a:rPr>
              <a:t>La fecha: de lo grande a lo chico</a:t>
            </a:r>
            <a:r>
              <a:rPr lang="en-US" sz="1500" b="1" i="1" dirty="0">
                <a:solidFill>
                  <a:srgbClr val="8A8DA0"/>
                </a:solidFill>
              </a:rPr>
              <a:t>   Dates: from big to small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Como una dirección: año → mes → día → día de la semana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miércoles 28 de octubre de 2026 = 2026년 </a:t>
            </a:r>
            <a:r>
              <a:rPr lang="en-US" sz="2400" dirty="0">
                <a:solidFill>
                  <a:srgbClr val="14142B"/>
                </a:solidFill>
              </a:rPr>
              <a:t>10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sz="2400" dirty="0">
                <a:solidFill>
                  <a:srgbClr val="14142B"/>
                </a:solidFill>
              </a:rPr>
              <a:t>28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수요일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escribe 10월 </a:t>
            </a:r>
            <a:r>
              <a:rPr lang="en-US" sz="2400" dirty="0">
                <a:solidFill>
                  <a:srgbClr val="14142B"/>
                </a:solidFill>
              </a:rPr>
              <a:t>28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2400" dirty="0">
                <a:solidFill>
                  <a:srgbClr val="14142B"/>
                </a:solidFill>
              </a:rPr>
              <a:t>· se lee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 이십팔 일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생일이 언제예요</a:t>
            </a:r>
            <a:r>
              <a:rPr lang="en-US" sz="2400" dirty="0">
                <a:solidFill>
                  <a:srgbClr val="14142B"/>
                </a:solidFill>
              </a:rPr>
              <a:t>? = ¿Cuándo es tu cumpleaños?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며칠이에요</a:t>
            </a:r>
            <a:r>
              <a:rPr lang="en-US" sz="2400" dirty="0">
                <a:solidFill>
                  <a:srgbClr val="14142B"/>
                </a:solidFill>
              </a:rPr>
              <a:t>? = ¿Qué día es hoy? (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</a:t>
            </a:r>
            <a:r>
              <a:rPr lang="en-US" sz="2400" dirty="0">
                <a:solidFill>
                  <a:srgbClr val="14142B"/>
                </a:solidFill>
              </a:rPr>
              <a:t>, nunca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일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생일은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일이에요</a:t>
            </a:r>
            <a:r>
              <a:rPr lang="en-US" sz="2400" dirty="0">
                <a:solidFill>
                  <a:srgbClr val="14142B"/>
                </a:solidFill>
              </a:rPr>
              <a:t>. (el de Jay)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</a:t>
            </a:r>
            <a:endParaRPr lang="en-US" sz="8100" dirty="0"/>
          </a:p>
          <a:p>
            <a:pPr marL="0" indent="0" algn="ctr" eaLnBrk="1">
              <a:buNone/>
            </a:pPr>
            <a:r>
              <a:rPr lang="ko-KR" altLang="en-US" sz="8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언제</a:t>
            </a:r>
            <a:endParaRPr lang="en-US" sz="8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  </a:t>
            </a:r>
            <a:r>
              <a:rPr lang="en-US" sz="3000" b="1" dirty="0">
                <a:solidFill>
                  <a:srgbClr val="003478"/>
                </a:solidFill>
              </a:rPr>
              <a:t>Los días son planetas</a:t>
            </a:r>
            <a:r>
              <a:rPr lang="en-US" sz="1500" b="1" i="1" dirty="0">
                <a:solidFill>
                  <a:srgbClr val="8A8DA0"/>
                </a:solidFill>
              </a:rPr>
              <a:t>   The days are planets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Los mismos siete astros que en español</a:t>
            </a:r>
            <a:endParaRPr lang="en-US" sz="1800" dirty="0"/>
          </a:p>
        </p:txBody>
      </p:sp>
      <p:graphicFrame>
        <p:nvGraphicFramePr>
          <p:cNvPr id="1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6800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Astro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luna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lunes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fuego (Marte)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martes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agua (Mercurio)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miércoles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목요일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모교일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madera (Júpiter)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jueves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metal (Venus)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viernes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tierra (Saturno)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sábado (Saturday)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일요일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sol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domingo (Sunday)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 </a:t>
            </a:r>
            <a:r>
              <a:rPr lang="ko-KR" altLang="en-US" sz="26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Minutos, 반 </a:t>
            </a:r>
            <a:r>
              <a:rPr lang="en-US" sz="2600" b="1" dirty="0">
                <a:solidFill>
                  <a:srgbClr val="003478"/>
                </a:solidFill>
              </a:rPr>
              <a:t>y la parte del día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parte del día va antes de la hora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Minutos = sino + 분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 분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 분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삼십 분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삼십뿐</a:t>
            </a:r>
            <a:r>
              <a:rPr lang="en-US" sz="2200" dirty="0">
                <a:solidFill>
                  <a:srgbClr val="14142B"/>
                </a:solidFill>
              </a:rPr>
              <a:t>]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 </a:t>
            </a:r>
            <a:r>
              <a:rPr lang="en-US" sz="2200" dirty="0">
                <a:solidFill>
                  <a:srgbClr val="14142B"/>
                </a:solidFill>
              </a:rPr>
              <a:t>= y media: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 반 </a:t>
            </a:r>
            <a:r>
              <a:rPr lang="en-US" sz="2200" dirty="0">
                <a:solidFill>
                  <a:srgbClr val="14142B"/>
                </a:solidFill>
              </a:rPr>
              <a:t>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 삼십 분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Antes de la hora: 오전 </a:t>
            </a:r>
            <a:r>
              <a:rPr lang="en-US" sz="2200" dirty="0">
                <a:solidFill>
                  <a:srgbClr val="14142B"/>
                </a:solidFill>
              </a:rPr>
              <a:t>(a. m.)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</a:t>
            </a:r>
            <a:r>
              <a:rPr lang="en-US" sz="2200" dirty="0">
                <a:solidFill>
                  <a:srgbClr val="14142B"/>
                </a:solidFill>
              </a:rPr>
              <a:t>(p. m.)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la vida diaria: 아침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일곱 시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세 시 십오 분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아홉 시 반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Nadie dice 'las veintiuna': 21:00 = 밤 아홉 시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</a:t>
            </a:r>
            <a:r>
              <a:rPr lang="en-US" sz="4500" b="1" dirty="0">
                <a:solidFill>
                  <a:srgbClr val="4236F6"/>
                </a:solidFill>
              </a:rPr>
              <a:t>· </a:t>
            </a: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 </a:t>
            </a:r>
            <a:r>
              <a:rPr lang="en-US" sz="4500" b="1" dirty="0">
                <a:solidFill>
                  <a:srgbClr val="4236F6"/>
                </a:solidFill>
              </a:rPr>
              <a:t>·</a:t>
            </a:r>
            <a:endParaRPr lang="en-US" sz="4500" dirty="0"/>
          </a:p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</a:t>
            </a:r>
            <a:r>
              <a:rPr lang="en-US" sz="4500" b="1" dirty="0">
                <a:solidFill>
                  <a:srgbClr val="4236F6"/>
                </a:solidFill>
              </a:rPr>
              <a:t>· </a:t>
            </a: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</a:t>
            </a:r>
            <a:endParaRPr lang="en-US" sz="4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전화번호가 뭐예요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¿Cuál es tu número de teléfono?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Sino, cifra por cifra, con pausa entre grupos · 공 </a:t>
            </a:r>
            <a:r>
              <a:rPr lang="en-US" sz="1800" i="1" dirty="0">
                <a:solidFill>
                  <a:srgbClr val="4236F6"/>
                </a:solidFill>
              </a:rPr>
              <a:t>= 0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팔칠육오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사삼이일이에요</a:t>
            </a:r>
            <a:r>
              <a:rPr lang="en-US" sz="1800" i="1" dirty="0">
                <a:solidFill>
                  <a:srgbClr val="4236F6"/>
                </a:solidFill>
              </a:rPr>
              <a:t>. (9 8765 4321) · Dictado: escribe en cifras, en el chat, lo que dice Jay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Un teléfono</a:t>
            </a:r>
            <a:endParaRPr lang="en-US" sz="2400" dirty="0"/>
          </a:p>
        </p:txBody>
      </p:sp>
      <p:sp>
        <p:nvSpPr>
          <p:cNvPr id="7" name="rev_9_caja"/>
          <p:cNvSpPr/>
          <p:nvPr/>
        </p:nvSpPr>
        <p:spPr>
          <a:xfrm>
            <a:off x="7498080" y="240578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9_txt"/>
          <p:cNvSpPr txBox="1"/>
          <p:nvPr/>
        </p:nvSpPr>
        <p:spPr>
          <a:xfrm>
            <a:off x="7589520" y="240578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9 2468 1357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Una fecha</a:t>
            </a:r>
            <a:endParaRPr lang="en-US" sz="2400" dirty="0"/>
          </a:p>
        </p:txBody>
      </p:sp>
      <p:sp>
        <p:nvSpPr>
          <p:cNvPr id="12" name="rev_10_caja"/>
          <p:cNvSpPr/>
          <p:nvPr/>
        </p:nvSpPr>
        <p:spPr>
          <a:xfrm>
            <a:off x="7498080" y="340248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0_txt"/>
          <p:cNvSpPr txBox="1"/>
          <p:nvPr/>
        </p:nvSpPr>
        <p:spPr>
          <a:xfrm>
            <a:off x="7589520" y="340248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6/20 (유월 이십 일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Otra fecha</a:t>
            </a:r>
            <a:endParaRPr lang="en-US" sz="2400" dirty="0"/>
          </a:p>
        </p:txBody>
      </p:sp>
      <p:sp>
        <p:nvSpPr>
          <p:cNvPr id="17" name="rev_11_caja"/>
          <p:cNvSpPr/>
          <p:nvPr/>
        </p:nvSpPr>
        <p:spPr>
          <a:xfrm>
            <a:off x="7498080" y="439917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1_txt"/>
          <p:cNvSpPr txBox="1"/>
          <p:nvPr/>
        </p:nvSpPr>
        <p:spPr>
          <a:xfrm>
            <a:off x="7589520" y="439917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 (시월 삼십일 일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생일이 언제예요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Calendario del curso</a:t>
            </a:r>
            <a:r>
              <a:rPr lang="en-US" sz="1500" b="1" i="1" dirty="0">
                <a:solidFill>
                  <a:srgbClr val="8A8DA0"/>
                </a:solidFill>
              </a:rPr>
              <a:t>   Our class birthday calendar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Cadena de cumpleaños: armamos el calendario en vivo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씨</a:t>
            </a:r>
            <a:r>
              <a:rPr lang="en-US" sz="2800" dirty="0">
                <a:solidFill>
                  <a:srgbClr val="14142B"/>
                </a:solidFill>
              </a:rPr>
              <a:t>,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생일이 언제예요</a:t>
            </a:r>
            <a:r>
              <a:rPr lang="en-US" sz="2800" dirty="0">
                <a:solidFill>
                  <a:srgbClr val="14142B"/>
                </a:solidFill>
              </a:rPr>
              <a:t>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유월 십오 일이에요</a:t>
            </a:r>
            <a:r>
              <a:rPr lang="en-US" sz="2800" dirty="0">
                <a:solidFill>
                  <a:srgbClr val="14142B"/>
                </a:solidFill>
              </a:rPr>
              <a:t>. ___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</a:t>
            </a:r>
            <a:r>
              <a:rPr lang="en-US" sz="2800" dirty="0">
                <a:solidFill>
                  <a:srgbClr val="14142B"/>
                </a:solidFill>
              </a:rPr>
              <a:t>,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생일이 언제예요</a:t>
            </a:r>
            <a:r>
              <a:rPr lang="en-US" sz="2800" dirty="0">
                <a:solidFill>
                  <a:srgbClr val="14142B"/>
                </a:solidFill>
              </a:rPr>
              <a:t>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Respondes y le preguntas a quien sigue en la lista de Zoom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Jay escribe tu nombre en el mes de tu cumpleaños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f45e667b28625e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¿Cuándo? → 에</a:t>
            </a:r>
            <a:r>
              <a:rPr lang="ko-KR" altLang="en-US" sz="1500" b="1" i="1" dirty="0">
                <a:solidFill>
                  <a:srgbClr val="8A8DA0"/>
                </a:solidFill>
              </a:rPr>
              <a:t>   When? → 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las / el / en = 에 </a:t>
            </a:r>
            <a:r>
              <a:rPr lang="en-US" sz="1800" i="1" dirty="0">
                <a:solidFill>
                  <a:srgbClr val="4236F6"/>
                </a:solidFill>
              </a:rPr>
              <a:t>· un solo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800" i="1" dirty="0">
                <a:solidFill>
                  <a:srgbClr val="4236F6"/>
                </a:solidFill>
              </a:rPr>
              <a:t>, al final del bloque de tiempo (no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수요일에 밤에 아홉 시에</a:t>
            </a:r>
            <a:r>
              <a:rPr lang="en-US" sz="1800" i="1" dirty="0">
                <a:solidFill>
                  <a:srgbClr val="4236F6"/>
                </a:solidFill>
              </a:rPr>
              <a:t>)</a:t>
            </a:r>
            <a:endParaRPr lang="en-US" sz="18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49062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a las siete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 시에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 시에 일어나요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lunes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월요일에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월요일에 일해요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en mi cumpleaños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생일에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생일에 미역국을 먹어요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miércoles a las nueve de la noche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수요일 밤 아홉 시에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수요일 밤 아홉 시에 한국어를 공부해요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에</a:t>
            </a:r>
            <a:r>
              <a:rPr lang="ko-KR" altLang="en-US" sz="1500" b="1" i="1" dirty="0">
                <a:solidFill>
                  <a:srgbClr val="8A8DA0"/>
                </a:solidFill>
              </a:rPr>
              <a:t>   Without 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Palabras que ya dicen 'cuándo'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에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Más adelante, también sin 에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</a:t>
            </a:r>
            <a:r>
              <a:rPr lang="en-US" sz="2400" dirty="0">
                <a:solidFill>
                  <a:srgbClr val="14142B"/>
                </a:solidFill>
              </a:rPr>
              <a:t>(semanas 4 y 5)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Como en español: nadie dice 'en hoy' ni 'a ahora'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몇 시예요</a:t>
            </a:r>
            <a:r>
              <a:rPr lang="en-US" sz="2400" dirty="0">
                <a:solidFill>
                  <a:srgbClr val="14142B"/>
                </a:solidFill>
              </a:rPr>
              <a:t>? (sin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일곱 시에 일어나요</a:t>
            </a:r>
            <a:r>
              <a:rPr lang="en-US" sz="2400" dirty="0">
                <a:solidFill>
                  <a:srgbClr val="14142B"/>
                </a:solidFill>
              </a:rPr>
              <a:t>.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sin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 </a:t>
            </a:r>
            <a:r>
              <a:rPr lang="en-US" sz="2400" dirty="0">
                <a:solidFill>
                  <a:srgbClr val="14142B"/>
                </a:solidFill>
              </a:rPr>
              <a:t>con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4500" b="1" dirty="0">
                <a:solidFill>
                  <a:srgbClr val="4236F6"/>
                </a:solidFill>
              </a:rPr>
              <a:t>·</a:t>
            </a:r>
            <a:endParaRPr lang="en-US" sz="4500" dirty="0"/>
          </a:p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4500" b="1" dirty="0">
                <a:solidFill>
                  <a:srgbClr val="4236F6"/>
                </a:solidFill>
              </a:rPr>
              <a:t>· </a:t>
            </a: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endParaRPr lang="en-US" sz="4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turno</a:t>
            </a:r>
            <a:r>
              <a:rPr lang="en-US" sz="1500" b="1" i="1" dirty="0">
                <a:solidFill>
                  <a:srgbClr val="8A8DA0"/>
                </a:solidFill>
              </a:rPr>
              <a:t>   Your turn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tu hora real · Responde con tu hora real y con 에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시에 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12_caja"/>
          <p:cNvSpPr/>
          <p:nvPr/>
        </p:nvSpPr>
        <p:spPr>
          <a:xfrm>
            <a:off x="7498080" y="240578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2_txt"/>
          <p:cNvSpPr txBox="1"/>
          <p:nvPr/>
        </p:nvSpPr>
        <p:spPr>
          <a:xfrm>
            <a:off x="7589520" y="240578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Ej.: 밤 열한 시에 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시에 일어나요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ev_13_caja"/>
          <p:cNvSpPr/>
          <p:nvPr/>
        </p:nvSpPr>
        <p:spPr>
          <a:xfrm>
            <a:off x="7498080" y="340248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3_txt"/>
          <p:cNvSpPr txBox="1"/>
          <p:nvPr/>
        </p:nvSpPr>
        <p:spPr>
          <a:xfrm>
            <a:off x="7589520" y="340248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Ej.: 일곱 시에 일어나요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시에 점심을 먹어요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7" name="rev_14_caja"/>
          <p:cNvSpPr/>
          <p:nvPr/>
        </p:nvSpPr>
        <p:spPr>
          <a:xfrm>
            <a:off x="7498080" y="439917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4_txt"/>
          <p:cNvSpPr txBox="1"/>
          <p:nvPr/>
        </p:nvSpPr>
        <p:spPr>
          <a:xfrm>
            <a:off x="7589520" y="439917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Ej.: 열두 시 반에 점심을 먹어요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나이  </a:t>
            </a:r>
            <a:r>
              <a:rPr lang="en-US" sz="2200" b="1" dirty="0">
                <a:solidFill>
                  <a:srgbClr val="003478"/>
                </a:solidFill>
              </a:rPr>
              <a:t>¿Cuántos años tienes… en Corea?</a:t>
            </a:r>
            <a:r>
              <a:rPr lang="en-US" sz="1500" b="1" i="1" dirty="0">
                <a:solidFill>
                  <a:srgbClr val="8A8DA0"/>
                </a:solidFill>
              </a:rPr>
              <a:t>   How old are you… in Korea?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Ejemplo: nacida el 15/6/1996 → hoy, 서른 살 </a:t>
            </a:r>
            <a:r>
              <a:rPr lang="en-US" sz="1800" i="1" dirty="0">
                <a:solidFill>
                  <a:srgbClr val="4236F6"/>
                </a:solidFill>
              </a:rPr>
              <a:t>(con la edad tradicional, 31)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Edad coreana tradicional</a:t>
            </a:r>
            <a:endParaRPr lang="en-US" sz="2000" dirty="0"/>
          </a:p>
        </p:txBody>
      </p:sp>
      <p:sp>
        <p:nvSpPr>
          <p:cNvPr id="6" name="lista"/>
          <p:cNvSpPr txBox="1"/>
          <p:nvPr/>
        </p:nvSpPr>
        <p:spPr>
          <a:xfrm>
            <a:off x="731520" y="2651760"/>
            <a:ext cx="5020056" cy="338328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Naces con un año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Todos suman un año juntos en Año Nuevo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15/6/1996 → hoy tendría 31</a:t>
            </a:r>
            <a:endParaRPr lang="en-US" sz="2000" dirty="0"/>
          </a:p>
        </p:txBody>
      </p:sp>
      <p:sp>
        <p:nvSpPr>
          <p:cNvPr id="7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Edad internacional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나이</a:t>
            </a:r>
            <a:endParaRPr lang="en-US" sz="5400" dirty="0"/>
          </a:p>
        </p:txBody>
      </p:sp>
      <p:sp>
        <p:nvSpPr>
          <p:cNvPr id="10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 que usamos nosotros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 única oficial desde junio de 2023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15/6/1996 → hoy: 서른 살 </a:t>
            </a:r>
            <a:r>
              <a:rPr lang="en-US" sz="2000" dirty="0">
                <a:solidFill>
                  <a:srgbClr val="14142B"/>
                </a:solidFill>
              </a:rPr>
              <a:t>(30)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Para qué se pregunta la edad</a:t>
            </a:r>
            <a:r>
              <a:rPr lang="en-US" sz="1500" b="1" i="1" dirty="0">
                <a:solidFill>
                  <a:srgbClr val="8A8DA0"/>
                </a:solidFill>
              </a:rPr>
              <a:t>   Why people ask your 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edad dice cómo hablarle al otro: con un mayor, más cortesía · entre amigos, 언니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오빠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누나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Entre compañeros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5400" b="1" dirty="0">
                <a:solidFill>
                  <a:srgbClr val="4236F6"/>
                </a:solidFill>
              </a:rPr>
              <a:t>?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Normal entre adultos de la clase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esta clase: 해요체 </a:t>
            </a:r>
            <a:r>
              <a:rPr lang="en-US" sz="2000" dirty="0">
                <a:solidFill>
                  <a:srgbClr val="14142B"/>
                </a:solidFill>
              </a:rPr>
              <a:t>con todos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Tu edad puede ser inventada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 una persona mayor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나이가 어떻게 되세요</a:t>
            </a:r>
            <a:r>
              <a:rPr lang="en-US" sz="3400" b="1" dirty="0">
                <a:solidFill>
                  <a:srgbClr val="4236F6"/>
                </a:solidFill>
              </a:rPr>
              <a:t>?</a:t>
            </a:r>
            <a:endParaRPr lang="en-US" sz="3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Con más cortesía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Solo reconocerla: no hay que decirla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미역국  </a:t>
            </a:r>
            <a:r>
              <a:rPr lang="en-US" sz="2200" b="1" dirty="0">
                <a:solidFill>
                  <a:srgbClr val="003478"/>
                </a:solidFill>
              </a:rPr>
              <a:t>Frase ancla: la sopa del cumpleaños</a:t>
            </a:r>
            <a:r>
              <a:rPr lang="en-US" sz="1500" b="1" i="1" dirty="0">
                <a:solidFill>
                  <a:srgbClr val="8A8DA0"/>
                </a:solidFill>
              </a:rPr>
              <a:t>   Birthday seaweed soup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ab8acc11b3f5e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생일에 미역국을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En mi cumpleaños tomo sopa de algas.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También hay torta, y la canción tiene la misma melodía: 생일 축하합니다 </a:t>
            </a:r>
            <a:r>
              <a:rPr lang="en-US" sz="1800" dirty="0">
                <a:solidFill>
                  <a:srgbClr val="14142B"/>
                </a:solidFill>
              </a:rPr>
              <a:t>· ¿Qué comes tú en tu cumpleaños?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몇 시예요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Drill · 3 segundos (1/4)</a:t>
            </a:r>
            <a:r>
              <a:rPr lang="en-US" sz="1500" b="1" i="1" dirty="0">
                <a:solidFill>
                  <a:srgbClr val="8A8DA0"/>
                </a:solidFill>
              </a:rPr>
              <a:t>   Drill · 3 seconds (1/4)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21:30 en punto · Di tu tarjeta en coreano en 3 segundos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21:30 · 지금 몇 시예요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15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5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아홉 시 반이에요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1 · 7:00</a:t>
            </a:r>
            <a:endParaRPr lang="en-US" sz="2400" dirty="0"/>
          </a:p>
        </p:txBody>
      </p:sp>
      <p:sp>
        <p:nvSpPr>
          <p:cNvPr id="12" name="rev_16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6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 </a:t>
            </a:r>
            <a:r>
              <a:rPr lang="en-US" sz="2200" b="1" dirty="0">
                <a:solidFill>
                  <a:srgbClr val="FFFFFF"/>
                </a:solidFill>
              </a:rPr>
              <a:t>[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일곱씨</a:t>
            </a:r>
            <a:r>
              <a:rPr lang="en-US" sz="2200" b="1" dirty="0">
                <a:solidFill>
                  <a:srgbClr val="FFFFFF"/>
                </a:solidFill>
              </a:rPr>
              <a:t>]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25살</a:t>
            </a:r>
            <a:endParaRPr lang="en-US" sz="2400" dirty="0"/>
          </a:p>
        </p:txBody>
      </p:sp>
      <p:sp>
        <p:nvSpPr>
          <p:cNvPr id="17" name="rev_17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7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6월 </a:t>
            </a:r>
            <a:r>
              <a:rPr lang="en-US" sz="2400" dirty="0">
                <a:solidFill>
                  <a:srgbClr val="14142B"/>
                </a:solidFill>
              </a:rPr>
              <a:t>15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400" dirty="0"/>
          </a:p>
        </p:txBody>
      </p:sp>
      <p:sp>
        <p:nvSpPr>
          <p:cNvPr id="22" name="rev_18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8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유월 십오 일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4 · 3:30</a:t>
            </a:r>
            <a:endParaRPr lang="en-US" sz="2400" dirty="0"/>
          </a:p>
        </p:txBody>
      </p:sp>
      <p:sp>
        <p:nvSpPr>
          <p:cNvPr id="27" name="rev_19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9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 반 </a:t>
            </a:r>
            <a:r>
              <a:rPr lang="en-US" sz="2200" b="1" dirty="0">
                <a:solidFill>
                  <a:srgbClr val="FFFFFF"/>
                </a:solidFill>
              </a:rPr>
              <a:t>/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시 삼십 분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20살</a:t>
            </a:r>
            <a:endParaRPr lang="en-US" sz="2400" dirty="0"/>
          </a:p>
        </p:txBody>
      </p:sp>
      <p:sp>
        <p:nvSpPr>
          <p:cNvPr id="32" name="rev_20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0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 살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Drill · 3 segundos (2/4)</a:t>
            </a:r>
            <a:r>
              <a:rPr lang="en-US" sz="1500" b="1" i="1" dirty="0">
                <a:solidFill>
                  <a:srgbClr val="8A8DA0"/>
                </a:solidFill>
              </a:rPr>
              <a:t>   Drill · 3 seconds (2/4)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Di tu tarjeta en coreano en 3 segundos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10월 </a:t>
            </a:r>
            <a:r>
              <a:rPr lang="en-US" sz="2400" dirty="0">
                <a:solidFill>
                  <a:srgbClr val="14142B"/>
                </a:solidFill>
              </a:rPr>
              <a:t>21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400" dirty="0"/>
          </a:p>
        </p:txBody>
      </p:sp>
      <p:sp>
        <p:nvSpPr>
          <p:cNvPr id="7" name="rev_21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1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시월 이십일 일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7 · 12:10</a:t>
            </a:r>
            <a:endParaRPr lang="en-US" sz="2400" dirty="0"/>
          </a:p>
        </p:txBody>
      </p:sp>
      <p:sp>
        <p:nvSpPr>
          <p:cNvPr id="12" name="rev_22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2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열두 시 십 분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31살</a:t>
            </a:r>
            <a:endParaRPr lang="en-US" sz="2400" dirty="0"/>
          </a:p>
        </p:txBody>
      </p:sp>
      <p:sp>
        <p:nvSpPr>
          <p:cNvPr id="17" name="rev_23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3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서른한 살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9 · 1:45</a:t>
            </a:r>
            <a:endParaRPr lang="en-US" sz="2400" dirty="0"/>
          </a:p>
        </p:txBody>
      </p:sp>
      <p:sp>
        <p:nvSpPr>
          <p:cNvPr id="22" name="rev_24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4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시 사십오 분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11월 </a:t>
            </a:r>
            <a:r>
              <a:rPr lang="en-US" sz="2400" dirty="0">
                <a:solidFill>
                  <a:srgbClr val="14142B"/>
                </a:solidFill>
              </a:rPr>
              <a:t>5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400" dirty="0"/>
          </a:p>
        </p:txBody>
      </p:sp>
      <p:sp>
        <p:nvSpPr>
          <p:cNvPr id="27" name="rev_25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5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십일월 오 일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11 · 4:00</a:t>
            </a:r>
            <a:endParaRPr lang="en-US" sz="2400" dirty="0"/>
          </a:p>
        </p:txBody>
      </p:sp>
      <p:sp>
        <p:nvSpPr>
          <p:cNvPr id="32" name="rev_26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6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시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Drill · 3 segundos (3/4)</a:t>
            </a:r>
            <a:r>
              <a:rPr lang="en-US" sz="1500" b="1" i="1" dirty="0">
                <a:solidFill>
                  <a:srgbClr val="8A8DA0"/>
                </a:solidFill>
              </a:rPr>
              <a:t>   Drill · 3 seconds (3/4)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Di tu tarjeta en coreano en 3 segundos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16일</a:t>
            </a:r>
            <a:endParaRPr lang="en-US" sz="2400" dirty="0"/>
          </a:p>
        </p:txBody>
      </p:sp>
      <p:sp>
        <p:nvSpPr>
          <p:cNvPr id="7" name="rev_27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7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십육 일 </a:t>
            </a:r>
            <a:r>
              <a:rPr lang="en-US" sz="2200" b="1" dirty="0">
                <a:solidFill>
                  <a:srgbClr val="FFFFFF"/>
                </a:solidFill>
              </a:rPr>
              <a:t>[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심뉴길</a:t>
            </a:r>
            <a:r>
              <a:rPr lang="en-US" sz="2200" b="1" dirty="0">
                <a:solidFill>
                  <a:srgbClr val="FFFFFF"/>
                </a:solidFill>
              </a:rPr>
              <a:t>]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13 · 9:20</a:t>
            </a:r>
            <a:endParaRPr lang="en-US" sz="2400" dirty="0"/>
          </a:p>
        </p:txBody>
      </p:sp>
      <p:sp>
        <p:nvSpPr>
          <p:cNvPr id="12" name="rev_28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8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 이십 분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44살</a:t>
            </a:r>
            <a:endParaRPr lang="en-US" sz="2400" dirty="0"/>
          </a:p>
        </p:txBody>
      </p:sp>
      <p:sp>
        <p:nvSpPr>
          <p:cNvPr id="17" name="rev_29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9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마흔네 살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15 · 2:05</a:t>
            </a:r>
            <a:endParaRPr lang="en-US" sz="2400" dirty="0"/>
          </a:p>
        </p:txBody>
      </p:sp>
      <p:sp>
        <p:nvSpPr>
          <p:cNvPr id="22" name="rev_30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0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시 오 분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5월 </a:t>
            </a:r>
            <a:r>
              <a:rPr lang="en-US" sz="2400" dirty="0">
                <a:solidFill>
                  <a:srgbClr val="14142B"/>
                </a:solidFill>
              </a:rPr>
              <a:t>5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400" dirty="0"/>
          </a:p>
        </p:txBody>
      </p:sp>
      <p:sp>
        <p:nvSpPr>
          <p:cNvPr id="27" name="rev_31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1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오월 오 일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Drill · 3 segundos (4/4)</a:t>
            </a:r>
            <a:r>
              <a:rPr lang="en-US" sz="1500" b="1" i="1" dirty="0">
                <a:solidFill>
                  <a:srgbClr val="8A8DA0"/>
                </a:solidFill>
              </a:rPr>
              <a:t>   Drill · 3 seconds (4/4)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sobra tiempo · Tiempo + verbo → una frase: ¿con 에 </a:t>
            </a:r>
            <a:r>
              <a:rPr lang="en-US" sz="1800" i="1" dirty="0">
                <a:solidFill>
                  <a:srgbClr val="4236F6"/>
                </a:solidFill>
              </a:rPr>
              <a:t>o sin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7:00 · 일어나다</a:t>
            </a:r>
            <a:endParaRPr lang="en-US" sz="2400" dirty="0"/>
          </a:p>
        </p:txBody>
      </p:sp>
      <p:sp>
        <p:nvSpPr>
          <p:cNvPr id="7" name="rev_32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32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시에 일어나요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· 12:30 · 점심을 먹다</a:t>
            </a:r>
            <a:endParaRPr lang="en-US" sz="2400" dirty="0"/>
          </a:p>
        </p:txBody>
      </p:sp>
      <p:sp>
        <p:nvSpPr>
          <p:cNvPr id="12" name="rev_33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3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열두 시 반에 점심을 먹어요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· 월요일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endParaRPr lang="en-US" sz="2400" dirty="0"/>
          </a:p>
        </p:txBody>
      </p:sp>
      <p:sp>
        <p:nvSpPr>
          <p:cNvPr id="17" name="rev_34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4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월요일에 일해요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· 오늘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400" dirty="0"/>
          </a:p>
        </p:txBody>
      </p:sp>
      <p:sp>
        <p:nvSpPr>
          <p:cNvPr id="22" name="rev_35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5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공부해요</a:t>
            </a:r>
            <a:r>
              <a:rPr lang="en-US" sz="2200" b="1" dirty="0">
                <a:solidFill>
                  <a:srgbClr val="FFFFFF"/>
                </a:solidFill>
              </a:rPr>
              <a:t>. (sin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· 23:00 · 자다</a:t>
            </a:r>
            <a:endParaRPr lang="en-US" sz="2400" dirty="0"/>
          </a:p>
        </p:txBody>
      </p:sp>
      <p:sp>
        <p:nvSpPr>
          <p:cNvPr id="27" name="rev_36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6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열한 시에 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· 매일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400" dirty="0"/>
          </a:p>
        </p:txBody>
      </p:sp>
      <p:sp>
        <p:nvSpPr>
          <p:cNvPr id="32" name="rev_37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37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운동해요</a:t>
            </a:r>
            <a:r>
              <a:rPr lang="en-US" sz="2200" b="1" dirty="0">
                <a:solidFill>
                  <a:srgbClr val="FFFFFF"/>
                </a:solidFill>
              </a:rPr>
              <a:t>. (sin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de 3</a:t>
            </a:r>
            <a:r>
              <a:rPr lang="en-US" sz="1500" b="1" i="1" dirty="0">
                <a:solidFill>
                  <a:srgbClr val="8A8DA0"/>
                </a:solidFill>
              </a:rPr>
              <a:t>   Breakout rooms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Elige tu sala (Jay pega aquí la lista de los 5 tríos) · Tarjeta: sección 7 de tu material</a:t>
            </a:r>
            <a:endParaRPr lang="en-US" sz="18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61673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Ronda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hacen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21:35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Dictado: tu teléfono cifra por cifra (el otro lo repite: «구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팔칠육오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사삼이일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?» — «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!») + las fechas de tu lista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21:40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Reloj humano: di una hora, el otro la escribe en cifras · 몇 시에 일어나요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몇 시예요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experto de julio: 1 min en 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21:45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Encuesta: 생일이 언제예요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살이에요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(real o inventada) + una de familia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Minuto libre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21:51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생일이 언제예요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시에 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형제가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(sin cuaderno)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oí hoy</a:t>
            </a:r>
            <a:r>
              <a:rPr lang="en-US" sz="1500" b="1" i="1" dirty="0">
                <a:solidFill>
                  <a:srgbClr val="8A8DA0"/>
                </a:solidFill>
              </a:rPr>
              <a:t>   What I heard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 ajusta a lo que Jay oyó en las salas</a:t>
            </a:r>
            <a:endParaRPr lang="en-US" sz="1800" dirty="0"/>
          </a:p>
        </p:txBody>
      </p:sp>
      <p:graphicFrame>
        <p:nvGraphicFramePr>
          <p:cNvPr id="3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312078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 oyó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 dice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 시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 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La hora es nativa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오늘에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* 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매일에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*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Una de las dos que cambian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[며시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]*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시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멷씨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ㅅ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se aprieta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3 frases de hoy</a:t>
            </a:r>
            <a:r>
              <a:rPr lang="en-US" sz="1500" b="1" i="1" dirty="0">
                <a:solidFill>
                  <a:srgbClr val="8A8DA0"/>
                </a:solidFill>
              </a:rPr>
              <a:t>   Today's 3 key phrases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Primero Jay, despacio; después todos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2800" dirty="0">
                <a:solidFill>
                  <a:srgbClr val="14142B"/>
                </a:solidFill>
              </a:rPr>
              <a:t>? —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살이에요</a:t>
            </a:r>
            <a:r>
              <a:rPr lang="en-US" sz="2800" dirty="0">
                <a:solidFill>
                  <a:srgbClr val="14142B"/>
                </a:solidFill>
              </a:rPr>
              <a:t>. (¿Cuántos años tienes? — Veinticinco.)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생일이 언제예요</a:t>
            </a:r>
            <a:r>
              <a:rPr lang="en-US" sz="2800" dirty="0">
                <a:solidFill>
                  <a:srgbClr val="14142B"/>
                </a:solidFill>
              </a:rPr>
              <a:t>? —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유월 십오 일이에요</a:t>
            </a:r>
            <a:r>
              <a:rPr lang="en-US" sz="2800" dirty="0">
                <a:solidFill>
                  <a:srgbClr val="14142B"/>
                </a:solidFill>
              </a:rPr>
              <a:t>. (¿Tu cumpleaños? — El 15 de junio.)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시에 일어나요</a:t>
            </a:r>
            <a:r>
              <a:rPr lang="en-US" sz="2800" dirty="0">
                <a:solidFill>
                  <a:srgbClr val="14142B"/>
                </a:solidFill>
              </a:rPr>
              <a:t>. (Me levanto a las siete.)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  </a:t>
            </a:r>
            <a:r>
              <a:rPr lang="en-US" sz="3000" b="1" dirty="0">
                <a:solidFill>
                  <a:srgbClr val="003478"/>
                </a:solidFill>
              </a:rPr>
              <a:t>Tarea (≈ 30 min)</a:t>
            </a:r>
            <a:r>
              <a:rPr lang="en-US" sz="1500" b="1" i="1" dirty="0">
                <a:solidFill>
                  <a:srgbClr val="8A8DA0"/>
                </a:solidFill>
              </a:rPr>
              <a:t>   Homework (about 30 min)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Plazo: miércoles 4 de noviembre, 21:00 (hora de Chile) · en el Lector, tapa la línea de corrección (trae letras latinas)</a:t>
            </a:r>
            <a:endParaRPr lang="en-US" sz="1800" dirty="0"/>
          </a:p>
        </p:txBody>
      </p:sp>
      <p:graphicFrame>
        <p:nvGraphicFramePr>
          <p:cNvPr id="3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814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Lector: Aprender 7 + Practicar → Números, rondas seguidas hasta 3 con 'nativos' y 3 con 'mezclados' + captura de Progreso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≈ 12 min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Hoja 2: tu edad, tu cumpleaños, tu teléfono y 3 horas de tu día, en cifras y como se leen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10 min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 de 40 s: 5 horas de tu día con 에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sin leer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6 min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Prepara la semana 3: anota 8 cosas que haces en un día normal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2 min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Reto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Hoja 2, parte C: 몇 월 며칠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Rescate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En el Lector, solo 'sino-coreanos' y 'nativos' (sin 'mezclados')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3000" b="1" dirty="0">
                <a:solidFill>
                  <a:srgbClr val="FFFFFF"/>
                </a:solidFill>
              </a:rPr>
              <a:t>!  Quiz 2 · ¡Muy bien!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La clase 3 abre con el quiz 2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Una hora · una edad · una fecha · una respuesta con 에 </a:t>
            </a:r>
            <a:r>
              <a:rPr lang="en-US" sz="2200" dirty="0">
                <a:solidFill>
                  <a:srgbClr val="FFFFFF"/>
                </a:solidFill>
              </a:rPr>
              <a:t>· una lectura cortita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Tarjeta de números (1/3)</a:t>
            </a:r>
            <a:r>
              <a:rPr lang="en-US" sz="1500" b="1" i="1" dirty="0">
                <a:solidFill>
                  <a:srgbClr val="8A8DA0"/>
                </a:solidFill>
              </a:rPr>
              <a:t>   Number card (1/3)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Nativo: hora, edad, contar · Sino: fecha, minutos, teléfono, precio</a:t>
            </a:r>
            <a:endParaRPr lang="en-US" sz="1800" dirty="0"/>
          </a:p>
        </p:txBody>
      </p:sp>
      <p:graphicFrame>
        <p:nvGraphicFramePr>
          <p:cNvPr id="3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800722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넷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(6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여덟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Tarjeta de números (2/3)</a:t>
            </a:r>
            <a:r>
              <a:rPr lang="en-US" sz="1500" b="1" i="1" dirty="0">
                <a:solidFill>
                  <a:srgbClr val="8A8DA0"/>
                </a:solidFill>
              </a:rPr>
              <a:t>   Number card (2/3)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Las decenas nativas son para la edad</a:t>
            </a:r>
            <a:endParaRPr lang="en-US" sz="1800" dirty="0"/>
          </a:p>
        </p:txBody>
      </p:sp>
      <p:graphicFrame>
        <p:nvGraphicFramePr>
          <p:cNvPr id="3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92931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아홉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(10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열하나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서른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쉰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Tarjeta de números (3/3)</a:t>
            </a:r>
            <a:r>
              <a:rPr lang="en-US" sz="1500" b="1" i="1" dirty="0">
                <a:solidFill>
                  <a:srgbClr val="8A8DA0"/>
                </a:solidFill>
              </a:rPr>
              <a:t>   Number card (3/3)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</a:t>
            </a:r>
            <a:r>
              <a:rPr lang="en-US" sz="1800" i="1" dirty="0">
                <a:solidFill>
                  <a:srgbClr val="4236F6"/>
                </a:solidFill>
              </a:rPr>
              <a:t>= won: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 원 </a:t>
            </a:r>
            <a:r>
              <a:rPr lang="en-US" sz="1800" i="1" dirty="0">
                <a:solidFill>
                  <a:srgbClr val="4236F6"/>
                </a:solidFill>
              </a:rPr>
              <a:t>(mil wones)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 원 </a:t>
            </a:r>
            <a:r>
              <a:rPr lang="en-US" sz="1800" i="1" dirty="0">
                <a:solidFill>
                  <a:srgbClr val="4236F6"/>
                </a:solidFill>
              </a:rPr>
              <a:t>(diez mil wones), sin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1800" i="1" dirty="0">
                <a:solidFill>
                  <a:srgbClr val="4236F6"/>
                </a:solidFill>
              </a:rPr>
              <a:t>delante · solo reconocer</a:t>
            </a:r>
            <a:endParaRPr lang="en-US" sz="1800" dirty="0"/>
          </a:p>
        </p:txBody>
      </p:sp>
      <p:graphicFrame>
        <p:nvGraphicFramePr>
          <p:cNvPr id="3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7116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칠십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(desde aquí, solo sino)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(reconocer)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10.000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(reconocer)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(teléfono) 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(matemáticas)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6678</Words>
  <Application>Microsoft Office PowerPoint</Application>
  <PresentationFormat>Widescreen</PresentationFormat>
  <Paragraphs>659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Malgun Gothic</vt:lpstr>
      <vt:lpstr>Arial</vt:lpstr>
      <vt:lpstr>Academia Seul</vt:lpstr>
      <vt:lpstr>안녕하세요!  Mientras llegan   While everyone joins</vt:lpstr>
      <vt:lpstr>Semana 2 · Números aplicados</vt:lpstr>
      <vt:lpstr>퀴즈  Quiz 1   Quiz 1</vt:lpstr>
      <vt:lpstr>Hoja 1: lo que vi   Worksheet 1: what I saw</vt:lpstr>
      <vt:lpstr>¿Qué hora es en Seúl?   What time is it in Seoul?</vt:lpstr>
      <vt:lpstr>Dos maneras de contar   Two ways of counting</vt:lpstr>
      <vt:lpstr>하나 … 열  Nativos del 1 al 10 (y hasta 19)</vt:lpstr>
      <vt:lpstr>한 · 두 · 세 · 네 · 스무  'Uno' → 'un'   'One' becomes 'a'</vt:lpstr>
      <vt:lpstr>몇 시예요?  ¿Qué hora es?   What time is it?</vt:lpstr>
      <vt:lpstr>몇 살이에요?  ¿Cuántos años tienes?   How old are you?</vt:lpstr>
      <vt:lpstr>Tu turno   Your turn</vt:lpstr>
      <vt:lpstr>일월 … 십이월  Los 12 meses   The 12 months</vt:lpstr>
      <vt:lpstr>며칠 · 언제  La fecha: de lo grande a lo chico   Dates: from big to small</vt:lpstr>
      <vt:lpstr>요일  Los días son planetas   The days are planets</vt:lpstr>
      <vt:lpstr>분 · 반 · 오전 · 오후  Minutos, 반 y la parte del día</vt:lpstr>
      <vt:lpstr>전화번호가 뭐예요?  ¿Cuál es tu número de teléfono?</vt:lpstr>
      <vt:lpstr>생일이 언제예요?  Calendario del curso   Our class birthday calendar</vt:lpstr>
      <vt:lpstr>¿Cuándo? → 에   When? → 에</vt:lpstr>
      <vt:lpstr>오늘 · 지금 · 매일  Sin 에   Without 에</vt:lpstr>
      <vt:lpstr>Tu turno   Your turn</vt:lpstr>
      <vt:lpstr>만 나이  ¿Cuántos años tienes… en Corea?   How old are you… in Korea?</vt:lpstr>
      <vt:lpstr>Para qué se pregunta la edad   Why people ask your age</vt:lpstr>
      <vt:lpstr>미역국  Frase ancla: la sopa del cumpleaños   Birthday seaweed soup</vt:lpstr>
      <vt:lpstr>지금 몇 시예요?  Drill · 3 segundos (1/4)   Drill · 3 seconds (1/4)</vt:lpstr>
      <vt:lpstr>Drill · 3 segundos (2/4)   Drill · 3 seconds (2/4)</vt:lpstr>
      <vt:lpstr>Drill · 3 segundos (3/4)   Drill · 3 seconds (3/4)</vt:lpstr>
      <vt:lpstr>Drill · 3 segundos (4/4)   Drill · 3 seconds (4/4)</vt:lpstr>
      <vt:lpstr>Salas de 3   Breakout rooms of 3</vt:lpstr>
      <vt:lpstr>Lo que oí hoy   What I heard today</vt:lpstr>
      <vt:lpstr>Las 3 frases de hoy   Today's 3 key phrases</vt:lpstr>
      <vt:lpstr>숙제  Tarea (≈ 30 min)   Homework (about 30 min)</vt:lpstr>
      <vt:lpstr>잘했어요!  Quiz 2 · ¡Muy bien!</vt:lpstr>
      <vt:lpstr>Tarjeta de números (1/3)   Number card (1/3)</vt:lpstr>
      <vt:lpstr>Tarjeta de números (2/3)   Number card (2/3)</vt:lpstr>
      <vt:lpstr>Tarjeta de números (3/3)   Number card (3/3)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2 · Números aplicados: edad, cumpleaños, hora y teléfono</dc:title>
  <dc:subject>PptxGenJS Presentation</dc:subject>
  <dc:creator>Academia Seúl</dc:creator>
  <cp:lastModifiedBy>Jae Hee Kim</cp:lastModifiedBy>
  <cp:revision>2</cp:revision>
  <dcterms:created xsi:type="dcterms:W3CDTF">2026-10-16T10:02:34Z</dcterms:created>
  <dcterms:modified xsi:type="dcterms:W3CDTF">2026-10-16T10:03:50Z</dcterms:modified>
</cp:coreProperties>
</file>