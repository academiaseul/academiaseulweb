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mana 6" id="{ABF4C315-E4B5-0715-9EDB-A9AE39311C6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0212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mientras entran; la grabación ya está encendida (Basico1-Martes_S06_2026-11-24 / Basico1-Jueves_S06_2026-11-26). Saluda: 안녕하세요! y pasa enseguida al quiz.
Fuente: Nueva
Lámina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20:00–20:05 (con L3). 'Arrancamos con el quiz de la semana 5. Miren el dibujo del escritorio y respondan los 5 en un solo mensaje, numerados. Tienen dos minutos. Cuando diga 하나, 둘, 셋, todos aprietan enviar a la vez.' Una sola duda de la tarea de la S5 (foto del escritorio; error típico: 책이 책상 위 있어요, sin 에), en 20 segundos.
Imagen: incluida (dibujo de la casa).
Fuente: Nueva (si la hoja de la lección 5 trae un dibujo parecido, se reutiliza)
Lámina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Corrige en voz alta (1 min). Antes de revelar la 3 pregunta '¿termina en 받침?': 책, ㄱ: sí → 이 (no des la respuesta: pregunta por el 받침). Felicita por nombre: 잘했어요, ___! Anota x/5 en la hoja del curso.
Imagen: incluida (dibujo de la casa).
Fuente: Nueva
Lámina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20:05 (20 s). 'Esto es lo que van a poder decir al final de la clase. No lo expliquemos todavía: solo mírenlo.' Léelas una vez.
Fuente: Nueva
Lámina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20:05–20:08 (con L6). 'Hoy les cuento mi día. No les voy a traducir: escuchen, miren la imagen y escriban en el chat, en español, qué hago.' Di cada frase dos veces, con gesto: 일어나요. · 매일 커피 마셔요. · 공원에 가요. 그리고 운동해요. · 집에 가요. 그리고 밥 먹어요. · 지금 일해요! 하하. Si tu día es distinto, cambia el verbo o el lugar, no la estructura.
Imagen: incluida (dibujo de la casa).
Fuente: Nueva
Lámina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Revela después de las respuestas del chat y confírmalas: '¡Exacto! 일해요 es trabajo. Y ahora estoy trabajando… con ustedes.' Si vas atrasada, usa solo las imágenes 2, 3 y 5.
Imagen: incluida (dibujo de la casa).
Fuente: Nueva
Lámina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20:08–20:14 (L7–L12, rápidas). 'Todos los verbos que dije terminan en -요. En el diccionario terminan en -다: es como nuestro -ar, -er, -ir, sirve para buscar el verbo, pero nadie habla así.' Regla de bolsillo: ¿ㅏ u ㅗ? → -아요 · ¿otra? → -어요 · ¿하다? → 해요, siempre. 따라 하세요: 가요. 먹어요. 공부해요.
Fuente: A1_Nivel_1/04_Vida_Diaria/Sesion_04_Vida_Diaria.pptx lám. 44 (sin romanización, tú en vez de vos)
Lámina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 cada verbo con su gesto y di 따라 하세요 después de cada uno. Gestos (los mismos toda la clase): 가다 dos dedos que caminan alejándose · 오다 mano que llama hacia ti · 먹다 palillos a la boca · 마시다 taza a la boca · 보다 dos dedos desde los ojos hacia adelante · 자다 manos juntas bajo la mejilla.
Imagen: incluida (dibujo de la casa).
Fuente: A1_Nivel_1/04_Vida_Diaria/Sesion_04_Vida_Diaria.pptx lám. 46–47 (sin 읽다, 쓰다, 듣다, 좋아하다, 만나다, 청소하다, 말하다, 살다)
Lámina 8a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Gestos: 공부하다 escribir en la palma · 일하다 teclear · 운동하다 brazos de trote · 쉬다 manos detrás de la nuca · 요리하다 revolver una olla · 일어나다 estirarse y bostezar. Los tres últimos son del tema (se usan y se reconocen). 따라 하세요 después de cada uno; ojo con 쉬어요: la ㅟ en un golpe, como la 'ui' de cuidado.
Imagen: incluida (dibujo de la casa).
Fuente: A1_Nivel_1/04_Vida_Diaria/Sesion_04_Vida_Diaria.pptx lám. 46–47 (filtrados por la lista C)
Lámina 8b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s. 'Cuatro formas se aprenden tal cual, como vienen: 가요, 와요, 봐요, 마셔요. En la semana 7 les muestro el truco. Y 자요 y 일어나요 hacen lo mismo que 가요: la ㅏ se funde.' Dato opcional si el grupo va bien: ㅏ y ㅗ son vocales 'brillantes' (양성 모음) y buscan otra brillante: 아요.
Fuente: Nueva
Lámina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Coro de pronunciación (30 s), micrófonos en mute. '먹어요 se dice [머거요]: la ㄱ se pasa a la sílaba siguiente. 봐요: dos golpes, no tres. 마셔요: tres, no cuatro.' Aplaude los golpes. 따라 하세요: 먹어요… 봐요… 와요… 마셔요. La ㅎ de 해요 es un soplo suave, nunca jota.
Fuente: Nueva
Lámina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de referencia: no la leas entera. 'Una sola forma sirve para todos; quién va lo dice el contexto. Para preguntar, la voz hacia arriba.' 'El presente también es estoy -ando y hoy hago.' '오늘, 매일 y 지금 van al principio y solos, como hoy en español; y el café va solito: así se habla.' No escribas 을/를 en pantalla.
Fuente: Nueva
Lámina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'하다 es el comodín del coreano: hacer. Muchos verbos son una palabra + 하다.' Pregunta a un alumno: ___, 지금 뭐 해요? → 한국어 공부해요! (si se queda en blanco, sopla: 한국어…). Dos alumnos leen en voz alta un verbo cada uno con micrófono abierto.
Fuente: Nueva
Lámina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20:14–20:16 (2 min, con 13b). 'Escuchen a 지수, que es coreana y vive en Santiago, y a 마르코, su vecino. Se encuentran en un café, de mañana.' Lee con dos voces o pide a un alumno fuerte que lea 마르코: ___, 읽으세요. Revela el español al final.
Fuente: Nueva (diálogo original de C.7)
Lámina 13a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en español: ¿Qué hace 마르코? ¿Va a trabajar hoy? ¿Adónde va 지수? ¿Quién se va y quién se queda? (Ella se va: por eso dice 안녕히 계세요; él la despide con 안녕히 가세요.) Responden en voz alta o en el chat.
Fuente: Nueva (diálogo original de C.7)
Lámina 13b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20:16–20:18 (L14–L16). '¿Se acuerdan del 에 de la semana pasada? 책상 위에 있어요: en. Con 가요 y 와요, el mismo 에 es a: 회사에 가요, voy a la oficina. En coreano, dónde está y adónde voy usan el mismo 에.' Orden: el verbo siempre al final.
Fuente: A1_Nivel_1/06_Ubicacion/Sesion_06_Ubicacion.pptx lám. 11 (solo la mitad de arriba; tapar 에서)
Lámina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'가요 o 와요 funciona igual que en español. Si estoy en mi casa y te llamo: ¿Vienes? → 지금 와요? Y tú, que estás en la calle: ¡Ya voy! → 네, 지금 가요!' 따라 하세요 dos veces; divide la sala: una mitad pregunta, la otra responde. 'Ojo: 와! solito es ¡guau!, como en el diálogo; 와요 sí es viene.'
Imagen: incluida (dibujo de la casa).
Fuente: Nueva
Lámina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'Cuidado con esto, que lo van a querer decir: trabajo en una oficina. Para decir dónde haces algo se usa otra partícula, que llega en Básico 2. Por ahora lo decimos así: 회사에 가요. 그리고 일해요.' No escribas 에서 en pantalla. Si alguien pregunta por trabajar en una empresa en general, puedes dar 회사에 다녀요 solo como input, sin explicarlo.
Fuente: Nueva
Lámina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20:18–20:20 (2 min). 학교에 가요. 그리고 학원에 가요. (dos veces) 따라 하세요. 'Muchos estudiantes en Corea, después del colegio, van al 학원; nosotros somos un 학원 de coreano, pero online.' Pregunta: '¿Hay algo parecido en sus países?' 빨리빨리 solo si alguien lo menciona, como autoironía. Gancho opcional del 수능, una línea y en pasado (fue la semana anterior a esta clase): «el jueves pasado, 19 de noviembre, fue el 수능 en Corea, el gran examen de ingreso a la universidad».
Imagen: incluida (dibujo de la casa).
Fuente: Nueva
Lámina 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20:20–20:25 (5 min, 18a–18e). 'Yo digo el verbo del diccionario con su gesto; ustedes me devuelven el presente. Primero todos juntos, con el micrófono cerrado, en voz alta.' 가다! → 가요! Revela cada respuesta con clic. Corrige [머거요] y 봐요 de un golpe.
Fuente: A1_Nivel_1/04_Vida_Diaria/Sesion_04_Vida_Diaria.pptx lám. 48 (ampliada a 12 verbos)
Lámina 18a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Sigue la rueda en coro. Corrige la ㅜ de 운동 (labios redondos, u de uva) y la ㅎ de 해요 (soplo suave, no jota). 하다 → siempre 해요, nunca 하요.
Fuente: A1_Nivel_1/04_Vida_Diaria/Sesion_04_Vida_Diaria.pptx lám. 48 (ampliada a 12 verbos)
Lámina 18b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Relevo individual por nombre: 'Ahora uno por uno. Les doy tres pistas y ustedes arman la frase.' Micrófono abierto solo para quien tiene turno; ≈ 1 turno por alumno. Corrige solo forma y pronunciación: 다시 한번… 잘했어요!
Fuente: Nueva (pistas de C.8)
Lámina 18c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Sigue el relevo con otros alumnos. Con '?' la voz sube al final. 드라마 es un préstamo que todos reconocen (vuelve en la semana 8).
Fuente: Nueva (pistas de C.8)
Lámina 18d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Últimas pistas: aquí vuelve el 에 de destino y 그리고 entre dos frases. Si alguien dice 학교 가요 sin 에, en lo oral se acepta; recuerda que en la hoja y en el quiz va con 에.
Fuente: Nueva (pistas de C.8)
Lámina 18e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20:25–20:28 (3 min). 매일 커피 마셔요? 손 드세요! (haz el gesto). Cuenta y escribe el número junto al verbo (anotación de Zoom); levantan la mano en cámara o con la reacción. En voz alta, solo hasta 다섯 명; más de cinco, escribe el número. La última, en broma: 지금 자요? Si vas atrasada, solo 커피 마셔요 y 운동해요.
Fuente: Nueva
Lámina 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20:28–20:31 (3 min). Modela: [A], 어디에 가요? → A elige un ícono: 카페에 가요. → 그리고 뭐 해요? → 커피 마셔요. → 잘했어요! Para pasar el turno, en español: 'Ahora tú le preguntas a [B]' (no uses 한테 ni 물어보세요). Cadena de 5–6 alumnos.
Imagen: incluida (dibujo de la casa).
Fuente: A1_Nivel_1/06_Ubicacion/Sesion_06_Ubicacion.pptx lám. 7 (sin 백화점, 영화관, 시장 ni romanización; + 학원 y 한국)
Lámina 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20:31–20:32 (1 min). Pega esta lámina como imagen en el chat antes de abrir las salas: 5 tríos (lector rápido + lento), cierre a los 19 min + cuenta regresiva de 60 s. A las 20:40 transmite: 'Parte B · Cuenta el día de un compañero: 마리아는 매일 ___에 가요. 그리고 ___. · Él o ella responde 네! o 아니요, ___. · Después: dos verdades y una mentira.' En salas (20:32–20:49) rota ≈ 3,5 min por sala, corrige lo que bloquea y anota -아요/어요 y 에 de destino.
Fuente: Nueva
Lámina 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20:49–20:52 (3 min). Transmite a las 20:49: 'Minuto libre · 오늘 뭐 해요? · 집이 어디예요? · Sin cuaderno. Si no entiendes: 다시 한번!' Entra a una sala y solo escucha, no corrijas. Vuelven solas a las 20:52; plenario de 3 reportes (20:52–20:54): [B], 마리아는 매일 뭐 해요? → la aludida confirma 네! (elige un lector rápido, uno lento y alguien que habló poco).
Fuente: Tarjeta S6 de B.11 del diseño
Lámina 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20:54–20:56. Reemplaza los ejemplos por los 2–3 errores que anotaste en salas (✗ → ✓; en la lámina, nada de letras latinas) y que los digan corregidos en voz alta. 따라 하세요! 3 frases clave en coro: primero lento, después a ritmo natural (de aquí sale el clip B1_S06_frases_clave.mp3).
Fuente: Nueva
Lámina 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 min. 'Tarea para antes de la clase 7: Lector, Palabras, 3 rondas seguidas; la hoja de la lección 6; y un audio de 45 segundos con tu día, con al menos 6 verbos.' Menciona que el Contrarreloj es opcional (ahí se responde con letras latinas). 'Para la semana 7: ordenen su pieza o elijan una foto, porque vamos a hacer un tour.'
Fuente: Nueva
Lámina 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20:58. 감사합니다! 화이팅! (despedida en Zoom acordada en la S2). Detén la grabación a las 20:58: a las 21:00 entra otra clase en la misma cuenta. Dentro de 24 h: grabación + PDF del deck + tarea a la carpeta, mensaje post-clase y una línea a Jay.
Fuente: Nueva
Lámina 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PORTADA">
    <p:bg>
      <p:bgPr>
        <a:solidFill>
          <a:srgbClr val="003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</a:rPr>
              <a:t>ACADEMIA SEÚL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E8B84B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3DA"/>
                </a:solidFill>
              </a:rPr>
              <a:t>Básico 1 (A1.1) · Semana 6 · Kiran (기란) · Academia Seúl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03478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pic>
        <p:nvPicPr>
          <p:cNvPr id="3" name="Image 0" descr="C:/Users/Chingu/Desktop/ACADEMIASEULWEB/public/email/sello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411480"/>
            <a:ext cx="502920" cy="502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DA0"/>
                </a:solidFill>
              </a:rPr>
              <a:t>Básico 1 (A1.1) · Semana 6 · Kiran (기란) · Academia Seúl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IERRE">
    <p:bg>
      <p:bgPr>
        <a:solidFill>
          <a:srgbClr val="423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02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0"/>
          <p:cNvSpPr txBox="1"/>
          <p:nvPr/>
        </p:nvSpPr>
        <p:spPr>
          <a:xfrm>
            <a:off x="731520" y="62636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D7F7"/>
                </a:solidFill>
              </a:rPr>
              <a:t>Básico 1 (A1.1) · Semana 6 · Kiran (기란) · Academia Seúl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_ko"/>
          <p:cNvSpPr txBox="1"/>
          <p:nvPr/>
        </p:nvSpPr>
        <p:spPr>
          <a:xfrm>
            <a:off x="640080" y="16916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eaLnBrk="1">
              <a:buNone/>
            </a:pPr>
            <a:r>
              <a:rPr lang="ko-KR" altLang="en-US" sz="6600" b="1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학교에 가요</a:t>
            </a:r>
            <a:endParaRPr lang="en-US" sz="66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1">
              <a:buNone/>
            </a:pPr>
            <a:r>
              <a:rPr lang="en-US" sz="4400" b="1" dirty="0">
                <a:solidFill>
                  <a:srgbClr val="FFFFFF"/>
                </a:solidFill>
              </a:rPr>
              <a:t>Semana 6 · Mi día</a:t>
            </a: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2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Lección 6 del libro · Básico 1 (A1.1) · Kiran (기란</a:t>
            </a:r>
            <a:r>
              <a:rPr lang="en-US" sz="2200" dirty="0">
                <a:solidFill>
                  <a:srgbClr val="E8B84B"/>
                </a:solidFill>
              </a:rPr>
              <a:t>) · mar 24 / jue 26 nov · 20:00 (Chile)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Quiz 5</a:t>
            </a:r>
            <a:r>
              <a:rPr lang="en-US" sz="1500" b="1" i="1" dirty="0">
                <a:solidFill>
                  <a:srgbClr val="8A8DA0"/>
                </a:solidFill>
              </a:rPr>
              <a:t>   Quiz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Sobre la semana 5 · mira el dibujo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566928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컴퓨터가 책상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커피가 컴퓨터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책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의자 위에 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4. Escribe en coreano: ¿Dónde está el banco?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우산이 책상 위에 있어요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 solo mensaje, numerado, en 한글 </a:t>
            </a:r>
            <a:r>
              <a:rPr lang="en-US" sz="2400" dirty="0">
                <a:solidFill>
                  <a:srgbClr val="14142B"/>
                </a:solidFill>
              </a:rPr>
              <a:t>· todos envían a la vez: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r>
              <a:rPr lang="en-US" sz="2400" dirty="0">
                <a:solidFill>
                  <a:srgbClr val="14142B"/>
                </a:solidFill>
              </a:rPr>
              <a:t>!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6446520" y="1371600"/>
            <a:ext cx="5193792" cy="4800600"/>
          </a:xfrm>
          <a:prstGeom prst="roundRect">
            <a:avLst>
              <a:gd name="adj" fmla="val 4762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imagen" descr="C:\Users\Chingu\AppData\Local\Temp\claude\C--Users-Chingu-Desktop-ACADEMIASEULWEB\d4111e1b-5523-44ea-97b2-b1a1d9545b9e\scratchpad\decks\cache\img_4184bd60b3beb3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33" y="1463040"/>
            <a:ext cx="4005165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Quiz 5 · respuestas</a:t>
            </a:r>
            <a:r>
              <a:rPr lang="en-US" sz="1500" b="1" i="1" dirty="0">
                <a:solidFill>
                  <a:srgbClr val="8A8DA0"/>
                </a:solidFill>
              </a:rPr>
              <a:t>   Quiz 5 · answers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32ebea89337f79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6931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1 punto por ítem · Corregimos juntos</a:t>
            </a:r>
            <a:endParaRPr lang="en-US" sz="1800" dirty="0"/>
          </a:p>
        </p:txBody>
      </p:sp>
      <p:sp>
        <p:nvSpPr>
          <p:cNvPr id="5" name="num_0"/>
          <p:cNvSpPr/>
          <p:nvPr/>
        </p:nvSpPr>
        <p:spPr>
          <a:xfrm>
            <a:off x="548640" y="210677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1067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965960"/>
            <a:ext cx="273551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컴퓨터가 책상 </a:t>
            </a:r>
            <a:r>
              <a:rPr lang="en-US" sz="2300" dirty="0">
                <a:solidFill>
                  <a:srgbClr val="14142B"/>
                </a:solidFill>
              </a:rPr>
              <a:t>___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있어요</a:t>
            </a:r>
            <a:r>
              <a:rPr lang="en-US" sz="2300" dirty="0">
                <a:solidFill>
                  <a:srgbClr val="14142B"/>
                </a:solidFill>
              </a:rPr>
              <a:t>.</a:t>
            </a:r>
            <a:endParaRPr lang="en-US" sz="2300" dirty="0"/>
          </a:p>
        </p:txBody>
      </p:sp>
      <p:sp>
        <p:nvSpPr>
          <p:cNvPr id="8" name="rev_0_caja"/>
          <p:cNvSpPr/>
          <p:nvPr/>
        </p:nvSpPr>
        <p:spPr>
          <a:xfrm>
            <a:off x="4152839" y="2002536"/>
            <a:ext cx="332695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9" name="rev_0_txt"/>
          <p:cNvSpPr txBox="1"/>
          <p:nvPr/>
        </p:nvSpPr>
        <p:spPr>
          <a:xfrm>
            <a:off x="4244279" y="2002536"/>
            <a:ext cx="314407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</a:t>
            </a:r>
            <a:endParaRPr lang="en-US" sz="2200" dirty="0"/>
          </a:p>
        </p:txBody>
      </p:sp>
      <p:sp>
        <p:nvSpPr>
          <p:cNvPr id="10" name="num_1"/>
          <p:cNvSpPr/>
          <p:nvPr/>
        </p:nvSpPr>
        <p:spPr>
          <a:xfrm>
            <a:off x="548640" y="2973629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9736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832811"/>
            <a:ext cx="273551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커피가 컴퓨터 </a:t>
            </a:r>
            <a:r>
              <a:rPr lang="en-US" sz="2300" dirty="0">
                <a:solidFill>
                  <a:srgbClr val="14142B"/>
                </a:solidFill>
              </a:rPr>
              <a:t>___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있어요</a:t>
            </a:r>
            <a:r>
              <a:rPr lang="en-US" sz="2300" dirty="0">
                <a:solidFill>
                  <a:srgbClr val="14142B"/>
                </a:solidFill>
              </a:rPr>
              <a:t>.</a:t>
            </a:r>
            <a:endParaRPr lang="en-US" sz="2300" dirty="0"/>
          </a:p>
        </p:txBody>
      </p:sp>
      <p:sp>
        <p:nvSpPr>
          <p:cNvPr id="13" name="rev_1_caja"/>
          <p:cNvSpPr/>
          <p:nvPr/>
        </p:nvSpPr>
        <p:spPr>
          <a:xfrm>
            <a:off x="4152839" y="2869387"/>
            <a:ext cx="332695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4" name="rev_1_txt"/>
          <p:cNvSpPr txBox="1"/>
          <p:nvPr/>
        </p:nvSpPr>
        <p:spPr>
          <a:xfrm>
            <a:off x="4244279" y="2869387"/>
            <a:ext cx="314407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</a:t>
            </a:r>
            <a:endParaRPr lang="en-US" sz="2200" dirty="0"/>
          </a:p>
        </p:txBody>
      </p:sp>
      <p:sp>
        <p:nvSpPr>
          <p:cNvPr id="15" name="num_2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3699662"/>
            <a:ext cx="273551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</a:t>
            </a:r>
            <a:r>
              <a:rPr lang="en-US" sz="2300" dirty="0">
                <a:solidFill>
                  <a:srgbClr val="14142B"/>
                </a:solidFill>
              </a:rPr>
              <a:t>___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의자 위에 있어요</a:t>
            </a:r>
            <a:r>
              <a:rPr lang="en-US" sz="2300" dirty="0">
                <a:solidFill>
                  <a:srgbClr val="14142B"/>
                </a:solidFill>
              </a:rPr>
              <a:t>.</a:t>
            </a:r>
            <a:endParaRPr lang="en-US" sz="2300" dirty="0"/>
          </a:p>
        </p:txBody>
      </p:sp>
      <p:sp>
        <p:nvSpPr>
          <p:cNvPr id="18" name="rev_2_caja"/>
          <p:cNvSpPr/>
          <p:nvPr/>
        </p:nvSpPr>
        <p:spPr>
          <a:xfrm>
            <a:off x="4152839" y="3736238"/>
            <a:ext cx="332695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9" name="rev_2_txt"/>
          <p:cNvSpPr txBox="1"/>
          <p:nvPr/>
        </p:nvSpPr>
        <p:spPr>
          <a:xfrm>
            <a:off x="4244279" y="3736238"/>
            <a:ext cx="314407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sz="1900" b="1" dirty="0">
                <a:solidFill>
                  <a:srgbClr val="FFFFFF"/>
                </a:solidFill>
              </a:rPr>
              <a:t>→ </a:t>
            </a: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책이 </a:t>
            </a:r>
            <a:r>
              <a:rPr lang="en-US" sz="1900" b="1" dirty="0">
                <a:solidFill>
                  <a:srgbClr val="FFFFFF"/>
                </a:solidFill>
              </a:rPr>
              <a:t>(</a:t>
            </a: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</a:t>
            </a:r>
            <a:r>
              <a:rPr lang="en-US" sz="1900" b="1" dirty="0">
                <a:solidFill>
                  <a:srgbClr val="FFFFFF"/>
                </a:solidFill>
              </a:rPr>
              <a:t>termina en </a:t>
            </a: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받침</a:t>
            </a:r>
            <a:r>
              <a:rPr lang="en-US" sz="1900" b="1" dirty="0">
                <a:solidFill>
                  <a:srgbClr val="FFFFFF"/>
                </a:solidFill>
              </a:rPr>
              <a:t>)</a:t>
            </a:r>
            <a:endParaRPr lang="en-US" sz="1900" dirty="0"/>
          </a:p>
        </p:txBody>
      </p:sp>
      <p:sp>
        <p:nvSpPr>
          <p:cNvPr id="20" name="num_3"/>
          <p:cNvSpPr/>
          <p:nvPr/>
        </p:nvSpPr>
        <p:spPr>
          <a:xfrm>
            <a:off x="548640" y="4707331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7073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4566514"/>
            <a:ext cx="273551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300" dirty="0">
                <a:solidFill>
                  <a:srgbClr val="14142B"/>
                </a:solidFill>
              </a:rPr>
              <a:t>¿Dónde está el banco?</a:t>
            </a:r>
            <a:endParaRPr lang="en-US" sz="2300" dirty="0"/>
          </a:p>
        </p:txBody>
      </p:sp>
      <p:sp>
        <p:nvSpPr>
          <p:cNvPr id="23" name="rev_3_caja"/>
          <p:cNvSpPr/>
          <p:nvPr/>
        </p:nvSpPr>
        <p:spPr>
          <a:xfrm>
            <a:off x="4152839" y="4603090"/>
            <a:ext cx="332695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3_txt"/>
          <p:cNvSpPr txBox="1"/>
          <p:nvPr/>
        </p:nvSpPr>
        <p:spPr>
          <a:xfrm>
            <a:off x="4244279" y="4603090"/>
            <a:ext cx="314407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은행이 어디예요</a:t>
            </a:r>
            <a:r>
              <a:rPr lang="en-US" sz="1700" b="1" dirty="0">
                <a:solidFill>
                  <a:srgbClr val="FFFFFF"/>
                </a:solidFill>
              </a:rPr>
              <a:t>? (también: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은행이 어디에 있어요</a:t>
            </a:r>
            <a:r>
              <a:rPr lang="en-US" sz="1700" b="1" dirty="0">
                <a:solidFill>
                  <a:srgbClr val="FFFFFF"/>
                </a:solidFill>
              </a:rPr>
              <a:t>?)</a:t>
            </a:r>
            <a:endParaRPr lang="en-US" sz="1700" dirty="0"/>
          </a:p>
        </p:txBody>
      </p:sp>
      <p:sp>
        <p:nvSpPr>
          <p:cNvPr id="25" name="num_4"/>
          <p:cNvSpPr/>
          <p:nvPr/>
        </p:nvSpPr>
        <p:spPr>
          <a:xfrm>
            <a:off x="548640" y="557418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55741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188720" y="5433365"/>
            <a:ext cx="273551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우산이 책상 위에 있어요</a:t>
            </a:r>
            <a:r>
              <a:rPr lang="en-US" sz="2300" dirty="0">
                <a:solidFill>
                  <a:srgbClr val="14142B"/>
                </a:solidFill>
              </a:rPr>
              <a:t>?</a:t>
            </a:r>
            <a:endParaRPr lang="en-US" sz="2300" dirty="0"/>
          </a:p>
        </p:txBody>
      </p:sp>
      <p:sp>
        <p:nvSpPr>
          <p:cNvPr id="28" name="rev_4_caja"/>
          <p:cNvSpPr/>
          <p:nvPr/>
        </p:nvSpPr>
        <p:spPr>
          <a:xfrm>
            <a:off x="4152839" y="5469941"/>
            <a:ext cx="332695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9" name="rev_4_txt"/>
          <p:cNvSpPr txBox="1"/>
          <p:nvPr/>
        </p:nvSpPr>
        <p:spPr>
          <a:xfrm>
            <a:off x="4244279" y="5469941"/>
            <a:ext cx="314407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200" b="1" dirty="0">
                <a:solidFill>
                  <a:srgbClr val="FFFFFF"/>
                </a:solidFill>
              </a:rPr>
              <a:t>,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9" grpId="0" animBg="1"/>
      <p:bldP spid="24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2600" b="1" dirty="0">
                <a:solidFill>
                  <a:srgbClr val="003478"/>
                </a:solidFill>
              </a:rPr>
              <a:t>Esta semana vas a poder decir…</a:t>
            </a:r>
            <a:r>
              <a:rPr lang="en-US" sz="1500" b="1" i="1" dirty="0">
                <a:solidFill>
                  <a:srgbClr val="8A8DA0"/>
                </a:solidFill>
              </a:rPr>
              <a:t>   This week you'll be able to say…</a:t>
            </a:r>
            <a:endParaRPr lang="en-US" sz="3000" dirty="0"/>
          </a:p>
        </p:txBody>
      </p:sp>
      <p:graphicFrame>
        <p:nvGraphicFramePr>
          <p:cNvPr id="5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066926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Coreano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Español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가요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—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회사에 가요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¿Adónde vas? — Voy a la oficina.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뭐 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—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공부해요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¿Qué haces? — Estudio coreano.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커피 마셔요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Tomo café todos los días.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운동해요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Hoy hago ejercicio.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학교에 가요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그리고 학원에 가요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Voy al colegio. Y (después) voy a la academia.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El día de Kiran</a:t>
            </a:r>
            <a:r>
              <a:rPr lang="en-US" sz="1500" b="1" i="1" dirty="0">
                <a:solidFill>
                  <a:srgbClr val="8A8DA0"/>
                </a:solidFill>
              </a:rPr>
              <a:t>   Kiran's 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Escucha, mira la imagen y escribe en el chat, en español, qué hace Kiran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item_img_0" descr="C:\Users\Chingu\AppData\Local\Temp\claude\C--Users-Chingu-Desktop-ACADEMIASEULWEB\d4111e1b-5523-44ea-97b2-b1a1d9545b9e\scratchpad\decks\cache\img_b2b9b3d55cfff5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" y="2057400"/>
            <a:ext cx="1828800" cy="1828800"/>
          </a:xfrm>
          <a:prstGeom prst="rect">
            <a:avLst/>
          </a:prstGeom>
        </p:spPr>
      </p:pic>
      <p:sp>
        <p:nvSpPr>
          <p:cNvPr id="6" name="num_0"/>
          <p:cNvSpPr/>
          <p:nvPr/>
        </p:nvSpPr>
        <p:spPr>
          <a:xfrm>
            <a:off x="640080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dirty="0">
                <a:solidFill>
                  <a:srgbClr val="14142B"/>
                </a:solidFill>
              </a:rPr>
              <a:t>Imagen 1</a:t>
            </a:r>
            <a:endParaRPr lang="en-US" sz="2200" dirty="0"/>
          </a:p>
        </p:txBody>
      </p:sp>
      <p:sp>
        <p:nvSpPr>
          <p:cNvPr id="9" name="rev_5_caja"/>
          <p:cNvSpPr/>
          <p:nvPr/>
        </p:nvSpPr>
        <p:spPr>
          <a:xfrm>
            <a:off x="658368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0" name="rev_5_txt"/>
          <p:cNvSpPr txBox="1"/>
          <p:nvPr/>
        </p:nvSpPr>
        <p:spPr>
          <a:xfrm>
            <a:off x="685800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700" b="1" dirty="0">
                <a:solidFill>
                  <a:srgbClr val="FFFFFF"/>
                </a:solidFill>
              </a:rPr>
              <a:t>Se levanta.</a:t>
            </a:r>
            <a:endParaRPr lang="en-US" sz="1700" dirty="0"/>
          </a:p>
        </p:txBody>
      </p:sp>
      <p:sp>
        <p:nvSpPr>
          <p:cNvPr id="11" name="card_1"/>
          <p:cNvSpPr/>
          <p:nvPr/>
        </p:nvSpPr>
        <p:spPr>
          <a:xfrm>
            <a:off x="2803550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2" name="item_img_1" descr="C:\Users\Chingu\AppData\Local\Temp\claude\C--Users-Chingu-Desktop-ACADEMIASEULWEB\d4111e1b-5523-44ea-97b2-b1a1d9545b9e\scratchpad\decks\cache\img_34e2704b45229a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5166" y="2057400"/>
            <a:ext cx="1828800" cy="1828800"/>
          </a:xfrm>
          <a:prstGeom prst="rect">
            <a:avLst/>
          </a:prstGeom>
        </p:spPr>
      </p:pic>
      <p:sp>
        <p:nvSpPr>
          <p:cNvPr id="13" name="num_1"/>
          <p:cNvSpPr/>
          <p:nvPr/>
        </p:nvSpPr>
        <p:spPr>
          <a:xfrm>
            <a:off x="2894990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89499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2894990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dirty="0">
                <a:solidFill>
                  <a:srgbClr val="14142B"/>
                </a:solidFill>
              </a:rPr>
              <a:t>Imagen 2</a:t>
            </a:r>
            <a:endParaRPr lang="en-US" sz="2200" dirty="0"/>
          </a:p>
        </p:txBody>
      </p:sp>
      <p:sp>
        <p:nvSpPr>
          <p:cNvPr id="16" name="rev_6_caja"/>
          <p:cNvSpPr/>
          <p:nvPr/>
        </p:nvSpPr>
        <p:spPr>
          <a:xfrm>
            <a:off x="2913278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7" name="rev_6_txt"/>
          <p:cNvSpPr txBox="1"/>
          <p:nvPr/>
        </p:nvSpPr>
        <p:spPr>
          <a:xfrm>
            <a:off x="2940710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700" b="1" dirty="0">
                <a:solidFill>
                  <a:srgbClr val="FFFFFF"/>
                </a:solidFill>
              </a:rPr>
              <a:t>Toma café todos los días.</a:t>
            </a:r>
            <a:endParaRPr lang="en-US" sz="1700" dirty="0"/>
          </a:p>
        </p:txBody>
      </p:sp>
      <p:sp>
        <p:nvSpPr>
          <p:cNvPr id="18" name="card_2"/>
          <p:cNvSpPr/>
          <p:nvPr/>
        </p:nvSpPr>
        <p:spPr>
          <a:xfrm>
            <a:off x="5058461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9" name="item_img_2" descr="C:\Users\Chingu\AppData\Local\Temp\claude\C--Users-Chingu-Desktop-ACADEMIASEULWEB\d4111e1b-5523-44ea-97b2-b1a1d9545b9e\scratchpad\decks\cache\img_2c4e47e0cd3483c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0076" y="2057400"/>
            <a:ext cx="1828800" cy="1828800"/>
          </a:xfrm>
          <a:prstGeom prst="rect">
            <a:avLst/>
          </a:prstGeom>
        </p:spPr>
      </p:pic>
      <p:sp>
        <p:nvSpPr>
          <p:cNvPr id="20" name="num_2"/>
          <p:cNvSpPr/>
          <p:nvPr/>
        </p:nvSpPr>
        <p:spPr>
          <a:xfrm>
            <a:off x="5149901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149901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5149901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dirty="0">
                <a:solidFill>
                  <a:srgbClr val="14142B"/>
                </a:solidFill>
              </a:rPr>
              <a:t>Imagen 3</a:t>
            </a:r>
            <a:endParaRPr lang="en-US" sz="2200" dirty="0"/>
          </a:p>
        </p:txBody>
      </p:sp>
      <p:sp>
        <p:nvSpPr>
          <p:cNvPr id="23" name="rev_7_caja"/>
          <p:cNvSpPr/>
          <p:nvPr/>
        </p:nvSpPr>
        <p:spPr>
          <a:xfrm>
            <a:off x="5168189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7_txt"/>
          <p:cNvSpPr txBox="1"/>
          <p:nvPr/>
        </p:nvSpPr>
        <p:spPr>
          <a:xfrm>
            <a:off x="5195621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700" b="1" dirty="0">
                <a:solidFill>
                  <a:srgbClr val="FFFFFF"/>
                </a:solidFill>
              </a:rPr>
              <a:t>Va al parque y hace ejercicio.</a:t>
            </a:r>
            <a:endParaRPr lang="en-US" sz="1700" dirty="0"/>
          </a:p>
        </p:txBody>
      </p:sp>
      <p:sp>
        <p:nvSpPr>
          <p:cNvPr id="25" name="card_3"/>
          <p:cNvSpPr/>
          <p:nvPr/>
        </p:nvSpPr>
        <p:spPr>
          <a:xfrm>
            <a:off x="7313371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6" name="item_img_3" descr="C:\Users\Chingu\AppData\Local\Temp\claude\C--Users-Chingu-Desktop-ACADEMIASEULWEB\d4111e1b-5523-44ea-97b2-b1a1d9545b9e\scratchpad\decks\cache\img_517fc8860eb4f78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986" y="2057400"/>
            <a:ext cx="1828800" cy="1828800"/>
          </a:xfrm>
          <a:prstGeom prst="rect">
            <a:avLst/>
          </a:prstGeom>
        </p:spPr>
      </p:pic>
      <p:sp>
        <p:nvSpPr>
          <p:cNvPr id="27" name="num_3"/>
          <p:cNvSpPr/>
          <p:nvPr/>
        </p:nvSpPr>
        <p:spPr>
          <a:xfrm>
            <a:off x="7404811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404811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7404811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dirty="0">
                <a:solidFill>
                  <a:srgbClr val="14142B"/>
                </a:solidFill>
              </a:rPr>
              <a:t>Imagen 4</a:t>
            </a:r>
            <a:endParaRPr lang="en-US" sz="2200" dirty="0"/>
          </a:p>
        </p:txBody>
      </p:sp>
      <p:sp>
        <p:nvSpPr>
          <p:cNvPr id="30" name="rev_8_caja"/>
          <p:cNvSpPr/>
          <p:nvPr/>
        </p:nvSpPr>
        <p:spPr>
          <a:xfrm>
            <a:off x="7423099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1" name="rev_8_txt"/>
          <p:cNvSpPr txBox="1"/>
          <p:nvPr/>
        </p:nvSpPr>
        <p:spPr>
          <a:xfrm>
            <a:off x="7450531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700" b="1" dirty="0">
                <a:solidFill>
                  <a:srgbClr val="FFFFFF"/>
                </a:solidFill>
              </a:rPr>
              <a:t>Va a casa y come.</a:t>
            </a:r>
            <a:endParaRPr lang="en-US" sz="1700" dirty="0"/>
          </a:p>
        </p:txBody>
      </p:sp>
      <p:sp>
        <p:nvSpPr>
          <p:cNvPr id="32" name="card_4"/>
          <p:cNvSpPr/>
          <p:nvPr/>
        </p:nvSpPr>
        <p:spPr>
          <a:xfrm>
            <a:off x="9568282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3" name="item_img_4" descr="C:\Users\Chingu\AppData\Local\Temp\claude\C--Users-Chingu-Desktop-ACADEMIASEULWEB\d4111e1b-5523-44ea-97b2-b1a1d9545b9e\scratchpad\decks\cache\img_0eb9c0c15217995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9897" y="2057400"/>
            <a:ext cx="1828800" cy="1828800"/>
          </a:xfrm>
          <a:prstGeom prst="rect">
            <a:avLst/>
          </a:prstGeom>
        </p:spPr>
      </p:pic>
      <p:sp>
        <p:nvSpPr>
          <p:cNvPr id="34" name="num_4"/>
          <p:cNvSpPr/>
          <p:nvPr/>
        </p:nvSpPr>
        <p:spPr>
          <a:xfrm>
            <a:off x="9659722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9659722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9659722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dirty="0">
                <a:solidFill>
                  <a:srgbClr val="14142B"/>
                </a:solidFill>
              </a:rPr>
              <a:t>Imagen 5</a:t>
            </a:r>
            <a:endParaRPr lang="en-US" sz="2200" dirty="0"/>
          </a:p>
        </p:txBody>
      </p:sp>
      <p:sp>
        <p:nvSpPr>
          <p:cNvPr id="37" name="rev_9_caja"/>
          <p:cNvSpPr/>
          <p:nvPr/>
        </p:nvSpPr>
        <p:spPr>
          <a:xfrm>
            <a:off x="9678010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8" name="rev_9_txt"/>
          <p:cNvSpPr txBox="1"/>
          <p:nvPr/>
        </p:nvSpPr>
        <p:spPr>
          <a:xfrm>
            <a:off x="9705442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700" b="1" dirty="0">
                <a:solidFill>
                  <a:srgbClr val="FFFFFF"/>
                </a:solidFill>
              </a:rPr>
              <a:t>Ahora trabaja (¡con ustedes!).</a:t>
            </a:r>
            <a:endParaRPr lang="en-US" sz="17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24" grpId="0" animBg="1"/>
      <p:bldP spid="31" grpId="0" animBg="1"/>
      <p:bldP spid="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El día de Kiran</a:t>
            </a:r>
            <a:r>
              <a:rPr lang="en-US" sz="1500" b="1" i="1" dirty="0">
                <a:solidFill>
                  <a:srgbClr val="8A8DA0"/>
                </a:solidFill>
              </a:rPr>
              <a:t>   Kiran's day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18c09010d96172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graphicFrame>
        <p:nvGraphicFramePr>
          <p:cNvPr id="7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759510"/>
              </p:ext>
            </p:extLst>
          </p:nvPr>
        </p:nvGraphicFramePr>
        <p:xfrm>
          <a:off x="548640" y="1325880"/>
          <a:ext cx="6931152" cy="914400"/>
        </p:xfrm>
        <a:graphic>
          <a:graphicData uri="http://schemas.openxmlformats.org/drawingml/2006/table">
            <a:tbl>
              <a:tblPr/>
              <a:tblGrid>
                <a:gridCol w="2310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0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0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Kiran dice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Español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일어나요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Me levanto.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커피 마셔요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Tomo café todos los días.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공원에 가요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그리고 운동해요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Voy al parque. Y hago ejercicio.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집에 가요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그리고 밥 먹어요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Voy a casa. Y como.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일해요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!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¡Ahora estoy trabajando!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가다 </a:t>
            </a:r>
            <a:r>
              <a:rPr lang="en-US" sz="3000" b="1" dirty="0">
                <a:solidFill>
                  <a:srgbClr val="4236F6"/>
                </a:solidFill>
              </a:rPr>
              <a:t>→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 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 가다 </a:t>
            </a:r>
            <a:r>
              <a:rPr lang="en-US" sz="3000" b="1" dirty="0">
                <a:solidFill>
                  <a:srgbClr val="003478"/>
                </a:solidFill>
              </a:rPr>
              <a:t>a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</a:t>
            </a:r>
            <a:r>
              <a:rPr lang="ko-KR" altLang="en-US" sz="1500" b="1" i="1" dirty="0">
                <a:solidFill>
                  <a:srgbClr val="8A8DA0"/>
                </a:solidFill>
              </a:rPr>
              <a:t>   From 가다 to 가요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-다 </a:t>
            </a:r>
            <a:r>
              <a:rPr lang="en-US" sz="1800" i="1" dirty="0">
                <a:solidFill>
                  <a:srgbClr val="4236F6"/>
                </a:solidFill>
              </a:rPr>
              <a:t>= como -ar/-er/-ir · 1. saca el -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</a:t>
            </a:r>
            <a:r>
              <a:rPr lang="en-US" sz="1800" i="1" dirty="0">
                <a:solidFill>
                  <a:srgbClr val="4236F6"/>
                </a:solidFill>
              </a:rPr>
              <a:t>· 2. mira la última vocal de la raíz</a:t>
            </a:r>
            <a:endParaRPr lang="en-US" sz="1800" dirty="0"/>
          </a:p>
        </p:txBody>
      </p:sp>
      <p:graphicFrame>
        <p:nvGraphicFramePr>
          <p:cNvPr id="8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24939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Última vocal de la raíz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Agregas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Ejemplo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ㅏ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o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ㅗ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-아요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가다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cualquier otra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먹다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먹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먹어요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하다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(o termina en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하다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, siempre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공부하다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공부해요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Los verbos de la semana (1)</a:t>
            </a:r>
            <a:r>
              <a:rPr lang="en-US" sz="1500" b="1" i="1" dirty="0">
                <a:solidFill>
                  <a:srgbClr val="8A8DA0"/>
                </a:solidFill>
              </a:rPr>
              <a:t>   This week's verbs (1)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Núcleo: entran en el quiz y en el examen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6ed44828e512e2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762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가다 </a:t>
            </a:r>
            <a:r>
              <a:rPr lang="en-US" sz="2500" b="1" dirty="0">
                <a:solidFill>
                  <a:srgbClr val="4236F6"/>
                </a:solidFill>
              </a:rPr>
              <a:t>→ </a:t>
            </a: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ir</a:t>
            </a:r>
            <a:endParaRPr lang="en-US" sz="1600" dirty="0"/>
          </a:p>
        </p:txBody>
      </p:sp>
      <p:sp>
        <p:nvSpPr>
          <p:cNvPr id="8" name="card_1"/>
          <p:cNvSpPr/>
          <p:nvPr/>
        </p:nvSpPr>
        <p:spPr>
          <a:xfrm>
            <a:off x="4322064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9" name="dibujo_1" descr="C:\Users\Chingu\AppData\Local\Temp\claude\C--Users-Chingu-Desktop-ACADEMIASEULWEB\d4111e1b-5523-44ea-97b2-b1a1d9545b9e\scratchpad\decks\cache\img_719ac7e6d7b53d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186" y="1984248"/>
            <a:ext cx="976579" cy="97657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22064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오다 </a:t>
            </a:r>
            <a:r>
              <a:rPr lang="en-US" sz="2500" b="1" dirty="0">
                <a:solidFill>
                  <a:srgbClr val="4236F6"/>
                </a:solidFill>
              </a:rPr>
              <a:t>→ </a:t>
            </a: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와요</a:t>
            </a:r>
            <a:endParaRPr lang="en-US" sz="2500" dirty="0"/>
          </a:p>
        </p:txBody>
      </p:sp>
      <p:sp>
        <p:nvSpPr>
          <p:cNvPr id="11" name="Text 7"/>
          <p:cNvSpPr txBox="1"/>
          <p:nvPr/>
        </p:nvSpPr>
        <p:spPr>
          <a:xfrm>
            <a:off x="4395216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venir</a:t>
            </a:r>
            <a:endParaRPr lang="en-US" sz="1600" dirty="0"/>
          </a:p>
        </p:txBody>
      </p:sp>
      <p:sp>
        <p:nvSpPr>
          <p:cNvPr id="12" name="card_2"/>
          <p:cNvSpPr/>
          <p:nvPr/>
        </p:nvSpPr>
        <p:spPr>
          <a:xfrm>
            <a:off x="8095488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3" name="dibujo_2" descr="C:\Users\Chingu\AppData\Local\Temp\claude\C--Users-Chingu-Desktop-ACADEMIASEULWEB\d4111e1b-5523-44ea-97b2-b1a1d9545b9e\scratchpad\decks\cache\img_86b94e78155865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9610" y="1984248"/>
            <a:ext cx="976579" cy="97657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95488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먹다 </a:t>
            </a:r>
            <a:r>
              <a:rPr lang="en-US" sz="2500" b="1" dirty="0">
                <a:solidFill>
                  <a:srgbClr val="4236F6"/>
                </a:solidFill>
              </a:rPr>
              <a:t>→ </a:t>
            </a: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먹어요</a:t>
            </a:r>
            <a:endParaRPr lang="en-US" sz="2500" dirty="0"/>
          </a:p>
        </p:txBody>
      </p:sp>
      <p:sp>
        <p:nvSpPr>
          <p:cNvPr id="15" name="Text 10"/>
          <p:cNvSpPr txBox="1"/>
          <p:nvPr/>
        </p:nvSpPr>
        <p:spPr>
          <a:xfrm>
            <a:off x="8095488" y="3386023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[머거요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168640" y="3660343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comer</a:t>
            </a:r>
            <a:endParaRPr lang="en-US" sz="1600" dirty="0"/>
          </a:p>
        </p:txBody>
      </p:sp>
      <p:sp>
        <p:nvSpPr>
          <p:cNvPr id="17" name="card_3"/>
          <p:cNvSpPr/>
          <p:nvPr/>
        </p:nvSpPr>
        <p:spPr>
          <a:xfrm>
            <a:off x="548640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8" name="dibujo_3" descr="C:\Users\Chingu\AppData\Local\Temp\claude\C--Users-Chingu-Desktop-ACADEMIASEULWEB\d4111e1b-5523-44ea-97b2-b1a1d9545b9e\scratchpad\decks\cache\img_14ad6445a3f36e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2762" y="4247388"/>
            <a:ext cx="976579" cy="97657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8640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마시다 </a:t>
            </a:r>
            <a:r>
              <a:rPr lang="en-US" sz="2500" b="1" dirty="0">
                <a:solidFill>
                  <a:srgbClr val="4236F6"/>
                </a:solidFill>
              </a:rPr>
              <a:t>→ </a:t>
            </a: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마셔요</a:t>
            </a:r>
            <a:endParaRPr lang="en-US" sz="2500" dirty="0"/>
          </a:p>
        </p:txBody>
      </p:sp>
      <p:sp>
        <p:nvSpPr>
          <p:cNvPr id="20" name="Text 14"/>
          <p:cNvSpPr txBox="1"/>
          <p:nvPr/>
        </p:nvSpPr>
        <p:spPr>
          <a:xfrm>
            <a:off x="621792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beber, tomar</a:t>
            </a:r>
            <a:endParaRPr lang="en-US" sz="1600" dirty="0"/>
          </a:p>
        </p:txBody>
      </p:sp>
      <p:sp>
        <p:nvSpPr>
          <p:cNvPr id="21" name="card_4"/>
          <p:cNvSpPr/>
          <p:nvPr/>
        </p:nvSpPr>
        <p:spPr>
          <a:xfrm>
            <a:off x="4322064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2" name="dibujo_4" descr="C:\Users\Chingu\AppData\Local\Temp\claude\C--Users-Chingu-Desktop-ACADEMIASEULWEB\d4111e1b-5523-44ea-97b2-b1a1d9545b9e\scratchpad\decks\cache\img_93de982f438044d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6186" y="4247388"/>
            <a:ext cx="976579" cy="976579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322064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 </a:t>
            </a:r>
            <a:r>
              <a:rPr lang="en-US" sz="2500" b="1" dirty="0">
                <a:solidFill>
                  <a:srgbClr val="4236F6"/>
                </a:solidFill>
              </a:rPr>
              <a:t>→ </a:t>
            </a: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봐요</a:t>
            </a:r>
            <a:endParaRPr lang="en-US" sz="2500" dirty="0"/>
          </a:p>
        </p:txBody>
      </p:sp>
      <p:sp>
        <p:nvSpPr>
          <p:cNvPr id="24" name="Text 17"/>
          <p:cNvSpPr txBox="1"/>
          <p:nvPr/>
        </p:nvSpPr>
        <p:spPr>
          <a:xfrm>
            <a:off x="4395216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ver, mirar</a:t>
            </a:r>
            <a:endParaRPr lang="en-US" sz="1600" dirty="0"/>
          </a:p>
        </p:txBody>
      </p:sp>
      <p:sp>
        <p:nvSpPr>
          <p:cNvPr id="25" name="card_5"/>
          <p:cNvSpPr/>
          <p:nvPr/>
        </p:nvSpPr>
        <p:spPr>
          <a:xfrm>
            <a:off x="8095488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6" name="dibujo_5" descr="C:\Users\Chingu\AppData\Local\Temp\claude\C--Users-Chingu-Desktop-ACADEMIASEULWEB\d4111e1b-5523-44ea-97b2-b1a1d9545b9e\scratchpad\decks\cache\img_2a219bc5df84b15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9610" y="4247388"/>
            <a:ext cx="976579" cy="976579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095488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자다 </a:t>
            </a:r>
            <a:r>
              <a:rPr lang="en-US" sz="2500" b="1" dirty="0">
                <a:solidFill>
                  <a:srgbClr val="4236F6"/>
                </a:solidFill>
              </a:rPr>
              <a:t>→ </a:t>
            </a: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자요</a:t>
            </a:r>
            <a:endParaRPr lang="en-US" sz="2500" dirty="0"/>
          </a:p>
        </p:txBody>
      </p:sp>
      <p:sp>
        <p:nvSpPr>
          <p:cNvPr id="28" name="Text 20"/>
          <p:cNvSpPr txBox="1"/>
          <p:nvPr/>
        </p:nvSpPr>
        <p:spPr>
          <a:xfrm>
            <a:off x="8168640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dormir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Los verbos de la semana (2)</a:t>
            </a:r>
            <a:r>
              <a:rPr lang="en-US" sz="1500" b="1" i="1" dirty="0">
                <a:solidFill>
                  <a:srgbClr val="8A8DA0"/>
                </a:solidFill>
              </a:rPr>
              <a:t>   This week's verbs (2)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Núcleo: 공부하다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일하다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운동하다 </a:t>
            </a:r>
            <a:r>
              <a:rPr lang="en-US" sz="1800" i="1" dirty="0">
                <a:solidFill>
                  <a:srgbClr val="4236F6"/>
                </a:solidFill>
              </a:rPr>
              <a:t>· del tema: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쉬다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요리하다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일어나다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e02331c0407cc5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762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공부하다 </a:t>
            </a:r>
            <a:r>
              <a:rPr lang="en-US" sz="2500" b="1" dirty="0">
                <a:solidFill>
                  <a:srgbClr val="4236F6"/>
                </a:solidFill>
              </a:rPr>
              <a:t>→ </a:t>
            </a: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공부해요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estudiar</a:t>
            </a:r>
            <a:endParaRPr lang="en-US" sz="1600" dirty="0"/>
          </a:p>
        </p:txBody>
      </p:sp>
      <p:sp>
        <p:nvSpPr>
          <p:cNvPr id="8" name="card_1"/>
          <p:cNvSpPr/>
          <p:nvPr/>
        </p:nvSpPr>
        <p:spPr>
          <a:xfrm>
            <a:off x="4322064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9" name="dibujo_1" descr="C:\Users\Chingu\AppData\Local\Temp\claude\C--Users-Chingu-Desktop-ACADEMIASEULWEB\d4111e1b-5523-44ea-97b2-b1a1d9545b9e\scratchpad\decks\cache\img_ce71c22f210bf4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186" y="1984248"/>
            <a:ext cx="976579" cy="97657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22064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일하다 </a:t>
            </a:r>
            <a:r>
              <a:rPr lang="en-US" sz="2500" b="1" dirty="0">
                <a:solidFill>
                  <a:srgbClr val="4236F6"/>
                </a:solidFill>
              </a:rPr>
              <a:t>→ </a:t>
            </a: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일해요</a:t>
            </a:r>
            <a:endParaRPr lang="en-US" sz="2500" dirty="0"/>
          </a:p>
        </p:txBody>
      </p:sp>
      <p:sp>
        <p:nvSpPr>
          <p:cNvPr id="11" name="Text 7"/>
          <p:cNvSpPr txBox="1"/>
          <p:nvPr/>
        </p:nvSpPr>
        <p:spPr>
          <a:xfrm>
            <a:off x="4395216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trabajar</a:t>
            </a:r>
            <a:endParaRPr lang="en-US" sz="1600" dirty="0"/>
          </a:p>
        </p:txBody>
      </p:sp>
      <p:sp>
        <p:nvSpPr>
          <p:cNvPr id="12" name="card_2"/>
          <p:cNvSpPr/>
          <p:nvPr/>
        </p:nvSpPr>
        <p:spPr>
          <a:xfrm>
            <a:off x="8095488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3" name="dibujo_2" descr="C:\Users\Chingu\AppData\Local\Temp\claude\C--Users-Chingu-Desktop-ACADEMIASEULWEB\d4111e1b-5523-44ea-97b2-b1a1d9545b9e\scratchpad\decks\cache\img_d512da8f599997d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9610" y="1984248"/>
            <a:ext cx="976579" cy="97657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95488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운동하다 </a:t>
            </a:r>
            <a:r>
              <a:rPr lang="en-US" sz="2500" b="1" dirty="0">
                <a:solidFill>
                  <a:srgbClr val="4236F6"/>
                </a:solidFill>
              </a:rPr>
              <a:t>→ </a:t>
            </a: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운동해요</a:t>
            </a:r>
            <a:endParaRPr lang="en-US" sz="2500" dirty="0"/>
          </a:p>
        </p:txBody>
      </p:sp>
      <p:sp>
        <p:nvSpPr>
          <p:cNvPr id="15" name="Text 10"/>
          <p:cNvSpPr txBox="1"/>
          <p:nvPr/>
        </p:nvSpPr>
        <p:spPr>
          <a:xfrm>
            <a:off x="8168640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hacer ejercicio</a:t>
            </a:r>
            <a:endParaRPr lang="en-US" sz="1600" dirty="0"/>
          </a:p>
        </p:txBody>
      </p:sp>
      <p:sp>
        <p:nvSpPr>
          <p:cNvPr id="16" name="card_3"/>
          <p:cNvSpPr/>
          <p:nvPr/>
        </p:nvSpPr>
        <p:spPr>
          <a:xfrm>
            <a:off x="548640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7" name="dibujo_3" descr="C:\Users\Chingu\AppData\Local\Temp\claude\C--Users-Chingu-Desktop-ACADEMIASEULWEB\d4111e1b-5523-44ea-97b2-b1a1d9545b9e\scratchpad\decks\cache\img_1f71fbd89d9ee11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2762" y="4247388"/>
            <a:ext cx="976579" cy="97657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8640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쉬다 </a:t>
            </a:r>
            <a:r>
              <a:rPr lang="en-US" sz="2500" b="1" dirty="0">
                <a:solidFill>
                  <a:srgbClr val="4236F6"/>
                </a:solidFill>
              </a:rPr>
              <a:t>→ </a:t>
            </a: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쉬어요</a:t>
            </a:r>
            <a:endParaRPr lang="en-US" sz="2500" dirty="0"/>
          </a:p>
        </p:txBody>
      </p:sp>
      <p:sp>
        <p:nvSpPr>
          <p:cNvPr id="19" name="Text 13"/>
          <p:cNvSpPr txBox="1"/>
          <p:nvPr/>
        </p:nvSpPr>
        <p:spPr>
          <a:xfrm>
            <a:off x="621792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400" dirty="0">
                <a:solidFill>
                  <a:srgbClr val="5C5F6B"/>
                </a:solidFill>
              </a:rPr>
              <a:t>descansar; tener el día libre</a:t>
            </a:r>
            <a:endParaRPr lang="en-US" sz="1400" dirty="0"/>
          </a:p>
        </p:txBody>
      </p:sp>
      <p:sp>
        <p:nvSpPr>
          <p:cNvPr id="20" name="card_4"/>
          <p:cNvSpPr/>
          <p:nvPr/>
        </p:nvSpPr>
        <p:spPr>
          <a:xfrm>
            <a:off x="4322064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1" name="dibujo_4" descr="C:\Users\Chingu\AppData\Local\Temp\claude\C--Users-Chingu-Desktop-ACADEMIASEULWEB\d4111e1b-5523-44ea-97b2-b1a1d9545b9e\scratchpad\decks\cache\img_677dc370b2334a7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6186" y="4247388"/>
            <a:ext cx="976579" cy="976579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322064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요리하다 </a:t>
            </a:r>
            <a:r>
              <a:rPr lang="en-US" sz="2500" b="1" dirty="0">
                <a:solidFill>
                  <a:srgbClr val="4236F6"/>
                </a:solidFill>
              </a:rPr>
              <a:t>→ </a:t>
            </a: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요리해요</a:t>
            </a:r>
            <a:endParaRPr lang="en-US" sz="2500" dirty="0"/>
          </a:p>
        </p:txBody>
      </p:sp>
      <p:sp>
        <p:nvSpPr>
          <p:cNvPr id="23" name="Text 16"/>
          <p:cNvSpPr txBox="1"/>
          <p:nvPr/>
        </p:nvSpPr>
        <p:spPr>
          <a:xfrm>
            <a:off x="4395216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cocinar</a:t>
            </a:r>
            <a:endParaRPr lang="en-US" sz="1600" dirty="0"/>
          </a:p>
        </p:txBody>
      </p:sp>
      <p:sp>
        <p:nvSpPr>
          <p:cNvPr id="24" name="card_5"/>
          <p:cNvSpPr/>
          <p:nvPr/>
        </p:nvSpPr>
        <p:spPr>
          <a:xfrm>
            <a:off x="8095488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5" name="dibujo_5" descr="C:\Users\Chingu\AppData\Local\Temp\claude\C--Users-Chingu-Desktop-ACADEMIASEULWEB\d4111e1b-5523-44ea-97b2-b1a1d9545b9e\scratchpad\decks\cache\img_fd76a12a6d52da3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9610" y="4247388"/>
            <a:ext cx="976579" cy="976579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095488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일어나다 </a:t>
            </a:r>
            <a:r>
              <a:rPr lang="en-US" sz="2500" b="1" dirty="0">
                <a:solidFill>
                  <a:srgbClr val="4236F6"/>
                </a:solidFill>
              </a:rPr>
              <a:t>→ </a:t>
            </a: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일어나요</a:t>
            </a:r>
            <a:endParaRPr lang="en-US" sz="2500" dirty="0"/>
          </a:p>
        </p:txBody>
      </p:sp>
      <p:sp>
        <p:nvSpPr>
          <p:cNvPr id="27" name="Text 19"/>
          <p:cNvSpPr txBox="1"/>
          <p:nvPr/>
        </p:nvSpPr>
        <p:spPr>
          <a:xfrm>
            <a:off x="8095488" y="5649163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[이러나요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8168640" y="5923483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levantarse, despertarse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4 formas tal cual</a:t>
            </a:r>
            <a:r>
              <a:rPr lang="en-US" sz="1500" b="1" i="1" dirty="0">
                <a:solidFill>
                  <a:srgbClr val="8A8DA0"/>
                </a:solidFill>
              </a:rPr>
              <a:t>   4 forms to learn as they are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Como 가요</a:t>
            </a:r>
            <a:r>
              <a:rPr lang="en-US" sz="1800" i="1" dirty="0">
                <a:solidFill>
                  <a:srgbClr val="4236F6"/>
                </a:solidFill>
              </a:rPr>
              <a:t>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자요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일어나요 </a:t>
            </a:r>
            <a:r>
              <a:rPr lang="en-US" sz="1800" i="1" dirty="0">
                <a:solidFill>
                  <a:srgbClr val="4236F6"/>
                </a:solidFill>
              </a:rPr>
              <a:t>(la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 </a:t>
            </a:r>
            <a:r>
              <a:rPr lang="en-US" sz="1800" i="1" dirty="0">
                <a:solidFill>
                  <a:srgbClr val="4236F6"/>
                </a:solidFill>
              </a:rPr>
              <a:t>se funde) · el truco, en la semana 7</a:t>
            </a:r>
            <a:endParaRPr lang="en-US" sz="1800" dirty="0"/>
          </a:p>
        </p:txBody>
      </p:sp>
      <p:sp>
        <p:nvSpPr>
          <p:cNvPr id="4" name="tile_0"/>
          <p:cNvSpPr/>
          <p:nvPr/>
        </p:nvSpPr>
        <p:spPr>
          <a:xfrm>
            <a:off x="548640" y="1874520"/>
            <a:ext cx="2601468" cy="2377440"/>
          </a:xfrm>
          <a:prstGeom prst="roundRect">
            <a:avLst>
              <a:gd name="adj" fmla="val 5769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47672"/>
            <a:ext cx="2601468" cy="1474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</a:t>
            </a:r>
            <a:endParaRPr lang="en-US" sz="5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396082"/>
            <a:ext cx="2510028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000" dirty="0">
                <a:solidFill>
                  <a:srgbClr val="5C5F6B"/>
                </a:solidFill>
              </a:rPr>
              <a:t>ir</a:t>
            </a:r>
            <a:endParaRPr lang="en-US" sz="2000" dirty="0"/>
          </a:p>
        </p:txBody>
      </p:sp>
      <p:sp>
        <p:nvSpPr>
          <p:cNvPr id="7" name="tile_1"/>
          <p:cNvSpPr/>
          <p:nvPr/>
        </p:nvSpPr>
        <p:spPr>
          <a:xfrm>
            <a:off x="3378708" y="1874520"/>
            <a:ext cx="2601468" cy="2377440"/>
          </a:xfrm>
          <a:prstGeom prst="roundRect">
            <a:avLst>
              <a:gd name="adj" fmla="val 5769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78708" y="1947672"/>
            <a:ext cx="2601468" cy="1474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와요</a:t>
            </a:r>
            <a:endParaRPr lang="en-US" sz="5900" dirty="0"/>
          </a:p>
        </p:txBody>
      </p:sp>
      <p:sp>
        <p:nvSpPr>
          <p:cNvPr id="9" name="Text 7"/>
          <p:cNvSpPr txBox="1"/>
          <p:nvPr/>
        </p:nvSpPr>
        <p:spPr>
          <a:xfrm>
            <a:off x="3424428" y="3396082"/>
            <a:ext cx="2510028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000" dirty="0">
                <a:solidFill>
                  <a:srgbClr val="5C5F6B"/>
                </a:solidFill>
              </a:rPr>
              <a:t>venir</a:t>
            </a:r>
            <a:endParaRPr lang="en-US" sz="2000" dirty="0"/>
          </a:p>
        </p:txBody>
      </p:sp>
      <p:sp>
        <p:nvSpPr>
          <p:cNvPr id="10" name="tile_2"/>
          <p:cNvSpPr/>
          <p:nvPr/>
        </p:nvSpPr>
        <p:spPr>
          <a:xfrm>
            <a:off x="6208776" y="1874520"/>
            <a:ext cx="2601468" cy="2377440"/>
          </a:xfrm>
          <a:prstGeom prst="roundRect">
            <a:avLst>
              <a:gd name="adj" fmla="val 5769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08776" y="1947672"/>
            <a:ext cx="2601468" cy="1474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봐요</a:t>
            </a:r>
            <a:endParaRPr lang="en-US" sz="5900" dirty="0"/>
          </a:p>
        </p:txBody>
      </p:sp>
      <p:sp>
        <p:nvSpPr>
          <p:cNvPr id="12" name="Text 10"/>
          <p:cNvSpPr txBox="1"/>
          <p:nvPr/>
        </p:nvSpPr>
        <p:spPr>
          <a:xfrm>
            <a:off x="6254496" y="3396082"/>
            <a:ext cx="2510028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000" dirty="0">
                <a:solidFill>
                  <a:srgbClr val="5C5F6B"/>
                </a:solidFill>
              </a:rPr>
              <a:t>ver</a:t>
            </a:r>
            <a:endParaRPr lang="en-US" sz="2000" dirty="0"/>
          </a:p>
        </p:txBody>
      </p:sp>
      <p:sp>
        <p:nvSpPr>
          <p:cNvPr id="13" name="tile_3"/>
          <p:cNvSpPr/>
          <p:nvPr/>
        </p:nvSpPr>
        <p:spPr>
          <a:xfrm>
            <a:off x="9038844" y="1874520"/>
            <a:ext cx="2601468" cy="2377440"/>
          </a:xfrm>
          <a:prstGeom prst="roundRect">
            <a:avLst>
              <a:gd name="adj" fmla="val 5769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38844" y="1947672"/>
            <a:ext cx="2601468" cy="1474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마셔요</a:t>
            </a:r>
            <a:endParaRPr lang="en-US" sz="5900" dirty="0"/>
          </a:p>
        </p:txBody>
      </p:sp>
      <p:sp>
        <p:nvSpPr>
          <p:cNvPr id="15" name="Text 13"/>
          <p:cNvSpPr txBox="1"/>
          <p:nvPr/>
        </p:nvSpPr>
        <p:spPr>
          <a:xfrm>
            <a:off x="9084564" y="3396082"/>
            <a:ext cx="2510028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000" dirty="0">
                <a:solidFill>
                  <a:srgbClr val="5C5F6B"/>
                </a:solidFill>
              </a:rPr>
              <a:t>beber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Así suena</a:t>
            </a:r>
            <a:r>
              <a:rPr lang="en-US" sz="1500" b="1" i="1" dirty="0">
                <a:solidFill>
                  <a:srgbClr val="8A8DA0"/>
                </a:solidFill>
              </a:rPr>
              <a:t>   How it sounds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● = un golpe de voz</a:t>
            </a:r>
            <a:endParaRPr lang="en-US" sz="1800" dirty="0"/>
          </a:p>
        </p:txBody>
      </p:sp>
      <p:graphicFrame>
        <p:nvGraphicFramePr>
          <p:cNvPr id="12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828600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Escribes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Dices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Truco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먹어요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[머거요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]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 ㄱ 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salta a la sílaba siguiente · 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ㅓ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, no 'o'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일어나요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[이러나요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]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 ㄹ 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salta: r de 'pero'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[한구거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]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 ㄱ 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salta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학원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[하권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]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 ㄱ 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salta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학교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[학꾜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]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 segunda ㄱ 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se tensa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봐요 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와요 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해요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●●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Dos golpes: no 보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-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-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마셔요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●●●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Tres golpes: no 마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-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-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-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 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공부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ㅜ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Labios redondos, u de uva; no ㅡ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Una forma para todos</a:t>
            </a:r>
            <a:r>
              <a:rPr lang="en-US" sz="1500" b="1" i="1" dirty="0">
                <a:solidFill>
                  <a:srgbClr val="8A8DA0"/>
                </a:solidFill>
              </a:rPr>
              <a:t>   One form for everyone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694944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 </a:t>
            </a:r>
            <a:r>
              <a:rPr lang="en-US" sz="2200" dirty="0">
                <a:solidFill>
                  <a:srgbClr val="14142B"/>
                </a:solidFill>
              </a:rPr>
              <a:t>= voy · vas · va · vamos · van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 preguntar, la misma forma con la voz hacia arriba: 가요</a:t>
            </a:r>
            <a:r>
              <a:rPr lang="en-US" sz="2200" dirty="0">
                <a:solidFill>
                  <a:srgbClr val="14142B"/>
                </a:solidFill>
              </a:rPr>
              <a:t>? ↗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공부해요 </a:t>
            </a:r>
            <a:r>
              <a:rPr lang="en-US" sz="2200" dirty="0">
                <a:solidFill>
                  <a:srgbClr val="14142B"/>
                </a:solidFill>
              </a:rPr>
              <a:t>= estoy estudiando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운동해요 </a:t>
            </a:r>
            <a:r>
              <a:rPr lang="en-US" sz="2200" dirty="0">
                <a:solidFill>
                  <a:srgbClr val="14142B"/>
                </a:solidFill>
              </a:rPr>
              <a:t>= hoy hago ejercicio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</a:t>
            </a:r>
            <a:r>
              <a:rPr lang="en-US" sz="2200" dirty="0">
                <a:solidFill>
                  <a:srgbClr val="14142B"/>
                </a:solidFill>
              </a:rPr>
              <a:t>/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</a:t>
            </a:r>
            <a:r>
              <a:rPr lang="en-US" sz="2200" dirty="0">
                <a:solidFill>
                  <a:srgbClr val="14142B"/>
                </a:solidFill>
              </a:rPr>
              <a:t>/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r>
              <a:rPr lang="en-US" sz="2200" dirty="0">
                <a:solidFill>
                  <a:srgbClr val="14142B"/>
                </a:solidFill>
              </a:rPr>
              <a:t>: al principio y solos, sin partícula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 마셔요</a:t>
            </a:r>
            <a:r>
              <a:rPr lang="en-US" sz="2200" dirty="0">
                <a:solidFill>
                  <a:srgbClr val="14142B"/>
                </a:solidFill>
              </a:rPr>
              <a:t>: sin partícula (en la semana 7 le ponemos la suya)</a:t>
            </a:r>
            <a:endParaRPr lang="en-US" sz="2200" dirty="0"/>
          </a:p>
        </p:txBody>
      </p:sp>
      <p:sp>
        <p:nvSpPr>
          <p:cNvPr id="4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5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 해요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¿Qué haces?</a:t>
            </a:r>
            <a:r>
              <a:rPr lang="en-US" sz="1500" b="1" i="1" dirty="0">
                <a:solidFill>
                  <a:srgbClr val="8A8DA0"/>
                </a:solidFill>
              </a:rPr>
              <a:t>   What are you doing?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 fábrica de 하다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 해요</a:t>
            </a:r>
            <a:r>
              <a:rPr lang="en-US" sz="2400" dirty="0">
                <a:solidFill>
                  <a:srgbClr val="14142B"/>
                </a:solidFill>
              </a:rPr>
              <a:t>? = ¿Qué haces? / ¿Qué estás haciendo?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 </a:t>
            </a:r>
            <a:r>
              <a:rPr lang="en-US" sz="2400" dirty="0">
                <a:solidFill>
                  <a:srgbClr val="14142B"/>
                </a:solidFill>
              </a:rPr>
              <a:t>+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 </a:t>
            </a:r>
            <a:r>
              <a:rPr lang="en-US" sz="2400" dirty="0">
                <a:solidFill>
                  <a:srgbClr val="14142B"/>
                </a:solidFill>
              </a:rPr>
              <a:t>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공부해요 </a:t>
            </a:r>
            <a:r>
              <a:rPr lang="en-US" sz="2400" dirty="0">
                <a:solidFill>
                  <a:srgbClr val="14142B"/>
                </a:solidFill>
              </a:rPr>
              <a:t>(estudiar)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 </a:t>
            </a:r>
            <a:r>
              <a:rPr lang="en-US" sz="2400" dirty="0">
                <a:solidFill>
                  <a:srgbClr val="14142B"/>
                </a:solidFill>
              </a:rPr>
              <a:t>+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 </a:t>
            </a:r>
            <a:r>
              <a:rPr lang="en-US" sz="2400" dirty="0">
                <a:solidFill>
                  <a:srgbClr val="14142B"/>
                </a:solidFill>
              </a:rPr>
              <a:t>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운동해요 </a:t>
            </a:r>
            <a:r>
              <a:rPr lang="en-US" sz="2400" dirty="0">
                <a:solidFill>
                  <a:srgbClr val="14142B"/>
                </a:solidFill>
              </a:rPr>
              <a:t>(hacer ejercicio)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 </a:t>
            </a:r>
            <a:r>
              <a:rPr lang="en-US" sz="2400" dirty="0">
                <a:solidFill>
                  <a:srgbClr val="14142B"/>
                </a:solidFill>
              </a:rPr>
              <a:t>+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 </a:t>
            </a:r>
            <a:r>
              <a:rPr lang="en-US" sz="2400" dirty="0">
                <a:solidFill>
                  <a:srgbClr val="14142B"/>
                </a:solidFill>
              </a:rPr>
              <a:t>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요리해요 </a:t>
            </a:r>
            <a:r>
              <a:rPr lang="en-US" sz="2400" dirty="0">
                <a:solidFill>
                  <a:srgbClr val="14142B"/>
                </a:solidFill>
              </a:rPr>
              <a:t>(cocinar)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</a:t>
            </a:r>
            <a:r>
              <a:rPr lang="en-US" sz="2400" dirty="0">
                <a:solidFill>
                  <a:srgbClr val="14142B"/>
                </a:solidFill>
              </a:rPr>
              <a:t>+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 </a:t>
            </a:r>
            <a:r>
              <a:rPr lang="en-US" sz="2400" dirty="0">
                <a:solidFill>
                  <a:srgbClr val="14142B"/>
                </a:solidFill>
              </a:rPr>
              <a:t>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일해요 </a:t>
            </a:r>
            <a:r>
              <a:rPr lang="en-US" sz="2400" dirty="0">
                <a:solidFill>
                  <a:srgbClr val="14142B"/>
                </a:solidFill>
              </a:rPr>
              <a:t>(trabajar)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 </a:t>
            </a:r>
            <a:r>
              <a:rPr lang="en-US" sz="2400" dirty="0">
                <a:solidFill>
                  <a:srgbClr val="14142B"/>
                </a:solidFill>
              </a:rPr>
              <a:t>→ siempre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해요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8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</a:t>
            </a:r>
            <a:endParaRPr lang="en-US" sz="8600" dirty="0"/>
          </a:p>
          <a:p>
            <a:pPr marL="0" indent="0" algn="ctr" eaLnBrk="1">
              <a:buNone/>
            </a:pPr>
            <a:r>
              <a:rPr lang="ko-KR" altLang="en-US" sz="8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해요</a:t>
            </a:r>
            <a:r>
              <a:rPr lang="en-US" sz="8600" b="1" dirty="0">
                <a:solidFill>
                  <a:srgbClr val="4236F6"/>
                </a:solidFill>
              </a:rPr>
              <a:t>?</a:t>
            </a:r>
            <a:endParaRPr lang="en-US" sz="86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01200" y="4983480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쉬어요</a:t>
            </a:r>
            <a:r>
              <a:rPr lang="en-US" sz="2200" b="1" dirty="0">
                <a:solidFill>
                  <a:srgbClr val="4236F6"/>
                </a:solidFill>
              </a:rPr>
              <a:t>!  </a:t>
            </a:r>
            <a:r>
              <a:rPr lang="en-US" sz="2200" b="1" dirty="0">
                <a:solidFill>
                  <a:srgbClr val="003478"/>
                </a:solidFill>
              </a:rPr>
              <a:t>Diálogo: ¡hoy descanso! (1)</a:t>
            </a:r>
            <a:r>
              <a:rPr lang="en-US" sz="1500" b="1" i="1" dirty="0">
                <a:solidFill>
                  <a:srgbClr val="8A8DA0"/>
                </a:solidFill>
              </a:rPr>
              <a:t>   Dialogue: I'm off today! (1)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 un café de Santiago, de mañana: 지수 </a:t>
            </a:r>
            <a:r>
              <a:rPr lang="en-US" sz="1800" i="1" dirty="0">
                <a:solidFill>
                  <a:srgbClr val="4236F6"/>
                </a:solidFill>
              </a:rPr>
              <a:t>(coreana, vive en Santiago) y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마르코 </a:t>
            </a:r>
            <a:r>
              <a:rPr lang="en-US" sz="1800" i="1" dirty="0">
                <a:solidFill>
                  <a:srgbClr val="4236F6"/>
                </a:solidFill>
              </a:rPr>
              <a:t>(su vecino, estudia coreano). El español aparece con clic.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0677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67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5285232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마르코</a:t>
            </a:r>
            <a:r>
              <a:rPr lang="en-US" sz="2400" dirty="0">
                <a:solidFill>
                  <a:srgbClr val="14142B"/>
                </a:solidFill>
              </a:rPr>
              <a:t>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</a:t>
            </a:r>
            <a:r>
              <a:rPr lang="en-US" sz="2400" dirty="0">
                <a:solidFill>
                  <a:srgbClr val="14142B"/>
                </a:solidFill>
              </a:rPr>
              <a:t>!</a:t>
            </a:r>
            <a:endParaRPr lang="en-US" sz="2400" dirty="0"/>
          </a:p>
        </p:txBody>
      </p:sp>
      <p:sp>
        <p:nvSpPr>
          <p:cNvPr id="7" name="rev_10_caja"/>
          <p:cNvSpPr/>
          <p:nvPr/>
        </p:nvSpPr>
        <p:spPr>
          <a:xfrm>
            <a:off x="6702552" y="2002536"/>
            <a:ext cx="4937760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10_txt"/>
          <p:cNvSpPr txBox="1"/>
          <p:nvPr/>
        </p:nvSpPr>
        <p:spPr>
          <a:xfrm>
            <a:off x="6793992" y="2002536"/>
            <a:ext cx="47548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b="1" dirty="0">
                <a:solidFill>
                  <a:srgbClr val="FFFFFF"/>
                </a:solidFill>
              </a:rPr>
              <a:t>¡Hola!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973629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736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32811"/>
            <a:ext cx="5285232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</a:t>
            </a:r>
            <a:r>
              <a:rPr lang="en-US" sz="2300" dirty="0">
                <a:solidFill>
                  <a:srgbClr val="14142B"/>
                </a:solidFill>
              </a:rPr>
              <a:t>: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</a:t>
            </a:r>
            <a:r>
              <a:rPr lang="en-US" sz="2300" dirty="0">
                <a:solidFill>
                  <a:srgbClr val="14142B"/>
                </a:solidFill>
              </a:rPr>
              <a:t>!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뭐 해요</a:t>
            </a:r>
            <a:r>
              <a:rPr lang="en-US" sz="2300" dirty="0">
                <a:solidFill>
                  <a:srgbClr val="14142B"/>
                </a:solidFill>
              </a:rPr>
              <a:t>?</a:t>
            </a:r>
            <a:endParaRPr lang="en-US" sz="2300" dirty="0"/>
          </a:p>
        </p:txBody>
      </p:sp>
      <p:sp>
        <p:nvSpPr>
          <p:cNvPr id="12" name="rev_11_caja"/>
          <p:cNvSpPr/>
          <p:nvPr/>
        </p:nvSpPr>
        <p:spPr>
          <a:xfrm>
            <a:off x="6702552" y="2869387"/>
            <a:ext cx="4937760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1_txt"/>
          <p:cNvSpPr txBox="1"/>
          <p:nvPr/>
        </p:nvSpPr>
        <p:spPr>
          <a:xfrm>
            <a:off x="6793992" y="2869387"/>
            <a:ext cx="47548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b="1" dirty="0">
                <a:solidFill>
                  <a:srgbClr val="FFFFFF"/>
                </a:solidFill>
              </a:rPr>
              <a:t>¡Hola! ¿Qué haces?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699662"/>
            <a:ext cx="5285232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마르코</a:t>
            </a:r>
            <a:r>
              <a:rPr lang="en-US" sz="2300" dirty="0">
                <a:solidFill>
                  <a:srgbClr val="14142B"/>
                </a:solidFill>
              </a:rPr>
              <a:t>: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 마셔요</a:t>
            </a:r>
            <a:r>
              <a:rPr lang="en-US" sz="2300" dirty="0">
                <a:solidFill>
                  <a:srgbClr val="14142B"/>
                </a:solidFill>
              </a:rPr>
              <a:t>.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한국어 공부해요</a:t>
            </a:r>
            <a:r>
              <a:rPr lang="en-US" sz="2300" dirty="0">
                <a:solidFill>
                  <a:srgbClr val="14142B"/>
                </a:solidFill>
              </a:rPr>
              <a:t>.</a:t>
            </a:r>
            <a:endParaRPr lang="en-US" sz="2300" dirty="0"/>
          </a:p>
        </p:txBody>
      </p:sp>
      <p:sp>
        <p:nvSpPr>
          <p:cNvPr id="17" name="rev_12_caja"/>
          <p:cNvSpPr/>
          <p:nvPr/>
        </p:nvSpPr>
        <p:spPr>
          <a:xfrm>
            <a:off x="6702552" y="3736238"/>
            <a:ext cx="4937760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12_txt"/>
          <p:cNvSpPr txBox="1"/>
          <p:nvPr/>
        </p:nvSpPr>
        <p:spPr>
          <a:xfrm>
            <a:off x="6793992" y="3736238"/>
            <a:ext cx="47548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000" b="1" dirty="0">
                <a:solidFill>
                  <a:srgbClr val="FFFFFF"/>
                </a:solidFill>
              </a:rPr>
              <a:t>Tomo café. Y estudio coreano.</a:t>
            </a:r>
            <a:endParaRPr lang="en-US" sz="2000" dirty="0"/>
          </a:p>
        </p:txBody>
      </p:sp>
      <p:sp>
        <p:nvSpPr>
          <p:cNvPr id="19" name="num_3"/>
          <p:cNvSpPr/>
          <p:nvPr/>
        </p:nvSpPr>
        <p:spPr>
          <a:xfrm>
            <a:off x="548640" y="4707331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7073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566514"/>
            <a:ext cx="5285232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</a:t>
            </a:r>
            <a:r>
              <a:rPr lang="en-US" sz="2400" dirty="0">
                <a:solidFill>
                  <a:srgbClr val="14142B"/>
                </a:solidFill>
              </a:rPr>
              <a:t>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</a:t>
            </a:r>
            <a:r>
              <a:rPr lang="en-US" sz="2400" dirty="0">
                <a:solidFill>
                  <a:srgbClr val="14142B"/>
                </a:solidFill>
              </a:rPr>
              <a:t>!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여기에 와요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22" name="rev_13_caja"/>
          <p:cNvSpPr/>
          <p:nvPr/>
        </p:nvSpPr>
        <p:spPr>
          <a:xfrm>
            <a:off x="6702552" y="4603090"/>
            <a:ext cx="4937760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13_txt"/>
          <p:cNvSpPr txBox="1"/>
          <p:nvPr/>
        </p:nvSpPr>
        <p:spPr>
          <a:xfrm>
            <a:off x="6793992" y="4603090"/>
            <a:ext cx="47548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700" b="1" dirty="0">
                <a:solidFill>
                  <a:srgbClr val="FFFFFF"/>
                </a:solidFill>
              </a:rPr>
              <a:t>¡Guau! ¿Vienes aquí todos los días?</a:t>
            </a:r>
            <a:endParaRPr lang="en-US" sz="1700" dirty="0"/>
          </a:p>
        </p:txBody>
      </p:sp>
      <p:sp>
        <p:nvSpPr>
          <p:cNvPr id="24" name="num_4"/>
          <p:cNvSpPr/>
          <p:nvPr/>
        </p:nvSpPr>
        <p:spPr>
          <a:xfrm>
            <a:off x="548640" y="557418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5741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433365"/>
            <a:ext cx="5285232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마르코</a:t>
            </a:r>
            <a:r>
              <a:rPr lang="en-US" sz="2300" dirty="0">
                <a:solidFill>
                  <a:srgbClr val="14142B"/>
                </a:solidFill>
              </a:rPr>
              <a:t>: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300" dirty="0">
                <a:solidFill>
                  <a:srgbClr val="14142B"/>
                </a:solidFill>
              </a:rPr>
              <a:t>,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쉬어요</a:t>
            </a:r>
            <a:r>
              <a:rPr lang="en-US" sz="2300" dirty="0">
                <a:solidFill>
                  <a:srgbClr val="14142B"/>
                </a:solidFill>
              </a:rPr>
              <a:t>!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하하</a:t>
            </a:r>
            <a:r>
              <a:rPr lang="en-US" sz="2300" dirty="0">
                <a:solidFill>
                  <a:srgbClr val="14142B"/>
                </a:solidFill>
              </a:rPr>
              <a:t>.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어디에 가요</a:t>
            </a:r>
            <a:r>
              <a:rPr lang="en-US" sz="2300" dirty="0">
                <a:solidFill>
                  <a:srgbClr val="14142B"/>
                </a:solidFill>
              </a:rPr>
              <a:t>?</a:t>
            </a:r>
            <a:endParaRPr lang="en-US" sz="2300" dirty="0"/>
          </a:p>
        </p:txBody>
      </p:sp>
      <p:sp>
        <p:nvSpPr>
          <p:cNvPr id="27" name="rev_14_caja"/>
          <p:cNvSpPr/>
          <p:nvPr/>
        </p:nvSpPr>
        <p:spPr>
          <a:xfrm>
            <a:off x="6702552" y="5469941"/>
            <a:ext cx="4937760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14_txt"/>
          <p:cNvSpPr txBox="1"/>
          <p:nvPr/>
        </p:nvSpPr>
        <p:spPr>
          <a:xfrm>
            <a:off x="6793992" y="5469941"/>
            <a:ext cx="47548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900" b="1" dirty="0">
                <a:solidFill>
                  <a:srgbClr val="FFFFFF"/>
                </a:solidFill>
              </a:rPr>
              <a:t>No, ¡hoy tengo libre! Jaja. ¿Adónde vas ahora?</a:t>
            </a:r>
            <a:endParaRPr lang="en-US" sz="19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쉬어요</a:t>
            </a:r>
            <a:r>
              <a:rPr lang="en-US" sz="2200" b="1" dirty="0">
                <a:solidFill>
                  <a:srgbClr val="4236F6"/>
                </a:solidFill>
              </a:rPr>
              <a:t>!  </a:t>
            </a:r>
            <a:r>
              <a:rPr lang="en-US" sz="2200" b="1" dirty="0">
                <a:solidFill>
                  <a:srgbClr val="003478"/>
                </a:solidFill>
              </a:rPr>
              <a:t>Diálogo: ¡hoy descanso! (2)</a:t>
            </a:r>
            <a:r>
              <a:rPr lang="en-US" sz="1500" b="1" i="1" dirty="0">
                <a:solidFill>
                  <a:srgbClr val="8A8DA0"/>
                </a:solidFill>
              </a:rPr>
              <a:t>   Dialogue: I'm off today! (2)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Sigue el diálogo. El español aparece con clic.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7170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71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489898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</a:t>
            </a:r>
            <a:r>
              <a:rPr lang="en-US" sz="2400" dirty="0">
                <a:solidFill>
                  <a:srgbClr val="14142B"/>
                </a:solidFill>
              </a:rPr>
              <a:t>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회사에 가요</a:t>
            </a:r>
            <a:r>
              <a:rPr lang="en-US" sz="2400" dirty="0">
                <a:solidFill>
                  <a:srgbClr val="14142B"/>
                </a:solidFill>
              </a:rPr>
              <a:t>.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매일 회사에 가요</a:t>
            </a:r>
            <a:r>
              <a:rPr lang="en-US" sz="2400" dirty="0">
                <a:solidFill>
                  <a:srgbClr val="14142B"/>
                </a:solidFill>
              </a:rPr>
              <a:t>…</a:t>
            </a:r>
            <a:endParaRPr lang="en-US" sz="2400" dirty="0"/>
          </a:p>
        </p:txBody>
      </p:sp>
      <p:sp>
        <p:nvSpPr>
          <p:cNvPr id="7" name="rev_15_caja"/>
          <p:cNvSpPr/>
          <p:nvPr/>
        </p:nvSpPr>
        <p:spPr>
          <a:xfrm>
            <a:off x="6316309" y="2002536"/>
            <a:ext cx="5324003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15_txt"/>
          <p:cNvSpPr txBox="1"/>
          <p:nvPr/>
        </p:nvSpPr>
        <p:spPr>
          <a:xfrm>
            <a:off x="6407749" y="2002536"/>
            <a:ext cx="5141123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b="1" dirty="0">
                <a:solidFill>
                  <a:srgbClr val="FFFFFF"/>
                </a:solidFill>
              </a:rPr>
              <a:t>Voy a la oficina. Yo voy a la oficina todos los días…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316839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68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62656"/>
            <a:ext cx="489898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마르코</a:t>
            </a:r>
            <a:r>
              <a:rPr lang="en-US" sz="2400" dirty="0">
                <a:solidFill>
                  <a:srgbClr val="14142B"/>
                </a:solidFill>
              </a:rPr>
              <a:t>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하하</a:t>
            </a:r>
            <a:r>
              <a:rPr lang="en-US" sz="2400" dirty="0">
                <a:solidFill>
                  <a:srgbClr val="14142B"/>
                </a:solidFill>
              </a:rPr>
              <a:t>.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r>
              <a:rPr lang="en-US" sz="2400" dirty="0">
                <a:solidFill>
                  <a:srgbClr val="14142B"/>
                </a:solidFill>
              </a:rPr>
              <a:t>!</a:t>
            </a:r>
            <a:endParaRPr lang="en-US" sz="2400" dirty="0"/>
          </a:p>
        </p:txBody>
      </p:sp>
      <p:sp>
        <p:nvSpPr>
          <p:cNvPr id="12" name="rev_16_caja"/>
          <p:cNvSpPr/>
          <p:nvPr/>
        </p:nvSpPr>
        <p:spPr>
          <a:xfrm>
            <a:off x="6316309" y="2999232"/>
            <a:ext cx="5324003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6_txt"/>
          <p:cNvSpPr txBox="1"/>
          <p:nvPr/>
        </p:nvSpPr>
        <p:spPr>
          <a:xfrm>
            <a:off x="6407749" y="2999232"/>
            <a:ext cx="5141123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b="1" dirty="0">
                <a:solidFill>
                  <a:srgbClr val="FFFFFF"/>
                </a:solidFill>
              </a:rPr>
              <a:t>Jaja. ¡Ánimo!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41650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1650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959352"/>
            <a:ext cx="489898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</a:t>
            </a:r>
            <a:r>
              <a:rPr lang="en-US" sz="2400" dirty="0">
                <a:solidFill>
                  <a:srgbClr val="14142B"/>
                </a:solidFill>
              </a:rPr>
              <a:t>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r>
              <a:rPr lang="en-US" sz="2400" dirty="0">
                <a:solidFill>
                  <a:srgbClr val="14142B"/>
                </a:solidFill>
              </a:rPr>
              <a:t>!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공부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r>
              <a:rPr lang="en-US" sz="2400" dirty="0">
                <a:solidFill>
                  <a:srgbClr val="14142B"/>
                </a:solidFill>
              </a:rPr>
              <a:t>!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안녕히 계세요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7" name="rev_17_caja"/>
          <p:cNvSpPr/>
          <p:nvPr/>
        </p:nvSpPr>
        <p:spPr>
          <a:xfrm>
            <a:off x="6316309" y="3995928"/>
            <a:ext cx="5324003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17_txt"/>
          <p:cNvSpPr txBox="1"/>
          <p:nvPr/>
        </p:nvSpPr>
        <p:spPr>
          <a:xfrm>
            <a:off x="6407749" y="3995928"/>
            <a:ext cx="5141123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700" b="1" dirty="0">
                <a:solidFill>
                  <a:srgbClr val="FFFFFF"/>
                </a:solidFill>
              </a:rPr>
              <a:t>¡Gracias! ¡Ánimo con el coreano! Chao.</a:t>
            </a:r>
            <a:endParaRPr lang="en-US" sz="1700" dirty="0"/>
          </a:p>
        </p:txBody>
      </p:sp>
      <p:sp>
        <p:nvSpPr>
          <p:cNvPr id="19" name="num_3"/>
          <p:cNvSpPr/>
          <p:nvPr/>
        </p:nvSpPr>
        <p:spPr>
          <a:xfrm>
            <a:off x="548640" y="516178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617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956048"/>
            <a:ext cx="489898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마르코</a:t>
            </a:r>
            <a:r>
              <a:rPr lang="en-US" sz="2400" dirty="0">
                <a:solidFill>
                  <a:srgbClr val="14142B"/>
                </a:solidFill>
              </a:rPr>
              <a:t>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안녕히 가세요</a:t>
            </a:r>
            <a:r>
              <a:rPr lang="en-US" sz="2400" dirty="0">
                <a:solidFill>
                  <a:srgbClr val="14142B"/>
                </a:solidFill>
              </a:rPr>
              <a:t>!</a:t>
            </a:r>
            <a:endParaRPr lang="en-US" sz="2400" dirty="0"/>
          </a:p>
        </p:txBody>
      </p:sp>
      <p:sp>
        <p:nvSpPr>
          <p:cNvPr id="22" name="rev_18_caja"/>
          <p:cNvSpPr/>
          <p:nvPr/>
        </p:nvSpPr>
        <p:spPr>
          <a:xfrm>
            <a:off x="6316309" y="4992624"/>
            <a:ext cx="5324003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18_txt"/>
          <p:cNvSpPr txBox="1"/>
          <p:nvPr/>
        </p:nvSpPr>
        <p:spPr>
          <a:xfrm>
            <a:off x="6407749" y="4992624"/>
            <a:ext cx="5141123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b="1" dirty="0">
                <a:solidFill>
                  <a:srgbClr val="FFFFFF"/>
                </a:solidFill>
              </a:rPr>
              <a:t>¡Chao!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 mismo 에</a:t>
            </a:r>
            <a:r>
              <a:rPr lang="ko-KR" altLang="en-US" sz="1500" b="1" i="1" dirty="0">
                <a:solidFill>
                  <a:srgbClr val="8A8DA0"/>
                </a:solidFill>
              </a:rPr>
              <a:t>   The same 에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</a:t>
            </a:r>
            <a:r>
              <a:rPr lang="en-US" sz="1800" i="1" dirty="0">
                <a:solidFill>
                  <a:srgbClr val="4236F6"/>
                </a:solidFill>
              </a:rPr>
              <a:t>=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 </a:t>
            </a:r>
            <a:r>
              <a:rPr lang="en-US" sz="1800" i="1" dirty="0">
                <a:solidFill>
                  <a:srgbClr val="4236F6"/>
                </a:solidFill>
              </a:rPr>
              <a:t>/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 </a:t>
            </a:r>
            <a:r>
              <a:rPr lang="en-US" sz="1800" i="1" dirty="0">
                <a:solidFill>
                  <a:srgbClr val="4236F6"/>
                </a:solidFill>
              </a:rPr>
              <a:t>/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와요 </a:t>
            </a:r>
            <a:r>
              <a:rPr lang="en-US" sz="1800" i="1" dirty="0">
                <a:solidFill>
                  <a:srgbClr val="4236F6"/>
                </a:solidFill>
              </a:rPr>
              <a:t>· el verbo al final: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회사에 가요 </a:t>
            </a:r>
            <a:r>
              <a:rPr lang="en-US" sz="1800" i="1" dirty="0">
                <a:solidFill>
                  <a:srgbClr val="4236F6"/>
                </a:solidFill>
              </a:rPr>
              <a:t>= oficina-a voy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Semana 5 · dónde está (en)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있어요</a:t>
            </a:r>
            <a:endParaRPr lang="en-US" sz="54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위에 있어요</a:t>
            </a:r>
            <a:r>
              <a:rPr lang="en-US" sz="2000" dirty="0">
                <a:solidFill>
                  <a:srgbClr val="14142B"/>
                </a:solidFill>
              </a:rPr>
              <a:t>. (Está encima del escritorio.)</a:t>
            </a:r>
            <a:endParaRPr lang="en-US" sz="2000" dirty="0"/>
          </a:p>
        </p:txBody>
      </p:sp>
      <p:sp>
        <p:nvSpPr>
          <p:cNvPr id="8" name="col_1"/>
          <p:cNvSpPr/>
          <p:nvPr/>
        </p:nvSpPr>
        <p:spPr>
          <a:xfrm>
            <a:off x="6254496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Semana 6 · adónde voy (a)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4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가요 </a:t>
            </a:r>
            <a:r>
              <a:rPr lang="en-US" sz="4400" b="1" dirty="0">
                <a:solidFill>
                  <a:srgbClr val="4236F6"/>
                </a:solidFill>
              </a:rPr>
              <a:t>· </a:t>
            </a:r>
            <a:r>
              <a:rPr lang="ko-KR" altLang="en-US" sz="4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와요</a:t>
            </a:r>
            <a:endParaRPr lang="en-US" sz="4400" dirty="0"/>
          </a:p>
        </p:txBody>
      </p:sp>
      <p:sp>
        <p:nvSpPr>
          <p:cNvPr id="11" name="lista"/>
          <p:cNvSpPr txBox="1"/>
          <p:nvPr/>
        </p:nvSpPr>
        <p:spPr>
          <a:xfrm>
            <a:off x="6437376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회사에 가요</a:t>
            </a:r>
            <a:r>
              <a:rPr lang="en-US" sz="2000" dirty="0">
                <a:solidFill>
                  <a:srgbClr val="14142B"/>
                </a:solidFill>
              </a:rPr>
              <a:t>. (Voy a la oficina.)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집에 와요</a:t>
            </a:r>
            <a:r>
              <a:rPr lang="en-US" sz="2000" dirty="0">
                <a:solidFill>
                  <a:srgbClr val="14142B"/>
                </a:solidFill>
              </a:rPr>
              <a:t>. (Viene a casa.)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와요 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¿가요 </a:t>
            </a:r>
            <a:r>
              <a:rPr lang="en-US" sz="3000" b="1" dirty="0">
                <a:solidFill>
                  <a:srgbClr val="003478"/>
                </a:solidFill>
              </a:rPr>
              <a:t>o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와요</a:t>
            </a:r>
            <a:r>
              <a:rPr lang="en-US" sz="3000" b="1" dirty="0">
                <a:solidFill>
                  <a:srgbClr val="003478"/>
                </a:solidFill>
              </a:rPr>
              <a:t>?</a:t>
            </a:r>
            <a:r>
              <a:rPr lang="ko-KR" altLang="en-US" sz="1500" b="1" i="1" dirty="0">
                <a:solidFill>
                  <a:srgbClr val="8A8DA0"/>
                </a:solidFill>
              </a:rPr>
              <a:t>   가요 or 와요? (go or come?)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eb9f6acb0ca9cb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panel"/>
          <p:cNvSpPr/>
          <p:nvPr/>
        </p:nvSpPr>
        <p:spPr>
          <a:xfrm>
            <a:off x="548640" y="1645920"/>
            <a:ext cx="693115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frase_ko"/>
          <p:cNvSpPr txBox="1"/>
          <p:nvPr/>
        </p:nvSpPr>
        <p:spPr>
          <a:xfrm>
            <a:off x="731520" y="1828800"/>
            <a:ext cx="6565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와요</a:t>
            </a:r>
            <a:r>
              <a:rPr lang="en-US" sz="5700" b="1" dirty="0">
                <a:solidFill>
                  <a:srgbClr val="4236F6"/>
                </a:solidFill>
              </a:rPr>
              <a:t>? —</a:t>
            </a:r>
            <a:endParaRPr lang="en-US" sz="5700" dirty="0"/>
          </a:p>
          <a:p>
            <a:pPr marL="0" indent="0" algn="ctr" eaLnBrk="1">
              <a:buNone/>
            </a:pP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5700" b="1" dirty="0">
                <a:solidFill>
                  <a:srgbClr val="4236F6"/>
                </a:solidFill>
              </a:rPr>
              <a:t>, </a:t>
            </a: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가요</a:t>
            </a:r>
            <a:r>
              <a:rPr lang="en-US" sz="5700" b="1" dirty="0">
                <a:solidFill>
                  <a:srgbClr val="4236F6"/>
                </a:solidFill>
              </a:rPr>
              <a:t>!</a:t>
            </a:r>
            <a:endParaRPr lang="en-US" sz="57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3657600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400" dirty="0">
                <a:solidFill>
                  <a:srgbClr val="5C5F6B"/>
                </a:solidFill>
              </a:rPr>
              <a:t>¿Vienes? — ¡Ya voy!</a:t>
            </a:r>
            <a:endParaRPr lang="en-US" sz="2400" dirty="0"/>
          </a:p>
        </p:txBody>
      </p:sp>
      <p:sp>
        <p:nvSpPr>
          <p:cNvPr id="7" name="lista"/>
          <p:cNvSpPr txBox="1"/>
          <p:nvPr/>
        </p:nvSpPr>
        <p:spPr>
          <a:xfrm>
            <a:off x="548640" y="4937760"/>
            <a:ext cx="693115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와요 </a:t>
            </a:r>
            <a:r>
              <a:rPr lang="en-US" sz="1800" dirty="0">
                <a:solidFill>
                  <a:srgbClr val="14142B"/>
                </a:solidFill>
              </a:rPr>
              <a:t>= hacia donde está quien habla 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 </a:t>
            </a:r>
            <a:r>
              <a:rPr lang="en-US" sz="1800" dirty="0">
                <a:solidFill>
                  <a:srgbClr val="14142B"/>
                </a:solidFill>
              </a:rPr>
              <a:t>= hacia otro lugar 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</a:t>
            </a:r>
            <a:r>
              <a:rPr lang="en-US" sz="1800" dirty="0">
                <a:solidFill>
                  <a:srgbClr val="14142B"/>
                </a:solidFill>
              </a:rPr>
              <a:t>! solito = ¡guau!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2600" b="1" dirty="0">
                <a:solidFill>
                  <a:srgbClr val="003478"/>
                </a:solidFill>
              </a:rPr>
              <a:t>Cuidado: 'trabajo en la oficina'</a:t>
            </a:r>
            <a:r>
              <a:rPr lang="en-US" sz="1500" b="1" i="1" dirty="0">
                <a:solidFill>
                  <a:srgbClr val="8A8DA0"/>
                </a:solidFill>
              </a:rPr>
              <a:t>   Careful: 'I work at the office'</a:t>
            </a:r>
            <a:endParaRPr lang="en-US" sz="3000" dirty="0"/>
          </a:p>
        </p:txBody>
      </p:sp>
      <p:sp>
        <p:nvSpPr>
          <p:cNvPr id="3" name="panel"/>
          <p:cNvSpPr/>
          <p:nvPr/>
        </p:nvSpPr>
        <p:spPr>
          <a:xfrm>
            <a:off x="1280160" y="1645920"/>
            <a:ext cx="962863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4" name="frase_ko"/>
          <p:cNvSpPr txBox="1"/>
          <p:nvPr/>
        </p:nvSpPr>
        <p:spPr>
          <a:xfrm>
            <a:off x="1463040" y="1828800"/>
            <a:ext cx="92628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회사에 가요</a:t>
            </a:r>
            <a:r>
              <a:rPr lang="en-US" sz="5000" b="1" dirty="0">
                <a:solidFill>
                  <a:srgbClr val="4236F6"/>
                </a:solidFill>
              </a:rPr>
              <a:t>. </a:t>
            </a:r>
            <a:r>
              <a:rPr lang="ko-KR" altLang="en-US" sz="5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일해요</a:t>
            </a:r>
            <a:r>
              <a:rPr lang="en-US" sz="5000" b="1" dirty="0">
                <a:solidFill>
                  <a:srgbClr val="4236F6"/>
                </a:solidFill>
              </a:rPr>
              <a:t>.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3657600"/>
            <a:ext cx="8439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400" dirty="0">
                <a:solidFill>
                  <a:srgbClr val="5C5F6B"/>
                </a:solidFill>
              </a:rPr>
              <a:t>Voy a la oficina. Y trabajo.</a:t>
            </a:r>
            <a:endParaRPr lang="en-US" sz="2400" dirty="0"/>
          </a:p>
        </p:txBody>
      </p:sp>
      <p:sp>
        <p:nvSpPr>
          <p:cNvPr id="6" name="lista"/>
          <p:cNvSpPr txBox="1"/>
          <p:nvPr/>
        </p:nvSpPr>
        <p:spPr>
          <a:xfrm>
            <a:off x="1280160" y="4937760"/>
            <a:ext cx="962863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Por ahora se dice así · la partícula de 'dónde haces algo' llega en Básico 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학교에 가요</a:t>
            </a:r>
            <a:r>
              <a:rPr lang="en-US" sz="2200" b="1" dirty="0">
                <a:solidFill>
                  <a:srgbClr val="4236F6"/>
                </a:solidFill>
              </a:rPr>
              <a:t>. </a:t>
            </a: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학원에 가요</a:t>
            </a:r>
            <a:r>
              <a:rPr lang="en-US" sz="2200" b="1" dirty="0">
                <a:solidFill>
                  <a:srgbClr val="4236F6"/>
                </a:solidFill>
              </a:rPr>
              <a:t>.  </a:t>
            </a:r>
            <a:r>
              <a:rPr lang="ko-KR" altLang="en-US" sz="22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Cultura: el 학원</a:t>
            </a:r>
            <a:r>
              <a:rPr lang="en-US" sz="1500" b="1" i="1" dirty="0">
                <a:solidFill>
                  <a:srgbClr val="8A8DA0"/>
                </a:solidFill>
              </a:rPr>
              <a:t>   Culture: the hagwon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566928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학교에 가요</a:t>
            </a:r>
            <a:r>
              <a:rPr lang="en-US" sz="2000" dirty="0">
                <a:solidFill>
                  <a:srgbClr val="14142B"/>
                </a:solidFill>
              </a:rPr>
              <a:t>.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학원에 가요</a:t>
            </a:r>
            <a:r>
              <a:rPr lang="en-US" sz="2000" dirty="0">
                <a:solidFill>
                  <a:srgbClr val="14142B"/>
                </a:solidFill>
              </a:rPr>
              <a:t>. = Voy al colegio. Y (después) voy a la academia.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 </a:t>
            </a:r>
            <a:r>
              <a:rPr lang="en-US" sz="2000" dirty="0">
                <a:solidFill>
                  <a:srgbClr val="14142B"/>
                </a:solidFill>
              </a:rPr>
              <a:t>[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하권</a:t>
            </a:r>
            <a:r>
              <a:rPr lang="en-US" sz="2000" dirty="0">
                <a:solidFill>
                  <a:srgbClr val="14142B"/>
                </a:solidFill>
              </a:rPr>
              <a:t>] = academia privada: materias, inglés, piano, taekwondo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Muchos estudiantes van al 학원 </a:t>
            </a:r>
            <a:r>
              <a:rPr lang="en-US" sz="2000" dirty="0">
                <a:solidFill>
                  <a:srgbClr val="14142B"/>
                </a:solidFill>
              </a:rPr>
              <a:t>después del colegio · también hay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 </a:t>
            </a:r>
            <a:r>
              <a:rPr lang="en-US" sz="2000" dirty="0">
                <a:solidFill>
                  <a:srgbClr val="14142B"/>
                </a:solidFill>
              </a:rPr>
              <a:t>para adultos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</a:t>
            </a:r>
            <a:r>
              <a:rPr lang="en-US" sz="2000" dirty="0">
                <a:solidFill>
                  <a:srgbClr val="14142B"/>
                </a:solidFill>
              </a:rPr>
              <a:t>= 'y' entre dos frases, al comienzo de la segunda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¿Te suena? preu (Chile) · preicfes (Colombia) · academia pre (Perú)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curso de ingreso (Argentina) · cursos para el examen de admisión (México)</a:t>
            </a:r>
            <a:endParaRPr lang="en-US" sz="2000" dirty="0"/>
          </a:p>
        </p:txBody>
      </p:sp>
      <p:sp>
        <p:nvSpPr>
          <p:cNvPr id="4" name="panel"/>
          <p:cNvSpPr/>
          <p:nvPr/>
        </p:nvSpPr>
        <p:spPr>
          <a:xfrm>
            <a:off x="6446520" y="1371600"/>
            <a:ext cx="5193792" cy="4800600"/>
          </a:xfrm>
          <a:prstGeom prst="roundRect">
            <a:avLst>
              <a:gd name="adj" fmla="val 4762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5" name="imagen" descr="C:\Users\Chingu\AppData\Local\Temp\claude\C--Users-Chingu-Desktop-ACADEMIASEULWEB\d4111e1b-5523-44ea-97b2-b1a1d9545b9e\scratchpad\decks\cache\img_3b36587b867a30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33" y="1463040"/>
            <a:ext cx="4005165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Rueda de conjugación (1)</a:t>
            </a:r>
            <a:r>
              <a:rPr lang="en-US" sz="1500" b="1" i="1" dirty="0">
                <a:solidFill>
                  <a:srgbClr val="8A8DA0"/>
                </a:solidFill>
              </a:rPr>
              <a:t>   Conjugation wheel (1)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Kiran dice el verbo con su gesto; ustedes responden el presente (primero en coro)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가다 </a:t>
            </a:r>
            <a:r>
              <a:rPr lang="en-US" sz="2400" dirty="0">
                <a:solidFill>
                  <a:srgbClr val="14142B"/>
                </a:solidFill>
              </a:rPr>
              <a:t>(dos dedos que caminan)</a:t>
            </a:r>
            <a:endParaRPr lang="en-US" sz="2400" dirty="0"/>
          </a:p>
        </p:txBody>
      </p:sp>
      <p:sp>
        <p:nvSpPr>
          <p:cNvPr id="7" name="rev_19_caja"/>
          <p:cNvSpPr/>
          <p:nvPr/>
        </p:nvSpPr>
        <p:spPr>
          <a:xfrm>
            <a:off x="7498080" y="200253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19_txt"/>
          <p:cNvSpPr txBox="1"/>
          <p:nvPr/>
        </p:nvSpPr>
        <p:spPr>
          <a:xfrm>
            <a:off x="7589520" y="200253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88336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오다 </a:t>
            </a:r>
            <a:r>
              <a:rPr lang="en-US" sz="2400" dirty="0">
                <a:solidFill>
                  <a:srgbClr val="14142B"/>
                </a:solidFill>
              </a:rPr>
              <a:t>(mano que llama)</a:t>
            </a:r>
            <a:endParaRPr lang="en-US" sz="2400" dirty="0"/>
          </a:p>
        </p:txBody>
      </p:sp>
      <p:sp>
        <p:nvSpPr>
          <p:cNvPr id="12" name="rev_20_caja"/>
          <p:cNvSpPr/>
          <p:nvPr/>
        </p:nvSpPr>
        <p:spPr>
          <a:xfrm>
            <a:off x="7498080" y="2724912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20_txt"/>
          <p:cNvSpPr txBox="1"/>
          <p:nvPr/>
        </p:nvSpPr>
        <p:spPr>
          <a:xfrm>
            <a:off x="7589520" y="2724912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와요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먹다 </a:t>
            </a:r>
            <a:r>
              <a:rPr lang="en-US" sz="2400" dirty="0">
                <a:solidFill>
                  <a:srgbClr val="14142B"/>
                </a:solidFill>
              </a:rPr>
              <a:t>(palillos a la boca)</a:t>
            </a:r>
            <a:endParaRPr lang="en-US" sz="2400" dirty="0"/>
          </a:p>
        </p:txBody>
      </p:sp>
      <p:sp>
        <p:nvSpPr>
          <p:cNvPr id="17" name="rev_21_caja"/>
          <p:cNvSpPr/>
          <p:nvPr/>
        </p:nvSpPr>
        <p:spPr>
          <a:xfrm>
            <a:off x="7498080" y="3447288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21_txt"/>
          <p:cNvSpPr txBox="1"/>
          <p:nvPr/>
        </p:nvSpPr>
        <p:spPr>
          <a:xfrm>
            <a:off x="7589520" y="3447288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먹어요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133088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마시다 </a:t>
            </a:r>
            <a:r>
              <a:rPr lang="en-US" sz="2400" dirty="0">
                <a:solidFill>
                  <a:srgbClr val="14142B"/>
                </a:solidFill>
              </a:rPr>
              <a:t>(taza a la boca)</a:t>
            </a:r>
            <a:endParaRPr lang="en-US" sz="2400" dirty="0"/>
          </a:p>
        </p:txBody>
      </p:sp>
      <p:sp>
        <p:nvSpPr>
          <p:cNvPr id="22" name="rev_22_caja"/>
          <p:cNvSpPr/>
          <p:nvPr/>
        </p:nvSpPr>
        <p:spPr>
          <a:xfrm>
            <a:off x="7498080" y="4169664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22_txt"/>
          <p:cNvSpPr txBox="1"/>
          <p:nvPr/>
        </p:nvSpPr>
        <p:spPr>
          <a:xfrm>
            <a:off x="7589520" y="4169664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마셔요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855464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 </a:t>
            </a:r>
            <a:r>
              <a:rPr lang="en-US" sz="2400" dirty="0">
                <a:solidFill>
                  <a:srgbClr val="14142B"/>
                </a:solidFill>
              </a:rPr>
              <a:t>(dedos desde los ojos)</a:t>
            </a:r>
            <a:endParaRPr lang="en-US" sz="2400" dirty="0"/>
          </a:p>
        </p:txBody>
      </p:sp>
      <p:sp>
        <p:nvSpPr>
          <p:cNvPr id="27" name="rev_23_caja"/>
          <p:cNvSpPr/>
          <p:nvPr/>
        </p:nvSpPr>
        <p:spPr>
          <a:xfrm>
            <a:off x="7498080" y="4892040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23_txt"/>
          <p:cNvSpPr txBox="1"/>
          <p:nvPr/>
        </p:nvSpPr>
        <p:spPr>
          <a:xfrm>
            <a:off x="7589520" y="4892040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봐요</a:t>
            </a:r>
            <a:endParaRPr lang="en-US" sz="2200" dirty="0"/>
          </a:p>
        </p:txBody>
      </p:sp>
      <p:sp>
        <p:nvSpPr>
          <p:cNvPr id="29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57784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자다 </a:t>
            </a:r>
            <a:r>
              <a:rPr lang="en-US" sz="2400" dirty="0">
                <a:solidFill>
                  <a:srgbClr val="14142B"/>
                </a:solidFill>
              </a:rPr>
              <a:t>(manos bajo la mejilla)</a:t>
            </a:r>
            <a:endParaRPr lang="en-US" sz="2400" dirty="0"/>
          </a:p>
        </p:txBody>
      </p:sp>
      <p:sp>
        <p:nvSpPr>
          <p:cNvPr id="32" name="rev_24_caja"/>
          <p:cNvSpPr/>
          <p:nvPr/>
        </p:nvSpPr>
        <p:spPr>
          <a:xfrm>
            <a:off x="7498080" y="561441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3" name="rev_24_txt"/>
          <p:cNvSpPr txBox="1"/>
          <p:nvPr/>
        </p:nvSpPr>
        <p:spPr>
          <a:xfrm>
            <a:off x="7589520" y="561441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자요</a:t>
            </a:r>
            <a:endParaRPr lang="en-US" sz="2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  <p:bldP spid="3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Rueda de conjugación (2)</a:t>
            </a:r>
            <a:r>
              <a:rPr lang="en-US" sz="1500" b="1" i="1" dirty="0">
                <a:solidFill>
                  <a:srgbClr val="8A8DA0"/>
                </a:solidFill>
              </a:rPr>
              <a:t>   Conjugation wheel (2)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Kiran dice el verbo con su gesto; ustedes responden el presente (primero en coro)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공부하다 </a:t>
            </a:r>
            <a:r>
              <a:rPr lang="en-US" sz="2400" dirty="0">
                <a:solidFill>
                  <a:srgbClr val="14142B"/>
                </a:solidFill>
              </a:rPr>
              <a:t>(escribir en la palma)</a:t>
            </a:r>
            <a:endParaRPr lang="en-US" sz="2400" dirty="0"/>
          </a:p>
        </p:txBody>
      </p:sp>
      <p:sp>
        <p:nvSpPr>
          <p:cNvPr id="7" name="rev_25_caja"/>
          <p:cNvSpPr/>
          <p:nvPr/>
        </p:nvSpPr>
        <p:spPr>
          <a:xfrm>
            <a:off x="7498080" y="200253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25_txt"/>
          <p:cNvSpPr txBox="1"/>
          <p:nvPr/>
        </p:nvSpPr>
        <p:spPr>
          <a:xfrm>
            <a:off x="7589520" y="200253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공부해요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88336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일하다 </a:t>
            </a:r>
            <a:r>
              <a:rPr lang="en-US" sz="2400" dirty="0">
                <a:solidFill>
                  <a:srgbClr val="14142B"/>
                </a:solidFill>
              </a:rPr>
              <a:t>(teclear)</a:t>
            </a:r>
            <a:endParaRPr lang="en-US" sz="2400" dirty="0"/>
          </a:p>
        </p:txBody>
      </p:sp>
      <p:sp>
        <p:nvSpPr>
          <p:cNvPr id="12" name="rev_26_caja"/>
          <p:cNvSpPr/>
          <p:nvPr/>
        </p:nvSpPr>
        <p:spPr>
          <a:xfrm>
            <a:off x="7498080" y="2724912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26_txt"/>
          <p:cNvSpPr txBox="1"/>
          <p:nvPr/>
        </p:nvSpPr>
        <p:spPr>
          <a:xfrm>
            <a:off x="7589520" y="2724912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일해요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운동하다 </a:t>
            </a:r>
            <a:r>
              <a:rPr lang="en-US" sz="2400" dirty="0">
                <a:solidFill>
                  <a:srgbClr val="14142B"/>
                </a:solidFill>
              </a:rPr>
              <a:t>(brazos de trote)</a:t>
            </a:r>
            <a:endParaRPr lang="en-US" sz="2400" dirty="0"/>
          </a:p>
        </p:txBody>
      </p:sp>
      <p:sp>
        <p:nvSpPr>
          <p:cNvPr id="17" name="rev_27_caja"/>
          <p:cNvSpPr/>
          <p:nvPr/>
        </p:nvSpPr>
        <p:spPr>
          <a:xfrm>
            <a:off x="7498080" y="3447288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27_txt"/>
          <p:cNvSpPr txBox="1"/>
          <p:nvPr/>
        </p:nvSpPr>
        <p:spPr>
          <a:xfrm>
            <a:off x="7589520" y="3447288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운동해요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133088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쉬다 </a:t>
            </a:r>
            <a:r>
              <a:rPr lang="en-US" sz="2400" dirty="0">
                <a:solidFill>
                  <a:srgbClr val="14142B"/>
                </a:solidFill>
              </a:rPr>
              <a:t>(manos detrás de la nuca)</a:t>
            </a:r>
            <a:endParaRPr lang="en-US" sz="2400" dirty="0"/>
          </a:p>
        </p:txBody>
      </p:sp>
      <p:sp>
        <p:nvSpPr>
          <p:cNvPr id="22" name="rev_28_caja"/>
          <p:cNvSpPr/>
          <p:nvPr/>
        </p:nvSpPr>
        <p:spPr>
          <a:xfrm>
            <a:off x="7498080" y="4169664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28_txt"/>
          <p:cNvSpPr txBox="1"/>
          <p:nvPr/>
        </p:nvSpPr>
        <p:spPr>
          <a:xfrm>
            <a:off x="7589520" y="4169664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쉬어요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855464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요리하다 </a:t>
            </a:r>
            <a:r>
              <a:rPr lang="en-US" sz="2400" dirty="0">
                <a:solidFill>
                  <a:srgbClr val="14142B"/>
                </a:solidFill>
              </a:rPr>
              <a:t>(revolver una olla)</a:t>
            </a:r>
            <a:endParaRPr lang="en-US" sz="2400" dirty="0"/>
          </a:p>
        </p:txBody>
      </p:sp>
      <p:sp>
        <p:nvSpPr>
          <p:cNvPr id="27" name="rev_29_caja"/>
          <p:cNvSpPr/>
          <p:nvPr/>
        </p:nvSpPr>
        <p:spPr>
          <a:xfrm>
            <a:off x="7498080" y="4892040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29_txt"/>
          <p:cNvSpPr txBox="1"/>
          <p:nvPr/>
        </p:nvSpPr>
        <p:spPr>
          <a:xfrm>
            <a:off x="7589520" y="4892040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요리해요</a:t>
            </a:r>
            <a:endParaRPr lang="en-US" sz="2200" dirty="0"/>
          </a:p>
        </p:txBody>
      </p:sp>
      <p:sp>
        <p:nvSpPr>
          <p:cNvPr id="29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57784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일어나다 </a:t>
            </a:r>
            <a:r>
              <a:rPr lang="en-US" sz="2400" dirty="0">
                <a:solidFill>
                  <a:srgbClr val="14142B"/>
                </a:solidFill>
              </a:rPr>
              <a:t>(estirarse y bostezar)</a:t>
            </a:r>
            <a:endParaRPr lang="en-US" sz="2400" dirty="0"/>
          </a:p>
        </p:txBody>
      </p:sp>
      <p:sp>
        <p:nvSpPr>
          <p:cNvPr id="32" name="rev_30_caja"/>
          <p:cNvSpPr/>
          <p:nvPr/>
        </p:nvSpPr>
        <p:spPr>
          <a:xfrm>
            <a:off x="7498080" y="561441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3" name="rev_30_txt"/>
          <p:cNvSpPr txBox="1"/>
          <p:nvPr/>
        </p:nvSpPr>
        <p:spPr>
          <a:xfrm>
            <a:off x="7589520" y="561441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일어나요</a:t>
            </a:r>
            <a:endParaRPr lang="en-US" sz="2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  <p:bldP spid="3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Rueda: arma la frase (1)</a:t>
            </a:r>
            <a:r>
              <a:rPr lang="en-US" sz="1500" b="1" i="1" dirty="0">
                <a:solidFill>
                  <a:srgbClr val="8A8DA0"/>
                </a:solidFill>
              </a:rPr>
              <a:t>   Wheel: build the sentence (1)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Kiran te da las pistas por tu nombre: arma la frase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0677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67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마시다</a:t>
            </a:r>
            <a:endParaRPr lang="en-US" sz="2400" dirty="0"/>
          </a:p>
        </p:txBody>
      </p:sp>
      <p:sp>
        <p:nvSpPr>
          <p:cNvPr id="7" name="rev_31_caja"/>
          <p:cNvSpPr/>
          <p:nvPr/>
        </p:nvSpPr>
        <p:spPr>
          <a:xfrm>
            <a:off x="7498080" y="2002536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31_txt"/>
          <p:cNvSpPr txBox="1"/>
          <p:nvPr/>
        </p:nvSpPr>
        <p:spPr>
          <a:xfrm>
            <a:off x="7589520" y="2002536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커피 마셔요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973629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736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32811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운동하다</a:t>
            </a:r>
            <a:endParaRPr lang="en-US" sz="2400" dirty="0"/>
          </a:p>
        </p:txBody>
      </p:sp>
      <p:sp>
        <p:nvSpPr>
          <p:cNvPr id="12" name="rev_32_caja"/>
          <p:cNvSpPr/>
          <p:nvPr/>
        </p:nvSpPr>
        <p:spPr>
          <a:xfrm>
            <a:off x="7498080" y="2869387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32_txt"/>
          <p:cNvSpPr txBox="1"/>
          <p:nvPr/>
        </p:nvSpPr>
        <p:spPr>
          <a:xfrm>
            <a:off x="7589520" y="2869387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운동해요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699662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공부하다</a:t>
            </a:r>
            <a:endParaRPr lang="en-US" sz="2400" dirty="0"/>
          </a:p>
        </p:txBody>
      </p:sp>
      <p:sp>
        <p:nvSpPr>
          <p:cNvPr id="17" name="rev_33_caja"/>
          <p:cNvSpPr/>
          <p:nvPr/>
        </p:nvSpPr>
        <p:spPr>
          <a:xfrm>
            <a:off x="7498080" y="3736238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33_txt"/>
          <p:cNvSpPr txBox="1"/>
          <p:nvPr/>
        </p:nvSpPr>
        <p:spPr>
          <a:xfrm>
            <a:off x="7589520" y="3736238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한국어 공부해요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707331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7073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566514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밥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먹다</a:t>
            </a:r>
            <a:endParaRPr lang="en-US" sz="2400" dirty="0"/>
          </a:p>
        </p:txBody>
      </p:sp>
      <p:sp>
        <p:nvSpPr>
          <p:cNvPr id="22" name="rev_34_caja"/>
          <p:cNvSpPr/>
          <p:nvPr/>
        </p:nvSpPr>
        <p:spPr>
          <a:xfrm>
            <a:off x="7498080" y="4603090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34_txt"/>
          <p:cNvSpPr txBox="1"/>
          <p:nvPr/>
        </p:nvSpPr>
        <p:spPr>
          <a:xfrm>
            <a:off x="7589520" y="4603090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밥 먹어요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557418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5741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433365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자다 </a:t>
            </a:r>
            <a:r>
              <a:rPr lang="en-US" sz="2400" dirty="0">
                <a:solidFill>
                  <a:srgbClr val="14142B"/>
                </a:solidFill>
              </a:rPr>
              <a:t>· ?</a:t>
            </a:r>
            <a:endParaRPr lang="en-US" sz="2400" dirty="0"/>
          </a:p>
        </p:txBody>
      </p:sp>
      <p:sp>
        <p:nvSpPr>
          <p:cNvPr id="27" name="rev_35_caja"/>
          <p:cNvSpPr/>
          <p:nvPr/>
        </p:nvSpPr>
        <p:spPr>
          <a:xfrm>
            <a:off x="7498080" y="5469941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35_txt"/>
          <p:cNvSpPr txBox="1"/>
          <p:nvPr/>
        </p:nvSpPr>
        <p:spPr>
          <a:xfrm>
            <a:off x="7589520" y="5469941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자요</a:t>
            </a:r>
            <a:r>
              <a:rPr lang="en-US" sz="2200" b="1" dirty="0">
                <a:solidFill>
                  <a:srgbClr val="FFFFFF"/>
                </a:solidFill>
              </a:rPr>
              <a:t>?</a:t>
            </a:r>
            <a:endParaRPr lang="en-US" sz="2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Rueda: arma la frase (2)</a:t>
            </a:r>
            <a:r>
              <a:rPr lang="en-US" sz="1500" b="1" i="1" dirty="0">
                <a:solidFill>
                  <a:srgbClr val="8A8DA0"/>
                </a:solidFill>
              </a:rPr>
              <a:t>   Wheel: build the sentence (2)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Kiran te da las pistas por tu nombre: arma la frase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0677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67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쉬다</a:t>
            </a:r>
            <a:endParaRPr lang="en-US" sz="2400" dirty="0"/>
          </a:p>
        </p:txBody>
      </p:sp>
      <p:sp>
        <p:nvSpPr>
          <p:cNvPr id="7" name="rev_36_caja"/>
          <p:cNvSpPr/>
          <p:nvPr/>
        </p:nvSpPr>
        <p:spPr>
          <a:xfrm>
            <a:off x="7498080" y="2002536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36_txt"/>
          <p:cNvSpPr txBox="1"/>
          <p:nvPr/>
        </p:nvSpPr>
        <p:spPr>
          <a:xfrm>
            <a:off x="7589520" y="2002536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쉬어요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973629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736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32811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일하다</a:t>
            </a:r>
            <a:endParaRPr lang="en-US" sz="2400" dirty="0"/>
          </a:p>
        </p:txBody>
      </p:sp>
      <p:sp>
        <p:nvSpPr>
          <p:cNvPr id="12" name="rev_37_caja"/>
          <p:cNvSpPr/>
          <p:nvPr/>
        </p:nvSpPr>
        <p:spPr>
          <a:xfrm>
            <a:off x="7498080" y="2869387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37_txt"/>
          <p:cNvSpPr txBox="1"/>
          <p:nvPr/>
        </p:nvSpPr>
        <p:spPr>
          <a:xfrm>
            <a:off x="7589520" y="2869387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일해요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699662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드라마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</a:t>
            </a:r>
            <a:endParaRPr lang="en-US" sz="2400" dirty="0"/>
          </a:p>
        </p:txBody>
      </p:sp>
      <p:sp>
        <p:nvSpPr>
          <p:cNvPr id="17" name="rev_38_caja"/>
          <p:cNvSpPr/>
          <p:nvPr/>
        </p:nvSpPr>
        <p:spPr>
          <a:xfrm>
            <a:off x="7498080" y="3736238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38_txt"/>
          <p:cNvSpPr txBox="1"/>
          <p:nvPr/>
        </p:nvSpPr>
        <p:spPr>
          <a:xfrm>
            <a:off x="7589520" y="3736238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드라마 봐요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707331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7073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566514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오다 </a:t>
            </a:r>
            <a:r>
              <a:rPr lang="en-US" sz="2400" dirty="0">
                <a:solidFill>
                  <a:srgbClr val="14142B"/>
                </a:solidFill>
              </a:rPr>
              <a:t>· ?</a:t>
            </a:r>
            <a:endParaRPr lang="en-US" sz="2400" dirty="0"/>
          </a:p>
        </p:txBody>
      </p:sp>
      <p:sp>
        <p:nvSpPr>
          <p:cNvPr id="22" name="rev_39_caja"/>
          <p:cNvSpPr/>
          <p:nvPr/>
        </p:nvSpPr>
        <p:spPr>
          <a:xfrm>
            <a:off x="7498080" y="4603090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39_txt"/>
          <p:cNvSpPr txBox="1"/>
          <p:nvPr/>
        </p:nvSpPr>
        <p:spPr>
          <a:xfrm>
            <a:off x="7589520" y="4603090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와요</a:t>
            </a:r>
            <a:r>
              <a:rPr lang="en-US" sz="2200" b="1" dirty="0">
                <a:solidFill>
                  <a:srgbClr val="FFFFFF"/>
                </a:solidFill>
              </a:rPr>
              <a:t>?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557418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5741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433365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요리하다</a:t>
            </a:r>
            <a:endParaRPr lang="en-US" sz="2400" dirty="0"/>
          </a:p>
        </p:txBody>
      </p:sp>
      <p:sp>
        <p:nvSpPr>
          <p:cNvPr id="27" name="rev_40_caja"/>
          <p:cNvSpPr/>
          <p:nvPr/>
        </p:nvSpPr>
        <p:spPr>
          <a:xfrm>
            <a:off x="7498080" y="5469941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40_txt"/>
          <p:cNvSpPr txBox="1"/>
          <p:nvPr/>
        </p:nvSpPr>
        <p:spPr>
          <a:xfrm>
            <a:off x="7589520" y="5469941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요리해요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Rueda: arma la frase (3)</a:t>
            </a:r>
            <a:r>
              <a:rPr lang="en-US" sz="1500" b="1" i="1" dirty="0">
                <a:solidFill>
                  <a:srgbClr val="8A8DA0"/>
                </a:solidFill>
              </a:rPr>
              <a:t>   Wheel: build the sentence (3)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Kiran te da las pistas por tu nombre: arma la frase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0677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67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우유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마시다</a:t>
            </a:r>
            <a:endParaRPr lang="en-US" sz="2400" dirty="0"/>
          </a:p>
        </p:txBody>
      </p:sp>
      <p:sp>
        <p:nvSpPr>
          <p:cNvPr id="7" name="rev_41_caja"/>
          <p:cNvSpPr/>
          <p:nvPr/>
        </p:nvSpPr>
        <p:spPr>
          <a:xfrm>
            <a:off x="7498080" y="2002536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41_txt"/>
          <p:cNvSpPr txBox="1"/>
          <p:nvPr/>
        </p:nvSpPr>
        <p:spPr>
          <a:xfrm>
            <a:off x="7589520" y="2002536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우유 마셔요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973629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736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32811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일어나다</a:t>
            </a:r>
            <a:endParaRPr lang="en-US" sz="2400" dirty="0"/>
          </a:p>
        </p:txBody>
      </p:sp>
      <p:sp>
        <p:nvSpPr>
          <p:cNvPr id="12" name="rev_42_caja"/>
          <p:cNvSpPr/>
          <p:nvPr/>
        </p:nvSpPr>
        <p:spPr>
          <a:xfrm>
            <a:off x="7498080" y="2869387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42_txt"/>
          <p:cNvSpPr txBox="1"/>
          <p:nvPr/>
        </p:nvSpPr>
        <p:spPr>
          <a:xfrm>
            <a:off x="7589520" y="2869387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일어나요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699662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가다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가다</a:t>
            </a:r>
            <a:endParaRPr lang="en-US" sz="2400" dirty="0"/>
          </a:p>
        </p:txBody>
      </p:sp>
      <p:sp>
        <p:nvSpPr>
          <p:cNvPr id="17" name="rev_43_caja"/>
          <p:cNvSpPr/>
          <p:nvPr/>
        </p:nvSpPr>
        <p:spPr>
          <a:xfrm>
            <a:off x="7498080" y="3736238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43_txt"/>
          <p:cNvSpPr txBox="1"/>
          <p:nvPr/>
        </p:nvSpPr>
        <p:spPr>
          <a:xfrm>
            <a:off x="7589520" y="3736238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학교에 가요</a:t>
            </a:r>
            <a:r>
              <a:rPr lang="en-US" sz="1700" b="1" dirty="0">
                <a:solidFill>
                  <a:srgbClr val="FFFFFF"/>
                </a:solidFill>
              </a:rPr>
              <a:t>.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학원에 가요</a:t>
            </a:r>
            <a:r>
              <a:rPr lang="en-US" sz="1700" b="1" dirty="0">
                <a:solidFill>
                  <a:srgbClr val="FFFFFF"/>
                </a:solidFill>
              </a:rPr>
              <a:t>.</a:t>
            </a:r>
            <a:endParaRPr lang="en-US" sz="1700" dirty="0"/>
          </a:p>
        </p:txBody>
      </p:sp>
      <p:sp>
        <p:nvSpPr>
          <p:cNvPr id="19" name="num_3"/>
          <p:cNvSpPr/>
          <p:nvPr/>
        </p:nvSpPr>
        <p:spPr>
          <a:xfrm>
            <a:off x="548640" y="4707331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7073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566514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가다 </a:t>
            </a:r>
            <a:r>
              <a:rPr lang="en-US" sz="2400" dirty="0">
                <a:solidFill>
                  <a:srgbClr val="14142B"/>
                </a:solidFill>
              </a:rPr>
              <a:t>· ?</a:t>
            </a:r>
            <a:endParaRPr lang="en-US" sz="2400" dirty="0"/>
          </a:p>
        </p:txBody>
      </p:sp>
      <p:sp>
        <p:nvSpPr>
          <p:cNvPr id="22" name="rev_44_caja"/>
          <p:cNvSpPr/>
          <p:nvPr/>
        </p:nvSpPr>
        <p:spPr>
          <a:xfrm>
            <a:off x="7498080" y="4603090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44_txt"/>
          <p:cNvSpPr txBox="1"/>
          <p:nvPr/>
        </p:nvSpPr>
        <p:spPr>
          <a:xfrm>
            <a:off x="7589520" y="4603090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가요</a:t>
            </a:r>
            <a:r>
              <a:rPr lang="en-US" sz="2200" b="1" dirty="0">
                <a:solidFill>
                  <a:srgbClr val="FFFFFF"/>
                </a:solidFill>
              </a:rPr>
              <a:t>?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557418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5741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433365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공원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가다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운동하다</a:t>
            </a:r>
            <a:endParaRPr lang="en-US" sz="2400" dirty="0"/>
          </a:p>
        </p:txBody>
      </p:sp>
      <p:sp>
        <p:nvSpPr>
          <p:cNvPr id="27" name="rev_45_caja"/>
          <p:cNvSpPr/>
          <p:nvPr/>
        </p:nvSpPr>
        <p:spPr>
          <a:xfrm>
            <a:off x="7498080" y="5469941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45_txt"/>
          <p:cNvSpPr txBox="1"/>
          <p:nvPr/>
        </p:nvSpPr>
        <p:spPr>
          <a:xfrm>
            <a:off x="7589520" y="5469941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공원에 가요</a:t>
            </a:r>
            <a:r>
              <a:rPr lang="en-US" sz="1900" b="1" dirty="0">
                <a:solidFill>
                  <a:srgbClr val="FFFFFF"/>
                </a:solidFill>
              </a:rPr>
              <a:t>. </a:t>
            </a: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운동해요</a:t>
            </a:r>
            <a:r>
              <a:rPr lang="en-US" sz="1900" b="1" dirty="0">
                <a:solidFill>
                  <a:srgbClr val="FFFFFF"/>
                </a:solidFill>
              </a:rPr>
              <a:t>.</a:t>
            </a:r>
            <a:endParaRPr lang="en-US" sz="19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드세요</a:t>
            </a:r>
            <a:r>
              <a:rPr lang="en-US" sz="3000" b="1" dirty="0">
                <a:solidFill>
                  <a:srgbClr val="4236F6"/>
                </a:solidFill>
              </a:rPr>
              <a:t>!  </a:t>
            </a:r>
            <a:r>
              <a:rPr lang="en-US" sz="3000" b="1" dirty="0">
                <a:solidFill>
                  <a:srgbClr val="003478"/>
                </a:solidFill>
              </a:rPr>
              <a:t>¡Levanten la mano!</a:t>
            </a:r>
            <a:r>
              <a:rPr lang="en-US" sz="1500" b="1" i="1" dirty="0">
                <a:solidFill>
                  <a:srgbClr val="8A8DA0"/>
                </a:solidFill>
              </a:rPr>
              <a:t>   Raise your hand!</a:t>
            </a:r>
            <a:endParaRPr lang="en-US" sz="3000" dirty="0"/>
          </a:p>
        </p:txBody>
      </p:sp>
      <p:graphicFrame>
        <p:nvGraphicFramePr>
          <p:cNvPr id="26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95683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Pregunta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¿Cuántos?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커피 마셔요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운동해요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요리해요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드라마 봐요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일해요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자요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가요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¿Adónde vas?</a:t>
            </a:r>
            <a:r>
              <a:rPr lang="en-US" sz="1500" b="1" i="1" dirty="0">
                <a:solidFill>
                  <a:srgbClr val="8A8DA0"/>
                </a:solidFill>
              </a:rPr>
              <a:t>   Where are you going?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___에 가요</a:t>
            </a:r>
            <a:r>
              <a:rPr lang="en-US" sz="1800" i="1" dirty="0">
                <a:solidFill>
                  <a:srgbClr val="4236F6"/>
                </a:solidFill>
              </a:rPr>
              <a:t>.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뭐 해요</a:t>
            </a:r>
            <a:r>
              <a:rPr lang="en-US" sz="1800" i="1" dirty="0">
                <a:solidFill>
                  <a:srgbClr val="4236F6"/>
                </a:solidFill>
              </a:rPr>
              <a:t>?</a:t>
            </a:r>
            <a:endParaRPr lang="en-US" sz="1800" dirty="0"/>
          </a:p>
        </p:txBody>
      </p:sp>
      <p:sp>
        <p:nvSpPr>
          <p:cNvPr id="4" name="tile_0"/>
          <p:cNvSpPr/>
          <p:nvPr/>
        </p:nvSpPr>
        <p:spPr>
          <a:xfrm>
            <a:off x="548640" y="1874520"/>
            <a:ext cx="203545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pic>
        <p:nvPicPr>
          <p:cNvPr id="5" name="glifo_img_0" descr="C:\Users\Chingu\AppData\Local\Temp\claude\C--Users-Chingu-Desktop-ACADEMIASEULWEB\d4111e1b-5523-44ea-97b2-b1a1d9545b9e\scratchpad\decks\cache\img_3374480fcf4663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929384"/>
            <a:ext cx="915954" cy="9159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6034" y="1929384"/>
            <a:ext cx="991484" cy="91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918490"/>
            <a:ext cx="1944014" cy="95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1 · casa</a:t>
            </a:r>
            <a:endParaRPr lang="en-US" sz="1700" dirty="0"/>
          </a:p>
        </p:txBody>
      </p:sp>
      <p:sp>
        <p:nvSpPr>
          <p:cNvPr id="8" name="tile_1"/>
          <p:cNvSpPr/>
          <p:nvPr/>
        </p:nvSpPr>
        <p:spPr>
          <a:xfrm>
            <a:off x="2812694" y="1874520"/>
            <a:ext cx="203545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pic>
        <p:nvPicPr>
          <p:cNvPr id="9" name="glifo_img_1" descr="C:\Users\Chingu\AppData\Local\Temp\claude\C--Users-Chingu-Desktop-ACADEMIASEULWEB\d4111e1b-5523-44ea-97b2-b1a1d9545b9e\scratchpad\decks\cache\img_0be5544fa0677a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846" y="1929384"/>
            <a:ext cx="915954" cy="91595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820089" y="1929384"/>
            <a:ext cx="991484" cy="91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</a:t>
            </a:r>
            <a:endParaRPr lang="en-US" sz="3100" dirty="0"/>
          </a:p>
        </p:txBody>
      </p:sp>
      <p:sp>
        <p:nvSpPr>
          <p:cNvPr id="11" name="Text 7"/>
          <p:cNvSpPr txBox="1"/>
          <p:nvPr/>
        </p:nvSpPr>
        <p:spPr>
          <a:xfrm>
            <a:off x="2858414" y="2918490"/>
            <a:ext cx="1944014" cy="95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2 · colegio</a:t>
            </a:r>
            <a:endParaRPr lang="en-US" sz="1700" dirty="0"/>
          </a:p>
        </p:txBody>
      </p:sp>
      <p:sp>
        <p:nvSpPr>
          <p:cNvPr id="12" name="tile_2"/>
          <p:cNvSpPr/>
          <p:nvPr/>
        </p:nvSpPr>
        <p:spPr>
          <a:xfrm>
            <a:off x="5076749" y="1874520"/>
            <a:ext cx="203545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pic>
        <p:nvPicPr>
          <p:cNvPr id="13" name="glifo_img_2" descr="C:\Users\Chingu\AppData\Local\Temp\claude\C--Users-Chingu-Desktop-ACADEMIASEULWEB\d4111e1b-5523-44ea-97b2-b1a1d9545b9e\scratchpad\decks\cache\img_df5dc0b88dfe90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9901" y="1929384"/>
            <a:ext cx="915954" cy="91595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084143" y="1929384"/>
            <a:ext cx="991484" cy="91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</a:t>
            </a:r>
            <a:endParaRPr lang="en-US" sz="3100" dirty="0"/>
          </a:p>
        </p:txBody>
      </p:sp>
      <p:sp>
        <p:nvSpPr>
          <p:cNvPr id="15" name="Text 10"/>
          <p:cNvSpPr txBox="1"/>
          <p:nvPr/>
        </p:nvSpPr>
        <p:spPr>
          <a:xfrm>
            <a:off x="5122469" y="2918490"/>
            <a:ext cx="1944014" cy="95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3 · oficina</a:t>
            </a:r>
            <a:endParaRPr lang="en-US" sz="1700" dirty="0"/>
          </a:p>
        </p:txBody>
      </p:sp>
      <p:sp>
        <p:nvSpPr>
          <p:cNvPr id="16" name="tile_3"/>
          <p:cNvSpPr/>
          <p:nvPr/>
        </p:nvSpPr>
        <p:spPr>
          <a:xfrm>
            <a:off x="7340803" y="1874520"/>
            <a:ext cx="203545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pic>
        <p:nvPicPr>
          <p:cNvPr id="17" name="glifo_img_3" descr="C:\Users\Chingu\AppData\Local\Temp\claude\C--Users-Chingu-Desktop-ACADEMIASEULWEB\d4111e1b-5523-44ea-97b2-b1a1d9545b9e\scratchpad\decks\cache\img_d6a9ee37c037d6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3955" y="1929384"/>
            <a:ext cx="915954" cy="91595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48198" y="1929384"/>
            <a:ext cx="991484" cy="91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</a:t>
            </a:r>
            <a:endParaRPr lang="en-US" sz="3100" dirty="0"/>
          </a:p>
        </p:txBody>
      </p:sp>
      <p:sp>
        <p:nvSpPr>
          <p:cNvPr id="19" name="Text 13"/>
          <p:cNvSpPr txBox="1"/>
          <p:nvPr/>
        </p:nvSpPr>
        <p:spPr>
          <a:xfrm>
            <a:off x="7386523" y="2918490"/>
            <a:ext cx="1944014" cy="95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4 · cafetería</a:t>
            </a:r>
            <a:endParaRPr lang="en-US" sz="1700" dirty="0"/>
          </a:p>
        </p:txBody>
      </p:sp>
      <p:sp>
        <p:nvSpPr>
          <p:cNvPr id="20" name="tile_4"/>
          <p:cNvSpPr/>
          <p:nvPr/>
        </p:nvSpPr>
        <p:spPr>
          <a:xfrm>
            <a:off x="9604858" y="1874520"/>
            <a:ext cx="203545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pic>
        <p:nvPicPr>
          <p:cNvPr id="21" name="glifo_img_4" descr="C:\Users\Chingu\AppData\Local\Temp\claude\C--Users-Chingu-Desktop-ACADEMIASEULWEB\d4111e1b-5523-44ea-97b2-b1a1d9545b9e\scratchpad\decks\cache\img_5fff6114e64cff8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8010" y="1929384"/>
            <a:ext cx="915954" cy="91595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612252" y="1929384"/>
            <a:ext cx="991484" cy="91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식당</a:t>
            </a:r>
            <a:endParaRPr lang="en-US" sz="3100" dirty="0"/>
          </a:p>
        </p:txBody>
      </p:sp>
      <p:sp>
        <p:nvSpPr>
          <p:cNvPr id="23" name="Text 16"/>
          <p:cNvSpPr txBox="1"/>
          <p:nvPr/>
        </p:nvSpPr>
        <p:spPr>
          <a:xfrm>
            <a:off x="9650578" y="2918490"/>
            <a:ext cx="1944014" cy="95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5 · restaurante</a:t>
            </a:r>
            <a:endParaRPr lang="en-US" sz="1700" dirty="0"/>
          </a:p>
        </p:txBody>
      </p:sp>
      <p:sp>
        <p:nvSpPr>
          <p:cNvPr id="24" name="tile_5"/>
          <p:cNvSpPr/>
          <p:nvPr/>
        </p:nvSpPr>
        <p:spPr>
          <a:xfrm>
            <a:off x="548640" y="4137660"/>
            <a:ext cx="203545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pic>
        <p:nvPicPr>
          <p:cNvPr id="25" name="glifo_img_5" descr="C:\Users\Chingu\AppData\Local\Temp\claude\C--Users-Chingu-Desktop-ACADEMIASEULWEB\d4111e1b-5523-44ea-97b2-b1a1d9545b9e\scratchpad\decks\cache\img_3dba05f205fab00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4192524"/>
            <a:ext cx="915954" cy="91595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556034" y="4192524"/>
            <a:ext cx="991484" cy="91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공원</a:t>
            </a:r>
            <a:endParaRPr lang="en-US" sz="3100" dirty="0"/>
          </a:p>
        </p:txBody>
      </p:sp>
      <p:sp>
        <p:nvSpPr>
          <p:cNvPr id="27" name="Text 19"/>
          <p:cNvSpPr txBox="1"/>
          <p:nvPr/>
        </p:nvSpPr>
        <p:spPr>
          <a:xfrm>
            <a:off x="594360" y="5181630"/>
            <a:ext cx="1944014" cy="95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6 · parque</a:t>
            </a:r>
            <a:endParaRPr lang="en-US" sz="1700" dirty="0"/>
          </a:p>
        </p:txBody>
      </p:sp>
      <p:sp>
        <p:nvSpPr>
          <p:cNvPr id="28" name="tile_6"/>
          <p:cNvSpPr/>
          <p:nvPr/>
        </p:nvSpPr>
        <p:spPr>
          <a:xfrm>
            <a:off x="2812694" y="4137660"/>
            <a:ext cx="203545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pic>
        <p:nvPicPr>
          <p:cNvPr id="29" name="glifo_img_6" descr="C:\Users\Chingu\AppData\Local\Temp\claude\C--Users-Chingu-Desktop-ACADEMIASEULWEB\d4111e1b-5523-44ea-97b2-b1a1d9545b9e\scratchpad\decks\cache\img_a647b55f43a1fa2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85846" y="4192524"/>
            <a:ext cx="915954" cy="91595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3820089" y="4192524"/>
            <a:ext cx="991484" cy="91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</a:t>
            </a:r>
            <a:endParaRPr lang="en-US" sz="3100" dirty="0"/>
          </a:p>
        </p:txBody>
      </p:sp>
      <p:sp>
        <p:nvSpPr>
          <p:cNvPr id="31" name="Text 22"/>
          <p:cNvSpPr txBox="1"/>
          <p:nvPr/>
        </p:nvSpPr>
        <p:spPr>
          <a:xfrm>
            <a:off x="2858414" y="5181630"/>
            <a:ext cx="1944014" cy="95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7 · hospital</a:t>
            </a:r>
            <a:endParaRPr lang="en-US" sz="1700" dirty="0"/>
          </a:p>
        </p:txBody>
      </p:sp>
      <p:sp>
        <p:nvSpPr>
          <p:cNvPr id="32" name="tile_7"/>
          <p:cNvSpPr/>
          <p:nvPr/>
        </p:nvSpPr>
        <p:spPr>
          <a:xfrm>
            <a:off x="5076749" y="4137660"/>
            <a:ext cx="203545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pic>
        <p:nvPicPr>
          <p:cNvPr id="33" name="glifo_img_7" descr="C:\Users\Chingu\AppData\Local\Temp\claude\C--Users-Chingu-Desktop-ACADEMIASEULWEB\d4111e1b-5523-44ea-97b2-b1a1d9545b9e\scratchpad\decks\cache\img_46537238c7f3edf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9901" y="4192524"/>
            <a:ext cx="915954" cy="915954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084143" y="4192524"/>
            <a:ext cx="991484" cy="91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</a:t>
            </a:r>
            <a:endParaRPr lang="en-US" sz="3100" dirty="0"/>
          </a:p>
        </p:txBody>
      </p:sp>
      <p:sp>
        <p:nvSpPr>
          <p:cNvPr id="35" name="Text 25"/>
          <p:cNvSpPr txBox="1"/>
          <p:nvPr/>
        </p:nvSpPr>
        <p:spPr>
          <a:xfrm>
            <a:off x="5122469" y="5181630"/>
            <a:ext cx="1944014" cy="95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8 · banco</a:t>
            </a:r>
            <a:endParaRPr lang="en-US" sz="1700" dirty="0"/>
          </a:p>
        </p:txBody>
      </p:sp>
      <p:sp>
        <p:nvSpPr>
          <p:cNvPr id="36" name="tile_8"/>
          <p:cNvSpPr/>
          <p:nvPr/>
        </p:nvSpPr>
        <p:spPr>
          <a:xfrm>
            <a:off x="7340803" y="4137660"/>
            <a:ext cx="203545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pic>
        <p:nvPicPr>
          <p:cNvPr id="37" name="glifo_img_8" descr="C:\Users\Chingu\AppData\Local\Temp\claude\C--Users-Chingu-Desktop-ACADEMIASEULWEB\d4111e1b-5523-44ea-97b2-b1a1d9545b9e\scratchpad\decks\cache\img_dbdfbd128138425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13955" y="4192524"/>
            <a:ext cx="915954" cy="915954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8348198" y="4192524"/>
            <a:ext cx="991484" cy="91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</a:t>
            </a:r>
            <a:endParaRPr lang="en-US" sz="3100" dirty="0"/>
          </a:p>
        </p:txBody>
      </p:sp>
      <p:sp>
        <p:nvSpPr>
          <p:cNvPr id="39" name="Text 28"/>
          <p:cNvSpPr txBox="1"/>
          <p:nvPr/>
        </p:nvSpPr>
        <p:spPr>
          <a:xfrm>
            <a:off x="7386523" y="5181630"/>
            <a:ext cx="1944014" cy="95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9 · academia</a:t>
            </a:r>
            <a:endParaRPr lang="en-US" sz="1700" dirty="0"/>
          </a:p>
        </p:txBody>
      </p:sp>
      <p:sp>
        <p:nvSpPr>
          <p:cNvPr id="40" name="tile_9"/>
          <p:cNvSpPr/>
          <p:nvPr/>
        </p:nvSpPr>
        <p:spPr>
          <a:xfrm>
            <a:off x="9604858" y="4137660"/>
            <a:ext cx="203545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pic>
        <p:nvPicPr>
          <p:cNvPr id="41" name="glifo_img_9" descr="C:\Users\Chingu\AppData\Local\Temp\claude\C--Users-Chingu-Desktop-ACADEMIASEULWEB\d4111e1b-5523-44ea-97b2-b1a1d9545b9e\scratchpad\decks\cache\img_a587f50a4a667ec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78010" y="4192524"/>
            <a:ext cx="915954" cy="915954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10612252" y="4192524"/>
            <a:ext cx="991484" cy="91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</a:t>
            </a:r>
            <a:endParaRPr lang="en-US" sz="3100" dirty="0"/>
          </a:p>
        </p:txBody>
      </p:sp>
      <p:sp>
        <p:nvSpPr>
          <p:cNvPr id="43" name="Text 31"/>
          <p:cNvSpPr txBox="1"/>
          <p:nvPr/>
        </p:nvSpPr>
        <p:spPr>
          <a:xfrm>
            <a:off x="9650578" y="5181630"/>
            <a:ext cx="1944014" cy="95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10 · Corea</a:t>
            </a:r>
            <a:endParaRPr lang="en-US" sz="17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Salas · 20 minutos</a:t>
            </a:r>
            <a:r>
              <a:rPr lang="en-US" sz="1500" b="1" i="1" dirty="0">
                <a:solidFill>
                  <a:srgbClr val="8A8DA0"/>
                </a:solidFill>
              </a:rPr>
              <a:t>   Breakout rooms · 20 minutes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Tríos · ¿Te falta una palabra? Pídela en el chat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A · 8 min · Mi día en 5 frases (con notas); los otros anotan y hacen 1 pregunta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Preguntas: 매일 </a:t>
            </a:r>
            <a:r>
              <a:rPr lang="en-US" sz="2000" dirty="0">
                <a:solidFill>
                  <a:srgbClr val="14142B"/>
                </a:solidFill>
              </a:rPr>
              <a:t>___? ·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뭐 해요</a:t>
            </a:r>
            <a:r>
              <a:rPr lang="en-US" sz="2000" dirty="0">
                <a:solidFill>
                  <a:srgbClr val="14142B"/>
                </a:solidFill>
              </a:rPr>
              <a:t>? ·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어디에 가요</a:t>
            </a:r>
            <a:r>
              <a:rPr lang="en-US" sz="2000" dirty="0">
                <a:solidFill>
                  <a:srgbClr val="14142B"/>
                </a:solidFill>
              </a:rPr>
              <a:t>? · 2.ª vuelta sin notas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· 9 min · 마리아는 매일 </a:t>
            </a:r>
            <a:r>
              <a:rPr lang="en-US" sz="2000" dirty="0">
                <a:solidFill>
                  <a:srgbClr val="14142B"/>
                </a:solidFill>
              </a:rPr>
              <a:t>___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가요</a:t>
            </a:r>
            <a:r>
              <a:rPr lang="en-US" sz="2000" dirty="0">
                <a:solidFill>
                  <a:srgbClr val="14142B"/>
                </a:solidFill>
              </a:rPr>
              <a:t>.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</a:t>
            </a:r>
            <a:r>
              <a:rPr lang="en-US" sz="2000" dirty="0">
                <a:solidFill>
                  <a:srgbClr val="14142B"/>
                </a:solidFill>
              </a:rPr>
              <a:t>___. —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2000" dirty="0">
                <a:solidFill>
                  <a:srgbClr val="14142B"/>
                </a:solidFill>
              </a:rPr>
              <a:t>! /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000" dirty="0">
                <a:solidFill>
                  <a:srgbClr val="14142B"/>
                </a:solidFill>
              </a:rPr>
              <a:t>, ___.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Después: dos verdades y una mentira (요리해요</a:t>
            </a:r>
            <a:r>
              <a:rPr lang="en-US" sz="2000" dirty="0">
                <a:solidFill>
                  <a:srgbClr val="14142B"/>
                </a:solidFill>
              </a:rPr>
              <a:t>? —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000" dirty="0">
                <a:solidFill>
                  <a:srgbClr val="14142B"/>
                </a:solidFill>
              </a:rPr>
              <a:t>!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하하</a:t>
            </a:r>
            <a:r>
              <a:rPr lang="en-US" sz="2000" dirty="0">
                <a:solidFill>
                  <a:srgbClr val="14142B"/>
                </a:solidFill>
              </a:rPr>
              <a:t>.)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· 3 min · Minuto libre: 오늘 뭐 해요</a:t>
            </a:r>
            <a:r>
              <a:rPr lang="en-US" sz="2000" dirty="0">
                <a:solidFill>
                  <a:srgbClr val="14142B"/>
                </a:solidFill>
              </a:rPr>
              <a:t>? ·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집이 어디예요</a:t>
            </a:r>
            <a:r>
              <a:rPr lang="en-US" sz="2000" dirty="0">
                <a:solidFill>
                  <a:srgbClr val="14142B"/>
                </a:solidFill>
              </a:rPr>
              <a:t>? · sin cuaderno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Banco: verbos + lugares + 커피</a:t>
            </a:r>
            <a:r>
              <a:rPr lang="en-US" sz="2000" dirty="0">
                <a:solidFill>
                  <a:srgbClr val="14142B"/>
                </a:solidFill>
              </a:rPr>
              <a:t>,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</a:t>
            </a:r>
            <a:r>
              <a:rPr lang="en-US" sz="2000" dirty="0">
                <a:solidFill>
                  <a:srgbClr val="14142B"/>
                </a:solidFill>
              </a:rPr>
              <a:t>,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우유</a:t>
            </a:r>
            <a:r>
              <a:rPr lang="en-US" sz="2000" dirty="0">
                <a:solidFill>
                  <a:srgbClr val="14142B"/>
                </a:solidFill>
              </a:rPr>
              <a:t>,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</a:t>
            </a:r>
            <a:r>
              <a:rPr lang="en-US" sz="2000" dirty="0">
                <a:solidFill>
                  <a:srgbClr val="14142B"/>
                </a:solidFill>
              </a:rPr>
              <a:t>,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밥</a:t>
            </a:r>
            <a:r>
              <a:rPr lang="en-US" sz="2000" dirty="0">
                <a:solidFill>
                  <a:srgbClr val="14142B"/>
                </a:solidFill>
              </a:rPr>
              <a:t>,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고기</a:t>
            </a:r>
            <a:r>
              <a:rPr lang="en-US" sz="2000" dirty="0">
                <a:solidFill>
                  <a:srgbClr val="14142B"/>
                </a:solidFill>
              </a:rPr>
              <a:t>,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김치</a:t>
            </a:r>
            <a:r>
              <a:rPr lang="en-US" sz="2000" dirty="0">
                <a:solidFill>
                  <a:srgbClr val="14142B"/>
                </a:solidFill>
              </a:rPr>
              <a:t>,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드라마 </a:t>
            </a:r>
            <a:r>
              <a:rPr lang="en-US" sz="2000" dirty="0">
                <a:solidFill>
                  <a:srgbClr val="14142B"/>
                </a:solidFill>
              </a:rPr>
              <a:t>· pide palabras en el chat</a:t>
            </a:r>
            <a:endParaRPr lang="en-US" sz="20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Minuto libre</a:t>
            </a:r>
            <a:r>
              <a:rPr lang="en-US" sz="1500" b="1" i="1" dirty="0">
                <a:solidFill>
                  <a:srgbClr val="8A8DA0"/>
                </a:solidFill>
              </a:rPr>
              <a:t>   Free minute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3 minutos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뭐 해요</a:t>
            </a:r>
            <a:r>
              <a:rPr lang="en-US" sz="2800" dirty="0">
                <a:solidFill>
                  <a:srgbClr val="14142B"/>
                </a:solidFill>
              </a:rPr>
              <a:t>?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집이 어디예요</a:t>
            </a:r>
            <a:r>
              <a:rPr lang="en-US" sz="2800" dirty="0">
                <a:solidFill>
                  <a:srgbClr val="14142B"/>
                </a:solidFill>
              </a:rPr>
              <a:t>?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142B"/>
                </a:solidFill>
              </a:rPr>
              <a:t>Pregunten en cualquier orden · quien responde no mira el cuaderno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¿No entiendes? 다시 한번</a:t>
            </a:r>
            <a:r>
              <a:rPr lang="en-US" sz="2800" dirty="0">
                <a:solidFill>
                  <a:srgbClr val="14142B"/>
                </a:solidFill>
              </a:rPr>
              <a:t>!</a:t>
            </a:r>
            <a:endParaRPr lang="en-US" sz="28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Hoy aprendimos · 3 frases</a:t>
            </a:r>
            <a:r>
              <a:rPr lang="en-US" sz="1500" b="1" i="1" dirty="0">
                <a:solidFill>
                  <a:srgbClr val="8A8DA0"/>
                </a:solidFill>
              </a:rPr>
              <a:t>   Today we learned · 3 phrases</a:t>
            </a:r>
            <a:endParaRPr lang="en-US" sz="3000" dirty="0"/>
          </a:p>
        </p:txBody>
      </p:sp>
      <p:sp>
        <p:nvSpPr>
          <p:cNvPr id="3" name="col_0"/>
          <p:cNvSpPr/>
          <p:nvPr/>
        </p:nvSpPr>
        <p:spPr>
          <a:xfrm>
            <a:off x="548640" y="1325880"/>
            <a:ext cx="5385816" cy="4846320"/>
          </a:xfrm>
          <a:prstGeom prst="roundRect">
            <a:avLst>
              <a:gd name="adj" fmla="val 2830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Errores del día</a:t>
            </a:r>
            <a:endParaRPr lang="en-US" sz="2000" dirty="0"/>
          </a:p>
        </p:txBody>
      </p:sp>
      <p:sp>
        <p:nvSpPr>
          <p:cNvPr id="5" name="lista"/>
          <p:cNvSpPr txBox="1"/>
          <p:nvPr/>
        </p:nvSpPr>
        <p:spPr>
          <a:xfrm>
            <a:off x="731520" y="2103120"/>
            <a:ext cx="5020056" cy="39319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가다요 </a:t>
            </a:r>
            <a:r>
              <a:rPr lang="en-US" sz="2000" dirty="0">
                <a:solidFill>
                  <a:srgbClr val="14142B"/>
                </a:solidFill>
              </a:rPr>
              <a:t>→ ✓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회사에 일해요 </a:t>
            </a:r>
            <a:r>
              <a:rPr lang="en-US" sz="2000" dirty="0">
                <a:solidFill>
                  <a:srgbClr val="14142B"/>
                </a:solidFill>
              </a:rPr>
              <a:t>→ ✓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회사에 가요</a:t>
            </a:r>
            <a:r>
              <a:rPr lang="en-US" sz="2000" dirty="0">
                <a:solidFill>
                  <a:srgbClr val="14142B"/>
                </a:solidFill>
              </a:rPr>
              <a:t>.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일해요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[모고요</a:t>
            </a:r>
            <a:r>
              <a:rPr lang="en-US" sz="2000" dirty="0">
                <a:solidFill>
                  <a:srgbClr val="14142B"/>
                </a:solidFill>
              </a:rPr>
              <a:t>] → ✓ [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머거요</a:t>
            </a:r>
            <a:r>
              <a:rPr lang="en-US" sz="2000" dirty="0">
                <a:solidFill>
                  <a:srgbClr val="14142B"/>
                </a:solidFill>
              </a:rPr>
              <a:t>]</a:t>
            </a:r>
            <a:endParaRPr lang="en-US" sz="2000" dirty="0"/>
          </a:p>
        </p:txBody>
      </p:sp>
      <p:sp>
        <p:nvSpPr>
          <p:cNvPr id="6" name="col_1"/>
          <p:cNvSpPr/>
          <p:nvPr/>
        </p:nvSpPr>
        <p:spPr>
          <a:xfrm>
            <a:off x="6254496" y="1325880"/>
            <a:ext cx="5385816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83096" y="150876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3 frases clave</a:t>
            </a:r>
            <a:endParaRPr lang="en-US" sz="2000" dirty="0"/>
          </a:p>
        </p:txBody>
      </p:sp>
      <p:sp>
        <p:nvSpPr>
          <p:cNvPr id="8" name="lista"/>
          <p:cNvSpPr txBox="1"/>
          <p:nvPr/>
        </p:nvSpPr>
        <p:spPr>
          <a:xfrm>
            <a:off x="6437376" y="2103120"/>
            <a:ext cx="5020056" cy="39319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가요</a:t>
            </a:r>
            <a:r>
              <a:rPr lang="en-US" sz="2000" dirty="0">
                <a:solidFill>
                  <a:srgbClr val="14142B"/>
                </a:solidFill>
              </a:rPr>
              <a:t>?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회사에 가요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공부해요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Tarea · antes de la clase 7</a:t>
            </a:r>
            <a:r>
              <a:rPr lang="en-US" sz="1500" b="1" i="1" dirty="0">
                <a:solidFill>
                  <a:srgbClr val="8A8DA0"/>
                </a:solidFill>
              </a:rPr>
              <a:t>   Homework · before class 7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≈ 28 minutos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1 · Lector → Practicar → Palabras, 3 rondas seguidas · 8 min · captura de Progreso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Di cada palabra en voz alta antes de mirar las opciones · Contrarreloj: opcional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Hoja de la lección 6 · 12 min: tabla de los 9 verbos + 8 frases con 에 가요</a:t>
            </a:r>
            <a:r>
              <a:rPr lang="en-US" sz="1800" dirty="0">
                <a:solidFill>
                  <a:srgbClr val="14142B"/>
                </a:solidFill>
              </a:rPr>
              <a:t>/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와요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3 · Audio de 45 s · 8 min: tu día típico con al menos 6 verbos en presente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Entrega: antes del mar 1 / jue 3 dic, 20:00 (Chile), en el grupo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Prepara la S7: ordena tu pieza (o elige una foto de ella) para el tour</a:t>
            </a:r>
            <a:endParaRPr lang="en-US" sz="18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r>
              <a:rPr lang="en-US" sz="3000" b="1" dirty="0">
                <a:solidFill>
                  <a:srgbClr val="FFFFFF"/>
                </a:solidFill>
              </a:rPr>
              <a:t>!  ¡Gracias!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r>
              <a:rPr lang="en-US" sz="2200" dirty="0">
                <a:solidFill>
                  <a:srgbClr val="FFFFFF"/>
                </a:solidFill>
              </a:rPr>
              <a:t>!</a:t>
            </a:r>
            <a:endParaRPr lang="en-US" sz="2200" dirty="0"/>
          </a:p>
          <a:p>
            <a:pPr marL="0" indent="0" algn="ctr" eaLnBrk="1">
              <a:buNone/>
            </a:pPr>
            <a:r>
              <a:rPr lang="en-US" sz="2200" dirty="0">
                <a:solidFill>
                  <a:srgbClr val="FFFFFF"/>
                </a:solidFill>
              </a:rPr>
              <a:t>Semana 7: Mi pieza y mis verbos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a Seul">
  <a:themeElements>
    <a:clrScheme name="Academia Seul">
      <a:dk1>
        <a:srgbClr val="14142B"/>
      </a:dk1>
      <a:lt1>
        <a:srgbClr val="FFFFFF"/>
      </a:lt1>
      <a:dk2>
        <a:srgbClr val="003478"/>
      </a:dk2>
      <a:lt2>
        <a:srgbClr val="F1F0FE"/>
      </a:lt2>
      <a:accent1>
        <a:srgbClr val="4236F6"/>
      </a:accent1>
      <a:accent2>
        <a:srgbClr val="E8B84B"/>
      </a:accent2>
      <a:accent3>
        <a:srgbClr val="003478"/>
      </a:accent3>
      <a:accent4>
        <a:srgbClr val="8A83FF"/>
      </a:accent4>
      <a:accent5>
        <a:srgbClr val="5C5F6B"/>
      </a:accent5>
      <a:accent6>
        <a:srgbClr val="B8962E"/>
      </a:accent6>
      <a:hlink>
        <a:srgbClr val="4236F6"/>
      </a:hlink>
      <a:folHlink>
        <a:srgbClr val="003478"/>
      </a:folHlink>
    </a:clrScheme>
    <a:fontScheme name="Academia Seu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4970</Words>
  <Application>Microsoft Office PowerPoint</Application>
  <PresentationFormat>Widescreen</PresentationFormat>
  <Paragraphs>479</Paragraphs>
  <Slides>31</Slides>
  <Notes>31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Malgun Gothic</vt:lpstr>
      <vt:lpstr>Arial</vt:lpstr>
      <vt:lpstr>Academia Seul</vt:lpstr>
      <vt:lpstr>Semana 6 · Mi día</vt:lpstr>
      <vt:lpstr>Quiz 5   Quiz 5</vt:lpstr>
      <vt:lpstr>Quiz 5 · respuestas   Quiz 5 · answers</vt:lpstr>
      <vt:lpstr>Esta semana vas a poder decir…   This week you'll be able to say…</vt:lpstr>
      <vt:lpstr>El día de Kiran   Kiran's day</vt:lpstr>
      <vt:lpstr>El día de Kiran   Kiran's day</vt:lpstr>
      <vt:lpstr>가다 → 가요  De 가다 a 가요   From 가다 to 가요</vt:lpstr>
      <vt:lpstr>Los verbos de la semana (1)   This week's verbs (1)</vt:lpstr>
      <vt:lpstr>Los verbos de la semana (2)   This week's verbs (2)</vt:lpstr>
      <vt:lpstr>4 formas tal cual   4 forms to learn as they are</vt:lpstr>
      <vt:lpstr>Así suena   How it sounds</vt:lpstr>
      <vt:lpstr>Una forma para todos   One form for everyone</vt:lpstr>
      <vt:lpstr>뭐 해요?  ¿Qué haces?   What are you doing?</vt:lpstr>
      <vt:lpstr>오늘 쉬어요!  Diálogo: ¡hoy descanso! (1)   Dialogue: I'm off today! (1)</vt:lpstr>
      <vt:lpstr>오늘 쉬어요!  Diálogo: ¡hoy descanso! (2)   Dialogue: I'm off today! (2)</vt:lpstr>
      <vt:lpstr>El mismo 에   The same 에</vt:lpstr>
      <vt:lpstr>가요 · 와요  ¿가요 o 와요?   가요 or 와요? (go or come?)</vt:lpstr>
      <vt:lpstr>Cuidado: 'trabajo en la oficina'   Careful: 'I work at the office'</vt:lpstr>
      <vt:lpstr>학교에 가요. 그리고 학원에 가요.  Cultura: el 학원   Culture: the hagwon</vt:lpstr>
      <vt:lpstr>Rueda de conjugación (1)   Conjugation wheel (1)</vt:lpstr>
      <vt:lpstr>Rueda de conjugación (2)   Conjugation wheel (2)</vt:lpstr>
      <vt:lpstr>Rueda: arma la frase (1)   Wheel: build the sentence (1)</vt:lpstr>
      <vt:lpstr>Rueda: arma la frase (2)   Wheel: build the sentence (2)</vt:lpstr>
      <vt:lpstr>Rueda: arma la frase (3)   Wheel: build the sentence (3)</vt:lpstr>
      <vt:lpstr>손 드세요!  ¡Levanten la mano!   Raise your hand!</vt:lpstr>
      <vt:lpstr>어디에 가요?  ¿Adónde vas?   Where are you going?</vt:lpstr>
      <vt:lpstr>Salas · 20 minutos   Breakout rooms · 20 minutes</vt:lpstr>
      <vt:lpstr>Minuto libre   Free minute</vt:lpstr>
      <vt:lpstr>Hoy aprendimos · 3 frases   Today we learned · 3 phrases</vt:lpstr>
      <vt:lpstr>Tarea · antes de la clase 7   Homework · before class 7</vt:lpstr>
      <vt:lpstr>화이팅!  ¡Gracias!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Básico 1 (A1.1) · Semana 6 · 학교에 가요 · Mi día</dc:title>
  <dc:subject>PptxGenJS Presentation</dc:subject>
  <dc:creator>Academia Seúl</dc:creator>
  <cp:lastModifiedBy>Jae Hee Kim</cp:lastModifiedBy>
  <cp:revision>2</cp:revision>
  <dcterms:created xsi:type="dcterms:W3CDTF">2026-10-16T10:02:31Z</dcterms:created>
  <dcterms:modified xsi:type="dcterms:W3CDTF">2026-10-16T10:03:28Z</dcterms:modified>
</cp:coreProperties>
</file>