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ana 2" id="{D260D9DA-98D7-DF98-B7E7-19F3BF08BCF8}">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7727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 30 s. Grabación en la nube ya activa (Basico1-Martes_S02_2026-10-27 o Basico1-Jueves_S02_2026-10-29). Haz 목례 a la cámara: «안녕하세요!» y espera el 안녕하세요 de vuelta. Si alguien dice 안녕, sonríe y déjalo para el bloque de cultura.
Fuente: Nueva
Lámina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20:00–20:02. Pon el chat en "solo anfitrión". «Empezamos con el quiz 1: cinco preguntas cortas sobre la semana 1. No es para asustar a nadie, es para que yo sepa qué reforzar.» Ítem 1: di 너 dos veces; ítem 2: 그 dos veces; ítem 3: «Escriban la sílaba y, si pueden, una palabra de la semana 1 que empiece así»; ítem 4: «¿Qué significa? En español». Errores esperables: 노, 구, 므 o 머, "barco" o "agua"; las respuestas aparecen con clic cuando lees la clave (20:04:30).
Fuente: Nueva
Lámina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20:02–20:04. Llama por el orden de la lista de Zoom y anuncia al siguiente («ahora el 5, prepárate el 6») para que ya tenga el micrófono abierto; ≈ 8 s por persona. Punto si ㅓ/ㅗ/ㅡ/ㅜ y la ㅇ muda salen bien; si falla, modela una vez («따라 하세요: 어머니»), «잘했어요!» y sigue. 버스, 드라마, 오리 y 두부 no son vocabulario: si preguntan, el significado en una palabra (bus, drama, pato, tofu). A las 20:04:30 vuelve el chat a "todos", lee la clave de los ítems 1–4 y pide una reacción de manito si llegaron a 3 estrellas en Vocales y Consonantes.
Fuente: Nueva
Lámina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 30 s. «Hoy pasan dos cosas. Una: terminamos de leer el alfabeto. Dos: dicen su primera frase de verdad en coreano. Estas tres frases las vamos a decir en coro al final.» Léelas una vez, sin pedir que repitan.
Fuente: Nueva
Lámina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20:05–20:06. «Hasta ahora todas las sílabas terminaban en vocal: 가, 나, 무. Hoy les ponemos un piso más abajo: una consonante al final. Eso se llama 받침, "lo que sostiene". 가 más ㅇ abajo: 강. 바 más ㅂ abajo: 밥.» «Regla de oro: después del 받침 no hay vocal. En español nos sale agregar una: "ba-bu", "han-gu-ku". En coreano se cierra la boca y se queda ahí.» Cierra la mano como un puño al terminar la sílaba: «밥. 따라 하세요: 밥.»
Imagen: incluida (dibujo de la casa).
Fuente: Adaptar Hangul_Deck_Cap3-4.pptx lám. 93 (el edificio de tres pisos)
Lámina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Comparte el Lector → Aprender 6 "El truco del batchim" con "compartir sonido" y toca cada fila para que suene: «Abajo pueden ir casi todas las consonantes, pero al final de sílaba solo hay 7 sonidos. Esta tabla del Lector es su mapa.» Si el sonido del Lector no se oye, deja de compartir, muestra esta lámina y di tú cada fila (no más de 20 s probando).
Fuente: Hangul_Deck_Cap3-4.pptx lám. 94 y 102; en vivo, Lector → Aprender 6
Lámina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Coro, dos veces: «한국 · 김치 · 밥 · 사람 · 학생 · 칠레. 따라 하세요.» (y 선생님). La romanización gris aparece con clic, siempre después del audio. Después tres alumnos, uno por palabra: «(nombre), 읽으세요: 김치.» Corrige 1:1 la vocal de apoyo ("cierra y quédate ahí") y la ㄴ/ㅇ final.
Fuente: Hangul_Deck_Cap3-4.pptx lám. 103: dejar 한국, 김치, 사람, 학생; agregar 밥, 선생님, 칠레; quitar la romanización con guiones
Lámina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30 s. «La más traicionera para nosotros: ㄴ o ㅇ al final.» Di «반 … 방. 안 … 앙» y pregunta «¿Cuál dije? 방… ¿ㄴ o ㅇ?»: responden con la mano (palma abierta = ㅇ, dedo arriba = ㄴ). Suma ㄹ final = l (물), ㄹㄹ = l larga (칠레) y ㅁ final con labios cerrados (김치, no "kinchi"). Con alumnos del Caribe, Centroamérica o partes de Perú, guíate por la lengua y no por la palabra "pan".
Imagen: incluida (dibujo de la casa).
Fuente: Hangul_Deck_Cap3-4.pptx lám. 106 (nasales) como base
Lámina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20:08–20:10, vista del orador y tira de papel. «Ya conocen ㄱ y ㅋ. Hoy llega la tercera hermana: ㄲ. Tomen su hoja y pónganla frente a la boca.» «카» (el papel se mueve: aspirada) · «까» (no se mueve: la garganta aprieta, como si dijeras la sílaba un poquito enojada) · «가» (suave, con muy poquito aire). Coro por filas: «가 카 까 · 다 타 따 · 바 파 빠 · 사 싸 · 자 차 짜. 따라 하세요.» Puente opcional (⚑, solo si te convence al oído): nuestra p, t, k casi no tiene aire, así que está más cerca de ㅃ, ㄸ, ㄲ que de ㅍ, ㅌ, ㅋ.
Imagen: incluida (dibujo de la casa).
Fuente: Hangul_Deck_Cap3-4.pptx lám. 81 ("Aspiradas y dobles")
Lámina 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20:10–20:12. «Última pieza: dos vocales que se juntan en una. Buenas noticias: ㅐ y ㅔ, en el habla de hoy, suenan igual: "e" (se distinguen al escribir: 내일 con ㅐ, 카페 con ㅔ).» ㅚ "we" (회사), ㅟ "wi" (위), ㅘ "wa", ㅝ "wo" (la de 뭐, que usamos dentro de un rato para preguntar el nombre), ㅢ "ui" (의자, 의사) y ㅖ "ye" (en 시계 mucha gente dice "sige"). Coro: «시계 · 회사 · 위 · 의자 · 의사 · 뭐. 따라 하세요.» Dos voluntarios leen 뭐 y 의자; si alguien dice "mu-o": «De un solo golpe: 뭐.»
Fuente: Hangul_Deck_Cap3-4.pptx lám. 82–83, con los ejemplos 외국, 왜, 예, 과일 cambiados por las palabras del curso
Lámina 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20:12–20:15, chat en "solo anfitrión". «Dictado. Digo cada palabra dos veces; ustedes la escriben en el chat con el teclado coreano, o en el cuaderno si el teclado todavía les cuesta. El chat me llega solo a mí: nadie copia.» Dices 한국, 김치, 밥, 선생님, 사람, 물, 방, 산, 빵, 칠레, cada una dos veces y con 8 s de pausa. Si vas atrasada, solo 6: 한국, 밥, 물, 방, 산, 칠레.
Fuente: Nueva
Lámina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20:15–20:16. Muestra la clave y vuelve el chat a "todos": «Corríjanse ustedes. ¿Quién escribió 반 en vez de 방 en la 7? Normal: esa es la trampa de la semana.» Corrige en voz la ㄹ final (물), ㄴ/ㅇ (방, 산) y ㄹㄹ (칠레). Cierra con «읽으세요!» señalando la lámina: el grupo lee la lista en coro, y «잘했어요!».
Fuente: Nueva
Lámina 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20:16. «Ahora solo escuchen, todavía no repitan.» Haz 목례 y di: «안녕하세요! 저는 기란이에요. 한국 사람이에요. 선생님이에요.» (⚑ 선생님 lleva 님, que es respeto hacia otro; para uno mismo lo más cuidado es 한국어 선생님이에요 o 교사예요, pero se oye mucho y lo usamos por ser vocabulario núcleo: D, punto 7).
Imagen pendiente: Foto de Kiran sonriendo, sin rótulos encima, para la derecha de la lámina. Lo más rápido: recortar la parte de arriba de Campana_Assets/instagram/octubre/reels/kiran/Reel_Kiran_portada.png (de la frente al pecho, sin «CONOCE A TU PROFE» ni «KIRAN · 기란» ni el degradado navy), en proporción vertical 425:490 (p. ej. 850 × 980 px), o usar una foto que mande ella. Guardarla como Curriculo/fuente/decks/img/B1S2/L13_slide.jpg y sumar al map.json {"L":"13","destino":"slide","indice":0,"archivo":"L13_slide.jpg","origen":"material_propio"} (o pegarla a mano en PowerPoint). Antes, confirmar con Kiran que le gusta la foto.
Fuente: Nueva (foto del clip de Kiran o del post "Conoce a tus profes")
Lámina 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20:17. «Y ahora me voy a convertir en tres famosos»: muestra cada foto y di su frase. Pregunta de detective en el chat: «¿Qué palabra dije siempre al principio? (저는) ¿Y con qué terminé siempre? (이에요 o 예요) ¿Cuándo dije 이에요 y cuándo 예요?» Deja 30 s: alguien va a notar que 샤키라 termina en vocal. Si vas atrasada, solo 샤키라 (la de 예요).
Imagen pendiente: 3 fotos con licencia libre de Wikimedia Commons (dominio público, CC BY o CC BY-SA) de Son Heung-min, Shakira y Pedro Pascal, en ese orden (columna 1, 2 y 3). Recortar cada una a lo ancho en proporción 2,2:1 (p. ej. 880 × 400 px) con la cara centrada y guardarlas como Curriculo/fuente/decks/img/B1S2/L14_col0.jpg, L14_col1.jpg y L14_col2.jpg; sumarlas al map.json con destino col e indice 0, 1 y 2 (o pegarlas a mano arriba de cada columna). Poner autor y licencia de cada foto en las notas del orador. Nunca capturas de buscador ni fotos de prensa o de agencias. Evitar fotos donde domine el rojo (p. ej. Son con la camiseta roja de la selección): mejor camiseta blanca u oscura, o recortar a la cara. Si no aparece una foto libre de alguno, dejar esa columna sin foto: la lámina funciona igual con los nombres.
Fuente: Nueva · ⚑ grafías de los famosos (D, punto 2)
Lámina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20:18–20:19. «이에요/예요 es como nuestro "soy" o "es", pero va al final y pegado a la palabra. En coreano el verbo siempre va al final: "Yo, María, soy".» «¿Cuál uso? Una sola pregunta: ¿la palabra termina en 받침? Sí → 이에요; no, termina en vocal → 예요. Esa pregunta la van a usar todo el curso.» Coro: «기란이에요 · 학생이에요 · 사람이에요 · 마리아예요 · 의사예요 · 카를로스예요»; después responden "¿받침?" con la mano abierta o el puño.
Fuente: Adaptar Sesion_03_Saludos.pptx lám. 19 (quitar la pista [YEO-NUN…] y todo lo de 조사)
Lámina 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20:19–20:20. «Ojo con su nombre: manda cómo termina en 한글, no en español. Carlos termina en s, pero en 한글 es 카를로스, y 스 termina en vocal: 카를로스예요. Daniel es 다니엘, con ㄹ abajo: 다니엘이에요.» Regla rápida: los nombres que en español terminan en -s, -r, -d o -z suelen terminar en vocal en 한글 (스, 르, 드) → 예요; los que terminan en -l o -n conservan el 받침 → 이에요.
Fuente: Nueva
Lámina 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20:20–20:21. «저 es "yo" con respeto. El 나 de la semana 1 es entre amigos; conmigo y con gente nueva, 저. Y 는 marca el tema, algo como "en cuanto a…": 저는 = "en cuanto a mí". Por ahora apréndanlo como un bloque, y escríbanlo pegado.» «En español decimos "Soy María. Soy chilena. Soy estudiante", sin repetir "yo". En coreano igual: 저는 una vez y después se omite; repetirlo suena a robot.» Si preguntan por 은 o por "저가": «저는 es un bloque por ahora; 이/가 llega en la S5» (solo para ti: "저가" no existe, con 가 es 제가; no lo modeles).
Fuente: Adaptar Sesion_03_Saludos.pptx lám. 20 (sin romanización)
Lámina 17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20:21–20:22. «Para decir tu país: país + 사람, "persona de". 칠레 사람: chileno o chilena, no hay masculino ni femenino. Y como 사람 termina en 받침, siempre es 사람이에요.» Coro: «칠레 사람이에요 · 멕시코 사람이에요 · 콜롬비아 사람이에요 · 한국 사람이에요.» A las 20:27 vuelves aquí para el coro de transformación: muestras 콜롬비아 → «콜롬비아 사람이에요!», 페루 → «페루 사람이에요!». Otros países, a pedido (tarjeta de países, ⚑).
Imagen: incluida (dibujo de la casa).
Fuente: Sesion_03_Saludos.pptx lám. 21–23: dejar solo estas palabras (베네수엘라 y el resto pasan a "a pedido")
Lámina 18a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 «Ocupaciones, también sin género: 학생, 선생님, 회사원, 의사. ¿Cuáles llevan 이에요?» (학생, 선생님, 회사원) «¿Y cuál 예요?» (의사). «Si tu ocupación no está, me la preguntas; y si no quieres decirla, basta con nombre y país.» En el coro de transformación (20:27): 의사 → «의사예요!», 회사원 → «회사원이에요!»; y despedidas con gesto: te levantas y sales del cuadro → «안녕히 가세요!»; te quedas y ellos "caminan" con los dedos → «안녕히 계세요!».
Imagen: incluida (dibujo de la casa).
Fuente: Sesion_03_Saludos.pptx lám. 21–23: dejar solo estas cuatro ocupaciones
Lámina 18b</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20:22–20:23. «Dos preguntas para aprender enteras, como una canción: 이름이 뭐예요?, "¿cómo te llamas?" (literal: "el nombre, ¿qué es?"), y 어느 나라 사람이에요?, "¿de qué país eres?". Y cuando te dicen el nombre: 반갑습니다, "encantado, encantada".» Eco de las tres, dos veces. La romanización gris va solo bajo 이름, 나라 y 반갑습니다 (palabras sueltas) y aparece después del audio.
Fuente: Nueva
Lámina 19a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Opcional: lectura modelo si sobra tiempo o actividad de emergencia (coro de roles: la mitad de la galería es 발렌티나, la otra mitad 디에고 y tú eres 기란). Es la escena 1 del material del alumno (sección 5) y la base de la actividad 2 de salas. Fíjense: 이에요 con 기란 y 사람, 예요 con 발렌티나; en «선생님, 안녕하세요!» el vocativo va primero, como "¡Profe, hola!".
Fuente: Diálogo modelo original (guía C.8, escena 1)
Lámina 19b</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디에고 elige 예요 (termina en vocal) y 회사원이에요 (termina en 받침). Al final, 발렌티나 se va y la profe se queda: ella dice 안녕히 계세요 y 기란 responde 안녕히 가세요, igual que en el cierre de nuestra clase.
Fuente: Diálogo modelo original (guía C.8, escena 1)
Lámina 19c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20:23–20:24. «Cuando se saluda en Corea, se inclina la cabeza: 목례. Con la profe o con una persona mayor, un poco más marcado y con el 안녕하세요 completo. Entre amigos de la misma edad, lo normal es 안녕 (y también se le dice a un niño o a alguien menor con quien hay confianza). Con un mayor, no. Por eso en esta clase: 안녕하세요.» Matiz [YA]: di "normalmente", nunca "nunca".
Imagen: incluida (dibujo de la casa).
Fuente: Nueva (no usar la lám. 7 de Sesion_03_Saludos.pptx, "En Corea NO se dan la mano": generaliza)
Lámina 20</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20:24–20:25. «Nuestro "chao" sirve para todo. En coreano depende de quién se va. 가다 es "ir": 안녕히 가세요 es "váyase bien", y se lo dices a quien se va. 계세요 es "quédese": 안녕히 계세요, a quien se queda. ¿Les suena? Es nuestro "que te vaya bien".» «Y si los dos se van, por ejemplo en la calle, los dos dicen 안녕히 가세요.» «Al final de nuestra clase, ustedes se van y yo me quedo: me van a decir 안녕히 계세요, y yo les digo 안녕히 가세요» (⚑ D, punto 1).
Imagen: incluida (dibujo de la casa).
Fuente: Adaptar lám. 3 y 8 de Sesion_03_Saludos.pptx (quitar [AN-NIONG-JI…], 고마워요, 죄송합니다, 잘 먹겠습니다)
Lámina 21</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20:25–20:27. «En la pantalla están nuestros nombres en 한글. En el chat: número y 이에요 o 예요.» Espera 60 s (en ese minuto crea las 5 salas con asignación manual, sin abrirlas, y pega en el chat el orden de la ronda) y lee 4 o 5 respuestas corrigiendo con «¿termina en 받침?». Luego: «Ahora cada uno, su frase en el chat: 저는 ___.»; lee 3 o 4 con «잘했어요!» y, si alguien escribe en letras latinas, responde con la frase en 한글, sin reproche. Lámina por sección, con lo que el grupo tipeó en la S1; si no llega, usa los nombres de la galería de Zoom.
Fuente: Nueva, una por sección (la arma producción con los nombres tipeados en la S1)
Lámina 22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20:29–20:33, galería. «La ronda: primero dices el nombre y el país de la persona anterior, señalándola, y después te presentas.» Empiezas tú: «저는 기란이에요. 한국 사람이에요.»; sigue el orden pegado en el chat y quien viene después ya abre el micrófono; si alguien se traba, dile solo la primera sílaba, y «잘했어요!» a cada uno. A las 20:33 se corta aunque falten alumnos: «Los que no alcanzaron, empiezan ustedes la actividad 1 en su sala». Acepta 기란 선생님이에요 sin corregir (un nativo diría 기란 선생님이세요, que es de otro nivel).
Fuente: Nueva
Lámina 23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20:33–20:34. Pega en el chat la tarjeta de salas (C.10) y abre las salas: tríos del quiz, cuenta regresiva de 30 s. «Actividad 1: cada uno se presenta completo, sin papel, y los otros le preguntan 이름이 뭐예요? y 어느 나라 사람이에요?. Actividad 2: role play con las escenas A a D; dos actúan y uno es juez. Al final, un minuto libre sorpresa.» Rota ≈ 3,5 min por sala y corrige en el momento solo 이에요/예요, el 받침 con vocal de apoyo y la despedida. A las 20:40 transmite «Actividad 2: role play ¿quién se va? Escenas A–D. El juez cambia en cada escena» y anota 가세요/계세요 (bien / a reforzar) por alumno.
Fuente: Nueva (mismo texto que la tarjeta de salas, C.10)
Lámina 24</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20:49, transmite: «Minuto libre: identidad secreta. Elige en secreto un nombre, un país y una ocupación. Sin cuaderno. 3 minutos.» Sigue rotando y escucha si hay saludo, preguntas y despedida: basta con saludo + una o dos preguntas + respuesta con 이에요/예요 + despedida; valora que pregunten para descubrir, no que reciten. A las 20:52:30 cierra las salas (30 s) con el mensaje «¡Se cierran las salas! Todos se van: 안녕히 가세요.»
Fuente: Nueva (tarjeta B.11 de la S2)
Lámina 25</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20:53–20:56. Primero los 2–3 errores del día (probables: 학생예요 → 학생이에요, la despedida al revés y la vocal después del 받침): di la forma correcta y el grupo la repite. Luego las tres frases despacio y con pausa: «안녕하세요! 저는 마리아예요. 저는 다니엘이에요.» → coro con su nombre · «저는 칠레 사람이에요.» → coro, y después con su país · «안녕히 계세요!» → coro. Micrófonos abiertos solo en el coro: de aquí se recorta B1_S02_frases_clave.mp3.
Fuente: Nueva
Lámina 26</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20:56–20:57. Lee la tarea con el destino exacto: Lector → Aprender 4 y 6 + Practicar → Aspiradas y tensas, Batchim y Sílabas, 3 rondas seguidas de cada uno; hoja de la lección 1; audio de 20 s sin leer y la misma presentación tipeada (저는 pegado, 칠레 사람 separado). «Para la clase 3: tengan a mano 5 objetos de su casa: un libro, un lápiz, su celular, un paraguas y una taza.» Si hay alumnos en EE.UU., avisa que el domingo 1 de noviembre cambian de hora: allá (hora del Este) la clase 3 es a las 18:00.
Fuente: Nueva
Lámina 27</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20:57–20:58. «감사합니다! 화이팅!» Ellos se van y tú te quedas: te dicen «안녕히 계세요!» con 목례 y respondes «안녕히 가세요!». Termina la reunión a las 20:58 en punto: a las 21:00 empieza otra clase en la misma cuenta.
Fuente: Adaptar lám. 125 del deck de Hangul (quitar la romanización)
Lámina 28</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si sobran 2–5 minutos (lámina oculta si no se usa). Lectura en voz alta por turnos, sin significado: «ya pueden leer un menú», que es la promesa publicada del curso ("leer en voz alta un cartel o un menú"). Otra emergencia posible: ping-pong de 받침 con los pares 안/앙 · 암/앙 · 곰/공 · 밥/방 (dices una sílaba y el grupo responde en el chat solo la consonante final).
Imagen: incluida (dibujo de la casa).
Fuente: Nueva (después de la 28; oculta si no se usa)
Lámina 29</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_PORTADA">
    <p:bg>
      <p:bgPr>
        <a:solidFill>
          <a:srgbClr val="003478"/>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640080" y="548640"/>
            <a:ext cx="822960" cy="822960"/>
          </a:xfrm>
          <a:prstGeom prst="rect">
            <a:avLst/>
          </a:prstGeom>
        </p:spPr>
      </p:pic>
      <p:sp>
        <p:nvSpPr>
          <p:cNvPr id="3" name="Text 0"/>
          <p:cNvSpPr txBox="1"/>
          <p:nvPr/>
        </p:nvSpPr>
        <p:spPr>
          <a:xfrm>
            <a:off x="1600200" y="713232"/>
            <a:ext cx="5486400" cy="457200"/>
          </a:xfrm>
          <a:prstGeom prst="rect">
            <a:avLst/>
          </a:prstGeom>
          <a:noFill/>
          <a:ln/>
        </p:spPr>
        <p:txBody>
          <a:bodyPr wrap="square" lIns="0" tIns="0" rIns="0" bIns="0" rtlCol="0" anchor="ctr"/>
          <a:lstStyle/>
          <a:p>
            <a:pPr marL="0" indent="0">
              <a:buNone/>
            </a:pPr>
            <a:r>
              <a:rPr lang="en-US" sz="1400" b="1" kern="0" spc="600" dirty="0">
                <a:solidFill>
                  <a:srgbClr val="FFFFFF"/>
                </a:solidFill>
              </a:rPr>
              <a:t>ACADEMIA SEÚL</a:t>
            </a:r>
            <a:endParaRPr lang="en-US" sz="1400" dirty="0"/>
          </a:p>
        </p:txBody>
      </p:sp>
      <p:sp>
        <p:nvSpPr>
          <p:cNvPr id="4" name="Text 1"/>
          <p:cNvSpPr>
            <a:spLocks noGrp="1"/>
          </p:cNvSpPr>
          <p:nvPr>
            <p:ph type="title" idx="102" hasCustomPrompt="1"/>
          </p:nvPr>
        </p:nvSpPr>
        <p:spPr>
          <a:xfrm>
            <a:off x="640080" y="3063240"/>
            <a:ext cx="10881360" cy="914400"/>
          </a:xfrm>
          <a:prstGeom prst="rect">
            <a:avLst/>
          </a:prstGeom>
          <a:noFill/>
          <a:ln/>
        </p:spPr>
        <p:txBody>
          <a:bodyPr wrap="square" rtlCol="0"/>
          <a:lstStyle>
            <a:lvl1pPr marL="0" indent="0">
              <a:buNone/>
              <a:defRPr lang="en-US" sz="4400" b="1" dirty="0">
                <a:solidFill>
                  <a:srgbClr val="FFFFFF"/>
                </a:solidFill>
              </a:defRPr>
            </a:lvl1pPr>
          </a:lstStyle>
          <a:p>
            <a:pPr marL="0" indent="0">
              <a:buNone/>
            </a:pPr>
            <a:endParaRPr lang="en-US" sz="4400" dirty="0"/>
          </a:p>
        </p:txBody>
      </p:sp>
      <p:sp>
        <p:nvSpPr>
          <p:cNvPr id="5" name="Text 1"/>
          <p:cNvSpPr>
            <a:spLocks noGrp="1"/>
          </p:cNvSpPr>
          <p:nvPr>
            <p:ph type="body" idx="103" hasCustomPrompt="1"/>
          </p:nvPr>
        </p:nvSpPr>
        <p:spPr>
          <a:xfrm>
            <a:off x="640080" y="4160520"/>
            <a:ext cx="10881360" cy="1828800"/>
          </a:xfrm>
          <a:prstGeom prst="rect">
            <a:avLst/>
          </a:prstGeom>
          <a:noFill/>
          <a:ln/>
        </p:spPr>
        <p:txBody>
          <a:bodyPr wrap="square" rtlCol="0"/>
          <a:lstStyle>
            <a:lvl1pPr marL="0" indent="0">
              <a:buNone/>
              <a:defRPr lang="en-US" sz="2200" dirty="0">
                <a:solidFill>
                  <a:srgbClr val="E8B84B"/>
                </a:solidFill>
              </a:defRPr>
            </a:lvl1pPr>
          </a:lstStyle>
          <a:p>
            <a:pPr marL="0" indent="0">
              <a:buNone/>
            </a:pPr>
            <a:endParaRPr lang="en-US" sz="2200" dirty="0"/>
          </a:p>
        </p:txBody>
      </p:sp>
      <p:sp>
        <p:nvSpPr>
          <p:cNvPr id="6" name="Text 1"/>
          <p:cNvSpPr txBox="1"/>
          <p:nvPr/>
        </p:nvSpPr>
        <p:spPr>
          <a:xfrm>
            <a:off x="640080" y="6172200"/>
            <a:ext cx="10881360" cy="365760"/>
          </a:xfrm>
          <a:prstGeom prst="rect">
            <a:avLst/>
          </a:prstGeom>
          <a:noFill/>
          <a:ln/>
        </p:spPr>
        <p:txBody>
          <a:bodyPr wrap="square" lIns="0" tIns="0" rIns="0" bIns="0" rtlCol="0" anchor="ctr"/>
          <a:lstStyle/>
          <a:p>
            <a:pPr marL="0" indent="0">
              <a:buNone/>
            </a:pPr>
            <a:r>
              <a:rPr lang="en-US" sz="1200" dirty="0">
                <a:solidFill>
                  <a:srgbClr val="B9C3DA"/>
                </a:solidFill>
              </a:rPr>
              <a:t>Básico 1 (A1.1) · Semana 2 · Kiran (기란) · Academia Seúl</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_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rtlCol="0"/>
          <a:lstStyle>
            <a:lvl1pPr marL="0" indent="0">
              <a:buNone/>
              <a:defRPr lang="en-US" sz="3000" b="1" dirty="0">
                <a:solidFill>
                  <a:srgbClr val="003478"/>
                </a:solidFill>
              </a:defRPr>
            </a:lvl1pPr>
          </a:lstStyle>
          <a:p>
            <a:pPr marL="0" indent="0">
              <a:buNone/>
            </a:pPr>
            <a:endParaRPr lang="en-US" sz="3000" dirty="0"/>
          </a:p>
        </p:txBody>
      </p:sp>
      <p:pic>
        <p:nvPicPr>
          <p:cNvPr id="3" name="Image 0" descr="C:/Users/Chingu/Desktop/ACADEMIASEULWEB/public/email/sello-azul.png"/>
          <p:cNvPicPr>
            <a:picLocks noChangeAspect="1"/>
          </p:cNvPicPr>
          <p:nvPr/>
        </p:nvPicPr>
        <p:blipFill>
          <a:blip r:embed="rId2"/>
          <a:stretch>
            <a:fillRect/>
          </a:stretch>
        </p:blipFill>
        <p:spPr>
          <a:xfrm>
            <a:off x="11201400" y="411480"/>
            <a:ext cx="502920" cy="502920"/>
          </a:xfrm>
          <a:prstGeom prst="rect">
            <a:avLst/>
          </a:prstGeom>
        </p:spPr>
      </p:pic>
      <p:sp>
        <p:nvSpPr>
          <p:cNvPr id="4" name="Text 0"/>
          <p:cNvSpPr txBox="1"/>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rgbClr val="8A8DA0"/>
                </a:solidFill>
              </a:rPr>
              <a:t>Básico 1 (A1.1) · Semana 2 · Kiran (기란) · Academia Seúl</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_CIERRE">
    <p:bg>
      <p:bgPr>
        <a:solidFill>
          <a:srgbClr val="4236F6"/>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5641848" y="502920"/>
            <a:ext cx="914400" cy="914400"/>
          </a:xfrm>
          <a:prstGeom prst="rect">
            <a:avLst/>
          </a:prstGeom>
        </p:spPr>
      </p:pic>
      <p:sp>
        <p:nvSpPr>
          <p:cNvPr id="3" name="Text 0"/>
          <p:cNvSpPr>
            <a:spLocks noGrp="1"/>
          </p:cNvSpPr>
          <p:nvPr>
            <p:ph type="title" idx="101" hasCustomPrompt="1"/>
          </p:nvPr>
        </p:nvSpPr>
        <p:spPr>
          <a:xfrm>
            <a:off x="731520" y="1691640"/>
            <a:ext cx="10725912" cy="1097280"/>
          </a:xfrm>
          <a:prstGeom prst="rect">
            <a:avLst/>
          </a:prstGeom>
          <a:noFill/>
          <a:ln/>
        </p:spPr>
        <p:txBody>
          <a:bodyPr wrap="square" rtlCol="0"/>
          <a:lstStyle>
            <a:lvl1pPr marL="0" indent="0" algn="ctr">
              <a:buNone/>
              <a:defRPr lang="en-US" sz="4000" b="1" dirty="0">
                <a:solidFill>
                  <a:srgbClr val="FFFFFF"/>
                </a:solidFill>
              </a:defRPr>
            </a:lvl1pPr>
          </a:lstStyle>
          <a:p>
            <a:pPr marL="0" indent="0" algn="ctr">
              <a:buNone/>
            </a:pPr>
            <a:endParaRPr lang="en-US" sz="4000" dirty="0"/>
          </a:p>
        </p:txBody>
      </p:sp>
      <p:sp>
        <p:nvSpPr>
          <p:cNvPr id="4" name="Text 0"/>
          <p:cNvSpPr>
            <a:spLocks noGrp="1"/>
          </p:cNvSpPr>
          <p:nvPr>
            <p:ph type="body" idx="102" hasCustomPrompt="1"/>
          </p:nvPr>
        </p:nvSpPr>
        <p:spPr>
          <a:xfrm>
            <a:off x="1463040" y="2971800"/>
            <a:ext cx="9262872" cy="2926080"/>
          </a:xfrm>
          <a:prstGeom prst="rect">
            <a:avLst/>
          </a:prstGeom>
          <a:noFill/>
          <a:ln/>
        </p:spPr>
        <p:txBody>
          <a:bodyPr wrap="square" rtlCol="0"/>
          <a:lstStyle>
            <a:lvl1pPr marL="0" indent="0">
              <a:buNone/>
              <a:defRPr lang="en-US" sz="2200" dirty="0">
                <a:solidFill>
                  <a:srgbClr val="FFFFFF"/>
                </a:solidFill>
              </a:defRPr>
            </a:lvl1pPr>
          </a:lstStyle>
          <a:p>
            <a:pPr marL="0" indent="0">
              <a:buNone/>
            </a:pPr>
            <a:endParaRPr lang="en-US" sz="2200" dirty="0"/>
          </a:p>
        </p:txBody>
      </p:sp>
      <p:sp>
        <p:nvSpPr>
          <p:cNvPr id="5" name="Text 0"/>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D9D7F7"/>
                </a:solidFill>
              </a:rPr>
              <a:t>Básico 1 (A1.1) · Semana 2 · Kiran (기란) · Academia Seúl</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0"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0"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0"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0"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audio" Target="../media/media4.mp3"/><Relationship Id="rId13" Type="http://schemas.microsoft.com/office/2007/relationships/media" Target="../media/media7.mp3"/><Relationship Id="rId18" Type="http://schemas.openxmlformats.org/officeDocument/2006/relationships/image" Target="../media/image5.png"/><Relationship Id="rId3" Type="http://schemas.microsoft.com/office/2007/relationships/media" Target="../media/media2.mp3"/><Relationship Id="rId21" Type="http://schemas.openxmlformats.org/officeDocument/2006/relationships/image" Target="../media/image8.png"/><Relationship Id="rId7" Type="http://schemas.microsoft.com/office/2007/relationships/media" Target="../media/media4.mp3"/><Relationship Id="rId12" Type="http://schemas.openxmlformats.org/officeDocument/2006/relationships/audio" Target="../media/media6.mp3"/><Relationship Id="rId17" Type="http://schemas.openxmlformats.org/officeDocument/2006/relationships/image" Target="../media/image4.png"/><Relationship Id="rId2" Type="http://schemas.openxmlformats.org/officeDocument/2006/relationships/audio" Target="../media/media1.mp3"/><Relationship Id="rId16" Type="http://schemas.openxmlformats.org/officeDocument/2006/relationships/notesSlide" Target="../notesSlides/notesSlide7.xml"/><Relationship Id="rId20" Type="http://schemas.openxmlformats.org/officeDocument/2006/relationships/image" Target="../media/image7.png"/><Relationship Id="rId1" Type="http://schemas.microsoft.com/office/2007/relationships/media" Target="../media/media1.mp3"/><Relationship Id="rId6" Type="http://schemas.openxmlformats.org/officeDocument/2006/relationships/audio" Target="../media/media3.mp3"/><Relationship Id="rId11" Type="http://schemas.microsoft.com/office/2007/relationships/media" Target="../media/media6.mp3"/><Relationship Id="rId24" Type="http://schemas.openxmlformats.org/officeDocument/2006/relationships/image" Target="../media/image11.png"/><Relationship Id="rId5" Type="http://schemas.microsoft.com/office/2007/relationships/media" Target="../media/media3.mp3"/><Relationship Id="rId15" Type="http://schemas.openxmlformats.org/officeDocument/2006/relationships/slideLayout" Target="../slideLayouts/slideLayout3.xml"/><Relationship Id="rId23" Type="http://schemas.openxmlformats.org/officeDocument/2006/relationships/image" Target="../media/image10.png"/><Relationship Id="rId10" Type="http://schemas.openxmlformats.org/officeDocument/2006/relationships/audio" Target="../media/media5.mp3"/><Relationship Id="rId19" Type="http://schemas.openxmlformats.org/officeDocument/2006/relationships/image" Target="../media/image6.png"/><Relationship Id="rId4" Type="http://schemas.openxmlformats.org/officeDocument/2006/relationships/audio" Target="../media/media2.mp3"/><Relationship Id="rId9" Type="http://schemas.microsoft.com/office/2007/relationships/media" Target="../media/media5.mp3"/><Relationship Id="rId14" Type="http://schemas.openxmlformats.org/officeDocument/2006/relationships/audio" Target="../media/media7.mp3"/><Relationship Id="rId22"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audio" Target="../media/media1.mp3"/><Relationship Id="rId13" Type="http://schemas.microsoft.com/office/2007/relationships/media" Target="../media/media13.mp3"/><Relationship Id="rId18" Type="http://schemas.openxmlformats.org/officeDocument/2006/relationships/notesSlide" Target="../notesSlides/notesSlide18.xml"/><Relationship Id="rId26" Type="http://schemas.openxmlformats.org/officeDocument/2006/relationships/image" Target="../media/image21.png"/><Relationship Id="rId3" Type="http://schemas.microsoft.com/office/2007/relationships/media" Target="../media/media9.mp3"/><Relationship Id="rId21" Type="http://schemas.openxmlformats.org/officeDocument/2006/relationships/image" Target="../media/image16.png"/><Relationship Id="rId7" Type="http://schemas.microsoft.com/office/2007/relationships/media" Target="../media/media1.mp3"/><Relationship Id="rId12" Type="http://schemas.openxmlformats.org/officeDocument/2006/relationships/audio" Target="../media/media12.mp3"/><Relationship Id="rId17" Type="http://schemas.openxmlformats.org/officeDocument/2006/relationships/slideLayout" Target="../slideLayouts/slideLayout3.xml"/><Relationship Id="rId25" Type="http://schemas.openxmlformats.org/officeDocument/2006/relationships/image" Target="../media/image20.png"/><Relationship Id="rId2" Type="http://schemas.openxmlformats.org/officeDocument/2006/relationships/audio" Target="../media/media7.mp3"/><Relationship Id="rId16" Type="http://schemas.openxmlformats.org/officeDocument/2006/relationships/audio" Target="../media/media14.mp3"/><Relationship Id="rId20" Type="http://schemas.openxmlformats.org/officeDocument/2006/relationships/image" Target="../media/image5.png"/><Relationship Id="rId1" Type="http://schemas.microsoft.com/office/2007/relationships/media" Target="../media/media7.mp3"/><Relationship Id="rId6" Type="http://schemas.openxmlformats.org/officeDocument/2006/relationships/audio" Target="../media/media10.mp3"/><Relationship Id="rId11" Type="http://schemas.microsoft.com/office/2007/relationships/media" Target="../media/media12.mp3"/><Relationship Id="rId24" Type="http://schemas.openxmlformats.org/officeDocument/2006/relationships/image" Target="../media/image19.png"/><Relationship Id="rId5" Type="http://schemas.microsoft.com/office/2007/relationships/media" Target="../media/media10.mp3"/><Relationship Id="rId15" Type="http://schemas.microsoft.com/office/2007/relationships/media" Target="../media/media14.mp3"/><Relationship Id="rId23" Type="http://schemas.openxmlformats.org/officeDocument/2006/relationships/image" Target="../media/image18.png"/><Relationship Id="rId10" Type="http://schemas.openxmlformats.org/officeDocument/2006/relationships/audio" Target="../media/media11.mp3"/><Relationship Id="rId19" Type="http://schemas.openxmlformats.org/officeDocument/2006/relationships/image" Target="../media/image15.png"/><Relationship Id="rId4" Type="http://schemas.openxmlformats.org/officeDocument/2006/relationships/audio" Target="../media/media9.mp3"/><Relationship Id="rId9" Type="http://schemas.microsoft.com/office/2007/relationships/media" Target="../media/media11.mp3"/><Relationship Id="rId14" Type="http://schemas.openxmlformats.org/officeDocument/2006/relationships/audio" Target="../media/media13.mp3"/><Relationship Id="rId22" Type="http://schemas.openxmlformats.org/officeDocument/2006/relationships/image" Target="../media/image17.png"/><Relationship Id="rId27" Type="http://schemas.openxmlformats.org/officeDocument/2006/relationships/image" Target="../media/image22.png"/></Relationships>
</file>

<file path=ppt/slides/_rels/slide19.xml.rels><?xml version="1.0" encoding="UTF-8" standalone="yes"?>
<Relationships xmlns="http://schemas.openxmlformats.org/package/2006/relationships"><Relationship Id="rId8" Type="http://schemas.openxmlformats.org/officeDocument/2006/relationships/audio" Target="../media/media16.mp3"/><Relationship Id="rId13" Type="http://schemas.openxmlformats.org/officeDocument/2006/relationships/image" Target="../media/image24.png"/><Relationship Id="rId3" Type="http://schemas.microsoft.com/office/2007/relationships/media" Target="../media/media6.mp3"/><Relationship Id="rId7" Type="http://schemas.microsoft.com/office/2007/relationships/media" Target="../media/media16.mp3"/><Relationship Id="rId12" Type="http://schemas.openxmlformats.org/officeDocument/2006/relationships/image" Target="../media/image5.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audio" Target="../media/media15.mp3"/><Relationship Id="rId11" Type="http://schemas.openxmlformats.org/officeDocument/2006/relationships/image" Target="../media/image23.png"/><Relationship Id="rId5" Type="http://schemas.microsoft.com/office/2007/relationships/media" Target="../media/media15.mp3"/><Relationship Id="rId15" Type="http://schemas.openxmlformats.org/officeDocument/2006/relationships/image" Target="../media/image26.png"/><Relationship Id="rId10" Type="http://schemas.openxmlformats.org/officeDocument/2006/relationships/notesSlide" Target="../notesSlides/notesSlide19.xml"/><Relationship Id="rId4" Type="http://schemas.openxmlformats.org/officeDocument/2006/relationships/audio" Target="../media/media6.mp3"/><Relationship Id="rId9" Type="http://schemas.openxmlformats.org/officeDocument/2006/relationships/slideLayout" Target="../slideLayouts/slideLayout3.xml"/><Relationship Id="rId1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audio" Target="../media/media20.mp3"/><Relationship Id="rId13" Type="http://schemas.openxmlformats.org/officeDocument/2006/relationships/image" Target="../media/image28.png"/><Relationship Id="rId3" Type="http://schemas.microsoft.com/office/2007/relationships/media" Target="../media/media18.mp3"/><Relationship Id="rId7" Type="http://schemas.microsoft.com/office/2007/relationships/media" Target="../media/media20.mp3"/><Relationship Id="rId12" Type="http://schemas.openxmlformats.org/officeDocument/2006/relationships/image" Target="../media/image5.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audio" Target="../media/media19.mp3"/><Relationship Id="rId11" Type="http://schemas.openxmlformats.org/officeDocument/2006/relationships/image" Target="../media/image27.png"/><Relationship Id="rId5" Type="http://schemas.microsoft.com/office/2007/relationships/media" Target="../media/media19.mp3"/><Relationship Id="rId10" Type="http://schemas.openxmlformats.org/officeDocument/2006/relationships/notesSlide" Target="../notesSlides/notesSlide20.xml"/><Relationship Id="rId4" Type="http://schemas.openxmlformats.org/officeDocument/2006/relationships/audio" Target="../media/media18.mp3"/><Relationship Id="rId9" Type="http://schemas.openxmlformats.org/officeDocument/2006/relationships/slideLayout" Target="../slideLayouts/slideLayout3.xml"/><Relationship Id="rId1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ulo_ko"/>
          <p:cNvSpPr txBox="1"/>
          <p:nvPr/>
        </p:nvSpPr>
        <p:spPr>
          <a:xfrm>
            <a:off x="640080" y="1691640"/>
            <a:ext cx="10881360" cy="1280160"/>
          </a:xfrm>
          <a:prstGeom prst="rect">
            <a:avLst/>
          </a:prstGeom>
          <a:noFill/>
          <a:ln/>
        </p:spPr>
        <p:txBody>
          <a:bodyPr wrap="square" lIns="0" tIns="0" rIns="0" bIns="0" rtlCol="0" anchor="b">
            <a:normAutofit/>
          </a:bodyPr>
          <a:lstStyle/>
          <a:p>
            <a:pPr marL="0" indent="0" eaLnBrk="1">
              <a:buNone/>
            </a:pPr>
            <a:r>
              <a:rPr lang="ko-KR" altLang="en-US" sz="6600" b="1" dirty="0">
                <a:solidFill>
                  <a:srgbClr val="E8B84B"/>
                </a:solidFill>
                <a:latin typeface="Malgun Gothic" pitchFamily="34" charset="0"/>
                <a:ea typeface="Malgun Gothic" pitchFamily="34" charset="-122"/>
                <a:cs typeface="Malgun Gothic" pitchFamily="34" charset="-120"/>
              </a:rPr>
              <a:t>가나다라 </a:t>
            </a:r>
            <a:r>
              <a:rPr lang="en-US" sz="6600" b="1" dirty="0">
                <a:solidFill>
                  <a:srgbClr val="E8B84B"/>
                </a:solidFill>
              </a:rPr>
              <a:t>II + </a:t>
            </a:r>
            <a:r>
              <a:rPr lang="ko-KR" altLang="en-US" sz="6600" b="1" dirty="0">
                <a:solidFill>
                  <a:srgbClr val="E8B84B"/>
                </a:solidFill>
                <a:latin typeface="Malgun Gothic" pitchFamily="34" charset="0"/>
                <a:ea typeface="Malgun Gothic" pitchFamily="34" charset="-122"/>
                <a:cs typeface="Malgun Gothic" pitchFamily="34" charset="-120"/>
              </a:rPr>
              <a:t>안녕하세요</a:t>
            </a:r>
            <a:endParaRPr lang="en-US" sz="6600" dirty="0"/>
          </a:p>
        </p:txBody>
      </p:sp>
      <p:sp>
        <p:nvSpPr>
          <p:cNvPr id="3" name="Text 1"/>
          <p:cNvSpPr>
            <a:spLocks noGrp="1"/>
          </p:cNvSpPr>
          <p:nvPr>
            <p:ph type="title" idx="102" hasCustomPrompt="1"/>
          </p:nvPr>
        </p:nvSpPr>
        <p:spPr>
          <a:xfrm>
            <a:off x="640080" y="3063240"/>
            <a:ext cx="10881360" cy="914400"/>
          </a:xfrm>
          <a:prstGeom prst="rect">
            <a:avLst/>
          </a:prstGeom>
          <a:noFill/>
          <a:ln/>
        </p:spPr>
        <p:txBody>
          <a:bodyPr wrap="square" lIns="0" tIns="0" rIns="0" bIns="0" rtlCol="0" anchor="t"/>
          <a:lstStyle/>
          <a:p>
            <a:pPr marL="0" indent="0" algn="l" eaLnBrk="1">
              <a:buNone/>
            </a:pPr>
            <a:r>
              <a:rPr lang="en-US" sz="3600" b="1" dirty="0">
                <a:solidFill>
                  <a:srgbClr val="FFFFFF"/>
                </a:solidFill>
              </a:rPr>
              <a:t>Termino de leer el alfabeto y me presento</a:t>
            </a:r>
            <a:endParaRPr lang="en-US" sz="4400" dirty="0"/>
          </a:p>
        </p:txBody>
      </p:sp>
      <p:sp>
        <p:nvSpPr>
          <p:cNvPr id="4" name="Text 1"/>
          <p:cNvSpPr>
            <a:spLocks noGrp="1"/>
          </p:cNvSpPr>
          <p:nvPr>
            <p:ph type="body" idx="103" hasCustomPrompt="1"/>
          </p:nvPr>
        </p:nvSpPr>
        <p:spPr>
          <a:xfrm>
            <a:off x="640080" y="4160520"/>
            <a:ext cx="10881360" cy="1828800"/>
          </a:xfrm>
          <a:prstGeom prst="rect">
            <a:avLst/>
          </a:prstGeom>
          <a:noFill/>
          <a:ln/>
        </p:spPr>
        <p:txBody>
          <a:bodyPr wrap="square" lIns="0" tIns="0" rIns="0" bIns="0" rtlCol="0" anchor="t">
            <a:normAutofit/>
          </a:bodyPr>
          <a:lstStyle/>
          <a:p>
            <a:pPr marL="0" indent="0" eaLnBrk="1">
              <a:buNone/>
            </a:pPr>
            <a:r>
              <a:rPr lang="en-US" sz="2200" dirty="0">
                <a:solidFill>
                  <a:srgbClr val="E8B84B"/>
                </a:solidFill>
              </a:rPr>
              <a:t>Básico 1 (A1.1) · Semana 2</a:t>
            </a:r>
            <a:endParaRPr lang="en-US" sz="2200" dirty="0"/>
          </a:p>
          <a:p>
            <a:pPr marL="0" indent="0" eaLnBrk="1">
              <a:buNone/>
            </a:pPr>
            <a:r>
              <a:rPr lang="ko-KR" altLang="en-US" sz="2200" dirty="0">
                <a:solidFill>
                  <a:srgbClr val="E8B84B"/>
                </a:solidFill>
                <a:latin typeface="Malgun Gothic" pitchFamily="34" charset="0"/>
                <a:ea typeface="Malgun Gothic" pitchFamily="34" charset="-122"/>
                <a:cs typeface="Malgun Gothic" pitchFamily="34" charset="-120"/>
              </a:rPr>
              <a:t>Con Kiran (기란</a:t>
            </a:r>
            <a:r>
              <a:rPr lang="en-US" sz="2200" dirty="0">
                <a:solidFill>
                  <a:srgbClr val="E8B84B"/>
                </a:solidFill>
              </a:rPr>
              <a:t>)</a:t>
            </a:r>
            <a:endParaRPr lang="en-US" sz="2200" dirty="0"/>
          </a:p>
          <a:p>
            <a:pPr marL="0" indent="0" eaLnBrk="1">
              <a:buNone/>
            </a:pPr>
            <a:r>
              <a:rPr lang="en-US" sz="2200" dirty="0">
                <a:solidFill>
                  <a:srgbClr val="E8B84B"/>
                </a:solidFill>
              </a:rPr>
              <a:t>Martes 27 y jueves 29 de octubre · 20:00 (hora de Chile)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퀴즈  </a:t>
            </a:r>
            <a:r>
              <a:rPr lang="en-US" sz="3000" b="1" dirty="0">
                <a:solidFill>
                  <a:srgbClr val="003478"/>
                </a:solidFill>
              </a:rPr>
              <a:t>Quiz 1</a:t>
            </a:r>
            <a:r>
              <a:rPr lang="en-US" sz="1500" b="1" i="1" dirty="0">
                <a:solidFill>
                  <a:srgbClr val="8A8DA0"/>
                </a:solidFill>
              </a:rPr>
              <a:t>   Quiz 1</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Sobre la semana 1 · respondes en el chat · Escribe tu respuesta en el chat (hoy el chat le llega solo a Kiran)</a:t>
            </a:r>
            <a:endParaRPr lang="en-US" sz="1800" dirty="0"/>
          </a:p>
        </p:txBody>
      </p:sp>
      <p:sp>
        <p:nvSpPr>
          <p:cNvPr id="4"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868680"/>
          </a:xfrm>
          <a:prstGeom prst="rect">
            <a:avLst/>
          </a:prstGeom>
          <a:noFill/>
          <a:ln/>
        </p:spPr>
        <p:txBody>
          <a:bodyPr wrap="square" lIns="0" tIns="0" rIns="0" bIns="0" rtlCol="0" anchor="ctr">
            <a:normAutofit/>
          </a:bodyPr>
          <a:lstStyle/>
          <a:p>
            <a:pPr marL="0" indent="0" eaLnBrk="1">
              <a:buNone/>
            </a:pPr>
            <a:r>
              <a:rPr lang="en-US" sz="2400" dirty="0">
                <a:solidFill>
                  <a:srgbClr val="14142B"/>
                </a:solidFill>
              </a:rPr>
              <a:t>Escucha y escribe la sílaba</a:t>
            </a:r>
            <a:endParaRPr lang="en-US" sz="2400" dirty="0"/>
          </a:p>
        </p:txBody>
      </p:sp>
      <p:sp>
        <p:nvSpPr>
          <p:cNvPr id="7" name="rev_0_caja"/>
          <p:cNvSpPr/>
          <p:nvPr/>
        </p:nvSpPr>
        <p:spPr>
          <a:xfrm>
            <a:off x="7498080" y="2002536"/>
            <a:ext cx="4142232" cy="795528"/>
          </a:xfrm>
          <a:prstGeom prst="roundRect">
            <a:avLst>
              <a:gd name="adj" fmla="val 13793"/>
            </a:avLst>
          </a:prstGeom>
          <a:solidFill>
            <a:srgbClr val="4236F6"/>
          </a:solidFill>
          <a:ln w="12700">
            <a:solidFill>
              <a:srgbClr val="4236F6"/>
            </a:solidFill>
            <a:prstDash val="solid"/>
          </a:ln>
        </p:spPr>
      </p:sp>
      <p:sp>
        <p:nvSpPr>
          <p:cNvPr id="8" name="rev_0_txt"/>
          <p:cNvSpPr txBox="1"/>
          <p:nvPr/>
        </p:nvSpPr>
        <p:spPr>
          <a:xfrm>
            <a:off x="7589520" y="2002536"/>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너</a:t>
            </a:r>
            <a:endParaRPr lang="en-US" sz="2200" dirty="0"/>
          </a:p>
        </p:txBody>
      </p:sp>
      <p:sp>
        <p:nvSpPr>
          <p:cNvPr id="9"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962656"/>
            <a:ext cx="6080760" cy="868680"/>
          </a:xfrm>
          <a:prstGeom prst="rect">
            <a:avLst/>
          </a:prstGeom>
          <a:noFill/>
          <a:ln/>
        </p:spPr>
        <p:txBody>
          <a:bodyPr wrap="square" lIns="0" tIns="0" rIns="0" bIns="0" rtlCol="0" anchor="ctr">
            <a:normAutofit/>
          </a:bodyPr>
          <a:lstStyle/>
          <a:p>
            <a:pPr marL="0" indent="0" eaLnBrk="1">
              <a:buNone/>
            </a:pPr>
            <a:r>
              <a:rPr lang="en-US" sz="2400" dirty="0">
                <a:solidFill>
                  <a:srgbClr val="14142B"/>
                </a:solidFill>
              </a:rPr>
              <a:t>Escucha y escribe la sílaba</a:t>
            </a:r>
            <a:endParaRPr lang="en-US" sz="2400" dirty="0"/>
          </a:p>
        </p:txBody>
      </p:sp>
      <p:sp>
        <p:nvSpPr>
          <p:cNvPr id="12" name="rev_1_caja"/>
          <p:cNvSpPr/>
          <p:nvPr/>
        </p:nvSpPr>
        <p:spPr>
          <a:xfrm>
            <a:off x="7498080" y="2999232"/>
            <a:ext cx="4142232" cy="795528"/>
          </a:xfrm>
          <a:prstGeom prst="roundRect">
            <a:avLst>
              <a:gd name="adj" fmla="val 13793"/>
            </a:avLst>
          </a:prstGeom>
          <a:solidFill>
            <a:srgbClr val="4236F6"/>
          </a:solidFill>
          <a:ln w="12700">
            <a:solidFill>
              <a:srgbClr val="4236F6"/>
            </a:solidFill>
            <a:prstDash val="solid"/>
          </a:ln>
        </p:spPr>
      </p:sp>
      <p:sp>
        <p:nvSpPr>
          <p:cNvPr id="13" name="rev_1_txt"/>
          <p:cNvSpPr txBox="1"/>
          <p:nvPr/>
        </p:nvSpPr>
        <p:spPr>
          <a:xfrm>
            <a:off x="7589520" y="2999232"/>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그</a:t>
            </a:r>
            <a:endParaRPr lang="en-US" sz="2200" dirty="0"/>
          </a:p>
        </p:txBody>
      </p:sp>
      <p:sp>
        <p:nvSpPr>
          <p:cNvPr id="14"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959352"/>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ㅁ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ㅗ </a:t>
            </a:r>
            <a:r>
              <a:rPr lang="en-US" sz="2400" dirty="0">
                <a:solidFill>
                  <a:srgbClr val="14142B"/>
                </a:solidFill>
              </a:rPr>
              <a:t>= ?</a:t>
            </a:r>
            <a:endParaRPr lang="en-US" sz="2400" dirty="0"/>
          </a:p>
        </p:txBody>
      </p:sp>
      <p:sp>
        <p:nvSpPr>
          <p:cNvPr id="17" name="rev_2_caja"/>
          <p:cNvSpPr/>
          <p:nvPr/>
        </p:nvSpPr>
        <p:spPr>
          <a:xfrm>
            <a:off x="7498080" y="3995928"/>
            <a:ext cx="4142232" cy="795528"/>
          </a:xfrm>
          <a:prstGeom prst="roundRect">
            <a:avLst>
              <a:gd name="adj" fmla="val 13793"/>
            </a:avLst>
          </a:prstGeom>
          <a:solidFill>
            <a:srgbClr val="4236F6"/>
          </a:solidFill>
          <a:ln w="12700">
            <a:solidFill>
              <a:srgbClr val="4236F6"/>
            </a:solidFill>
            <a:prstDash val="solid"/>
          </a:ln>
        </p:spPr>
      </p:sp>
      <p:sp>
        <p:nvSpPr>
          <p:cNvPr id="18" name="rev_2_txt"/>
          <p:cNvSpPr txBox="1"/>
          <p:nvPr/>
        </p:nvSpPr>
        <p:spPr>
          <a:xfrm>
            <a:off x="7589520" y="3995928"/>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모 </a:t>
            </a:r>
            <a:r>
              <a:rPr lang="en-US" sz="2200" b="1" dirty="0">
                <a:solidFill>
                  <a:srgbClr val="FFFFFF"/>
                </a:solidFill>
              </a:rPr>
              <a:t>(bonus: </a:t>
            </a:r>
            <a:r>
              <a:rPr lang="ko-KR" altLang="en-US" sz="2200" b="1" dirty="0">
                <a:solidFill>
                  <a:srgbClr val="FFFFFF"/>
                </a:solidFill>
                <a:latin typeface="Malgun Gothic" pitchFamily="34" charset="0"/>
                <a:ea typeface="Malgun Gothic" pitchFamily="34" charset="-122"/>
                <a:cs typeface="Malgun Gothic" pitchFamily="34" charset="-120"/>
              </a:rPr>
              <a:t>모자</a:t>
            </a:r>
            <a:r>
              <a:rPr lang="en-US" sz="2200" b="1" dirty="0">
                <a:solidFill>
                  <a:srgbClr val="FFFFFF"/>
                </a:solidFill>
              </a:rPr>
              <a:t>)</a:t>
            </a:r>
            <a:endParaRPr lang="en-US" sz="2200" dirty="0"/>
          </a:p>
        </p:txBody>
      </p:sp>
      <p:sp>
        <p:nvSpPr>
          <p:cNvPr id="19"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956048"/>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바다 </a:t>
            </a:r>
            <a:r>
              <a:rPr lang="en-US" sz="2400" dirty="0">
                <a:solidFill>
                  <a:srgbClr val="14142B"/>
                </a:solidFill>
              </a:rPr>
              <a:t>= ? (en español)</a:t>
            </a:r>
            <a:endParaRPr lang="en-US" sz="2400" dirty="0"/>
          </a:p>
        </p:txBody>
      </p:sp>
      <p:sp>
        <p:nvSpPr>
          <p:cNvPr id="22" name="rev_3_caja"/>
          <p:cNvSpPr/>
          <p:nvPr/>
        </p:nvSpPr>
        <p:spPr>
          <a:xfrm>
            <a:off x="7498080" y="4992624"/>
            <a:ext cx="4142232" cy="795528"/>
          </a:xfrm>
          <a:prstGeom prst="roundRect">
            <a:avLst>
              <a:gd name="adj" fmla="val 13793"/>
            </a:avLst>
          </a:prstGeom>
          <a:solidFill>
            <a:srgbClr val="4236F6"/>
          </a:solidFill>
          <a:ln w="12700">
            <a:solidFill>
              <a:srgbClr val="4236F6"/>
            </a:solidFill>
            <a:prstDash val="solid"/>
          </a:ln>
        </p:spPr>
      </p:sp>
      <p:sp>
        <p:nvSpPr>
          <p:cNvPr id="23" name="rev_3_txt"/>
          <p:cNvSpPr txBox="1"/>
          <p:nvPr/>
        </p:nvSpPr>
        <p:spPr>
          <a:xfrm>
            <a:off x="7589520" y="4992624"/>
            <a:ext cx="3959352" cy="795528"/>
          </a:xfrm>
          <a:prstGeom prst="rect">
            <a:avLst/>
          </a:prstGeom>
          <a:noFill/>
          <a:ln/>
        </p:spPr>
        <p:txBody>
          <a:bodyPr wrap="square" lIns="0" tIns="0" rIns="0" bIns="0" rtlCol="0" anchor="ctr">
            <a:normAutofit/>
          </a:bodyPr>
          <a:lstStyle/>
          <a:p>
            <a:pPr marL="0" indent="0" algn="ctr" eaLnBrk="1">
              <a:buNone/>
            </a:pPr>
            <a:r>
              <a:rPr lang="en-US" sz="2200" b="1" dirty="0">
                <a:solidFill>
                  <a:srgbClr val="FFFFFF"/>
                </a:solidFill>
              </a:rPr>
              <a:t>mar</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퀴즈  </a:t>
            </a:r>
            <a:r>
              <a:rPr lang="en-US" sz="3000" b="1" dirty="0">
                <a:solidFill>
                  <a:srgbClr val="003478"/>
                </a:solidFill>
              </a:rPr>
              <a:t>Quiz 1 · lee tu palabra</a:t>
            </a:r>
            <a:r>
              <a:rPr lang="en-US" sz="1500" b="1" i="1" dirty="0">
                <a:solidFill>
                  <a:srgbClr val="8A8DA0"/>
                </a:solidFill>
              </a:rPr>
              <a:t>   Quiz 1 · read your word</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Lee en voz alta la palabra de tu número</a:t>
            </a:r>
            <a:endParaRPr lang="en-US" sz="1800" dirty="0"/>
          </a:p>
        </p:txBody>
      </p:sp>
      <p:graphicFrame>
        <p:nvGraphicFramePr>
          <p:cNvPr id="4" name="tabla"/>
          <p:cNvGraphicFramePr>
            <a:graphicFrameLocks noGrp="1"/>
          </p:cNvGraphicFramePr>
          <p:nvPr>
            <p:extLst>
              <p:ext uri="{D42A27DB-BD31-4B8C-83A1-F6EECF244321}">
                <p14:modId xmlns:p14="http://schemas.microsoft.com/office/powerpoint/2010/main" val="1087351543"/>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1–5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6–10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11–15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 · 버스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6 · 나무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11 · 어머니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2 · 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7 · 드라마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12 · 아버지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3 · 아이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8 · 모자</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13 · 고기</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4 · 우유</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9 · 머리</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14 · 오리</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5 · 오이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10 · 구두</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15 · 두부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Hoy vas a poder decir…</a:t>
            </a:r>
            <a:r>
              <a:rPr lang="en-US" sz="1500" b="1" i="1" dirty="0">
                <a:solidFill>
                  <a:srgbClr val="8A8DA0"/>
                </a:solidFill>
              </a:rPr>
              <a:t>   Today you'll be able to say…</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Hoy terminamos de leer el alfabeto y decimos la primera frase de verdad</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안녕하세요</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저는 </a:t>
            </a:r>
            <a:r>
              <a:rPr lang="en-US" sz="2800" dirty="0">
                <a:solidFill>
                  <a:srgbClr val="14142B"/>
                </a:solidFill>
              </a:rPr>
              <a:t>___</a:t>
            </a:r>
            <a:r>
              <a:rPr lang="ko-KR" altLang="en-US" sz="2800" dirty="0">
                <a:solidFill>
                  <a:srgbClr val="14142B"/>
                </a:solidFill>
                <a:latin typeface="Malgun Gothic" pitchFamily="34" charset="0"/>
                <a:ea typeface="Malgun Gothic" pitchFamily="34" charset="-122"/>
                <a:cs typeface="Malgun Gothic" pitchFamily="34" charset="-120"/>
              </a:rPr>
              <a:t>예요</a:t>
            </a:r>
            <a:r>
              <a:rPr lang="en-US" sz="2800" dirty="0">
                <a:solidFill>
                  <a:srgbClr val="14142B"/>
                </a:solidFill>
              </a:rPr>
              <a:t>/</a:t>
            </a:r>
            <a:r>
              <a:rPr lang="ko-KR" altLang="en-US" sz="2800" dirty="0">
                <a:solidFill>
                  <a:srgbClr val="14142B"/>
                </a:solidFill>
                <a:latin typeface="Malgun Gothic" pitchFamily="34" charset="0"/>
                <a:ea typeface="Malgun Gothic" pitchFamily="34" charset="-122"/>
                <a:cs typeface="Malgun Gothic" pitchFamily="34" charset="-120"/>
              </a:rPr>
              <a:t>이에요</a:t>
            </a:r>
            <a:r>
              <a:rPr lang="en-US" sz="2800" dirty="0">
                <a:solidFill>
                  <a:srgbClr val="14142B"/>
                </a:solidFill>
              </a:rPr>
              <a:t>. — ¡Hola! Soy ___.</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저는 칠레 사람이에요</a:t>
            </a:r>
            <a:r>
              <a:rPr lang="en-US" sz="2800" dirty="0">
                <a:solidFill>
                  <a:srgbClr val="14142B"/>
                </a:solidFill>
              </a:rPr>
              <a:t>. — Soy chileno, chilena.</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안녕히 계세요</a:t>
            </a:r>
            <a:r>
              <a:rPr lang="en-US" sz="2800" dirty="0">
                <a:solidFill>
                  <a:srgbClr val="14142B"/>
                </a:solidFill>
              </a:rPr>
              <a:t>! — Adiós (a quien se queda).</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받침  </a:t>
            </a:r>
            <a:r>
              <a:rPr lang="en-US" sz="3000" b="1" dirty="0">
                <a:solidFill>
                  <a:srgbClr val="003478"/>
                </a:solidFill>
              </a:rPr>
              <a:t>Un piso más</a:t>
            </a:r>
            <a:r>
              <a:rPr lang="en-US" sz="1500" b="1" i="1" dirty="0">
                <a:solidFill>
                  <a:srgbClr val="8A8DA0"/>
                </a:solidFill>
              </a:rPr>
              <a:t>   Batchim · one more floor</a:t>
            </a:r>
            <a:endParaRPr lang="en-US" sz="3000" dirty="0"/>
          </a:p>
        </p:txBody>
      </p:sp>
      <p:pic>
        <p:nvPicPr>
          <p:cNvPr id="3" name="imagen" descr="C:\Users\Chingu\AppData\Local\Temp\claude\C--Users-Chingu-Desktop-ACADEMIASEULWEB\d4111e1b-5523-44ea-97b2-b1a1d9545b9e\scratchpad\decks\cache\img_b75a909edb1c3ccc.png"/>
          <p:cNvPicPr>
            <a:picLocks noChangeAspect="1"/>
          </p:cNvPicPr>
          <p:nvPr/>
        </p:nvPicPr>
        <p:blipFill>
          <a:blip r:embed="rId3"/>
          <a:stretch>
            <a:fillRect/>
          </a:stretch>
        </p:blipFill>
        <p:spPr>
          <a:xfrm>
            <a:off x="7754112" y="1508760"/>
            <a:ext cx="3886200" cy="4480560"/>
          </a:xfrm>
          <a:prstGeom prst="rect">
            <a:avLst/>
          </a:prstGeom>
        </p:spPr>
      </p:pic>
      <p:sp>
        <p:nvSpPr>
          <p:cNvPr id="4" name="Text 1"/>
          <p:cNvSpPr txBox="1"/>
          <p:nvPr/>
        </p:nvSpPr>
        <p:spPr>
          <a:xfrm>
            <a:off x="548640" y="1325880"/>
            <a:ext cx="693115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Después del 받침</a:t>
            </a:r>
            <a:r>
              <a:rPr lang="en-US" sz="1800" i="1" dirty="0">
                <a:solidFill>
                  <a:srgbClr val="4236F6"/>
                </a:solidFill>
              </a:rPr>
              <a:t>, no hay vocal</a:t>
            </a:r>
            <a:endParaRPr lang="en-US" sz="1800" dirty="0"/>
          </a:p>
        </p:txBody>
      </p:sp>
      <p:sp>
        <p:nvSpPr>
          <p:cNvPr id="5" name="tile_0"/>
          <p:cNvSpPr/>
          <p:nvPr/>
        </p:nvSpPr>
        <p:spPr>
          <a:xfrm>
            <a:off x="548640" y="1874520"/>
            <a:ext cx="2157984" cy="2034540"/>
          </a:xfrm>
          <a:prstGeom prst="roundRect">
            <a:avLst>
              <a:gd name="adj" fmla="val 6742"/>
            </a:avLst>
          </a:prstGeom>
          <a:solidFill>
            <a:srgbClr val="F1F0FE"/>
          </a:solidFill>
          <a:ln w="12700">
            <a:solidFill>
              <a:srgbClr val="D9D7F7"/>
            </a:solidFill>
            <a:prstDash val="solid"/>
          </a:ln>
        </p:spPr>
      </p:sp>
      <p:sp>
        <p:nvSpPr>
          <p:cNvPr id="6" name="Text 3"/>
          <p:cNvSpPr txBox="1"/>
          <p:nvPr/>
        </p:nvSpPr>
        <p:spPr>
          <a:xfrm>
            <a:off x="548640" y="1947672"/>
            <a:ext cx="2157984"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가</a:t>
            </a:r>
            <a:endParaRPr lang="en-US" sz="7300" dirty="0"/>
          </a:p>
        </p:txBody>
      </p:sp>
      <p:sp>
        <p:nvSpPr>
          <p:cNvPr id="7" name="Text 4"/>
          <p:cNvSpPr txBox="1"/>
          <p:nvPr/>
        </p:nvSpPr>
        <p:spPr>
          <a:xfrm>
            <a:off x="594360" y="3176626"/>
            <a:ext cx="2066544"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termina en vocal</a:t>
            </a:r>
            <a:endParaRPr lang="en-US" sz="1700" dirty="0"/>
          </a:p>
        </p:txBody>
      </p:sp>
      <p:sp>
        <p:nvSpPr>
          <p:cNvPr id="8" name="tile_1"/>
          <p:cNvSpPr/>
          <p:nvPr/>
        </p:nvSpPr>
        <p:spPr>
          <a:xfrm>
            <a:off x="2935224" y="1874520"/>
            <a:ext cx="2157984" cy="2034540"/>
          </a:xfrm>
          <a:prstGeom prst="roundRect">
            <a:avLst>
              <a:gd name="adj" fmla="val 6742"/>
            </a:avLst>
          </a:prstGeom>
          <a:solidFill>
            <a:srgbClr val="F1F0FE"/>
          </a:solidFill>
          <a:ln w="12700">
            <a:solidFill>
              <a:srgbClr val="D9D7F7"/>
            </a:solidFill>
            <a:prstDash val="solid"/>
          </a:ln>
        </p:spPr>
      </p:sp>
      <p:sp>
        <p:nvSpPr>
          <p:cNvPr id="9" name="Text 6"/>
          <p:cNvSpPr txBox="1"/>
          <p:nvPr/>
        </p:nvSpPr>
        <p:spPr>
          <a:xfrm>
            <a:off x="2935224" y="1947672"/>
            <a:ext cx="2157984"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강</a:t>
            </a:r>
            <a:endParaRPr lang="en-US" sz="7300" dirty="0"/>
          </a:p>
        </p:txBody>
      </p:sp>
      <p:sp>
        <p:nvSpPr>
          <p:cNvPr id="10" name="Text 7"/>
          <p:cNvSpPr txBox="1"/>
          <p:nvPr/>
        </p:nvSpPr>
        <p:spPr>
          <a:xfrm>
            <a:off x="2980944" y="3176626"/>
            <a:ext cx="206654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가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abajo</a:t>
            </a:r>
            <a:endParaRPr lang="en-US" sz="1700" dirty="0"/>
          </a:p>
        </p:txBody>
      </p:sp>
      <p:sp>
        <p:nvSpPr>
          <p:cNvPr id="11" name="tile_2"/>
          <p:cNvSpPr/>
          <p:nvPr/>
        </p:nvSpPr>
        <p:spPr>
          <a:xfrm>
            <a:off x="5321808" y="1874520"/>
            <a:ext cx="2157984" cy="2034540"/>
          </a:xfrm>
          <a:prstGeom prst="roundRect">
            <a:avLst>
              <a:gd name="adj" fmla="val 6742"/>
            </a:avLst>
          </a:prstGeom>
          <a:solidFill>
            <a:srgbClr val="F1F0FE"/>
          </a:solidFill>
          <a:ln w="12700">
            <a:solidFill>
              <a:srgbClr val="D9D7F7"/>
            </a:solidFill>
            <a:prstDash val="solid"/>
          </a:ln>
        </p:spPr>
      </p:sp>
      <p:sp>
        <p:nvSpPr>
          <p:cNvPr id="12" name="Text 9"/>
          <p:cNvSpPr txBox="1"/>
          <p:nvPr/>
        </p:nvSpPr>
        <p:spPr>
          <a:xfrm>
            <a:off x="5321808" y="1947672"/>
            <a:ext cx="2157984"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바</a:t>
            </a:r>
            <a:endParaRPr lang="en-US" sz="7300" dirty="0"/>
          </a:p>
        </p:txBody>
      </p:sp>
      <p:sp>
        <p:nvSpPr>
          <p:cNvPr id="13" name="Text 10"/>
          <p:cNvSpPr txBox="1"/>
          <p:nvPr/>
        </p:nvSpPr>
        <p:spPr>
          <a:xfrm>
            <a:off x="5367528" y="3176626"/>
            <a:ext cx="2066544" cy="695858"/>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termina en vocal</a:t>
            </a:r>
            <a:endParaRPr lang="en-US" sz="1700" dirty="0"/>
          </a:p>
        </p:txBody>
      </p:sp>
      <p:sp>
        <p:nvSpPr>
          <p:cNvPr id="14" name="tile_3"/>
          <p:cNvSpPr/>
          <p:nvPr/>
        </p:nvSpPr>
        <p:spPr>
          <a:xfrm>
            <a:off x="1741932" y="4137660"/>
            <a:ext cx="2157984" cy="2034540"/>
          </a:xfrm>
          <a:prstGeom prst="roundRect">
            <a:avLst>
              <a:gd name="adj" fmla="val 6742"/>
            </a:avLst>
          </a:prstGeom>
          <a:solidFill>
            <a:srgbClr val="F1F0FE"/>
          </a:solidFill>
          <a:ln w="12700">
            <a:solidFill>
              <a:srgbClr val="D9D7F7"/>
            </a:solidFill>
            <a:prstDash val="solid"/>
          </a:ln>
        </p:spPr>
      </p:sp>
      <p:sp>
        <p:nvSpPr>
          <p:cNvPr id="15" name="Text 12"/>
          <p:cNvSpPr txBox="1"/>
          <p:nvPr/>
        </p:nvSpPr>
        <p:spPr>
          <a:xfrm>
            <a:off x="1741932" y="4210812"/>
            <a:ext cx="2157984"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밥</a:t>
            </a:r>
            <a:endParaRPr lang="en-US" sz="7300" dirty="0"/>
          </a:p>
        </p:txBody>
      </p:sp>
      <p:sp>
        <p:nvSpPr>
          <p:cNvPr id="16" name="Text 13"/>
          <p:cNvSpPr txBox="1"/>
          <p:nvPr/>
        </p:nvSpPr>
        <p:spPr>
          <a:xfrm>
            <a:off x="1787652" y="5439766"/>
            <a:ext cx="206654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바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ㅂ </a:t>
            </a:r>
            <a:r>
              <a:rPr lang="en-US" sz="1700" dirty="0">
                <a:solidFill>
                  <a:srgbClr val="5C5F6B"/>
                </a:solidFill>
              </a:rPr>
              <a:t>abajo: una sola sílaba</a:t>
            </a:r>
            <a:endParaRPr lang="en-US" sz="1700" dirty="0"/>
          </a:p>
        </p:txBody>
      </p:sp>
      <p:sp>
        <p:nvSpPr>
          <p:cNvPr id="17" name="tile_4"/>
          <p:cNvSpPr/>
          <p:nvPr/>
        </p:nvSpPr>
        <p:spPr>
          <a:xfrm>
            <a:off x="4128516" y="4137660"/>
            <a:ext cx="2157984" cy="2034540"/>
          </a:xfrm>
          <a:prstGeom prst="roundRect">
            <a:avLst>
              <a:gd name="adj" fmla="val 6742"/>
            </a:avLst>
          </a:prstGeom>
          <a:solidFill>
            <a:srgbClr val="F1F0FE"/>
          </a:solidFill>
          <a:ln w="12700">
            <a:solidFill>
              <a:srgbClr val="D9D7F7"/>
            </a:solidFill>
            <a:prstDash val="solid"/>
          </a:ln>
        </p:spPr>
      </p:sp>
      <p:sp>
        <p:nvSpPr>
          <p:cNvPr id="18" name="Text 15"/>
          <p:cNvSpPr txBox="1"/>
          <p:nvPr/>
        </p:nvSpPr>
        <p:spPr>
          <a:xfrm>
            <a:off x="4128516" y="4210812"/>
            <a:ext cx="2157984"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한국</a:t>
            </a:r>
            <a:endParaRPr lang="en-US" sz="7300" dirty="0"/>
          </a:p>
        </p:txBody>
      </p:sp>
      <p:sp>
        <p:nvSpPr>
          <p:cNvPr id="19" name="Text 16"/>
          <p:cNvSpPr txBox="1"/>
          <p:nvPr/>
        </p:nvSpPr>
        <p:spPr>
          <a:xfrm>
            <a:off x="4174236" y="5439766"/>
            <a:ext cx="206654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한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국</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Solo 7 sonidos</a:t>
            </a:r>
            <a:r>
              <a:rPr lang="en-US" sz="1500" b="1" i="1" dirty="0">
                <a:solidFill>
                  <a:srgbClr val="8A8DA0"/>
                </a:solidFill>
              </a:rPr>
              <a:t>   Only 7 final sounds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Abajo van casi todas las consonantes, pero al final de sílaba suenan solo 7</a:t>
            </a:r>
            <a:endParaRPr lang="en-US" sz="1800" dirty="0"/>
          </a:p>
        </p:txBody>
      </p:sp>
      <p:graphicFrame>
        <p:nvGraphicFramePr>
          <p:cNvPr id="7" name="tabla"/>
          <p:cNvGraphicFramePr>
            <a:graphicFrameLocks noGrp="1"/>
          </p:cNvGraphicFramePr>
          <p:nvPr>
            <p:extLst>
              <p:ext uri="{D42A27DB-BD31-4B8C-83A1-F6EECF244321}">
                <p14:modId xmlns:p14="http://schemas.microsoft.com/office/powerpoint/2010/main" val="2907807896"/>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37210">
                <a:tc>
                  <a:txBody>
                    <a:bodyPr/>
                    <a:lstStyle/>
                    <a:p>
                      <a:pPr marL="0" indent="0" eaLnBrk="1">
                        <a:buNone/>
                      </a:pPr>
                      <a:r>
                        <a:rPr lang="en-US" sz="1600" b="1" dirty="0">
                          <a:solidFill>
                            <a:srgbClr val="FFFFFF"/>
                          </a:solidFill>
                        </a:rPr>
                        <a:t>Suena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Se escribe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Ejemplo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37210">
                <a:tc>
                  <a:txBody>
                    <a:bodyPr/>
                    <a:lstStyle/>
                    <a:p>
                      <a:pPr marL="0" indent="0" eaLnBrk="1">
                        <a:buNone/>
                      </a:pPr>
                      <a:r>
                        <a:rPr lang="en-US" sz="1600" dirty="0">
                          <a:solidFill>
                            <a:srgbClr val="14142B"/>
                          </a:solidFill>
                        </a:rPr>
                        <a:t>k (sin soltar el aire)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ㄱ ㅋ ㄲ</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책</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37210">
                <a:tc>
                  <a:txBody>
                    <a:bodyPr/>
                    <a:lstStyle/>
                    <a:p>
                      <a:pPr marL="0" indent="0" eaLnBrk="1">
                        <a:buNone/>
                      </a:pPr>
                      <a:r>
                        <a:rPr lang="en-US" sz="1600" dirty="0">
                          <a:solidFill>
                            <a:srgbClr val="14142B"/>
                          </a:solidFill>
                        </a:rPr>
                        <a:t>n (lengua arriba, detrás de los dientes)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산</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7210">
                <a:tc>
                  <a:txBody>
                    <a:bodyPr/>
                    <a:lstStyle/>
                    <a:p>
                      <a:pPr marL="0" indent="0" eaLnBrk="1">
                        <a:buNone/>
                      </a:pPr>
                      <a:r>
                        <a:rPr lang="en-US" sz="1600" dirty="0">
                          <a:solidFill>
                            <a:srgbClr val="14142B"/>
                          </a:solidFill>
                        </a:rPr>
                        <a:t>t (sin soltar el aire)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ㄷ ㅅ ㅆ ㅈ ㅊ ㅌ ㅎ</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옷</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37210">
                <a:tc>
                  <a:txBody>
                    <a:bodyPr/>
                    <a:lstStyle/>
                    <a:p>
                      <a:pPr marL="0" indent="0" eaLnBrk="1">
                        <a:buNone/>
                      </a:pPr>
                      <a:r>
                        <a:rPr lang="en-US" sz="1600" dirty="0">
                          <a:solidFill>
                            <a:srgbClr val="14142B"/>
                          </a:solidFill>
                        </a:rPr>
                        <a:t>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ㄹ</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7210">
                <a:tc>
                  <a:txBody>
                    <a:bodyPr/>
                    <a:lstStyle/>
                    <a:p>
                      <a:pPr marL="0" indent="0" eaLnBrk="1">
                        <a:buNone/>
                      </a:pPr>
                      <a:r>
                        <a:rPr lang="en-US" sz="1600" dirty="0">
                          <a:solidFill>
                            <a:srgbClr val="14142B"/>
                          </a:solidFill>
                        </a:rPr>
                        <a:t>m (labios cerrados)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ㅁ</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37210">
                <a:tc>
                  <a:txBody>
                    <a:bodyPr/>
                    <a:lstStyle/>
                    <a:p>
                      <a:pPr marL="0" indent="0" eaLnBrk="1">
                        <a:buNone/>
                      </a:pPr>
                      <a:r>
                        <a:rPr lang="en-US" sz="1600" dirty="0">
                          <a:solidFill>
                            <a:srgbClr val="14142B"/>
                          </a:solidFill>
                        </a:rPr>
                        <a:t>p (labios cerrados, sin soltar el aire)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ㅂ ㅍ</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밥</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7210">
                <a:tc>
                  <a:txBody>
                    <a:bodyPr/>
                    <a:lstStyle/>
                    <a:p>
                      <a:pPr marL="0" indent="0" eaLnBrk="1">
                        <a:buNone/>
                      </a:pPr>
                      <a:r>
                        <a:rPr lang="en-US" sz="1600" dirty="0">
                          <a:solidFill>
                            <a:srgbClr val="14142B"/>
                          </a:solidFill>
                        </a:rPr>
                        <a:t>ng (lengua atrás, boca abierta)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ㅇ</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방</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003478"/>
                </a:solidFill>
                <a:latin typeface="Malgun Gothic" pitchFamily="34" charset="0"/>
                <a:ea typeface="Malgun Gothic" pitchFamily="34" charset="-122"/>
                <a:cs typeface="Malgun Gothic" pitchFamily="34" charset="-120"/>
              </a:rPr>
              <a:t>Palabras de la semana con 받침</a:t>
            </a:r>
            <a:r>
              <a:rPr lang="en-US" sz="1500" b="1" i="1" dirty="0">
                <a:solidFill>
                  <a:srgbClr val="8A8DA0"/>
                </a:solidFill>
              </a:rPr>
              <a:t>   This week's words with batchim</a:t>
            </a:r>
            <a:endParaRPr lang="en-US" sz="3000" dirty="0"/>
          </a:p>
        </p:txBody>
      </p:sp>
      <p:sp>
        <p:nvSpPr>
          <p:cNvPr id="3" name="card_0"/>
          <p:cNvSpPr/>
          <p:nvPr/>
        </p:nvSpPr>
        <p:spPr>
          <a:xfrm>
            <a:off x="548640"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 name="dibujo_0" descr="C:\Users\Chingu\AppData\Local\Temp\claude\C--Users-Chingu-Desktop-ACADEMIASEULWEB\d4111e1b-5523-44ea-97b2-b1a1d9545b9e\scratchpad\decks\cache\ed959ceab5ad.png"/>
          <p:cNvPicPr>
            <a:picLocks noChangeAspect="1"/>
          </p:cNvPicPr>
          <p:nvPr/>
        </p:nvPicPr>
        <p:blipFill>
          <a:blip r:embed="rId17"/>
          <a:stretch>
            <a:fillRect/>
          </a:stretch>
        </p:blipFill>
        <p:spPr>
          <a:xfrm>
            <a:off x="1295248" y="1435608"/>
            <a:ext cx="1108253" cy="1108253"/>
          </a:xfrm>
          <a:prstGeom prst="rect">
            <a:avLst/>
          </a:prstGeom>
        </p:spPr>
      </p:pic>
      <p:sp>
        <p:nvSpPr>
          <p:cNvPr id="5" name="Text 2"/>
          <p:cNvSpPr txBox="1"/>
          <p:nvPr/>
        </p:nvSpPr>
        <p:spPr>
          <a:xfrm>
            <a:off x="548640"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한국</a:t>
            </a:r>
            <a:endParaRPr lang="en-US" sz="2900" dirty="0"/>
          </a:p>
        </p:txBody>
      </p:sp>
      <p:sp>
        <p:nvSpPr>
          <p:cNvPr id="6" name="rom_0"/>
          <p:cNvSpPr txBox="1"/>
          <p:nvPr/>
        </p:nvSpPr>
        <p:spPr>
          <a:xfrm>
            <a:off x="548640" y="3023921"/>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hanguk</a:t>
            </a:r>
            <a:endParaRPr lang="en-US" sz="1600" dirty="0"/>
          </a:p>
        </p:txBody>
      </p:sp>
      <p:sp>
        <p:nvSpPr>
          <p:cNvPr id="7" name="Text 4"/>
          <p:cNvSpPr txBox="1"/>
          <p:nvPr/>
        </p:nvSpPr>
        <p:spPr>
          <a:xfrm>
            <a:off x="621792" y="3298241"/>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Corea</a:t>
            </a:r>
            <a:endParaRPr lang="en-US" sz="1600" dirty="0"/>
          </a:p>
        </p:txBody>
      </p:sp>
      <p:pic>
        <p:nvPicPr>
          <p:cNvPr id="14"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2747772" y="1399032"/>
            <a:ext cx="310896" cy="310896"/>
          </a:xfrm>
          <a:prstGeom prst="rect">
            <a:avLst/>
          </a:prstGeom>
        </p:spPr>
      </p:pic>
      <p:sp>
        <p:nvSpPr>
          <p:cNvPr id="9" name="card_1"/>
          <p:cNvSpPr/>
          <p:nvPr/>
        </p:nvSpPr>
        <p:spPr>
          <a:xfrm>
            <a:off x="3378708"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0" name="dibujo_1" descr="C:\Users\Chingu\AppData\Local\Temp\claude\C--Users-Chingu-Desktop-ACADEMIASEULWEB\d4111e1b-5523-44ea-97b2-b1a1d9545b9e\scratchpad\decks\cache\eab980ecb998.png"/>
          <p:cNvPicPr>
            <a:picLocks noChangeAspect="1"/>
          </p:cNvPicPr>
          <p:nvPr/>
        </p:nvPicPr>
        <p:blipFill>
          <a:blip r:embed="rId19"/>
          <a:stretch>
            <a:fillRect/>
          </a:stretch>
        </p:blipFill>
        <p:spPr>
          <a:xfrm>
            <a:off x="4125316" y="1435608"/>
            <a:ext cx="1108253" cy="1108253"/>
          </a:xfrm>
          <a:prstGeom prst="rect">
            <a:avLst/>
          </a:prstGeom>
        </p:spPr>
      </p:pic>
      <p:sp>
        <p:nvSpPr>
          <p:cNvPr id="11" name="Text 6"/>
          <p:cNvSpPr txBox="1"/>
          <p:nvPr/>
        </p:nvSpPr>
        <p:spPr>
          <a:xfrm>
            <a:off x="3378708"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김치</a:t>
            </a:r>
            <a:endParaRPr lang="en-US" sz="2900" dirty="0"/>
          </a:p>
        </p:txBody>
      </p:sp>
      <p:sp>
        <p:nvSpPr>
          <p:cNvPr id="12" name="rom_1"/>
          <p:cNvSpPr txBox="1"/>
          <p:nvPr/>
        </p:nvSpPr>
        <p:spPr>
          <a:xfrm>
            <a:off x="3378708" y="3023921"/>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gimchi</a:t>
            </a:r>
            <a:endParaRPr lang="en-US" sz="1600" dirty="0"/>
          </a:p>
        </p:txBody>
      </p:sp>
      <p:sp>
        <p:nvSpPr>
          <p:cNvPr id="13" name="Text 8"/>
          <p:cNvSpPr txBox="1"/>
          <p:nvPr/>
        </p:nvSpPr>
        <p:spPr>
          <a:xfrm>
            <a:off x="3451860" y="3298241"/>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kimchi</a:t>
            </a:r>
            <a:endParaRPr lang="en-US" sz="1600" dirty="0"/>
          </a:p>
        </p:txBody>
      </p:sp>
      <p:pic>
        <p:nvPicPr>
          <p:cNvPr id="8"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5577840" y="1399032"/>
            <a:ext cx="310896" cy="310896"/>
          </a:xfrm>
          <a:prstGeom prst="rect">
            <a:avLst/>
          </a:prstGeom>
        </p:spPr>
      </p:pic>
      <p:sp>
        <p:nvSpPr>
          <p:cNvPr id="15" name="card_2"/>
          <p:cNvSpPr/>
          <p:nvPr/>
        </p:nvSpPr>
        <p:spPr>
          <a:xfrm>
            <a:off x="6208776"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6" name="dibujo_2" descr="C:\Users\Chingu\AppData\Local\Temp\claude\C--Users-Chingu-Desktop-ACADEMIASEULWEB\d4111e1b-5523-44ea-97b2-b1a1d9545b9e\scratchpad\decks\cache\ebb0a5.png"/>
          <p:cNvPicPr>
            <a:picLocks noChangeAspect="1"/>
          </p:cNvPicPr>
          <p:nvPr/>
        </p:nvPicPr>
        <p:blipFill>
          <a:blip r:embed="rId20"/>
          <a:stretch>
            <a:fillRect/>
          </a:stretch>
        </p:blipFill>
        <p:spPr>
          <a:xfrm>
            <a:off x="6955384" y="1435608"/>
            <a:ext cx="1108253" cy="1108253"/>
          </a:xfrm>
          <a:prstGeom prst="rect">
            <a:avLst/>
          </a:prstGeom>
        </p:spPr>
      </p:pic>
      <p:sp>
        <p:nvSpPr>
          <p:cNvPr id="17" name="Text 10"/>
          <p:cNvSpPr txBox="1"/>
          <p:nvPr/>
        </p:nvSpPr>
        <p:spPr>
          <a:xfrm>
            <a:off x="6208776"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밥</a:t>
            </a:r>
            <a:endParaRPr lang="en-US" sz="2900" dirty="0"/>
          </a:p>
        </p:txBody>
      </p:sp>
      <p:sp>
        <p:nvSpPr>
          <p:cNvPr id="18" name="rom_2"/>
          <p:cNvSpPr txBox="1"/>
          <p:nvPr/>
        </p:nvSpPr>
        <p:spPr>
          <a:xfrm>
            <a:off x="6208776" y="3023921"/>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bap</a:t>
            </a:r>
            <a:endParaRPr lang="en-US" sz="1600" dirty="0"/>
          </a:p>
        </p:txBody>
      </p:sp>
      <p:sp>
        <p:nvSpPr>
          <p:cNvPr id="19" name="Text 12"/>
          <p:cNvSpPr txBox="1"/>
          <p:nvPr/>
        </p:nvSpPr>
        <p:spPr>
          <a:xfrm>
            <a:off x="6281928" y="3298241"/>
            <a:ext cx="2455164" cy="274320"/>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arroz cocido; comida</a:t>
            </a:r>
            <a:endParaRPr lang="en-US" sz="1400" dirty="0"/>
          </a:p>
        </p:txBody>
      </p:sp>
      <p:pic>
        <p:nvPicPr>
          <p:cNvPr id="26"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8"/>
          <a:stretch>
            <a:fillRect/>
          </a:stretch>
        </p:blipFill>
        <p:spPr>
          <a:xfrm>
            <a:off x="8407908" y="1399032"/>
            <a:ext cx="310896" cy="310896"/>
          </a:xfrm>
          <a:prstGeom prst="rect">
            <a:avLst/>
          </a:prstGeom>
        </p:spPr>
      </p:pic>
      <p:sp>
        <p:nvSpPr>
          <p:cNvPr id="21" name="card_3"/>
          <p:cNvSpPr/>
          <p:nvPr/>
        </p:nvSpPr>
        <p:spPr>
          <a:xfrm>
            <a:off x="9038844" y="132588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2" name="dibujo_3" descr="C:\Users\Chingu\AppData\Local\Temp\claude\C--Users-Chingu-Desktop-ACADEMIASEULWEB\d4111e1b-5523-44ea-97b2-b1a1d9545b9e\scratchpad\decks\cache\ec82aceb9e8c.png"/>
          <p:cNvPicPr>
            <a:picLocks noChangeAspect="1"/>
          </p:cNvPicPr>
          <p:nvPr/>
        </p:nvPicPr>
        <p:blipFill>
          <a:blip r:embed="rId21"/>
          <a:stretch>
            <a:fillRect/>
          </a:stretch>
        </p:blipFill>
        <p:spPr>
          <a:xfrm>
            <a:off x="9785452" y="1435608"/>
            <a:ext cx="1108253" cy="1108253"/>
          </a:xfrm>
          <a:prstGeom prst="rect">
            <a:avLst/>
          </a:prstGeom>
        </p:spPr>
      </p:pic>
      <p:sp>
        <p:nvSpPr>
          <p:cNvPr id="23" name="Text 14"/>
          <p:cNvSpPr txBox="1"/>
          <p:nvPr/>
        </p:nvSpPr>
        <p:spPr>
          <a:xfrm>
            <a:off x="9038844" y="256214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사람</a:t>
            </a:r>
            <a:endParaRPr lang="en-US" sz="2900" dirty="0"/>
          </a:p>
        </p:txBody>
      </p:sp>
      <p:sp>
        <p:nvSpPr>
          <p:cNvPr id="24" name="rom_3"/>
          <p:cNvSpPr txBox="1"/>
          <p:nvPr/>
        </p:nvSpPr>
        <p:spPr>
          <a:xfrm>
            <a:off x="9038844" y="3023921"/>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saram</a:t>
            </a:r>
            <a:endParaRPr lang="en-US" sz="1600" dirty="0"/>
          </a:p>
        </p:txBody>
      </p:sp>
      <p:sp>
        <p:nvSpPr>
          <p:cNvPr id="25" name="Text 16"/>
          <p:cNvSpPr txBox="1"/>
          <p:nvPr/>
        </p:nvSpPr>
        <p:spPr>
          <a:xfrm>
            <a:off x="9111996" y="3298241"/>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persona</a:t>
            </a:r>
            <a:endParaRPr lang="en-US" sz="1600" dirty="0"/>
          </a:p>
        </p:txBody>
      </p:sp>
      <p:pic>
        <p:nvPicPr>
          <p:cNvPr id="32"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8"/>
          <a:stretch>
            <a:fillRect/>
          </a:stretch>
        </p:blipFill>
        <p:spPr>
          <a:xfrm>
            <a:off x="11237976" y="1399032"/>
            <a:ext cx="310896" cy="310896"/>
          </a:xfrm>
          <a:prstGeom prst="rect">
            <a:avLst/>
          </a:prstGeom>
        </p:spPr>
      </p:pic>
      <p:sp>
        <p:nvSpPr>
          <p:cNvPr id="27" name="card_4"/>
          <p:cNvSpPr/>
          <p:nvPr/>
        </p:nvSpPr>
        <p:spPr>
          <a:xfrm>
            <a:off x="1963674"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8" name="dibujo_4" descr="C:\Users\Chingu\AppData\Local\Temp\claude\C--Users-Chingu-Desktop-ACADEMIASEULWEB\d4111e1b-5523-44ea-97b2-b1a1d9545b9e\scratchpad\decks\cache\ed9599ec839d.png"/>
          <p:cNvPicPr>
            <a:picLocks noChangeAspect="1"/>
          </p:cNvPicPr>
          <p:nvPr/>
        </p:nvPicPr>
        <p:blipFill>
          <a:blip r:embed="rId22"/>
          <a:stretch>
            <a:fillRect/>
          </a:stretch>
        </p:blipFill>
        <p:spPr>
          <a:xfrm>
            <a:off x="2710282" y="3973068"/>
            <a:ext cx="1108253" cy="1108253"/>
          </a:xfrm>
          <a:prstGeom prst="rect">
            <a:avLst/>
          </a:prstGeom>
        </p:spPr>
      </p:pic>
      <p:sp>
        <p:nvSpPr>
          <p:cNvPr id="29" name="Text 18"/>
          <p:cNvSpPr txBox="1"/>
          <p:nvPr/>
        </p:nvSpPr>
        <p:spPr>
          <a:xfrm>
            <a:off x="1963674"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학생</a:t>
            </a:r>
            <a:endParaRPr lang="en-US" sz="2900" dirty="0"/>
          </a:p>
        </p:txBody>
      </p:sp>
      <p:sp>
        <p:nvSpPr>
          <p:cNvPr id="30" name="rom_4"/>
          <p:cNvSpPr txBox="1"/>
          <p:nvPr/>
        </p:nvSpPr>
        <p:spPr>
          <a:xfrm>
            <a:off x="1963674" y="5561381"/>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haksaeng</a:t>
            </a:r>
            <a:endParaRPr lang="en-US" sz="1600" dirty="0"/>
          </a:p>
        </p:txBody>
      </p:sp>
      <p:sp>
        <p:nvSpPr>
          <p:cNvPr id="31" name="Text 20"/>
          <p:cNvSpPr txBox="1"/>
          <p:nvPr/>
        </p:nvSpPr>
        <p:spPr>
          <a:xfrm>
            <a:off x="2036826" y="5835701"/>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estudiante</a:t>
            </a:r>
            <a:endParaRPr lang="en-US" sz="1600" dirty="0"/>
          </a:p>
        </p:txBody>
      </p:sp>
      <p:pic>
        <p:nvPicPr>
          <p:cNvPr id="20"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8"/>
          <a:stretch>
            <a:fillRect/>
          </a:stretch>
        </p:blipFill>
        <p:spPr>
          <a:xfrm>
            <a:off x="4162806" y="3936492"/>
            <a:ext cx="310896" cy="310896"/>
          </a:xfrm>
          <a:prstGeom prst="rect">
            <a:avLst/>
          </a:prstGeom>
        </p:spPr>
      </p:pic>
      <p:sp>
        <p:nvSpPr>
          <p:cNvPr id="33" name="card_5"/>
          <p:cNvSpPr/>
          <p:nvPr/>
        </p:nvSpPr>
        <p:spPr>
          <a:xfrm>
            <a:off x="4793742"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4" name="dibujo_5" descr="C:\Users\Chingu\AppData\Local\Temp\claude\C--Users-Chingu-Desktop-ACADEMIASEULWEB\d4111e1b-5523-44ea-97b2-b1a1d9545b9e\scratchpad\decks\cache\ec84a0ec839deb8b98.png"/>
          <p:cNvPicPr>
            <a:picLocks noChangeAspect="1"/>
          </p:cNvPicPr>
          <p:nvPr/>
        </p:nvPicPr>
        <p:blipFill>
          <a:blip r:embed="rId23"/>
          <a:stretch>
            <a:fillRect/>
          </a:stretch>
        </p:blipFill>
        <p:spPr>
          <a:xfrm>
            <a:off x="5540350" y="3973068"/>
            <a:ext cx="1108253" cy="1108253"/>
          </a:xfrm>
          <a:prstGeom prst="rect">
            <a:avLst/>
          </a:prstGeom>
        </p:spPr>
      </p:pic>
      <p:sp>
        <p:nvSpPr>
          <p:cNvPr id="35" name="Text 22"/>
          <p:cNvSpPr txBox="1"/>
          <p:nvPr/>
        </p:nvSpPr>
        <p:spPr>
          <a:xfrm>
            <a:off x="4793742"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선생님</a:t>
            </a:r>
            <a:endParaRPr lang="en-US" sz="2900" dirty="0"/>
          </a:p>
        </p:txBody>
      </p:sp>
      <p:sp>
        <p:nvSpPr>
          <p:cNvPr id="36" name="rom_5"/>
          <p:cNvSpPr txBox="1"/>
          <p:nvPr/>
        </p:nvSpPr>
        <p:spPr>
          <a:xfrm>
            <a:off x="4793742" y="5561381"/>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seonsaengnim</a:t>
            </a:r>
            <a:endParaRPr lang="en-US" sz="1600" dirty="0"/>
          </a:p>
        </p:txBody>
      </p:sp>
      <p:sp>
        <p:nvSpPr>
          <p:cNvPr id="37" name="Text 24"/>
          <p:cNvSpPr txBox="1"/>
          <p:nvPr/>
        </p:nvSpPr>
        <p:spPr>
          <a:xfrm>
            <a:off x="4866894" y="5835701"/>
            <a:ext cx="2455164" cy="274320"/>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profesor, profesora</a:t>
            </a:r>
            <a:endParaRPr lang="en-US" sz="1400" dirty="0"/>
          </a:p>
        </p:txBody>
      </p:sp>
      <p:pic>
        <p:nvPicPr>
          <p:cNvPr id="38"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8"/>
          <a:stretch>
            <a:fillRect/>
          </a:stretch>
        </p:blipFill>
        <p:spPr>
          <a:xfrm>
            <a:off x="6992874" y="3936492"/>
            <a:ext cx="310896" cy="310896"/>
          </a:xfrm>
          <a:prstGeom prst="rect">
            <a:avLst/>
          </a:prstGeom>
        </p:spPr>
      </p:pic>
      <p:sp>
        <p:nvSpPr>
          <p:cNvPr id="39" name="card_6"/>
          <p:cNvSpPr/>
          <p:nvPr/>
        </p:nvSpPr>
        <p:spPr>
          <a:xfrm>
            <a:off x="7623810" y="3863340"/>
            <a:ext cx="2601468" cy="2308860"/>
          </a:xfrm>
          <a:prstGeom prst="roundRect">
            <a:avLst>
              <a:gd name="adj" fmla="val 594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0" name="dibujo_6" descr="C:\Users\Chingu\AppData\Local\Temp\claude\C--Users-Chingu-Desktop-ACADEMIASEULWEB\d4111e1b-5523-44ea-97b2-b1a1d9545b9e\scratchpad\decks\cache\ecb9a0eba088.png"/>
          <p:cNvPicPr>
            <a:picLocks noChangeAspect="1"/>
          </p:cNvPicPr>
          <p:nvPr/>
        </p:nvPicPr>
        <p:blipFill>
          <a:blip r:embed="rId24"/>
          <a:stretch>
            <a:fillRect/>
          </a:stretch>
        </p:blipFill>
        <p:spPr>
          <a:xfrm>
            <a:off x="8370418" y="3973068"/>
            <a:ext cx="1108253" cy="1108253"/>
          </a:xfrm>
          <a:prstGeom prst="rect">
            <a:avLst/>
          </a:prstGeom>
        </p:spPr>
      </p:pic>
      <p:sp>
        <p:nvSpPr>
          <p:cNvPr id="41" name="Text 26"/>
          <p:cNvSpPr txBox="1"/>
          <p:nvPr/>
        </p:nvSpPr>
        <p:spPr>
          <a:xfrm>
            <a:off x="7623810" y="5099609"/>
            <a:ext cx="2601468" cy="461772"/>
          </a:xfrm>
          <a:prstGeom prst="rect">
            <a:avLst/>
          </a:prstGeom>
          <a:noFill/>
          <a:ln/>
        </p:spPr>
        <p:txBody>
          <a:bodyPr wrap="square" lIns="0" tIns="0" rIns="0" bIns="0" rtlCol="0" anchor="ctr">
            <a:normAutofit/>
          </a:bodyPr>
          <a:lstStyle/>
          <a:p>
            <a:pPr marL="0" indent="0" algn="ctr" eaLnBrk="1">
              <a:buNone/>
            </a:pPr>
            <a:r>
              <a:rPr lang="ko-KR" altLang="en-US" sz="2900" b="1" dirty="0">
                <a:solidFill>
                  <a:srgbClr val="4236F6"/>
                </a:solidFill>
                <a:latin typeface="Malgun Gothic" pitchFamily="34" charset="0"/>
                <a:ea typeface="Malgun Gothic" pitchFamily="34" charset="-122"/>
                <a:cs typeface="Malgun Gothic" pitchFamily="34" charset="-120"/>
              </a:rPr>
              <a:t>칠레</a:t>
            </a:r>
            <a:endParaRPr lang="en-US" sz="2900" dirty="0"/>
          </a:p>
        </p:txBody>
      </p:sp>
      <p:sp>
        <p:nvSpPr>
          <p:cNvPr id="42" name="rom_6"/>
          <p:cNvSpPr txBox="1"/>
          <p:nvPr/>
        </p:nvSpPr>
        <p:spPr>
          <a:xfrm>
            <a:off x="7623810" y="5561381"/>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chille</a:t>
            </a:r>
            <a:endParaRPr lang="en-US" sz="1600" dirty="0"/>
          </a:p>
        </p:txBody>
      </p:sp>
      <p:sp>
        <p:nvSpPr>
          <p:cNvPr id="43" name="Text 28"/>
          <p:cNvSpPr txBox="1"/>
          <p:nvPr/>
        </p:nvSpPr>
        <p:spPr>
          <a:xfrm>
            <a:off x="7696962" y="5835701"/>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Chile</a:t>
            </a:r>
            <a:endParaRPr lang="en-US" sz="1600" dirty="0"/>
          </a:p>
        </p:txBody>
      </p:sp>
      <p:pic>
        <p:nvPicPr>
          <p:cNvPr id="44" name="Media 6">
            <a:hlinkClick r:id=""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18"/>
          <a:stretch>
            <a:fillRect/>
          </a:stretch>
        </p:blipFill>
        <p:spPr>
          <a:xfrm>
            <a:off x="9822942" y="3936492"/>
            <a:ext cx="310896" cy="310896"/>
          </a:xfrm>
          <a:prstGeom prst="rect">
            <a:avLst/>
          </a:prstGeom>
        </p:spPr>
      </p:pic>
      <p:sp>
        <p:nvSpPr>
          <p:cNvPr id="4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8" grpId="0" animBg="1"/>
      <p:bldP spid="24" grpId="0" animBg="1"/>
      <p:bldP spid="30" grpId="0" animBg="1"/>
      <p:bldP spid="36"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¿ㄴ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ㅇ</a:t>
            </a:r>
            <a:r>
              <a:rPr lang="en-US" sz="3000" b="1" dirty="0">
                <a:solidFill>
                  <a:srgbClr val="003478"/>
                </a:solidFill>
              </a:rPr>
              <a:t>?</a:t>
            </a:r>
            <a:r>
              <a:rPr lang="ko-KR" altLang="en-US" sz="1500" b="1" i="1" dirty="0">
                <a:solidFill>
                  <a:srgbClr val="8A8DA0"/>
                </a:solidFill>
              </a:rPr>
              <a:t>   ㄴ or ㅇ?</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Escucha: 반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방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안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앙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산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상</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ㄴ </a:t>
            </a:r>
            <a:r>
              <a:rPr lang="en-US" sz="2000" b="1" dirty="0">
                <a:solidFill>
                  <a:srgbClr val="003478"/>
                </a:solidFill>
              </a:rPr>
              <a:t>final · lengua adelante</a:t>
            </a:r>
            <a:endParaRPr lang="en-US" sz="2000" dirty="0"/>
          </a:p>
        </p:txBody>
      </p:sp>
      <p:pic>
        <p:nvPicPr>
          <p:cNvPr id="6" name="col_img_0" descr="C:\Users\Chingu\AppData\Local\Temp\claude\C--Users-Chingu-Desktop-ACADEMIASEULWEB\d4111e1b-5523-44ea-97b2-b1a1d9545b9e\scratchpad\decks\cache\img_ef9b8592a09691ec.png"/>
          <p:cNvPicPr>
            <a:picLocks noChangeAspect="1"/>
          </p:cNvPicPr>
          <p:nvPr/>
        </p:nvPicPr>
        <p:blipFill>
          <a:blip r:embed="rId3"/>
          <a:stretch>
            <a:fillRect/>
          </a:stretch>
        </p:blipFill>
        <p:spPr>
          <a:xfrm>
            <a:off x="2425700" y="2651760"/>
            <a:ext cx="1631696" cy="741680"/>
          </a:xfrm>
          <a:prstGeom prst="rect">
            <a:avLst/>
          </a:prstGeom>
        </p:spPr>
      </p:pic>
      <p:sp>
        <p:nvSpPr>
          <p:cNvPr id="7" name="Text 4"/>
          <p:cNvSpPr txBox="1"/>
          <p:nvPr/>
        </p:nvSpPr>
        <p:spPr>
          <a:xfrm>
            <a:off x="777240" y="348488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반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안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산</a:t>
            </a:r>
            <a:endParaRPr lang="en-US" sz="5400" dirty="0"/>
          </a:p>
        </p:txBody>
      </p:sp>
      <p:sp>
        <p:nvSpPr>
          <p:cNvPr id="8" name="lista"/>
          <p:cNvSpPr txBox="1"/>
          <p:nvPr/>
        </p:nvSpPr>
        <p:spPr>
          <a:xfrm>
            <a:off x="731520" y="4490720"/>
            <a:ext cx="5020056" cy="1544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La punta de la lengua toca detrás de los dientes</a:t>
            </a:r>
            <a:endParaRPr lang="en-US" sz="2000" dirty="0"/>
          </a:p>
          <a:p>
            <a:pPr marL="228600" indent="-228600" eaLnBrk="1">
              <a:spcAft>
                <a:spcPts val="800"/>
              </a:spcAft>
              <a:buSzPct val="100000"/>
              <a:buChar char="•"/>
            </a:pPr>
            <a:r>
              <a:rPr lang="en-US" sz="2000" dirty="0">
                <a:solidFill>
                  <a:srgbClr val="14142B"/>
                </a:solidFill>
              </a:rPr>
              <a:t>La n de "pan"</a:t>
            </a:r>
            <a:endParaRPr lang="en-US" sz="2000" dirty="0"/>
          </a:p>
          <a:p>
            <a:pPr marL="228600" indent="-228600" eaLnBrk="1">
              <a:spcAft>
                <a:spcPts val="800"/>
              </a:spcAft>
              <a:buSzPct val="100000"/>
              <a:buChar char="•"/>
            </a:pPr>
            <a:r>
              <a:rPr lang="en-US" sz="2000" dirty="0">
                <a:solidFill>
                  <a:srgbClr val="14142B"/>
                </a:solidFill>
              </a:rPr>
              <a:t>Gesto: dedo arriba</a:t>
            </a:r>
            <a:endParaRPr lang="en-US" sz="2000" dirty="0"/>
          </a:p>
        </p:txBody>
      </p:sp>
      <p:sp>
        <p:nvSpPr>
          <p:cNvPr id="9"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10"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ㅇ </a:t>
            </a:r>
            <a:r>
              <a:rPr lang="en-US" sz="2000" b="1" dirty="0">
                <a:solidFill>
                  <a:srgbClr val="003478"/>
                </a:solidFill>
              </a:rPr>
              <a:t>final · lengua atrás</a:t>
            </a:r>
            <a:endParaRPr lang="en-US" sz="2000" dirty="0"/>
          </a:p>
        </p:txBody>
      </p:sp>
      <p:pic>
        <p:nvPicPr>
          <p:cNvPr id="11" name="col_img_1" descr="C:\Users\Chingu\AppData\Local\Temp\claude\C--Users-Chingu-Desktop-ACADEMIASEULWEB\d4111e1b-5523-44ea-97b2-b1a1d9545b9e\scratchpad\decks\cache\img_b0997349e833f650.png"/>
          <p:cNvPicPr>
            <a:picLocks noChangeAspect="1"/>
          </p:cNvPicPr>
          <p:nvPr/>
        </p:nvPicPr>
        <p:blipFill>
          <a:blip r:embed="rId4"/>
          <a:stretch>
            <a:fillRect/>
          </a:stretch>
        </p:blipFill>
        <p:spPr>
          <a:xfrm>
            <a:off x="8131556" y="2651760"/>
            <a:ext cx="1631696" cy="741680"/>
          </a:xfrm>
          <a:prstGeom prst="rect">
            <a:avLst/>
          </a:prstGeom>
        </p:spPr>
      </p:pic>
      <p:sp>
        <p:nvSpPr>
          <p:cNvPr id="12" name="Text 8"/>
          <p:cNvSpPr txBox="1"/>
          <p:nvPr/>
        </p:nvSpPr>
        <p:spPr>
          <a:xfrm>
            <a:off x="6483096" y="348488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방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앙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상</a:t>
            </a:r>
            <a:endParaRPr lang="en-US" sz="5400" dirty="0"/>
          </a:p>
        </p:txBody>
      </p:sp>
      <p:sp>
        <p:nvSpPr>
          <p:cNvPr id="13" name="lista"/>
          <p:cNvSpPr txBox="1"/>
          <p:nvPr/>
        </p:nvSpPr>
        <p:spPr>
          <a:xfrm>
            <a:off x="6437376" y="4490720"/>
            <a:ext cx="5020056" cy="1544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La lengua se queda atrás, boca abierta</a:t>
            </a:r>
            <a:endParaRPr lang="en-US" sz="2000" dirty="0"/>
          </a:p>
          <a:p>
            <a:pPr marL="228600" indent="-228600" eaLnBrk="1">
              <a:spcAft>
                <a:spcPts val="800"/>
              </a:spcAft>
              <a:buSzPct val="100000"/>
              <a:buChar char="•"/>
            </a:pPr>
            <a:r>
              <a:rPr lang="en-US" sz="2000" dirty="0">
                <a:solidFill>
                  <a:srgbClr val="14142B"/>
                </a:solidFill>
              </a:rPr>
              <a:t>La n de "tengo" o de "banco"</a:t>
            </a:r>
            <a:endParaRPr lang="en-US" sz="2000" dirty="0"/>
          </a:p>
          <a:p>
            <a:pPr marL="228600" indent="-228600" eaLnBrk="1">
              <a:spcAft>
                <a:spcPts val="800"/>
              </a:spcAft>
              <a:buSzPct val="100000"/>
              <a:buChar char="•"/>
            </a:pPr>
            <a:r>
              <a:rPr lang="en-US" sz="2000" dirty="0">
                <a:solidFill>
                  <a:srgbClr val="14142B"/>
                </a:solidFill>
              </a:rPr>
              <a:t>Gesto: palma abierta</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 prueba del papel</a:t>
            </a:r>
            <a:r>
              <a:rPr lang="en-US" sz="1500" b="1" i="1" dirty="0">
                <a:solidFill>
                  <a:srgbClr val="8A8DA0"/>
                </a:solidFill>
              </a:rPr>
              <a:t>   The paper test</a:t>
            </a:r>
            <a:endParaRPr lang="en-US" sz="3000" dirty="0"/>
          </a:p>
        </p:txBody>
      </p:sp>
      <p:pic>
        <p:nvPicPr>
          <p:cNvPr id="3" name="imagen" descr="C:\Users\Chingu\AppData\Local\Temp\claude\C--Users-Chingu-Desktop-ACADEMIASEULWEB\d4111e1b-5523-44ea-97b2-b1a1d9545b9e\scratchpad\decks\cache\img_76f3046b7afc1121.png"/>
          <p:cNvPicPr>
            <a:picLocks noChangeAspect="1"/>
          </p:cNvPicPr>
          <p:nvPr/>
        </p:nvPicPr>
        <p:blipFill>
          <a:blip r:embed="rId3"/>
          <a:stretch>
            <a:fillRect/>
          </a:stretch>
        </p:blipFill>
        <p:spPr>
          <a:xfrm>
            <a:off x="7754112" y="1508760"/>
            <a:ext cx="3886200" cy="4480560"/>
          </a:xfrm>
          <a:prstGeom prst="rect">
            <a:avLst/>
          </a:prstGeom>
        </p:spPr>
      </p:pic>
      <p:sp>
        <p:nvSpPr>
          <p:cNvPr id="4" name="Text 1"/>
          <p:cNvSpPr txBox="1"/>
          <p:nvPr/>
        </p:nvSpPr>
        <p:spPr>
          <a:xfrm>
            <a:off x="548640" y="1325880"/>
            <a:ext cx="693115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Tira de papel frente a la boca: con 카 </a:t>
            </a:r>
            <a:r>
              <a:rPr lang="en-US" sz="1800" i="1" dirty="0">
                <a:solidFill>
                  <a:srgbClr val="4236F6"/>
                </a:solidFill>
              </a:rPr>
              <a:t>se mueve; con </a:t>
            </a:r>
            <a:r>
              <a:rPr lang="ko-KR" altLang="en-US" sz="1800" i="1" dirty="0">
                <a:solidFill>
                  <a:srgbClr val="4236F6"/>
                </a:solidFill>
                <a:latin typeface="Malgun Gothic" pitchFamily="34" charset="0"/>
                <a:ea typeface="Malgun Gothic" pitchFamily="34" charset="-122"/>
                <a:cs typeface="Malgun Gothic" pitchFamily="34" charset="-120"/>
              </a:rPr>
              <a:t>까</a:t>
            </a:r>
            <a:r>
              <a:rPr lang="en-US" sz="1800" i="1" dirty="0">
                <a:solidFill>
                  <a:srgbClr val="4236F6"/>
                </a:solidFill>
              </a:rPr>
              <a:t>, no</a:t>
            </a:r>
            <a:endParaRPr lang="en-US" sz="1800" dirty="0"/>
          </a:p>
        </p:txBody>
      </p:sp>
      <p:graphicFrame>
        <p:nvGraphicFramePr>
          <p:cNvPr id="10" name="tabla"/>
          <p:cNvGraphicFramePr>
            <a:graphicFrameLocks noGrp="1"/>
          </p:cNvGraphicFramePr>
          <p:nvPr>
            <p:extLst>
              <p:ext uri="{D42A27DB-BD31-4B8C-83A1-F6EECF244321}">
                <p14:modId xmlns:p14="http://schemas.microsoft.com/office/powerpoint/2010/main" val="1876931818"/>
              </p:ext>
            </p:extLst>
          </p:nvPr>
        </p:nvGraphicFramePr>
        <p:xfrm>
          <a:off x="548640" y="1874520"/>
          <a:ext cx="6931152" cy="914400"/>
        </p:xfrm>
        <a:graphic>
          <a:graphicData uri="http://schemas.openxmlformats.org/drawingml/2006/table">
            <a:tbl>
              <a:tblPr/>
              <a:tblGrid>
                <a:gridCol w="2310384">
                  <a:extLst>
                    <a:ext uri="{9D8B030D-6E8A-4147-A177-3AD203B41FA5}">
                      <a16:colId xmlns:a16="http://schemas.microsoft.com/office/drawing/2014/main" val="20000"/>
                    </a:ext>
                  </a:extLst>
                </a:gridCol>
                <a:gridCol w="2310384">
                  <a:extLst>
                    <a:ext uri="{9D8B030D-6E8A-4147-A177-3AD203B41FA5}">
                      <a16:colId xmlns:a16="http://schemas.microsoft.com/office/drawing/2014/main" val="20001"/>
                    </a:ext>
                  </a:extLst>
                </a:gridCol>
                <a:gridCol w="231038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Simple (suave)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Aspirada (sale aire)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Tensa (sin aire, apretada)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까</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따</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파</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빠</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사</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싸</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자</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차</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Dos vocales en una</a:t>
            </a:r>
            <a:r>
              <a:rPr lang="en-US" sz="1500" b="1" i="1" dirty="0">
                <a:solidFill>
                  <a:srgbClr val="8A8DA0"/>
                </a:solidFill>
              </a:rPr>
              <a:t>   Two vowels in one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Las que empiezan con o o con u se dicen de un solo golpe: 뭐</a:t>
            </a:r>
            <a:r>
              <a:rPr lang="en-US" sz="1800" i="1" dirty="0">
                <a:solidFill>
                  <a:srgbClr val="4236F6"/>
                </a:solidFill>
              </a:rPr>
              <a:t>, no "mu-o"</a:t>
            </a:r>
            <a:endParaRPr lang="en-US" sz="1800" dirty="0"/>
          </a:p>
        </p:txBody>
      </p:sp>
      <p:sp>
        <p:nvSpPr>
          <p:cNvPr id="4" name="tile_0"/>
          <p:cNvSpPr/>
          <p:nvPr/>
        </p:nvSpPr>
        <p:spPr>
          <a:xfrm>
            <a:off x="548640" y="1874520"/>
            <a:ext cx="1388582" cy="2034540"/>
          </a:xfrm>
          <a:prstGeom prst="roundRect">
            <a:avLst>
              <a:gd name="adj" fmla="val 9878"/>
            </a:avLst>
          </a:prstGeom>
          <a:solidFill>
            <a:srgbClr val="F1F0FE"/>
          </a:solidFill>
          <a:ln w="12700">
            <a:solidFill>
              <a:srgbClr val="D9D7F7"/>
            </a:solidFill>
            <a:prstDash val="solid"/>
          </a:ln>
        </p:spPr>
      </p:sp>
      <p:sp>
        <p:nvSpPr>
          <p:cNvPr id="5" name="Text 3"/>
          <p:cNvSpPr txBox="1"/>
          <p:nvPr/>
        </p:nvSpPr>
        <p:spPr>
          <a:xfrm>
            <a:off x="548640" y="194767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ㅐ</a:t>
            </a:r>
            <a:endParaRPr lang="en-US" sz="4500" dirty="0"/>
          </a:p>
        </p:txBody>
      </p:sp>
      <p:sp>
        <p:nvSpPr>
          <p:cNvPr id="6" name="Text 4"/>
          <p:cNvSpPr txBox="1"/>
          <p:nvPr/>
        </p:nvSpPr>
        <p:spPr>
          <a:xfrm>
            <a:off x="594360" y="3176626"/>
            <a:ext cx="1297142" cy="695858"/>
          </a:xfrm>
          <a:prstGeom prst="rect">
            <a:avLst/>
          </a:prstGeom>
          <a:noFill/>
          <a:ln/>
        </p:spPr>
        <p:txBody>
          <a:bodyPr wrap="square" lIns="0" tIns="0" rIns="0" bIns="0" rtlCol="0" anchor="t">
            <a:normAutofit/>
          </a:bodyPr>
          <a:lstStyle/>
          <a:p>
            <a:pPr marL="0" indent="0" algn="ctr" eaLnBrk="1">
              <a:buNone/>
            </a:pPr>
            <a:r>
              <a:rPr lang="ko-KR" altLang="en-US" sz="1200" dirty="0">
                <a:solidFill>
                  <a:srgbClr val="5C5F6B"/>
                </a:solidFill>
                <a:latin typeface="Malgun Gothic" pitchFamily="34" charset="0"/>
                <a:ea typeface="Malgun Gothic" pitchFamily="34" charset="-122"/>
                <a:cs typeface="Malgun Gothic" pitchFamily="34" charset="-120"/>
              </a:rPr>
              <a:t>"e" (hoy suena igual que ㅔ</a:t>
            </a:r>
            <a:r>
              <a:rPr lang="en-US" sz="1200" dirty="0">
                <a:solidFill>
                  <a:srgbClr val="5C5F6B"/>
                </a:solidFill>
              </a:rPr>
              <a:t>)</a:t>
            </a:r>
            <a:endParaRPr lang="en-US" sz="1200" dirty="0"/>
          </a:p>
        </p:txBody>
      </p:sp>
      <p:sp>
        <p:nvSpPr>
          <p:cNvPr id="7" name="tile_1"/>
          <p:cNvSpPr/>
          <p:nvPr/>
        </p:nvSpPr>
        <p:spPr>
          <a:xfrm>
            <a:off x="2165822" y="1874520"/>
            <a:ext cx="1388582" cy="2034540"/>
          </a:xfrm>
          <a:prstGeom prst="roundRect">
            <a:avLst>
              <a:gd name="adj" fmla="val 9878"/>
            </a:avLst>
          </a:prstGeom>
          <a:solidFill>
            <a:srgbClr val="F1F0FE"/>
          </a:solidFill>
          <a:ln w="12700">
            <a:solidFill>
              <a:srgbClr val="D9D7F7"/>
            </a:solidFill>
            <a:prstDash val="solid"/>
          </a:ln>
        </p:spPr>
      </p:sp>
      <p:sp>
        <p:nvSpPr>
          <p:cNvPr id="8" name="Text 6"/>
          <p:cNvSpPr txBox="1"/>
          <p:nvPr/>
        </p:nvSpPr>
        <p:spPr>
          <a:xfrm>
            <a:off x="2165822" y="194767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ㅔ</a:t>
            </a:r>
            <a:endParaRPr lang="en-US" sz="4500" dirty="0"/>
          </a:p>
        </p:txBody>
      </p:sp>
      <p:sp>
        <p:nvSpPr>
          <p:cNvPr id="9" name="Text 7"/>
          <p:cNvSpPr txBox="1"/>
          <p:nvPr/>
        </p:nvSpPr>
        <p:spPr>
          <a:xfrm>
            <a:off x="2211542" y="3176626"/>
            <a:ext cx="1297142" cy="695858"/>
          </a:xfrm>
          <a:prstGeom prst="rect">
            <a:avLst/>
          </a:prstGeom>
          <a:noFill/>
          <a:ln/>
        </p:spPr>
        <p:txBody>
          <a:bodyPr wrap="square" lIns="0" tIns="0" rIns="0" bIns="0" rtlCol="0" anchor="t">
            <a:normAutofit/>
          </a:bodyPr>
          <a:lstStyle/>
          <a:p>
            <a:pPr marL="0" indent="0" algn="ctr" eaLnBrk="1">
              <a:buNone/>
            </a:pPr>
            <a:r>
              <a:rPr lang="en-US" sz="1200" dirty="0">
                <a:solidFill>
                  <a:srgbClr val="5C5F6B"/>
                </a:solidFill>
              </a:rPr>
              <a:t>"e"</a:t>
            </a:r>
            <a:endParaRPr lang="en-US" sz="1200" dirty="0"/>
          </a:p>
        </p:txBody>
      </p:sp>
      <p:sp>
        <p:nvSpPr>
          <p:cNvPr id="10" name="tile_2"/>
          <p:cNvSpPr/>
          <p:nvPr/>
        </p:nvSpPr>
        <p:spPr>
          <a:xfrm>
            <a:off x="3783003" y="1874520"/>
            <a:ext cx="1388582" cy="2034540"/>
          </a:xfrm>
          <a:prstGeom prst="roundRect">
            <a:avLst>
              <a:gd name="adj" fmla="val 9878"/>
            </a:avLst>
          </a:prstGeom>
          <a:solidFill>
            <a:srgbClr val="F1F0FE"/>
          </a:solidFill>
          <a:ln w="12700">
            <a:solidFill>
              <a:srgbClr val="D9D7F7"/>
            </a:solidFill>
            <a:prstDash val="solid"/>
          </a:ln>
        </p:spPr>
      </p:sp>
      <p:sp>
        <p:nvSpPr>
          <p:cNvPr id="11" name="Text 9"/>
          <p:cNvSpPr txBox="1"/>
          <p:nvPr/>
        </p:nvSpPr>
        <p:spPr>
          <a:xfrm>
            <a:off x="3783003" y="194767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ㅖ</a:t>
            </a:r>
            <a:endParaRPr lang="en-US" sz="4500" dirty="0"/>
          </a:p>
        </p:txBody>
      </p:sp>
      <p:sp>
        <p:nvSpPr>
          <p:cNvPr id="12" name="Text 10"/>
          <p:cNvSpPr txBox="1"/>
          <p:nvPr/>
        </p:nvSpPr>
        <p:spPr>
          <a:xfrm>
            <a:off x="3828723" y="3176626"/>
            <a:ext cx="1297142" cy="695858"/>
          </a:xfrm>
          <a:prstGeom prst="rect">
            <a:avLst/>
          </a:prstGeom>
          <a:noFill/>
          <a:ln/>
        </p:spPr>
        <p:txBody>
          <a:bodyPr wrap="square" lIns="0" tIns="0" rIns="0" bIns="0" rtlCol="0" anchor="t">
            <a:normAutofit/>
          </a:bodyPr>
          <a:lstStyle/>
          <a:p>
            <a:pPr marL="0" indent="0" algn="ctr" eaLnBrk="1">
              <a:buNone/>
            </a:pPr>
            <a:r>
              <a:rPr lang="en-US" sz="1200" dirty="0">
                <a:solidFill>
                  <a:srgbClr val="5C5F6B"/>
                </a:solidFill>
              </a:rPr>
              <a:t>"ye"</a:t>
            </a:r>
            <a:endParaRPr lang="en-US" sz="1200" dirty="0"/>
          </a:p>
        </p:txBody>
      </p:sp>
      <p:sp>
        <p:nvSpPr>
          <p:cNvPr id="13" name="tile_3"/>
          <p:cNvSpPr/>
          <p:nvPr/>
        </p:nvSpPr>
        <p:spPr>
          <a:xfrm>
            <a:off x="5400185" y="1874520"/>
            <a:ext cx="1388582" cy="2034540"/>
          </a:xfrm>
          <a:prstGeom prst="roundRect">
            <a:avLst>
              <a:gd name="adj" fmla="val 9878"/>
            </a:avLst>
          </a:prstGeom>
          <a:solidFill>
            <a:srgbClr val="F1F0FE"/>
          </a:solidFill>
          <a:ln w="12700">
            <a:solidFill>
              <a:srgbClr val="D9D7F7"/>
            </a:solidFill>
            <a:prstDash val="solid"/>
          </a:ln>
        </p:spPr>
      </p:sp>
      <p:sp>
        <p:nvSpPr>
          <p:cNvPr id="14" name="Text 12"/>
          <p:cNvSpPr txBox="1"/>
          <p:nvPr/>
        </p:nvSpPr>
        <p:spPr>
          <a:xfrm>
            <a:off x="5400185" y="194767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ㅚ</a:t>
            </a:r>
            <a:endParaRPr lang="en-US" sz="4500" dirty="0"/>
          </a:p>
        </p:txBody>
      </p:sp>
      <p:sp>
        <p:nvSpPr>
          <p:cNvPr id="15" name="Text 13"/>
          <p:cNvSpPr txBox="1"/>
          <p:nvPr/>
        </p:nvSpPr>
        <p:spPr>
          <a:xfrm>
            <a:off x="5445905" y="3176626"/>
            <a:ext cx="1297142" cy="695858"/>
          </a:xfrm>
          <a:prstGeom prst="rect">
            <a:avLst/>
          </a:prstGeom>
          <a:noFill/>
          <a:ln/>
        </p:spPr>
        <p:txBody>
          <a:bodyPr wrap="square" lIns="0" tIns="0" rIns="0" bIns="0" rtlCol="0" anchor="t">
            <a:normAutofit/>
          </a:bodyPr>
          <a:lstStyle/>
          <a:p>
            <a:pPr marL="0" indent="0" algn="ctr" eaLnBrk="1">
              <a:buNone/>
            </a:pPr>
            <a:r>
              <a:rPr lang="en-US" sz="1200" dirty="0">
                <a:solidFill>
                  <a:srgbClr val="5C5F6B"/>
                </a:solidFill>
              </a:rPr>
              <a:t>"we"</a:t>
            </a:r>
            <a:endParaRPr lang="en-US" sz="1200" dirty="0"/>
          </a:p>
        </p:txBody>
      </p:sp>
      <p:sp>
        <p:nvSpPr>
          <p:cNvPr id="16" name="tile_4"/>
          <p:cNvSpPr/>
          <p:nvPr/>
        </p:nvSpPr>
        <p:spPr>
          <a:xfrm>
            <a:off x="7017367" y="1874520"/>
            <a:ext cx="1388582" cy="2034540"/>
          </a:xfrm>
          <a:prstGeom prst="roundRect">
            <a:avLst>
              <a:gd name="adj" fmla="val 9878"/>
            </a:avLst>
          </a:prstGeom>
          <a:solidFill>
            <a:srgbClr val="F1F0FE"/>
          </a:solidFill>
          <a:ln w="12700">
            <a:solidFill>
              <a:srgbClr val="D9D7F7"/>
            </a:solidFill>
            <a:prstDash val="solid"/>
          </a:ln>
        </p:spPr>
      </p:sp>
      <p:sp>
        <p:nvSpPr>
          <p:cNvPr id="17" name="Text 15"/>
          <p:cNvSpPr txBox="1"/>
          <p:nvPr/>
        </p:nvSpPr>
        <p:spPr>
          <a:xfrm>
            <a:off x="7017367" y="194767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ㅟ</a:t>
            </a:r>
            <a:endParaRPr lang="en-US" sz="4500" dirty="0"/>
          </a:p>
        </p:txBody>
      </p:sp>
      <p:sp>
        <p:nvSpPr>
          <p:cNvPr id="18" name="Text 16"/>
          <p:cNvSpPr txBox="1"/>
          <p:nvPr/>
        </p:nvSpPr>
        <p:spPr>
          <a:xfrm>
            <a:off x="7063087" y="3176626"/>
            <a:ext cx="1297142" cy="695858"/>
          </a:xfrm>
          <a:prstGeom prst="rect">
            <a:avLst/>
          </a:prstGeom>
          <a:noFill/>
          <a:ln/>
        </p:spPr>
        <p:txBody>
          <a:bodyPr wrap="square" lIns="0" tIns="0" rIns="0" bIns="0" rtlCol="0" anchor="t">
            <a:normAutofit/>
          </a:bodyPr>
          <a:lstStyle/>
          <a:p>
            <a:pPr marL="0" indent="0" algn="ctr" eaLnBrk="1">
              <a:buNone/>
            </a:pPr>
            <a:r>
              <a:rPr lang="en-US" sz="1200" dirty="0">
                <a:solidFill>
                  <a:srgbClr val="5C5F6B"/>
                </a:solidFill>
              </a:rPr>
              <a:t>"wi"</a:t>
            </a:r>
            <a:endParaRPr lang="en-US" sz="1200" dirty="0"/>
          </a:p>
        </p:txBody>
      </p:sp>
      <p:sp>
        <p:nvSpPr>
          <p:cNvPr id="19" name="tile_5"/>
          <p:cNvSpPr/>
          <p:nvPr/>
        </p:nvSpPr>
        <p:spPr>
          <a:xfrm>
            <a:off x="8634549" y="1874520"/>
            <a:ext cx="1388582" cy="2034540"/>
          </a:xfrm>
          <a:prstGeom prst="roundRect">
            <a:avLst>
              <a:gd name="adj" fmla="val 9878"/>
            </a:avLst>
          </a:prstGeom>
          <a:solidFill>
            <a:srgbClr val="F1F0FE"/>
          </a:solidFill>
          <a:ln w="12700">
            <a:solidFill>
              <a:srgbClr val="D9D7F7"/>
            </a:solidFill>
            <a:prstDash val="solid"/>
          </a:ln>
        </p:spPr>
      </p:sp>
      <p:sp>
        <p:nvSpPr>
          <p:cNvPr id="20" name="Text 18"/>
          <p:cNvSpPr txBox="1"/>
          <p:nvPr/>
        </p:nvSpPr>
        <p:spPr>
          <a:xfrm>
            <a:off x="8634549" y="194767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ㅘ</a:t>
            </a:r>
            <a:endParaRPr lang="en-US" sz="4500" dirty="0"/>
          </a:p>
        </p:txBody>
      </p:sp>
      <p:sp>
        <p:nvSpPr>
          <p:cNvPr id="21" name="Text 19"/>
          <p:cNvSpPr txBox="1"/>
          <p:nvPr/>
        </p:nvSpPr>
        <p:spPr>
          <a:xfrm>
            <a:off x="8680269" y="3176626"/>
            <a:ext cx="1297142" cy="695858"/>
          </a:xfrm>
          <a:prstGeom prst="rect">
            <a:avLst/>
          </a:prstGeom>
          <a:noFill/>
          <a:ln/>
        </p:spPr>
        <p:txBody>
          <a:bodyPr wrap="square" lIns="0" tIns="0" rIns="0" bIns="0" rtlCol="0" anchor="t">
            <a:normAutofit/>
          </a:bodyPr>
          <a:lstStyle/>
          <a:p>
            <a:pPr marL="0" indent="0" algn="ctr" eaLnBrk="1">
              <a:buNone/>
            </a:pPr>
            <a:r>
              <a:rPr lang="en-US" sz="1200" dirty="0">
                <a:solidFill>
                  <a:srgbClr val="5C5F6B"/>
                </a:solidFill>
              </a:rPr>
              <a:t>"wa"</a:t>
            </a:r>
            <a:endParaRPr lang="en-US" sz="1200" dirty="0"/>
          </a:p>
        </p:txBody>
      </p:sp>
      <p:sp>
        <p:nvSpPr>
          <p:cNvPr id="22" name="tile_6"/>
          <p:cNvSpPr/>
          <p:nvPr/>
        </p:nvSpPr>
        <p:spPr>
          <a:xfrm>
            <a:off x="10251730" y="1874520"/>
            <a:ext cx="1388582" cy="2034540"/>
          </a:xfrm>
          <a:prstGeom prst="roundRect">
            <a:avLst>
              <a:gd name="adj" fmla="val 9878"/>
            </a:avLst>
          </a:prstGeom>
          <a:solidFill>
            <a:srgbClr val="F1F0FE"/>
          </a:solidFill>
          <a:ln w="12700">
            <a:solidFill>
              <a:srgbClr val="D9D7F7"/>
            </a:solidFill>
            <a:prstDash val="solid"/>
          </a:ln>
        </p:spPr>
      </p:sp>
      <p:sp>
        <p:nvSpPr>
          <p:cNvPr id="23" name="Text 21"/>
          <p:cNvSpPr txBox="1"/>
          <p:nvPr/>
        </p:nvSpPr>
        <p:spPr>
          <a:xfrm>
            <a:off x="10251730" y="194767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ㅝ</a:t>
            </a:r>
            <a:endParaRPr lang="en-US" sz="4500" dirty="0"/>
          </a:p>
        </p:txBody>
      </p:sp>
      <p:sp>
        <p:nvSpPr>
          <p:cNvPr id="24" name="Text 22"/>
          <p:cNvSpPr txBox="1"/>
          <p:nvPr/>
        </p:nvSpPr>
        <p:spPr>
          <a:xfrm>
            <a:off x="10297450" y="3176626"/>
            <a:ext cx="1297142" cy="695858"/>
          </a:xfrm>
          <a:prstGeom prst="rect">
            <a:avLst/>
          </a:prstGeom>
          <a:noFill/>
          <a:ln/>
        </p:spPr>
        <p:txBody>
          <a:bodyPr wrap="square" lIns="0" tIns="0" rIns="0" bIns="0" rtlCol="0" anchor="t">
            <a:normAutofit/>
          </a:bodyPr>
          <a:lstStyle/>
          <a:p>
            <a:pPr marL="0" indent="0" algn="ctr" eaLnBrk="1">
              <a:buNone/>
            </a:pPr>
            <a:r>
              <a:rPr lang="en-US" sz="1200" dirty="0">
                <a:solidFill>
                  <a:srgbClr val="5C5F6B"/>
                </a:solidFill>
              </a:rPr>
              <a:t>"wo"</a:t>
            </a:r>
            <a:endParaRPr lang="en-US" sz="1200" dirty="0"/>
          </a:p>
        </p:txBody>
      </p:sp>
      <p:sp>
        <p:nvSpPr>
          <p:cNvPr id="25" name="tile_7"/>
          <p:cNvSpPr/>
          <p:nvPr/>
        </p:nvSpPr>
        <p:spPr>
          <a:xfrm>
            <a:off x="548640" y="4137660"/>
            <a:ext cx="1388582" cy="2034540"/>
          </a:xfrm>
          <a:prstGeom prst="roundRect">
            <a:avLst>
              <a:gd name="adj" fmla="val 9878"/>
            </a:avLst>
          </a:prstGeom>
          <a:solidFill>
            <a:srgbClr val="F1F0FE"/>
          </a:solidFill>
          <a:ln w="12700">
            <a:solidFill>
              <a:srgbClr val="D9D7F7"/>
            </a:solidFill>
            <a:prstDash val="solid"/>
          </a:ln>
        </p:spPr>
      </p:sp>
      <p:sp>
        <p:nvSpPr>
          <p:cNvPr id="26" name="Text 24"/>
          <p:cNvSpPr txBox="1"/>
          <p:nvPr/>
        </p:nvSpPr>
        <p:spPr>
          <a:xfrm>
            <a:off x="548640" y="421081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ㅢ</a:t>
            </a:r>
            <a:endParaRPr lang="en-US" sz="4500" dirty="0"/>
          </a:p>
        </p:txBody>
      </p:sp>
      <p:sp>
        <p:nvSpPr>
          <p:cNvPr id="27" name="Text 25"/>
          <p:cNvSpPr txBox="1"/>
          <p:nvPr/>
        </p:nvSpPr>
        <p:spPr>
          <a:xfrm>
            <a:off x="594360" y="5439766"/>
            <a:ext cx="1297142" cy="695858"/>
          </a:xfrm>
          <a:prstGeom prst="rect">
            <a:avLst/>
          </a:prstGeom>
          <a:noFill/>
          <a:ln/>
        </p:spPr>
        <p:txBody>
          <a:bodyPr wrap="square" lIns="0" tIns="0" rIns="0" bIns="0" rtlCol="0" anchor="t">
            <a:normAutofit/>
          </a:bodyPr>
          <a:lstStyle/>
          <a:p>
            <a:pPr marL="0" indent="0" algn="ctr" eaLnBrk="1">
              <a:buNone/>
            </a:pPr>
            <a:r>
              <a:rPr lang="en-US" sz="1200" dirty="0">
                <a:solidFill>
                  <a:srgbClr val="5C5F6B"/>
                </a:solidFill>
              </a:rPr>
              <a:t>"ui"</a:t>
            </a:r>
            <a:endParaRPr lang="en-US" sz="1200" dirty="0"/>
          </a:p>
        </p:txBody>
      </p:sp>
      <p:sp>
        <p:nvSpPr>
          <p:cNvPr id="28" name="tile_8"/>
          <p:cNvSpPr/>
          <p:nvPr/>
        </p:nvSpPr>
        <p:spPr>
          <a:xfrm>
            <a:off x="2165822" y="4137660"/>
            <a:ext cx="1388582" cy="2034540"/>
          </a:xfrm>
          <a:prstGeom prst="roundRect">
            <a:avLst>
              <a:gd name="adj" fmla="val 9878"/>
            </a:avLst>
          </a:prstGeom>
          <a:solidFill>
            <a:srgbClr val="F1F0FE"/>
          </a:solidFill>
          <a:ln w="12700">
            <a:solidFill>
              <a:srgbClr val="D9D7F7"/>
            </a:solidFill>
            <a:prstDash val="solid"/>
          </a:ln>
        </p:spPr>
      </p:sp>
      <p:sp>
        <p:nvSpPr>
          <p:cNvPr id="29" name="Text 27"/>
          <p:cNvSpPr txBox="1"/>
          <p:nvPr/>
        </p:nvSpPr>
        <p:spPr>
          <a:xfrm>
            <a:off x="2165822" y="421081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시계</a:t>
            </a:r>
            <a:endParaRPr lang="en-US" sz="4500" dirty="0"/>
          </a:p>
        </p:txBody>
      </p:sp>
      <p:sp>
        <p:nvSpPr>
          <p:cNvPr id="30" name="rom_7"/>
          <p:cNvSpPr txBox="1"/>
          <p:nvPr/>
        </p:nvSpPr>
        <p:spPr>
          <a:xfrm>
            <a:off x="2165822"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sigye</a:t>
            </a:r>
            <a:endParaRPr lang="en-US" sz="1800" dirty="0"/>
          </a:p>
        </p:txBody>
      </p:sp>
      <p:sp>
        <p:nvSpPr>
          <p:cNvPr id="31" name="Text 29"/>
          <p:cNvSpPr txBox="1"/>
          <p:nvPr/>
        </p:nvSpPr>
        <p:spPr>
          <a:xfrm>
            <a:off x="2211542" y="5765292"/>
            <a:ext cx="1297142" cy="370332"/>
          </a:xfrm>
          <a:prstGeom prst="rect">
            <a:avLst/>
          </a:prstGeom>
          <a:noFill/>
          <a:ln/>
        </p:spPr>
        <p:txBody>
          <a:bodyPr wrap="square" lIns="0" tIns="0" rIns="0" bIns="0" rtlCol="0" anchor="t">
            <a:normAutofit/>
          </a:bodyPr>
          <a:lstStyle/>
          <a:p>
            <a:pPr marL="0" indent="0" algn="ctr" eaLnBrk="1">
              <a:buNone/>
            </a:pPr>
            <a:r>
              <a:rPr lang="ko-KR" altLang="en-US" sz="1200" dirty="0">
                <a:solidFill>
                  <a:srgbClr val="5C5F6B"/>
                </a:solidFill>
                <a:latin typeface="Malgun Gothic" pitchFamily="34" charset="0"/>
                <a:ea typeface="Malgun Gothic" pitchFamily="34" charset="-122"/>
                <a:cs typeface="Malgun Gothic" pitchFamily="34" charset="-120"/>
              </a:rPr>
              <a:t>ㅖ </a:t>
            </a:r>
            <a:r>
              <a:rPr lang="en-US" sz="1200" dirty="0">
                <a:solidFill>
                  <a:srgbClr val="5C5F6B"/>
                </a:solidFill>
              </a:rPr>
              <a:t>· reloj</a:t>
            </a:r>
            <a:endParaRPr lang="en-US" sz="1200" dirty="0"/>
          </a:p>
        </p:txBody>
      </p:sp>
      <p:sp>
        <p:nvSpPr>
          <p:cNvPr id="32" name="tile_9"/>
          <p:cNvSpPr/>
          <p:nvPr/>
        </p:nvSpPr>
        <p:spPr>
          <a:xfrm>
            <a:off x="3783003" y="4137660"/>
            <a:ext cx="1388582" cy="2034540"/>
          </a:xfrm>
          <a:prstGeom prst="roundRect">
            <a:avLst>
              <a:gd name="adj" fmla="val 9878"/>
            </a:avLst>
          </a:prstGeom>
          <a:solidFill>
            <a:srgbClr val="F1F0FE"/>
          </a:solidFill>
          <a:ln w="12700">
            <a:solidFill>
              <a:srgbClr val="D9D7F7"/>
            </a:solidFill>
            <a:prstDash val="solid"/>
          </a:ln>
        </p:spPr>
      </p:sp>
      <p:sp>
        <p:nvSpPr>
          <p:cNvPr id="33" name="Text 31"/>
          <p:cNvSpPr txBox="1"/>
          <p:nvPr/>
        </p:nvSpPr>
        <p:spPr>
          <a:xfrm>
            <a:off x="3783003" y="421081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회사</a:t>
            </a:r>
            <a:endParaRPr lang="en-US" sz="4500" dirty="0"/>
          </a:p>
        </p:txBody>
      </p:sp>
      <p:sp>
        <p:nvSpPr>
          <p:cNvPr id="34" name="rom_8"/>
          <p:cNvSpPr txBox="1"/>
          <p:nvPr/>
        </p:nvSpPr>
        <p:spPr>
          <a:xfrm>
            <a:off x="3783003"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hoesa</a:t>
            </a:r>
            <a:endParaRPr lang="en-US" sz="1800" dirty="0"/>
          </a:p>
        </p:txBody>
      </p:sp>
      <p:sp>
        <p:nvSpPr>
          <p:cNvPr id="35" name="Text 33"/>
          <p:cNvSpPr txBox="1"/>
          <p:nvPr/>
        </p:nvSpPr>
        <p:spPr>
          <a:xfrm>
            <a:off x="3828723" y="5765292"/>
            <a:ext cx="1297142" cy="370332"/>
          </a:xfrm>
          <a:prstGeom prst="rect">
            <a:avLst/>
          </a:prstGeom>
          <a:noFill/>
          <a:ln/>
        </p:spPr>
        <p:txBody>
          <a:bodyPr wrap="square" lIns="0" tIns="0" rIns="0" bIns="0" rtlCol="0" anchor="t">
            <a:normAutofit/>
          </a:bodyPr>
          <a:lstStyle/>
          <a:p>
            <a:pPr marL="0" indent="0" algn="ctr" eaLnBrk="1">
              <a:buNone/>
            </a:pPr>
            <a:r>
              <a:rPr lang="ko-KR" altLang="en-US" sz="1200" dirty="0">
                <a:solidFill>
                  <a:srgbClr val="5C5F6B"/>
                </a:solidFill>
                <a:latin typeface="Malgun Gothic" pitchFamily="34" charset="0"/>
                <a:ea typeface="Malgun Gothic" pitchFamily="34" charset="-122"/>
                <a:cs typeface="Malgun Gothic" pitchFamily="34" charset="-120"/>
              </a:rPr>
              <a:t>ㅚ </a:t>
            </a:r>
            <a:r>
              <a:rPr lang="en-US" sz="1200" dirty="0">
                <a:solidFill>
                  <a:srgbClr val="5C5F6B"/>
                </a:solidFill>
              </a:rPr>
              <a:t>· empresa</a:t>
            </a:r>
            <a:endParaRPr lang="en-US" sz="1200" dirty="0"/>
          </a:p>
        </p:txBody>
      </p:sp>
      <p:sp>
        <p:nvSpPr>
          <p:cNvPr id="36" name="tile_10"/>
          <p:cNvSpPr/>
          <p:nvPr/>
        </p:nvSpPr>
        <p:spPr>
          <a:xfrm>
            <a:off x="5400185" y="4137660"/>
            <a:ext cx="1388582" cy="2034540"/>
          </a:xfrm>
          <a:prstGeom prst="roundRect">
            <a:avLst>
              <a:gd name="adj" fmla="val 9878"/>
            </a:avLst>
          </a:prstGeom>
          <a:solidFill>
            <a:srgbClr val="F1F0FE"/>
          </a:solidFill>
          <a:ln w="12700">
            <a:solidFill>
              <a:srgbClr val="D9D7F7"/>
            </a:solidFill>
            <a:prstDash val="solid"/>
          </a:ln>
        </p:spPr>
      </p:sp>
      <p:sp>
        <p:nvSpPr>
          <p:cNvPr id="37" name="Text 35"/>
          <p:cNvSpPr txBox="1"/>
          <p:nvPr/>
        </p:nvSpPr>
        <p:spPr>
          <a:xfrm>
            <a:off x="5400185" y="421081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위</a:t>
            </a:r>
            <a:endParaRPr lang="en-US" sz="4500" dirty="0"/>
          </a:p>
        </p:txBody>
      </p:sp>
      <p:sp>
        <p:nvSpPr>
          <p:cNvPr id="38" name="rom_9"/>
          <p:cNvSpPr txBox="1"/>
          <p:nvPr/>
        </p:nvSpPr>
        <p:spPr>
          <a:xfrm>
            <a:off x="5400185"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wi</a:t>
            </a:r>
            <a:endParaRPr lang="en-US" sz="1800" dirty="0"/>
          </a:p>
        </p:txBody>
      </p:sp>
      <p:sp>
        <p:nvSpPr>
          <p:cNvPr id="39" name="Text 37"/>
          <p:cNvSpPr txBox="1"/>
          <p:nvPr/>
        </p:nvSpPr>
        <p:spPr>
          <a:xfrm>
            <a:off x="5445905" y="5765292"/>
            <a:ext cx="1297142" cy="370332"/>
          </a:xfrm>
          <a:prstGeom prst="rect">
            <a:avLst/>
          </a:prstGeom>
          <a:noFill/>
          <a:ln/>
        </p:spPr>
        <p:txBody>
          <a:bodyPr wrap="square" lIns="0" tIns="0" rIns="0" bIns="0" rtlCol="0" anchor="t">
            <a:normAutofit/>
          </a:bodyPr>
          <a:lstStyle/>
          <a:p>
            <a:pPr marL="0" indent="0" algn="ctr" eaLnBrk="1">
              <a:buNone/>
            </a:pPr>
            <a:r>
              <a:rPr lang="ko-KR" altLang="en-US" sz="1200" dirty="0">
                <a:solidFill>
                  <a:srgbClr val="5C5F6B"/>
                </a:solidFill>
                <a:latin typeface="Malgun Gothic" pitchFamily="34" charset="0"/>
                <a:ea typeface="Malgun Gothic" pitchFamily="34" charset="-122"/>
                <a:cs typeface="Malgun Gothic" pitchFamily="34" charset="-120"/>
              </a:rPr>
              <a:t>ㅟ </a:t>
            </a:r>
            <a:r>
              <a:rPr lang="en-US" sz="1200" dirty="0">
                <a:solidFill>
                  <a:srgbClr val="5C5F6B"/>
                </a:solidFill>
              </a:rPr>
              <a:t>· arriba</a:t>
            </a:r>
            <a:endParaRPr lang="en-US" sz="1200" dirty="0"/>
          </a:p>
        </p:txBody>
      </p:sp>
      <p:sp>
        <p:nvSpPr>
          <p:cNvPr id="40" name="tile_11"/>
          <p:cNvSpPr/>
          <p:nvPr/>
        </p:nvSpPr>
        <p:spPr>
          <a:xfrm>
            <a:off x="7017367" y="4137660"/>
            <a:ext cx="1388582" cy="2034540"/>
          </a:xfrm>
          <a:prstGeom prst="roundRect">
            <a:avLst>
              <a:gd name="adj" fmla="val 9878"/>
            </a:avLst>
          </a:prstGeom>
          <a:solidFill>
            <a:srgbClr val="F1F0FE"/>
          </a:solidFill>
          <a:ln w="12700">
            <a:solidFill>
              <a:srgbClr val="D9D7F7"/>
            </a:solidFill>
            <a:prstDash val="solid"/>
          </a:ln>
        </p:spPr>
      </p:sp>
      <p:sp>
        <p:nvSpPr>
          <p:cNvPr id="41" name="Text 39"/>
          <p:cNvSpPr txBox="1"/>
          <p:nvPr/>
        </p:nvSpPr>
        <p:spPr>
          <a:xfrm>
            <a:off x="7017367" y="421081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의자</a:t>
            </a:r>
            <a:endParaRPr lang="en-US" sz="4500" dirty="0"/>
          </a:p>
        </p:txBody>
      </p:sp>
      <p:sp>
        <p:nvSpPr>
          <p:cNvPr id="42" name="rom_10"/>
          <p:cNvSpPr txBox="1"/>
          <p:nvPr/>
        </p:nvSpPr>
        <p:spPr>
          <a:xfrm>
            <a:off x="7017367"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uija</a:t>
            </a:r>
            <a:endParaRPr lang="en-US" sz="1800" dirty="0"/>
          </a:p>
        </p:txBody>
      </p:sp>
      <p:sp>
        <p:nvSpPr>
          <p:cNvPr id="43" name="Text 41"/>
          <p:cNvSpPr txBox="1"/>
          <p:nvPr/>
        </p:nvSpPr>
        <p:spPr>
          <a:xfrm>
            <a:off x="7063087" y="5765292"/>
            <a:ext cx="1297142" cy="370332"/>
          </a:xfrm>
          <a:prstGeom prst="rect">
            <a:avLst/>
          </a:prstGeom>
          <a:noFill/>
          <a:ln/>
        </p:spPr>
        <p:txBody>
          <a:bodyPr wrap="square" lIns="0" tIns="0" rIns="0" bIns="0" rtlCol="0" anchor="t">
            <a:normAutofit/>
          </a:bodyPr>
          <a:lstStyle/>
          <a:p>
            <a:pPr marL="0" indent="0" algn="ctr" eaLnBrk="1">
              <a:buNone/>
            </a:pPr>
            <a:r>
              <a:rPr lang="ko-KR" altLang="en-US" sz="1200" dirty="0">
                <a:solidFill>
                  <a:srgbClr val="5C5F6B"/>
                </a:solidFill>
                <a:latin typeface="Malgun Gothic" pitchFamily="34" charset="0"/>
                <a:ea typeface="Malgun Gothic" pitchFamily="34" charset="-122"/>
                <a:cs typeface="Malgun Gothic" pitchFamily="34" charset="-120"/>
              </a:rPr>
              <a:t>ㅢ </a:t>
            </a:r>
            <a:r>
              <a:rPr lang="en-US" sz="1200" dirty="0">
                <a:solidFill>
                  <a:srgbClr val="5C5F6B"/>
                </a:solidFill>
              </a:rPr>
              <a:t>· silla</a:t>
            </a:r>
            <a:endParaRPr lang="en-US" sz="1200" dirty="0"/>
          </a:p>
        </p:txBody>
      </p:sp>
      <p:sp>
        <p:nvSpPr>
          <p:cNvPr id="44" name="tile_12"/>
          <p:cNvSpPr/>
          <p:nvPr/>
        </p:nvSpPr>
        <p:spPr>
          <a:xfrm>
            <a:off x="8634549" y="4137660"/>
            <a:ext cx="1388582" cy="2034540"/>
          </a:xfrm>
          <a:prstGeom prst="roundRect">
            <a:avLst>
              <a:gd name="adj" fmla="val 9878"/>
            </a:avLst>
          </a:prstGeom>
          <a:solidFill>
            <a:srgbClr val="F1F0FE"/>
          </a:solidFill>
          <a:ln w="12700">
            <a:solidFill>
              <a:srgbClr val="D9D7F7"/>
            </a:solidFill>
            <a:prstDash val="solid"/>
          </a:ln>
        </p:spPr>
      </p:sp>
      <p:sp>
        <p:nvSpPr>
          <p:cNvPr id="45" name="Text 43"/>
          <p:cNvSpPr txBox="1"/>
          <p:nvPr/>
        </p:nvSpPr>
        <p:spPr>
          <a:xfrm>
            <a:off x="8634549" y="421081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의사</a:t>
            </a:r>
            <a:endParaRPr lang="en-US" sz="4500" dirty="0"/>
          </a:p>
        </p:txBody>
      </p:sp>
      <p:sp>
        <p:nvSpPr>
          <p:cNvPr id="46" name="rom_11"/>
          <p:cNvSpPr txBox="1"/>
          <p:nvPr/>
        </p:nvSpPr>
        <p:spPr>
          <a:xfrm>
            <a:off x="8634549"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uisa</a:t>
            </a:r>
            <a:endParaRPr lang="en-US" sz="1800" dirty="0"/>
          </a:p>
        </p:txBody>
      </p:sp>
      <p:sp>
        <p:nvSpPr>
          <p:cNvPr id="47" name="Text 45"/>
          <p:cNvSpPr txBox="1"/>
          <p:nvPr/>
        </p:nvSpPr>
        <p:spPr>
          <a:xfrm>
            <a:off x="8680269" y="5765292"/>
            <a:ext cx="1297142" cy="370332"/>
          </a:xfrm>
          <a:prstGeom prst="rect">
            <a:avLst/>
          </a:prstGeom>
          <a:noFill/>
          <a:ln/>
        </p:spPr>
        <p:txBody>
          <a:bodyPr wrap="square" lIns="0" tIns="0" rIns="0" bIns="0" rtlCol="0" anchor="t">
            <a:normAutofit/>
          </a:bodyPr>
          <a:lstStyle/>
          <a:p>
            <a:pPr marL="0" indent="0" algn="ctr" eaLnBrk="1">
              <a:buNone/>
            </a:pPr>
            <a:r>
              <a:rPr lang="ko-KR" altLang="en-US" sz="1200" dirty="0">
                <a:solidFill>
                  <a:srgbClr val="5C5F6B"/>
                </a:solidFill>
                <a:latin typeface="Malgun Gothic" pitchFamily="34" charset="0"/>
                <a:ea typeface="Malgun Gothic" pitchFamily="34" charset="-122"/>
                <a:cs typeface="Malgun Gothic" pitchFamily="34" charset="-120"/>
              </a:rPr>
              <a:t>ㅢ </a:t>
            </a:r>
            <a:r>
              <a:rPr lang="en-US" sz="1200" dirty="0">
                <a:solidFill>
                  <a:srgbClr val="5C5F6B"/>
                </a:solidFill>
              </a:rPr>
              <a:t>· médico, médica</a:t>
            </a:r>
            <a:endParaRPr lang="en-US" sz="1200" dirty="0"/>
          </a:p>
        </p:txBody>
      </p:sp>
      <p:sp>
        <p:nvSpPr>
          <p:cNvPr id="48" name="tile_13"/>
          <p:cNvSpPr/>
          <p:nvPr/>
        </p:nvSpPr>
        <p:spPr>
          <a:xfrm>
            <a:off x="10251730" y="4137660"/>
            <a:ext cx="1388582" cy="2034540"/>
          </a:xfrm>
          <a:prstGeom prst="roundRect">
            <a:avLst>
              <a:gd name="adj" fmla="val 9878"/>
            </a:avLst>
          </a:prstGeom>
          <a:solidFill>
            <a:srgbClr val="F1F0FE"/>
          </a:solidFill>
          <a:ln w="12700">
            <a:solidFill>
              <a:srgbClr val="D9D7F7"/>
            </a:solidFill>
            <a:prstDash val="solid"/>
          </a:ln>
        </p:spPr>
      </p:sp>
      <p:sp>
        <p:nvSpPr>
          <p:cNvPr id="49" name="Text 47"/>
          <p:cNvSpPr txBox="1"/>
          <p:nvPr/>
        </p:nvSpPr>
        <p:spPr>
          <a:xfrm>
            <a:off x="10251730" y="4210812"/>
            <a:ext cx="1388582" cy="1261415"/>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뭐</a:t>
            </a:r>
            <a:endParaRPr lang="en-US" sz="4500" dirty="0"/>
          </a:p>
        </p:txBody>
      </p:sp>
      <p:sp>
        <p:nvSpPr>
          <p:cNvPr id="50" name="rom_12"/>
          <p:cNvSpPr txBox="1"/>
          <p:nvPr/>
        </p:nvSpPr>
        <p:spPr>
          <a:xfrm>
            <a:off x="10251730"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mwo</a:t>
            </a:r>
            <a:endParaRPr lang="en-US" sz="1800" dirty="0"/>
          </a:p>
        </p:txBody>
      </p:sp>
      <p:sp>
        <p:nvSpPr>
          <p:cNvPr id="51" name="Text 49"/>
          <p:cNvSpPr txBox="1"/>
          <p:nvPr/>
        </p:nvSpPr>
        <p:spPr>
          <a:xfrm>
            <a:off x="10297450" y="5765292"/>
            <a:ext cx="1297142" cy="370332"/>
          </a:xfrm>
          <a:prstGeom prst="rect">
            <a:avLst/>
          </a:prstGeom>
          <a:noFill/>
          <a:ln/>
        </p:spPr>
        <p:txBody>
          <a:bodyPr wrap="square" lIns="0" tIns="0" rIns="0" bIns="0" rtlCol="0" anchor="t">
            <a:normAutofit/>
          </a:bodyPr>
          <a:lstStyle/>
          <a:p>
            <a:pPr marL="0" indent="0" algn="ctr" eaLnBrk="1">
              <a:buNone/>
            </a:pPr>
            <a:r>
              <a:rPr lang="ko-KR" altLang="en-US" sz="1200" dirty="0">
                <a:solidFill>
                  <a:srgbClr val="5C5F6B"/>
                </a:solidFill>
                <a:latin typeface="Malgun Gothic" pitchFamily="34" charset="0"/>
                <a:ea typeface="Malgun Gothic" pitchFamily="34" charset="-122"/>
                <a:cs typeface="Malgun Gothic" pitchFamily="34" charset="-120"/>
              </a:rPr>
              <a:t>ㅝ </a:t>
            </a:r>
            <a:r>
              <a:rPr lang="en-US" sz="1200" dirty="0">
                <a:solidFill>
                  <a:srgbClr val="5C5F6B"/>
                </a:solidFill>
              </a:rPr>
              <a:t>· qué</a:t>
            </a:r>
            <a:endParaRPr lang="en-US" sz="1200" dirty="0"/>
          </a:p>
        </p:txBody>
      </p:sp>
      <p:sp>
        <p:nvSpPr>
          <p:cNvPr id="5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4" grpId="0" animBg="1"/>
      <p:bldP spid="38" grpId="0" animBg="1"/>
      <p:bldP spid="42" grpId="0" animBg="1"/>
      <p:bldP spid="46" grpId="0" animBg="1"/>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받아쓰기  </a:t>
            </a:r>
            <a:r>
              <a:rPr lang="en-US" sz="3000" b="1" dirty="0">
                <a:solidFill>
                  <a:srgbClr val="003478"/>
                </a:solidFill>
              </a:rPr>
              <a:t>Dictado</a:t>
            </a:r>
            <a:r>
              <a:rPr lang="en-US" sz="1500" b="1" i="1" dirty="0">
                <a:solidFill>
                  <a:srgbClr val="8A8DA0"/>
                </a:solidFill>
              </a:rPr>
              <a:t>   Dictation</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Escribe cada palabra en el chat con el teclado coreano (o en tu cuaderno)</a:t>
            </a:r>
            <a:endParaRPr lang="en-US" sz="1800" dirty="0"/>
          </a:p>
        </p:txBody>
      </p:sp>
      <p:graphicFrame>
        <p:nvGraphicFramePr>
          <p:cNvPr id="12" name="tabla"/>
          <p:cNvGraphicFramePr>
            <a:graphicFrameLocks noGrp="1"/>
          </p:cNvGraphicFramePr>
          <p:nvPr>
            <p:extLst>
              <p:ext uri="{D42A27DB-BD31-4B8C-83A1-F6EECF244321}">
                <p14:modId xmlns:p14="http://schemas.microsoft.com/office/powerpoint/2010/main" val="1151734137"/>
              </p:ext>
            </p:extLst>
          </p:nvPr>
        </p:nvGraphicFramePr>
        <p:xfrm>
          <a:off x="548640" y="1874520"/>
          <a:ext cx="11091672" cy="914400"/>
        </p:xfrm>
        <a:graphic>
          <a:graphicData uri="http://schemas.openxmlformats.org/drawingml/2006/table">
            <a:tbl>
              <a:tblPr/>
              <a:tblGrid>
                <a:gridCol w="2218334">
                  <a:extLst>
                    <a:ext uri="{9D8B030D-6E8A-4147-A177-3AD203B41FA5}">
                      <a16:colId xmlns:a16="http://schemas.microsoft.com/office/drawing/2014/main" val="20000"/>
                    </a:ext>
                  </a:extLst>
                </a:gridCol>
                <a:gridCol w="2218334">
                  <a:extLst>
                    <a:ext uri="{9D8B030D-6E8A-4147-A177-3AD203B41FA5}">
                      <a16:colId xmlns:a16="http://schemas.microsoft.com/office/drawing/2014/main" val="20001"/>
                    </a:ext>
                  </a:extLst>
                </a:gridCol>
                <a:gridCol w="2218334">
                  <a:extLst>
                    <a:ext uri="{9D8B030D-6E8A-4147-A177-3AD203B41FA5}">
                      <a16:colId xmlns:a16="http://schemas.microsoft.com/office/drawing/2014/main" val="20002"/>
                    </a:ext>
                  </a:extLst>
                </a:gridCol>
                <a:gridCol w="2218334">
                  <a:extLst>
                    <a:ext uri="{9D8B030D-6E8A-4147-A177-3AD203B41FA5}">
                      <a16:colId xmlns:a16="http://schemas.microsoft.com/office/drawing/2014/main" val="20003"/>
                    </a:ext>
                  </a:extLst>
                </a:gridCol>
                <a:gridCol w="2218334">
                  <a:extLst>
                    <a:ext uri="{9D8B030D-6E8A-4147-A177-3AD203B41FA5}">
                      <a16:colId xmlns:a16="http://schemas.microsoft.com/office/drawing/2014/main" val="20004"/>
                    </a:ext>
                  </a:extLst>
                </a:gridCol>
              </a:tblGrid>
              <a:tr h="566928">
                <a:tc>
                  <a:txBody>
                    <a:bodyPr/>
                    <a:lstStyle/>
                    <a:p>
                      <a:pPr marL="0" indent="0" eaLnBrk="1">
                        <a:buNone/>
                      </a:pPr>
                      <a:r>
                        <a:rPr lang="en-US" sz="1600" b="1" dirty="0">
                          <a:solidFill>
                            <a:srgbClr val="FFFFFF"/>
                          </a:solidFill>
                        </a:rPr>
                        <a:t>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2</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3</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4</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600" dirty="0">
                          <a:solidFill>
                            <a:srgbClr val="14142B"/>
                          </a:solidFill>
                        </a:rPr>
                        <a:t>6</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8</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9</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10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받아쓰기  </a:t>
            </a:r>
            <a:r>
              <a:rPr lang="en-US" sz="3000" b="1" dirty="0">
                <a:solidFill>
                  <a:srgbClr val="003478"/>
                </a:solidFill>
              </a:rPr>
              <a:t>Dictado · clave</a:t>
            </a:r>
            <a:r>
              <a:rPr lang="en-US" sz="1500" b="1" i="1" dirty="0">
                <a:solidFill>
                  <a:srgbClr val="8A8DA0"/>
                </a:solidFill>
              </a:rPr>
              <a:t>   Dictation · answer key</a:t>
            </a:r>
            <a:endParaRPr lang="en-US" sz="3000" dirty="0"/>
          </a:p>
        </p:txBody>
      </p:sp>
      <p:graphicFrame>
        <p:nvGraphicFramePr>
          <p:cNvPr id="13" name="tabla"/>
          <p:cNvGraphicFramePr>
            <a:graphicFrameLocks noGrp="1"/>
          </p:cNvGraphicFramePr>
          <p:nvPr>
            <p:extLst>
              <p:ext uri="{D42A27DB-BD31-4B8C-83A1-F6EECF244321}">
                <p14:modId xmlns:p14="http://schemas.microsoft.com/office/powerpoint/2010/main" val="199038415"/>
              </p:ext>
            </p:extLst>
          </p:nvPr>
        </p:nvGraphicFramePr>
        <p:xfrm>
          <a:off x="548640" y="1325880"/>
          <a:ext cx="11091672" cy="914400"/>
        </p:xfrm>
        <a:graphic>
          <a:graphicData uri="http://schemas.openxmlformats.org/drawingml/2006/table">
            <a:tbl>
              <a:tblPr/>
              <a:tblGrid>
                <a:gridCol w="2218334">
                  <a:extLst>
                    <a:ext uri="{9D8B030D-6E8A-4147-A177-3AD203B41FA5}">
                      <a16:colId xmlns:a16="http://schemas.microsoft.com/office/drawing/2014/main" val="20000"/>
                    </a:ext>
                  </a:extLst>
                </a:gridCol>
                <a:gridCol w="2218334">
                  <a:extLst>
                    <a:ext uri="{9D8B030D-6E8A-4147-A177-3AD203B41FA5}">
                      <a16:colId xmlns:a16="http://schemas.microsoft.com/office/drawing/2014/main" val="20001"/>
                    </a:ext>
                  </a:extLst>
                </a:gridCol>
                <a:gridCol w="2218334">
                  <a:extLst>
                    <a:ext uri="{9D8B030D-6E8A-4147-A177-3AD203B41FA5}">
                      <a16:colId xmlns:a16="http://schemas.microsoft.com/office/drawing/2014/main" val="20002"/>
                    </a:ext>
                  </a:extLst>
                </a:gridCol>
                <a:gridCol w="2218334">
                  <a:extLst>
                    <a:ext uri="{9D8B030D-6E8A-4147-A177-3AD203B41FA5}">
                      <a16:colId xmlns:a16="http://schemas.microsoft.com/office/drawing/2014/main" val="20003"/>
                    </a:ext>
                  </a:extLst>
                </a:gridCol>
                <a:gridCol w="2218334">
                  <a:extLst>
                    <a:ext uri="{9D8B030D-6E8A-4147-A177-3AD203B41FA5}">
                      <a16:colId xmlns:a16="http://schemas.microsoft.com/office/drawing/2014/main" val="20004"/>
                    </a:ext>
                  </a:extLst>
                </a:gridCol>
              </a:tblGrid>
              <a:tr h="566928">
                <a:tc>
                  <a:txBody>
                    <a:bodyPr/>
                    <a:lstStyle/>
                    <a:p>
                      <a:pPr marL="0" indent="0" eaLnBrk="1">
                        <a:buNone/>
                      </a:pPr>
                      <a:r>
                        <a:rPr lang="en-US" sz="1600" b="1" dirty="0">
                          <a:solidFill>
                            <a:srgbClr val="FFFFFF"/>
                          </a:solidFill>
                        </a:rPr>
                        <a:t>1</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2</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3</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4</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한국</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김치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밥</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선생님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사람</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600" dirty="0">
                          <a:solidFill>
                            <a:srgbClr val="14142B"/>
                          </a:solidFill>
                        </a:rPr>
                        <a:t>6</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8</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9</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10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방</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산</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빵</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칠레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안녕하세요</a:t>
            </a:r>
            <a:r>
              <a:rPr lang="en-US" sz="3000" b="1" dirty="0">
                <a:solidFill>
                  <a:srgbClr val="4236F6"/>
                </a:solidFill>
              </a:rPr>
              <a:t>!  </a:t>
            </a:r>
            <a:r>
              <a:rPr lang="en-US" sz="3000" b="1" dirty="0">
                <a:solidFill>
                  <a:srgbClr val="003478"/>
                </a:solidFill>
              </a:rPr>
              <a:t>¡Hola!</a:t>
            </a:r>
            <a:r>
              <a:rPr lang="en-US" sz="1500" b="1" i="1" dirty="0">
                <a:solidFill>
                  <a:srgbClr val="8A8DA0"/>
                </a:solidFill>
              </a:rPr>
              <a:t>   Hello!</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저는 기란이에요</a:t>
            </a:r>
            <a:r>
              <a:rPr lang="en-US" sz="2800" dirty="0">
                <a:solidFill>
                  <a:srgbClr val="14142B"/>
                </a:solidFill>
              </a:rPr>
              <a:t>. — Soy Kiran.</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한국 사람이에요</a:t>
            </a:r>
            <a:r>
              <a:rPr lang="en-US" sz="2800" dirty="0">
                <a:solidFill>
                  <a:srgbClr val="14142B"/>
                </a:solidFill>
              </a:rPr>
              <a:t>. — Soy coreana.</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선생님이에요</a:t>
            </a:r>
            <a:r>
              <a:rPr lang="en-US" sz="2800" dirty="0">
                <a:solidFill>
                  <a:srgbClr val="14142B"/>
                </a:solidFill>
              </a:rPr>
              <a:t>. — Soy profesora.</a:t>
            </a:r>
            <a:endParaRPr lang="en-US" sz="28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5"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4100" b="1" dirty="0">
                <a:solidFill>
                  <a:srgbClr val="4236F6"/>
                </a:solidFill>
                <a:latin typeface="Malgun Gothic" pitchFamily="34" charset="0"/>
                <a:ea typeface="Malgun Gothic" pitchFamily="34" charset="-122"/>
                <a:cs typeface="Malgun Gothic" pitchFamily="34" charset="-120"/>
              </a:rPr>
              <a:t>안녕하세요</a:t>
            </a:r>
            <a:r>
              <a:rPr lang="en-US" sz="4100" b="1" dirty="0">
                <a:solidFill>
                  <a:srgbClr val="4236F6"/>
                </a:solidFill>
              </a:rPr>
              <a:t>!</a:t>
            </a:r>
            <a:endParaRPr lang="en-US" sz="4100" dirty="0"/>
          </a:p>
        </p:txBody>
      </p:sp>
      <p:pic>
        <p:nvPicPr>
          <p:cNvPr id="6"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601200" y="4983480"/>
            <a:ext cx="384048" cy="384048"/>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¿Quién soy?</a:t>
            </a:r>
            <a:r>
              <a:rPr lang="en-US" sz="1500" b="1" i="1" dirty="0">
                <a:solidFill>
                  <a:srgbClr val="8A8DA0"/>
                </a:solidFill>
              </a:rPr>
              <a:t>   Who am I?</a:t>
            </a:r>
            <a:endParaRPr lang="en-US" sz="3000" dirty="0"/>
          </a:p>
        </p:txBody>
      </p:sp>
      <p:sp>
        <p:nvSpPr>
          <p:cNvPr id="3" name="col_0"/>
          <p:cNvSpPr/>
          <p:nvPr/>
        </p:nvSpPr>
        <p:spPr>
          <a:xfrm>
            <a:off x="548640" y="1325880"/>
            <a:ext cx="3483864" cy="4846320"/>
          </a:xfrm>
          <a:prstGeom prst="roundRect">
            <a:avLst>
              <a:gd name="adj" fmla="val 3937"/>
            </a:avLst>
          </a:prstGeom>
          <a:solidFill>
            <a:srgbClr val="F1F0FE"/>
          </a:solidFill>
          <a:ln w="12700">
            <a:solidFill>
              <a:srgbClr val="D9D7F7"/>
            </a:solidFill>
            <a:prstDash val="solid"/>
          </a:ln>
        </p:spPr>
      </p:sp>
      <p:sp>
        <p:nvSpPr>
          <p:cNvPr id="4" name="Text 2"/>
          <p:cNvSpPr txBox="1"/>
          <p:nvPr/>
        </p:nvSpPr>
        <p:spPr>
          <a:xfrm>
            <a:off x="777240"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Son Heung-min</a:t>
            </a:r>
            <a:endParaRPr lang="en-US" sz="2000" dirty="0"/>
          </a:p>
        </p:txBody>
      </p:sp>
      <p:sp>
        <p:nvSpPr>
          <p:cNvPr id="5" name="Text 3"/>
          <p:cNvSpPr txBox="1"/>
          <p:nvPr/>
        </p:nvSpPr>
        <p:spPr>
          <a:xfrm>
            <a:off x="777240" y="210312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저는</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손흥민이에요</a:t>
            </a:r>
            <a:r>
              <a:rPr lang="en-US" sz="2800" b="1" dirty="0">
                <a:solidFill>
                  <a:srgbClr val="4236F6"/>
                </a:solidFill>
              </a:rPr>
              <a:t>.</a:t>
            </a:r>
            <a:endParaRPr lang="en-US" sz="2800" dirty="0"/>
          </a:p>
        </p:txBody>
      </p:sp>
      <p:sp>
        <p:nvSpPr>
          <p:cNvPr id="6" name="lista"/>
          <p:cNvSpPr txBox="1"/>
          <p:nvPr/>
        </p:nvSpPr>
        <p:spPr>
          <a:xfrm>
            <a:off x="731520"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한국 사람이에요</a:t>
            </a:r>
            <a:r>
              <a:rPr lang="en-US" sz="1800" dirty="0">
                <a:solidFill>
                  <a:srgbClr val="14142B"/>
                </a:solidFill>
              </a:rPr>
              <a:t>.</a:t>
            </a:r>
            <a:endParaRPr lang="en-US" sz="1800" dirty="0"/>
          </a:p>
        </p:txBody>
      </p:sp>
      <p:sp>
        <p:nvSpPr>
          <p:cNvPr id="7" name="col_1"/>
          <p:cNvSpPr/>
          <p:nvPr/>
        </p:nvSpPr>
        <p:spPr>
          <a:xfrm>
            <a:off x="4352544" y="1325880"/>
            <a:ext cx="3483864" cy="4846320"/>
          </a:xfrm>
          <a:prstGeom prst="roundRect">
            <a:avLst>
              <a:gd name="adj" fmla="val 3937"/>
            </a:avLst>
          </a:prstGeom>
          <a:solidFill>
            <a:srgbClr val="FFFFFF"/>
          </a:solidFill>
          <a:ln w="12700">
            <a:solidFill>
              <a:srgbClr val="D9D7F7"/>
            </a:solidFill>
            <a:prstDash val="solid"/>
          </a:ln>
        </p:spPr>
      </p:sp>
      <p:sp>
        <p:nvSpPr>
          <p:cNvPr id="8" name="Text 6"/>
          <p:cNvSpPr txBox="1"/>
          <p:nvPr/>
        </p:nvSpPr>
        <p:spPr>
          <a:xfrm>
            <a:off x="4581144"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Shakira</a:t>
            </a:r>
            <a:endParaRPr lang="en-US" sz="2000" dirty="0"/>
          </a:p>
        </p:txBody>
      </p:sp>
      <p:sp>
        <p:nvSpPr>
          <p:cNvPr id="9" name="Text 7"/>
          <p:cNvSpPr txBox="1"/>
          <p:nvPr/>
        </p:nvSpPr>
        <p:spPr>
          <a:xfrm>
            <a:off x="4581144" y="210312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저는</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샤키라예요</a:t>
            </a:r>
            <a:r>
              <a:rPr lang="en-US" sz="2800" b="1" dirty="0">
                <a:solidFill>
                  <a:srgbClr val="4236F6"/>
                </a:solidFill>
              </a:rPr>
              <a:t>.</a:t>
            </a:r>
            <a:endParaRPr lang="en-US" sz="2800" dirty="0"/>
          </a:p>
        </p:txBody>
      </p:sp>
      <p:sp>
        <p:nvSpPr>
          <p:cNvPr id="10" name="lista"/>
          <p:cNvSpPr txBox="1"/>
          <p:nvPr/>
        </p:nvSpPr>
        <p:spPr>
          <a:xfrm>
            <a:off x="4535424"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콜롬비아 사람이에요</a:t>
            </a:r>
            <a:r>
              <a:rPr lang="en-US" sz="1800" dirty="0">
                <a:solidFill>
                  <a:srgbClr val="14142B"/>
                </a:solidFill>
              </a:rPr>
              <a:t>.</a:t>
            </a:r>
            <a:endParaRPr lang="en-US" sz="1800" dirty="0"/>
          </a:p>
        </p:txBody>
      </p:sp>
      <p:sp>
        <p:nvSpPr>
          <p:cNvPr id="11" name="col_2"/>
          <p:cNvSpPr/>
          <p:nvPr/>
        </p:nvSpPr>
        <p:spPr>
          <a:xfrm>
            <a:off x="8156448" y="1325880"/>
            <a:ext cx="3483864" cy="4846320"/>
          </a:xfrm>
          <a:prstGeom prst="roundRect">
            <a:avLst>
              <a:gd name="adj" fmla="val 3937"/>
            </a:avLst>
          </a:prstGeom>
          <a:solidFill>
            <a:srgbClr val="F1F0FE"/>
          </a:solidFill>
          <a:ln w="12700">
            <a:solidFill>
              <a:srgbClr val="D9D7F7"/>
            </a:solidFill>
            <a:prstDash val="solid"/>
          </a:ln>
        </p:spPr>
      </p:sp>
      <p:sp>
        <p:nvSpPr>
          <p:cNvPr id="12" name="Text 10"/>
          <p:cNvSpPr txBox="1"/>
          <p:nvPr/>
        </p:nvSpPr>
        <p:spPr>
          <a:xfrm>
            <a:off x="8385048"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Pedro Pascal</a:t>
            </a:r>
            <a:endParaRPr lang="en-US" sz="2000" dirty="0"/>
          </a:p>
        </p:txBody>
      </p:sp>
      <p:sp>
        <p:nvSpPr>
          <p:cNvPr id="13" name="Text 11"/>
          <p:cNvSpPr txBox="1"/>
          <p:nvPr/>
        </p:nvSpPr>
        <p:spPr>
          <a:xfrm>
            <a:off x="8385048" y="210312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저는 페드로</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파스칼이에요</a:t>
            </a:r>
            <a:r>
              <a:rPr lang="en-US" sz="2800" b="1" dirty="0">
                <a:solidFill>
                  <a:srgbClr val="4236F6"/>
                </a:solidFill>
              </a:rPr>
              <a:t>.</a:t>
            </a:r>
            <a:endParaRPr lang="en-US" sz="2800" dirty="0"/>
          </a:p>
        </p:txBody>
      </p:sp>
      <p:sp>
        <p:nvSpPr>
          <p:cNvPr id="14" name="lista"/>
          <p:cNvSpPr txBox="1"/>
          <p:nvPr/>
        </p:nvSpPr>
        <p:spPr>
          <a:xfrm>
            <a:off x="8339328"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칠레 사람이에요</a:t>
            </a:r>
            <a:r>
              <a:rPr lang="en-US" sz="1800" dirty="0">
                <a:solidFill>
                  <a:srgbClr val="14142B"/>
                </a:solidFill>
              </a:rPr>
              <a: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¿이에요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예요</a:t>
            </a:r>
            <a:r>
              <a:rPr lang="en-US" sz="3000" b="1" dirty="0">
                <a:solidFill>
                  <a:srgbClr val="003478"/>
                </a:solidFill>
              </a:rPr>
              <a:t>?</a:t>
            </a:r>
            <a:r>
              <a:rPr lang="ko-KR" altLang="en-US" sz="1500" b="1" i="1" dirty="0">
                <a:solidFill>
                  <a:srgbClr val="8A8DA0"/>
                </a:solidFill>
              </a:rPr>
              <a:t>   이에요 or 예요?</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Una sola pregunta: ¿la palabra termina en 받침</a:t>
            </a:r>
            <a:r>
              <a:rPr lang="en-US" sz="1800" i="1" dirty="0">
                <a:solidFill>
                  <a:srgbClr val="4236F6"/>
                </a:solidFill>
              </a:rPr>
              <a:t>?</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Sí, termina en 받침</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이에요</a:t>
            </a:r>
            <a:endParaRPr lang="en-US" sz="54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기란이에요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학생이에요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사람이에요</a:t>
            </a:r>
            <a:endParaRPr lang="en-US" sz="20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No, termina en vocal</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예요</a:t>
            </a:r>
            <a:endParaRPr lang="en-US" sz="54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마리아예요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의사예요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카를로스예요</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Tu nombre en 한글 </a:t>
            </a:r>
            <a:r>
              <a:rPr lang="en-US" sz="3000" b="1" dirty="0">
                <a:solidFill>
                  <a:srgbClr val="003478"/>
                </a:solidFill>
              </a:rPr>
              <a:t>manda</a:t>
            </a:r>
            <a:r>
              <a:rPr lang="en-US" sz="1500" b="1" i="1" dirty="0">
                <a:solidFill>
                  <a:srgbClr val="8A8DA0"/>
                </a:solidFill>
              </a:rPr>
              <a:t>   Your name in Hangul decides</a:t>
            </a:r>
            <a:endParaRPr lang="en-US" sz="3000" dirty="0"/>
          </a:p>
        </p:txBody>
      </p:sp>
      <p:graphicFrame>
        <p:nvGraphicFramePr>
          <p:cNvPr id="17" name="tabla"/>
          <p:cNvGraphicFramePr>
            <a:graphicFrameLocks noGrp="1"/>
          </p:cNvGraphicFramePr>
          <p:nvPr>
            <p:extLst>
              <p:ext uri="{D42A27DB-BD31-4B8C-83A1-F6EECF244321}">
                <p14:modId xmlns:p14="http://schemas.microsoft.com/office/powerpoint/2010/main" val="3629799785"/>
              </p:ext>
            </p:extLst>
          </p:nvPr>
        </p:nvGraphicFramePr>
        <p:xfrm>
          <a:off x="548640" y="1325880"/>
          <a:ext cx="11091672" cy="914400"/>
        </p:xfrm>
        <a:graphic>
          <a:graphicData uri="http://schemas.openxmlformats.org/drawingml/2006/table">
            <a:tbl>
              <a:tblPr/>
              <a:tblGrid>
                <a:gridCol w="2772918">
                  <a:extLst>
                    <a:ext uri="{9D8B030D-6E8A-4147-A177-3AD203B41FA5}">
                      <a16:colId xmlns:a16="http://schemas.microsoft.com/office/drawing/2014/main" val="20000"/>
                    </a:ext>
                  </a:extLst>
                </a:gridCol>
                <a:gridCol w="2772918">
                  <a:extLst>
                    <a:ext uri="{9D8B030D-6E8A-4147-A177-3AD203B41FA5}">
                      <a16:colId xmlns:a16="http://schemas.microsoft.com/office/drawing/2014/main" val="20001"/>
                    </a:ext>
                  </a:extLst>
                </a:gridCol>
                <a:gridCol w="2772918">
                  <a:extLst>
                    <a:ext uri="{9D8B030D-6E8A-4147-A177-3AD203B41FA5}">
                      <a16:colId xmlns:a16="http://schemas.microsoft.com/office/drawing/2014/main" val="20002"/>
                    </a:ext>
                  </a:extLst>
                </a:gridCol>
                <a:gridCol w="2772918">
                  <a:extLst>
                    <a:ext uri="{9D8B030D-6E8A-4147-A177-3AD203B41FA5}">
                      <a16:colId xmlns:a16="http://schemas.microsoft.com/office/drawing/2014/main" val="20003"/>
                    </a:ext>
                  </a:extLst>
                </a:gridCol>
              </a:tblGrid>
              <a:tr h="566928">
                <a:tc>
                  <a:txBody>
                    <a:bodyPr/>
                    <a:lstStyle/>
                    <a:p>
                      <a:pPr marL="0" indent="0" eaLnBrk="1">
                        <a:buNone/>
                      </a:pPr>
                      <a:r>
                        <a:rPr lang="en-US" sz="1800" b="1" dirty="0">
                          <a:solidFill>
                            <a:srgbClr val="FFFFFF"/>
                          </a:solidFill>
                        </a:rPr>
                        <a:t>Nombre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800" b="1" dirty="0">
                          <a:solidFill>
                            <a:srgbClr val="FFFFFF"/>
                          </a:solidFill>
                          <a:latin typeface="Malgun Gothic" pitchFamily="34" charset="0"/>
                          <a:ea typeface="Malgun Gothic" pitchFamily="34" charset="-122"/>
                          <a:cs typeface="Malgun Gothic" pitchFamily="34" charset="-120"/>
                        </a:rPr>
                        <a:t>En 한글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Termina en…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Entonces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en-US" sz="1800" dirty="0">
                          <a:solidFill>
                            <a:srgbClr val="14142B"/>
                          </a:solidFill>
                        </a:rPr>
                        <a:t>Carlos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카를로스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스 </a:t>
                      </a:r>
                      <a:r>
                        <a:rPr lang="en-US" sz="1800" dirty="0">
                          <a:solidFill>
                            <a:srgbClr val="14142B"/>
                          </a:solidFill>
                        </a:rPr>
                        <a:t>(vocal)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카를로스예요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800" dirty="0">
                          <a:solidFill>
                            <a:srgbClr val="14142B"/>
                          </a:solidFill>
                        </a:rPr>
                        <a:t>Andrés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안드레스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스 </a:t>
                      </a:r>
                      <a:r>
                        <a:rPr lang="en-US" sz="1800" dirty="0">
                          <a:solidFill>
                            <a:srgbClr val="14142B"/>
                          </a:solidFill>
                        </a:rPr>
                        <a:t>(vocal)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안드레스예요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en-US" sz="1800" dirty="0">
                          <a:solidFill>
                            <a:srgbClr val="14142B"/>
                          </a:solidFill>
                        </a:rPr>
                        <a:t>Javier</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하비에르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르 </a:t>
                      </a:r>
                      <a:r>
                        <a:rPr lang="en-US" sz="1800" dirty="0">
                          <a:solidFill>
                            <a:srgbClr val="14142B"/>
                          </a:solidFill>
                        </a:rPr>
                        <a:t>(vocal)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하비에르예요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en-US" sz="1800" dirty="0">
                          <a:solidFill>
                            <a:srgbClr val="14142B"/>
                          </a:solidFill>
                        </a:rPr>
                        <a:t>Daniel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다니엘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ㄹ </a:t>
                      </a:r>
                      <a:r>
                        <a:rPr lang="en-US" sz="1800" dirty="0">
                          <a:solidFill>
                            <a:srgbClr val="14142B"/>
                          </a:solidFill>
                        </a:rPr>
                        <a:t>(</a:t>
                      </a:r>
                      <a:r>
                        <a:rPr lang="ko-KR" altLang="en-US" sz="1800" dirty="0">
                          <a:solidFill>
                            <a:srgbClr val="14142B"/>
                          </a:solidFill>
                          <a:latin typeface="Malgun Gothic" pitchFamily="34" charset="0"/>
                          <a:ea typeface="Malgun Gothic" pitchFamily="34" charset="-122"/>
                          <a:cs typeface="Malgun Gothic" pitchFamily="34" charset="-120"/>
                        </a:rPr>
                        <a:t>받침</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다니엘이에요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en-US" sz="1800" dirty="0">
                          <a:solidFill>
                            <a:srgbClr val="14142B"/>
                          </a:solidFill>
                        </a:rPr>
                        <a:t>Juan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후안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ㄴ </a:t>
                      </a:r>
                      <a:r>
                        <a:rPr lang="en-US" sz="1800" dirty="0">
                          <a:solidFill>
                            <a:srgbClr val="14142B"/>
                          </a:solidFill>
                        </a:rPr>
                        <a:t>(</a:t>
                      </a:r>
                      <a:r>
                        <a:rPr lang="ko-KR" altLang="en-US" sz="1800" dirty="0">
                          <a:solidFill>
                            <a:srgbClr val="14142B"/>
                          </a:solidFill>
                          <a:latin typeface="Malgun Gothic" pitchFamily="34" charset="0"/>
                          <a:ea typeface="Malgun Gothic" pitchFamily="34" charset="-122"/>
                          <a:cs typeface="Malgun Gothic" pitchFamily="34" charset="-120"/>
                        </a:rPr>
                        <a:t>받침</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후안이에요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66928">
                <a:tc>
                  <a:txBody>
                    <a:bodyPr/>
                    <a:lstStyle/>
                    <a:p>
                      <a:pPr marL="0" indent="0" eaLnBrk="1">
                        <a:buNone/>
                      </a:pPr>
                      <a:r>
                        <a:rPr lang="en-US" sz="1800" dirty="0">
                          <a:solidFill>
                            <a:srgbClr val="14142B"/>
                          </a:solidFill>
                        </a:rPr>
                        <a:t>Kiran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기란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ㄴ </a:t>
                      </a:r>
                      <a:r>
                        <a:rPr lang="en-US" sz="1800" dirty="0">
                          <a:solidFill>
                            <a:srgbClr val="14142B"/>
                          </a:solidFill>
                        </a:rPr>
                        <a:t>(</a:t>
                      </a:r>
                      <a:r>
                        <a:rPr lang="ko-KR" altLang="en-US" sz="1800" dirty="0">
                          <a:solidFill>
                            <a:srgbClr val="14142B"/>
                          </a:solidFill>
                          <a:latin typeface="Malgun Gothic" pitchFamily="34" charset="0"/>
                          <a:ea typeface="Malgun Gothic" pitchFamily="34" charset="-122"/>
                          <a:cs typeface="Malgun Gothic" pitchFamily="34" charset="-120"/>
                        </a:rPr>
                        <a:t>받침</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기란이에요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저는  </a:t>
            </a:r>
            <a:r>
              <a:rPr lang="en-US" sz="3000" b="1" dirty="0">
                <a:solidFill>
                  <a:srgbClr val="003478"/>
                </a:solidFill>
              </a:rPr>
              <a:t>"En cuanto a mí"</a:t>
            </a:r>
            <a:r>
              <a:rPr lang="en-US" sz="1500" b="1" i="1" dirty="0">
                <a:solidFill>
                  <a:srgbClr val="8A8DA0"/>
                </a:solidFill>
              </a:rPr>
              <a:t>   As for me</a:t>
            </a:r>
            <a:endParaRPr lang="en-US" sz="3000" dirty="0"/>
          </a:p>
        </p:txBody>
      </p:sp>
      <p:sp>
        <p:nvSpPr>
          <p:cNvPr id="3" name="col_0"/>
          <p:cNvSpPr/>
          <p:nvPr/>
        </p:nvSpPr>
        <p:spPr>
          <a:xfrm>
            <a:off x="548640" y="1325880"/>
            <a:ext cx="3483864" cy="4846320"/>
          </a:xfrm>
          <a:prstGeom prst="roundRect">
            <a:avLst>
              <a:gd name="adj" fmla="val 3937"/>
            </a:avLst>
          </a:prstGeom>
          <a:solidFill>
            <a:srgbClr val="F1F0FE"/>
          </a:solidFill>
          <a:ln w="12700">
            <a:solidFill>
              <a:srgbClr val="D9D7F7"/>
            </a:solidFill>
            <a:prstDash val="solid"/>
          </a:ln>
        </p:spPr>
      </p:sp>
      <p:sp>
        <p:nvSpPr>
          <p:cNvPr id="4" name="Text 2"/>
          <p:cNvSpPr txBox="1"/>
          <p:nvPr/>
        </p:nvSpPr>
        <p:spPr>
          <a:xfrm>
            <a:off x="777240"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Con respeto / entre amigos</a:t>
            </a:r>
            <a:endParaRPr lang="en-US" sz="2000" dirty="0"/>
          </a:p>
        </p:txBody>
      </p:sp>
      <p:sp>
        <p:nvSpPr>
          <p:cNvPr id="5" name="Text 3"/>
          <p:cNvSpPr txBox="1"/>
          <p:nvPr/>
        </p:nvSpPr>
        <p:spPr>
          <a:xfrm>
            <a:off x="777240" y="2103120"/>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저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나</a:t>
            </a:r>
            <a:endParaRPr lang="en-US" sz="5400" dirty="0"/>
          </a:p>
        </p:txBody>
      </p:sp>
      <p:sp>
        <p:nvSpPr>
          <p:cNvPr id="6" name="lista"/>
          <p:cNvSpPr txBox="1"/>
          <p:nvPr/>
        </p:nvSpPr>
        <p:spPr>
          <a:xfrm>
            <a:off x="731520"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저</a:t>
            </a:r>
            <a:r>
              <a:rPr lang="en-US" sz="1800" dirty="0">
                <a:solidFill>
                  <a:srgbClr val="14142B"/>
                </a:solidFill>
              </a:rPr>
              <a:t>: con la profe y con gente nueva</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나</a:t>
            </a:r>
            <a:r>
              <a:rPr lang="en-US" sz="1800" dirty="0">
                <a:solidFill>
                  <a:srgbClr val="14142B"/>
                </a:solidFill>
              </a:rPr>
              <a:t>: entre amigos (semana 1)</a:t>
            </a:r>
            <a:endParaRPr lang="en-US" sz="1800" dirty="0"/>
          </a:p>
        </p:txBody>
      </p:sp>
      <p:sp>
        <p:nvSpPr>
          <p:cNvPr id="7" name="col_1"/>
          <p:cNvSpPr/>
          <p:nvPr/>
        </p:nvSpPr>
        <p:spPr>
          <a:xfrm>
            <a:off x="4352544" y="1325880"/>
            <a:ext cx="3483864" cy="4846320"/>
          </a:xfrm>
          <a:prstGeom prst="roundRect">
            <a:avLst>
              <a:gd name="adj" fmla="val 3937"/>
            </a:avLst>
          </a:prstGeom>
          <a:solidFill>
            <a:srgbClr val="FFFFFF"/>
          </a:solidFill>
          <a:ln w="12700">
            <a:solidFill>
              <a:srgbClr val="D9D7F7"/>
            </a:solidFill>
            <a:prstDash val="solid"/>
          </a:ln>
        </p:spPr>
      </p:sp>
      <p:sp>
        <p:nvSpPr>
          <p:cNvPr id="8" name="Text 6"/>
          <p:cNvSpPr txBox="1"/>
          <p:nvPr/>
        </p:nvSpPr>
        <p:spPr>
          <a:xfrm>
            <a:off x="4581144"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Se escribe pegado</a:t>
            </a:r>
            <a:endParaRPr lang="en-US" sz="2000" dirty="0"/>
          </a:p>
        </p:txBody>
      </p:sp>
      <p:sp>
        <p:nvSpPr>
          <p:cNvPr id="9" name="Text 7"/>
          <p:cNvSpPr txBox="1"/>
          <p:nvPr/>
        </p:nvSpPr>
        <p:spPr>
          <a:xfrm>
            <a:off x="4581144" y="2103120"/>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저는</a:t>
            </a:r>
            <a:endParaRPr lang="en-US" sz="5400" dirty="0"/>
          </a:p>
        </p:txBody>
      </p:sp>
      <p:sp>
        <p:nvSpPr>
          <p:cNvPr id="10" name="lista"/>
          <p:cNvSpPr txBox="1"/>
          <p:nvPr/>
        </p:nvSpPr>
        <p:spPr>
          <a:xfrm>
            <a:off x="4535424"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저는</a:t>
            </a:r>
            <a:r>
              <a:rPr lang="en-US" sz="1800" dirty="0">
                <a:solidFill>
                  <a:srgbClr val="14142B"/>
                </a:solidFill>
              </a:rPr>
              <a:t>: bien · </a:t>
            </a:r>
            <a:r>
              <a:rPr lang="ko-KR" altLang="en-US" sz="1800" dirty="0">
                <a:solidFill>
                  <a:srgbClr val="14142B"/>
                </a:solidFill>
                <a:latin typeface="Malgun Gothic" pitchFamily="34" charset="0"/>
                <a:ea typeface="Malgun Gothic" pitchFamily="34" charset="-122"/>
                <a:cs typeface="Malgun Gothic" pitchFamily="34" charset="-120"/>
              </a:rPr>
              <a:t>저 는</a:t>
            </a:r>
            <a:r>
              <a:rPr lang="en-US" sz="1800" dirty="0">
                <a:solidFill>
                  <a:srgbClr val="14142B"/>
                </a:solidFill>
              </a:rPr>
              <a:t>: no</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학생이에요</a:t>
            </a:r>
            <a:r>
              <a:rPr lang="en-US" sz="1800" dirty="0">
                <a:solidFill>
                  <a:srgbClr val="14142B"/>
                </a:solidFill>
              </a:rPr>
              <a:t>: bien · </a:t>
            </a:r>
            <a:r>
              <a:rPr lang="ko-KR" altLang="en-US" sz="1800" dirty="0">
                <a:solidFill>
                  <a:srgbClr val="14142B"/>
                </a:solidFill>
                <a:latin typeface="Malgun Gothic" pitchFamily="34" charset="0"/>
                <a:ea typeface="Malgun Gothic" pitchFamily="34" charset="-122"/>
                <a:cs typeface="Malgun Gothic" pitchFamily="34" charset="-120"/>
              </a:rPr>
              <a:t>학생 이에요</a:t>
            </a:r>
            <a:r>
              <a:rPr lang="en-US" sz="1800" dirty="0">
                <a:solidFill>
                  <a:srgbClr val="14142B"/>
                </a:solidFill>
              </a:rPr>
              <a:t>: no</a:t>
            </a:r>
            <a:endParaRPr lang="en-US" sz="1800" dirty="0"/>
          </a:p>
        </p:txBody>
      </p:sp>
      <p:sp>
        <p:nvSpPr>
          <p:cNvPr id="11" name="col_2"/>
          <p:cNvSpPr/>
          <p:nvPr/>
        </p:nvSpPr>
        <p:spPr>
          <a:xfrm>
            <a:off x="8156448" y="1325880"/>
            <a:ext cx="3483864" cy="4846320"/>
          </a:xfrm>
          <a:prstGeom prst="roundRect">
            <a:avLst>
              <a:gd name="adj" fmla="val 3937"/>
            </a:avLst>
          </a:prstGeom>
          <a:solidFill>
            <a:srgbClr val="F1F0FE"/>
          </a:solidFill>
          <a:ln w="12700">
            <a:solidFill>
              <a:srgbClr val="D9D7F7"/>
            </a:solidFill>
            <a:prstDash val="solid"/>
          </a:ln>
        </p:spPr>
      </p:sp>
      <p:sp>
        <p:nvSpPr>
          <p:cNvPr id="12" name="Text 10"/>
          <p:cNvSpPr txBox="1"/>
          <p:nvPr/>
        </p:nvSpPr>
        <p:spPr>
          <a:xfrm>
            <a:off x="8385048"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Se dice una vez</a:t>
            </a:r>
            <a:endParaRPr lang="en-US" sz="2000" dirty="0"/>
          </a:p>
        </p:txBody>
      </p:sp>
      <p:sp>
        <p:nvSpPr>
          <p:cNvPr id="13" name="Text 11"/>
          <p:cNvSpPr txBox="1"/>
          <p:nvPr/>
        </p:nvSpPr>
        <p:spPr>
          <a:xfrm>
            <a:off x="8385048" y="2103120"/>
            <a:ext cx="3026664" cy="914400"/>
          </a:xfrm>
          <a:prstGeom prst="rect">
            <a:avLst/>
          </a:prstGeom>
          <a:noFill/>
          <a:ln/>
        </p:spPr>
        <p:txBody>
          <a:bodyPr wrap="square" lIns="0" tIns="0" rIns="0" bIns="0" rtlCol="0" anchor="ctr">
            <a:normAutofit/>
          </a:bodyPr>
          <a:lstStyle/>
          <a:p>
            <a:pPr marL="0" indent="0" eaLnBrk="1">
              <a:buNone/>
            </a:pPr>
            <a:r>
              <a:rPr lang="ko-KR" altLang="en-US" sz="1800" b="1" dirty="0">
                <a:solidFill>
                  <a:srgbClr val="4236F6"/>
                </a:solidFill>
                <a:latin typeface="Malgun Gothic" pitchFamily="34" charset="0"/>
                <a:ea typeface="Malgun Gothic" pitchFamily="34" charset="-122"/>
                <a:cs typeface="Malgun Gothic" pitchFamily="34" charset="-120"/>
              </a:rPr>
              <a:t>저는 마리아예요</a:t>
            </a:r>
            <a:r>
              <a:rPr lang="en-US" sz="1800" b="1" dirty="0">
                <a:solidFill>
                  <a:srgbClr val="4236F6"/>
                </a:solidFill>
              </a:rPr>
              <a:t>. </a:t>
            </a:r>
            <a:r>
              <a:rPr lang="ko-KR" altLang="en-US" sz="1800" b="1" dirty="0">
                <a:solidFill>
                  <a:srgbClr val="4236F6"/>
                </a:solidFill>
                <a:latin typeface="Malgun Gothic" pitchFamily="34" charset="0"/>
                <a:ea typeface="Malgun Gothic" pitchFamily="34" charset="-122"/>
                <a:cs typeface="Malgun Gothic" pitchFamily="34" charset="-120"/>
              </a:rPr>
              <a:t>칠레 사람이에요</a:t>
            </a:r>
            <a:r>
              <a:rPr lang="en-US" sz="1800" b="1" dirty="0">
                <a:solidFill>
                  <a:srgbClr val="4236F6"/>
                </a:solidFill>
              </a:rPr>
              <a:t>. </a:t>
            </a:r>
            <a:r>
              <a:rPr lang="ko-KR" altLang="en-US" sz="1800" b="1" dirty="0">
                <a:solidFill>
                  <a:srgbClr val="4236F6"/>
                </a:solidFill>
                <a:latin typeface="Malgun Gothic" pitchFamily="34" charset="0"/>
                <a:ea typeface="Malgun Gothic" pitchFamily="34" charset="-122"/>
                <a:cs typeface="Malgun Gothic" pitchFamily="34" charset="-120"/>
              </a:rPr>
              <a:t>학생이에요</a:t>
            </a:r>
            <a:r>
              <a:rPr lang="en-US" sz="1800" b="1" dirty="0">
                <a:solidFill>
                  <a:srgbClr val="4236F6"/>
                </a:solidFill>
              </a:rPr>
              <a:t>.</a:t>
            </a:r>
            <a:endParaRPr lang="en-US" sz="1800" dirty="0"/>
          </a:p>
        </p:txBody>
      </p:sp>
      <p:sp>
        <p:nvSpPr>
          <p:cNvPr id="14" name="lista"/>
          <p:cNvSpPr txBox="1"/>
          <p:nvPr/>
        </p:nvSpPr>
        <p:spPr>
          <a:xfrm>
            <a:off x="8339328"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Soy María. Soy chilena. Soy estudiante.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Tu país: país + 사람</a:t>
            </a:r>
            <a:r>
              <a:rPr lang="ko-KR" altLang="en-US" sz="1500" b="1" i="1" dirty="0">
                <a:solidFill>
                  <a:srgbClr val="8A8DA0"/>
                </a:solidFill>
              </a:rPr>
              <a:t>   Your country: country + 사람</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Siempre 사람이에요</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칠레 사람이에요</a:t>
            </a:r>
            <a:endParaRPr lang="en-US" sz="1800" dirty="0"/>
          </a:p>
        </p:txBody>
      </p:sp>
      <p:sp>
        <p:nvSpPr>
          <p:cNvPr id="4" name="card_0"/>
          <p:cNvSpPr/>
          <p:nvPr/>
        </p:nvSpPr>
        <p:spPr>
          <a:xfrm>
            <a:off x="548640"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0257b11da8023876.png"/>
          <p:cNvPicPr>
            <a:picLocks noChangeAspect="1"/>
          </p:cNvPicPr>
          <p:nvPr/>
        </p:nvPicPr>
        <p:blipFill>
          <a:blip r:embed="rId19"/>
          <a:stretch>
            <a:fillRect/>
          </a:stretch>
        </p:blipFill>
        <p:spPr>
          <a:xfrm>
            <a:off x="1361084" y="1984248"/>
            <a:ext cx="976579" cy="976579"/>
          </a:xfrm>
          <a:prstGeom prst="rect">
            <a:avLst/>
          </a:prstGeom>
        </p:spPr>
      </p:pic>
      <p:sp>
        <p:nvSpPr>
          <p:cNvPr id="6" name="Text 3"/>
          <p:cNvSpPr txBox="1"/>
          <p:nvPr/>
        </p:nvSpPr>
        <p:spPr>
          <a:xfrm>
            <a:off x="548640" y="297911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칠레</a:t>
            </a:r>
            <a:endParaRPr lang="en-US" sz="2500" dirty="0"/>
          </a:p>
        </p:txBody>
      </p:sp>
      <p:sp>
        <p:nvSpPr>
          <p:cNvPr id="7" name="rom_13"/>
          <p:cNvSpPr txBox="1"/>
          <p:nvPr/>
        </p:nvSpPr>
        <p:spPr>
          <a:xfrm>
            <a:off x="548640" y="3386023"/>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chille</a:t>
            </a:r>
            <a:endParaRPr lang="en-US" sz="1600" dirty="0"/>
          </a:p>
        </p:txBody>
      </p:sp>
      <p:sp>
        <p:nvSpPr>
          <p:cNvPr id="8" name="Text 5"/>
          <p:cNvSpPr txBox="1"/>
          <p:nvPr/>
        </p:nvSpPr>
        <p:spPr>
          <a:xfrm>
            <a:off x="621792" y="366034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Chile</a:t>
            </a:r>
            <a:endParaRPr lang="en-US" sz="1600" dirty="0"/>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2747772" y="1947672"/>
            <a:ext cx="310896" cy="310896"/>
          </a:xfrm>
          <a:prstGeom prst="rect">
            <a:avLst/>
          </a:prstGeom>
        </p:spPr>
      </p:pic>
      <p:sp>
        <p:nvSpPr>
          <p:cNvPr id="10" name="card_1"/>
          <p:cNvSpPr/>
          <p:nvPr/>
        </p:nvSpPr>
        <p:spPr>
          <a:xfrm>
            <a:off x="3378708"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1" name="dibujo_1" descr="C:\Users\Chingu\AppData\Local\Temp\claude\C--Users-Chingu-Desktop-ACADEMIASEULWEB\d4111e1b-5523-44ea-97b2-b1a1d9545b9e\scratchpad\decks\cache\img_2280de5d4e6335c7.png"/>
          <p:cNvPicPr>
            <a:picLocks noChangeAspect="1"/>
          </p:cNvPicPr>
          <p:nvPr/>
        </p:nvPicPr>
        <p:blipFill>
          <a:blip r:embed="rId21"/>
          <a:stretch>
            <a:fillRect/>
          </a:stretch>
        </p:blipFill>
        <p:spPr>
          <a:xfrm>
            <a:off x="4191152" y="1984248"/>
            <a:ext cx="976579" cy="976579"/>
          </a:xfrm>
          <a:prstGeom prst="rect">
            <a:avLst/>
          </a:prstGeom>
        </p:spPr>
      </p:pic>
      <p:sp>
        <p:nvSpPr>
          <p:cNvPr id="12" name="Text 7"/>
          <p:cNvSpPr txBox="1"/>
          <p:nvPr/>
        </p:nvSpPr>
        <p:spPr>
          <a:xfrm>
            <a:off x="3378708" y="297911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멕시코</a:t>
            </a:r>
            <a:endParaRPr lang="en-US" sz="2500" dirty="0"/>
          </a:p>
        </p:txBody>
      </p:sp>
      <p:sp>
        <p:nvSpPr>
          <p:cNvPr id="13" name="rom_14"/>
          <p:cNvSpPr txBox="1"/>
          <p:nvPr/>
        </p:nvSpPr>
        <p:spPr>
          <a:xfrm>
            <a:off x="3378708" y="3386023"/>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meksiko</a:t>
            </a:r>
            <a:endParaRPr lang="en-US" sz="1600" dirty="0"/>
          </a:p>
        </p:txBody>
      </p:sp>
      <p:sp>
        <p:nvSpPr>
          <p:cNvPr id="14" name="Text 9"/>
          <p:cNvSpPr txBox="1"/>
          <p:nvPr/>
        </p:nvSpPr>
        <p:spPr>
          <a:xfrm>
            <a:off x="3451860" y="366034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México</a:t>
            </a:r>
            <a:endParaRPr lang="en-US" sz="1600" dirty="0"/>
          </a:p>
        </p:txBody>
      </p:sp>
      <p:pic>
        <p:nvPicPr>
          <p:cNvPr id="15"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20"/>
          <a:stretch>
            <a:fillRect/>
          </a:stretch>
        </p:blipFill>
        <p:spPr>
          <a:xfrm>
            <a:off x="5577840" y="1947672"/>
            <a:ext cx="310896" cy="310896"/>
          </a:xfrm>
          <a:prstGeom prst="rect">
            <a:avLst/>
          </a:prstGeom>
        </p:spPr>
      </p:pic>
      <p:sp>
        <p:nvSpPr>
          <p:cNvPr id="16" name="card_2"/>
          <p:cNvSpPr/>
          <p:nvPr/>
        </p:nvSpPr>
        <p:spPr>
          <a:xfrm>
            <a:off x="6208776"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7" name="dibujo_2" descr="C:\Users\Chingu\AppData\Local\Temp\claude\C--Users-Chingu-Desktop-ACADEMIASEULWEB\d4111e1b-5523-44ea-97b2-b1a1d9545b9e\scratchpad\decks\cache\img_954d2a74e8bb7d69.png"/>
          <p:cNvPicPr>
            <a:picLocks noChangeAspect="1"/>
          </p:cNvPicPr>
          <p:nvPr/>
        </p:nvPicPr>
        <p:blipFill>
          <a:blip r:embed="rId22"/>
          <a:stretch>
            <a:fillRect/>
          </a:stretch>
        </p:blipFill>
        <p:spPr>
          <a:xfrm>
            <a:off x="7021220" y="1984248"/>
            <a:ext cx="976579" cy="976579"/>
          </a:xfrm>
          <a:prstGeom prst="rect">
            <a:avLst/>
          </a:prstGeom>
        </p:spPr>
      </p:pic>
      <p:sp>
        <p:nvSpPr>
          <p:cNvPr id="18" name="Text 11"/>
          <p:cNvSpPr txBox="1"/>
          <p:nvPr/>
        </p:nvSpPr>
        <p:spPr>
          <a:xfrm>
            <a:off x="6208776" y="297911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콜롬비아</a:t>
            </a:r>
            <a:endParaRPr lang="en-US" sz="2500" dirty="0"/>
          </a:p>
        </p:txBody>
      </p:sp>
      <p:sp>
        <p:nvSpPr>
          <p:cNvPr id="19" name="rom_15"/>
          <p:cNvSpPr txBox="1"/>
          <p:nvPr/>
        </p:nvSpPr>
        <p:spPr>
          <a:xfrm>
            <a:off x="6208776" y="3386023"/>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kollombia</a:t>
            </a:r>
            <a:endParaRPr lang="en-US" sz="1600" dirty="0"/>
          </a:p>
        </p:txBody>
      </p:sp>
      <p:sp>
        <p:nvSpPr>
          <p:cNvPr id="20" name="Text 13"/>
          <p:cNvSpPr txBox="1"/>
          <p:nvPr/>
        </p:nvSpPr>
        <p:spPr>
          <a:xfrm>
            <a:off x="6281928" y="366034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Colombia</a:t>
            </a:r>
            <a:endParaRPr lang="en-US" sz="1600" dirty="0"/>
          </a:p>
        </p:txBody>
      </p:sp>
      <p:pic>
        <p:nvPicPr>
          <p:cNvPr id="21"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0"/>
          <a:stretch>
            <a:fillRect/>
          </a:stretch>
        </p:blipFill>
        <p:spPr>
          <a:xfrm>
            <a:off x="8407908" y="1947672"/>
            <a:ext cx="310896" cy="310896"/>
          </a:xfrm>
          <a:prstGeom prst="rect">
            <a:avLst/>
          </a:prstGeom>
        </p:spPr>
      </p:pic>
      <p:sp>
        <p:nvSpPr>
          <p:cNvPr id="22" name="card_3"/>
          <p:cNvSpPr/>
          <p:nvPr/>
        </p:nvSpPr>
        <p:spPr>
          <a:xfrm>
            <a:off x="9038844"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3" name="dibujo_3" descr="C:\Users\Chingu\AppData\Local\Temp\claude\C--Users-Chingu-Desktop-ACADEMIASEULWEB\d4111e1b-5523-44ea-97b2-b1a1d9545b9e\scratchpad\decks\cache\img_a587f50a4a667ec7.png"/>
          <p:cNvPicPr>
            <a:picLocks noChangeAspect="1"/>
          </p:cNvPicPr>
          <p:nvPr/>
        </p:nvPicPr>
        <p:blipFill>
          <a:blip r:embed="rId23"/>
          <a:stretch>
            <a:fillRect/>
          </a:stretch>
        </p:blipFill>
        <p:spPr>
          <a:xfrm>
            <a:off x="9851288" y="1984248"/>
            <a:ext cx="976579" cy="976579"/>
          </a:xfrm>
          <a:prstGeom prst="rect">
            <a:avLst/>
          </a:prstGeom>
        </p:spPr>
      </p:pic>
      <p:sp>
        <p:nvSpPr>
          <p:cNvPr id="24" name="Text 15"/>
          <p:cNvSpPr txBox="1"/>
          <p:nvPr/>
        </p:nvSpPr>
        <p:spPr>
          <a:xfrm>
            <a:off x="9038844" y="297911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한국</a:t>
            </a:r>
            <a:endParaRPr lang="en-US" sz="2500" dirty="0"/>
          </a:p>
        </p:txBody>
      </p:sp>
      <p:sp>
        <p:nvSpPr>
          <p:cNvPr id="25" name="rom_16"/>
          <p:cNvSpPr txBox="1"/>
          <p:nvPr/>
        </p:nvSpPr>
        <p:spPr>
          <a:xfrm>
            <a:off x="9038844" y="3386023"/>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hanguk</a:t>
            </a:r>
            <a:endParaRPr lang="en-US" sz="1600" dirty="0"/>
          </a:p>
        </p:txBody>
      </p:sp>
      <p:sp>
        <p:nvSpPr>
          <p:cNvPr id="26" name="Text 17"/>
          <p:cNvSpPr txBox="1"/>
          <p:nvPr/>
        </p:nvSpPr>
        <p:spPr>
          <a:xfrm>
            <a:off x="9111996" y="366034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Corea</a:t>
            </a:r>
            <a:endParaRPr lang="en-US" sz="1600" dirty="0"/>
          </a:p>
        </p:txBody>
      </p:sp>
      <p:pic>
        <p:nvPicPr>
          <p:cNvPr id="27"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0"/>
          <a:stretch>
            <a:fillRect/>
          </a:stretch>
        </p:blipFill>
        <p:spPr>
          <a:xfrm>
            <a:off x="11237976" y="1947672"/>
            <a:ext cx="310896" cy="310896"/>
          </a:xfrm>
          <a:prstGeom prst="rect">
            <a:avLst/>
          </a:prstGeom>
        </p:spPr>
      </p:pic>
      <p:sp>
        <p:nvSpPr>
          <p:cNvPr id="28" name="card_4"/>
          <p:cNvSpPr/>
          <p:nvPr/>
        </p:nvSpPr>
        <p:spPr>
          <a:xfrm>
            <a:off x="548640"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9" name="dibujo_4" descr="C:\Users\Chingu\AppData\Local\Temp\claude\C--Users-Chingu-Desktop-ACADEMIASEULWEB\d4111e1b-5523-44ea-97b2-b1a1d9545b9e\scratchpad\decks\cache\img_1519015e4ef4b038.png"/>
          <p:cNvPicPr>
            <a:picLocks noChangeAspect="1"/>
          </p:cNvPicPr>
          <p:nvPr/>
        </p:nvPicPr>
        <p:blipFill>
          <a:blip r:embed="rId24"/>
          <a:stretch>
            <a:fillRect/>
          </a:stretch>
        </p:blipFill>
        <p:spPr>
          <a:xfrm>
            <a:off x="1361084" y="4247388"/>
            <a:ext cx="976579" cy="976579"/>
          </a:xfrm>
          <a:prstGeom prst="rect">
            <a:avLst/>
          </a:prstGeom>
        </p:spPr>
      </p:pic>
      <p:sp>
        <p:nvSpPr>
          <p:cNvPr id="30" name="Text 19"/>
          <p:cNvSpPr txBox="1"/>
          <p:nvPr/>
        </p:nvSpPr>
        <p:spPr>
          <a:xfrm>
            <a:off x="548640" y="524225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아르헨티나</a:t>
            </a:r>
            <a:endParaRPr lang="en-US" sz="2500" dirty="0"/>
          </a:p>
        </p:txBody>
      </p:sp>
      <p:sp>
        <p:nvSpPr>
          <p:cNvPr id="31" name="rom_17"/>
          <p:cNvSpPr txBox="1"/>
          <p:nvPr/>
        </p:nvSpPr>
        <p:spPr>
          <a:xfrm>
            <a:off x="548640" y="5649163"/>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areuhentina</a:t>
            </a:r>
            <a:endParaRPr lang="en-US" sz="1600" dirty="0"/>
          </a:p>
        </p:txBody>
      </p:sp>
      <p:sp>
        <p:nvSpPr>
          <p:cNvPr id="32" name="Text 21"/>
          <p:cNvSpPr txBox="1"/>
          <p:nvPr/>
        </p:nvSpPr>
        <p:spPr>
          <a:xfrm>
            <a:off x="621792" y="592348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Argentina</a:t>
            </a:r>
            <a:endParaRPr lang="en-US" sz="1600" dirty="0"/>
          </a:p>
        </p:txBody>
      </p:sp>
      <p:pic>
        <p:nvPicPr>
          <p:cNvPr id="33"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0"/>
          <a:stretch>
            <a:fillRect/>
          </a:stretch>
        </p:blipFill>
        <p:spPr>
          <a:xfrm>
            <a:off x="2747772" y="4210812"/>
            <a:ext cx="310896" cy="310896"/>
          </a:xfrm>
          <a:prstGeom prst="rect">
            <a:avLst/>
          </a:prstGeom>
        </p:spPr>
      </p:pic>
      <p:sp>
        <p:nvSpPr>
          <p:cNvPr id="34" name="card_5"/>
          <p:cNvSpPr/>
          <p:nvPr/>
        </p:nvSpPr>
        <p:spPr>
          <a:xfrm>
            <a:off x="3378708"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5" name="dibujo_5" descr="C:\Users\Chingu\AppData\Local\Temp\claude\C--Users-Chingu-Desktop-ACADEMIASEULWEB\d4111e1b-5523-44ea-97b2-b1a1d9545b9e\scratchpad\decks\cache\img_18173ee7621eb7f3.png"/>
          <p:cNvPicPr>
            <a:picLocks noChangeAspect="1"/>
          </p:cNvPicPr>
          <p:nvPr/>
        </p:nvPicPr>
        <p:blipFill>
          <a:blip r:embed="rId25"/>
          <a:stretch>
            <a:fillRect/>
          </a:stretch>
        </p:blipFill>
        <p:spPr>
          <a:xfrm>
            <a:off x="4191152" y="4247388"/>
            <a:ext cx="976579" cy="976579"/>
          </a:xfrm>
          <a:prstGeom prst="rect">
            <a:avLst/>
          </a:prstGeom>
        </p:spPr>
      </p:pic>
      <p:sp>
        <p:nvSpPr>
          <p:cNvPr id="36" name="Text 23"/>
          <p:cNvSpPr txBox="1"/>
          <p:nvPr/>
        </p:nvSpPr>
        <p:spPr>
          <a:xfrm>
            <a:off x="3378708" y="524225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페루</a:t>
            </a:r>
            <a:endParaRPr lang="en-US" sz="2500" dirty="0"/>
          </a:p>
        </p:txBody>
      </p:sp>
      <p:sp>
        <p:nvSpPr>
          <p:cNvPr id="37" name="rom_18"/>
          <p:cNvSpPr txBox="1"/>
          <p:nvPr/>
        </p:nvSpPr>
        <p:spPr>
          <a:xfrm>
            <a:off x="3378708" y="5649163"/>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peru</a:t>
            </a:r>
            <a:endParaRPr lang="en-US" sz="1600" dirty="0"/>
          </a:p>
        </p:txBody>
      </p:sp>
      <p:sp>
        <p:nvSpPr>
          <p:cNvPr id="38" name="Text 25"/>
          <p:cNvSpPr txBox="1"/>
          <p:nvPr/>
        </p:nvSpPr>
        <p:spPr>
          <a:xfrm>
            <a:off x="3451860" y="592348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Perú</a:t>
            </a:r>
            <a:endParaRPr lang="en-US" sz="1600" dirty="0"/>
          </a:p>
        </p:txBody>
      </p:sp>
      <p:pic>
        <p:nvPicPr>
          <p:cNvPr id="39"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20"/>
          <a:stretch>
            <a:fillRect/>
          </a:stretch>
        </p:blipFill>
        <p:spPr>
          <a:xfrm>
            <a:off x="5577840" y="4210812"/>
            <a:ext cx="310896" cy="310896"/>
          </a:xfrm>
          <a:prstGeom prst="rect">
            <a:avLst/>
          </a:prstGeom>
        </p:spPr>
      </p:pic>
      <p:sp>
        <p:nvSpPr>
          <p:cNvPr id="40" name="card_6"/>
          <p:cNvSpPr/>
          <p:nvPr/>
        </p:nvSpPr>
        <p:spPr>
          <a:xfrm>
            <a:off x="6208776"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1" name="dibujo_6" descr="C:\Users\Chingu\AppData\Local\Temp\claude\C--Users-Chingu-Desktop-ACADEMIASEULWEB\d4111e1b-5523-44ea-97b2-b1a1d9545b9e\scratchpad\decks\cache\img_dfbe7daf521a89ae.png"/>
          <p:cNvPicPr>
            <a:picLocks noChangeAspect="1"/>
          </p:cNvPicPr>
          <p:nvPr/>
        </p:nvPicPr>
        <p:blipFill>
          <a:blip r:embed="rId26"/>
          <a:stretch>
            <a:fillRect/>
          </a:stretch>
        </p:blipFill>
        <p:spPr>
          <a:xfrm>
            <a:off x="7021220" y="4247388"/>
            <a:ext cx="976579" cy="976579"/>
          </a:xfrm>
          <a:prstGeom prst="rect">
            <a:avLst/>
          </a:prstGeom>
        </p:spPr>
      </p:pic>
      <p:sp>
        <p:nvSpPr>
          <p:cNvPr id="42" name="Text 27"/>
          <p:cNvSpPr txBox="1"/>
          <p:nvPr/>
        </p:nvSpPr>
        <p:spPr>
          <a:xfrm>
            <a:off x="6208776" y="524225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스페인</a:t>
            </a:r>
            <a:endParaRPr lang="en-US" sz="2500" dirty="0"/>
          </a:p>
        </p:txBody>
      </p:sp>
      <p:sp>
        <p:nvSpPr>
          <p:cNvPr id="43" name="rom_19"/>
          <p:cNvSpPr txBox="1"/>
          <p:nvPr/>
        </p:nvSpPr>
        <p:spPr>
          <a:xfrm>
            <a:off x="6208776" y="5649163"/>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seupein</a:t>
            </a:r>
            <a:endParaRPr lang="en-US" sz="1600" dirty="0"/>
          </a:p>
        </p:txBody>
      </p:sp>
      <p:sp>
        <p:nvSpPr>
          <p:cNvPr id="44" name="Text 29"/>
          <p:cNvSpPr txBox="1"/>
          <p:nvPr/>
        </p:nvSpPr>
        <p:spPr>
          <a:xfrm>
            <a:off x="6281928" y="592348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España</a:t>
            </a:r>
            <a:endParaRPr lang="en-US" sz="1600" dirty="0"/>
          </a:p>
        </p:txBody>
      </p:sp>
      <p:pic>
        <p:nvPicPr>
          <p:cNvPr id="45" name="Media 6">
            <a:hlinkClick r:id=""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20"/>
          <a:stretch>
            <a:fillRect/>
          </a:stretch>
        </p:blipFill>
        <p:spPr>
          <a:xfrm>
            <a:off x="8407908" y="4210812"/>
            <a:ext cx="310896" cy="310896"/>
          </a:xfrm>
          <a:prstGeom prst="rect">
            <a:avLst/>
          </a:prstGeom>
        </p:spPr>
      </p:pic>
      <p:sp>
        <p:nvSpPr>
          <p:cNvPr id="46" name="card_7"/>
          <p:cNvSpPr/>
          <p:nvPr/>
        </p:nvSpPr>
        <p:spPr>
          <a:xfrm>
            <a:off x="9038844"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7" name="dibujo_7" descr="C:\Users\Chingu\AppData\Local\Temp\claude\C--Users-Chingu-Desktop-ACADEMIASEULWEB\d4111e1b-5523-44ea-97b2-b1a1d9545b9e\scratchpad\decks\cache\img_e0a8241f7bf12ea2.png"/>
          <p:cNvPicPr>
            <a:picLocks noChangeAspect="1"/>
          </p:cNvPicPr>
          <p:nvPr/>
        </p:nvPicPr>
        <p:blipFill>
          <a:blip r:embed="rId27"/>
          <a:stretch>
            <a:fillRect/>
          </a:stretch>
        </p:blipFill>
        <p:spPr>
          <a:xfrm>
            <a:off x="9851288" y="4247388"/>
            <a:ext cx="976579" cy="976579"/>
          </a:xfrm>
          <a:prstGeom prst="rect">
            <a:avLst/>
          </a:prstGeom>
        </p:spPr>
      </p:pic>
      <p:sp>
        <p:nvSpPr>
          <p:cNvPr id="48" name="Text 31"/>
          <p:cNvSpPr txBox="1"/>
          <p:nvPr/>
        </p:nvSpPr>
        <p:spPr>
          <a:xfrm>
            <a:off x="9038844" y="524225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미국</a:t>
            </a:r>
            <a:endParaRPr lang="en-US" sz="2500" dirty="0"/>
          </a:p>
        </p:txBody>
      </p:sp>
      <p:sp>
        <p:nvSpPr>
          <p:cNvPr id="49" name="rom_20"/>
          <p:cNvSpPr txBox="1"/>
          <p:nvPr/>
        </p:nvSpPr>
        <p:spPr>
          <a:xfrm>
            <a:off x="9038844" y="5649163"/>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miguk</a:t>
            </a:r>
            <a:endParaRPr lang="en-US" sz="1600" dirty="0"/>
          </a:p>
        </p:txBody>
      </p:sp>
      <p:sp>
        <p:nvSpPr>
          <p:cNvPr id="50" name="Text 33"/>
          <p:cNvSpPr txBox="1"/>
          <p:nvPr/>
        </p:nvSpPr>
        <p:spPr>
          <a:xfrm>
            <a:off x="9111996" y="592348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Estados Unidos</a:t>
            </a:r>
            <a:endParaRPr lang="en-US" sz="1600" dirty="0"/>
          </a:p>
        </p:txBody>
      </p:sp>
      <p:pic>
        <p:nvPicPr>
          <p:cNvPr id="51" name="Media 7">
            <a:hlinkClick r:id="" action="ppaction://media"/>
          </p:cNvPr>
          <p:cNvPicPr>
            <a:picLocks noChangeAspect="1"/>
          </p:cNvPicPr>
          <p:nvPr>
            <a:audioFile r:link="rId16"/>
            <p:extLst>
              <p:ext uri="{DAA4B4D4-6D71-4841-9C94-3DE7FCFB9230}">
                <p14:media xmlns:p14="http://schemas.microsoft.com/office/powerpoint/2010/main" r:embed="rId15"/>
              </p:ext>
            </p:extLst>
          </p:nvPr>
        </p:nvPicPr>
        <p:blipFill>
          <a:blip r:embed="rId20"/>
          <a:stretch>
            <a:fillRect/>
          </a:stretch>
        </p:blipFill>
        <p:spPr>
          <a:xfrm>
            <a:off x="11237976" y="4210812"/>
            <a:ext cx="310896" cy="310896"/>
          </a:xfrm>
          <a:prstGeom prst="rect">
            <a:avLst/>
          </a:prstGeom>
        </p:spPr>
      </p:pic>
      <p:sp>
        <p:nvSpPr>
          <p:cNvPr id="5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9" grpId="0" animBg="1"/>
      <p:bldP spid="25" grpId="0" animBg="1"/>
      <p:bldP spid="31" grpId="0" animBg="1"/>
      <p:bldP spid="37" grpId="0" animBg="1"/>
      <p:bldP spid="43" grpId="0" animBg="1"/>
      <p:bldP spid="4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A qué te dedicas</a:t>
            </a:r>
            <a:r>
              <a:rPr lang="en-US" sz="1500" b="1" i="1" dirty="0">
                <a:solidFill>
                  <a:srgbClr val="8A8DA0"/>
                </a:solidFill>
              </a:rPr>
              <a:t>   What do you do?</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학생이에요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선생님이에요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회사원이에요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의사예요</a:t>
            </a:r>
            <a:endParaRPr lang="en-US" sz="1800" dirty="0"/>
          </a:p>
        </p:txBody>
      </p:sp>
      <p:sp>
        <p:nvSpPr>
          <p:cNvPr id="4" name="card_0"/>
          <p:cNvSpPr/>
          <p:nvPr/>
        </p:nvSpPr>
        <p:spPr>
          <a:xfrm>
            <a:off x="548640"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b7d60e8ac81a8ff2.png"/>
          <p:cNvPicPr>
            <a:picLocks noChangeAspect="1"/>
          </p:cNvPicPr>
          <p:nvPr/>
        </p:nvPicPr>
        <p:blipFill>
          <a:blip r:embed="rId11"/>
          <a:stretch>
            <a:fillRect/>
          </a:stretch>
        </p:blipFill>
        <p:spPr>
          <a:xfrm>
            <a:off x="1042919" y="1984248"/>
            <a:ext cx="1612910" cy="1612910"/>
          </a:xfrm>
          <a:prstGeom prst="rect">
            <a:avLst/>
          </a:prstGeom>
        </p:spPr>
      </p:pic>
      <p:sp>
        <p:nvSpPr>
          <p:cNvPr id="6" name="Text 3"/>
          <p:cNvSpPr txBox="1"/>
          <p:nvPr/>
        </p:nvSpPr>
        <p:spPr>
          <a:xfrm>
            <a:off x="548640" y="3615446"/>
            <a:ext cx="2601468" cy="859536"/>
          </a:xfrm>
          <a:prstGeom prst="rect">
            <a:avLst/>
          </a:prstGeom>
          <a:noFill/>
          <a:ln/>
        </p:spPr>
        <p:txBody>
          <a:bodyPr wrap="square" lIns="0" tIns="0" rIns="0" bIns="0" rtlCol="0" anchor="ctr">
            <a:normAutofit/>
          </a:bodyPr>
          <a:lstStyle/>
          <a:p>
            <a:pPr marL="0" indent="0" algn="ctr" eaLnBrk="1">
              <a:buNone/>
            </a:pPr>
            <a:r>
              <a:rPr lang="ko-KR" altLang="en-US" sz="5400" b="1" dirty="0">
                <a:solidFill>
                  <a:srgbClr val="4236F6"/>
                </a:solidFill>
                <a:latin typeface="Malgun Gothic" pitchFamily="34" charset="0"/>
                <a:ea typeface="Malgun Gothic" pitchFamily="34" charset="-122"/>
                <a:cs typeface="Malgun Gothic" pitchFamily="34" charset="-120"/>
              </a:rPr>
              <a:t>학생</a:t>
            </a:r>
            <a:endParaRPr lang="en-US" sz="5400" dirty="0"/>
          </a:p>
        </p:txBody>
      </p:sp>
      <p:sp>
        <p:nvSpPr>
          <p:cNvPr id="7" name="rom_21"/>
          <p:cNvSpPr txBox="1"/>
          <p:nvPr/>
        </p:nvSpPr>
        <p:spPr>
          <a:xfrm>
            <a:off x="548640" y="4474982"/>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haksaeng</a:t>
            </a:r>
            <a:endParaRPr lang="en-US" sz="1600" dirty="0"/>
          </a:p>
        </p:txBody>
      </p:sp>
      <p:sp>
        <p:nvSpPr>
          <p:cNvPr id="8" name="Text 5"/>
          <p:cNvSpPr txBox="1"/>
          <p:nvPr/>
        </p:nvSpPr>
        <p:spPr>
          <a:xfrm>
            <a:off x="621792" y="4749302"/>
            <a:ext cx="2455164" cy="134974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estudiante</a:t>
            </a:r>
            <a:endParaRPr lang="en-US" sz="1600" dirty="0"/>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747772" y="1947672"/>
            <a:ext cx="310896" cy="310896"/>
          </a:xfrm>
          <a:prstGeom prst="rect">
            <a:avLst/>
          </a:prstGeom>
        </p:spPr>
      </p:pic>
      <p:sp>
        <p:nvSpPr>
          <p:cNvPr id="10" name="card_1"/>
          <p:cNvSpPr/>
          <p:nvPr/>
        </p:nvSpPr>
        <p:spPr>
          <a:xfrm>
            <a:off x="3378708"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1" name="dibujo_1" descr="C:\Users\Chingu\AppData\Local\Temp\claude\C--Users-Chingu-Desktop-ACADEMIASEULWEB\d4111e1b-5523-44ea-97b2-b1a1d9545b9e\scratchpad\decks\cache\img_bbd1588d81724b77.png"/>
          <p:cNvPicPr>
            <a:picLocks noChangeAspect="1"/>
          </p:cNvPicPr>
          <p:nvPr/>
        </p:nvPicPr>
        <p:blipFill>
          <a:blip r:embed="rId13"/>
          <a:stretch>
            <a:fillRect/>
          </a:stretch>
        </p:blipFill>
        <p:spPr>
          <a:xfrm>
            <a:off x="3872987" y="1984248"/>
            <a:ext cx="1612910" cy="1612910"/>
          </a:xfrm>
          <a:prstGeom prst="rect">
            <a:avLst/>
          </a:prstGeom>
        </p:spPr>
      </p:pic>
      <p:sp>
        <p:nvSpPr>
          <p:cNvPr id="12" name="Text 7"/>
          <p:cNvSpPr txBox="1"/>
          <p:nvPr/>
        </p:nvSpPr>
        <p:spPr>
          <a:xfrm>
            <a:off x="3378708" y="3615446"/>
            <a:ext cx="2601468" cy="859536"/>
          </a:xfrm>
          <a:prstGeom prst="rect">
            <a:avLst/>
          </a:prstGeom>
          <a:noFill/>
          <a:ln/>
        </p:spPr>
        <p:txBody>
          <a:bodyPr wrap="square" lIns="0" tIns="0" rIns="0" bIns="0" rtlCol="0" anchor="ctr">
            <a:normAutofit/>
          </a:bodyPr>
          <a:lstStyle/>
          <a:p>
            <a:pPr marL="0" indent="0" algn="ctr" eaLnBrk="1">
              <a:buNone/>
            </a:pPr>
            <a:r>
              <a:rPr lang="ko-KR" altLang="en-US" sz="5400" b="1" dirty="0">
                <a:solidFill>
                  <a:srgbClr val="4236F6"/>
                </a:solidFill>
                <a:latin typeface="Malgun Gothic" pitchFamily="34" charset="0"/>
                <a:ea typeface="Malgun Gothic" pitchFamily="34" charset="-122"/>
                <a:cs typeface="Malgun Gothic" pitchFamily="34" charset="-120"/>
              </a:rPr>
              <a:t>선생님</a:t>
            </a:r>
            <a:endParaRPr lang="en-US" sz="5400" dirty="0"/>
          </a:p>
        </p:txBody>
      </p:sp>
      <p:sp>
        <p:nvSpPr>
          <p:cNvPr id="13" name="rom_22"/>
          <p:cNvSpPr txBox="1"/>
          <p:nvPr/>
        </p:nvSpPr>
        <p:spPr>
          <a:xfrm>
            <a:off x="3378708" y="4474982"/>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seonsaengnim</a:t>
            </a:r>
            <a:endParaRPr lang="en-US" sz="1600" dirty="0"/>
          </a:p>
        </p:txBody>
      </p:sp>
      <p:sp>
        <p:nvSpPr>
          <p:cNvPr id="14" name="Text 9"/>
          <p:cNvSpPr txBox="1"/>
          <p:nvPr/>
        </p:nvSpPr>
        <p:spPr>
          <a:xfrm>
            <a:off x="3451860" y="4749302"/>
            <a:ext cx="2455164" cy="134974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profesor, profesora</a:t>
            </a:r>
            <a:endParaRPr lang="en-US" sz="1600" dirty="0"/>
          </a:p>
        </p:txBody>
      </p:sp>
      <p:pic>
        <p:nvPicPr>
          <p:cNvPr id="15"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5577840" y="1947672"/>
            <a:ext cx="310896" cy="310896"/>
          </a:xfrm>
          <a:prstGeom prst="rect">
            <a:avLst/>
          </a:prstGeom>
        </p:spPr>
      </p:pic>
      <p:sp>
        <p:nvSpPr>
          <p:cNvPr id="16" name="card_2"/>
          <p:cNvSpPr/>
          <p:nvPr/>
        </p:nvSpPr>
        <p:spPr>
          <a:xfrm>
            <a:off x="6208776"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7" name="dibujo_2" descr="C:\Users\Chingu\AppData\Local\Temp\claude\C--Users-Chingu-Desktop-ACADEMIASEULWEB\d4111e1b-5523-44ea-97b2-b1a1d9545b9e\scratchpad\decks\cache\img_591416f0b743aa3d.png"/>
          <p:cNvPicPr>
            <a:picLocks noChangeAspect="1"/>
          </p:cNvPicPr>
          <p:nvPr/>
        </p:nvPicPr>
        <p:blipFill>
          <a:blip r:embed="rId14"/>
          <a:stretch>
            <a:fillRect/>
          </a:stretch>
        </p:blipFill>
        <p:spPr>
          <a:xfrm>
            <a:off x="6703055" y="1984248"/>
            <a:ext cx="1612910" cy="1612910"/>
          </a:xfrm>
          <a:prstGeom prst="rect">
            <a:avLst/>
          </a:prstGeom>
        </p:spPr>
      </p:pic>
      <p:sp>
        <p:nvSpPr>
          <p:cNvPr id="18" name="Text 11"/>
          <p:cNvSpPr txBox="1"/>
          <p:nvPr/>
        </p:nvSpPr>
        <p:spPr>
          <a:xfrm>
            <a:off x="6208776" y="3615446"/>
            <a:ext cx="2601468" cy="859536"/>
          </a:xfrm>
          <a:prstGeom prst="rect">
            <a:avLst/>
          </a:prstGeom>
          <a:noFill/>
          <a:ln/>
        </p:spPr>
        <p:txBody>
          <a:bodyPr wrap="square" lIns="0" tIns="0" rIns="0" bIns="0" rtlCol="0" anchor="ctr">
            <a:normAutofit/>
          </a:bodyPr>
          <a:lstStyle/>
          <a:p>
            <a:pPr marL="0" indent="0" algn="ctr" eaLnBrk="1">
              <a:buNone/>
            </a:pPr>
            <a:r>
              <a:rPr lang="ko-KR" altLang="en-US" sz="5400" b="1" dirty="0">
                <a:solidFill>
                  <a:srgbClr val="4236F6"/>
                </a:solidFill>
                <a:latin typeface="Malgun Gothic" pitchFamily="34" charset="0"/>
                <a:ea typeface="Malgun Gothic" pitchFamily="34" charset="-122"/>
                <a:cs typeface="Malgun Gothic" pitchFamily="34" charset="-120"/>
              </a:rPr>
              <a:t>회사원</a:t>
            </a:r>
            <a:endParaRPr lang="en-US" sz="5400" dirty="0"/>
          </a:p>
        </p:txBody>
      </p:sp>
      <p:sp>
        <p:nvSpPr>
          <p:cNvPr id="19" name="rom_23"/>
          <p:cNvSpPr txBox="1"/>
          <p:nvPr/>
        </p:nvSpPr>
        <p:spPr>
          <a:xfrm>
            <a:off x="6208776" y="4474982"/>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hoesawon</a:t>
            </a:r>
            <a:endParaRPr lang="en-US" sz="1600" dirty="0"/>
          </a:p>
        </p:txBody>
      </p:sp>
      <p:sp>
        <p:nvSpPr>
          <p:cNvPr id="20" name="Text 13"/>
          <p:cNvSpPr txBox="1"/>
          <p:nvPr/>
        </p:nvSpPr>
        <p:spPr>
          <a:xfrm>
            <a:off x="6281928" y="4749302"/>
            <a:ext cx="2455164" cy="134974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empleado, empleada de oficina</a:t>
            </a:r>
            <a:endParaRPr lang="en-US" sz="1600" dirty="0"/>
          </a:p>
        </p:txBody>
      </p:sp>
      <p:pic>
        <p:nvPicPr>
          <p:cNvPr id="21"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2"/>
          <a:stretch>
            <a:fillRect/>
          </a:stretch>
        </p:blipFill>
        <p:spPr>
          <a:xfrm>
            <a:off x="8407908" y="1947672"/>
            <a:ext cx="310896" cy="310896"/>
          </a:xfrm>
          <a:prstGeom prst="rect">
            <a:avLst/>
          </a:prstGeom>
        </p:spPr>
      </p:pic>
      <p:sp>
        <p:nvSpPr>
          <p:cNvPr id="22" name="card_3"/>
          <p:cNvSpPr/>
          <p:nvPr/>
        </p:nvSpPr>
        <p:spPr>
          <a:xfrm>
            <a:off x="9038844"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3" name="dibujo_3" descr="C:\Users\Chingu\AppData\Local\Temp\claude\C--Users-Chingu-Desktop-ACADEMIASEULWEB\d4111e1b-5523-44ea-97b2-b1a1d9545b9e\scratchpad\decks\cache\img_7b61a9ac9f11068c.png"/>
          <p:cNvPicPr>
            <a:picLocks noChangeAspect="1"/>
          </p:cNvPicPr>
          <p:nvPr/>
        </p:nvPicPr>
        <p:blipFill>
          <a:blip r:embed="rId15"/>
          <a:stretch>
            <a:fillRect/>
          </a:stretch>
        </p:blipFill>
        <p:spPr>
          <a:xfrm>
            <a:off x="9533123" y="1984248"/>
            <a:ext cx="1612910" cy="1612910"/>
          </a:xfrm>
          <a:prstGeom prst="rect">
            <a:avLst/>
          </a:prstGeom>
        </p:spPr>
      </p:pic>
      <p:sp>
        <p:nvSpPr>
          <p:cNvPr id="24" name="Text 15"/>
          <p:cNvSpPr txBox="1"/>
          <p:nvPr/>
        </p:nvSpPr>
        <p:spPr>
          <a:xfrm>
            <a:off x="9038844" y="3615446"/>
            <a:ext cx="2601468" cy="859536"/>
          </a:xfrm>
          <a:prstGeom prst="rect">
            <a:avLst/>
          </a:prstGeom>
          <a:noFill/>
          <a:ln/>
        </p:spPr>
        <p:txBody>
          <a:bodyPr wrap="square" lIns="0" tIns="0" rIns="0" bIns="0" rtlCol="0" anchor="ctr">
            <a:normAutofit/>
          </a:bodyPr>
          <a:lstStyle/>
          <a:p>
            <a:pPr marL="0" indent="0" algn="ctr" eaLnBrk="1">
              <a:buNone/>
            </a:pPr>
            <a:r>
              <a:rPr lang="ko-KR" altLang="en-US" sz="5400" b="1" dirty="0">
                <a:solidFill>
                  <a:srgbClr val="4236F6"/>
                </a:solidFill>
                <a:latin typeface="Malgun Gothic" pitchFamily="34" charset="0"/>
                <a:ea typeface="Malgun Gothic" pitchFamily="34" charset="-122"/>
                <a:cs typeface="Malgun Gothic" pitchFamily="34" charset="-120"/>
              </a:rPr>
              <a:t>의사</a:t>
            </a:r>
            <a:endParaRPr lang="en-US" sz="5400" dirty="0"/>
          </a:p>
        </p:txBody>
      </p:sp>
      <p:sp>
        <p:nvSpPr>
          <p:cNvPr id="25" name="rom_24"/>
          <p:cNvSpPr txBox="1"/>
          <p:nvPr/>
        </p:nvSpPr>
        <p:spPr>
          <a:xfrm>
            <a:off x="9038844" y="4474982"/>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uisa</a:t>
            </a:r>
            <a:endParaRPr lang="en-US" sz="1600" dirty="0"/>
          </a:p>
        </p:txBody>
      </p:sp>
      <p:sp>
        <p:nvSpPr>
          <p:cNvPr id="26" name="Text 17"/>
          <p:cNvSpPr txBox="1"/>
          <p:nvPr/>
        </p:nvSpPr>
        <p:spPr>
          <a:xfrm>
            <a:off x="9111996" y="4749302"/>
            <a:ext cx="2455164" cy="134974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médico, médica</a:t>
            </a:r>
            <a:endParaRPr lang="en-US" sz="1600" dirty="0"/>
          </a:p>
        </p:txBody>
      </p:sp>
      <p:pic>
        <p:nvPicPr>
          <p:cNvPr id="27"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2"/>
          <a:stretch>
            <a:fillRect/>
          </a:stretch>
        </p:blipFill>
        <p:spPr>
          <a:xfrm>
            <a:off x="11237976" y="1947672"/>
            <a:ext cx="310896" cy="310896"/>
          </a:xfrm>
          <a:prstGeom prst="rect">
            <a:avLst/>
          </a:prstGeom>
        </p:spPr>
      </p:pic>
      <p:sp>
        <p:nvSpPr>
          <p:cNvPr id="2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9" grpId="0" animBg="1"/>
      <p:bldP spid="2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Dos preguntas y una respuesta</a:t>
            </a:r>
            <a:r>
              <a:rPr lang="en-US" sz="1500" b="1" i="1" dirty="0">
                <a:solidFill>
                  <a:srgbClr val="8A8DA0"/>
                </a:solidFill>
              </a:rPr>
              <a:t>   Two questions and one answer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Se aprenden enteras, como una canción</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ec9db4eba684.png"/>
          <p:cNvPicPr>
            <a:picLocks noChangeAspect="1"/>
          </p:cNvPicPr>
          <p:nvPr/>
        </p:nvPicPr>
        <p:blipFill>
          <a:blip r:embed="rId11"/>
          <a:stretch>
            <a:fillRect/>
          </a:stretch>
        </p:blipFill>
        <p:spPr>
          <a:xfrm>
            <a:off x="1832762" y="1984248"/>
            <a:ext cx="976579" cy="976579"/>
          </a:xfrm>
          <a:prstGeom prst="rect">
            <a:avLst/>
          </a:prstGeom>
        </p:spPr>
      </p:pic>
      <p:sp>
        <p:nvSpPr>
          <p:cNvPr id="6" name="Text 3"/>
          <p:cNvSpPr txBox="1"/>
          <p:nvPr/>
        </p:nvSpPr>
        <p:spPr>
          <a:xfrm>
            <a:off x="548640" y="2979115"/>
            <a:ext cx="3544824" cy="406908"/>
          </a:xfrm>
          <a:prstGeom prst="rect">
            <a:avLst/>
          </a:prstGeom>
          <a:noFill/>
          <a:ln/>
        </p:spPr>
        <p:txBody>
          <a:bodyPr wrap="square" lIns="0" tIns="0" rIns="0" bIns="0" rtlCol="0" anchor="ctr">
            <a:normAutofit/>
          </a:bodyPr>
          <a:lstStyle/>
          <a:p>
            <a:pPr marL="0" indent="0" algn="ctr" eaLnBrk="1">
              <a:buNone/>
            </a:pPr>
            <a:r>
              <a:rPr lang="ko-KR" altLang="en-US" sz="2300" b="1" dirty="0">
                <a:solidFill>
                  <a:srgbClr val="4236F6"/>
                </a:solidFill>
                <a:latin typeface="Malgun Gothic" pitchFamily="34" charset="0"/>
                <a:ea typeface="Malgun Gothic" pitchFamily="34" charset="-122"/>
                <a:cs typeface="Malgun Gothic" pitchFamily="34" charset="-120"/>
              </a:rPr>
              <a:t>이름</a:t>
            </a:r>
            <a:endParaRPr lang="en-US" sz="2300" dirty="0"/>
          </a:p>
        </p:txBody>
      </p:sp>
      <p:sp>
        <p:nvSpPr>
          <p:cNvPr id="7" name="rom_25"/>
          <p:cNvSpPr txBox="1"/>
          <p:nvPr/>
        </p:nvSpPr>
        <p:spPr>
          <a:xfrm>
            <a:off x="548640" y="338602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ireum</a:t>
            </a:r>
            <a:endParaRPr lang="en-US" sz="1600" dirty="0"/>
          </a:p>
        </p:txBody>
      </p:sp>
      <p:sp>
        <p:nvSpPr>
          <p:cNvPr id="8" name="Text 5"/>
          <p:cNvSpPr txBox="1"/>
          <p:nvPr/>
        </p:nvSpPr>
        <p:spPr>
          <a:xfrm>
            <a:off x="621792"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nombre</a:t>
            </a:r>
            <a:endParaRPr lang="en-US" sz="1600" dirty="0"/>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3691128" y="1947672"/>
            <a:ext cx="310896" cy="310896"/>
          </a:xfrm>
          <a:prstGeom prst="rect">
            <a:avLst/>
          </a:prstGeom>
        </p:spPr>
      </p:pic>
      <p:sp>
        <p:nvSpPr>
          <p:cNvPr id="10"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1" name="Text 7"/>
          <p:cNvSpPr txBox="1"/>
          <p:nvPr/>
        </p:nvSpPr>
        <p:spPr>
          <a:xfrm>
            <a:off x="4322064" y="2228393"/>
            <a:ext cx="3544824" cy="691744"/>
          </a:xfrm>
          <a:prstGeom prst="rect">
            <a:avLst/>
          </a:prstGeom>
          <a:noFill/>
          <a:ln/>
        </p:spPr>
        <p:txBody>
          <a:bodyPr wrap="square" lIns="0" tIns="0" rIns="0" bIns="0" rtlCol="0" anchor="ctr">
            <a:normAutofit/>
          </a:bodyPr>
          <a:lstStyle/>
          <a:p>
            <a:pPr marL="0" indent="0" algn="ctr" eaLnBrk="1">
              <a:buNone/>
            </a:pPr>
            <a:r>
              <a:rPr lang="ko-KR" altLang="en-US" sz="2300" b="1" dirty="0">
                <a:solidFill>
                  <a:srgbClr val="4236F6"/>
                </a:solidFill>
                <a:latin typeface="Malgun Gothic" pitchFamily="34" charset="0"/>
                <a:ea typeface="Malgun Gothic" pitchFamily="34" charset="-122"/>
                <a:cs typeface="Malgun Gothic" pitchFamily="34" charset="-120"/>
              </a:rPr>
              <a:t>이름이 뭐예요</a:t>
            </a:r>
            <a:r>
              <a:rPr lang="en-US" sz="2300" b="1" dirty="0">
                <a:solidFill>
                  <a:srgbClr val="4236F6"/>
                </a:solidFill>
              </a:rPr>
              <a:t>?</a:t>
            </a:r>
            <a:endParaRPr lang="en-US" sz="2300" dirty="0"/>
          </a:p>
        </p:txBody>
      </p:sp>
      <p:sp>
        <p:nvSpPr>
          <p:cNvPr id="12" name="Text 8"/>
          <p:cNvSpPr txBox="1"/>
          <p:nvPr/>
        </p:nvSpPr>
        <p:spPr>
          <a:xfrm>
            <a:off x="4395216" y="2920136"/>
            <a:ext cx="3398520" cy="915772"/>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¿Cómo te llamas? (literal: "el nombre, ¿qué es?")</a:t>
            </a:r>
            <a:endParaRPr lang="en-US" sz="1600" dirty="0"/>
          </a:p>
        </p:txBody>
      </p:sp>
      <p:pic>
        <p:nvPicPr>
          <p:cNvPr id="13"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7464552" y="1947672"/>
            <a:ext cx="310896" cy="310896"/>
          </a:xfrm>
          <a:prstGeom prst="rect">
            <a:avLst/>
          </a:prstGeom>
        </p:spPr>
      </p:pic>
      <p:sp>
        <p:nvSpPr>
          <p:cNvPr id="14"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5" name="dibujo_2" descr="C:\Users\Chingu\AppData\Local\Temp\claude\C--Users-Chingu-Desktop-ACADEMIASEULWEB\d4111e1b-5523-44ea-97b2-b1a1d9545b9e\scratchpad\decks\cache\eb8298eb9dbc.png"/>
          <p:cNvPicPr>
            <a:picLocks noChangeAspect="1"/>
          </p:cNvPicPr>
          <p:nvPr/>
        </p:nvPicPr>
        <p:blipFill>
          <a:blip r:embed="rId13"/>
          <a:stretch>
            <a:fillRect/>
          </a:stretch>
        </p:blipFill>
        <p:spPr>
          <a:xfrm>
            <a:off x="9379610" y="1984248"/>
            <a:ext cx="976579" cy="976579"/>
          </a:xfrm>
          <a:prstGeom prst="rect">
            <a:avLst/>
          </a:prstGeom>
        </p:spPr>
      </p:pic>
      <p:sp>
        <p:nvSpPr>
          <p:cNvPr id="16" name="Text 10"/>
          <p:cNvSpPr txBox="1"/>
          <p:nvPr/>
        </p:nvSpPr>
        <p:spPr>
          <a:xfrm>
            <a:off x="8095488" y="2979115"/>
            <a:ext cx="3544824" cy="406908"/>
          </a:xfrm>
          <a:prstGeom prst="rect">
            <a:avLst/>
          </a:prstGeom>
          <a:noFill/>
          <a:ln/>
        </p:spPr>
        <p:txBody>
          <a:bodyPr wrap="square" lIns="0" tIns="0" rIns="0" bIns="0" rtlCol="0" anchor="ctr">
            <a:normAutofit/>
          </a:bodyPr>
          <a:lstStyle/>
          <a:p>
            <a:pPr marL="0" indent="0" algn="ctr" eaLnBrk="1">
              <a:buNone/>
            </a:pPr>
            <a:r>
              <a:rPr lang="ko-KR" altLang="en-US" sz="2300" b="1" dirty="0">
                <a:solidFill>
                  <a:srgbClr val="4236F6"/>
                </a:solidFill>
                <a:latin typeface="Malgun Gothic" pitchFamily="34" charset="0"/>
                <a:ea typeface="Malgun Gothic" pitchFamily="34" charset="-122"/>
                <a:cs typeface="Malgun Gothic" pitchFamily="34" charset="-120"/>
              </a:rPr>
              <a:t>나라</a:t>
            </a:r>
            <a:endParaRPr lang="en-US" sz="2300" dirty="0"/>
          </a:p>
        </p:txBody>
      </p:sp>
      <p:sp>
        <p:nvSpPr>
          <p:cNvPr id="17" name="rom_26"/>
          <p:cNvSpPr txBox="1"/>
          <p:nvPr/>
        </p:nvSpPr>
        <p:spPr>
          <a:xfrm>
            <a:off x="8095488" y="338602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nara</a:t>
            </a:r>
            <a:endParaRPr lang="en-US" sz="1600" dirty="0"/>
          </a:p>
        </p:txBody>
      </p:sp>
      <p:sp>
        <p:nvSpPr>
          <p:cNvPr id="18" name="Text 12"/>
          <p:cNvSpPr txBox="1"/>
          <p:nvPr/>
        </p:nvSpPr>
        <p:spPr>
          <a:xfrm>
            <a:off x="8168640"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país</a:t>
            </a:r>
            <a:endParaRPr lang="en-US" sz="1600" dirty="0"/>
          </a:p>
        </p:txBody>
      </p:sp>
      <p:pic>
        <p:nvPicPr>
          <p:cNvPr id="19"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2"/>
          <a:stretch>
            <a:fillRect/>
          </a:stretch>
        </p:blipFill>
        <p:spPr>
          <a:xfrm>
            <a:off x="11237976" y="1947672"/>
            <a:ext cx="310896" cy="310896"/>
          </a:xfrm>
          <a:prstGeom prst="rect">
            <a:avLst/>
          </a:prstGeom>
        </p:spPr>
      </p:pic>
      <p:sp>
        <p:nvSpPr>
          <p:cNvPr id="20" name="card_3"/>
          <p:cNvSpPr/>
          <p:nvPr/>
        </p:nvSpPr>
        <p:spPr>
          <a:xfrm>
            <a:off x="2435352"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21" name="Text 14"/>
          <p:cNvSpPr txBox="1"/>
          <p:nvPr/>
        </p:nvSpPr>
        <p:spPr>
          <a:xfrm>
            <a:off x="2435352" y="4491533"/>
            <a:ext cx="3544824" cy="691744"/>
          </a:xfrm>
          <a:prstGeom prst="rect">
            <a:avLst/>
          </a:prstGeom>
          <a:noFill/>
          <a:ln/>
        </p:spPr>
        <p:txBody>
          <a:bodyPr wrap="square" lIns="0" tIns="0" rIns="0" bIns="0" rtlCol="0" anchor="ctr">
            <a:normAutofit/>
          </a:bodyPr>
          <a:lstStyle/>
          <a:p>
            <a:pPr marL="0" indent="0" algn="ctr" eaLnBrk="1">
              <a:buNone/>
            </a:pPr>
            <a:r>
              <a:rPr lang="ko-KR" altLang="en-US" sz="2300" b="1" dirty="0">
                <a:solidFill>
                  <a:srgbClr val="4236F6"/>
                </a:solidFill>
                <a:latin typeface="Malgun Gothic" pitchFamily="34" charset="0"/>
                <a:ea typeface="Malgun Gothic" pitchFamily="34" charset="-122"/>
                <a:cs typeface="Malgun Gothic" pitchFamily="34" charset="-120"/>
              </a:rPr>
              <a:t>어느 나라 사람이에요</a:t>
            </a:r>
            <a:r>
              <a:rPr lang="en-US" sz="2300" b="1" dirty="0">
                <a:solidFill>
                  <a:srgbClr val="4236F6"/>
                </a:solidFill>
              </a:rPr>
              <a:t>?</a:t>
            </a:r>
            <a:endParaRPr lang="en-US" sz="2300" dirty="0"/>
          </a:p>
        </p:txBody>
      </p:sp>
      <p:sp>
        <p:nvSpPr>
          <p:cNvPr id="22" name="Text 15"/>
          <p:cNvSpPr txBox="1"/>
          <p:nvPr/>
        </p:nvSpPr>
        <p:spPr>
          <a:xfrm>
            <a:off x="2508504" y="5183276"/>
            <a:ext cx="3398520" cy="915772"/>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¿De qué país eres?</a:t>
            </a:r>
            <a:endParaRPr lang="en-US" sz="1600" dirty="0"/>
          </a:p>
        </p:txBody>
      </p:sp>
      <p:sp>
        <p:nvSpPr>
          <p:cNvPr id="23" name="card_4"/>
          <p:cNvSpPr/>
          <p:nvPr/>
        </p:nvSpPr>
        <p:spPr>
          <a:xfrm>
            <a:off x="6208776"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4" name="dibujo_4" descr="C:\Users\Chingu\AppData\Local\Temp\claude\C--Users-Chingu-Desktop-ACADEMIASEULWEB\d4111e1b-5523-44ea-97b2-b1a1d9545b9e\scratchpad\decks\cache\ebb098eab091ec8ab5eb8b88eb8ba4.png"/>
          <p:cNvPicPr>
            <a:picLocks noChangeAspect="1"/>
          </p:cNvPicPr>
          <p:nvPr/>
        </p:nvPicPr>
        <p:blipFill>
          <a:blip r:embed="rId14"/>
          <a:stretch>
            <a:fillRect/>
          </a:stretch>
        </p:blipFill>
        <p:spPr>
          <a:xfrm>
            <a:off x="7492898" y="4247388"/>
            <a:ext cx="976579" cy="976579"/>
          </a:xfrm>
          <a:prstGeom prst="rect">
            <a:avLst/>
          </a:prstGeom>
        </p:spPr>
      </p:pic>
      <p:sp>
        <p:nvSpPr>
          <p:cNvPr id="25" name="Text 17"/>
          <p:cNvSpPr txBox="1"/>
          <p:nvPr/>
        </p:nvSpPr>
        <p:spPr>
          <a:xfrm>
            <a:off x="6208776" y="5242255"/>
            <a:ext cx="3544824" cy="406908"/>
          </a:xfrm>
          <a:prstGeom prst="rect">
            <a:avLst/>
          </a:prstGeom>
          <a:noFill/>
          <a:ln/>
        </p:spPr>
        <p:txBody>
          <a:bodyPr wrap="square" lIns="0" tIns="0" rIns="0" bIns="0" rtlCol="0" anchor="ctr">
            <a:normAutofit/>
          </a:bodyPr>
          <a:lstStyle/>
          <a:p>
            <a:pPr marL="0" indent="0" algn="ctr" eaLnBrk="1">
              <a:buNone/>
            </a:pPr>
            <a:r>
              <a:rPr lang="ko-KR" altLang="en-US" sz="2300" b="1" dirty="0">
                <a:solidFill>
                  <a:srgbClr val="4236F6"/>
                </a:solidFill>
                <a:latin typeface="Malgun Gothic" pitchFamily="34" charset="0"/>
                <a:ea typeface="Malgun Gothic" pitchFamily="34" charset="-122"/>
                <a:cs typeface="Malgun Gothic" pitchFamily="34" charset="-120"/>
              </a:rPr>
              <a:t>반갑습니다</a:t>
            </a:r>
            <a:endParaRPr lang="en-US" sz="2300" dirty="0"/>
          </a:p>
        </p:txBody>
      </p:sp>
      <p:sp>
        <p:nvSpPr>
          <p:cNvPr id="26" name="rom_27"/>
          <p:cNvSpPr txBox="1"/>
          <p:nvPr/>
        </p:nvSpPr>
        <p:spPr>
          <a:xfrm>
            <a:off x="6208776" y="564916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bangapseumnida</a:t>
            </a:r>
            <a:endParaRPr lang="en-US" sz="1600" dirty="0"/>
          </a:p>
        </p:txBody>
      </p:sp>
      <p:sp>
        <p:nvSpPr>
          <p:cNvPr id="27" name="Text 19"/>
          <p:cNvSpPr txBox="1"/>
          <p:nvPr/>
        </p:nvSpPr>
        <p:spPr>
          <a:xfrm>
            <a:off x="6281928" y="592348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encantado, encantada</a:t>
            </a:r>
            <a:endParaRPr lang="en-US" sz="1600" dirty="0"/>
          </a:p>
        </p:txBody>
      </p:sp>
      <p:pic>
        <p:nvPicPr>
          <p:cNvPr id="28"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2"/>
          <a:stretch>
            <a:fillRect/>
          </a:stretch>
        </p:blipFill>
        <p:spPr>
          <a:xfrm>
            <a:off x="9351264" y="4210812"/>
            <a:ext cx="310896" cy="310896"/>
          </a:xfrm>
          <a:prstGeom prst="rect">
            <a:avLst/>
          </a:prstGeom>
        </p:spPr>
      </p:pic>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2600" b="1" dirty="0">
                <a:solidFill>
                  <a:srgbClr val="003478"/>
                </a:solidFill>
              </a:rPr>
              <a:t>Diálogo modelo · primer día de clase (1)</a:t>
            </a:r>
            <a:r>
              <a:rPr lang="en-US" sz="1500" b="1" i="1" dirty="0">
                <a:solidFill>
                  <a:srgbClr val="8A8DA0"/>
                </a:solidFill>
              </a:rPr>
              <a:t>   Model dialogue (1)</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Escena 1 · en Zoom</a:t>
            </a:r>
            <a:endParaRPr lang="en-US" sz="1800" dirty="0"/>
          </a:p>
        </p:txBody>
      </p:sp>
      <p:graphicFrame>
        <p:nvGraphicFramePr>
          <p:cNvPr id="22" name="tabla"/>
          <p:cNvGraphicFramePr>
            <a:graphicFrameLocks noGrp="1"/>
          </p:cNvGraphicFramePr>
          <p:nvPr>
            <p:extLst>
              <p:ext uri="{D42A27DB-BD31-4B8C-83A1-F6EECF244321}">
                <p14:modId xmlns:p14="http://schemas.microsoft.com/office/powerpoint/2010/main" val="4109867992"/>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Quién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Coreano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Español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기란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안녕하세요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¡Hola!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발렌티나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선생님</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안녕하세요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¡Hola, profe!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기란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저는 기란이에요</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이름이 뭐예요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Soy Kiran. ¿Cómo te llamas?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발렌티나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저는 발렌티나예요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Soy Valentina.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기란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반갑습니다</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어느 나라 사람이에요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Encantada. ¿De qué país eres?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발렌티나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칠레 사람이에요</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학생이에요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Soy chilena. Soy estudiante.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2600" b="1" dirty="0">
                <a:solidFill>
                  <a:srgbClr val="003478"/>
                </a:solidFill>
              </a:rPr>
              <a:t>Diálogo modelo · primer día de clase (2)</a:t>
            </a:r>
            <a:r>
              <a:rPr lang="en-US" sz="1500" b="1" i="1" dirty="0">
                <a:solidFill>
                  <a:srgbClr val="8A8DA0"/>
                </a:solidFill>
              </a:rPr>
              <a:t>   Model dialogue (2)</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Escena 1 · en Zoom</a:t>
            </a:r>
            <a:endParaRPr lang="en-US" sz="1800" dirty="0"/>
          </a:p>
        </p:txBody>
      </p:sp>
      <p:graphicFrame>
        <p:nvGraphicFramePr>
          <p:cNvPr id="23" name="tabla"/>
          <p:cNvGraphicFramePr>
            <a:graphicFrameLocks noGrp="1"/>
          </p:cNvGraphicFramePr>
          <p:nvPr>
            <p:extLst>
              <p:ext uri="{D42A27DB-BD31-4B8C-83A1-F6EECF244321}">
                <p14:modId xmlns:p14="http://schemas.microsoft.com/office/powerpoint/2010/main" val="2463248611"/>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600" b="1" dirty="0">
                          <a:solidFill>
                            <a:srgbClr val="FFFFFF"/>
                          </a:solidFill>
                        </a:rPr>
                        <a:t>Quién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Coreano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Español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기란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(a Diego) 이름이 뭐예요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¿Cómo te llamas?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디에고</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저는 디에고예요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멕시코 사람이에요</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회사원이에요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Soy Diego. Soy mexicano. Soy empleado de oficina.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기란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반갑습니다</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¡Encantada!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(al final de la clase)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발렌티나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감사합니다</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선생님</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안녕히 계세요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Gracias, profe. ¡Chao! (ella se va; la profe se queda)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기란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안녕히 가세요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¡Chao! (a quien se va)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목례 </a:t>
            </a:r>
            <a:r>
              <a:rPr lang="en-US" sz="3000" b="1" dirty="0">
                <a:solidFill>
                  <a:srgbClr val="003478"/>
                </a:solidFill>
              </a:rPr>
              <a:t>y </a:t>
            </a:r>
            <a:r>
              <a:rPr lang="ko-KR" altLang="en-US" sz="3000" b="1" dirty="0">
                <a:solidFill>
                  <a:srgbClr val="003478"/>
                </a:solidFill>
                <a:latin typeface="Malgun Gothic" pitchFamily="34" charset="0"/>
                <a:ea typeface="Malgun Gothic" pitchFamily="34" charset="-122"/>
                <a:cs typeface="Malgun Gothic" pitchFamily="34" charset="-120"/>
              </a:rPr>
              <a:t>안녕</a:t>
            </a:r>
            <a:r>
              <a:rPr lang="ko-KR" altLang="en-US" sz="1500" b="1" i="1" dirty="0">
                <a:solidFill>
                  <a:srgbClr val="8A8DA0"/>
                </a:solidFill>
              </a:rPr>
              <a:t>   Bowing and 안녕</a:t>
            </a:r>
            <a:endParaRPr lang="en-US" sz="3000" dirty="0"/>
          </a:p>
        </p:txBody>
      </p:sp>
      <p:pic>
        <p:nvPicPr>
          <p:cNvPr id="3" name="imagen" descr="C:\Users\Chingu\AppData\Local\Temp\claude\C--Users-Chingu-Desktop-ACADEMIASEULWEB\d4111e1b-5523-44ea-97b2-b1a1d9545b9e\scratchpad\decks\cache\img_ef157fb0bb8b36f3.png"/>
          <p:cNvPicPr>
            <a:picLocks noChangeAspect="1"/>
          </p:cNvPicPr>
          <p:nvPr/>
        </p:nvPicPr>
        <p:blipFill>
          <a:blip r:embed="rId3"/>
          <a:stretch>
            <a:fillRect/>
          </a:stretch>
        </p:blipFill>
        <p:spPr>
          <a:xfrm>
            <a:off x="7754112" y="1508760"/>
            <a:ext cx="3886200" cy="4480560"/>
          </a:xfrm>
          <a:prstGeom prst="rect">
            <a:avLst/>
          </a:prstGeom>
        </p:spPr>
      </p:pic>
      <p:sp>
        <p:nvSpPr>
          <p:cNvPr id="4" name="Text 1"/>
          <p:cNvSpPr txBox="1"/>
          <p:nvPr/>
        </p:nvSpPr>
        <p:spPr>
          <a:xfrm>
            <a:off x="548640" y="1325880"/>
            <a:ext cx="693115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En Zoom también funciona: una leve inclinación frente a la cámara</a:t>
            </a:r>
            <a:endParaRPr lang="en-US" sz="1800" dirty="0"/>
          </a:p>
        </p:txBody>
      </p:sp>
      <p:sp>
        <p:nvSpPr>
          <p:cNvPr id="5" name="col_0"/>
          <p:cNvSpPr/>
          <p:nvPr/>
        </p:nvSpPr>
        <p:spPr>
          <a:xfrm>
            <a:off x="548640" y="1874520"/>
            <a:ext cx="3305556" cy="4297680"/>
          </a:xfrm>
          <a:prstGeom prst="roundRect">
            <a:avLst>
              <a:gd name="adj" fmla="val 4149"/>
            </a:avLst>
          </a:prstGeom>
          <a:solidFill>
            <a:srgbClr val="F1F0FE"/>
          </a:solidFill>
          <a:ln w="12700">
            <a:solidFill>
              <a:srgbClr val="D9D7F7"/>
            </a:solidFill>
            <a:prstDash val="solid"/>
          </a:ln>
        </p:spPr>
      </p:sp>
      <p:sp>
        <p:nvSpPr>
          <p:cNvPr id="6" name="Text 3"/>
          <p:cNvSpPr txBox="1"/>
          <p:nvPr/>
        </p:nvSpPr>
        <p:spPr>
          <a:xfrm>
            <a:off x="777240" y="2057400"/>
            <a:ext cx="284835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Con la profe o una persona mayor</a:t>
            </a:r>
            <a:endParaRPr lang="en-US" sz="2000" dirty="0"/>
          </a:p>
        </p:txBody>
      </p:sp>
      <p:sp>
        <p:nvSpPr>
          <p:cNvPr id="7" name="Text 4"/>
          <p:cNvSpPr txBox="1"/>
          <p:nvPr/>
        </p:nvSpPr>
        <p:spPr>
          <a:xfrm>
            <a:off x="777240" y="2651760"/>
            <a:ext cx="2848356" cy="914400"/>
          </a:xfrm>
          <a:prstGeom prst="rect">
            <a:avLst/>
          </a:prstGeom>
          <a:noFill/>
          <a:ln/>
        </p:spPr>
        <p:txBody>
          <a:bodyPr wrap="square" lIns="0" tIns="0" rIns="0" bIns="0" rtlCol="0" anchor="ctr">
            <a:normAutofit/>
          </a:bodyPr>
          <a:lstStyle/>
          <a:p>
            <a:pPr marL="0" indent="0" eaLnBrk="1">
              <a:buNone/>
            </a:pPr>
            <a:r>
              <a:rPr lang="ko-KR" altLang="en-US" sz="4000" b="1" dirty="0">
                <a:solidFill>
                  <a:srgbClr val="4236F6"/>
                </a:solidFill>
                <a:latin typeface="Malgun Gothic" pitchFamily="34" charset="0"/>
                <a:ea typeface="Malgun Gothic" pitchFamily="34" charset="-122"/>
                <a:cs typeface="Malgun Gothic" pitchFamily="34" charset="-120"/>
              </a:rPr>
              <a:t>안녕하세요</a:t>
            </a:r>
            <a:endParaRPr lang="en-US" sz="4000" dirty="0"/>
          </a:p>
        </p:txBody>
      </p:sp>
      <p:sp>
        <p:nvSpPr>
          <p:cNvPr id="8" name="lista"/>
          <p:cNvSpPr txBox="1"/>
          <p:nvPr/>
        </p:nvSpPr>
        <p:spPr>
          <a:xfrm>
            <a:off x="731520" y="3657600"/>
            <a:ext cx="293979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목례 </a:t>
            </a:r>
            <a:r>
              <a:rPr lang="en-US" sz="2000" dirty="0">
                <a:solidFill>
                  <a:srgbClr val="14142B"/>
                </a:solidFill>
              </a:rPr>
              <a:t>un poco más marcado</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Con el 안녕하세요 </a:t>
            </a:r>
            <a:r>
              <a:rPr lang="en-US" sz="2000" dirty="0">
                <a:solidFill>
                  <a:srgbClr val="14142B"/>
                </a:solidFill>
              </a:rPr>
              <a:t>completo</a:t>
            </a:r>
            <a:endParaRPr lang="en-US" sz="2000" dirty="0"/>
          </a:p>
        </p:txBody>
      </p:sp>
      <p:sp>
        <p:nvSpPr>
          <p:cNvPr id="9" name="col_1"/>
          <p:cNvSpPr/>
          <p:nvPr/>
        </p:nvSpPr>
        <p:spPr>
          <a:xfrm>
            <a:off x="4174236" y="1874520"/>
            <a:ext cx="3305556" cy="4297680"/>
          </a:xfrm>
          <a:prstGeom prst="roundRect">
            <a:avLst>
              <a:gd name="adj" fmla="val 4149"/>
            </a:avLst>
          </a:prstGeom>
          <a:solidFill>
            <a:srgbClr val="FFFFFF"/>
          </a:solidFill>
          <a:ln w="12700">
            <a:solidFill>
              <a:srgbClr val="D9D7F7"/>
            </a:solidFill>
            <a:prstDash val="solid"/>
          </a:ln>
        </p:spPr>
      </p:sp>
      <p:sp>
        <p:nvSpPr>
          <p:cNvPr id="10" name="Text 7"/>
          <p:cNvSpPr txBox="1"/>
          <p:nvPr/>
        </p:nvSpPr>
        <p:spPr>
          <a:xfrm>
            <a:off x="4402836" y="2057400"/>
            <a:ext cx="284835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Entre amigos de la misma edad</a:t>
            </a:r>
            <a:endParaRPr lang="en-US" sz="2000" dirty="0"/>
          </a:p>
        </p:txBody>
      </p:sp>
      <p:sp>
        <p:nvSpPr>
          <p:cNvPr id="11" name="Text 8"/>
          <p:cNvSpPr txBox="1"/>
          <p:nvPr/>
        </p:nvSpPr>
        <p:spPr>
          <a:xfrm>
            <a:off x="4402836" y="2651760"/>
            <a:ext cx="284835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안녕</a:t>
            </a:r>
            <a:endParaRPr lang="en-US" sz="5400" dirty="0"/>
          </a:p>
        </p:txBody>
      </p:sp>
      <p:sp>
        <p:nvSpPr>
          <p:cNvPr id="12" name="lista"/>
          <p:cNvSpPr txBox="1"/>
          <p:nvPr/>
        </p:nvSpPr>
        <p:spPr>
          <a:xfrm>
            <a:off x="4357116" y="3657600"/>
            <a:ext cx="293979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900" dirty="0">
                <a:solidFill>
                  <a:srgbClr val="14142B"/>
                </a:solidFill>
              </a:rPr>
              <a:t>Hola y chao, las dos cosas</a:t>
            </a:r>
            <a:endParaRPr lang="en-US" sz="1900" dirty="0"/>
          </a:p>
          <a:p>
            <a:pPr marL="228600" indent="-228600" eaLnBrk="1">
              <a:spcAft>
                <a:spcPts val="800"/>
              </a:spcAft>
              <a:buSzPct val="100000"/>
              <a:buChar char="•"/>
            </a:pPr>
            <a:r>
              <a:rPr lang="en-US" sz="1900" dirty="0">
                <a:solidFill>
                  <a:srgbClr val="14142B"/>
                </a:solidFill>
              </a:rPr>
              <a:t>También a un niño o a alguien menor con confianza</a:t>
            </a:r>
            <a:endParaRPr lang="en-US" sz="1900" dirty="0"/>
          </a:p>
          <a:p>
            <a:pPr marL="228600" indent="-228600" eaLnBrk="1">
              <a:spcAft>
                <a:spcPts val="800"/>
              </a:spcAft>
              <a:buSzPct val="100000"/>
              <a:buChar char="•"/>
            </a:pPr>
            <a:r>
              <a:rPr lang="en-US" sz="1900" dirty="0">
                <a:solidFill>
                  <a:srgbClr val="14142B"/>
                </a:solidFill>
              </a:rPr>
              <a:t>Con una persona mayor, no</a:t>
            </a:r>
            <a:endParaRPr lang="en-US" sz="19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¿Quién se va?</a:t>
            </a:r>
            <a:r>
              <a:rPr lang="en-US" sz="1500" b="1" i="1" dirty="0">
                <a:solidFill>
                  <a:srgbClr val="8A8DA0"/>
                </a:solidFill>
              </a:rPr>
              <a:t>   Who is leaving?</a:t>
            </a:r>
            <a:endParaRPr lang="en-US" sz="3000" dirty="0"/>
          </a:p>
        </p:txBody>
      </p:sp>
      <p:pic>
        <p:nvPicPr>
          <p:cNvPr id="3" name="imagen" descr="C:\Users\Chingu\AppData\Local\Temp\claude\C--Users-Chingu-Desktop-ACADEMIASEULWEB\d4111e1b-5523-44ea-97b2-b1a1d9545b9e\scratchpad\decks\cache\img_ec5bc82628779a0a.png"/>
          <p:cNvPicPr>
            <a:picLocks noChangeAspect="1"/>
          </p:cNvPicPr>
          <p:nvPr/>
        </p:nvPicPr>
        <p:blipFill>
          <a:blip r:embed="rId3"/>
          <a:stretch>
            <a:fillRect/>
          </a:stretch>
        </p:blipFill>
        <p:spPr>
          <a:xfrm>
            <a:off x="8897112" y="2167666"/>
            <a:ext cx="2743200" cy="3162748"/>
          </a:xfrm>
          <a:prstGeom prst="rect">
            <a:avLst/>
          </a:prstGeom>
        </p:spPr>
      </p:pic>
      <p:sp>
        <p:nvSpPr>
          <p:cNvPr id="4" name="col_0"/>
          <p:cNvSpPr/>
          <p:nvPr/>
        </p:nvSpPr>
        <p:spPr>
          <a:xfrm>
            <a:off x="548640" y="1325880"/>
            <a:ext cx="2478024" cy="4846320"/>
          </a:xfrm>
          <a:prstGeom prst="roundRect">
            <a:avLst>
              <a:gd name="adj" fmla="val 5535"/>
            </a:avLst>
          </a:prstGeom>
          <a:solidFill>
            <a:srgbClr val="F1F0FE"/>
          </a:solidFill>
          <a:ln w="12700">
            <a:solidFill>
              <a:srgbClr val="D9D7F7"/>
            </a:solidFill>
            <a:prstDash val="solid"/>
          </a:ln>
        </p:spPr>
      </p:sp>
      <p:sp>
        <p:nvSpPr>
          <p:cNvPr id="5" name="Text 2"/>
          <p:cNvSpPr txBox="1"/>
          <p:nvPr/>
        </p:nvSpPr>
        <p:spPr>
          <a:xfrm>
            <a:off x="777240" y="1508760"/>
            <a:ext cx="202082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A quien se va</a:t>
            </a:r>
            <a:endParaRPr lang="en-US" sz="2000" dirty="0"/>
          </a:p>
        </p:txBody>
      </p:sp>
      <p:sp>
        <p:nvSpPr>
          <p:cNvPr id="6" name="Text 3"/>
          <p:cNvSpPr txBox="1"/>
          <p:nvPr/>
        </p:nvSpPr>
        <p:spPr>
          <a:xfrm>
            <a:off x="777240" y="2103120"/>
            <a:ext cx="202082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안녕히</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가세요</a:t>
            </a:r>
            <a:endParaRPr lang="en-US" sz="2800" dirty="0"/>
          </a:p>
        </p:txBody>
      </p:sp>
      <p:sp>
        <p:nvSpPr>
          <p:cNvPr id="7" name="lista"/>
          <p:cNvSpPr txBox="1"/>
          <p:nvPr/>
        </p:nvSpPr>
        <p:spPr>
          <a:xfrm>
            <a:off x="731520" y="3108960"/>
            <a:ext cx="211226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"Váyase bien" (가다 </a:t>
            </a:r>
            <a:r>
              <a:rPr lang="en-US" sz="1800" dirty="0">
                <a:solidFill>
                  <a:srgbClr val="14142B"/>
                </a:solidFill>
              </a:rPr>
              <a:t>= ir)</a:t>
            </a:r>
            <a:endParaRPr lang="en-US" sz="1800" dirty="0"/>
          </a:p>
          <a:p>
            <a:pPr marL="228600" indent="-228600" eaLnBrk="1">
              <a:spcAft>
                <a:spcPts val="800"/>
              </a:spcAft>
              <a:buSzPct val="100000"/>
              <a:buChar char="•"/>
            </a:pPr>
            <a:r>
              <a:rPr lang="en-US" sz="1800" dirty="0">
                <a:solidFill>
                  <a:srgbClr val="14142B"/>
                </a:solidFill>
              </a:rPr>
              <a:t>Se parece a "que te vaya bien"</a:t>
            </a:r>
            <a:endParaRPr lang="en-US" sz="1800" dirty="0"/>
          </a:p>
        </p:txBody>
      </p:sp>
      <p:sp>
        <p:nvSpPr>
          <p:cNvPr id="8" name="col_1"/>
          <p:cNvSpPr/>
          <p:nvPr/>
        </p:nvSpPr>
        <p:spPr>
          <a:xfrm>
            <a:off x="3346704" y="1325880"/>
            <a:ext cx="2478024" cy="4846320"/>
          </a:xfrm>
          <a:prstGeom prst="roundRect">
            <a:avLst>
              <a:gd name="adj" fmla="val 5535"/>
            </a:avLst>
          </a:prstGeom>
          <a:solidFill>
            <a:srgbClr val="FFFFFF"/>
          </a:solidFill>
          <a:ln w="12700">
            <a:solidFill>
              <a:srgbClr val="D9D7F7"/>
            </a:solidFill>
            <a:prstDash val="solid"/>
          </a:ln>
        </p:spPr>
      </p:sp>
      <p:sp>
        <p:nvSpPr>
          <p:cNvPr id="9" name="Text 6"/>
          <p:cNvSpPr txBox="1"/>
          <p:nvPr/>
        </p:nvSpPr>
        <p:spPr>
          <a:xfrm>
            <a:off x="3575304" y="1508760"/>
            <a:ext cx="202082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A quien se queda</a:t>
            </a:r>
            <a:endParaRPr lang="en-US" sz="2000" dirty="0"/>
          </a:p>
        </p:txBody>
      </p:sp>
      <p:sp>
        <p:nvSpPr>
          <p:cNvPr id="10" name="Text 7"/>
          <p:cNvSpPr txBox="1"/>
          <p:nvPr/>
        </p:nvSpPr>
        <p:spPr>
          <a:xfrm>
            <a:off x="3575304" y="2103120"/>
            <a:ext cx="202082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안녕히</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계세요</a:t>
            </a:r>
            <a:endParaRPr lang="en-US" sz="2800" dirty="0"/>
          </a:p>
        </p:txBody>
      </p:sp>
      <p:sp>
        <p:nvSpPr>
          <p:cNvPr id="11" name="lista"/>
          <p:cNvSpPr txBox="1"/>
          <p:nvPr/>
        </p:nvSpPr>
        <p:spPr>
          <a:xfrm>
            <a:off x="3529584" y="3108960"/>
            <a:ext cx="211226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"Quédese bien"</a:t>
            </a:r>
            <a:endParaRPr lang="en-US" sz="1800" dirty="0"/>
          </a:p>
          <a:p>
            <a:pPr marL="228600" indent="-228600" eaLnBrk="1">
              <a:spcAft>
                <a:spcPts val="800"/>
              </a:spcAft>
              <a:buSzPct val="100000"/>
              <a:buChar char="•"/>
            </a:pPr>
            <a:r>
              <a:rPr lang="en-US" sz="1800" dirty="0">
                <a:solidFill>
                  <a:srgbClr val="14142B"/>
                </a:solidFill>
              </a:rPr>
              <a:t>Si tú te vas: de una casa, de un restaurante, de la clase</a:t>
            </a:r>
            <a:endParaRPr lang="en-US" sz="1800" dirty="0"/>
          </a:p>
        </p:txBody>
      </p:sp>
      <p:sp>
        <p:nvSpPr>
          <p:cNvPr id="12" name="col_2"/>
          <p:cNvSpPr/>
          <p:nvPr/>
        </p:nvSpPr>
        <p:spPr>
          <a:xfrm>
            <a:off x="6144768" y="1325880"/>
            <a:ext cx="2478024" cy="4846320"/>
          </a:xfrm>
          <a:prstGeom prst="roundRect">
            <a:avLst>
              <a:gd name="adj" fmla="val 5535"/>
            </a:avLst>
          </a:prstGeom>
          <a:solidFill>
            <a:srgbClr val="F1F0FE"/>
          </a:solidFill>
          <a:ln w="12700">
            <a:solidFill>
              <a:srgbClr val="D9D7F7"/>
            </a:solidFill>
            <a:prstDash val="solid"/>
          </a:ln>
        </p:spPr>
      </p:sp>
      <p:sp>
        <p:nvSpPr>
          <p:cNvPr id="13" name="Text 10"/>
          <p:cNvSpPr txBox="1"/>
          <p:nvPr/>
        </p:nvSpPr>
        <p:spPr>
          <a:xfrm>
            <a:off x="6373368" y="1508760"/>
            <a:ext cx="202082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Si los dos se van</a:t>
            </a:r>
            <a:endParaRPr lang="en-US" sz="2000" dirty="0"/>
          </a:p>
        </p:txBody>
      </p:sp>
      <p:sp>
        <p:nvSpPr>
          <p:cNvPr id="14" name="Text 11"/>
          <p:cNvSpPr txBox="1"/>
          <p:nvPr/>
        </p:nvSpPr>
        <p:spPr>
          <a:xfrm>
            <a:off x="6373368" y="2103120"/>
            <a:ext cx="202082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안녕히</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가세요</a:t>
            </a:r>
            <a:endParaRPr lang="en-US" sz="2800" dirty="0"/>
          </a:p>
        </p:txBody>
      </p:sp>
      <p:sp>
        <p:nvSpPr>
          <p:cNvPr id="15" name="lista"/>
          <p:cNvSpPr txBox="1"/>
          <p:nvPr/>
        </p:nvSpPr>
        <p:spPr>
          <a:xfrm>
            <a:off x="6327648" y="3108960"/>
            <a:ext cx="211226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En la calle, cada uno por su lado</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Los dos dicen 안녕히 가세요</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Nuestros nombres</a:t>
            </a:r>
            <a:r>
              <a:rPr lang="en-US" sz="1500" b="1" i="1" dirty="0">
                <a:solidFill>
                  <a:srgbClr val="8A8DA0"/>
                </a:solidFill>
              </a:rPr>
              <a:t>   Our names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En el chat: número + 이에요 </a:t>
            </a:r>
            <a:r>
              <a:rPr lang="en-US" sz="1800" i="1" dirty="0">
                <a:solidFill>
                  <a:srgbClr val="4236F6"/>
                </a:solidFill>
              </a:rPr>
              <a:t>o </a:t>
            </a:r>
            <a:r>
              <a:rPr lang="ko-KR" altLang="en-US" sz="1800" i="1" dirty="0">
                <a:solidFill>
                  <a:srgbClr val="4236F6"/>
                </a:solidFill>
                <a:latin typeface="Malgun Gothic" pitchFamily="34" charset="0"/>
                <a:ea typeface="Malgun Gothic" pitchFamily="34" charset="-122"/>
                <a:cs typeface="Malgun Gothic" pitchFamily="34" charset="-120"/>
              </a:rPr>
              <a:t>예요 </a:t>
            </a:r>
            <a:r>
              <a:rPr lang="en-US" sz="1800" i="1" dirty="0">
                <a:solidFill>
                  <a:srgbClr val="4236F6"/>
                </a:solidFill>
              </a:rPr>
              <a:t>(por ejemplo, "1 </a:t>
            </a:r>
            <a:r>
              <a:rPr lang="ko-KR" altLang="en-US" sz="1800" i="1" dirty="0">
                <a:solidFill>
                  <a:srgbClr val="4236F6"/>
                </a:solidFill>
                <a:latin typeface="Malgun Gothic" pitchFamily="34" charset="0"/>
                <a:ea typeface="Malgun Gothic" pitchFamily="34" charset="-122"/>
                <a:cs typeface="Malgun Gothic" pitchFamily="34" charset="-120"/>
              </a:rPr>
              <a:t>예요</a:t>
            </a:r>
            <a:r>
              <a:rPr lang="en-US" sz="1800" i="1" dirty="0">
                <a:solidFill>
                  <a:srgbClr val="4236F6"/>
                </a:solidFill>
              </a:rPr>
              <a:t>") · después, tu frase: </a:t>
            </a:r>
            <a:r>
              <a:rPr lang="ko-KR" altLang="en-US" sz="1800" i="1" dirty="0">
                <a:solidFill>
                  <a:srgbClr val="4236F6"/>
                </a:solidFill>
                <a:latin typeface="Malgun Gothic" pitchFamily="34" charset="0"/>
                <a:ea typeface="Malgun Gothic" pitchFamily="34" charset="-122"/>
                <a:cs typeface="Malgun Gothic" pitchFamily="34" charset="-120"/>
              </a:rPr>
              <a:t>저는 </a:t>
            </a:r>
            <a:r>
              <a:rPr lang="en-US" sz="1800" i="1" dirty="0">
                <a:solidFill>
                  <a:srgbClr val="4236F6"/>
                </a:solidFill>
              </a:rPr>
              <a:t>___.</a:t>
            </a:r>
            <a:endParaRPr lang="en-US" sz="1800" dirty="0"/>
          </a:p>
        </p:txBody>
      </p:sp>
      <p:graphicFrame>
        <p:nvGraphicFramePr>
          <p:cNvPr id="26" name="tabla"/>
          <p:cNvGraphicFramePr>
            <a:graphicFrameLocks noGrp="1"/>
          </p:cNvGraphicFramePr>
          <p:nvPr>
            <p:extLst>
              <p:ext uri="{D42A27DB-BD31-4B8C-83A1-F6EECF244321}">
                <p14:modId xmlns:p14="http://schemas.microsoft.com/office/powerpoint/2010/main" val="1661908951"/>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1–5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6–10</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11–15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6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11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2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7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12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3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8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13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4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9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14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5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10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15 · [nombre en 한글</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Ronda en cadena</a:t>
            </a:r>
            <a:r>
              <a:rPr lang="en-US" sz="1500" b="1" i="1" dirty="0">
                <a:solidFill>
                  <a:srgbClr val="8A8DA0"/>
                </a:solidFill>
              </a:rPr>
              <a:t>   Chain round</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(señalando) ___예요</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이에요</a:t>
            </a:r>
            <a:r>
              <a:rPr lang="en-US" sz="2200" dirty="0">
                <a:solidFill>
                  <a:srgbClr val="14142B"/>
                </a:solidFill>
              </a:rPr>
              <a:t>. ___ </a:t>
            </a:r>
            <a:r>
              <a:rPr lang="ko-KR" altLang="en-US" sz="2200" dirty="0">
                <a:solidFill>
                  <a:srgbClr val="14142B"/>
                </a:solidFill>
                <a:latin typeface="Malgun Gothic" pitchFamily="34" charset="0"/>
                <a:ea typeface="Malgun Gothic" pitchFamily="34" charset="-122"/>
                <a:cs typeface="Malgun Gothic" pitchFamily="34" charset="-120"/>
              </a:rPr>
              <a:t>사람이에요</a:t>
            </a:r>
            <a:r>
              <a:rPr lang="en-US" sz="2200" dirty="0">
                <a:solidFill>
                  <a:srgbClr val="14142B"/>
                </a:solidFill>
              </a:rPr>
              <a:t>. → </a:t>
            </a:r>
            <a:r>
              <a:rPr lang="ko-KR" altLang="en-US" sz="2200" dirty="0">
                <a:solidFill>
                  <a:srgbClr val="14142B"/>
                </a:solidFill>
                <a:latin typeface="Malgun Gothic" pitchFamily="34" charset="0"/>
                <a:ea typeface="Malgun Gothic" pitchFamily="34" charset="-122"/>
                <a:cs typeface="Malgun Gothic" pitchFamily="34" charset="-120"/>
              </a:rPr>
              <a:t>저는 </a:t>
            </a:r>
            <a:r>
              <a:rPr lang="en-US" sz="2200" dirty="0">
                <a:solidFill>
                  <a:srgbClr val="14142B"/>
                </a:solidFill>
              </a:rPr>
              <a:t>___</a:t>
            </a:r>
            <a:r>
              <a:rPr lang="ko-KR" altLang="en-US" sz="2200" dirty="0">
                <a:solidFill>
                  <a:srgbClr val="14142B"/>
                </a:solidFill>
                <a:latin typeface="Malgun Gothic" pitchFamily="34" charset="0"/>
                <a:ea typeface="Malgun Gothic" pitchFamily="34" charset="-122"/>
                <a:cs typeface="Malgun Gothic" pitchFamily="34" charset="-120"/>
              </a:rPr>
              <a:t>예요</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이에요</a:t>
            </a:r>
            <a:r>
              <a:rPr lang="en-US" sz="2200" dirty="0">
                <a:solidFill>
                  <a:srgbClr val="14142B"/>
                </a:solidFill>
              </a:rPr>
              <a:t>. ___ </a:t>
            </a:r>
            <a:r>
              <a:rPr lang="ko-KR" altLang="en-US" sz="2200" dirty="0">
                <a:solidFill>
                  <a:srgbClr val="14142B"/>
                </a:solidFill>
                <a:latin typeface="Malgun Gothic" pitchFamily="34" charset="0"/>
                <a:ea typeface="Malgun Gothic" pitchFamily="34" charset="-122"/>
                <a:cs typeface="Malgun Gothic" pitchFamily="34" charset="-120"/>
              </a:rPr>
              <a:t>사람이에요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Ejemplo: (señalando a Valentina) 발렌티나예요</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칠레 사람이에요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 저는 디에고예요</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멕시코 사람이에요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Si antes está Kiran: 기란 선생님이에요</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한국 사람이에요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선생님 </a:t>
            </a:r>
            <a:r>
              <a:rPr lang="en-US" sz="2200" dirty="0">
                <a:solidFill>
                  <a:srgbClr val="14142B"/>
                </a:solidFill>
              </a:rPr>
              <a:t>va después del nombre, como un título: </a:t>
            </a:r>
            <a:r>
              <a:rPr lang="ko-KR" altLang="en-US" sz="2200" dirty="0">
                <a:solidFill>
                  <a:srgbClr val="14142B"/>
                </a:solidFill>
                <a:latin typeface="Malgun Gothic" pitchFamily="34" charset="0"/>
                <a:ea typeface="Malgun Gothic" pitchFamily="34" charset="-122"/>
                <a:cs typeface="Malgun Gothic" pitchFamily="34" charset="-120"/>
              </a:rPr>
              <a:t>기란 선생님</a:t>
            </a:r>
            <a:endParaRPr lang="en-US" sz="22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Salas de 3 · 20 min</a:t>
            </a:r>
            <a:r>
              <a:rPr lang="en-US" sz="1500" b="1" i="1" dirty="0">
                <a:solidFill>
                  <a:srgbClr val="8A8DA0"/>
                </a:solidFill>
              </a:rPr>
              <a:t>   Breakout rooms of 3 · 20 min</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Act. 1 (6 min) · Mi presentación, sin papel: 안녕하세요</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저는 </a:t>
            </a:r>
            <a:r>
              <a:rPr lang="en-US" sz="1800" dirty="0">
                <a:solidFill>
                  <a:srgbClr val="14142B"/>
                </a:solidFill>
              </a:rPr>
              <a:t>___. ___ </a:t>
            </a:r>
            <a:r>
              <a:rPr lang="ko-KR" altLang="en-US" sz="1800" dirty="0">
                <a:solidFill>
                  <a:srgbClr val="14142B"/>
                </a:solidFill>
                <a:latin typeface="Malgun Gothic" pitchFamily="34" charset="0"/>
                <a:ea typeface="Malgun Gothic" pitchFamily="34" charset="-122"/>
                <a:cs typeface="Malgun Gothic" pitchFamily="34" charset="-120"/>
              </a:rPr>
              <a:t>사람이에요</a:t>
            </a:r>
            <a:r>
              <a:rPr lang="en-US" sz="1800" dirty="0">
                <a:solidFill>
                  <a:srgbClr val="14142B"/>
                </a:solidFill>
              </a:rPr>
              <a:t>. ___.</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Los otros dos preguntan 이름이 뭐예요</a:t>
            </a:r>
            <a:r>
              <a:rPr lang="en-US" sz="1800" dirty="0">
                <a:solidFill>
                  <a:srgbClr val="14142B"/>
                </a:solidFill>
              </a:rPr>
              <a:t>? · </a:t>
            </a:r>
            <a:r>
              <a:rPr lang="ko-KR" altLang="en-US" sz="1800" dirty="0">
                <a:solidFill>
                  <a:srgbClr val="14142B"/>
                </a:solidFill>
                <a:latin typeface="Malgun Gothic" pitchFamily="34" charset="0"/>
                <a:ea typeface="Malgun Gothic" pitchFamily="34" charset="-122"/>
                <a:cs typeface="Malgun Gothic" pitchFamily="34" charset="-120"/>
              </a:rPr>
              <a:t>어느 나라 사람이에요</a:t>
            </a:r>
            <a:r>
              <a:rPr lang="en-US" sz="1800" dirty="0">
                <a:solidFill>
                  <a:srgbClr val="14142B"/>
                </a:solidFill>
              </a:rPr>
              <a:t>? y responden </a:t>
            </a:r>
            <a:r>
              <a:rPr lang="ko-KR" altLang="en-US" sz="1800" dirty="0">
                <a:solidFill>
                  <a:srgbClr val="14142B"/>
                </a:solidFill>
                <a:latin typeface="Malgun Gothic" pitchFamily="34" charset="0"/>
                <a:ea typeface="Malgun Gothic" pitchFamily="34" charset="-122"/>
                <a:cs typeface="Malgun Gothic" pitchFamily="34" charset="-120"/>
              </a:rPr>
              <a:t>반갑습니다</a:t>
            </a:r>
            <a:endParaRPr lang="en-US" sz="1800" dirty="0"/>
          </a:p>
          <a:p>
            <a:pPr marL="228600" indent="-228600" eaLnBrk="1">
              <a:spcAft>
                <a:spcPts val="800"/>
              </a:spcAft>
              <a:buSzPct val="100000"/>
              <a:buChar char="•"/>
            </a:pPr>
            <a:r>
              <a:rPr lang="en-US" sz="1800" dirty="0">
                <a:solidFill>
                  <a:srgbClr val="14142B"/>
                </a:solidFill>
              </a:rPr>
              <a:t>Act. 2 (9 min) · ¿Quién se va? Dos actúan y uno es juez; cambien de juez en cada escena</a:t>
            </a:r>
            <a:endParaRPr lang="en-US" sz="1800" dirty="0"/>
          </a:p>
          <a:p>
            <a:pPr marL="228600" indent="-228600" eaLnBrk="1">
              <a:spcAft>
                <a:spcPts val="800"/>
              </a:spcAft>
              <a:buSzPct val="100000"/>
              <a:buChar char="•"/>
            </a:pPr>
            <a:r>
              <a:rPr lang="en-US" sz="1800" dirty="0">
                <a:solidFill>
                  <a:srgbClr val="14142B"/>
                </a:solidFill>
              </a:rPr>
              <a:t>A sala de clases · B casa · C calle (feria de comida coreana) · D restaurante coreano</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El juez mira: 안녕하세요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목례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이에요</a:t>
            </a:r>
            <a:r>
              <a:rPr lang="en-US" sz="1800" dirty="0">
                <a:solidFill>
                  <a:srgbClr val="14142B"/>
                </a:solidFill>
              </a:rPr>
              <a:t>/</a:t>
            </a:r>
            <a:r>
              <a:rPr lang="ko-KR" altLang="en-US" sz="1800" dirty="0">
                <a:solidFill>
                  <a:srgbClr val="14142B"/>
                </a:solidFill>
                <a:latin typeface="Malgun Gothic" pitchFamily="34" charset="0"/>
                <a:ea typeface="Malgun Gothic" pitchFamily="34" charset="-122"/>
                <a:cs typeface="Malgun Gothic" pitchFamily="34" charset="-120"/>
              </a:rPr>
              <a:t>예요 </a:t>
            </a:r>
            <a:r>
              <a:rPr lang="en-US" sz="1800" dirty="0">
                <a:solidFill>
                  <a:srgbClr val="14142B"/>
                </a:solidFill>
              </a:rPr>
              <a:t>bien elegido · la despedida según quién se va</a:t>
            </a:r>
            <a:endParaRPr lang="en-US" sz="1800" dirty="0"/>
          </a:p>
          <a:p>
            <a:pPr marL="228600" indent="-228600" eaLnBrk="1">
              <a:spcAft>
                <a:spcPts val="800"/>
              </a:spcAft>
              <a:buSzPct val="100000"/>
              <a:buChar char="•"/>
            </a:pPr>
            <a:r>
              <a:rPr lang="en-US" sz="1800" dirty="0">
                <a:solidFill>
                  <a:srgbClr val="14142B"/>
                </a:solidFill>
              </a:rPr>
              <a:t>Act. 3 (3 min) · Minuto libre: espera la señal de Kiran</a:t>
            </a:r>
            <a:endParaRPr lang="en-US" sz="18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Minuto libre</a:t>
            </a:r>
            <a:r>
              <a:rPr lang="en-US" sz="1500" b="1" i="1" dirty="0">
                <a:solidFill>
                  <a:srgbClr val="8A8DA0"/>
                </a:solidFill>
              </a:rPr>
              <a:t>   Free minute</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Identidad secreta · 3 minutos · sin cuaderno</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200" dirty="0">
                <a:solidFill>
                  <a:srgbClr val="14142B"/>
                </a:solidFill>
              </a:rPr>
              <a:t>Elige en secreto otro nombre, otro país y una ocupación</a:t>
            </a:r>
            <a:endParaRPr lang="en-US" sz="2200" dirty="0"/>
          </a:p>
          <a:p>
            <a:pPr marL="228600" indent="-228600" eaLnBrk="1">
              <a:spcAft>
                <a:spcPts val="800"/>
              </a:spcAft>
              <a:buSzPct val="100000"/>
              <a:buChar char="•"/>
            </a:pPr>
            <a:r>
              <a:rPr lang="en-US" sz="2200" dirty="0">
                <a:solidFill>
                  <a:srgbClr val="14142B"/>
                </a:solidFill>
              </a:rPr>
              <a:t>Saluda a tus 2 compañeros como si no los conocieras</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안녕하세요</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이름이 뭐예요</a:t>
            </a:r>
            <a:r>
              <a:rPr lang="en-US" sz="2200" dirty="0">
                <a:solidFill>
                  <a:srgbClr val="14142B"/>
                </a:solidFill>
              </a:rPr>
              <a:t>? · </a:t>
            </a:r>
            <a:r>
              <a:rPr lang="ko-KR" altLang="en-US" sz="2200" dirty="0">
                <a:solidFill>
                  <a:srgbClr val="14142B"/>
                </a:solidFill>
                <a:latin typeface="Malgun Gothic" pitchFamily="34" charset="0"/>
                <a:ea typeface="Malgun Gothic" pitchFamily="34" charset="-122"/>
                <a:cs typeface="Malgun Gothic" pitchFamily="34" charset="-120"/>
              </a:rPr>
              <a:t>어느 나라 사람이에요</a:t>
            </a:r>
            <a:r>
              <a:rPr lang="en-US" sz="2200" dirty="0">
                <a:solidFill>
                  <a:srgbClr val="14142B"/>
                </a:solidFill>
              </a:rPr>
              <a:t>?</a:t>
            </a:r>
            <a:endParaRPr lang="en-US" sz="2200" dirty="0"/>
          </a:p>
          <a:p>
            <a:pPr marL="228600" indent="-228600" eaLnBrk="1">
              <a:spcAft>
                <a:spcPts val="800"/>
              </a:spcAft>
              <a:buSzPct val="100000"/>
              <a:buChar char="•"/>
            </a:pPr>
            <a:r>
              <a:rPr lang="en-US" sz="2200" dirty="0">
                <a:solidFill>
                  <a:srgbClr val="14142B"/>
                </a:solidFill>
              </a:rPr>
              <a:t>Descubre su identidad secreta</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Al cerrar la sala, todos se van: 안녕히 가세요</a:t>
            </a:r>
            <a:r>
              <a:rPr lang="en-US" sz="2200" dirty="0">
                <a:solidFill>
                  <a:srgbClr val="14142B"/>
                </a:solidFill>
              </a:rPr>
              <a:t>!</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Las 3 frases clave</a:t>
            </a:r>
            <a:r>
              <a:rPr lang="en-US" sz="1500" b="1" i="1" dirty="0">
                <a:solidFill>
                  <a:srgbClr val="8A8DA0"/>
                </a:solidFill>
              </a:rPr>
              <a:t>   The 3 key phrases</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안녕하세요</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저는 </a:t>
            </a:r>
            <a:r>
              <a:rPr lang="en-US" sz="2800" dirty="0">
                <a:solidFill>
                  <a:srgbClr val="14142B"/>
                </a:solidFill>
              </a:rPr>
              <a:t>___</a:t>
            </a:r>
            <a:r>
              <a:rPr lang="ko-KR" altLang="en-US" sz="2800" dirty="0">
                <a:solidFill>
                  <a:srgbClr val="14142B"/>
                </a:solidFill>
                <a:latin typeface="Malgun Gothic" pitchFamily="34" charset="0"/>
                <a:ea typeface="Malgun Gothic" pitchFamily="34" charset="-122"/>
                <a:cs typeface="Malgun Gothic" pitchFamily="34" charset="-120"/>
              </a:rPr>
              <a:t>예요</a:t>
            </a:r>
            <a:r>
              <a:rPr lang="en-US" sz="2800" dirty="0">
                <a:solidFill>
                  <a:srgbClr val="14142B"/>
                </a:solidFill>
              </a:rPr>
              <a:t>/</a:t>
            </a:r>
            <a:r>
              <a:rPr lang="ko-KR" altLang="en-US" sz="2800" dirty="0">
                <a:solidFill>
                  <a:srgbClr val="14142B"/>
                </a:solidFill>
                <a:latin typeface="Malgun Gothic" pitchFamily="34" charset="0"/>
                <a:ea typeface="Malgun Gothic" pitchFamily="34" charset="-122"/>
                <a:cs typeface="Malgun Gothic" pitchFamily="34" charset="-120"/>
              </a:rPr>
              <a:t>이에요</a:t>
            </a:r>
            <a:r>
              <a:rPr lang="en-US" sz="2800" dirty="0">
                <a:solidFill>
                  <a:srgbClr val="14142B"/>
                </a:solidFill>
              </a:rPr>
              <a:t>. (con tu nombre)</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저는 칠레 사람이에요</a:t>
            </a:r>
            <a:r>
              <a:rPr lang="en-US" sz="2800" dirty="0">
                <a:solidFill>
                  <a:srgbClr val="14142B"/>
                </a:solidFill>
              </a:rPr>
              <a:t>. (y después con tu país)</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안녕히 계세요</a:t>
            </a:r>
            <a:r>
              <a:rPr lang="en-US" sz="2800" dirty="0">
                <a:solidFill>
                  <a:srgbClr val="14142B"/>
                </a:solidFill>
              </a:rPr>
              <a:t>!</a:t>
            </a:r>
            <a:endParaRPr lang="en-US" sz="28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Tarea · antes de tu clase 3</a:t>
            </a:r>
            <a:r>
              <a:rPr lang="en-US" sz="1500" b="1" i="1" dirty="0">
                <a:solidFill>
                  <a:srgbClr val="8A8DA0"/>
                </a:solidFill>
              </a:rPr>
              <a:t>   Homework · before class 3</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Martes 3 o jueves 5 de noviembre, 20:00 (hora de Chile) · ≈ 25 min · en el grupo de WhatsApp</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Lector (10 min): Aprender 4 y 6 · Practicar: Aspiradas y tensas, Batchim y Sílabas</a:t>
            </a:r>
            <a:endParaRPr lang="en-US" sz="1800" dirty="0"/>
          </a:p>
          <a:p>
            <a:pPr marL="228600" indent="-228600" eaLnBrk="1">
              <a:spcAft>
                <a:spcPts val="800"/>
              </a:spcAft>
              <a:buSzPct val="100000"/>
              <a:buChar char="•"/>
            </a:pPr>
            <a:r>
              <a:rPr lang="en-US" sz="1800" dirty="0">
                <a:solidFill>
                  <a:srgbClr val="14142B"/>
                </a:solidFill>
              </a:rPr>
              <a:t>3 rondas seguidas de cada uno (el modo cambia solo) · captura de Progreso al grupo</a:t>
            </a:r>
            <a:endParaRPr lang="en-US" sz="1800" dirty="0"/>
          </a:p>
          <a:p>
            <a:pPr marL="228600" indent="-228600" eaLnBrk="1">
              <a:spcAft>
                <a:spcPts val="800"/>
              </a:spcAft>
              <a:buSzPct val="100000"/>
              <a:buChar char="•"/>
            </a:pPr>
            <a:r>
              <a:rPr lang="en-US" sz="1800" dirty="0">
                <a:solidFill>
                  <a:srgbClr val="14142B"/>
                </a:solidFill>
              </a:rPr>
              <a:t>Hoja de la lección 1 (10 min): ejercicios 1 a 4 · foto o PDF al grupo</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Audio de 20 s (5 min): tu presentación, sin leer · y escríbela en el grupo en 한글</a:t>
            </a:r>
            <a:endParaRPr lang="en-US" sz="1800" dirty="0"/>
          </a:p>
          <a:p>
            <a:pPr marL="228600" indent="-228600" eaLnBrk="1">
              <a:spcAft>
                <a:spcPts val="800"/>
              </a:spcAft>
              <a:buSzPct val="100000"/>
              <a:buChar char="•"/>
            </a:pPr>
            <a:r>
              <a:rPr lang="en-US" sz="1800" dirty="0">
                <a:solidFill>
                  <a:srgbClr val="14142B"/>
                </a:solidFill>
              </a:rPr>
              <a:t>Extra: Dubu, barrios 3 y 4 · Lector → Practicar → Vocales, 3 rondas más</a:t>
            </a:r>
            <a:endParaRPr lang="en-US" sz="1800" dirty="0"/>
          </a:p>
          <a:p>
            <a:pPr marL="228600" indent="-228600" eaLnBrk="1">
              <a:spcAft>
                <a:spcPts val="800"/>
              </a:spcAft>
              <a:buSzPct val="100000"/>
              <a:buChar char="•"/>
            </a:pPr>
            <a:r>
              <a:rPr lang="en-US" sz="1800" dirty="0">
                <a:solidFill>
                  <a:srgbClr val="14142B"/>
                </a:solidFill>
              </a:rPr>
              <a:t>Prepara la clase 3: 5 objetos (un libro, un lápiz, tu celular, un paraguas, una taza)</a:t>
            </a:r>
            <a:endParaRPr lang="en-US" sz="1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691640"/>
            <a:ext cx="10725912" cy="1097280"/>
          </a:xfrm>
          <a:prstGeom prst="rect">
            <a:avLst/>
          </a:prstGeom>
          <a:noFill/>
          <a:ln/>
        </p:spPr>
        <p:txBody>
          <a:bodyPr wrap="square" lIns="0" tIns="0" rIns="0" bIns="0" rtlCol="0" anchor="ctr"/>
          <a:lstStyle/>
          <a:p>
            <a:pPr marL="0" indent="0" algn="ctr" eaLnBrk="1">
              <a:buNone/>
            </a:pPr>
            <a:r>
              <a:rPr lang="ko-KR" altLang="en-US" sz="3000" b="1" dirty="0">
                <a:solidFill>
                  <a:srgbClr val="FFFFFF"/>
                </a:solidFill>
                <a:latin typeface="Malgun Gothic" pitchFamily="34" charset="0"/>
                <a:ea typeface="Malgun Gothic" pitchFamily="34" charset="-122"/>
                <a:cs typeface="Malgun Gothic" pitchFamily="34" charset="-120"/>
              </a:rPr>
              <a:t>감사합니다</a:t>
            </a:r>
            <a:r>
              <a:rPr lang="en-US" sz="3000" b="1" dirty="0">
                <a:solidFill>
                  <a:srgbClr val="FFFFFF"/>
                </a:solidFill>
              </a:rPr>
              <a:t>!  ¡Gracias!</a:t>
            </a:r>
            <a:endParaRPr lang="en-US" sz="4000" dirty="0"/>
          </a:p>
        </p:txBody>
      </p:sp>
      <p:sp>
        <p:nvSpPr>
          <p:cNvPr id="3" name="Text 0"/>
          <p:cNvSpPr>
            <a:spLocks noGrp="1"/>
          </p:cNvSpPr>
          <p:nvPr>
            <p:ph type="body" idx="102" hasCustomPrompt="1"/>
          </p:nvPr>
        </p:nvSpPr>
        <p:spPr>
          <a:xfrm>
            <a:off x="1463040" y="2971800"/>
            <a:ext cx="9262872" cy="2926080"/>
          </a:xfrm>
          <a:prstGeom prst="rect">
            <a:avLst/>
          </a:prstGeom>
          <a:noFill/>
          <a:ln/>
        </p:spPr>
        <p:txBody>
          <a:bodyPr wrap="square" lIns="0" tIns="0" rIns="0" bIns="0" rtlCol="0" anchor="t">
            <a:normAutofit/>
          </a:bodyPr>
          <a:lstStyle/>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안녕히 계세요</a:t>
            </a:r>
            <a:r>
              <a:rPr lang="en-US" sz="2200" dirty="0">
                <a:solidFill>
                  <a:srgbClr val="FFFFFF"/>
                </a:solidFill>
              </a:rPr>
              <a:t>! (ustedes se van)</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안녕히 가세요</a:t>
            </a:r>
            <a:r>
              <a:rPr lang="en-US" sz="2200" dirty="0">
                <a:solidFill>
                  <a:srgbClr val="FFFFFF"/>
                </a:solidFill>
              </a:rPr>
              <a:t>! (Kiran se queda)</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화이팅</a:t>
            </a:r>
            <a:r>
              <a:rPr lang="en-US" sz="2200" dirty="0">
                <a:solidFill>
                  <a:srgbClr val="FFFFFF"/>
                </a:solidFill>
              </a:rPr>
              <a:t>!</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메뉴  </a:t>
            </a:r>
            <a:r>
              <a:rPr lang="en-US" sz="3000" b="1" dirty="0">
                <a:solidFill>
                  <a:srgbClr val="003478"/>
                </a:solidFill>
              </a:rPr>
              <a:t>Extra · Menú</a:t>
            </a:r>
            <a:r>
              <a:rPr lang="en-US" sz="1500" b="1" i="1" dirty="0">
                <a:solidFill>
                  <a:srgbClr val="8A8DA0"/>
                </a:solidFill>
              </a:rPr>
              <a:t>   Extra · Menu</a:t>
            </a:r>
            <a:endParaRPr lang="en-US" sz="3000" dirty="0"/>
          </a:p>
        </p:txBody>
      </p:sp>
      <p:pic>
        <p:nvPicPr>
          <p:cNvPr id="3" name="imagen" descr="C:\Users\Chingu\AppData\Local\Temp\claude\C--Users-Chingu-Desktop-ACADEMIASEULWEB\d4111e1b-5523-44ea-97b2-b1a1d9545b9e\scratchpad\decks\cache\img_ea43642194f546d8.png"/>
          <p:cNvPicPr>
            <a:picLocks noChangeAspect="1"/>
          </p:cNvPicPr>
          <p:nvPr/>
        </p:nvPicPr>
        <p:blipFill>
          <a:blip r:embed="rId3"/>
          <a:stretch>
            <a:fillRect/>
          </a:stretch>
        </p:blipFill>
        <p:spPr>
          <a:xfrm>
            <a:off x="7754112" y="1508760"/>
            <a:ext cx="3886200" cy="4480560"/>
          </a:xfrm>
          <a:prstGeom prst="rect">
            <a:avLst/>
          </a:prstGeom>
        </p:spPr>
      </p:pic>
      <p:sp>
        <p:nvSpPr>
          <p:cNvPr id="4" name="Text 1"/>
          <p:cNvSpPr txBox="1"/>
          <p:nvPr/>
        </p:nvSpPr>
        <p:spPr>
          <a:xfrm>
            <a:off x="548640" y="1325880"/>
            <a:ext cx="693115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Ya puedes leer un menú: léelo en voz alta</a:t>
            </a:r>
            <a:endParaRPr lang="en-US" sz="1800" dirty="0"/>
          </a:p>
        </p:txBody>
      </p:sp>
      <p:sp>
        <p:nvSpPr>
          <p:cNvPr id="5" name="tile_0"/>
          <p:cNvSpPr/>
          <p:nvPr/>
        </p:nvSpPr>
        <p:spPr>
          <a:xfrm>
            <a:off x="548640" y="1874520"/>
            <a:ext cx="2157984" cy="2034540"/>
          </a:xfrm>
          <a:prstGeom prst="roundRect">
            <a:avLst>
              <a:gd name="adj" fmla="val 6742"/>
            </a:avLst>
          </a:prstGeom>
          <a:solidFill>
            <a:srgbClr val="F1F0FE"/>
          </a:solidFill>
          <a:ln w="12700">
            <a:solidFill>
              <a:srgbClr val="D9D7F7"/>
            </a:solidFill>
            <a:prstDash val="solid"/>
          </a:ln>
        </p:spPr>
      </p:sp>
      <p:sp>
        <p:nvSpPr>
          <p:cNvPr id="6" name="Text 3"/>
          <p:cNvSpPr txBox="1"/>
          <p:nvPr/>
        </p:nvSpPr>
        <p:spPr>
          <a:xfrm>
            <a:off x="548640" y="1947672"/>
            <a:ext cx="2157984" cy="1261415"/>
          </a:xfrm>
          <a:prstGeom prst="rect">
            <a:avLst/>
          </a:prstGeom>
          <a:noFill/>
          <a:ln/>
        </p:spPr>
        <p:txBody>
          <a:bodyPr wrap="square" lIns="0" tIns="0" rIns="0" bIns="0" rtlCol="0" anchor="ctr">
            <a:normAutofit/>
          </a:bodyPr>
          <a:lstStyle/>
          <a:p>
            <a:pPr marL="0" indent="0" algn="ctr" eaLnBrk="1">
              <a:buNone/>
            </a:pPr>
            <a:r>
              <a:rPr lang="ko-KR" altLang="en-US" sz="3600" b="1" dirty="0">
                <a:solidFill>
                  <a:srgbClr val="4236F6"/>
                </a:solidFill>
                <a:latin typeface="Malgun Gothic" pitchFamily="34" charset="0"/>
                <a:ea typeface="Malgun Gothic" pitchFamily="34" charset="-122"/>
                <a:cs typeface="Malgun Gothic" pitchFamily="34" charset="-120"/>
              </a:rPr>
              <a:t>김밥</a:t>
            </a:r>
            <a:endParaRPr lang="en-US" sz="3600" dirty="0"/>
          </a:p>
        </p:txBody>
      </p:sp>
      <p:sp>
        <p:nvSpPr>
          <p:cNvPr id="7" name="tile_1"/>
          <p:cNvSpPr/>
          <p:nvPr/>
        </p:nvSpPr>
        <p:spPr>
          <a:xfrm>
            <a:off x="2935224" y="1874520"/>
            <a:ext cx="2157984" cy="2034540"/>
          </a:xfrm>
          <a:prstGeom prst="roundRect">
            <a:avLst>
              <a:gd name="adj" fmla="val 6742"/>
            </a:avLst>
          </a:prstGeom>
          <a:solidFill>
            <a:srgbClr val="F1F0FE"/>
          </a:solidFill>
          <a:ln w="12700">
            <a:solidFill>
              <a:srgbClr val="D9D7F7"/>
            </a:solidFill>
            <a:prstDash val="solid"/>
          </a:ln>
        </p:spPr>
      </p:sp>
      <p:sp>
        <p:nvSpPr>
          <p:cNvPr id="8" name="Text 5"/>
          <p:cNvSpPr txBox="1"/>
          <p:nvPr/>
        </p:nvSpPr>
        <p:spPr>
          <a:xfrm>
            <a:off x="2935224" y="1947672"/>
            <a:ext cx="2157984" cy="1261415"/>
          </a:xfrm>
          <a:prstGeom prst="rect">
            <a:avLst/>
          </a:prstGeom>
          <a:noFill/>
          <a:ln/>
        </p:spPr>
        <p:txBody>
          <a:bodyPr wrap="square" lIns="0" tIns="0" rIns="0" bIns="0" rtlCol="0" anchor="ctr">
            <a:normAutofit/>
          </a:bodyPr>
          <a:lstStyle/>
          <a:p>
            <a:pPr marL="0" indent="0" algn="ctr" eaLnBrk="1">
              <a:buNone/>
            </a:pPr>
            <a:r>
              <a:rPr lang="ko-KR" altLang="en-US" sz="3600" b="1" dirty="0">
                <a:solidFill>
                  <a:srgbClr val="4236F6"/>
                </a:solidFill>
                <a:latin typeface="Malgun Gothic" pitchFamily="34" charset="0"/>
                <a:ea typeface="Malgun Gothic" pitchFamily="34" charset="-122"/>
                <a:cs typeface="Malgun Gothic" pitchFamily="34" charset="-120"/>
              </a:rPr>
              <a:t>비빔밥</a:t>
            </a:r>
            <a:endParaRPr lang="en-US" sz="3600" dirty="0"/>
          </a:p>
        </p:txBody>
      </p:sp>
      <p:sp>
        <p:nvSpPr>
          <p:cNvPr id="9" name="tile_2"/>
          <p:cNvSpPr/>
          <p:nvPr/>
        </p:nvSpPr>
        <p:spPr>
          <a:xfrm>
            <a:off x="5321808" y="1874520"/>
            <a:ext cx="2157984" cy="2034540"/>
          </a:xfrm>
          <a:prstGeom prst="roundRect">
            <a:avLst>
              <a:gd name="adj" fmla="val 6742"/>
            </a:avLst>
          </a:prstGeom>
          <a:solidFill>
            <a:srgbClr val="F1F0FE"/>
          </a:solidFill>
          <a:ln w="12700">
            <a:solidFill>
              <a:srgbClr val="D9D7F7"/>
            </a:solidFill>
            <a:prstDash val="solid"/>
          </a:ln>
        </p:spPr>
      </p:sp>
      <p:sp>
        <p:nvSpPr>
          <p:cNvPr id="10" name="Text 7"/>
          <p:cNvSpPr txBox="1"/>
          <p:nvPr/>
        </p:nvSpPr>
        <p:spPr>
          <a:xfrm>
            <a:off x="5321808" y="1947672"/>
            <a:ext cx="2157984" cy="1261415"/>
          </a:xfrm>
          <a:prstGeom prst="rect">
            <a:avLst/>
          </a:prstGeom>
          <a:noFill/>
          <a:ln/>
        </p:spPr>
        <p:txBody>
          <a:bodyPr wrap="square" lIns="0" tIns="0" rIns="0" bIns="0" rtlCol="0" anchor="ctr">
            <a:normAutofit/>
          </a:bodyPr>
          <a:lstStyle/>
          <a:p>
            <a:pPr marL="0" indent="0" algn="ctr" eaLnBrk="1">
              <a:buNone/>
            </a:pPr>
            <a:r>
              <a:rPr lang="ko-KR" altLang="en-US" sz="3600" b="1" dirty="0">
                <a:solidFill>
                  <a:srgbClr val="4236F6"/>
                </a:solidFill>
                <a:latin typeface="Malgun Gothic" pitchFamily="34" charset="0"/>
                <a:ea typeface="Malgun Gothic" pitchFamily="34" charset="-122"/>
                <a:cs typeface="Malgun Gothic" pitchFamily="34" charset="-120"/>
              </a:rPr>
              <a:t>불고기</a:t>
            </a:r>
            <a:endParaRPr lang="en-US" sz="3600" dirty="0"/>
          </a:p>
        </p:txBody>
      </p:sp>
      <p:sp>
        <p:nvSpPr>
          <p:cNvPr id="11" name="tile_3"/>
          <p:cNvSpPr/>
          <p:nvPr/>
        </p:nvSpPr>
        <p:spPr>
          <a:xfrm>
            <a:off x="1741932" y="4137660"/>
            <a:ext cx="2157984" cy="2034540"/>
          </a:xfrm>
          <a:prstGeom prst="roundRect">
            <a:avLst>
              <a:gd name="adj" fmla="val 6742"/>
            </a:avLst>
          </a:prstGeom>
          <a:solidFill>
            <a:srgbClr val="F1F0FE"/>
          </a:solidFill>
          <a:ln w="12700">
            <a:solidFill>
              <a:srgbClr val="D9D7F7"/>
            </a:solidFill>
            <a:prstDash val="solid"/>
          </a:ln>
        </p:spPr>
      </p:sp>
      <p:sp>
        <p:nvSpPr>
          <p:cNvPr id="12" name="Text 9"/>
          <p:cNvSpPr txBox="1"/>
          <p:nvPr/>
        </p:nvSpPr>
        <p:spPr>
          <a:xfrm>
            <a:off x="1741932" y="4210812"/>
            <a:ext cx="2157984" cy="1261415"/>
          </a:xfrm>
          <a:prstGeom prst="rect">
            <a:avLst/>
          </a:prstGeom>
          <a:noFill/>
          <a:ln/>
        </p:spPr>
        <p:txBody>
          <a:bodyPr wrap="square" lIns="0" tIns="0" rIns="0" bIns="0" rtlCol="0" anchor="ctr">
            <a:normAutofit/>
          </a:bodyPr>
          <a:lstStyle/>
          <a:p>
            <a:pPr marL="0" indent="0" algn="ctr" eaLnBrk="1">
              <a:buNone/>
            </a:pPr>
            <a:r>
              <a:rPr lang="ko-KR" altLang="en-US" sz="3600" b="1" dirty="0">
                <a:solidFill>
                  <a:srgbClr val="4236F6"/>
                </a:solidFill>
                <a:latin typeface="Malgun Gothic" pitchFamily="34" charset="0"/>
                <a:ea typeface="Malgun Gothic" pitchFamily="34" charset="-122"/>
                <a:cs typeface="Malgun Gothic" pitchFamily="34" charset="-120"/>
              </a:rPr>
              <a:t>라면</a:t>
            </a:r>
            <a:endParaRPr lang="en-US" sz="3600" dirty="0"/>
          </a:p>
        </p:txBody>
      </p:sp>
      <p:sp>
        <p:nvSpPr>
          <p:cNvPr id="13" name="tile_4"/>
          <p:cNvSpPr/>
          <p:nvPr/>
        </p:nvSpPr>
        <p:spPr>
          <a:xfrm>
            <a:off x="4128516" y="4137660"/>
            <a:ext cx="2157984" cy="2034540"/>
          </a:xfrm>
          <a:prstGeom prst="roundRect">
            <a:avLst>
              <a:gd name="adj" fmla="val 6742"/>
            </a:avLst>
          </a:prstGeom>
          <a:solidFill>
            <a:srgbClr val="F1F0FE"/>
          </a:solidFill>
          <a:ln w="12700">
            <a:solidFill>
              <a:srgbClr val="D9D7F7"/>
            </a:solidFill>
            <a:prstDash val="solid"/>
          </a:ln>
        </p:spPr>
      </p:sp>
      <p:sp>
        <p:nvSpPr>
          <p:cNvPr id="14" name="Text 11"/>
          <p:cNvSpPr txBox="1"/>
          <p:nvPr/>
        </p:nvSpPr>
        <p:spPr>
          <a:xfrm>
            <a:off x="4128516" y="4210812"/>
            <a:ext cx="2157984" cy="1261415"/>
          </a:xfrm>
          <a:prstGeom prst="rect">
            <a:avLst/>
          </a:prstGeom>
          <a:noFill/>
          <a:ln/>
        </p:spPr>
        <p:txBody>
          <a:bodyPr wrap="square" lIns="0" tIns="0" rIns="0" bIns="0" rtlCol="0" anchor="ctr">
            <a:normAutofit/>
          </a:bodyPr>
          <a:lstStyle/>
          <a:p>
            <a:pPr marL="0" indent="0" algn="ctr" eaLnBrk="1">
              <a:buNone/>
            </a:pPr>
            <a:r>
              <a:rPr lang="ko-KR" altLang="en-US" sz="3600" b="1" dirty="0">
                <a:solidFill>
                  <a:srgbClr val="4236F6"/>
                </a:solidFill>
                <a:latin typeface="Malgun Gothic" pitchFamily="34" charset="0"/>
                <a:ea typeface="Malgun Gothic" pitchFamily="34" charset="-122"/>
                <a:cs typeface="Malgun Gothic" pitchFamily="34" charset="-120"/>
              </a:rPr>
              <a:t>김치찌개</a:t>
            </a:r>
            <a:endParaRPr lang="en-US" sz="3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32</a:t>
            </a:fld>
            <a:endParaRPr lang="en-US"/>
          </a:p>
        </p:txBody>
      </p:sp>
    </p:spTree>
  </p:cSld>
  <p:clrMapOvr>
    <a:masterClrMapping/>
  </p:clrMapOvr>
</p:sld>
</file>

<file path=ppt/theme/theme1.xml><?xml version="1.0" encoding="utf-8"?>
<a:theme xmlns:a="http://schemas.openxmlformats.org/drawingml/2006/main" name="Academia Seul">
  <a:themeElements>
    <a:clrScheme name="Academia Seul">
      <a:dk1>
        <a:srgbClr val="14142B"/>
      </a:dk1>
      <a:lt1>
        <a:srgbClr val="FFFFFF"/>
      </a:lt1>
      <a:dk2>
        <a:srgbClr val="003478"/>
      </a:dk2>
      <a:lt2>
        <a:srgbClr val="F1F0FE"/>
      </a:lt2>
      <a:accent1>
        <a:srgbClr val="4236F6"/>
      </a:accent1>
      <a:accent2>
        <a:srgbClr val="E8B84B"/>
      </a:accent2>
      <a:accent3>
        <a:srgbClr val="003478"/>
      </a:accent3>
      <a:accent4>
        <a:srgbClr val="8A83FF"/>
      </a:accent4>
      <a:accent5>
        <a:srgbClr val="5C5F6B"/>
      </a:accent5>
      <a:accent6>
        <a:srgbClr val="B8962E"/>
      </a:accent6>
      <a:hlink>
        <a:srgbClr val="4236F6"/>
      </a:hlink>
      <a:folHlink>
        <a:srgbClr val="003478"/>
      </a:folHlink>
    </a:clrScheme>
    <a:fontScheme name="Academia Se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6403</Words>
  <Application>Microsoft Office PowerPoint</Application>
  <PresentationFormat>Widescreen</PresentationFormat>
  <Paragraphs>559</Paragraphs>
  <Slides>32</Slides>
  <Notes>32</Notes>
  <HiddenSlides>0</HiddenSlides>
  <MMClips>24</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Malgun Gothic</vt:lpstr>
      <vt:lpstr>Arial</vt:lpstr>
      <vt:lpstr>Academia Seul</vt:lpstr>
      <vt:lpstr>Termino de leer el alfabeto y me presento</vt:lpstr>
      <vt:lpstr>퀴즈  Quiz 1   Quiz 1</vt:lpstr>
      <vt:lpstr>퀴즈  Quiz 1 · lee tu palabra   Quiz 1 · read your word</vt:lpstr>
      <vt:lpstr>Hoy vas a poder decir…   Today you'll be able to say…</vt:lpstr>
      <vt:lpstr>받침  Un piso más   Batchim · one more floor</vt:lpstr>
      <vt:lpstr>Solo 7 sonidos   Only 7 final sounds</vt:lpstr>
      <vt:lpstr>Palabras de la semana con 받침   This week's words with batchim</vt:lpstr>
      <vt:lpstr>¿ㄴ o ㅇ?   ㄴ or ㅇ?</vt:lpstr>
      <vt:lpstr>La prueba del papel   The paper test</vt:lpstr>
      <vt:lpstr>Dos vocales en una   Two vowels in one</vt:lpstr>
      <vt:lpstr>받아쓰기  Dictado   Dictation</vt:lpstr>
      <vt:lpstr>받아쓰기  Dictado · clave   Dictation · answer key</vt:lpstr>
      <vt:lpstr>안녕하세요!  ¡Hola!   Hello!</vt:lpstr>
      <vt:lpstr>¿Quién soy?   Who am I?</vt:lpstr>
      <vt:lpstr>¿이에요 o 예요?   이에요 or 예요?</vt:lpstr>
      <vt:lpstr>Tu nombre en 한글 manda   Your name in Hangul decides</vt:lpstr>
      <vt:lpstr>저는  "En cuanto a mí"   As for me</vt:lpstr>
      <vt:lpstr>Tu país: país + 사람   Your country: country + 사람</vt:lpstr>
      <vt:lpstr>A qué te dedicas   What do you do?</vt:lpstr>
      <vt:lpstr>Dos preguntas y una respuesta   Two questions and one answer</vt:lpstr>
      <vt:lpstr>Diálogo modelo · primer día de clase (1)   Model dialogue (1)</vt:lpstr>
      <vt:lpstr>Diálogo modelo · primer día de clase (2)   Model dialogue (2)</vt:lpstr>
      <vt:lpstr>목례 y 안녕   Bowing and 안녕</vt:lpstr>
      <vt:lpstr>¿Quién se va?   Who is leaving?</vt:lpstr>
      <vt:lpstr>Nuestros nombres   Our names</vt:lpstr>
      <vt:lpstr>Ronda en cadena   Chain round</vt:lpstr>
      <vt:lpstr>Salas de 3 · 20 min   Breakout rooms of 3 · 20 min</vt:lpstr>
      <vt:lpstr>Minuto libre   Free minute</vt:lpstr>
      <vt:lpstr>Las 3 frases clave   The 3 key phrases</vt:lpstr>
      <vt:lpstr>Tarea · antes de tu clase 3   Homework · before class 3</vt:lpstr>
      <vt:lpstr>감사합니다!  ¡Gracias!</vt:lpstr>
      <vt:lpstr>메뉴  Extra · Menú   Extra · Menu</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Básico 1 (A1.1) · Semana 2 · 가나다라 II + 안녕하세요</dc:title>
  <dc:subject>PptxGenJS Presentation</dc:subject>
  <dc:creator>Academia Seúl</dc:creator>
  <cp:lastModifiedBy>Jae Hee Kim</cp:lastModifiedBy>
  <cp:revision>2</cp:revision>
  <dcterms:created xsi:type="dcterms:W3CDTF">2026-10-16T10:02:29Z</dcterms:created>
  <dcterms:modified xsi:type="dcterms:W3CDTF">2026-10-16T10:03:06Z</dcterms:modified>
</cp:coreProperties>
</file>