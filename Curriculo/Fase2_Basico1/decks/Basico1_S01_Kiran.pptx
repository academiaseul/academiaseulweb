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1" id="{AB62979E-C556-EAD6-2435-B0BFBBAFE96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390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20:00–20:03. Inicia la grabación en la nube y saluda a cada persona que entra con «안녕하세요!» y una leve inclinación; si responde en español, repite sonriendo y haz el gesto de "tu turno" (palma abierta). Pide cámara y nombre real; quien ya tenga el teclado escribe 아 (D + K) en el chat, y si le sale "dk" cambia a 가 en la barra de tareas; quien no lo tenga trabaja hoy con cuaderno. Lee en voz alta 2 o 3 respuestas sobre el libro con que aprendieron a leer: las usas en la lámina 6.
Imagen: incluida (dibujo de la casa).
Fuente: Nueva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 30 s. La promesa de la clase: «Hoy, en 55 minutos, vas a leer tus primeras palabras en coreano. De verdad. No porque seas un genio (que a lo mejor sí), sino porque este alfabeto está diseñado para aprenderse rápido.»
Fuente: Portada de la plantilla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«Yo explico en español, pero las instrucciones van en coreano. Son cuatro, con gesto»: 따라 하세요 con la palma abierta hacia la cámara, 읽으세요 señalando la pantalla, 다시 한번 con el índice dibujando un círculo y 잘했어요 con el pulgar arriba. La romanización gris aparece con clic recién después de que los dijiste. «No hay que memorizarlas: de tanto oírlas, las vas a reconocer.»
Imagen: incluida (dibujo de la casa).
Fuente: Nueva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«Este alfabeto tiene autor»: Sejong lo creó en 1443 y lo publicó en 1446 en 훈민정음, porque quería que cualquiera pudiera leer. Cierra con la promesa del libro y «Nosotros tenemos ocho semanas: vamos sobrados». Si alguien pregunta: la frase de la mañana y los diez días está en el epílogo del libro, escrito por el sabio Jeong In-ji (정인지).
Imagen: incluida (dibujo de la casa).
Fuente: Cap1-2 L3–L4 (§1.1–1.2) + imagen de "Parte 1 - historia de hangul"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 «Y llegaron en buen momento: este mes, el 9 de octubre, Corea del Sur celebró 한글날, el día del alfabeto. Es feriado nacional.» Si preguntan: dejó de ser feriado en 1991 y volvió a serlo en 2013; en Corea del Norte el día del alfabeto es el 15 de enero.
Imagen: incluida (dibujo de la casa).
Fuente: Nueva (gancho [YA])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Nombra lo que salió en el chat («Varios escribieron Silabario, Coquito…»): «Con esos libros aprendimos ma, me, mi, mo, mu: por sílabas. El coreano se lee exactamente así. La única diferencia: cada sílaba va dentro de un cuadrado.» Cierra en coreano: «따라 하세요: 한글!» y el grupo responde «한글!».
Fuente: Cap1-2 L63 (§3.1), adaptada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20:07, 30 s. «Las vocales se arman con tres dibujos: un punto, que es el cielo; una raya acostada, la tierra; una raya parada, la persona. En el Lector lo ves con calma (Aprender 2). Hoy, lo importante: mira dónde queda el palito.»
Fuente: Cap1-2 L11–L12 (§1.7–1.8)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30 s, vista de galería para ver las bocas. Di cada vocal dos veces con su gesto (mano bajo el mentón en ㅏ, índices en las comisuras en ㅓ, círculo chico en ㅗ, círculo que se adelanta en ㅜ, comisuras estiradas en ㅡ) y el grupo hace eco. Después las seis seguidas dos veces; la tercera, el grupo solo y tú solo haces los gestos. Recién ahí haces clic y aparece la romanización: «La línea gris es un puente para estas dos semanas. Mírala después de oír, nunca antes.»
Imagen: incluida (dibujo de la casa).
Fuente: Cap1-2 L13–L18 (§1.9–1.10), fusionadas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«Dos pares que el español no tiene. Si oyes ㅓ, un dedo a la cámara; si oyes ㅗ, dos.» Secuencia: ㅓ · ㅗ · ㅗ · ㅓ · ㅗ · ㅓ. Mira la galería; si muchos fallan, repite exagerando la boca.
Imagen: incluida (dibujo de la casa).
Fuente: Cap1-2 L14, L18 (ejemplos cambiados)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de dedos + 1 min 30 s de 1:1. «Ahora: ㅡ un dedo, ㅜ dos.» Secuencia: ㅡ · ㅜ · ㅡ · ㅡ · ㅜ · ㅜ. Para el 1:1 di juntos los nombres de los alumnos 1 a 5 (los primeros de la lista de participantes) y pide que abran el micrófono ya; a cada uno: «(nombre), 읽으세요» y señalas un par. Si falla, gesto de boca + «다시 한번»; si acierta, «잘했어요!»; máximo dos intentos, y si no sale, «lo vemos en tu sala» y lo anotas.
Imagen: incluida (dibujo de la casa).
Fuente: Cap1-2 L15 + nueva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«¿아이 u 오이? 아이 es niño o niña; 오이 es pepino. Si en la verdulería pides un 아이… te miran raro.» Luego «따라 하세요: 아이? 오이!» y el grupo repite. Aquí 아 y 오 llevan el circulito: di solo «ese círculo lo explico en 10 minutos».
Fuente: Nueva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«Una rayita más = una "y" delante»: ㅏ→ㅑ, ㅓ→ㅕ, ㅗ→ㅛ, ㅜ→ㅠ. Un coro: ㅑ, ㅕ, ㅛ, ㅠ, y después el clic con la romanización gris. «ㅕ es "y" más ㅓ: boca relajada, no "yo".»
Fuente: Cap1-2 L20 (§1.12)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«En el libro y en el Lector van en este orden: ㅏ ㅑ ㅓ ㅕ ㅗ ㅛ ㅜ ㅠ ㅡ ㅣ. Se escriben de arriba abajo y de izquierda a derecha: ㅏ, primero el palo y después la rayita; ㅓ, primero la rayita y después el palo. Lo practicas en la hoja.» En la S1 no se exige caligrafía, sí la sílaba bien armada.
Imagen: incluida (dibujo de la casa).
Fuente: Cap1-2 L25 (§1.13), sin ㅐ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20:15, 2 min. «Si las vocales son cielo, tierra y persona, las consonantes son fotos de tu boca. Hagamos la prueba.» Que digan "nnnn": la punta de la lengua toca detrás de los dientes de arriba; de perfil, ㄴ. Luego "mmmm": labios cerrados, de frente un cuadrado: ㅁ. Muestra ㄱ (atrás de la lengua que sube), ㅅ (un diente) y ㅇ (la garganta). Si alguien pregunta: el nombre 한글 se popularizó a comienzos del siglo XX; en 1446 se llamaba 훈민정음.
Imagen: incluida (dibujo de la casa).
Fuente: Cap1-2 L33–L34 (§2.1–2.2)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«Así aprenden los niños coreanos las consonantes: cada una con ㅏ.» «따라 하세요»: tú 가, 나, 다, 라 → grupo · 마, 바, 사 → grupo · 아, 자, 차 → grupo · 카, 타, 파, 하 → grupo. Después la línea entera dos veces, con ritmo: 가나다라마바사 · 아자차카타파하. La romanización gris aparece con clic al final del canto.
Fuente: Cap1-2 L59 (§2.8), sin tensas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«Pon la palma frente a la boca. 가… 카. ¿Sentiste el soplo en 카?» «따라 하세요: 가 – 카, 다 – 타, 바 – 파, 자 – 차.» «ㄱ ㄷ ㅂ ㅈ: suaves, con poco aire. ㅋ ㅌ ㅍ ㅊ: con mucho soplo. Cada trazo nuevo, un sonido más fuerte.» Ojo: ㄴ → ㄷ y ㅁ → ㅂ no suman aire, suman fuerza (principio de 훈민정음 de agregar un trazo): no digas "más aire" para esos pasos.
Imagen: incluida (dibujo de la casa).
Fuente: Cap1-2 L35–L37, L39–L42, L45–L48, L50–L53, L56–L58 (sin L38, L43, L49, L54, L55: tensas, S2)
Lámina 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de trampas + 1 min de 1:1. Recorre las cinco con su palabra de prueba (ㅈ entre vocales, como en 아버지, se ablanda casi a la "j" inglesa de jeans: nunca la jota de jamón). Para el 1:1, di juntos los nombres de los alumnos 6 a 10 y pide micrófonos abiertos; uno por par. Corrige con la palma («다시 한번») y celebra con «잘했어요!». Si alguien arma 시 en las salas, ㅅ delante de ㅣ suena casi "sh": no hace falta decirlo ahora.
Fuente: Nueva
Lámina 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1 min. «Regla 1: en coreano, toda sílaba empieza con consonante. ¿Y si quiero decir solo "a"? Pongo ㅇ, que al inicio no suena. Así se escriben las vocales que ya dices: 아, 어, 오, 우, 으, 이.» Coro de las seis.
Fuente: Cap1-2 L64 (§3.2), L77–L78 (§3.15–3.16), sin ㅐ
Lámina 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«Regla 2: la vocal manda. Si está parada, va a la derecha: 가, 너, 이. Si está acostada, va debajo: 고, 누, 으. Regla 3: se lee como en español, de izquierda a derecha y de arriba abajo.» Chequeo en el chat: «¿ㅗ va a la derecha o debajo? ¿Y ㅓ?»
Fuente: Cap1-2 L65–L66 (§3.3–3.4), solo consonante + vocal
Lámina 19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Modela tú el primero y haz clic: «ㄴ + ㅏ… 나. ㅁ + ㅜ… 무. ¡나무, árbol!» Luego el grupo contesta en voz alta o en el chat antes de cada clic: 바다, 우유, 모자. Cierra con «¿Cuántos cuadrados tiene 어머니? Tres. ¿Y "madre"? Dos sílabas.»
Fuente: Cap1-2 L79 (§3.17), adaptada
Lámina 20a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Di juntos los nombres de los alumnos 11 a 15 y pide micrófonos abiertos; a cada uno, «(nombre), 읽으세요» y un par: 너/노, 머/모, 그/구, 스/수, 거/고. Si falla, gesto de boca + «다시 한번»; si acierta, «잘했어요!». Con esto los 15 pasaron por un 1:1 de ㅓ/ㅗ, ㅡ/ㅜ o de aire antes de las salas.
Fuente: Fila de 1:1 de la lámina 20 de la guía (partida por espacio)
Lámina 20b</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20:29–20:32. «Lectura relámpago. Digo tu nombre, aparece una palabra con su dibujo y la lees en voz alta. Todos los demás escriben en el chat qué significa. 읽으세요!» Un alumno por palabra, ≈ 15 s cada una; anuncia al siguiente mientras lee el actual («Sofía lee; prepárate, Daniel»). Después de cada lectura dices tú la palabra (modelo) y haces clic: aparece la romanización gris.
Fuente: Cap1-2 L80, L85, adaptadas
Lámina 21a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ritmo. Si a las 20:31:30 vas por la palabra 8 o antes, corta ahí y pasa a la consigna: la ronda 3 de las salas cubre las 12. En 나 / 너: «Yo y tú, entre amigos. Conmigo no, ¿eh? Cómo se dice "yo" con la profe lo vemos en la semana 2.» En 어머니 / 아버지: «Madre y padre. Mamá y papá (엄마, 아빠) llegan en la semana 4.»
Fuente: Cap1-2 L80, L85, adaptadas
Lámina 21b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20:32–20:33. Explica las 4 rondas y pega en el chat el link de la tarjeta de sala; pide que la abran ahora, porque el chat de la sala es otro y ahí el link no aparece. Si no tienes el link o no abre, pega el texto de respaldo de la guía (bloque 7) y pide captura. Salas automáticas de 2 (15 → 7 salas), permitir volver, cierre automático a los 18 min con 60 s de cuenta regresiva; si alguien ya lee, muévelo a una sala con alguien de cero. Transmite a las 20:40 (R2), 20:44 (R3) y 20:49 (R4).
Fuente: Nueva
Lámina 22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 1 min 30 s. Tres errores del día con el gesto y la palabra correcta; casi seguro serán estos: ㅓ dicha como ㅗ (어머니), ㅡ dicha como ㅜ (으) y ㄹ fuerte o ㅈ como jota (머리, 아버지). Todos repiten cada palabra. Si en las salas oíste otros, ajusta la lámina a lo que oíste. Mientras vuelven, celebra de reojo el mejor tiempo de R4 que escribieron en el chat («잘했어요!»).
Fuente: Nueva
Lámina 23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«Primero yo, despacio; después ustedes.» Tú sola, lento y con 2 s de pausa: «아, 어, 오, 우, 으, 이» → grupo · «나무, 바다, 우유» → grupo · «어머니, 아버지» → grupo. De aquí se recorta el clip B1_S01_frases_clave.mp3 (lo corta producción o Jay; tú no grabas ni editas): por eso tu versión va sola, lenta y limpia.
Fuente: Diseño B.12
Lámina 24</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20:55, 1 min 30 s. Comparte 20 s el Lector (Practicar → chips Vocales y Consonantes; pestaña Progreso). «Unos 30 minutos, antes de la clase 2.» El audio base es el "antes": en la semana 8 se compara con el audio final, así que deben guardarlo. «Todo va en el mensaje del grupo esta noche. Y la clase 2 empieza con un quiz de 5 preguntas en el chat sobre lo de hoy: instala el teclado.» Si hay alumnos en España, avisa que el domingo 25 cambian de hora: allá la clase 2 es a las 00:00.
Fuente: Nueva
Lámina 25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"tabla del deck" que cita la tarea publicada: muéstrala al explicar la tarea si hay tiempo y queda en el PDF de la clase. Algunas piezas son de la semana 2 (la vocal ㅔ y las consonantes que van abajo): que las usen igual, porque su nombre no puede esperar. ¿Un nombre que no está o con ll, ñ, x o y? «Arma tu propuesta con la tabla y te la confirmo en el grupo.»
Fuente: Nueva (material del alumno, 3.5)
Lámina 25b-1</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últimas filas son las que más cuestan: n, m o l sin vocal detrás van abajo; las demás consonantes sin vocal llevan ㅡ; la l en medio de la palabra, antes de vocal, se escribe ㄹㄹ. Algunos nombres tienen más de una forma aceptada: si un alumno trae otra grafía válida, se respeta. Excepciones que resuelves tú en el grupo: c y p antes de consonante van abajo (Víctor 빅토르, Héctor 엑토르); ll, ñ, x, y, uno a uno.
Fuente: Nueva (material del alumno, 3.5)
Lámina 25b-2</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«La línea gris es un puente: semanas 1 y 2, sí; 3 y 4, solo si la pides; desde la 5, solo 한글. En tu hoja está el porqué.»
Fuente: Diseño, sección D
Lámina 26</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«잘했어요! 화이팅!» y luego, con una leve inclinación, «감사합니다!»: el grupo lo imita. A las 20:58 en punto, "Finalizar reunión para todos": a las 21:00 empieza otra clase en la misma cuenta.
Fuente: Cap1-2 L124–L125, adaptadas
Lámina 27</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como actividad de emergencia (si sobran 2–4 min) o de extensión. El grupo lee una fila en coro en el orden del libro (나 냐 너 녀 노 뇨 누 뉴 느 니) y alguien lee una columna (todas con ㅗ: 고 노 도 로…). Varias sílabas no son palabras: no importa, se entrena armar y leer. En la fila de ㅅ, 시 (y 샤 셔 쇼 슈) suena casi "sh".
Fuente: Nueva (cuadro de la clave C.16)
Lámina Extra 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las filas de ㅈ y ㅊ, 쟈 져 죠 쥬 / 챠 쳐 쵸 츄 suenan en la práctica como 자 저 조 주 / 차 처 초 추: si un alumno lee 쟈 igual que 자, está bien. Anécdota si sobra tiempo: el día del alfabeto se llamó al principio 가갸날 (1926, celebrado entonces en noviembre), por este 가 갸 거 겨 고 교 구 규 그 기; en 1928 pasó a llamarse 한글날 y el 9 de octubre se fijó en 1945.
Fuente: Nueva (cuadro de la clave C.16)
Lámina Extra b</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1 (A1.1) · Semana 1 · Kiran (기란)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1 (A1.1) · Semana 1 · Kiran (기란)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1 (A1.1) · Semana 1 · Kiran (기란)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audio" Target="../media/media4.mp3"/><Relationship Id="rId13" Type="http://schemas.openxmlformats.org/officeDocument/2006/relationships/image" Target="../media/image6.png"/><Relationship Id="rId3" Type="http://schemas.microsoft.com/office/2007/relationships/media" Target="../media/media2.mp3"/><Relationship Id="rId7" Type="http://schemas.microsoft.com/office/2007/relationships/media" Target="../media/media4.mp3"/><Relationship Id="rId12" Type="http://schemas.openxmlformats.org/officeDocument/2006/relationships/image" Target="../media/image5.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media3.mp3"/><Relationship Id="rId11" Type="http://schemas.openxmlformats.org/officeDocument/2006/relationships/image" Target="../media/image4.png"/><Relationship Id="rId5" Type="http://schemas.microsoft.com/office/2007/relationships/media" Target="../media/media3.mp3"/><Relationship Id="rId15" Type="http://schemas.openxmlformats.org/officeDocument/2006/relationships/image" Target="../media/image8.png"/><Relationship Id="rId10" Type="http://schemas.openxmlformats.org/officeDocument/2006/relationships/notesSlide" Target="../notesSlides/notesSlide3.xml"/><Relationship Id="rId4" Type="http://schemas.openxmlformats.org/officeDocument/2006/relationships/audio" Target="../media/media2.mp3"/><Relationship Id="rId9" Type="http://schemas.openxmlformats.org/officeDocument/2006/relationships/slideLayout" Target="../slideLayouts/slideLayout3.xml"/><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7.mp3"/><Relationship Id="rId7" Type="http://schemas.openxmlformats.org/officeDocument/2006/relationships/image" Target="../media/image21.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notesSlide" Target="../notesSlides/notesSlide11.xml"/><Relationship Id="rId5" Type="http://schemas.openxmlformats.org/officeDocument/2006/relationships/slideLayout" Target="../slideLayouts/slideLayout3.xml"/><Relationship Id="rId4" Type="http://schemas.openxmlformats.org/officeDocument/2006/relationships/audio" Target="../media/media7.mp3"/><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audio" Target="../media/media6.mp3"/><Relationship Id="rId13" Type="http://schemas.openxmlformats.org/officeDocument/2006/relationships/slideLayout" Target="../slideLayouts/slideLayout3.xml"/><Relationship Id="rId18" Type="http://schemas.openxmlformats.org/officeDocument/2006/relationships/image" Target="../media/image41.png"/><Relationship Id="rId3" Type="http://schemas.microsoft.com/office/2007/relationships/media" Target="../media/media9.mp3"/><Relationship Id="rId21" Type="http://schemas.openxmlformats.org/officeDocument/2006/relationships/image" Target="../media/image42.png"/><Relationship Id="rId7" Type="http://schemas.microsoft.com/office/2007/relationships/media" Target="../media/media6.mp3"/><Relationship Id="rId12" Type="http://schemas.openxmlformats.org/officeDocument/2006/relationships/audio" Target="../media/media11.mp3"/><Relationship Id="rId17" Type="http://schemas.openxmlformats.org/officeDocument/2006/relationships/image" Target="../media/image40.png"/><Relationship Id="rId2" Type="http://schemas.openxmlformats.org/officeDocument/2006/relationships/audio" Target="../media/media8.mp3"/><Relationship Id="rId16" Type="http://schemas.openxmlformats.org/officeDocument/2006/relationships/image" Target="../media/image5.png"/><Relationship Id="rId20" Type="http://schemas.openxmlformats.org/officeDocument/2006/relationships/image" Target="../media/image22.png"/><Relationship Id="rId1" Type="http://schemas.microsoft.com/office/2007/relationships/media" Target="../media/media8.mp3"/><Relationship Id="rId6" Type="http://schemas.openxmlformats.org/officeDocument/2006/relationships/audio" Target="../media/media10.mp3"/><Relationship Id="rId11" Type="http://schemas.microsoft.com/office/2007/relationships/media" Target="../media/media11.mp3"/><Relationship Id="rId5" Type="http://schemas.microsoft.com/office/2007/relationships/media" Target="../media/media10.mp3"/><Relationship Id="rId15" Type="http://schemas.openxmlformats.org/officeDocument/2006/relationships/image" Target="../media/image39.png"/><Relationship Id="rId10" Type="http://schemas.openxmlformats.org/officeDocument/2006/relationships/audio" Target="../media/media7.mp3"/><Relationship Id="rId19" Type="http://schemas.openxmlformats.org/officeDocument/2006/relationships/image" Target="../media/image21.png"/><Relationship Id="rId4" Type="http://schemas.openxmlformats.org/officeDocument/2006/relationships/audio" Target="../media/media9.mp3"/><Relationship Id="rId9" Type="http://schemas.microsoft.com/office/2007/relationships/media" Target="../media/media7.mp3"/><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audio" Target="../media/media15.mp3"/><Relationship Id="rId13" Type="http://schemas.openxmlformats.org/officeDocument/2006/relationships/slideLayout" Target="../slideLayouts/slideLayout3.xml"/><Relationship Id="rId18" Type="http://schemas.openxmlformats.org/officeDocument/2006/relationships/image" Target="../media/image45.png"/><Relationship Id="rId3" Type="http://schemas.microsoft.com/office/2007/relationships/media" Target="../media/media13.mp3"/><Relationship Id="rId21" Type="http://schemas.openxmlformats.org/officeDocument/2006/relationships/image" Target="../media/image48.png"/><Relationship Id="rId7" Type="http://schemas.microsoft.com/office/2007/relationships/media" Target="../media/media15.mp3"/><Relationship Id="rId12" Type="http://schemas.openxmlformats.org/officeDocument/2006/relationships/audio" Target="../media/media17.mp3"/><Relationship Id="rId17" Type="http://schemas.openxmlformats.org/officeDocument/2006/relationships/image" Target="../media/image44.png"/><Relationship Id="rId2" Type="http://schemas.openxmlformats.org/officeDocument/2006/relationships/audio" Target="../media/media12.mp3"/><Relationship Id="rId16" Type="http://schemas.openxmlformats.org/officeDocument/2006/relationships/image" Target="../media/image5.png"/><Relationship Id="rId20" Type="http://schemas.openxmlformats.org/officeDocument/2006/relationships/image" Target="../media/image47.png"/><Relationship Id="rId1" Type="http://schemas.microsoft.com/office/2007/relationships/media" Target="../media/media12.mp3"/><Relationship Id="rId6" Type="http://schemas.openxmlformats.org/officeDocument/2006/relationships/audio" Target="../media/media14.mp3"/><Relationship Id="rId11" Type="http://schemas.microsoft.com/office/2007/relationships/media" Target="../media/media17.mp3"/><Relationship Id="rId5" Type="http://schemas.microsoft.com/office/2007/relationships/media" Target="../media/media14.mp3"/><Relationship Id="rId15" Type="http://schemas.openxmlformats.org/officeDocument/2006/relationships/image" Target="../media/image43.png"/><Relationship Id="rId10" Type="http://schemas.openxmlformats.org/officeDocument/2006/relationships/audio" Target="../media/media16.mp3"/><Relationship Id="rId19" Type="http://schemas.openxmlformats.org/officeDocument/2006/relationships/image" Target="../media/image46.png"/><Relationship Id="rId4" Type="http://schemas.openxmlformats.org/officeDocument/2006/relationships/audio" Target="../media/media13.mp3"/><Relationship Id="rId9" Type="http://schemas.microsoft.com/office/2007/relationships/media" Target="../media/media16.mp3"/><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안녕하세요</a:t>
            </a:r>
            <a:r>
              <a:rPr lang="en-US" sz="3000" b="1" dirty="0">
                <a:solidFill>
                  <a:srgbClr val="4236F6"/>
                </a:solidFill>
              </a:rPr>
              <a:t>!  </a:t>
            </a:r>
            <a:r>
              <a:rPr lang="en-US" sz="3000" b="1" dirty="0">
                <a:solidFill>
                  <a:srgbClr val="003478"/>
                </a:solidFill>
              </a:rPr>
              <a:t>Mientras llegan</a:t>
            </a:r>
            <a:r>
              <a:rPr lang="en-US" sz="1500" b="1" i="1" dirty="0">
                <a:solidFill>
                  <a:srgbClr val="8A8DA0"/>
                </a:solidFill>
              </a:rPr>
              <a:t>   While you arrive</a:t>
            </a:r>
            <a:endParaRPr lang="en-US" sz="3000" dirty="0"/>
          </a:p>
        </p:txBody>
      </p:sp>
      <p:sp>
        <p:nvSpPr>
          <p:cNvPr id="3" name="lista"/>
          <p:cNvSpPr txBox="1"/>
          <p:nvPr/>
        </p:nvSpPr>
        <p:spPr>
          <a:xfrm>
            <a:off x="548640" y="1325880"/>
            <a:ext cx="566928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Cámara encendida y tu nombre real en Zoom</a:t>
            </a:r>
            <a:endParaRPr lang="en-US" sz="2200" dirty="0"/>
          </a:p>
          <a:p>
            <a:pPr marL="228600" indent="-228600" eaLnBrk="1">
              <a:spcAft>
                <a:spcPts val="800"/>
              </a:spcAft>
              <a:buSzPct val="100000"/>
              <a:buChar char="•"/>
            </a:pPr>
            <a:r>
              <a:rPr lang="en-US" sz="2200" dirty="0">
                <a:solidFill>
                  <a:srgbClr val="14142B"/>
                </a:solidFill>
              </a:rPr>
              <a:t>¿Ya tienes el teclado coreano? Escribe en el chat: tecla D + tecla K</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Si te sale "dk", cambia el teclado a 가</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Consonantes a la izquierda: A S D F G = ㅁ ㄴ ㅇ ㄹ ㅎ</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Vocales a la derecha: H J K L = ㅗ ㅓ ㅏ ㅣ</a:t>
            </a:r>
            <a:endParaRPr lang="en-US" sz="2200" dirty="0"/>
          </a:p>
          <a:p>
            <a:pPr marL="228600" indent="-228600" eaLnBrk="1">
              <a:spcAft>
                <a:spcPts val="800"/>
              </a:spcAft>
              <a:buSzPct val="100000"/>
              <a:buChar char="•"/>
            </a:pPr>
            <a:r>
              <a:rPr lang="en-US" sz="2200" dirty="0">
                <a:solidFill>
                  <a:srgbClr val="14142B"/>
                </a:solidFill>
              </a:rPr>
              <a:t>Pregunta para el chat: ¿con qué libro aprendiste a leer?</a:t>
            </a:r>
            <a:endParaRPr lang="en-US" sz="2200" dirty="0"/>
          </a:p>
        </p:txBody>
      </p:sp>
      <p:sp>
        <p:nvSpPr>
          <p:cNvPr id="4"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5" name="imagen" descr="C:\Users\Chingu\AppData\Local\Temp\claude\C--Users-Chingu-Desktop-ACADEMIASEULWEB\d4111e1b-5523-44ea-97b2-b1a1d9545b9e\scratchpad\decks\cache\img_e4a1b348d227a107.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가나다라 </a:t>
            </a:r>
            <a:r>
              <a:rPr lang="en-US" sz="6600" b="1" dirty="0">
                <a:solidFill>
                  <a:srgbClr val="E8B84B"/>
                </a:solidFill>
              </a:rPr>
              <a:t>I</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La sílaba</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en-US" sz="2200" dirty="0">
                <a:solidFill>
                  <a:srgbClr val="E8B84B"/>
                </a:solidFill>
              </a:rPr>
              <a:t>Básico 1 (A1.1) · Semana 1 · Hoy lees tus primeras palabras</a:t>
            </a:r>
            <a:endParaRPr lang="en-US" sz="2200" dirty="0"/>
          </a:p>
          <a:p>
            <a:pPr marL="0" indent="0" eaLnBrk="1">
              <a:buNone/>
            </a:pPr>
            <a:r>
              <a:rPr lang="ko-KR" altLang="en-US" sz="2200" dirty="0">
                <a:solidFill>
                  <a:srgbClr val="E8B84B"/>
                </a:solidFill>
                <a:latin typeface="Malgun Gothic" pitchFamily="34" charset="0"/>
                <a:ea typeface="Malgun Gothic" pitchFamily="34" charset="-122"/>
                <a:cs typeface="Malgun Gothic" pitchFamily="34" charset="-120"/>
              </a:rPr>
              <a:t>Con Kiran (기란</a:t>
            </a:r>
            <a:r>
              <a:rPr lang="en-US" sz="2200" dirty="0">
                <a:solidFill>
                  <a:srgbClr val="E8B84B"/>
                </a:solidFill>
              </a:rPr>
              <a:t>)</a:t>
            </a:r>
            <a:endParaRPr lang="en-US" sz="2200" dirty="0"/>
          </a:p>
          <a:p>
            <a:pPr marL="0" indent="0" eaLnBrk="1">
              <a:buNone/>
            </a:pPr>
            <a:r>
              <a:rPr lang="en-US" sz="2200" dirty="0">
                <a:solidFill>
                  <a:srgbClr val="E8B84B"/>
                </a:solidFill>
              </a:rPr>
              <a:t>Martes 20 y jueves 22 de octubre · 20:00 (hora de Chile)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Comandos de clase</a:t>
            </a:r>
            <a:r>
              <a:rPr lang="en-US" sz="1500" b="1" i="1" dirty="0">
                <a:solidFill>
                  <a:srgbClr val="8A8DA0"/>
                </a:solidFill>
              </a:rPr>
              <a:t>   Classroom commands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reconocen, no se memorizan</a:t>
            </a:r>
            <a:endParaRPr lang="en-US" sz="1800" dirty="0"/>
          </a:p>
        </p:txBody>
      </p:sp>
      <p:sp>
        <p:nvSpPr>
          <p:cNvPr id="4" name="card_0"/>
          <p:cNvSpPr/>
          <p:nvPr/>
        </p:nvSpPr>
        <p:spPr>
          <a:xfrm>
            <a:off x="548640"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a86a875166de89e9.png"/>
          <p:cNvPicPr>
            <a:picLocks noChangeAspect="1"/>
          </p:cNvPicPr>
          <p:nvPr/>
        </p:nvPicPr>
        <p:blipFill>
          <a:blip r:embed="rId11"/>
          <a:stretch>
            <a:fillRect/>
          </a:stretch>
        </p:blipFill>
        <p:spPr>
          <a:xfrm>
            <a:off x="1042919" y="1984248"/>
            <a:ext cx="1612910" cy="1612910"/>
          </a:xfrm>
          <a:prstGeom prst="rect">
            <a:avLst/>
          </a:prstGeom>
        </p:spPr>
      </p:pic>
      <p:sp>
        <p:nvSpPr>
          <p:cNvPr id="6" name="Text 3"/>
          <p:cNvSpPr txBox="1"/>
          <p:nvPr/>
        </p:nvSpPr>
        <p:spPr>
          <a:xfrm>
            <a:off x="548640" y="3615446"/>
            <a:ext cx="2601468" cy="859536"/>
          </a:xfrm>
          <a:prstGeom prst="rect">
            <a:avLst/>
          </a:prstGeom>
          <a:noFill/>
          <a:ln/>
        </p:spPr>
        <p:txBody>
          <a:bodyPr wrap="square" lIns="0" tIns="0" rIns="0" bIns="0" rtlCol="0" anchor="ctr">
            <a:normAutofit/>
          </a:bodyPr>
          <a:lstStyle/>
          <a:p>
            <a:pPr marL="0" indent="0" algn="ctr" eaLnBrk="1">
              <a:buNone/>
            </a:pPr>
            <a:r>
              <a:rPr lang="ko-KR" altLang="en-US" sz="3200" b="1" dirty="0">
                <a:solidFill>
                  <a:srgbClr val="4236F6"/>
                </a:solidFill>
                <a:latin typeface="Malgun Gothic" pitchFamily="34" charset="0"/>
                <a:ea typeface="Malgun Gothic" pitchFamily="34" charset="-122"/>
                <a:cs typeface="Malgun Gothic" pitchFamily="34" charset="-120"/>
              </a:rPr>
              <a:t>따라 하세요</a:t>
            </a:r>
            <a:endParaRPr lang="en-US" sz="3200" dirty="0"/>
          </a:p>
        </p:txBody>
      </p:sp>
      <p:sp>
        <p:nvSpPr>
          <p:cNvPr id="7" name="rom_0"/>
          <p:cNvSpPr txBox="1"/>
          <p:nvPr/>
        </p:nvSpPr>
        <p:spPr>
          <a:xfrm>
            <a:off x="548640"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ttara haseyo</a:t>
            </a:r>
            <a:endParaRPr lang="en-US" sz="1600" dirty="0"/>
          </a:p>
        </p:txBody>
      </p:sp>
      <p:sp>
        <p:nvSpPr>
          <p:cNvPr id="8" name="Text 5"/>
          <p:cNvSpPr txBox="1"/>
          <p:nvPr/>
        </p:nvSpPr>
        <p:spPr>
          <a:xfrm>
            <a:off x="621792"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repitan</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747772" y="1947672"/>
            <a:ext cx="310896" cy="310896"/>
          </a:xfrm>
          <a:prstGeom prst="rect">
            <a:avLst/>
          </a:prstGeom>
        </p:spPr>
      </p:pic>
      <p:sp>
        <p:nvSpPr>
          <p:cNvPr id="10" name="card_1"/>
          <p:cNvSpPr/>
          <p:nvPr/>
        </p:nvSpPr>
        <p:spPr>
          <a:xfrm>
            <a:off x="3378708"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img_7b78abdf81c2f54c.png"/>
          <p:cNvPicPr>
            <a:picLocks noChangeAspect="1"/>
          </p:cNvPicPr>
          <p:nvPr/>
        </p:nvPicPr>
        <p:blipFill>
          <a:blip r:embed="rId13"/>
          <a:stretch>
            <a:fillRect/>
          </a:stretch>
        </p:blipFill>
        <p:spPr>
          <a:xfrm>
            <a:off x="3872987" y="1984248"/>
            <a:ext cx="1612910" cy="1612910"/>
          </a:xfrm>
          <a:prstGeom prst="rect">
            <a:avLst/>
          </a:prstGeom>
        </p:spPr>
      </p:pic>
      <p:sp>
        <p:nvSpPr>
          <p:cNvPr id="12" name="Text 7"/>
          <p:cNvSpPr txBox="1"/>
          <p:nvPr/>
        </p:nvSpPr>
        <p:spPr>
          <a:xfrm>
            <a:off x="3378708" y="3615446"/>
            <a:ext cx="2601468" cy="859536"/>
          </a:xfrm>
          <a:prstGeom prst="rect">
            <a:avLst/>
          </a:prstGeom>
          <a:noFill/>
          <a:ln/>
        </p:spPr>
        <p:txBody>
          <a:bodyPr wrap="square" lIns="0" tIns="0" rIns="0" bIns="0" rtlCol="0" anchor="ctr">
            <a:normAutofit/>
          </a:bodyPr>
          <a:lstStyle/>
          <a:p>
            <a:pPr marL="0" indent="0" algn="ctr" eaLnBrk="1">
              <a:buNone/>
            </a:pPr>
            <a:r>
              <a:rPr lang="ko-KR" altLang="en-US" sz="3200" b="1" dirty="0">
                <a:solidFill>
                  <a:srgbClr val="4236F6"/>
                </a:solidFill>
                <a:latin typeface="Malgun Gothic" pitchFamily="34" charset="0"/>
                <a:ea typeface="Malgun Gothic" pitchFamily="34" charset="-122"/>
                <a:cs typeface="Malgun Gothic" pitchFamily="34" charset="-120"/>
              </a:rPr>
              <a:t>읽으세요</a:t>
            </a:r>
            <a:endParaRPr lang="en-US" sz="3200" dirty="0"/>
          </a:p>
        </p:txBody>
      </p:sp>
      <p:sp>
        <p:nvSpPr>
          <p:cNvPr id="13" name="rom_1"/>
          <p:cNvSpPr txBox="1"/>
          <p:nvPr/>
        </p:nvSpPr>
        <p:spPr>
          <a:xfrm>
            <a:off x="3378708"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ilgeuseyo</a:t>
            </a:r>
            <a:endParaRPr lang="en-US" sz="1600" dirty="0"/>
          </a:p>
        </p:txBody>
      </p:sp>
      <p:sp>
        <p:nvSpPr>
          <p:cNvPr id="14" name="Text 9"/>
          <p:cNvSpPr txBox="1"/>
          <p:nvPr/>
        </p:nvSpPr>
        <p:spPr>
          <a:xfrm>
            <a:off x="3451860"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lean</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5577840" y="1947672"/>
            <a:ext cx="310896" cy="310896"/>
          </a:xfrm>
          <a:prstGeom prst="rect">
            <a:avLst/>
          </a:prstGeom>
        </p:spPr>
      </p:pic>
      <p:sp>
        <p:nvSpPr>
          <p:cNvPr id="16" name="card_2"/>
          <p:cNvSpPr/>
          <p:nvPr/>
        </p:nvSpPr>
        <p:spPr>
          <a:xfrm>
            <a:off x="6208776"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img_ca7d89c7b53ad1c6.png"/>
          <p:cNvPicPr>
            <a:picLocks noChangeAspect="1"/>
          </p:cNvPicPr>
          <p:nvPr/>
        </p:nvPicPr>
        <p:blipFill>
          <a:blip r:embed="rId14"/>
          <a:stretch>
            <a:fillRect/>
          </a:stretch>
        </p:blipFill>
        <p:spPr>
          <a:xfrm>
            <a:off x="6703055" y="1984248"/>
            <a:ext cx="1612910" cy="1612910"/>
          </a:xfrm>
          <a:prstGeom prst="rect">
            <a:avLst/>
          </a:prstGeom>
        </p:spPr>
      </p:pic>
      <p:sp>
        <p:nvSpPr>
          <p:cNvPr id="18" name="Text 11"/>
          <p:cNvSpPr txBox="1"/>
          <p:nvPr/>
        </p:nvSpPr>
        <p:spPr>
          <a:xfrm>
            <a:off x="6208776" y="3615446"/>
            <a:ext cx="2601468" cy="859536"/>
          </a:xfrm>
          <a:prstGeom prst="rect">
            <a:avLst/>
          </a:prstGeom>
          <a:noFill/>
          <a:ln/>
        </p:spPr>
        <p:txBody>
          <a:bodyPr wrap="square" lIns="0" tIns="0" rIns="0" bIns="0" rtlCol="0" anchor="ctr">
            <a:normAutofit/>
          </a:bodyPr>
          <a:lstStyle/>
          <a:p>
            <a:pPr marL="0" indent="0" algn="ctr" eaLnBrk="1">
              <a:buNone/>
            </a:pPr>
            <a:r>
              <a:rPr lang="ko-KR" altLang="en-US" sz="3200" b="1" dirty="0">
                <a:solidFill>
                  <a:srgbClr val="4236F6"/>
                </a:solidFill>
                <a:latin typeface="Malgun Gothic" pitchFamily="34" charset="0"/>
                <a:ea typeface="Malgun Gothic" pitchFamily="34" charset="-122"/>
                <a:cs typeface="Malgun Gothic" pitchFamily="34" charset="-120"/>
              </a:rPr>
              <a:t>다시 한번</a:t>
            </a:r>
            <a:endParaRPr lang="en-US" sz="3200" dirty="0"/>
          </a:p>
        </p:txBody>
      </p:sp>
      <p:sp>
        <p:nvSpPr>
          <p:cNvPr id="19" name="rom_2"/>
          <p:cNvSpPr txBox="1"/>
          <p:nvPr/>
        </p:nvSpPr>
        <p:spPr>
          <a:xfrm>
            <a:off x="6208776"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dasi hanbeon</a:t>
            </a:r>
            <a:endParaRPr lang="en-US" sz="1600" dirty="0"/>
          </a:p>
        </p:txBody>
      </p:sp>
      <p:sp>
        <p:nvSpPr>
          <p:cNvPr id="20" name="Text 13"/>
          <p:cNvSpPr txBox="1"/>
          <p:nvPr/>
        </p:nvSpPr>
        <p:spPr>
          <a:xfrm>
            <a:off x="6281928"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otra vez</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2"/>
          <a:stretch>
            <a:fillRect/>
          </a:stretch>
        </p:blipFill>
        <p:spPr>
          <a:xfrm>
            <a:off x="8407908" y="1947672"/>
            <a:ext cx="310896" cy="310896"/>
          </a:xfrm>
          <a:prstGeom prst="rect">
            <a:avLst/>
          </a:prstGeom>
        </p:spPr>
      </p:pic>
      <p:sp>
        <p:nvSpPr>
          <p:cNvPr id="22" name="card_3"/>
          <p:cNvSpPr/>
          <p:nvPr/>
        </p:nvSpPr>
        <p:spPr>
          <a:xfrm>
            <a:off x="9038844" y="1874520"/>
            <a:ext cx="2601468" cy="4297680"/>
          </a:xfrm>
          <a:prstGeom prst="roundRect">
            <a:avLst>
              <a:gd name="adj" fmla="val 527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img_1c4fe2066653c432.png"/>
          <p:cNvPicPr>
            <a:picLocks noChangeAspect="1"/>
          </p:cNvPicPr>
          <p:nvPr/>
        </p:nvPicPr>
        <p:blipFill>
          <a:blip r:embed="rId15"/>
          <a:stretch>
            <a:fillRect/>
          </a:stretch>
        </p:blipFill>
        <p:spPr>
          <a:xfrm>
            <a:off x="9533123" y="1984248"/>
            <a:ext cx="1612910" cy="1612910"/>
          </a:xfrm>
          <a:prstGeom prst="rect">
            <a:avLst/>
          </a:prstGeom>
        </p:spPr>
      </p:pic>
      <p:sp>
        <p:nvSpPr>
          <p:cNvPr id="24" name="Text 15"/>
          <p:cNvSpPr txBox="1"/>
          <p:nvPr/>
        </p:nvSpPr>
        <p:spPr>
          <a:xfrm>
            <a:off x="9038844" y="3615446"/>
            <a:ext cx="2601468" cy="859536"/>
          </a:xfrm>
          <a:prstGeom prst="rect">
            <a:avLst/>
          </a:prstGeom>
          <a:noFill/>
          <a:ln/>
        </p:spPr>
        <p:txBody>
          <a:bodyPr wrap="square" lIns="0" tIns="0" rIns="0" bIns="0" rtlCol="0" anchor="ctr">
            <a:normAutofit/>
          </a:bodyPr>
          <a:lstStyle/>
          <a:p>
            <a:pPr marL="0" indent="0" algn="ctr" eaLnBrk="1">
              <a:buNone/>
            </a:pPr>
            <a:r>
              <a:rPr lang="ko-KR" altLang="en-US" sz="3200" b="1" dirty="0">
                <a:solidFill>
                  <a:srgbClr val="4236F6"/>
                </a:solidFill>
                <a:latin typeface="Malgun Gothic" pitchFamily="34" charset="0"/>
                <a:ea typeface="Malgun Gothic" pitchFamily="34" charset="-122"/>
                <a:cs typeface="Malgun Gothic" pitchFamily="34" charset="-120"/>
              </a:rPr>
              <a:t>잘했어요</a:t>
            </a:r>
            <a:endParaRPr lang="en-US" sz="3200" dirty="0"/>
          </a:p>
        </p:txBody>
      </p:sp>
      <p:sp>
        <p:nvSpPr>
          <p:cNvPr id="25" name="rom_3"/>
          <p:cNvSpPr txBox="1"/>
          <p:nvPr/>
        </p:nvSpPr>
        <p:spPr>
          <a:xfrm>
            <a:off x="9038844" y="4474982"/>
            <a:ext cx="2601468"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jalhaesseoyo</a:t>
            </a:r>
            <a:endParaRPr lang="en-US" sz="1600" dirty="0"/>
          </a:p>
        </p:txBody>
      </p:sp>
      <p:sp>
        <p:nvSpPr>
          <p:cNvPr id="26" name="Text 17"/>
          <p:cNvSpPr txBox="1"/>
          <p:nvPr/>
        </p:nvSpPr>
        <p:spPr>
          <a:xfrm>
            <a:off x="9111996" y="4749302"/>
            <a:ext cx="2455164" cy="1349746"/>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¡muy bien!</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2"/>
          <a:stretch>
            <a:fillRect/>
          </a:stretch>
        </p:blipFill>
        <p:spPr>
          <a:xfrm>
            <a:off x="11237976" y="1947672"/>
            <a:ext cx="310896" cy="310896"/>
          </a:xfrm>
          <a:prstGeom prst="rect">
            <a:avLst/>
          </a:prstGeom>
        </p:spPr>
      </p:pic>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세종  </a:t>
            </a:r>
            <a:r>
              <a:rPr lang="en-US" sz="3000" b="1" dirty="0">
                <a:solidFill>
                  <a:srgbClr val="003478"/>
                </a:solidFill>
              </a:rPr>
              <a:t>1443 · el rey Sejong</a:t>
            </a:r>
            <a:r>
              <a:rPr lang="en-US" sz="1500" b="1" i="1" dirty="0">
                <a:solidFill>
                  <a:srgbClr val="8A8DA0"/>
                </a:solidFill>
              </a:rPr>
              <a:t>   1443 · King Sejong</a:t>
            </a:r>
            <a:endParaRPr lang="en-US" sz="3000" dirty="0"/>
          </a:p>
        </p:txBody>
      </p:sp>
      <p:sp>
        <p:nvSpPr>
          <p:cNvPr id="3" name="lista"/>
          <p:cNvSpPr txBox="1"/>
          <p:nvPr/>
        </p:nvSpPr>
        <p:spPr>
          <a:xfrm>
            <a:off x="548640" y="1325880"/>
            <a:ext cx="566928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1443: el rey Sejong (세종</a:t>
            </a:r>
            <a:r>
              <a:rPr lang="en-US" sz="2200" dirty="0">
                <a:solidFill>
                  <a:srgbClr val="14142B"/>
                </a:solidFill>
              </a:rPr>
              <a:t>) crea el </a:t>
            </a:r>
            <a:r>
              <a:rPr lang="ko-KR" altLang="en-US" sz="2200" dirty="0">
                <a:solidFill>
                  <a:srgbClr val="14142B"/>
                </a:solidFill>
                <a:latin typeface="Malgun Gothic" pitchFamily="34" charset="0"/>
                <a:ea typeface="Malgun Gothic" pitchFamily="34" charset="-122"/>
                <a:cs typeface="Malgun Gothic" pitchFamily="34" charset="-120"/>
              </a:rPr>
              <a:t>한글</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1446: lo publica en un libro llamado 훈민정음</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훈민정음 </a:t>
            </a:r>
            <a:r>
              <a:rPr lang="en-US" sz="2200" dirty="0">
                <a:solidFill>
                  <a:srgbClr val="14142B"/>
                </a:solidFill>
              </a:rPr>
              <a:t>= "los sonidos correctos para enseñar al pueblo"</a:t>
            </a:r>
            <a:endParaRPr lang="en-US" sz="2200" dirty="0"/>
          </a:p>
          <a:p>
            <a:pPr marL="228600" indent="-228600" eaLnBrk="1">
              <a:spcAft>
                <a:spcPts val="800"/>
              </a:spcAft>
              <a:buSzPct val="100000"/>
              <a:buChar char="•"/>
            </a:pPr>
            <a:r>
              <a:rPr lang="en-US" sz="2200" dirty="0">
                <a:solidFill>
                  <a:srgbClr val="14142B"/>
                </a:solidFill>
              </a:rPr>
              <a:t>Antes, escribir exigía saber caracteres chinos: era para pocos</a:t>
            </a:r>
            <a:endParaRPr lang="en-US" sz="2200" dirty="0"/>
          </a:p>
          <a:p>
            <a:pPr marL="228600" indent="-228600" eaLnBrk="1">
              <a:spcAft>
                <a:spcPts val="800"/>
              </a:spcAft>
              <a:buSzPct val="100000"/>
              <a:buChar char="•"/>
            </a:pPr>
            <a:r>
              <a:rPr lang="en-US" sz="2200" dirty="0">
                <a:solidFill>
                  <a:srgbClr val="14142B"/>
                </a:solidFill>
              </a:rPr>
              <a:t>La promesa: una persona sabia lo aprende en una mañana; quien no lo es, en diez días</a:t>
            </a:r>
            <a:endParaRPr lang="en-US" sz="2200" dirty="0"/>
          </a:p>
        </p:txBody>
      </p:sp>
      <p:sp>
        <p:nvSpPr>
          <p:cNvPr id="4"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5" name="imagen" descr="C:/Users/Chingu/Desktop/ACADEMIASEULWEB/Curriculo/fuente/decks/img/B1S1/L4_slide.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한글날  </a:t>
            </a:r>
            <a:r>
              <a:rPr lang="en-US" sz="3000" b="1" dirty="0">
                <a:solidFill>
                  <a:srgbClr val="003478"/>
                </a:solidFill>
              </a:rPr>
              <a:t>9 de octubre</a:t>
            </a:r>
            <a:r>
              <a:rPr lang="en-US" sz="1500" b="1" i="1" dirty="0">
                <a:solidFill>
                  <a:srgbClr val="8A8DA0"/>
                </a:solidFill>
              </a:rPr>
              <a:t>   Hangul Day · October 9</a:t>
            </a:r>
            <a:endParaRPr lang="en-US" sz="3000" dirty="0"/>
          </a:p>
        </p:txBody>
      </p:sp>
      <p:pic>
        <p:nvPicPr>
          <p:cNvPr id="3" name="imagen" descr="C:\Users\Chingu\AppData\Local\Temp\claude\C--Users-Chingu-Desktop-ACADEMIASEULWEB\d4111e1b-5523-44ea-97b2-b1a1d9545b9e\scratchpad\decks\cache\img_864bd8f24240b016.png"/>
          <p:cNvPicPr>
            <a:picLocks noChangeAspect="1"/>
          </p:cNvPicPr>
          <p:nvPr/>
        </p:nvPicPr>
        <p:blipFill>
          <a:blip r:embed="rId5"/>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6400" b="1" dirty="0">
                <a:solidFill>
                  <a:srgbClr val="4236F6"/>
                </a:solidFill>
                <a:latin typeface="Malgun Gothic" pitchFamily="34" charset="0"/>
                <a:ea typeface="Malgun Gothic" pitchFamily="34" charset="-122"/>
                <a:cs typeface="Malgun Gothic" pitchFamily="34" charset="-120"/>
              </a:rPr>
              <a:t>한글날</a:t>
            </a:r>
            <a:endParaRPr lang="en-US" sz="64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Este mes, el 9 de octubre, Corea del Sur celebró el día del alfabeto (feriado nacional)</a:t>
            </a:r>
            <a:endParaRPr lang="en-US" sz="17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903720" y="416052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Como tu silabario</a:t>
            </a:r>
            <a:r>
              <a:rPr lang="en-US" sz="1500" b="1" i="1" dirty="0">
                <a:solidFill>
                  <a:srgbClr val="8A8DA0"/>
                </a:solidFill>
              </a:rPr>
              <a:t>   Just like your first reader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El 한글 </a:t>
            </a:r>
            <a:r>
              <a:rPr lang="en-US" sz="1800" i="1" dirty="0">
                <a:solidFill>
                  <a:srgbClr val="4236F6"/>
                </a:solidFill>
              </a:rPr>
              <a:t>se lee por sílabas. Cada sílaba, un cuadrado</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Tu silabario</a:t>
            </a:r>
            <a:endParaRPr lang="en-US" sz="2000" dirty="0"/>
          </a:p>
        </p:txBody>
      </p:sp>
      <p:sp>
        <p:nvSpPr>
          <p:cNvPr id="6" name="lista"/>
          <p:cNvSpPr txBox="1"/>
          <p:nvPr/>
        </p:nvSpPr>
        <p:spPr>
          <a:xfrm>
            <a:off x="731520" y="2651760"/>
            <a:ext cx="5020056" cy="33832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ma · me · mi · mo · mu</a:t>
            </a:r>
            <a:endParaRPr lang="en-US" sz="2000" dirty="0"/>
          </a:p>
          <a:p>
            <a:pPr marL="228600" indent="-228600" eaLnBrk="1">
              <a:spcAft>
                <a:spcPts val="800"/>
              </a:spcAft>
              <a:buSzPct val="100000"/>
              <a:buChar char="•"/>
            </a:pPr>
            <a:r>
              <a:rPr lang="en-US" sz="2000" dirty="0">
                <a:solidFill>
                  <a:srgbClr val="14142B"/>
                </a:solidFill>
              </a:rPr>
              <a:t>Silabario Hispanoamericano en Chile, Coquito en Perú</a:t>
            </a:r>
            <a:endParaRPr lang="en-US" sz="2000" dirty="0"/>
          </a:p>
        </p:txBody>
      </p:sp>
      <p:sp>
        <p:nvSpPr>
          <p:cNvPr id="7"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8" name="Text 6"/>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El 한글</a:t>
            </a:r>
            <a:endParaRPr lang="en-US" sz="2000" dirty="0"/>
          </a:p>
        </p:txBody>
      </p:sp>
      <p:sp>
        <p:nvSpPr>
          <p:cNvPr id="9" name="Text 7"/>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가 갸 거 겨 고</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교 구 규 그 기</a:t>
            </a:r>
            <a:endParaRPr lang="en-US" sz="2800" dirty="0"/>
          </a:p>
        </p:txBody>
      </p:sp>
      <p:sp>
        <p:nvSpPr>
          <p:cNvPr id="10"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Se lee por sílabas</a:t>
            </a:r>
            <a:endParaRPr lang="en-US" sz="2000" dirty="0"/>
          </a:p>
          <a:p>
            <a:pPr marL="228600" indent="-228600" eaLnBrk="1">
              <a:spcAft>
                <a:spcPts val="800"/>
              </a:spcAft>
              <a:buSzPct val="100000"/>
              <a:buChar char="•"/>
            </a:pPr>
            <a:r>
              <a:rPr lang="en-US" sz="2000" dirty="0">
                <a:solidFill>
                  <a:srgbClr val="14142B"/>
                </a:solidFill>
              </a:rPr>
              <a:t>Cada sílaba va dentro de un cuadrado</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Tres dibujos</a:t>
            </a:r>
            <a:r>
              <a:rPr lang="en-US" sz="1500" b="1" i="1" dirty="0">
                <a:solidFill>
                  <a:srgbClr val="8A8DA0"/>
                </a:solidFill>
              </a:rPr>
              <a:t>   Three drawings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Mira dónde queda el palito</a:t>
            </a:r>
            <a:endParaRPr lang="en-US" sz="1800" dirty="0"/>
          </a:p>
        </p:txBody>
      </p:sp>
      <p:sp>
        <p:nvSpPr>
          <p:cNvPr id="4" name="tile_0"/>
          <p:cNvSpPr/>
          <p:nvPr/>
        </p:nvSpPr>
        <p:spPr>
          <a:xfrm>
            <a:off x="548640" y="1874520"/>
            <a:ext cx="3544824" cy="2377440"/>
          </a:xfrm>
          <a:prstGeom prst="roundRect">
            <a:avLst>
              <a:gd name="adj" fmla="val 5769"/>
            </a:avLst>
          </a:prstGeom>
          <a:solidFill>
            <a:srgbClr val="F1F0FE"/>
          </a:solidFill>
          <a:ln w="12700">
            <a:solidFill>
              <a:srgbClr val="D9D7F7"/>
            </a:solidFill>
            <a:prstDash val="solid"/>
          </a:ln>
        </p:spPr>
      </p:sp>
      <p:sp>
        <p:nvSpPr>
          <p:cNvPr id="5" name="Text 3"/>
          <p:cNvSpPr txBox="1"/>
          <p:nvPr/>
        </p:nvSpPr>
        <p:spPr>
          <a:xfrm>
            <a:off x="548640" y="1947672"/>
            <a:ext cx="3544824"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ㆍ</a:t>
            </a:r>
            <a:endParaRPr lang="en-US" sz="8900" dirty="0"/>
          </a:p>
        </p:txBody>
      </p:sp>
      <p:sp>
        <p:nvSpPr>
          <p:cNvPr id="6" name="Text 4"/>
          <p:cNvSpPr txBox="1"/>
          <p:nvPr/>
        </p:nvSpPr>
        <p:spPr>
          <a:xfrm>
            <a:off x="594360" y="3396082"/>
            <a:ext cx="3453384" cy="819302"/>
          </a:xfrm>
          <a:prstGeom prst="rect">
            <a:avLst/>
          </a:prstGeom>
          <a:noFill/>
          <a:ln/>
        </p:spPr>
        <p:txBody>
          <a:bodyPr wrap="square" lIns="0" tIns="0" rIns="0" bIns="0" rtlCol="0" anchor="t">
            <a:normAutofit/>
          </a:bodyPr>
          <a:lstStyle/>
          <a:p>
            <a:pPr marL="0" indent="0" algn="ctr" eaLnBrk="1">
              <a:buNone/>
            </a:pPr>
            <a:r>
              <a:rPr lang="en-US" sz="2000" dirty="0">
                <a:solidFill>
                  <a:srgbClr val="5C5F6B"/>
                </a:solidFill>
              </a:rPr>
              <a:t>cielo (un punto)</a:t>
            </a:r>
            <a:endParaRPr lang="en-US" sz="2000" dirty="0"/>
          </a:p>
        </p:txBody>
      </p:sp>
      <p:sp>
        <p:nvSpPr>
          <p:cNvPr id="7" name="tile_1"/>
          <p:cNvSpPr/>
          <p:nvPr/>
        </p:nvSpPr>
        <p:spPr>
          <a:xfrm>
            <a:off x="4322064" y="1874520"/>
            <a:ext cx="3544824" cy="2377440"/>
          </a:xfrm>
          <a:prstGeom prst="roundRect">
            <a:avLst>
              <a:gd name="adj" fmla="val 5769"/>
            </a:avLst>
          </a:prstGeom>
          <a:solidFill>
            <a:srgbClr val="F1F0FE"/>
          </a:solidFill>
          <a:ln w="12700">
            <a:solidFill>
              <a:srgbClr val="D9D7F7"/>
            </a:solidFill>
            <a:prstDash val="solid"/>
          </a:ln>
        </p:spPr>
      </p:sp>
      <p:sp>
        <p:nvSpPr>
          <p:cNvPr id="8" name="Text 6"/>
          <p:cNvSpPr txBox="1"/>
          <p:nvPr/>
        </p:nvSpPr>
        <p:spPr>
          <a:xfrm>
            <a:off x="4322064" y="1947672"/>
            <a:ext cx="3544824"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ㅡ</a:t>
            </a:r>
            <a:endParaRPr lang="en-US" sz="8900" dirty="0"/>
          </a:p>
        </p:txBody>
      </p:sp>
      <p:sp>
        <p:nvSpPr>
          <p:cNvPr id="9" name="Text 7"/>
          <p:cNvSpPr txBox="1"/>
          <p:nvPr/>
        </p:nvSpPr>
        <p:spPr>
          <a:xfrm>
            <a:off x="4367784" y="3396082"/>
            <a:ext cx="3453384" cy="819302"/>
          </a:xfrm>
          <a:prstGeom prst="rect">
            <a:avLst/>
          </a:prstGeom>
          <a:noFill/>
          <a:ln/>
        </p:spPr>
        <p:txBody>
          <a:bodyPr wrap="square" lIns="0" tIns="0" rIns="0" bIns="0" rtlCol="0" anchor="t">
            <a:normAutofit/>
          </a:bodyPr>
          <a:lstStyle/>
          <a:p>
            <a:pPr marL="0" indent="0" algn="ctr" eaLnBrk="1">
              <a:buNone/>
            </a:pPr>
            <a:r>
              <a:rPr lang="en-US" sz="2000" dirty="0">
                <a:solidFill>
                  <a:srgbClr val="5C5F6B"/>
                </a:solidFill>
              </a:rPr>
              <a:t>tierra (raya acostada)</a:t>
            </a:r>
            <a:endParaRPr lang="en-US" sz="2000" dirty="0"/>
          </a:p>
        </p:txBody>
      </p:sp>
      <p:sp>
        <p:nvSpPr>
          <p:cNvPr id="10" name="tile_2"/>
          <p:cNvSpPr/>
          <p:nvPr/>
        </p:nvSpPr>
        <p:spPr>
          <a:xfrm>
            <a:off x="8095488" y="1874520"/>
            <a:ext cx="3544824" cy="2377440"/>
          </a:xfrm>
          <a:prstGeom prst="roundRect">
            <a:avLst>
              <a:gd name="adj" fmla="val 5769"/>
            </a:avLst>
          </a:prstGeom>
          <a:solidFill>
            <a:srgbClr val="F1F0FE"/>
          </a:solidFill>
          <a:ln w="12700">
            <a:solidFill>
              <a:srgbClr val="D9D7F7"/>
            </a:solidFill>
            <a:prstDash val="solid"/>
          </a:ln>
        </p:spPr>
      </p:sp>
      <p:sp>
        <p:nvSpPr>
          <p:cNvPr id="11" name="Text 9"/>
          <p:cNvSpPr txBox="1"/>
          <p:nvPr/>
        </p:nvSpPr>
        <p:spPr>
          <a:xfrm>
            <a:off x="8095488" y="1947672"/>
            <a:ext cx="3544824"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ㅣ</a:t>
            </a:r>
            <a:endParaRPr lang="en-US" sz="8900" dirty="0"/>
          </a:p>
        </p:txBody>
      </p:sp>
      <p:sp>
        <p:nvSpPr>
          <p:cNvPr id="12" name="Text 10"/>
          <p:cNvSpPr txBox="1"/>
          <p:nvPr/>
        </p:nvSpPr>
        <p:spPr>
          <a:xfrm>
            <a:off x="8141208" y="3396082"/>
            <a:ext cx="3453384" cy="819302"/>
          </a:xfrm>
          <a:prstGeom prst="rect">
            <a:avLst/>
          </a:prstGeom>
          <a:noFill/>
          <a:ln/>
        </p:spPr>
        <p:txBody>
          <a:bodyPr wrap="square" lIns="0" tIns="0" rIns="0" bIns="0" rtlCol="0" anchor="t">
            <a:normAutofit/>
          </a:bodyPr>
          <a:lstStyle/>
          <a:p>
            <a:pPr marL="0" indent="0" algn="ctr" eaLnBrk="1">
              <a:buNone/>
            </a:pPr>
            <a:r>
              <a:rPr lang="en-US" sz="2000" dirty="0">
                <a:solidFill>
                  <a:srgbClr val="5C5F6B"/>
                </a:solidFill>
              </a:rPr>
              <a:t>persona (raya parada)</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6 vocales base</a:t>
            </a:r>
            <a:r>
              <a:rPr lang="en-US" sz="1500" b="1" i="1" dirty="0">
                <a:solidFill>
                  <a:srgbClr val="8A8DA0"/>
                </a:solidFill>
              </a:rPr>
              <a:t>   The 6 basic vowels</a:t>
            </a:r>
            <a:endParaRPr lang="en-US" sz="3000" dirty="0"/>
          </a:p>
        </p:txBody>
      </p:sp>
      <p:sp>
        <p:nvSpPr>
          <p:cNvPr id="3" name="tile_0"/>
          <p:cNvSpPr/>
          <p:nvPr/>
        </p:nvSpPr>
        <p:spPr>
          <a:xfrm>
            <a:off x="548640" y="1325880"/>
            <a:ext cx="3544824" cy="2308860"/>
          </a:xfrm>
          <a:prstGeom prst="roundRect">
            <a:avLst>
              <a:gd name="adj" fmla="val 5941"/>
            </a:avLst>
          </a:prstGeom>
          <a:solidFill>
            <a:srgbClr val="F1F0FE"/>
          </a:solidFill>
          <a:ln w="12700">
            <a:solidFill>
              <a:srgbClr val="D9D7F7"/>
            </a:solidFill>
            <a:prstDash val="solid"/>
          </a:ln>
        </p:spPr>
      </p:sp>
      <p:pic>
        <p:nvPicPr>
          <p:cNvPr id="4" name="glifo_img_0" descr="C:\Users\Chingu\AppData\Local\Temp\claude\C--Users-Chingu-Desktop-ACADEMIASEULWEB\d4111e1b-5523-44ea-97b2-b1a1d9545b9e\scratchpad\decks\cache\img_47dc4b080121f120.png"/>
          <p:cNvPicPr>
            <a:picLocks noChangeAspect="1"/>
          </p:cNvPicPr>
          <p:nvPr/>
        </p:nvPicPr>
        <p:blipFill>
          <a:blip r:embed="rId3"/>
          <a:stretch>
            <a:fillRect/>
          </a:stretch>
        </p:blipFill>
        <p:spPr>
          <a:xfrm>
            <a:off x="621792" y="1380744"/>
            <a:ext cx="1431493" cy="1431493"/>
          </a:xfrm>
          <a:prstGeom prst="rect">
            <a:avLst/>
          </a:prstGeom>
        </p:spPr>
      </p:pic>
      <p:sp>
        <p:nvSpPr>
          <p:cNvPr id="5" name="Text 2"/>
          <p:cNvSpPr txBox="1"/>
          <p:nvPr/>
        </p:nvSpPr>
        <p:spPr>
          <a:xfrm>
            <a:off x="2071573" y="138074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ㅏ</a:t>
            </a:r>
            <a:endParaRPr lang="en-US" sz="5900" dirty="0"/>
          </a:p>
        </p:txBody>
      </p:sp>
      <p:sp>
        <p:nvSpPr>
          <p:cNvPr id="6" name="rom_4"/>
          <p:cNvSpPr txBox="1"/>
          <p:nvPr/>
        </p:nvSpPr>
        <p:spPr>
          <a:xfrm>
            <a:off x="2071573" y="235415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a</a:t>
            </a:r>
            <a:endParaRPr lang="en-US" sz="2000" dirty="0"/>
          </a:p>
        </p:txBody>
      </p:sp>
      <p:sp>
        <p:nvSpPr>
          <p:cNvPr id="7" name="Text 4"/>
          <p:cNvSpPr txBox="1"/>
          <p:nvPr/>
        </p:nvSpPr>
        <p:spPr>
          <a:xfrm>
            <a:off x="594360" y="288538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a de casa, boca bien abierta</a:t>
            </a:r>
            <a:endParaRPr lang="en-US" sz="1800" dirty="0"/>
          </a:p>
        </p:txBody>
      </p:sp>
      <p:sp>
        <p:nvSpPr>
          <p:cNvPr id="8" name="tile_1"/>
          <p:cNvSpPr/>
          <p:nvPr/>
        </p:nvSpPr>
        <p:spPr>
          <a:xfrm>
            <a:off x="4322064" y="1325880"/>
            <a:ext cx="3544824" cy="2308860"/>
          </a:xfrm>
          <a:prstGeom prst="roundRect">
            <a:avLst>
              <a:gd name="adj" fmla="val 5941"/>
            </a:avLst>
          </a:prstGeom>
          <a:solidFill>
            <a:srgbClr val="F1F0FE"/>
          </a:solidFill>
          <a:ln w="12700">
            <a:solidFill>
              <a:srgbClr val="D9D7F7"/>
            </a:solidFill>
            <a:prstDash val="solid"/>
          </a:ln>
        </p:spPr>
      </p:sp>
      <p:pic>
        <p:nvPicPr>
          <p:cNvPr id="9" name="glifo_img_1" descr="C:\Users\Chingu\AppData\Local\Temp\claude\C--Users-Chingu-Desktop-ACADEMIASEULWEB\d4111e1b-5523-44ea-97b2-b1a1d9545b9e\scratchpad\decks\cache\img_e6eef0268c45de0d.png"/>
          <p:cNvPicPr>
            <a:picLocks noChangeAspect="1"/>
          </p:cNvPicPr>
          <p:nvPr/>
        </p:nvPicPr>
        <p:blipFill>
          <a:blip r:embed="rId4"/>
          <a:stretch>
            <a:fillRect/>
          </a:stretch>
        </p:blipFill>
        <p:spPr>
          <a:xfrm>
            <a:off x="4395216" y="1380744"/>
            <a:ext cx="1431493" cy="1431493"/>
          </a:xfrm>
          <a:prstGeom prst="rect">
            <a:avLst/>
          </a:prstGeom>
        </p:spPr>
      </p:pic>
      <p:sp>
        <p:nvSpPr>
          <p:cNvPr id="10" name="Text 6"/>
          <p:cNvSpPr txBox="1"/>
          <p:nvPr/>
        </p:nvSpPr>
        <p:spPr>
          <a:xfrm>
            <a:off x="5844997" y="138074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ㅓ</a:t>
            </a:r>
            <a:endParaRPr lang="en-US" sz="5900" dirty="0"/>
          </a:p>
        </p:txBody>
      </p:sp>
      <p:sp>
        <p:nvSpPr>
          <p:cNvPr id="11" name="rom_5"/>
          <p:cNvSpPr txBox="1"/>
          <p:nvPr/>
        </p:nvSpPr>
        <p:spPr>
          <a:xfrm>
            <a:off x="5844997" y="235415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eo</a:t>
            </a:r>
            <a:endParaRPr lang="en-US" sz="2000" dirty="0"/>
          </a:p>
        </p:txBody>
      </p:sp>
      <p:sp>
        <p:nvSpPr>
          <p:cNvPr id="12" name="Text 8"/>
          <p:cNvSpPr txBox="1"/>
          <p:nvPr/>
        </p:nvSpPr>
        <p:spPr>
          <a:xfrm>
            <a:off x="4367784" y="288538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boca abierta, labios relajados, sin redondear</a:t>
            </a:r>
            <a:endParaRPr lang="en-US" sz="1800" dirty="0"/>
          </a:p>
        </p:txBody>
      </p:sp>
      <p:sp>
        <p:nvSpPr>
          <p:cNvPr id="13" name="tile_2"/>
          <p:cNvSpPr/>
          <p:nvPr/>
        </p:nvSpPr>
        <p:spPr>
          <a:xfrm>
            <a:off x="8095488" y="1325880"/>
            <a:ext cx="3544824" cy="2308860"/>
          </a:xfrm>
          <a:prstGeom prst="roundRect">
            <a:avLst>
              <a:gd name="adj" fmla="val 5941"/>
            </a:avLst>
          </a:prstGeom>
          <a:solidFill>
            <a:srgbClr val="F1F0FE"/>
          </a:solidFill>
          <a:ln w="12700">
            <a:solidFill>
              <a:srgbClr val="D9D7F7"/>
            </a:solidFill>
            <a:prstDash val="solid"/>
          </a:ln>
        </p:spPr>
      </p:sp>
      <p:pic>
        <p:nvPicPr>
          <p:cNvPr id="14" name="glifo_img_2" descr="C:\Users\Chingu\AppData\Local\Temp\claude\C--Users-Chingu-Desktop-ACADEMIASEULWEB\d4111e1b-5523-44ea-97b2-b1a1d9545b9e\scratchpad\decks\cache\img_fe5b814bccef1393.png"/>
          <p:cNvPicPr>
            <a:picLocks noChangeAspect="1"/>
          </p:cNvPicPr>
          <p:nvPr/>
        </p:nvPicPr>
        <p:blipFill>
          <a:blip r:embed="rId5"/>
          <a:stretch>
            <a:fillRect/>
          </a:stretch>
        </p:blipFill>
        <p:spPr>
          <a:xfrm>
            <a:off x="8168640" y="1380744"/>
            <a:ext cx="1431493" cy="1431493"/>
          </a:xfrm>
          <a:prstGeom prst="rect">
            <a:avLst/>
          </a:prstGeom>
        </p:spPr>
      </p:pic>
      <p:sp>
        <p:nvSpPr>
          <p:cNvPr id="15" name="Text 10"/>
          <p:cNvSpPr txBox="1"/>
          <p:nvPr/>
        </p:nvSpPr>
        <p:spPr>
          <a:xfrm>
            <a:off x="9618421" y="138074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ㅗ</a:t>
            </a:r>
            <a:endParaRPr lang="en-US" sz="5900" dirty="0"/>
          </a:p>
        </p:txBody>
      </p:sp>
      <p:sp>
        <p:nvSpPr>
          <p:cNvPr id="16" name="rom_6"/>
          <p:cNvSpPr txBox="1"/>
          <p:nvPr/>
        </p:nvSpPr>
        <p:spPr>
          <a:xfrm>
            <a:off x="9618421" y="235415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o</a:t>
            </a:r>
            <a:endParaRPr lang="en-US" sz="2000" dirty="0"/>
          </a:p>
        </p:txBody>
      </p:sp>
      <p:sp>
        <p:nvSpPr>
          <p:cNvPr id="17" name="Text 12"/>
          <p:cNvSpPr txBox="1"/>
          <p:nvPr/>
        </p:nvSpPr>
        <p:spPr>
          <a:xfrm>
            <a:off x="8141208" y="288538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o de oso: labios redondos y chiquitos</a:t>
            </a:r>
            <a:endParaRPr lang="en-US" sz="1800" dirty="0"/>
          </a:p>
        </p:txBody>
      </p:sp>
      <p:sp>
        <p:nvSpPr>
          <p:cNvPr id="18" name="tile_3"/>
          <p:cNvSpPr/>
          <p:nvPr/>
        </p:nvSpPr>
        <p:spPr>
          <a:xfrm>
            <a:off x="548640" y="3863340"/>
            <a:ext cx="3544824" cy="2308860"/>
          </a:xfrm>
          <a:prstGeom prst="roundRect">
            <a:avLst>
              <a:gd name="adj" fmla="val 5941"/>
            </a:avLst>
          </a:prstGeom>
          <a:solidFill>
            <a:srgbClr val="F1F0FE"/>
          </a:solidFill>
          <a:ln w="12700">
            <a:solidFill>
              <a:srgbClr val="D9D7F7"/>
            </a:solidFill>
            <a:prstDash val="solid"/>
          </a:ln>
        </p:spPr>
      </p:sp>
      <p:pic>
        <p:nvPicPr>
          <p:cNvPr id="19" name="glifo_img_3" descr="C:\Users\Chingu\AppData\Local\Temp\claude\C--Users-Chingu-Desktop-ACADEMIASEULWEB\d4111e1b-5523-44ea-97b2-b1a1d9545b9e\scratchpad\decks\cache\img_83632c74b93705b3.png"/>
          <p:cNvPicPr>
            <a:picLocks noChangeAspect="1"/>
          </p:cNvPicPr>
          <p:nvPr/>
        </p:nvPicPr>
        <p:blipFill>
          <a:blip r:embed="rId6"/>
          <a:stretch>
            <a:fillRect/>
          </a:stretch>
        </p:blipFill>
        <p:spPr>
          <a:xfrm>
            <a:off x="621792" y="3918204"/>
            <a:ext cx="1431493" cy="1431493"/>
          </a:xfrm>
          <a:prstGeom prst="rect">
            <a:avLst/>
          </a:prstGeom>
        </p:spPr>
      </p:pic>
      <p:sp>
        <p:nvSpPr>
          <p:cNvPr id="20" name="Text 14"/>
          <p:cNvSpPr txBox="1"/>
          <p:nvPr/>
        </p:nvSpPr>
        <p:spPr>
          <a:xfrm>
            <a:off x="2071573" y="391820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ㅜ</a:t>
            </a:r>
            <a:endParaRPr lang="en-US" sz="5900" dirty="0"/>
          </a:p>
        </p:txBody>
      </p:sp>
      <p:sp>
        <p:nvSpPr>
          <p:cNvPr id="21" name="rom_7"/>
          <p:cNvSpPr txBox="1"/>
          <p:nvPr/>
        </p:nvSpPr>
        <p:spPr>
          <a:xfrm>
            <a:off x="2071573" y="489161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u</a:t>
            </a:r>
            <a:endParaRPr lang="en-US" sz="2000" dirty="0"/>
          </a:p>
        </p:txBody>
      </p:sp>
      <p:sp>
        <p:nvSpPr>
          <p:cNvPr id="22" name="Text 16"/>
          <p:cNvSpPr txBox="1"/>
          <p:nvPr/>
        </p:nvSpPr>
        <p:spPr>
          <a:xfrm>
            <a:off x="594360" y="542284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u de uva: labios redondos y hacia adelante</a:t>
            </a:r>
            <a:endParaRPr lang="en-US" sz="1800" dirty="0"/>
          </a:p>
        </p:txBody>
      </p:sp>
      <p:sp>
        <p:nvSpPr>
          <p:cNvPr id="23" name="tile_4"/>
          <p:cNvSpPr/>
          <p:nvPr/>
        </p:nvSpPr>
        <p:spPr>
          <a:xfrm>
            <a:off x="4322064" y="3863340"/>
            <a:ext cx="3544824" cy="2308860"/>
          </a:xfrm>
          <a:prstGeom prst="roundRect">
            <a:avLst>
              <a:gd name="adj" fmla="val 5941"/>
            </a:avLst>
          </a:prstGeom>
          <a:solidFill>
            <a:srgbClr val="F1F0FE"/>
          </a:solidFill>
          <a:ln w="12700">
            <a:solidFill>
              <a:srgbClr val="D9D7F7"/>
            </a:solidFill>
            <a:prstDash val="solid"/>
          </a:ln>
        </p:spPr>
      </p:sp>
      <p:pic>
        <p:nvPicPr>
          <p:cNvPr id="24" name="glifo_img_4" descr="C:\Users\Chingu\AppData\Local\Temp\claude\C--Users-Chingu-Desktop-ACADEMIASEULWEB\d4111e1b-5523-44ea-97b2-b1a1d9545b9e\scratchpad\decks\cache\img_1157724fb5cfee1f.png"/>
          <p:cNvPicPr>
            <a:picLocks noChangeAspect="1"/>
          </p:cNvPicPr>
          <p:nvPr/>
        </p:nvPicPr>
        <p:blipFill>
          <a:blip r:embed="rId7"/>
          <a:stretch>
            <a:fillRect/>
          </a:stretch>
        </p:blipFill>
        <p:spPr>
          <a:xfrm>
            <a:off x="4395216" y="3918204"/>
            <a:ext cx="1431493" cy="1431493"/>
          </a:xfrm>
          <a:prstGeom prst="rect">
            <a:avLst/>
          </a:prstGeom>
        </p:spPr>
      </p:pic>
      <p:sp>
        <p:nvSpPr>
          <p:cNvPr id="25" name="Text 18"/>
          <p:cNvSpPr txBox="1"/>
          <p:nvPr/>
        </p:nvSpPr>
        <p:spPr>
          <a:xfrm>
            <a:off x="5844997" y="391820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ㅡ</a:t>
            </a:r>
            <a:endParaRPr lang="en-US" sz="5900" dirty="0"/>
          </a:p>
        </p:txBody>
      </p:sp>
      <p:sp>
        <p:nvSpPr>
          <p:cNvPr id="26" name="rom_8"/>
          <p:cNvSpPr txBox="1"/>
          <p:nvPr/>
        </p:nvSpPr>
        <p:spPr>
          <a:xfrm>
            <a:off x="5844997" y="489161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eu</a:t>
            </a:r>
            <a:endParaRPr lang="en-US" sz="2000" dirty="0"/>
          </a:p>
        </p:txBody>
      </p:sp>
      <p:sp>
        <p:nvSpPr>
          <p:cNvPr id="27" name="Text 20"/>
          <p:cNvSpPr txBox="1"/>
          <p:nvPr/>
        </p:nvSpPr>
        <p:spPr>
          <a:xfrm>
            <a:off x="4367784" y="542284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sonríe y di u, sin adelantar los labios</a:t>
            </a:r>
            <a:endParaRPr lang="en-US" sz="1800" dirty="0"/>
          </a:p>
        </p:txBody>
      </p:sp>
      <p:sp>
        <p:nvSpPr>
          <p:cNvPr id="28" name="tile_5"/>
          <p:cNvSpPr/>
          <p:nvPr/>
        </p:nvSpPr>
        <p:spPr>
          <a:xfrm>
            <a:off x="8095488" y="3863340"/>
            <a:ext cx="3544824" cy="2308860"/>
          </a:xfrm>
          <a:prstGeom prst="roundRect">
            <a:avLst>
              <a:gd name="adj" fmla="val 5941"/>
            </a:avLst>
          </a:prstGeom>
          <a:solidFill>
            <a:srgbClr val="F1F0FE"/>
          </a:solidFill>
          <a:ln w="12700">
            <a:solidFill>
              <a:srgbClr val="D9D7F7"/>
            </a:solidFill>
            <a:prstDash val="solid"/>
          </a:ln>
        </p:spPr>
      </p:sp>
      <p:pic>
        <p:nvPicPr>
          <p:cNvPr id="29" name="glifo_img_5" descr="C:\Users\Chingu\AppData\Local\Temp\claude\C--Users-Chingu-Desktop-ACADEMIASEULWEB\d4111e1b-5523-44ea-97b2-b1a1d9545b9e\scratchpad\decks\cache\img_0c4e86edcda596b2.png"/>
          <p:cNvPicPr>
            <a:picLocks noChangeAspect="1"/>
          </p:cNvPicPr>
          <p:nvPr/>
        </p:nvPicPr>
        <p:blipFill>
          <a:blip r:embed="rId8"/>
          <a:stretch>
            <a:fillRect/>
          </a:stretch>
        </p:blipFill>
        <p:spPr>
          <a:xfrm>
            <a:off x="8168640" y="3918204"/>
            <a:ext cx="1431493" cy="1431493"/>
          </a:xfrm>
          <a:prstGeom prst="rect">
            <a:avLst/>
          </a:prstGeom>
        </p:spPr>
      </p:pic>
      <p:sp>
        <p:nvSpPr>
          <p:cNvPr id="30" name="Text 22"/>
          <p:cNvSpPr txBox="1"/>
          <p:nvPr/>
        </p:nvSpPr>
        <p:spPr>
          <a:xfrm>
            <a:off x="9618421" y="3918204"/>
            <a:ext cx="1985315" cy="973415"/>
          </a:xfrm>
          <a:prstGeom prst="rect">
            <a:avLst/>
          </a:prstGeom>
          <a:noFill/>
          <a:ln/>
        </p:spPr>
        <p:txBody>
          <a:bodyPr wrap="square" lIns="0" tIns="0" rIns="0" bIns="0" rtlCol="0" anchor="ctr">
            <a:normAutofit/>
          </a:bodyPr>
          <a:lstStyle/>
          <a:p>
            <a:pPr marL="0" indent="0" algn="ctr" eaLnBrk="1">
              <a:buNone/>
            </a:pPr>
            <a:r>
              <a:rPr lang="ko-KR" altLang="en-US" sz="5900" b="1" dirty="0">
                <a:solidFill>
                  <a:srgbClr val="4236F6"/>
                </a:solidFill>
                <a:latin typeface="Malgun Gothic" pitchFamily="34" charset="0"/>
                <a:ea typeface="Malgun Gothic" pitchFamily="34" charset="-122"/>
                <a:cs typeface="Malgun Gothic" pitchFamily="34" charset="-120"/>
              </a:rPr>
              <a:t>ㅣ</a:t>
            </a:r>
            <a:endParaRPr lang="en-US" sz="5900" dirty="0"/>
          </a:p>
        </p:txBody>
      </p:sp>
      <p:sp>
        <p:nvSpPr>
          <p:cNvPr id="31" name="rom_9"/>
          <p:cNvSpPr txBox="1"/>
          <p:nvPr/>
        </p:nvSpPr>
        <p:spPr>
          <a:xfrm>
            <a:off x="9618421" y="4891619"/>
            <a:ext cx="1985315" cy="458078"/>
          </a:xfrm>
          <a:prstGeom prst="rect">
            <a:avLst/>
          </a:prstGeom>
          <a:noFill/>
          <a:ln/>
        </p:spPr>
        <p:txBody>
          <a:bodyPr wrap="square" lIns="0" tIns="0" rIns="0" bIns="0" rtlCol="0" anchor="ctr">
            <a:normAutofit/>
          </a:bodyPr>
          <a:lstStyle/>
          <a:p>
            <a:pPr marL="0" indent="0" algn="ctr" eaLnBrk="1">
              <a:buNone/>
            </a:pPr>
            <a:r>
              <a:rPr lang="en-US" sz="2000" dirty="0">
                <a:solidFill>
                  <a:srgbClr val="8A8DA0"/>
                </a:solidFill>
              </a:rPr>
              <a:t>i</a:t>
            </a:r>
            <a:endParaRPr lang="en-US" sz="2000" dirty="0"/>
          </a:p>
        </p:txBody>
      </p:sp>
      <p:sp>
        <p:nvSpPr>
          <p:cNvPr id="32" name="Text 24"/>
          <p:cNvSpPr txBox="1"/>
          <p:nvPr/>
        </p:nvSpPr>
        <p:spPr>
          <a:xfrm>
            <a:off x="8141208" y="5422849"/>
            <a:ext cx="3453384" cy="712775"/>
          </a:xfrm>
          <a:prstGeom prst="rect">
            <a:avLst/>
          </a:prstGeom>
          <a:noFill/>
          <a:ln/>
        </p:spPr>
        <p:txBody>
          <a:bodyPr wrap="square" lIns="0" tIns="0" rIns="0" bIns="0" rtlCol="0" anchor="t">
            <a:normAutofit/>
          </a:bodyPr>
          <a:lstStyle/>
          <a:p>
            <a:pPr marL="0" indent="0" algn="ctr" eaLnBrk="1">
              <a:buNone/>
            </a:pPr>
            <a:r>
              <a:rPr lang="en-US" sz="1800" dirty="0">
                <a:solidFill>
                  <a:srgbClr val="5C5F6B"/>
                </a:solidFill>
              </a:rPr>
              <a:t>i de isla, sonrisa de foto</a:t>
            </a:r>
            <a:endParaRPr lang="en-US" sz="1800" dirty="0"/>
          </a:p>
        </p:txBody>
      </p:sp>
      <p:sp>
        <p:nvSpPr>
          <p:cNvPr id="3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6" grpId="0" animBg="1"/>
      <p:bldP spid="21" grpId="0" animBg="1"/>
      <p:bldP spid="26"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¿ㅓ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ㅗ</a:t>
            </a:r>
            <a:r>
              <a:rPr lang="en-US" sz="3000" b="1" dirty="0">
                <a:solidFill>
                  <a:srgbClr val="003478"/>
                </a:solidFill>
              </a:rPr>
              <a:t>?</a:t>
            </a:r>
            <a:r>
              <a:rPr lang="ko-KR" altLang="en-US" sz="1500" b="1" i="1" dirty="0">
                <a:solidFill>
                  <a:srgbClr val="8A8DA0"/>
                </a:solidFill>
              </a:rPr>
              <a:t>   ㅓ or ㅗ?</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Si oyes ㅓ</a:t>
            </a:r>
            <a:r>
              <a:rPr lang="en-US" sz="1800" i="1" dirty="0">
                <a:solidFill>
                  <a:srgbClr val="4236F6"/>
                </a:solidFill>
              </a:rPr>
              <a:t>, 1 dedo a la cámara; si oyes </a:t>
            </a:r>
            <a:r>
              <a:rPr lang="ko-KR" altLang="en-US" sz="1800" i="1" dirty="0">
                <a:solidFill>
                  <a:srgbClr val="4236F6"/>
                </a:solidFill>
                <a:latin typeface="Malgun Gothic" pitchFamily="34" charset="0"/>
                <a:ea typeface="Malgun Gothic" pitchFamily="34" charset="-122"/>
                <a:cs typeface="Malgun Gothic" pitchFamily="34" charset="-120"/>
              </a:rPr>
              <a:t>ㅗ</a:t>
            </a:r>
            <a:r>
              <a:rPr lang="en-US" sz="1800" i="1" dirty="0">
                <a:solidFill>
                  <a:srgbClr val="4236F6"/>
                </a:solidFill>
              </a:rPr>
              <a:t>, 2</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1 dedo</a:t>
            </a:r>
            <a:endParaRPr lang="en-US" sz="2000" dirty="0"/>
          </a:p>
        </p:txBody>
      </p:sp>
      <p:pic>
        <p:nvPicPr>
          <p:cNvPr id="6" name="col_img_0" descr="C:\Users\Chingu\AppData\Local\Temp\claude\C--Users-Chingu-Desktop-ACADEMIASEULWEB\d4111e1b-5523-44ea-97b2-b1a1d9545b9e\scratchpad\decks\cache\img_d66f5ba8fa5c6bef.png"/>
          <p:cNvPicPr>
            <a:picLocks noChangeAspect="1"/>
          </p:cNvPicPr>
          <p:nvPr/>
        </p:nvPicPr>
        <p:blipFill>
          <a:blip r:embed="rId3"/>
          <a:stretch>
            <a:fillRect/>
          </a:stretch>
        </p:blipFill>
        <p:spPr>
          <a:xfrm>
            <a:off x="1632204" y="2651760"/>
            <a:ext cx="3218688" cy="1463040"/>
          </a:xfrm>
          <a:prstGeom prst="rect">
            <a:avLst/>
          </a:prstGeom>
        </p:spPr>
      </p:pic>
      <p:sp>
        <p:nvSpPr>
          <p:cNvPr id="7" name="Text 4"/>
          <p:cNvSpPr txBox="1"/>
          <p:nvPr/>
        </p:nvSpPr>
        <p:spPr>
          <a:xfrm>
            <a:off x="777240" y="420624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ㅓ</a:t>
            </a:r>
            <a:endParaRPr lang="en-US" sz="5400" dirty="0"/>
          </a:p>
        </p:txBody>
      </p:sp>
      <p:sp>
        <p:nvSpPr>
          <p:cNvPr id="8" name="lista"/>
          <p:cNvSpPr txBox="1"/>
          <p:nvPr/>
        </p:nvSpPr>
        <p:spPr>
          <a:xfrm>
            <a:off x="731520" y="5212080"/>
            <a:ext cx="5020056" cy="82296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Boca abierta, labios relajados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어머니</a:t>
            </a:r>
            <a:endParaRPr lang="en-US" sz="2000" dirty="0"/>
          </a:p>
        </p:txBody>
      </p:sp>
      <p:sp>
        <p:nvSpPr>
          <p:cNvPr id="9"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10"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2 dedos</a:t>
            </a:r>
            <a:endParaRPr lang="en-US" sz="2000" dirty="0"/>
          </a:p>
        </p:txBody>
      </p:sp>
      <p:pic>
        <p:nvPicPr>
          <p:cNvPr id="11" name="col_img_1" descr="C:\Users\Chingu\AppData\Local\Temp\claude\C--Users-Chingu-Desktop-ACADEMIASEULWEB\d4111e1b-5523-44ea-97b2-b1a1d9545b9e\scratchpad\decks\cache\img_4ccd966a0049df8c.png"/>
          <p:cNvPicPr>
            <a:picLocks noChangeAspect="1"/>
          </p:cNvPicPr>
          <p:nvPr/>
        </p:nvPicPr>
        <p:blipFill>
          <a:blip r:embed="rId4"/>
          <a:stretch>
            <a:fillRect/>
          </a:stretch>
        </p:blipFill>
        <p:spPr>
          <a:xfrm>
            <a:off x="7338060" y="2651760"/>
            <a:ext cx="3218688" cy="1463040"/>
          </a:xfrm>
          <a:prstGeom prst="rect">
            <a:avLst/>
          </a:prstGeom>
        </p:spPr>
      </p:pic>
      <p:sp>
        <p:nvSpPr>
          <p:cNvPr id="12" name="Text 8"/>
          <p:cNvSpPr txBox="1"/>
          <p:nvPr/>
        </p:nvSpPr>
        <p:spPr>
          <a:xfrm>
            <a:off x="6483096" y="420624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ㅗ</a:t>
            </a:r>
            <a:endParaRPr lang="en-US" sz="5400" dirty="0"/>
          </a:p>
        </p:txBody>
      </p:sp>
      <p:sp>
        <p:nvSpPr>
          <p:cNvPr id="13" name="lista"/>
          <p:cNvSpPr txBox="1"/>
          <p:nvPr/>
        </p:nvSpPr>
        <p:spPr>
          <a:xfrm>
            <a:off x="6437376" y="5212080"/>
            <a:ext cx="5020056" cy="82296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Labios redondos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오이</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¿ㅡ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ㅜ</a:t>
            </a:r>
            <a:r>
              <a:rPr lang="en-US" sz="3000" b="1" dirty="0">
                <a:solidFill>
                  <a:srgbClr val="003478"/>
                </a:solidFill>
              </a:rPr>
              <a:t>? + 1:1</a:t>
            </a:r>
            <a:r>
              <a:rPr lang="ko-KR" altLang="en-US" sz="1500" b="1" i="1" dirty="0">
                <a:solidFill>
                  <a:srgbClr val="8A8DA0"/>
                </a:solidFill>
              </a:rPr>
              <a:t>   ㅡ or ㅜ? + one-on-one</a:t>
            </a:r>
            <a:endParaRPr lang="en-US" sz="3000" dirty="0"/>
          </a:p>
        </p:txBody>
      </p:sp>
      <p:sp>
        <p:nvSpPr>
          <p:cNvPr id="3" name="col_0"/>
          <p:cNvSpPr/>
          <p:nvPr/>
        </p:nvSpPr>
        <p:spPr>
          <a:xfrm>
            <a:off x="548640" y="1325880"/>
            <a:ext cx="3483864" cy="4846320"/>
          </a:xfrm>
          <a:prstGeom prst="roundRect">
            <a:avLst>
              <a:gd name="adj" fmla="val 3937"/>
            </a:avLst>
          </a:prstGeom>
          <a:solidFill>
            <a:srgbClr val="F1F0FE"/>
          </a:solidFill>
          <a:ln w="12700">
            <a:solidFill>
              <a:srgbClr val="D9D7F7"/>
            </a:solidFill>
            <a:prstDash val="solid"/>
          </a:ln>
        </p:spPr>
      </p:sp>
      <p:sp>
        <p:nvSpPr>
          <p:cNvPr id="4" name="Text 2"/>
          <p:cNvSpPr txBox="1"/>
          <p:nvPr/>
        </p:nvSpPr>
        <p:spPr>
          <a:xfrm>
            <a:off x="777240"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1 dedo</a:t>
            </a:r>
            <a:endParaRPr lang="en-US" sz="2000" dirty="0"/>
          </a:p>
        </p:txBody>
      </p:sp>
      <p:pic>
        <p:nvPicPr>
          <p:cNvPr id="5" name="col_img_0" descr="C:\Users\Chingu\AppData\Local\Temp\claude\C--Users-Chingu-Desktop-ACADEMIASEULWEB\d4111e1b-5523-44ea-97b2-b1a1d9545b9e\scratchpad\decks\cache\img_556952cef18e3ff1.png"/>
          <p:cNvPicPr>
            <a:picLocks noChangeAspect="1"/>
          </p:cNvPicPr>
          <p:nvPr/>
        </p:nvPicPr>
        <p:blipFill>
          <a:blip r:embed="rId3"/>
          <a:stretch>
            <a:fillRect/>
          </a:stretch>
        </p:blipFill>
        <p:spPr>
          <a:xfrm>
            <a:off x="777240" y="2103120"/>
            <a:ext cx="3026664" cy="1375756"/>
          </a:xfrm>
          <a:prstGeom prst="rect">
            <a:avLst/>
          </a:prstGeom>
        </p:spPr>
      </p:pic>
      <p:sp>
        <p:nvSpPr>
          <p:cNvPr id="6" name="Text 3"/>
          <p:cNvSpPr txBox="1"/>
          <p:nvPr/>
        </p:nvSpPr>
        <p:spPr>
          <a:xfrm>
            <a:off x="777240" y="357031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ㅡ</a:t>
            </a:r>
            <a:endParaRPr lang="en-US" sz="5400" dirty="0"/>
          </a:p>
        </p:txBody>
      </p:sp>
      <p:sp>
        <p:nvSpPr>
          <p:cNvPr id="7" name="lista"/>
          <p:cNvSpPr txBox="1"/>
          <p:nvPr/>
        </p:nvSpPr>
        <p:spPr>
          <a:xfrm>
            <a:off x="731520" y="4576156"/>
            <a:ext cx="3118104" cy="145888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Sonríe y di u</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으</a:t>
            </a:r>
            <a:endParaRPr lang="en-US" sz="1800" dirty="0"/>
          </a:p>
        </p:txBody>
      </p:sp>
      <p:sp>
        <p:nvSpPr>
          <p:cNvPr id="8" name="col_1"/>
          <p:cNvSpPr/>
          <p:nvPr/>
        </p:nvSpPr>
        <p:spPr>
          <a:xfrm>
            <a:off x="4352544" y="1325880"/>
            <a:ext cx="3483864" cy="4846320"/>
          </a:xfrm>
          <a:prstGeom prst="roundRect">
            <a:avLst>
              <a:gd name="adj" fmla="val 3937"/>
            </a:avLst>
          </a:prstGeom>
          <a:solidFill>
            <a:srgbClr val="FFFFFF"/>
          </a:solidFill>
          <a:ln w="12700">
            <a:solidFill>
              <a:srgbClr val="D9D7F7"/>
            </a:solidFill>
            <a:prstDash val="solid"/>
          </a:ln>
        </p:spPr>
      </p:sp>
      <p:sp>
        <p:nvSpPr>
          <p:cNvPr id="9" name="Text 6"/>
          <p:cNvSpPr txBox="1"/>
          <p:nvPr/>
        </p:nvSpPr>
        <p:spPr>
          <a:xfrm>
            <a:off x="4581144"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2 dedos</a:t>
            </a:r>
            <a:endParaRPr lang="en-US" sz="2000" dirty="0"/>
          </a:p>
        </p:txBody>
      </p:sp>
      <p:pic>
        <p:nvPicPr>
          <p:cNvPr id="10" name="col_img_1" descr="C:\Users\Chingu\AppData\Local\Temp\claude\C--Users-Chingu-Desktop-ACADEMIASEULWEB\d4111e1b-5523-44ea-97b2-b1a1d9545b9e\scratchpad\decks\cache\img_9ebe6dbcfa93e767.png"/>
          <p:cNvPicPr>
            <a:picLocks noChangeAspect="1"/>
          </p:cNvPicPr>
          <p:nvPr/>
        </p:nvPicPr>
        <p:blipFill>
          <a:blip r:embed="rId4"/>
          <a:stretch>
            <a:fillRect/>
          </a:stretch>
        </p:blipFill>
        <p:spPr>
          <a:xfrm>
            <a:off x="4581144" y="2103120"/>
            <a:ext cx="3026664" cy="1375756"/>
          </a:xfrm>
          <a:prstGeom prst="rect">
            <a:avLst/>
          </a:prstGeom>
        </p:spPr>
      </p:pic>
      <p:sp>
        <p:nvSpPr>
          <p:cNvPr id="11" name="Text 7"/>
          <p:cNvSpPr txBox="1"/>
          <p:nvPr/>
        </p:nvSpPr>
        <p:spPr>
          <a:xfrm>
            <a:off x="4581144" y="357031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ㅜ</a:t>
            </a:r>
            <a:endParaRPr lang="en-US" sz="5400" dirty="0"/>
          </a:p>
        </p:txBody>
      </p:sp>
      <p:sp>
        <p:nvSpPr>
          <p:cNvPr id="12" name="lista"/>
          <p:cNvSpPr txBox="1"/>
          <p:nvPr/>
        </p:nvSpPr>
        <p:spPr>
          <a:xfrm>
            <a:off x="4535424" y="4576156"/>
            <a:ext cx="3118104" cy="145888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U de uva, labios adelante</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우유</a:t>
            </a:r>
            <a:endParaRPr lang="en-US" sz="1800" dirty="0"/>
          </a:p>
        </p:txBody>
      </p:sp>
      <p:sp>
        <p:nvSpPr>
          <p:cNvPr id="13" name="col_2"/>
          <p:cNvSpPr/>
          <p:nvPr/>
        </p:nvSpPr>
        <p:spPr>
          <a:xfrm>
            <a:off x="8156448" y="1325880"/>
            <a:ext cx="3483864" cy="4846320"/>
          </a:xfrm>
          <a:prstGeom prst="roundRect">
            <a:avLst>
              <a:gd name="adj" fmla="val 3937"/>
            </a:avLst>
          </a:prstGeom>
          <a:solidFill>
            <a:srgbClr val="F1F0FE"/>
          </a:solidFill>
          <a:ln w="12700">
            <a:solidFill>
              <a:srgbClr val="D9D7F7"/>
            </a:solidFill>
            <a:prstDash val="solid"/>
          </a:ln>
        </p:spPr>
      </p:sp>
      <p:sp>
        <p:nvSpPr>
          <p:cNvPr id="14" name="Text 10"/>
          <p:cNvSpPr txBox="1"/>
          <p:nvPr/>
        </p:nvSpPr>
        <p:spPr>
          <a:xfrm>
            <a:off x="8385048" y="150876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1:1 · lee tu par</a:t>
            </a:r>
            <a:endParaRPr lang="en-US" sz="2000" dirty="0"/>
          </a:p>
        </p:txBody>
      </p:sp>
      <p:sp>
        <p:nvSpPr>
          <p:cNvPr id="15" name="lista"/>
          <p:cNvSpPr txBox="1"/>
          <p:nvPr/>
        </p:nvSpPr>
        <p:spPr>
          <a:xfrm>
            <a:off x="8339328" y="2103120"/>
            <a:ext cx="3118104" cy="39319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ㅓ ㅗ</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ㅡ ㅜ</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ㅓ ㅗ</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ㅡ ㅜ</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ㅏ ㅗ</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아이</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오이</a:t>
            </a:r>
            <a:r>
              <a:rPr lang="en-US" sz="3000" b="1" dirty="0">
                <a:solidFill>
                  <a:srgbClr val="4236F6"/>
                </a:solidFill>
              </a:rPr>
              <a:t>!  </a:t>
            </a:r>
            <a:r>
              <a:rPr lang="en-US" sz="3000" b="1" dirty="0">
                <a:solidFill>
                  <a:srgbClr val="003478"/>
                </a:solidFill>
              </a:rPr>
              <a:t>¿Niño o pepino?</a:t>
            </a:r>
            <a:r>
              <a:rPr lang="en-US" sz="1500" b="1" i="1" dirty="0">
                <a:solidFill>
                  <a:srgbClr val="8A8DA0"/>
                </a:solidFill>
              </a:rPr>
              <a:t>   Child? Cucumber!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Una sola vocal cambia la palabra</a:t>
            </a:r>
            <a:endParaRPr lang="en-US" sz="1800" dirty="0"/>
          </a:p>
        </p:txBody>
      </p:sp>
      <p:sp>
        <p:nvSpPr>
          <p:cNvPr id="4" name="card_0"/>
          <p:cNvSpPr/>
          <p:nvPr/>
        </p:nvSpPr>
        <p:spPr>
          <a:xfrm>
            <a:off x="548640" y="1874520"/>
            <a:ext cx="5431536" cy="4297680"/>
          </a:xfrm>
          <a:prstGeom prst="roundRect">
            <a:avLst>
              <a:gd name="adj" fmla="val 319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ec9584ec9db4.png"/>
          <p:cNvPicPr>
            <a:picLocks noChangeAspect="1"/>
          </p:cNvPicPr>
          <p:nvPr/>
        </p:nvPicPr>
        <p:blipFill>
          <a:blip r:embed="rId7"/>
          <a:stretch>
            <a:fillRect/>
          </a:stretch>
        </p:blipFill>
        <p:spPr>
          <a:xfrm>
            <a:off x="2232965" y="1984248"/>
            <a:ext cx="2062886" cy="2062886"/>
          </a:xfrm>
          <a:prstGeom prst="rect">
            <a:avLst/>
          </a:prstGeom>
        </p:spPr>
      </p:pic>
      <p:sp>
        <p:nvSpPr>
          <p:cNvPr id="6" name="Text 3"/>
          <p:cNvSpPr txBox="1"/>
          <p:nvPr/>
        </p:nvSpPr>
        <p:spPr>
          <a:xfrm>
            <a:off x="548640" y="4065422"/>
            <a:ext cx="5431536"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아이</a:t>
            </a:r>
            <a:endParaRPr lang="en-US" sz="5400" dirty="0"/>
          </a:p>
        </p:txBody>
      </p:sp>
      <p:sp>
        <p:nvSpPr>
          <p:cNvPr id="7" name="rom_10"/>
          <p:cNvSpPr txBox="1"/>
          <p:nvPr/>
        </p:nvSpPr>
        <p:spPr>
          <a:xfrm>
            <a:off x="548640" y="4924958"/>
            <a:ext cx="5431536"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ai</a:t>
            </a:r>
            <a:endParaRPr lang="en-US" sz="1600" dirty="0"/>
          </a:p>
        </p:txBody>
      </p:sp>
      <p:sp>
        <p:nvSpPr>
          <p:cNvPr id="8" name="Text 5"/>
          <p:cNvSpPr txBox="1"/>
          <p:nvPr/>
        </p:nvSpPr>
        <p:spPr>
          <a:xfrm>
            <a:off x="621792" y="5199278"/>
            <a:ext cx="5285232" cy="89977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niño, niña</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5577840" y="1947672"/>
            <a:ext cx="310896" cy="310896"/>
          </a:xfrm>
          <a:prstGeom prst="rect">
            <a:avLst/>
          </a:prstGeom>
        </p:spPr>
      </p:pic>
      <p:sp>
        <p:nvSpPr>
          <p:cNvPr id="10" name="card_1"/>
          <p:cNvSpPr/>
          <p:nvPr/>
        </p:nvSpPr>
        <p:spPr>
          <a:xfrm>
            <a:off x="6208776" y="1874520"/>
            <a:ext cx="5431536" cy="4297680"/>
          </a:xfrm>
          <a:prstGeom prst="roundRect">
            <a:avLst>
              <a:gd name="adj" fmla="val 3191"/>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ec98a4ec9db4.png"/>
          <p:cNvPicPr>
            <a:picLocks noChangeAspect="1"/>
          </p:cNvPicPr>
          <p:nvPr/>
        </p:nvPicPr>
        <p:blipFill>
          <a:blip r:embed="rId9"/>
          <a:stretch>
            <a:fillRect/>
          </a:stretch>
        </p:blipFill>
        <p:spPr>
          <a:xfrm>
            <a:off x="7893101" y="1984248"/>
            <a:ext cx="2062886" cy="2062886"/>
          </a:xfrm>
          <a:prstGeom prst="rect">
            <a:avLst/>
          </a:prstGeom>
        </p:spPr>
      </p:pic>
      <p:sp>
        <p:nvSpPr>
          <p:cNvPr id="12" name="Text 7"/>
          <p:cNvSpPr txBox="1"/>
          <p:nvPr/>
        </p:nvSpPr>
        <p:spPr>
          <a:xfrm>
            <a:off x="6208776" y="4065422"/>
            <a:ext cx="5431536" cy="859536"/>
          </a:xfrm>
          <a:prstGeom prst="rect">
            <a:avLst/>
          </a:prstGeom>
          <a:noFill/>
          <a:ln/>
        </p:spPr>
        <p:txBody>
          <a:bodyPr wrap="square" lIns="0" tIns="0" rIns="0" bIns="0" rtlCol="0" anchor="ctr">
            <a:normAutofit/>
          </a:bodyPr>
          <a:lstStyle/>
          <a:p>
            <a:pPr marL="0" indent="0" algn="ctr" eaLnBrk="1">
              <a:buNone/>
            </a:pPr>
            <a:r>
              <a:rPr lang="ko-KR" altLang="en-US" sz="5400" b="1" dirty="0">
                <a:solidFill>
                  <a:srgbClr val="4236F6"/>
                </a:solidFill>
                <a:latin typeface="Malgun Gothic" pitchFamily="34" charset="0"/>
                <a:ea typeface="Malgun Gothic" pitchFamily="34" charset="-122"/>
                <a:cs typeface="Malgun Gothic" pitchFamily="34" charset="-120"/>
              </a:rPr>
              <a:t>오이</a:t>
            </a:r>
            <a:endParaRPr lang="en-US" sz="5400" dirty="0"/>
          </a:p>
        </p:txBody>
      </p:sp>
      <p:sp>
        <p:nvSpPr>
          <p:cNvPr id="13" name="rom_11"/>
          <p:cNvSpPr txBox="1"/>
          <p:nvPr/>
        </p:nvSpPr>
        <p:spPr>
          <a:xfrm>
            <a:off x="6208776" y="4924958"/>
            <a:ext cx="5431536"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oi</a:t>
            </a:r>
            <a:endParaRPr lang="en-US" sz="1600" dirty="0"/>
          </a:p>
        </p:txBody>
      </p:sp>
      <p:sp>
        <p:nvSpPr>
          <p:cNvPr id="14" name="Text 9"/>
          <p:cNvSpPr txBox="1"/>
          <p:nvPr/>
        </p:nvSpPr>
        <p:spPr>
          <a:xfrm>
            <a:off x="6281928" y="5199278"/>
            <a:ext cx="5285232" cy="89977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pepino</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11237976" y="194767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Una rayita más = "y"</a:t>
            </a:r>
            <a:r>
              <a:rPr lang="en-US" sz="1500" b="1" i="1" dirty="0">
                <a:solidFill>
                  <a:srgbClr val="8A8DA0"/>
                </a:solidFill>
              </a:rPr>
              <a:t>   One more stroke = "y"</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ㅏ</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ㅑ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ㅓ</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ㅕ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ㅗ</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ㅛ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ㅜ</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ㅠ</a:t>
            </a:r>
            <a:endParaRPr lang="en-US" sz="1800" dirty="0"/>
          </a:p>
        </p:txBody>
      </p:sp>
      <p:sp>
        <p:nvSpPr>
          <p:cNvPr id="4" name="tile_0"/>
          <p:cNvSpPr/>
          <p:nvPr/>
        </p:nvSpPr>
        <p:spPr>
          <a:xfrm>
            <a:off x="548640" y="1874520"/>
            <a:ext cx="2601468" cy="2377440"/>
          </a:xfrm>
          <a:prstGeom prst="roundRect">
            <a:avLst>
              <a:gd name="adj" fmla="val 5769"/>
            </a:avLst>
          </a:prstGeom>
          <a:solidFill>
            <a:srgbClr val="F1F0FE"/>
          </a:solidFill>
          <a:ln w="12700">
            <a:solidFill>
              <a:srgbClr val="D9D7F7"/>
            </a:solidFill>
            <a:prstDash val="solid"/>
          </a:ln>
        </p:spPr>
      </p:sp>
      <p:sp>
        <p:nvSpPr>
          <p:cNvPr id="5" name="Text 3"/>
          <p:cNvSpPr txBox="1"/>
          <p:nvPr/>
        </p:nvSpPr>
        <p:spPr>
          <a:xfrm>
            <a:off x="548640" y="1947672"/>
            <a:ext cx="2601468"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ㅑ</a:t>
            </a:r>
            <a:endParaRPr lang="en-US" sz="8900" dirty="0"/>
          </a:p>
        </p:txBody>
      </p:sp>
      <p:sp>
        <p:nvSpPr>
          <p:cNvPr id="6" name="rom_12"/>
          <p:cNvSpPr txBox="1"/>
          <p:nvPr/>
        </p:nvSpPr>
        <p:spPr>
          <a:xfrm>
            <a:off x="548640" y="3396082"/>
            <a:ext cx="2601468" cy="380390"/>
          </a:xfrm>
          <a:prstGeom prst="rect">
            <a:avLst/>
          </a:prstGeom>
          <a:noFill/>
          <a:ln/>
        </p:spPr>
        <p:txBody>
          <a:bodyPr wrap="square" lIns="0" tIns="0" rIns="0" bIns="0" rtlCol="0" anchor="ctr">
            <a:normAutofit/>
          </a:bodyPr>
          <a:lstStyle/>
          <a:p>
            <a:pPr marL="0" indent="0" algn="ctr" eaLnBrk="1">
              <a:buNone/>
            </a:pPr>
            <a:r>
              <a:rPr lang="en-US" sz="2100" dirty="0">
                <a:solidFill>
                  <a:srgbClr val="8A8DA0"/>
                </a:solidFill>
              </a:rPr>
              <a:t>ya</a:t>
            </a:r>
            <a:endParaRPr lang="en-US" sz="2100" dirty="0"/>
          </a:p>
        </p:txBody>
      </p:sp>
      <p:sp>
        <p:nvSpPr>
          <p:cNvPr id="7" name="Text 5"/>
          <p:cNvSpPr txBox="1"/>
          <p:nvPr/>
        </p:nvSpPr>
        <p:spPr>
          <a:xfrm>
            <a:off x="594360" y="3776472"/>
            <a:ext cx="2510028" cy="438912"/>
          </a:xfrm>
          <a:prstGeom prst="rect">
            <a:avLst/>
          </a:prstGeom>
          <a:noFill/>
          <a:ln/>
        </p:spPr>
        <p:txBody>
          <a:bodyPr wrap="square" lIns="0" tIns="0" rIns="0" bIns="0" rtlCol="0" anchor="t">
            <a:normAutofit/>
          </a:bodyPr>
          <a:lstStyle/>
          <a:p>
            <a:pPr marL="0" indent="0" algn="ctr" eaLnBrk="1">
              <a:buNone/>
            </a:pPr>
            <a:r>
              <a:rPr lang="ko-KR" altLang="en-US" sz="1300" dirty="0">
                <a:solidFill>
                  <a:srgbClr val="5C5F6B"/>
                </a:solidFill>
                <a:latin typeface="Malgun Gothic" pitchFamily="34" charset="0"/>
                <a:ea typeface="Malgun Gothic" pitchFamily="34" charset="-122"/>
                <a:cs typeface="Malgun Gothic" pitchFamily="34" charset="-120"/>
              </a:rPr>
              <a:t>ㅏ </a:t>
            </a:r>
            <a:r>
              <a:rPr lang="en-US" sz="1300" dirty="0">
                <a:solidFill>
                  <a:srgbClr val="5C5F6B"/>
                </a:solidFill>
              </a:rPr>
              <a:t>+ una rayita</a:t>
            </a:r>
            <a:endParaRPr lang="en-US" sz="1300" dirty="0"/>
          </a:p>
        </p:txBody>
      </p:sp>
      <p:sp>
        <p:nvSpPr>
          <p:cNvPr id="8" name="tile_1"/>
          <p:cNvSpPr/>
          <p:nvPr/>
        </p:nvSpPr>
        <p:spPr>
          <a:xfrm>
            <a:off x="3378708" y="1874520"/>
            <a:ext cx="2601468" cy="2377440"/>
          </a:xfrm>
          <a:prstGeom prst="roundRect">
            <a:avLst>
              <a:gd name="adj" fmla="val 5769"/>
            </a:avLst>
          </a:prstGeom>
          <a:solidFill>
            <a:srgbClr val="F1F0FE"/>
          </a:solidFill>
          <a:ln w="12700">
            <a:solidFill>
              <a:srgbClr val="D9D7F7"/>
            </a:solidFill>
            <a:prstDash val="solid"/>
          </a:ln>
        </p:spPr>
      </p:sp>
      <p:sp>
        <p:nvSpPr>
          <p:cNvPr id="9" name="Text 7"/>
          <p:cNvSpPr txBox="1"/>
          <p:nvPr/>
        </p:nvSpPr>
        <p:spPr>
          <a:xfrm>
            <a:off x="3378708" y="1947672"/>
            <a:ext cx="2601468"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ㅕ</a:t>
            </a:r>
            <a:endParaRPr lang="en-US" sz="8900" dirty="0"/>
          </a:p>
        </p:txBody>
      </p:sp>
      <p:sp>
        <p:nvSpPr>
          <p:cNvPr id="10" name="rom_13"/>
          <p:cNvSpPr txBox="1"/>
          <p:nvPr/>
        </p:nvSpPr>
        <p:spPr>
          <a:xfrm>
            <a:off x="3378708" y="3396082"/>
            <a:ext cx="2601468" cy="380390"/>
          </a:xfrm>
          <a:prstGeom prst="rect">
            <a:avLst/>
          </a:prstGeom>
          <a:noFill/>
          <a:ln/>
        </p:spPr>
        <p:txBody>
          <a:bodyPr wrap="square" lIns="0" tIns="0" rIns="0" bIns="0" rtlCol="0" anchor="ctr">
            <a:normAutofit/>
          </a:bodyPr>
          <a:lstStyle/>
          <a:p>
            <a:pPr marL="0" indent="0" algn="ctr" eaLnBrk="1">
              <a:buNone/>
            </a:pPr>
            <a:r>
              <a:rPr lang="en-US" sz="2100" dirty="0">
                <a:solidFill>
                  <a:srgbClr val="8A8DA0"/>
                </a:solidFill>
              </a:rPr>
              <a:t>yeo</a:t>
            </a:r>
            <a:endParaRPr lang="en-US" sz="2100" dirty="0"/>
          </a:p>
        </p:txBody>
      </p:sp>
      <p:sp>
        <p:nvSpPr>
          <p:cNvPr id="11" name="Text 9"/>
          <p:cNvSpPr txBox="1"/>
          <p:nvPr/>
        </p:nvSpPr>
        <p:spPr>
          <a:xfrm>
            <a:off x="3424428" y="3776472"/>
            <a:ext cx="2510028" cy="438912"/>
          </a:xfrm>
          <a:prstGeom prst="rect">
            <a:avLst/>
          </a:prstGeom>
          <a:noFill/>
          <a:ln/>
        </p:spPr>
        <p:txBody>
          <a:bodyPr wrap="square" lIns="0" tIns="0" rIns="0" bIns="0" rtlCol="0" anchor="t">
            <a:normAutofit/>
          </a:bodyPr>
          <a:lstStyle/>
          <a:p>
            <a:pPr marL="0" indent="0" algn="ctr" eaLnBrk="1">
              <a:buNone/>
            </a:pPr>
            <a:r>
              <a:rPr lang="ko-KR" altLang="en-US" sz="1300" dirty="0">
                <a:solidFill>
                  <a:srgbClr val="5C5F6B"/>
                </a:solidFill>
                <a:latin typeface="Malgun Gothic" pitchFamily="34" charset="0"/>
                <a:ea typeface="Malgun Gothic" pitchFamily="34" charset="-122"/>
                <a:cs typeface="Malgun Gothic" pitchFamily="34" charset="-120"/>
              </a:rPr>
              <a:t>ㅓ </a:t>
            </a:r>
            <a:r>
              <a:rPr lang="en-US" sz="1300" dirty="0">
                <a:solidFill>
                  <a:srgbClr val="5C5F6B"/>
                </a:solidFill>
              </a:rPr>
              <a:t>+ una rayita: boca relajada, no "yo"</a:t>
            </a:r>
            <a:endParaRPr lang="en-US" sz="1300" dirty="0"/>
          </a:p>
        </p:txBody>
      </p:sp>
      <p:sp>
        <p:nvSpPr>
          <p:cNvPr id="12" name="tile_2"/>
          <p:cNvSpPr/>
          <p:nvPr/>
        </p:nvSpPr>
        <p:spPr>
          <a:xfrm>
            <a:off x="6208776" y="1874520"/>
            <a:ext cx="2601468" cy="2377440"/>
          </a:xfrm>
          <a:prstGeom prst="roundRect">
            <a:avLst>
              <a:gd name="adj" fmla="val 5769"/>
            </a:avLst>
          </a:prstGeom>
          <a:solidFill>
            <a:srgbClr val="F1F0FE"/>
          </a:solidFill>
          <a:ln w="12700">
            <a:solidFill>
              <a:srgbClr val="D9D7F7"/>
            </a:solidFill>
            <a:prstDash val="solid"/>
          </a:ln>
        </p:spPr>
      </p:sp>
      <p:sp>
        <p:nvSpPr>
          <p:cNvPr id="13" name="Text 11"/>
          <p:cNvSpPr txBox="1"/>
          <p:nvPr/>
        </p:nvSpPr>
        <p:spPr>
          <a:xfrm>
            <a:off x="6208776" y="1947672"/>
            <a:ext cx="2601468"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ㅛ</a:t>
            </a:r>
            <a:endParaRPr lang="en-US" sz="8900" dirty="0"/>
          </a:p>
        </p:txBody>
      </p:sp>
      <p:sp>
        <p:nvSpPr>
          <p:cNvPr id="14" name="rom_14"/>
          <p:cNvSpPr txBox="1"/>
          <p:nvPr/>
        </p:nvSpPr>
        <p:spPr>
          <a:xfrm>
            <a:off x="6208776" y="3396082"/>
            <a:ext cx="2601468" cy="380390"/>
          </a:xfrm>
          <a:prstGeom prst="rect">
            <a:avLst/>
          </a:prstGeom>
          <a:noFill/>
          <a:ln/>
        </p:spPr>
        <p:txBody>
          <a:bodyPr wrap="square" lIns="0" tIns="0" rIns="0" bIns="0" rtlCol="0" anchor="ctr">
            <a:normAutofit/>
          </a:bodyPr>
          <a:lstStyle/>
          <a:p>
            <a:pPr marL="0" indent="0" algn="ctr" eaLnBrk="1">
              <a:buNone/>
            </a:pPr>
            <a:r>
              <a:rPr lang="en-US" sz="2100" dirty="0">
                <a:solidFill>
                  <a:srgbClr val="8A8DA0"/>
                </a:solidFill>
              </a:rPr>
              <a:t>yo</a:t>
            </a:r>
            <a:endParaRPr lang="en-US" sz="2100" dirty="0"/>
          </a:p>
        </p:txBody>
      </p:sp>
      <p:sp>
        <p:nvSpPr>
          <p:cNvPr id="15" name="Text 13"/>
          <p:cNvSpPr txBox="1"/>
          <p:nvPr/>
        </p:nvSpPr>
        <p:spPr>
          <a:xfrm>
            <a:off x="6254496" y="3776472"/>
            <a:ext cx="2510028" cy="438912"/>
          </a:xfrm>
          <a:prstGeom prst="rect">
            <a:avLst/>
          </a:prstGeom>
          <a:noFill/>
          <a:ln/>
        </p:spPr>
        <p:txBody>
          <a:bodyPr wrap="square" lIns="0" tIns="0" rIns="0" bIns="0" rtlCol="0" anchor="t">
            <a:normAutofit/>
          </a:bodyPr>
          <a:lstStyle/>
          <a:p>
            <a:pPr marL="0" indent="0" algn="ctr" eaLnBrk="1">
              <a:buNone/>
            </a:pPr>
            <a:r>
              <a:rPr lang="ko-KR" altLang="en-US" sz="1300" dirty="0">
                <a:solidFill>
                  <a:srgbClr val="5C5F6B"/>
                </a:solidFill>
                <a:latin typeface="Malgun Gothic" pitchFamily="34" charset="0"/>
                <a:ea typeface="Malgun Gothic" pitchFamily="34" charset="-122"/>
                <a:cs typeface="Malgun Gothic" pitchFamily="34" charset="-120"/>
              </a:rPr>
              <a:t>ㅗ </a:t>
            </a:r>
            <a:r>
              <a:rPr lang="en-US" sz="1300" dirty="0">
                <a:solidFill>
                  <a:srgbClr val="5C5F6B"/>
                </a:solidFill>
              </a:rPr>
              <a:t>+ una rayita</a:t>
            </a:r>
            <a:endParaRPr lang="en-US" sz="1300" dirty="0"/>
          </a:p>
        </p:txBody>
      </p:sp>
      <p:sp>
        <p:nvSpPr>
          <p:cNvPr id="16" name="tile_3"/>
          <p:cNvSpPr/>
          <p:nvPr/>
        </p:nvSpPr>
        <p:spPr>
          <a:xfrm>
            <a:off x="9038844" y="1874520"/>
            <a:ext cx="2601468" cy="2377440"/>
          </a:xfrm>
          <a:prstGeom prst="roundRect">
            <a:avLst>
              <a:gd name="adj" fmla="val 5769"/>
            </a:avLst>
          </a:prstGeom>
          <a:solidFill>
            <a:srgbClr val="F1F0FE"/>
          </a:solidFill>
          <a:ln w="12700">
            <a:solidFill>
              <a:srgbClr val="D9D7F7"/>
            </a:solidFill>
            <a:prstDash val="solid"/>
          </a:ln>
        </p:spPr>
      </p:sp>
      <p:sp>
        <p:nvSpPr>
          <p:cNvPr id="17" name="Text 15"/>
          <p:cNvSpPr txBox="1"/>
          <p:nvPr/>
        </p:nvSpPr>
        <p:spPr>
          <a:xfrm>
            <a:off x="9038844" y="1947672"/>
            <a:ext cx="2601468" cy="1474013"/>
          </a:xfrm>
          <a:prstGeom prst="rect">
            <a:avLst/>
          </a:prstGeom>
          <a:noFill/>
          <a:ln/>
        </p:spPr>
        <p:txBody>
          <a:bodyPr wrap="square" lIns="0" tIns="0" rIns="0" bIns="0" rtlCol="0" anchor="ctr">
            <a:normAutofit/>
          </a:bodyPr>
          <a:lstStyle/>
          <a:p>
            <a:pPr marL="0" indent="0" algn="ctr" eaLnBrk="1">
              <a:buNone/>
            </a:pPr>
            <a:r>
              <a:rPr lang="ko-KR" altLang="en-US" sz="8900" b="1" dirty="0">
                <a:solidFill>
                  <a:srgbClr val="4236F6"/>
                </a:solidFill>
                <a:latin typeface="Malgun Gothic" pitchFamily="34" charset="0"/>
                <a:ea typeface="Malgun Gothic" pitchFamily="34" charset="-122"/>
                <a:cs typeface="Malgun Gothic" pitchFamily="34" charset="-120"/>
              </a:rPr>
              <a:t>ㅠ</a:t>
            </a:r>
            <a:endParaRPr lang="en-US" sz="8900" dirty="0"/>
          </a:p>
        </p:txBody>
      </p:sp>
      <p:sp>
        <p:nvSpPr>
          <p:cNvPr id="18" name="rom_15"/>
          <p:cNvSpPr txBox="1"/>
          <p:nvPr/>
        </p:nvSpPr>
        <p:spPr>
          <a:xfrm>
            <a:off x="9038844" y="3396082"/>
            <a:ext cx="2601468" cy="380390"/>
          </a:xfrm>
          <a:prstGeom prst="rect">
            <a:avLst/>
          </a:prstGeom>
          <a:noFill/>
          <a:ln/>
        </p:spPr>
        <p:txBody>
          <a:bodyPr wrap="square" lIns="0" tIns="0" rIns="0" bIns="0" rtlCol="0" anchor="ctr">
            <a:normAutofit/>
          </a:bodyPr>
          <a:lstStyle/>
          <a:p>
            <a:pPr marL="0" indent="0" algn="ctr" eaLnBrk="1">
              <a:buNone/>
            </a:pPr>
            <a:r>
              <a:rPr lang="en-US" sz="2100" dirty="0">
                <a:solidFill>
                  <a:srgbClr val="8A8DA0"/>
                </a:solidFill>
              </a:rPr>
              <a:t>yu</a:t>
            </a:r>
            <a:endParaRPr lang="en-US" sz="2100" dirty="0"/>
          </a:p>
        </p:txBody>
      </p:sp>
      <p:sp>
        <p:nvSpPr>
          <p:cNvPr id="19" name="Text 17"/>
          <p:cNvSpPr txBox="1"/>
          <p:nvPr/>
        </p:nvSpPr>
        <p:spPr>
          <a:xfrm>
            <a:off x="9084564" y="3776472"/>
            <a:ext cx="2510028" cy="438912"/>
          </a:xfrm>
          <a:prstGeom prst="rect">
            <a:avLst/>
          </a:prstGeom>
          <a:noFill/>
          <a:ln/>
        </p:spPr>
        <p:txBody>
          <a:bodyPr wrap="square" lIns="0" tIns="0" rIns="0" bIns="0" rtlCol="0" anchor="t">
            <a:normAutofit/>
          </a:bodyPr>
          <a:lstStyle/>
          <a:p>
            <a:pPr marL="0" indent="0" algn="ctr" eaLnBrk="1">
              <a:buNone/>
            </a:pPr>
            <a:r>
              <a:rPr lang="ko-KR" altLang="en-US" sz="1300" dirty="0">
                <a:solidFill>
                  <a:srgbClr val="5C5F6B"/>
                </a:solidFill>
                <a:latin typeface="Malgun Gothic" pitchFamily="34" charset="0"/>
                <a:ea typeface="Malgun Gothic" pitchFamily="34" charset="-122"/>
                <a:cs typeface="Malgun Gothic" pitchFamily="34" charset="-120"/>
              </a:rPr>
              <a:t>ㅜ </a:t>
            </a:r>
            <a:r>
              <a:rPr lang="en-US" sz="1300" dirty="0">
                <a:solidFill>
                  <a:srgbClr val="5C5F6B"/>
                </a:solidFill>
              </a:rPr>
              <a:t>+ una rayita</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10, en orden</a:t>
            </a:r>
            <a:r>
              <a:rPr lang="en-US" sz="1500" b="1" i="1" dirty="0">
                <a:solidFill>
                  <a:srgbClr val="8A8DA0"/>
                </a:solidFill>
              </a:rPr>
              <a:t>   All 10, in order</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escriben de arriba abajo y de izquierda a derecha</a:t>
            </a:r>
            <a:endParaRPr lang="en-US" sz="1800" dirty="0"/>
          </a:p>
        </p:txBody>
      </p:sp>
      <p:sp>
        <p:nvSpPr>
          <p:cNvPr id="4" name="tile_0"/>
          <p:cNvSpPr/>
          <p:nvPr/>
        </p:nvSpPr>
        <p:spPr>
          <a:xfrm>
            <a:off x="548640" y="1874520"/>
            <a:ext cx="2035454" cy="2034540"/>
          </a:xfrm>
          <a:prstGeom prst="roundRect">
            <a:avLst>
              <a:gd name="adj" fmla="val 6742"/>
            </a:avLst>
          </a:prstGeom>
          <a:solidFill>
            <a:srgbClr val="F1F0FE"/>
          </a:solidFill>
          <a:ln w="12700">
            <a:solidFill>
              <a:srgbClr val="D9D7F7"/>
            </a:solidFill>
            <a:prstDash val="solid"/>
          </a:ln>
        </p:spPr>
      </p:sp>
      <p:pic>
        <p:nvPicPr>
          <p:cNvPr id="5" name="glifo_img_0" descr="C:\Users\Chingu\AppData\Local\Temp\claude\C--Users-Chingu-Desktop-ACADEMIASEULWEB\d4111e1b-5523-44ea-97b2-b1a1d9545b9e\scratchpad\decks\cache\img_1b925dcdb1e6af4a.png"/>
          <p:cNvPicPr>
            <a:picLocks noChangeAspect="1"/>
          </p:cNvPicPr>
          <p:nvPr/>
        </p:nvPicPr>
        <p:blipFill>
          <a:blip r:embed="rId3"/>
          <a:stretch>
            <a:fillRect/>
          </a:stretch>
        </p:blipFill>
        <p:spPr>
          <a:xfrm>
            <a:off x="621792" y="1929384"/>
            <a:ext cx="915954" cy="915954"/>
          </a:xfrm>
          <a:prstGeom prst="rect">
            <a:avLst/>
          </a:prstGeom>
        </p:spPr>
      </p:pic>
      <p:sp>
        <p:nvSpPr>
          <p:cNvPr id="6" name="Text 3"/>
          <p:cNvSpPr txBox="1"/>
          <p:nvPr/>
        </p:nvSpPr>
        <p:spPr>
          <a:xfrm>
            <a:off x="1556034" y="192938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ㅏ</a:t>
            </a:r>
            <a:endParaRPr lang="en-US" sz="3800" dirty="0"/>
          </a:p>
        </p:txBody>
      </p:sp>
      <p:sp>
        <p:nvSpPr>
          <p:cNvPr id="7" name="rom_16"/>
          <p:cNvSpPr txBox="1"/>
          <p:nvPr/>
        </p:nvSpPr>
        <p:spPr>
          <a:xfrm>
            <a:off x="1556034" y="255223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a</a:t>
            </a:r>
            <a:endParaRPr lang="en-US" sz="1400" dirty="0"/>
          </a:p>
        </p:txBody>
      </p:sp>
      <p:sp>
        <p:nvSpPr>
          <p:cNvPr id="8" name="Text 5"/>
          <p:cNvSpPr txBox="1"/>
          <p:nvPr/>
        </p:nvSpPr>
        <p:spPr>
          <a:xfrm>
            <a:off x="594360" y="291849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 palo · 2 rayita a la derecha</a:t>
            </a:r>
            <a:endParaRPr lang="en-US" sz="1700" dirty="0"/>
          </a:p>
        </p:txBody>
      </p:sp>
      <p:sp>
        <p:nvSpPr>
          <p:cNvPr id="9" name="tile_1"/>
          <p:cNvSpPr/>
          <p:nvPr/>
        </p:nvSpPr>
        <p:spPr>
          <a:xfrm>
            <a:off x="2812694" y="1874520"/>
            <a:ext cx="2035454" cy="2034540"/>
          </a:xfrm>
          <a:prstGeom prst="roundRect">
            <a:avLst>
              <a:gd name="adj" fmla="val 6742"/>
            </a:avLst>
          </a:prstGeom>
          <a:solidFill>
            <a:srgbClr val="F1F0FE"/>
          </a:solidFill>
          <a:ln w="12700">
            <a:solidFill>
              <a:srgbClr val="D9D7F7"/>
            </a:solidFill>
            <a:prstDash val="solid"/>
          </a:ln>
        </p:spPr>
      </p:sp>
      <p:pic>
        <p:nvPicPr>
          <p:cNvPr id="10" name="glifo_img_1" descr="C:\Users\Chingu\AppData\Local\Temp\claude\C--Users-Chingu-Desktop-ACADEMIASEULWEB\d4111e1b-5523-44ea-97b2-b1a1d9545b9e\scratchpad\decks\cache\img_18f1441bd0f48a05.png"/>
          <p:cNvPicPr>
            <a:picLocks noChangeAspect="1"/>
          </p:cNvPicPr>
          <p:nvPr/>
        </p:nvPicPr>
        <p:blipFill>
          <a:blip r:embed="rId4"/>
          <a:stretch>
            <a:fillRect/>
          </a:stretch>
        </p:blipFill>
        <p:spPr>
          <a:xfrm>
            <a:off x="2885846" y="1929384"/>
            <a:ext cx="915954" cy="915954"/>
          </a:xfrm>
          <a:prstGeom prst="rect">
            <a:avLst/>
          </a:prstGeom>
        </p:spPr>
      </p:pic>
      <p:sp>
        <p:nvSpPr>
          <p:cNvPr id="11" name="Text 7"/>
          <p:cNvSpPr txBox="1"/>
          <p:nvPr/>
        </p:nvSpPr>
        <p:spPr>
          <a:xfrm>
            <a:off x="3820089" y="192938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ㅑ</a:t>
            </a:r>
            <a:endParaRPr lang="en-US" sz="3800" dirty="0"/>
          </a:p>
        </p:txBody>
      </p:sp>
      <p:sp>
        <p:nvSpPr>
          <p:cNvPr id="12" name="rom_17"/>
          <p:cNvSpPr txBox="1"/>
          <p:nvPr/>
        </p:nvSpPr>
        <p:spPr>
          <a:xfrm>
            <a:off x="3820089" y="255223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ya</a:t>
            </a:r>
            <a:endParaRPr lang="en-US" sz="1400" dirty="0"/>
          </a:p>
        </p:txBody>
      </p:sp>
      <p:sp>
        <p:nvSpPr>
          <p:cNvPr id="13" name="Text 9"/>
          <p:cNvSpPr txBox="1"/>
          <p:nvPr/>
        </p:nvSpPr>
        <p:spPr>
          <a:xfrm>
            <a:off x="2858414" y="291849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palo · rayita · rayita</a:t>
            </a:r>
            <a:endParaRPr lang="en-US" sz="1700" dirty="0"/>
          </a:p>
        </p:txBody>
      </p:sp>
      <p:sp>
        <p:nvSpPr>
          <p:cNvPr id="14" name="tile_2"/>
          <p:cNvSpPr/>
          <p:nvPr/>
        </p:nvSpPr>
        <p:spPr>
          <a:xfrm>
            <a:off x="5076749" y="1874520"/>
            <a:ext cx="2035454" cy="2034540"/>
          </a:xfrm>
          <a:prstGeom prst="roundRect">
            <a:avLst>
              <a:gd name="adj" fmla="val 6742"/>
            </a:avLst>
          </a:prstGeom>
          <a:solidFill>
            <a:srgbClr val="F1F0FE"/>
          </a:solidFill>
          <a:ln w="12700">
            <a:solidFill>
              <a:srgbClr val="D9D7F7"/>
            </a:solidFill>
            <a:prstDash val="solid"/>
          </a:ln>
        </p:spPr>
      </p:sp>
      <p:pic>
        <p:nvPicPr>
          <p:cNvPr id="15" name="glifo_img_2" descr="C:\Users\Chingu\AppData\Local\Temp\claude\C--Users-Chingu-Desktop-ACADEMIASEULWEB\d4111e1b-5523-44ea-97b2-b1a1d9545b9e\scratchpad\decks\cache\img_9a04bf32e962e40d.png"/>
          <p:cNvPicPr>
            <a:picLocks noChangeAspect="1"/>
          </p:cNvPicPr>
          <p:nvPr/>
        </p:nvPicPr>
        <p:blipFill>
          <a:blip r:embed="rId5"/>
          <a:stretch>
            <a:fillRect/>
          </a:stretch>
        </p:blipFill>
        <p:spPr>
          <a:xfrm>
            <a:off x="5149901" y="1929384"/>
            <a:ext cx="915954" cy="915954"/>
          </a:xfrm>
          <a:prstGeom prst="rect">
            <a:avLst/>
          </a:prstGeom>
        </p:spPr>
      </p:pic>
      <p:sp>
        <p:nvSpPr>
          <p:cNvPr id="16" name="Text 11"/>
          <p:cNvSpPr txBox="1"/>
          <p:nvPr/>
        </p:nvSpPr>
        <p:spPr>
          <a:xfrm>
            <a:off x="6084143" y="192938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ㅓ</a:t>
            </a:r>
            <a:endParaRPr lang="en-US" sz="3800" dirty="0"/>
          </a:p>
        </p:txBody>
      </p:sp>
      <p:sp>
        <p:nvSpPr>
          <p:cNvPr id="17" name="rom_18"/>
          <p:cNvSpPr txBox="1"/>
          <p:nvPr/>
        </p:nvSpPr>
        <p:spPr>
          <a:xfrm>
            <a:off x="6084143" y="255223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eo</a:t>
            </a:r>
            <a:endParaRPr lang="en-US" sz="1400" dirty="0"/>
          </a:p>
        </p:txBody>
      </p:sp>
      <p:sp>
        <p:nvSpPr>
          <p:cNvPr id="18" name="Text 13"/>
          <p:cNvSpPr txBox="1"/>
          <p:nvPr/>
        </p:nvSpPr>
        <p:spPr>
          <a:xfrm>
            <a:off x="5122469" y="291849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 rayita · 2 palo</a:t>
            </a:r>
            <a:endParaRPr lang="en-US" sz="1700" dirty="0"/>
          </a:p>
        </p:txBody>
      </p:sp>
      <p:sp>
        <p:nvSpPr>
          <p:cNvPr id="19" name="tile_3"/>
          <p:cNvSpPr/>
          <p:nvPr/>
        </p:nvSpPr>
        <p:spPr>
          <a:xfrm>
            <a:off x="7340803" y="1874520"/>
            <a:ext cx="2035454" cy="2034540"/>
          </a:xfrm>
          <a:prstGeom prst="roundRect">
            <a:avLst>
              <a:gd name="adj" fmla="val 6742"/>
            </a:avLst>
          </a:prstGeom>
          <a:solidFill>
            <a:srgbClr val="F1F0FE"/>
          </a:solidFill>
          <a:ln w="12700">
            <a:solidFill>
              <a:srgbClr val="D9D7F7"/>
            </a:solidFill>
            <a:prstDash val="solid"/>
          </a:ln>
        </p:spPr>
      </p:sp>
      <p:pic>
        <p:nvPicPr>
          <p:cNvPr id="20" name="glifo_img_3" descr="C:\Users\Chingu\AppData\Local\Temp\claude\C--Users-Chingu-Desktop-ACADEMIASEULWEB\d4111e1b-5523-44ea-97b2-b1a1d9545b9e\scratchpad\decks\cache\img_61b86401d1f27a8e.png"/>
          <p:cNvPicPr>
            <a:picLocks noChangeAspect="1"/>
          </p:cNvPicPr>
          <p:nvPr/>
        </p:nvPicPr>
        <p:blipFill>
          <a:blip r:embed="rId6"/>
          <a:stretch>
            <a:fillRect/>
          </a:stretch>
        </p:blipFill>
        <p:spPr>
          <a:xfrm>
            <a:off x="7413955" y="1929384"/>
            <a:ext cx="915954" cy="915954"/>
          </a:xfrm>
          <a:prstGeom prst="rect">
            <a:avLst/>
          </a:prstGeom>
        </p:spPr>
      </p:pic>
      <p:sp>
        <p:nvSpPr>
          <p:cNvPr id="21" name="Text 15"/>
          <p:cNvSpPr txBox="1"/>
          <p:nvPr/>
        </p:nvSpPr>
        <p:spPr>
          <a:xfrm>
            <a:off x="8348198" y="192938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ㅕ</a:t>
            </a:r>
            <a:endParaRPr lang="en-US" sz="3800" dirty="0"/>
          </a:p>
        </p:txBody>
      </p:sp>
      <p:sp>
        <p:nvSpPr>
          <p:cNvPr id="22" name="rom_19"/>
          <p:cNvSpPr txBox="1"/>
          <p:nvPr/>
        </p:nvSpPr>
        <p:spPr>
          <a:xfrm>
            <a:off x="8348198" y="255223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yeo</a:t>
            </a:r>
            <a:endParaRPr lang="en-US" sz="1400" dirty="0"/>
          </a:p>
        </p:txBody>
      </p:sp>
      <p:sp>
        <p:nvSpPr>
          <p:cNvPr id="23" name="Text 17"/>
          <p:cNvSpPr txBox="1"/>
          <p:nvPr/>
        </p:nvSpPr>
        <p:spPr>
          <a:xfrm>
            <a:off x="7386523" y="291849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rayita · rayita · palo</a:t>
            </a:r>
            <a:endParaRPr lang="en-US" sz="1700" dirty="0"/>
          </a:p>
        </p:txBody>
      </p:sp>
      <p:sp>
        <p:nvSpPr>
          <p:cNvPr id="24" name="tile_4"/>
          <p:cNvSpPr/>
          <p:nvPr/>
        </p:nvSpPr>
        <p:spPr>
          <a:xfrm>
            <a:off x="9604858" y="1874520"/>
            <a:ext cx="2035454" cy="2034540"/>
          </a:xfrm>
          <a:prstGeom prst="roundRect">
            <a:avLst>
              <a:gd name="adj" fmla="val 6742"/>
            </a:avLst>
          </a:prstGeom>
          <a:solidFill>
            <a:srgbClr val="F1F0FE"/>
          </a:solidFill>
          <a:ln w="12700">
            <a:solidFill>
              <a:srgbClr val="D9D7F7"/>
            </a:solidFill>
            <a:prstDash val="solid"/>
          </a:ln>
        </p:spPr>
      </p:sp>
      <p:pic>
        <p:nvPicPr>
          <p:cNvPr id="25" name="glifo_img_4" descr="C:\Users\Chingu\AppData\Local\Temp\claude\C--Users-Chingu-Desktop-ACADEMIASEULWEB\d4111e1b-5523-44ea-97b2-b1a1d9545b9e\scratchpad\decks\cache\img_35f345a2398cfe20.png"/>
          <p:cNvPicPr>
            <a:picLocks noChangeAspect="1"/>
          </p:cNvPicPr>
          <p:nvPr/>
        </p:nvPicPr>
        <p:blipFill>
          <a:blip r:embed="rId7"/>
          <a:stretch>
            <a:fillRect/>
          </a:stretch>
        </p:blipFill>
        <p:spPr>
          <a:xfrm>
            <a:off x="9678010" y="1929384"/>
            <a:ext cx="915954" cy="915954"/>
          </a:xfrm>
          <a:prstGeom prst="rect">
            <a:avLst/>
          </a:prstGeom>
        </p:spPr>
      </p:pic>
      <p:sp>
        <p:nvSpPr>
          <p:cNvPr id="26" name="Text 19"/>
          <p:cNvSpPr txBox="1"/>
          <p:nvPr/>
        </p:nvSpPr>
        <p:spPr>
          <a:xfrm>
            <a:off x="10612252" y="192938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ㅗ</a:t>
            </a:r>
            <a:endParaRPr lang="en-US" sz="3800" dirty="0"/>
          </a:p>
        </p:txBody>
      </p:sp>
      <p:sp>
        <p:nvSpPr>
          <p:cNvPr id="27" name="rom_20"/>
          <p:cNvSpPr txBox="1"/>
          <p:nvPr/>
        </p:nvSpPr>
        <p:spPr>
          <a:xfrm>
            <a:off x="10612252" y="255223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o</a:t>
            </a:r>
            <a:endParaRPr lang="en-US" sz="1400" dirty="0"/>
          </a:p>
        </p:txBody>
      </p:sp>
      <p:sp>
        <p:nvSpPr>
          <p:cNvPr id="28" name="Text 21"/>
          <p:cNvSpPr txBox="1"/>
          <p:nvPr/>
        </p:nvSpPr>
        <p:spPr>
          <a:xfrm>
            <a:off x="9650578" y="291849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 palito hacia abajo · 2 raya</a:t>
            </a:r>
            <a:endParaRPr lang="en-US" sz="1700" dirty="0"/>
          </a:p>
        </p:txBody>
      </p:sp>
      <p:sp>
        <p:nvSpPr>
          <p:cNvPr id="29" name="tile_5"/>
          <p:cNvSpPr/>
          <p:nvPr/>
        </p:nvSpPr>
        <p:spPr>
          <a:xfrm>
            <a:off x="548640" y="4137660"/>
            <a:ext cx="2035454" cy="2034540"/>
          </a:xfrm>
          <a:prstGeom prst="roundRect">
            <a:avLst>
              <a:gd name="adj" fmla="val 6742"/>
            </a:avLst>
          </a:prstGeom>
          <a:solidFill>
            <a:srgbClr val="F1F0FE"/>
          </a:solidFill>
          <a:ln w="12700">
            <a:solidFill>
              <a:srgbClr val="D9D7F7"/>
            </a:solidFill>
            <a:prstDash val="solid"/>
          </a:ln>
        </p:spPr>
      </p:sp>
      <p:pic>
        <p:nvPicPr>
          <p:cNvPr id="30" name="glifo_img_5" descr="C:\Users\Chingu\AppData\Local\Temp\claude\C--Users-Chingu-Desktop-ACADEMIASEULWEB\d4111e1b-5523-44ea-97b2-b1a1d9545b9e\scratchpad\decks\cache\img_fa3b38850dd6b8c7.png"/>
          <p:cNvPicPr>
            <a:picLocks noChangeAspect="1"/>
          </p:cNvPicPr>
          <p:nvPr/>
        </p:nvPicPr>
        <p:blipFill>
          <a:blip r:embed="rId8"/>
          <a:stretch>
            <a:fillRect/>
          </a:stretch>
        </p:blipFill>
        <p:spPr>
          <a:xfrm>
            <a:off x="621792" y="4192524"/>
            <a:ext cx="915954" cy="915954"/>
          </a:xfrm>
          <a:prstGeom prst="rect">
            <a:avLst/>
          </a:prstGeom>
        </p:spPr>
      </p:pic>
      <p:sp>
        <p:nvSpPr>
          <p:cNvPr id="31" name="Text 23"/>
          <p:cNvSpPr txBox="1"/>
          <p:nvPr/>
        </p:nvSpPr>
        <p:spPr>
          <a:xfrm>
            <a:off x="1556034" y="419252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ㅛ</a:t>
            </a:r>
            <a:endParaRPr lang="en-US" sz="3800" dirty="0"/>
          </a:p>
        </p:txBody>
      </p:sp>
      <p:sp>
        <p:nvSpPr>
          <p:cNvPr id="32" name="rom_21"/>
          <p:cNvSpPr txBox="1"/>
          <p:nvPr/>
        </p:nvSpPr>
        <p:spPr>
          <a:xfrm>
            <a:off x="1556034" y="481537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yo</a:t>
            </a:r>
            <a:endParaRPr lang="en-US" sz="1400" dirty="0"/>
          </a:p>
        </p:txBody>
      </p:sp>
      <p:sp>
        <p:nvSpPr>
          <p:cNvPr id="33" name="Text 25"/>
          <p:cNvSpPr txBox="1"/>
          <p:nvPr/>
        </p:nvSpPr>
        <p:spPr>
          <a:xfrm>
            <a:off x="594360" y="518163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palito · palito · raya</a:t>
            </a:r>
            <a:endParaRPr lang="en-US" sz="1700" dirty="0"/>
          </a:p>
        </p:txBody>
      </p:sp>
      <p:sp>
        <p:nvSpPr>
          <p:cNvPr id="34" name="tile_6"/>
          <p:cNvSpPr/>
          <p:nvPr/>
        </p:nvSpPr>
        <p:spPr>
          <a:xfrm>
            <a:off x="2812694" y="4137660"/>
            <a:ext cx="2035454" cy="2034540"/>
          </a:xfrm>
          <a:prstGeom prst="roundRect">
            <a:avLst>
              <a:gd name="adj" fmla="val 6742"/>
            </a:avLst>
          </a:prstGeom>
          <a:solidFill>
            <a:srgbClr val="F1F0FE"/>
          </a:solidFill>
          <a:ln w="12700">
            <a:solidFill>
              <a:srgbClr val="D9D7F7"/>
            </a:solidFill>
            <a:prstDash val="solid"/>
          </a:ln>
        </p:spPr>
      </p:sp>
      <p:pic>
        <p:nvPicPr>
          <p:cNvPr id="35" name="glifo_img_6" descr="C:\Users\Chingu\AppData\Local\Temp\claude\C--Users-Chingu-Desktop-ACADEMIASEULWEB\d4111e1b-5523-44ea-97b2-b1a1d9545b9e\scratchpad\decks\cache\img_b09ea15ac1102859.png"/>
          <p:cNvPicPr>
            <a:picLocks noChangeAspect="1"/>
          </p:cNvPicPr>
          <p:nvPr/>
        </p:nvPicPr>
        <p:blipFill>
          <a:blip r:embed="rId9"/>
          <a:stretch>
            <a:fillRect/>
          </a:stretch>
        </p:blipFill>
        <p:spPr>
          <a:xfrm>
            <a:off x="2885846" y="4192524"/>
            <a:ext cx="915954" cy="915954"/>
          </a:xfrm>
          <a:prstGeom prst="rect">
            <a:avLst/>
          </a:prstGeom>
        </p:spPr>
      </p:pic>
      <p:sp>
        <p:nvSpPr>
          <p:cNvPr id="36" name="Text 27"/>
          <p:cNvSpPr txBox="1"/>
          <p:nvPr/>
        </p:nvSpPr>
        <p:spPr>
          <a:xfrm>
            <a:off x="3820089" y="419252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ㅜ</a:t>
            </a:r>
            <a:endParaRPr lang="en-US" sz="3800" dirty="0"/>
          </a:p>
        </p:txBody>
      </p:sp>
      <p:sp>
        <p:nvSpPr>
          <p:cNvPr id="37" name="rom_22"/>
          <p:cNvSpPr txBox="1"/>
          <p:nvPr/>
        </p:nvSpPr>
        <p:spPr>
          <a:xfrm>
            <a:off x="3820089" y="481537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u</a:t>
            </a:r>
            <a:endParaRPr lang="en-US" sz="1400" dirty="0"/>
          </a:p>
        </p:txBody>
      </p:sp>
      <p:sp>
        <p:nvSpPr>
          <p:cNvPr id="38" name="Text 29"/>
          <p:cNvSpPr txBox="1"/>
          <p:nvPr/>
        </p:nvSpPr>
        <p:spPr>
          <a:xfrm>
            <a:off x="2858414" y="518163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1 raya · 2 palito hacia abajo</a:t>
            </a:r>
            <a:endParaRPr lang="en-US" sz="1700" dirty="0"/>
          </a:p>
        </p:txBody>
      </p:sp>
      <p:sp>
        <p:nvSpPr>
          <p:cNvPr id="39" name="tile_7"/>
          <p:cNvSpPr/>
          <p:nvPr/>
        </p:nvSpPr>
        <p:spPr>
          <a:xfrm>
            <a:off x="5076749" y="4137660"/>
            <a:ext cx="2035454" cy="2034540"/>
          </a:xfrm>
          <a:prstGeom prst="roundRect">
            <a:avLst>
              <a:gd name="adj" fmla="val 6742"/>
            </a:avLst>
          </a:prstGeom>
          <a:solidFill>
            <a:srgbClr val="F1F0FE"/>
          </a:solidFill>
          <a:ln w="12700">
            <a:solidFill>
              <a:srgbClr val="D9D7F7"/>
            </a:solidFill>
            <a:prstDash val="solid"/>
          </a:ln>
        </p:spPr>
      </p:sp>
      <p:pic>
        <p:nvPicPr>
          <p:cNvPr id="40" name="glifo_img_7" descr="C:\Users\Chingu\AppData\Local\Temp\claude\C--Users-Chingu-Desktop-ACADEMIASEULWEB\d4111e1b-5523-44ea-97b2-b1a1d9545b9e\scratchpad\decks\cache\img_ed5bc9323a032c81.png"/>
          <p:cNvPicPr>
            <a:picLocks noChangeAspect="1"/>
          </p:cNvPicPr>
          <p:nvPr/>
        </p:nvPicPr>
        <p:blipFill>
          <a:blip r:embed="rId10"/>
          <a:stretch>
            <a:fillRect/>
          </a:stretch>
        </p:blipFill>
        <p:spPr>
          <a:xfrm>
            <a:off x="5149901" y="4192524"/>
            <a:ext cx="915954" cy="915954"/>
          </a:xfrm>
          <a:prstGeom prst="rect">
            <a:avLst/>
          </a:prstGeom>
        </p:spPr>
      </p:pic>
      <p:sp>
        <p:nvSpPr>
          <p:cNvPr id="41" name="Text 31"/>
          <p:cNvSpPr txBox="1"/>
          <p:nvPr/>
        </p:nvSpPr>
        <p:spPr>
          <a:xfrm>
            <a:off x="6084143" y="419252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ㅠ</a:t>
            </a:r>
            <a:endParaRPr lang="en-US" sz="3800" dirty="0"/>
          </a:p>
        </p:txBody>
      </p:sp>
      <p:sp>
        <p:nvSpPr>
          <p:cNvPr id="42" name="rom_23"/>
          <p:cNvSpPr txBox="1"/>
          <p:nvPr/>
        </p:nvSpPr>
        <p:spPr>
          <a:xfrm>
            <a:off x="6084143" y="481537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yu</a:t>
            </a:r>
            <a:endParaRPr lang="en-US" sz="1400" dirty="0"/>
          </a:p>
        </p:txBody>
      </p:sp>
      <p:sp>
        <p:nvSpPr>
          <p:cNvPr id="43" name="Text 33"/>
          <p:cNvSpPr txBox="1"/>
          <p:nvPr/>
        </p:nvSpPr>
        <p:spPr>
          <a:xfrm>
            <a:off x="5122469" y="518163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raya · palito · palito</a:t>
            </a:r>
            <a:endParaRPr lang="en-US" sz="1700" dirty="0"/>
          </a:p>
        </p:txBody>
      </p:sp>
      <p:sp>
        <p:nvSpPr>
          <p:cNvPr id="44" name="tile_8"/>
          <p:cNvSpPr/>
          <p:nvPr/>
        </p:nvSpPr>
        <p:spPr>
          <a:xfrm>
            <a:off x="7340803" y="4137660"/>
            <a:ext cx="2035454" cy="2034540"/>
          </a:xfrm>
          <a:prstGeom prst="roundRect">
            <a:avLst>
              <a:gd name="adj" fmla="val 6742"/>
            </a:avLst>
          </a:prstGeom>
          <a:solidFill>
            <a:srgbClr val="F1F0FE"/>
          </a:solidFill>
          <a:ln w="12700">
            <a:solidFill>
              <a:srgbClr val="D9D7F7"/>
            </a:solidFill>
            <a:prstDash val="solid"/>
          </a:ln>
        </p:spPr>
      </p:sp>
      <p:pic>
        <p:nvPicPr>
          <p:cNvPr id="45" name="glifo_img_8" descr="C:\Users\Chingu\AppData\Local\Temp\claude\C--Users-Chingu-Desktop-ACADEMIASEULWEB\d4111e1b-5523-44ea-97b2-b1a1d9545b9e\scratchpad\decks\cache\img_8c30cf097573492c.png"/>
          <p:cNvPicPr>
            <a:picLocks noChangeAspect="1"/>
          </p:cNvPicPr>
          <p:nvPr/>
        </p:nvPicPr>
        <p:blipFill>
          <a:blip r:embed="rId11"/>
          <a:stretch>
            <a:fillRect/>
          </a:stretch>
        </p:blipFill>
        <p:spPr>
          <a:xfrm>
            <a:off x="7413955" y="4192524"/>
            <a:ext cx="915954" cy="915954"/>
          </a:xfrm>
          <a:prstGeom prst="rect">
            <a:avLst/>
          </a:prstGeom>
        </p:spPr>
      </p:pic>
      <p:sp>
        <p:nvSpPr>
          <p:cNvPr id="46" name="Text 35"/>
          <p:cNvSpPr txBox="1"/>
          <p:nvPr/>
        </p:nvSpPr>
        <p:spPr>
          <a:xfrm>
            <a:off x="8348198" y="419252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ㅡ</a:t>
            </a:r>
            <a:endParaRPr lang="en-US" sz="3800" dirty="0"/>
          </a:p>
        </p:txBody>
      </p:sp>
      <p:sp>
        <p:nvSpPr>
          <p:cNvPr id="47" name="rom_24"/>
          <p:cNvSpPr txBox="1"/>
          <p:nvPr/>
        </p:nvSpPr>
        <p:spPr>
          <a:xfrm>
            <a:off x="8348198" y="481537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eu</a:t>
            </a:r>
            <a:endParaRPr lang="en-US" sz="1400" dirty="0"/>
          </a:p>
        </p:txBody>
      </p:sp>
      <p:sp>
        <p:nvSpPr>
          <p:cNvPr id="48" name="Text 37"/>
          <p:cNvSpPr txBox="1"/>
          <p:nvPr/>
        </p:nvSpPr>
        <p:spPr>
          <a:xfrm>
            <a:off x="7386523" y="518163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una raya</a:t>
            </a:r>
            <a:endParaRPr lang="en-US" sz="1700" dirty="0"/>
          </a:p>
        </p:txBody>
      </p:sp>
      <p:sp>
        <p:nvSpPr>
          <p:cNvPr id="49" name="tile_9"/>
          <p:cNvSpPr/>
          <p:nvPr/>
        </p:nvSpPr>
        <p:spPr>
          <a:xfrm>
            <a:off x="9604858" y="4137660"/>
            <a:ext cx="2035454" cy="2034540"/>
          </a:xfrm>
          <a:prstGeom prst="roundRect">
            <a:avLst>
              <a:gd name="adj" fmla="val 6742"/>
            </a:avLst>
          </a:prstGeom>
          <a:solidFill>
            <a:srgbClr val="F1F0FE"/>
          </a:solidFill>
          <a:ln w="12700">
            <a:solidFill>
              <a:srgbClr val="D9D7F7"/>
            </a:solidFill>
            <a:prstDash val="solid"/>
          </a:ln>
        </p:spPr>
      </p:sp>
      <p:pic>
        <p:nvPicPr>
          <p:cNvPr id="50" name="glifo_img_9" descr="C:\Users\Chingu\AppData\Local\Temp\claude\C--Users-Chingu-Desktop-ACADEMIASEULWEB\d4111e1b-5523-44ea-97b2-b1a1d9545b9e\scratchpad\decks\cache\img_e5128fee2d2484f2.png"/>
          <p:cNvPicPr>
            <a:picLocks noChangeAspect="1"/>
          </p:cNvPicPr>
          <p:nvPr/>
        </p:nvPicPr>
        <p:blipFill>
          <a:blip r:embed="rId12"/>
          <a:stretch>
            <a:fillRect/>
          </a:stretch>
        </p:blipFill>
        <p:spPr>
          <a:xfrm>
            <a:off x="9678010" y="4192524"/>
            <a:ext cx="915954" cy="915954"/>
          </a:xfrm>
          <a:prstGeom prst="rect">
            <a:avLst/>
          </a:prstGeom>
        </p:spPr>
      </p:pic>
      <p:sp>
        <p:nvSpPr>
          <p:cNvPr id="51" name="Text 39"/>
          <p:cNvSpPr txBox="1"/>
          <p:nvPr/>
        </p:nvSpPr>
        <p:spPr>
          <a:xfrm>
            <a:off x="10612252" y="4192524"/>
            <a:ext cx="991484" cy="622849"/>
          </a:xfrm>
          <a:prstGeom prst="rect">
            <a:avLst/>
          </a:prstGeom>
          <a:noFill/>
          <a:ln/>
        </p:spPr>
        <p:txBody>
          <a:bodyPr wrap="square" lIns="0" tIns="0" rIns="0" bIns="0" rtlCol="0" anchor="ctr">
            <a:normAutofit/>
          </a:bodyPr>
          <a:lstStyle/>
          <a:p>
            <a:pPr marL="0" indent="0" algn="ctr" eaLnBrk="1">
              <a:buNone/>
            </a:pPr>
            <a:r>
              <a:rPr lang="ko-KR" altLang="en-US" sz="3800" b="1" dirty="0">
                <a:solidFill>
                  <a:srgbClr val="4236F6"/>
                </a:solidFill>
                <a:latin typeface="Malgun Gothic" pitchFamily="34" charset="0"/>
                <a:ea typeface="Malgun Gothic" pitchFamily="34" charset="-122"/>
                <a:cs typeface="Malgun Gothic" pitchFamily="34" charset="-120"/>
              </a:rPr>
              <a:t>ㅣ</a:t>
            </a:r>
            <a:endParaRPr lang="en-US" sz="3800" dirty="0"/>
          </a:p>
        </p:txBody>
      </p:sp>
      <p:sp>
        <p:nvSpPr>
          <p:cNvPr id="52" name="rom_25"/>
          <p:cNvSpPr txBox="1"/>
          <p:nvPr/>
        </p:nvSpPr>
        <p:spPr>
          <a:xfrm>
            <a:off x="10612252" y="4815373"/>
            <a:ext cx="991484" cy="293105"/>
          </a:xfrm>
          <a:prstGeom prst="rect">
            <a:avLst/>
          </a:prstGeom>
          <a:noFill/>
          <a:ln/>
        </p:spPr>
        <p:txBody>
          <a:bodyPr wrap="square" lIns="0" tIns="0" rIns="0" bIns="0" rtlCol="0" anchor="ctr">
            <a:normAutofit/>
          </a:bodyPr>
          <a:lstStyle/>
          <a:p>
            <a:pPr marL="0" indent="0" algn="ctr" eaLnBrk="1">
              <a:buNone/>
            </a:pPr>
            <a:r>
              <a:rPr lang="en-US" sz="1400" dirty="0">
                <a:solidFill>
                  <a:srgbClr val="8A8DA0"/>
                </a:solidFill>
              </a:rPr>
              <a:t>i</a:t>
            </a:r>
            <a:endParaRPr lang="en-US" sz="1400" dirty="0"/>
          </a:p>
        </p:txBody>
      </p:sp>
      <p:sp>
        <p:nvSpPr>
          <p:cNvPr id="53" name="Text 41"/>
          <p:cNvSpPr txBox="1"/>
          <p:nvPr/>
        </p:nvSpPr>
        <p:spPr>
          <a:xfrm>
            <a:off x="9650578" y="5181630"/>
            <a:ext cx="1944014" cy="953994"/>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un palo</a:t>
            </a:r>
            <a:endParaRPr lang="en-US" sz="1700" dirty="0"/>
          </a:p>
        </p:txBody>
      </p:sp>
      <p:sp>
        <p:nvSpPr>
          <p:cNvPr id="5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P spid="22" grpId="0" animBg="1"/>
      <p:bldP spid="27" grpId="0" animBg="1"/>
      <p:bldP spid="32" grpId="0" animBg="1"/>
      <p:bldP spid="37" grpId="0" animBg="1"/>
      <p:bldP spid="42" grpId="0" animBg="1"/>
      <p:bldP spid="47" grpId="0" animBg="1"/>
      <p:bldP spid="5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Tu boca, dibujada</a:t>
            </a:r>
            <a:r>
              <a:rPr lang="en-US" sz="1500" b="1" i="1" dirty="0">
                <a:solidFill>
                  <a:srgbClr val="8A8DA0"/>
                </a:solidFill>
              </a:rPr>
              <a:t>   Your mouth, drawn</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Di "nnn"… ¿dónde está tu lengua?</a:t>
            </a:r>
            <a:endParaRPr lang="en-US" sz="1800" dirty="0"/>
          </a:p>
        </p:txBody>
      </p:sp>
      <p:sp>
        <p:nvSpPr>
          <p:cNvPr id="4" name="tile_0"/>
          <p:cNvSpPr/>
          <p:nvPr/>
        </p:nvSpPr>
        <p:spPr>
          <a:xfrm>
            <a:off x="548640" y="1874520"/>
            <a:ext cx="3544824" cy="2034540"/>
          </a:xfrm>
          <a:prstGeom prst="roundRect">
            <a:avLst>
              <a:gd name="adj" fmla="val 6742"/>
            </a:avLst>
          </a:prstGeom>
          <a:solidFill>
            <a:srgbClr val="F1F0FE"/>
          </a:solidFill>
          <a:ln w="12700">
            <a:solidFill>
              <a:srgbClr val="D9D7F7"/>
            </a:solidFill>
            <a:prstDash val="solid"/>
          </a:ln>
        </p:spPr>
      </p:sp>
      <p:pic>
        <p:nvPicPr>
          <p:cNvPr id="5" name="glifo_img_0" descr="C:\Users\Chingu\AppData\Local\Temp\claude\C--Users-Chingu-Desktop-ACADEMIASEULWEB\d4111e1b-5523-44ea-97b2-b1a1d9545b9e\scratchpad\decks\cache\img_562b68cf5a6c94be.png"/>
          <p:cNvPicPr>
            <a:picLocks noChangeAspect="1"/>
          </p:cNvPicPr>
          <p:nvPr/>
        </p:nvPicPr>
        <p:blipFill>
          <a:blip r:embed="rId3"/>
          <a:stretch>
            <a:fillRect/>
          </a:stretch>
        </p:blipFill>
        <p:spPr>
          <a:xfrm>
            <a:off x="621792" y="1929384"/>
            <a:ext cx="1261415" cy="1261415"/>
          </a:xfrm>
          <a:prstGeom prst="rect">
            <a:avLst/>
          </a:prstGeom>
        </p:spPr>
      </p:pic>
      <p:sp>
        <p:nvSpPr>
          <p:cNvPr id="6" name="Text 3"/>
          <p:cNvSpPr txBox="1"/>
          <p:nvPr/>
        </p:nvSpPr>
        <p:spPr>
          <a:xfrm>
            <a:off x="1901495" y="1929384"/>
            <a:ext cx="2155393" cy="1261415"/>
          </a:xfrm>
          <a:prstGeom prst="rect">
            <a:avLst/>
          </a:prstGeom>
          <a:noFill/>
          <a:ln/>
        </p:spPr>
        <p:txBody>
          <a:bodyPr wrap="square" lIns="0" tIns="0" rIns="0" bIns="0" rtlCol="0" anchor="ctr">
            <a:normAutofit/>
          </a:bodyPr>
          <a:lstStyle/>
          <a:p>
            <a:pPr marL="0" indent="0" algn="ctr" eaLnBrk="1">
              <a:buNone/>
            </a:pPr>
            <a:r>
              <a:rPr lang="ko-KR" altLang="en-US" sz="7500" b="1" dirty="0">
                <a:solidFill>
                  <a:srgbClr val="4236F6"/>
                </a:solidFill>
                <a:latin typeface="Malgun Gothic" pitchFamily="34" charset="0"/>
                <a:ea typeface="Malgun Gothic" pitchFamily="34" charset="-122"/>
                <a:cs typeface="Malgun Gothic" pitchFamily="34" charset="-120"/>
              </a:rPr>
              <a:t>ㄱ</a:t>
            </a:r>
            <a:endParaRPr lang="en-US" sz="7500" dirty="0"/>
          </a:p>
        </p:txBody>
      </p:sp>
      <p:sp>
        <p:nvSpPr>
          <p:cNvPr id="7" name="Text 4"/>
          <p:cNvSpPr txBox="1"/>
          <p:nvPr/>
        </p:nvSpPr>
        <p:spPr>
          <a:xfrm>
            <a:off x="594360"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la parte de atrás de la lengua que sube (di "g")</a:t>
            </a:r>
            <a:endParaRPr lang="en-US" sz="1700" dirty="0"/>
          </a:p>
        </p:txBody>
      </p:sp>
      <p:sp>
        <p:nvSpPr>
          <p:cNvPr id="8" name="tile_1"/>
          <p:cNvSpPr/>
          <p:nvPr/>
        </p:nvSpPr>
        <p:spPr>
          <a:xfrm>
            <a:off x="4322064" y="1874520"/>
            <a:ext cx="3544824" cy="2034540"/>
          </a:xfrm>
          <a:prstGeom prst="roundRect">
            <a:avLst>
              <a:gd name="adj" fmla="val 6742"/>
            </a:avLst>
          </a:prstGeom>
          <a:solidFill>
            <a:srgbClr val="F1F0FE"/>
          </a:solidFill>
          <a:ln w="12700">
            <a:solidFill>
              <a:srgbClr val="D9D7F7"/>
            </a:solidFill>
            <a:prstDash val="solid"/>
          </a:ln>
        </p:spPr>
      </p:sp>
      <p:pic>
        <p:nvPicPr>
          <p:cNvPr id="9" name="glifo_img_1" descr="C:\Users\Chingu\AppData\Local\Temp\claude\C--Users-Chingu-Desktop-ACADEMIASEULWEB\d4111e1b-5523-44ea-97b2-b1a1d9545b9e\scratchpad\decks\cache\img_236a77c7944ac53f.png"/>
          <p:cNvPicPr>
            <a:picLocks noChangeAspect="1"/>
          </p:cNvPicPr>
          <p:nvPr/>
        </p:nvPicPr>
        <p:blipFill>
          <a:blip r:embed="rId4"/>
          <a:stretch>
            <a:fillRect/>
          </a:stretch>
        </p:blipFill>
        <p:spPr>
          <a:xfrm>
            <a:off x="4395216" y="1929384"/>
            <a:ext cx="1261415" cy="1261415"/>
          </a:xfrm>
          <a:prstGeom prst="rect">
            <a:avLst/>
          </a:prstGeom>
        </p:spPr>
      </p:pic>
      <p:sp>
        <p:nvSpPr>
          <p:cNvPr id="10" name="Text 6"/>
          <p:cNvSpPr txBox="1"/>
          <p:nvPr/>
        </p:nvSpPr>
        <p:spPr>
          <a:xfrm>
            <a:off x="5674919" y="1929384"/>
            <a:ext cx="2155393" cy="1261415"/>
          </a:xfrm>
          <a:prstGeom prst="rect">
            <a:avLst/>
          </a:prstGeom>
          <a:noFill/>
          <a:ln/>
        </p:spPr>
        <p:txBody>
          <a:bodyPr wrap="square" lIns="0" tIns="0" rIns="0" bIns="0" rtlCol="0" anchor="ctr">
            <a:normAutofit/>
          </a:bodyPr>
          <a:lstStyle/>
          <a:p>
            <a:pPr marL="0" indent="0" algn="ctr" eaLnBrk="1">
              <a:buNone/>
            </a:pPr>
            <a:r>
              <a:rPr lang="ko-KR" altLang="en-US" sz="7500" b="1" dirty="0">
                <a:solidFill>
                  <a:srgbClr val="4236F6"/>
                </a:solidFill>
                <a:latin typeface="Malgun Gothic" pitchFamily="34" charset="0"/>
                <a:ea typeface="Malgun Gothic" pitchFamily="34" charset="-122"/>
                <a:cs typeface="Malgun Gothic" pitchFamily="34" charset="-120"/>
              </a:rPr>
              <a:t>ㄴ</a:t>
            </a:r>
            <a:endParaRPr lang="en-US" sz="7500" dirty="0"/>
          </a:p>
        </p:txBody>
      </p:sp>
      <p:sp>
        <p:nvSpPr>
          <p:cNvPr id="11" name="Text 7"/>
          <p:cNvSpPr txBox="1"/>
          <p:nvPr/>
        </p:nvSpPr>
        <p:spPr>
          <a:xfrm>
            <a:off x="4367784"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la punta de la lengua toca detrás de los dientes</a:t>
            </a:r>
            <a:endParaRPr lang="en-US" sz="1700" dirty="0"/>
          </a:p>
        </p:txBody>
      </p:sp>
      <p:sp>
        <p:nvSpPr>
          <p:cNvPr id="12" name="tile_2"/>
          <p:cNvSpPr/>
          <p:nvPr/>
        </p:nvSpPr>
        <p:spPr>
          <a:xfrm>
            <a:off x="8095488" y="1874520"/>
            <a:ext cx="3544824" cy="2034540"/>
          </a:xfrm>
          <a:prstGeom prst="roundRect">
            <a:avLst>
              <a:gd name="adj" fmla="val 6742"/>
            </a:avLst>
          </a:prstGeom>
          <a:solidFill>
            <a:srgbClr val="F1F0FE"/>
          </a:solidFill>
          <a:ln w="12700">
            <a:solidFill>
              <a:srgbClr val="D9D7F7"/>
            </a:solidFill>
            <a:prstDash val="solid"/>
          </a:ln>
        </p:spPr>
      </p:sp>
      <p:pic>
        <p:nvPicPr>
          <p:cNvPr id="13" name="glifo_img_2" descr="C:\Users\Chingu\AppData\Local\Temp\claude\C--Users-Chingu-Desktop-ACADEMIASEULWEB\d4111e1b-5523-44ea-97b2-b1a1d9545b9e\scratchpad\decks\cache\img_cc659f2746e995eb.png"/>
          <p:cNvPicPr>
            <a:picLocks noChangeAspect="1"/>
          </p:cNvPicPr>
          <p:nvPr/>
        </p:nvPicPr>
        <p:blipFill>
          <a:blip r:embed="rId5"/>
          <a:stretch>
            <a:fillRect/>
          </a:stretch>
        </p:blipFill>
        <p:spPr>
          <a:xfrm>
            <a:off x="8168640" y="1929384"/>
            <a:ext cx="1261415" cy="1261415"/>
          </a:xfrm>
          <a:prstGeom prst="rect">
            <a:avLst/>
          </a:prstGeom>
        </p:spPr>
      </p:pic>
      <p:sp>
        <p:nvSpPr>
          <p:cNvPr id="14" name="Text 9"/>
          <p:cNvSpPr txBox="1"/>
          <p:nvPr/>
        </p:nvSpPr>
        <p:spPr>
          <a:xfrm>
            <a:off x="9448343" y="1929384"/>
            <a:ext cx="2155393" cy="1261415"/>
          </a:xfrm>
          <a:prstGeom prst="rect">
            <a:avLst/>
          </a:prstGeom>
          <a:noFill/>
          <a:ln/>
        </p:spPr>
        <p:txBody>
          <a:bodyPr wrap="square" lIns="0" tIns="0" rIns="0" bIns="0" rtlCol="0" anchor="ctr">
            <a:normAutofit/>
          </a:bodyPr>
          <a:lstStyle/>
          <a:p>
            <a:pPr marL="0" indent="0" algn="ctr" eaLnBrk="1">
              <a:buNone/>
            </a:pPr>
            <a:r>
              <a:rPr lang="ko-KR" altLang="en-US" sz="7500" b="1" dirty="0">
                <a:solidFill>
                  <a:srgbClr val="4236F6"/>
                </a:solidFill>
                <a:latin typeface="Malgun Gothic" pitchFamily="34" charset="0"/>
                <a:ea typeface="Malgun Gothic" pitchFamily="34" charset="-122"/>
                <a:cs typeface="Malgun Gothic" pitchFamily="34" charset="-120"/>
              </a:rPr>
              <a:t>ㅁ</a:t>
            </a:r>
            <a:endParaRPr lang="en-US" sz="7500" dirty="0"/>
          </a:p>
        </p:txBody>
      </p:sp>
      <p:sp>
        <p:nvSpPr>
          <p:cNvPr id="15" name="Text 10"/>
          <p:cNvSpPr txBox="1"/>
          <p:nvPr/>
        </p:nvSpPr>
        <p:spPr>
          <a:xfrm>
            <a:off x="8141208" y="326395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labios cerrados: de frente, un cuadrado</a:t>
            </a:r>
            <a:endParaRPr lang="en-US" sz="1700" dirty="0"/>
          </a:p>
        </p:txBody>
      </p:sp>
      <p:sp>
        <p:nvSpPr>
          <p:cNvPr id="16" name="tile_3"/>
          <p:cNvSpPr/>
          <p:nvPr/>
        </p:nvSpPr>
        <p:spPr>
          <a:xfrm>
            <a:off x="2435352" y="4137660"/>
            <a:ext cx="3544824" cy="2034540"/>
          </a:xfrm>
          <a:prstGeom prst="roundRect">
            <a:avLst>
              <a:gd name="adj" fmla="val 6742"/>
            </a:avLst>
          </a:prstGeom>
          <a:solidFill>
            <a:srgbClr val="F1F0FE"/>
          </a:solidFill>
          <a:ln w="12700">
            <a:solidFill>
              <a:srgbClr val="D9D7F7"/>
            </a:solidFill>
            <a:prstDash val="solid"/>
          </a:ln>
        </p:spPr>
      </p:sp>
      <p:pic>
        <p:nvPicPr>
          <p:cNvPr id="17" name="glifo_img_3" descr="C:\Users\Chingu\AppData\Local\Temp\claude\C--Users-Chingu-Desktop-ACADEMIASEULWEB\d4111e1b-5523-44ea-97b2-b1a1d9545b9e\scratchpad\decks\cache\img_b9c77003dac10435.png"/>
          <p:cNvPicPr>
            <a:picLocks noChangeAspect="1"/>
          </p:cNvPicPr>
          <p:nvPr/>
        </p:nvPicPr>
        <p:blipFill>
          <a:blip r:embed="rId6"/>
          <a:stretch>
            <a:fillRect/>
          </a:stretch>
        </p:blipFill>
        <p:spPr>
          <a:xfrm>
            <a:off x="2508504" y="4192524"/>
            <a:ext cx="1261415" cy="1261415"/>
          </a:xfrm>
          <a:prstGeom prst="rect">
            <a:avLst/>
          </a:prstGeom>
        </p:spPr>
      </p:pic>
      <p:sp>
        <p:nvSpPr>
          <p:cNvPr id="18" name="Text 12"/>
          <p:cNvSpPr txBox="1"/>
          <p:nvPr/>
        </p:nvSpPr>
        <p:spPr>
          <a:xfrm>
            <a:off x="3788207" y="4192524"/>
            <a:ext cx="2155393" cy="1261415"/>
          </a:xfrm>
          <a:prstGeom prst="rect">
            <a:avLst/>
          </a:prstGeom>
          <a:noFill/>
          <a:ln/>
        </p:spPr>
        <p:txBody>
          <a:bodyPr wrap="square" lIns="0" tIns="0" rIns="0" bIns="0" rtlCol="0" anchor="ctr">
            <a:normAutofit/>
          </a:bodyPr>
          <a:lstStyle/>
          <a:p>
            <a:pPr marL="0" indent="0" algn="ctr" eaLnBrk="1">
              <a:buNone/>
            </a:pPr>
            <a:r>
              <a:rPr lang="ko-KR" altLang="en-US" sz="7500" b="1" dirty="0">
                <a:solidFill>
                  <a:srgbClr val="4236F6"/>
                </a:solidFill>
                <a:latin typeface="Malgun Gothic" pitchFamily="34" charset="0"/>
                <a:ea typeface="Malgun Gothic" pitchFamily="34" charset="-122"/>
                <a:cs typeface="Malgun Gothic" pitchFamily="34" charset="-120"/>
              </a:rPr>
              <a:t>ㅅ</a:t>
            </a:r>
            <a:endParaRPr lang="en-US" sz="7500" dirty="0"/>
          </a:p>
        </p:txBody>
      </p:sp>
      <p:sp>
        <p:nvSpPr>
          <p:cNvPr id="19" name="Text 13"/>
          <p:cNvSpPr txBox="1"/>
          <p:nvPr/>
        </p:nvSpPr>
        <p:spPr>
          <a:xfrm>
            <a:off x="2481072" y="552709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un diente</a:t>
            </a:r>
            <a:endParaRPr lang="en-US" sz="1700" dirty="0"/>
          </a:p>
        </p:txBody>
      </p:sp>
      <p:sp>
        <p:nvSpPr>
          <p:cNvPr id="20" name="tile_4"/>
          <p:cNvSpPr/>
          <p:nvPr/>
        </p:nvSpPr>
        <p:spPr>
          <a:xfrm>
            <a:off x="6208776" y="4137660"/>
            <a:ext cx="3544824" cy="2034540"/>
          </a:xfrm>
          <a:prstGeom prst="roundRect">
            <a:avLst>
              <a:gd name="adj" fmla="val 6742"/>
            </a:avLst>
          </a:prstGeom>
          <a:solidFill>
            <a:srgbClr val="F1F0FE"/>
          </a:solidFill>
          <a:ln w="12700">
            <a:solidFill>
              <a:srgbClr val="D9D7F7"/>
            </a:solidFill>
            <a:prstDash val="solid"/>
          </a:ln>
        </p:spPr>
      </p:sp>
      <p:pic>
        <p:nvPicPr>
          <p:cNvPr id="21" name="glifo_img_4" descr="C:\Users\Chingu\AppData\Local\Temp\claude\C--Users-Chingu-Desktop-ACADEMIASEULWEB\d4111e1b-5523-44ea-97b2-b1a1d9545b9e\scratchpad\decks\cache\img_67d8f74f2d7149b0.png"/>
          <p:cNvPicPr>
            <a:picLocks noChangeAspect="1"/>
          </p:cNvPicPr>
          <p:nvPr/>
        </p:nvPicPr>
        <p:blipFill>
          <a:blip r:embed="rId7"/>
          <a:stretch>
            <a:fillRect/>
          </a:stretch>
        </p:blipFill>
        <p:spPr>
          <a:xfrm>
            <a:off x="6281928" y="4192524"/>
            <a:ext cx="1261415" cy="1261415"/>
          </a:xfrm>
          <a:prstGeom prst="rect">
            <a:avLst/>
          </a:prstGeom>
        </p:spPr>
      </p:pic>
      <p:sp>
        <p:nvSpPr>
          <p:cNvPr id="22" name="Text 15"/>
          <p:cNvSpPr txBox="1"/>
          <p:nvPr/>
        </p:nvSpPr>
        <p:spPr>
          <a:xfrm>
            <a:off x="7561631" y="4192524"/>
            <a:ext cx="2155393" cy="1261415"/>
          </a:xfrm>
          <a:prstGeom prst="rect">
            <a:avLst/>
          </a:prstGeom>
          <a:noFill/>
          <a:ln/>
        </p:spPr>
        <p:txBody>
          <a:bodyPr wrap="square" lIns="0" tIns="0" rIns="0" bIns="0" rtlCol="0" anchor="ctr">
            <a:normAutofit/>
          </a:bodyPr>
          <a:lstStyle/>
          <a:p>
            <a:pPr marL="0" indent="0" algn="ctr" eaLnBrk="1">
              <a:buNone/>
            </a:pPr>
            <a:r>
              <a:rPr lang="ko-KR" altLang="en-US" sz="7500" b="1" dirty="0">
                <a:solidFill>
                  <a:srgbClr val="4236F6"/>
                </a:solidFill>
                <a:latin typeface="Malgun Gothic" pitchFamily="34" charset="0"/>
                <a:ea typeface="Malgun Gothic" pitchFamily="34" charset="-122"/>
                <a:cs typeface="Malgun Gothic" pitchFamily="34" charset="-120"/>
              </a:rPr>
              <a:t>ㅇ</a:t>
            </a:r>
            <a:endParaRPr lang="en-US" sz="7500" dirty="0"/>
          </a:p>
        </p:txBody>
      </p:sp>
      <p:sp>
        <p:nvSpPr>
          <p:cNvPr id="23" name="Text 16"/>
          <p:cNvSpPr txBox="1"/>
          <p:nvPr/>
        </p:nvSpPr>
        <p:spPr>
          <a:xfrm>
            <a:off x="6254496" y="5527091"/>
            <a:ext cx="3453384" cy="608533"/>
          </a:xfrm>
          <a:prstGeom prst="rect">
            <a:avLst/>
          </a:prstGeom>
          <a:noFill/>
          <a:ln/>
        </p:spPr>
        <p:txBody>
          <a:bodyPr wrap="square" lIns="0" tIns="0" rIns="0" bIns="0" rtlCol="0" anchor="t">
            <a:normAutofit/>
          </a:bodyPr>
          <a:lstStyle/>
          <a:p>
            <a:pPr marL="0" indent="0" algn="ctr" eaLnBrk="1">
              <a:buNone/>
            </a:pPr>
            <a:r>
              <a:rPr lang="en-US" sz="1700" dirty="0">
                <a:solidFill>
                  <a:srgbClr val="5C5F6B"/>
                </a:solidFill>
              </a:rPr>
              <a:t>la garganta</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가나다라마바사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아자차카타파하  </a:t>
            </a:r>
            <a:r>
              <a:rPr lang="en-US" sz="2200" b="1" dirty="0">
                <a:solidFill>
                  <a:srgbClr val="003478"/>
                </a:solidFill>
              </a:rPr>
              <a:t>El canto de las consonantes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Las 14 consonantes, cada una con ㅏ</a:t>
            </a:r>
            <a:endParaRPr lang="en-US" sz="1800" dirty="0"/>
          </a:p>
        </p:txBody>
      </p:sp>
      <p:sp>
        <p:nvSpPr>
          <p:cNvPr id="4" name="tile_0"/>
          <p:cNvSpPr/>
          <p:nvPr/>
        </p:nvSpPr>
        <p:spPr>
          <a:xfrm>
            <a:off x="548640" y="1874520"/>
            <a:ext cx="1388582" cy="2034540"/>
          </a:xfrm>
          <a:prstGeom prst="roundRect">
            <a:avLst>
              <a:gd name="adj" fmla="val 9878"/>
            </a:avLst>
          </a:prstGeom>
          <a:solidFill>
            <a:srgbClr val="F1F0FE"/>
          </a:solidFill>
          <a:ln w="12700">
            <a:solidFill>
              <a:srgbClr val="D9D7F7"/>
            </a:solidFill>
            <a:prstDash val="solid"/>
          </a:ln>
        </p:spPr>
      </p:sp>
      <p:sp>
        <p:nvSpPr>
          <p:cNvPr id="5" name="Text 3"/>
          <p:cNvSpPr txBox="1"/>
          <p:nvPr/>
        </p:nvSpPr>
        <p:spPr>
          <a:xfrm>
            <a:off x="548640"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가</a:t>
            </a:r>
            <a:endParaRPr lang="en-US" sz="7600" dirty="0"/>
          </a:p>
        </p:txBody>
      </p:sp>
      <p:sp>
        <p:nvSpPr>
          <p:cNvPr id="6" name="rom_26"/>
          <p:cNvSpPr txBox="1"/>
          <p:nvPr/>
        </p:nvSpPr>
        <p:spPr>
          <a:xfrm>
            <a:off x="548640"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ga</a:t>
            </a:r>
            <a:endParaRPr lang="en-US" sz="1800" dirty="0"/>
          </a:p>
        </p:txBody>
      </p:sp>
      <p:sp>
        <p:nvSpPr>
          <p:cNvPr id="7" name="Text 5"/>
          <p:cNvSpPr txBox="1"/>
          <p:nvPr/>
        </p:nvSpPr>
        <p:spPr>
          <a:xfrm>
            <a:off x="594360"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ㄱ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8" name="tile_1"/>
          <p:cNvSpPr/>
          <p:nvPr/>
        </p:nvSpPr>
        <p:spPr>
          <a:xfrm>
            <a:off x="2165822" y="1874520"/>
            <a:ext cx="1388582" cy="2034540"/>
          </a:xfrm>
          <a:prstGeom prst="roundRect">
            <a:avLst>
              <a:gd name="adj" fmla="val 9878"/>
            </a:avLst>
          </a:prstGeom>
          <a:solidFill>
            <a:srgbClr val="F1F0FE"/>
          </a:solidFill>
          <a:ln w="12700">
            <a:solidFill>
              <a:srgbClr val="D9D7F7"/>
            </a:solidFill>
            <a:prstDash val="solid"/>
          </a:ln>
        </p:spPr>
      </p:sp>
      <p:sp>
        <p:nvSpPr>
          <p:cNvPr id="9" name="Text 7"/>
          <p:cNvSpPr txBox="1"/>
          <p:nvPr/>
        </p:nvSpPr>
        <p:spPr>
          <a:xfrm>
            <a:off x="2165822"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나</a:t>
            </a:r>
            <a:endParaRPr lang="en-US" sz="7600" dirty="0"/>
          </a:p>
        </p:txBody>
      </p:sp>
      <p:sp>
        <p:nvSpPr>
          <p:cNvPr id="10" name="rom_27"/>
          <p:cNvSpPr txBox="1"/>
          <p:nvPr/>
        </p:nvSpPr>
        <p:spPr>
          <a:xfrm>
            <a:off x="2165822"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na</a:t>
            </a:r>
            <a:endParaRPr lang="en-US" sz="1800" dirty="0"/>
          </a:p>
        </p:txBody>
      </p:sp>
      <p:sp>
        <p:nvSpPr>
          <p:cNvPr id="11" name="Text 9"/>
          <p:cNvSpPr txBox="1"/>
          <p:nvPr/>
        </p:nvSpPr>
        <p:spPr>
          <a:xfrm>
            <a:off x="2211542"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ㄴ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12" name="tile_2"/>
          <p:cNvSpPr/>
          <p:nvPr/>
        </p:nvSpPr>
        <p:spPr>
          <a:xfrm>
            <a:off x="3783003" y="1874520"/>
            <a:ext cx="1388582" cy="2034540"/>
          </a:xfrm>
          <a:prstGeom prst="roundRect">
            <a:avLst>
              <a:gd name="adj" fmla="val 9878"/>
            </a:avLst>
          </a:prstGeom>
          <a:solidFill>
            <a:srgbClr val="F1F0FE"/>
          </a:solidFill>
          <a:ln w="12700">
            <a:solidFill>
              <a:srgbClr val="D9D7F7"/>
            </a:solidFill>
            <a:prstDash val="solid"/>
          </a:ln>
        </p:spPr>
      </p:sp>
      <p:sp>
        <p:nvSpPr>
          <p:cNvPr id="13" name="Text 11"/>
          <p:cNvSpPr txBox="1"/>
          <p:nvPr/>
        </p:nvSpPr>
        <p:spPr>
          <a:xfrm>
            <a:off x="3783003"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다</a:t>
            </a:r>
            <a:endParaRPr lang="en-US" sz="7600" dirty="0"/>
          </a:p>
        </p:txBody>
      </p:sp>
      <p:sp>
        <p:nvSpPr>
          <p:cNvPr id="14" name="rom_28"/>
          <p:cNvSpPr txBox="1"/>
          <p:nvPr/>
        </p:nvSpPr>
        <p:spPr>
          <a:xfrm>
            <a:off x="3783003"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da</a:t>
            </a:r>
            <a:endParaRPr lang="en-US" sz="1800" dirty="0"/>
          </a:p>
        </p:txBody>
      </p:sp>
      <p:sp>
        <p:nvSpPr>
          <p:cNvPr id="15" name="Text 13"/>
          <p:cNvSpPr txBox="1"/>
          <p:nvPr/>
        </p:nvSpPr>
        <p:spPr>
          <a:xfrm>
            <a:off x="3828723"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ㄷ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16" name="tile_3"/>
          <p:cNvSpPr/>
          <p:nvPr/>
        </p:nvSpPr>
        <p:spPr>
          <a:xfrm>
            <a:off x="5400185" y="1874520"/>
            <a:ext cx="1388582" cy="2034540"/>
          </a:xfrm>
          <a:prstGeom prst="roundRect">
            <a:avLst>
              <a:gd name="adj" fmla="val 9878"/>
            </a:avLst>
          </a:prstGeom>
          <a:solidFill>
            <a:srgbClr val="F1F0FE"/>
          </a:solidFill>
          <a:ln w="12700">
            <a:solidFill>
              <a:srgbClr val="D9D7F7"/>
            </a:solidFill>
            <a:prstDash val="solid"/>
          </a:ln>
        </p:spPr>
      </p:sp>
      <p:sp>
        <p:nvSpPr>
          <p:cNvPr id="17" name="Text 15"/>
          <p:cNvSpPr txBox="1"/>
          <p:nvPr/>
        </p:nvSpPr>
        <p:spPr>
          <a:xfrm>
            <a:off x="5400185"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라</a:t>
            </a:r>
            <a:endParaRPr lang="en-US" sz="7600" dirty="0"/>
          </a:p>
        </p:txBody>
      </p:sp>
      <p:sp>
        <p:nvSpPr>
          <p:cNvPr id="18" name="rom_29"/>
          <p:cNvSpPr txBox="1"/>
          <p:nvPr/>
        </p:nvSpPr>
        <p:spPr>
          <a:xfrm>
            <a:off x="5400185"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ra</a:t>
            </a:r>
            <a:endParaRPr lang="en-US" sz="1800" dirty="0"/>
          </a:p>
        </p:txBody>
      </p:sp>
      <p:sp>
        <p:nvSpPr>
          <p:cNvPr id="19" name="Text 17"/>
          <p:cNvSpPr txBox="1"/>
          <p:nvPr/>
        </p:nvSpPr>
        <p:spPr>
          <a:xfrm>
            <a:off x="5445905"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ㄹ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20" name="tile_4"/>
          <p:cNvSpPr/>
          <p:nvPr/>
        </p:nvSpPr>
        <p:spPr>
          <a:xfrm>
            <a:off x="7017367" y="1874520"/>
            <a:ext cx="1388582" cy="2034540"/>
          </a:xfrm>
          <a:prstGeom prst="roundRect">
            <a:avLst>
              <a:gd name="adj" fmla="val 9878"/>
            </a:avLst>
          </a:prstGeom>
          <a:solidFill>
            <a:srgbClr val="F1F0FE"/>
          </a:solidFill>
          <a:ln w="12700">
            <a:solidFill>
              <a:srgbClr val="D9D7F7"/>
            </a:solidFill>
            <a:prstDash val="solid"/>
          </a:ln>
        </p:spPr>
      </p:sp>
      <p:sp>
        <p:nvSpPr>
          <p:cNvPr id="21" name="Text 19"/>
          <p:cNvSpPr txBox="1"/>
          <p:nvPr/>
        </p:nvSpPr>
        <p:spPr>
          <a:xfrm>
            <a:off x="7017367"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마</a:t>
            </a:r>
            <a:endParaRPr lang="en-US" sz="7600" dirty="0"/>
          </a:p>
        </p:txBody>
      </p:sp>
      <p:sp>
        <p:nvSpPr>
          <p:cNvPr id="22" name="rom_30"/>
          <p:cNvSpPr txBox="1"/>
          <p:nvPr/>
        </p:nvSpPr>
        <p:spPr>
          <a:xfrm>
            <a:off x="7017367"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ma</a:t>
            </a:r>
            <a:endParaRPr lang="en-US" sz="1800" dirty="0"/>
          </a:p>
        </p:txBody>
      </p:sp>
      <p:sp>
        <p:nvSpPr>
          <p:cNvPr id="23" name="Text 21"/>
          <p:cNvSpPr txBox="1"/>
          <p:nvPr/>
        </p:nvSpPr>
        <p:spPr>
          <a:xfrm>
            <a:off x="7063087"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ㅁ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24" name="tile_5"/>
          <p:cNvSpPr/>
          <p:nvPr/>
        </p:nvSpPr>
        <p:spPr>
          <a:xfrm>
            <a:off x="8634549" y="1874520"/>
            <a:ext cx="1388582" cy="2034540"/>
          </a:xfrm>
          <a:prstGeom prst="roundRect">
            <a:avLst>
              <a:gd name="adj" fmla="val 9878"/>
            </a:avLst>
          </a:prstGeom>
          <a:solidFill>
            <a:srgbClr val="F1F0FE"/>
          </a:solidFill>
          <a:ln w="12700">
            <a:solidFill>
              <a:srgbClr val="D9D7F7"/>
            </a:solidFill>
            <a:prstDash val="solid"/>
          </a:ln>
        </p:spPr>
      </p:sp>
      <p:sp>
        <p:nvSpPr>
          <p:cNvPr id="25" name="Text 23"/>
          <p:cNvSpPr txBox="1"/>
          <p:nvPr/>
        </p:nvSpPr>
        <p:spPr>
          <a:xfrm>
            <a:off x="8634549"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바</a:t>
            </a:r>
            <a:endParaRPr lang="en-US" sz="7600" dirty="0"/>
          </a:p>
        </p:txBody>
      </p:sp>
      <p:sp>
        <p:nvSpPr>
          <p:cNvPr id="26" name="rom_31"/>
          <p:cNvSpPr txBox="1"/>
          <p:nvPr/>
        </p:nvSpPr>
        <p:spPr>
          <a:xfrm>
            <a:off x="8634549"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ba</a:t>
            </a:r>
            <a:endParaRPr lang="en-US" sz="1800" dirty="0"/>
          </a:p>
        </p:txBody>
      </p:sp>
      <p:sp>
        <p:nvSpPr>
          <p:cNvPr id="27" name="Text 25"/>
          <p:cNvSpPr txBox="1"/>
          <p:nvPr/>
        </p:nvSpPr>
        <p:spPr>
          <a:xfrm>
            <a:off x="8680269"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ㅂ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28" name="tile_6"/>
          <p:cNvSpPr/>
          <p:nvPr/>
        </p:nvSpPr>
        <p:spPr>
          <a:xfrm>
            <a:off x="10251730" y="1874520"/>
            <a:ext cx="1388582" cy="2034540"/>
          </a:xfrm>
          <a:prstGeom prst="roundRect">
            <a:avLst>
              <a:gd name="adj" fmla="val 9878"/>
            </a:avLst>
          </a:prstGeom>
          <a:solidFill>
            <a:srgbClr val="F1F0FE"/>
          </a:solidFill>
          <a:ln w="12700">
            <a:solidFill>
              <a:srgbClr val="D9D7F7"/>
            </a:solidFill>
            <a:prstDash val="solid"/>
          </a:ln>
        </p:spPr>
      </p:sp>
      <p:sp>
        <p:nvSpPr>
          <p:cNvPr id="29" name="Text 27"/>
          <p:cNvSpPr txBox="1"/>
          <p:nvPr/>
        </p:nvSpPr>
        <p:spPr>
          <a:xfrm>
            <a:off x="10251730" y="194767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사</a:t>
            </a:r>
            <a:endParaRPr lang="en-US" sz="7600" dirty="0"/>
          </a:p>
        </p:txBody>
      </p:sp>
      <p:sp>
        <p:nvSpPr>
          <p:cNvPr id="30" name="rom_32"/>
          <p:cNvSpPr txBox="1"/>
          <p:nvPr/>
        </p:nvSpPr>
        <p:spPr>
          <a:xfrm>
            <a:off x="10251730" y="317662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sa</a:t>
            </a:r>
            <a:endParaRPr lang="en-US" sz="1800" dirty="0"/>
          </a:p>
        </p:txBody>
      </p:sp>
      <p:sp>
        <p:nvSpPr>
          <p:cNvPr id="31" name="Text 29"/>
          <p:cNvSpPr txBox="1"/>
          <p:nvPr/>
        </p:nvSpPr>
        <p:spPr>
          <a:xfrm>
            <a:off x="10297450" y="350215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ㅅ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32" name="tile_7"/>
          <p:cNvSpPr/>
          <p:nvPr/>
        </p:nvSpPr>
        <p:spPr>
          <a:xfrm>
            <a:off x="548640" y="4137660"/>
            <a:ext cx="1388582" cy="2034540"/>
          </a:xfrm>
          <a:prstGeom prst="roundRect">
            <a:avLst>
              <a:gd name="adj" fmla="val 9878"/>
            </a:avLst>
          </a:prstGeom>
          <a:solidFill>
            <a:srgbClr val="F1F0FE"/>
          </a:solidFill>
          <a:ln w="12700">
            <a:solidFill>
              <a:srgbClr val="D9D7F7"/>
            </a:solidFill>
            <a:prstDash val="solid"/>
          </a:ln>
        </p:spPr>
      </p:sp>
      <p:sp>
        <p:nvSpPr>
          <p:cNvPr id="33" name="Text 31"/>
          <p:cNvSpPr txBox="1"/>
          <p:nvPr/>
        </p:nvSpPr>
        <p:spPr>
          <a:xfrm>
            <a:off x="548640"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아</a:t>
            </a:r>
            <a:endParaRPr lang="en-US" sz="7600" dirty="0"/>
          </a:p>
        </p:txBody>
      </p:sp>
      <p:sp>
        <p:nvSpPr>
          <p:cNvPr id="34" name="rom_33"/>
          <p:cNvSpPr txBox="1"/>
          <p:nvPr/>
        </p:nvSpPr>
        <p:spPr>
          <a:xfrm>
            <a:off x="548640"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a</a:t>
            </a:r>
            <a:endParaRPr lang="en-US" sz="1800" dirty="0"/>
          </a:p>
        </p:txBody>
      </p:sp>
      <p:sp>
        <p:nvSpPr>
          <p:cNvPr id="35" name="Text 33"/>
          <p:cNvSpPr txBox="1"/>
          <p:nvPr/>
        </p:nvSpPr>
        <p:spPr>
          <a:xfrm>
            <a:off x="594360"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36" name="tile_8"/>
          <p:cNvSpPr/>
          <p:nvPr/>
        </p:nvSpPr>
        <p:spPr>
          <a:xfrm>
            <a:off x="2165822" y="4137660"/>
            <a:ext cx="1388582" cy="2034540"/>
          </a:xfrm>
          <a:prstGeom prst="roundRect">
            <a:avLst>
              <a:gd name="adj" fmla="val 9878"/>
            </a:avLst>
          </a:prstGeom>
          <a:solidFill>
            <a:srgbClr val="F1F0FE"/>
          </a:solidFill>
          <a:ln w="12700">
            <a:solidFill>
              <a:srgbClr val="D9D7F7"/>
            </a:solidFill>
            <a:prstDash val="solid"/>
          </a:ln>
        </p:spPr>
      </p:sp>
      <p:sp>
        <p:nvSpPr>
          <p:cNvPr id="37" name="Text 35"/>
          <p:cNvSpPr txBox="1"/>
          <p:nvPr/>
        </p:nvSpPr>
        <p:spPr>
          <a:xfrm>
            <a:off x="2165822"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자</a:t>
            </a:r>
            <a:endParaRPr lang="en-US" sz="7600" dirty="0"/>
          </a:p>
        </p:txBody>
      </p:sp>
      <p:sp>
        <p:nvSpPr>
          <p:cNvPr id="38" name="rom_34"/>
          <p:cNvSpPr txBox="1"/>
          <p:nvPr/>
        </p:nvSpPr>
        <p:spPr>
          <a:xfrm>
            <a:off x="2165822"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ja</a:t>
            </a:r>
            <a:endParaRPr lang="en-US" sz="1800" dirty="0"/>
          </a:p>
        </p:txBody>
      </p:sp>
      <p:sp>
        <p:nvSpPr>
          <p:cNvPr id="39" name="Text 37"/>
          <p:cNvSpPr txBox="1"/>
          <p:nvPr/>
        </p:nvSpPr>
        <p:spPr>
          <a:xfrm>
            <a:off x="2211542"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ㅈ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40" name="tile_9"/>
          <p:cNvSpPr/>
          <p:nvPr/>
        </p:nvSpPr>
        <p:spPr>
          <a:xfrm>
            <a:off x="3783003" y="4137660"/>
            <a:ext cx="1388582" cy="2034540"/>
          </a:xfrm>
          <a:prstGeom prst="roundRect">
            <a:avLst>
              <a:gd name="adj" fmla="val 9878"/>
            </a:avLst>
          </a:prstGeom>
          <a:solidFill>
            <a:srgbClr val="F1F0FE"/>
          </a:solidFill>
          <a:ln w="12700">
            <a:solidFill>
              <a:srgbClr val="D9D7F7"/>
            </a:solidFill>
            <a:prstDash val="solid"/>
          </a:ln>
        </p:spPr>
      </p:sp>
      <p:sp>
        <p:nvSpPr>
          <p:cNvPr id="41" name="Text 39"/>
          <p:cNvSpPr txBox="1"/>
          <p:nvPr/>
        </p:nvSpPr>
        <p:spPr>
          <a:xfrm>
            <a:off x="3783003"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차</a:t>
            </a:r>
            <a:endParaRPr lang="en-US" sz="7600" dirty="0"/>
          </a:p>
        </p:txBody>
      </p:sp>
      <p:sp>
        <p:nvSpPr>
          <p:cNvPr id="42" name="rom_35"/>
          <p:cNvSpPr txBox="1"/>
          <p:nvPr/>
        </p:nvSpPr>
        <p:spPr>
          <a:xfrm>
            <a:off x="3783003"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cha</a:t>
            </a:r>
            <a:endParaRPr lang="en-US" sz="1800" dirty="0"/>
          </a:p>
        </p:txBody>
      </p:sp>
      <p:sp>
        <p:nvSpPr>
          <p:cNvPr id="43" name="Text 41"/>
          <p:cNvSpPr txBox="1"/>
          <p:nvPr/>
        </p:nvSpPr>
        <p:spPr>
          <a:xfrm>
            <a:off x="3828723"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ㅊ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44" name="tile_10"/>
          <p:cNvSpPr/>
          <p:nvPr/>
        </p:nvSpPr>
        <p:spPr>
          <a:xfrm>
            <a:off x="5400185" y="4137660"/>
            <a:ext cx="1388582" cy="2034540"/>
          </a:xfrm>
          <a:prstGeom prst="roundRect">
            <a:avLst>
              <a:gd name="adj" fmla="val 9878"/>
            </a:avLst>
          </a:prstGeom>
          <a:solidFill>
            <a:srgbClr val="F1F0FE"/>
          </a:solidFill>
          <a:ln w="12700">
            <a:solidFill>
              <a:srgbClr val="D9D7F7"/>
            </a:solidFill>
            <a:prstDash val="solid"/>
          </a:ln>
        </p:spPr>
      </p:sp>
      <p:sp>
        <p:nvSpPr>
          <p:cNvPr id="45" name="Text 43"/>
          <p:cNvSpPr txBox="1"/>
          <p:nvPr/>
        </p:nvSpPr>
        <p:spPr>
          <a:xfrm>
            <a:off x="5400185"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카</a:t>
            </a:r>
            <a:endParaRPr lang="en-US" sz="7600" dirty="0"/>
          </a:p>
        </p:txBody>
      </p:sp>
      <p:sp>
        <p:nvSpPr>
          <p:cNvPr id="46" name="rom_36"/>
          <p:cNvSpPr txBox="1"/>
          <p:nvPr/>
        </p:nvSpPr>
        <p:spPr>
          <a:xfrm>
            <a:off x="5400185"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ka</a:t>
            </a:r>
            <a:endParaRPr lang="en-US" sz="1800" dirty="0"/>
          </a:p>
        </p:txBody>
      </p:sp>
      <p:sp>
        <p:nvSpPr>
          <p:cNvPr id="47" name="Text 45"/>
          <p:cNvSpPr txBox="1"/>
          <p:nvPr/>
        </p:nvSpPr>
        <p:spPr>
          <a:xfrm>
            <a:off x="5445905"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ㅋ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48" name="tile_11"/>
          <p:cNvSpPr/>
          <p:nvPr/>
        </p:nvSpPr>
        <p:spPr>
          <a:xfrm>
            <a:off x="7017367" y="4137660"/>
            <a:ext cx="1388582" cy="2034540"/>
          </a:xfrm>
          <a:prstGeom prst="roundRect">
            <a:avLst>
              <a:gd name="adj" fmla="val 9878"/>
            </a:avLst>
          </a:prstGeom>
          <a:solidFill>
            <a:srgbClr val="F1F0FE"/>
          </a:solidFill>
          <a:ln w="12700">
            <a:solidFill>
              <a:srgbClr val="D9D7F7"/>
            </a:solidFill>
            <a:prstDash val="solid"/>
          </a:ln>
        </p:spPr>
      </p:sp>
      <p:sp>
        <p:nvSpPr>
          <p:cNvPr id="49" name="Text 47"/>
          <p:cNvSpPr txBox="1"/>
          <p:nvPr/>
        </p:nvSpPr>
        <p:spPr>
          <a:xfrm>
            <a:off x="7017367"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타</a:t>
            </a:r>
            <a:endParaRPr lang="en-US" sz="7600" dirty="0"/>
          </a:p>
        </p:txBody>
      </p:sp>
      <p:sp>
        <p:nvSpPr>
          <p:cNvPr id="50" name="rom_37"/>
          <p:cNvSpPr txBox="1"/>
          <p:nvPr/>
        </p:nvSpPr>
        <p:spPr>
          <a:xfrm>
            <a:off x="7017367"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ta</a:t>
            </a:r>
            <a:endParaRPr lang="en-US" sz="1800" dirty="0"/>
          </a:p>
        </p:txBody>
      </p:sp>
      <p:sp>
        <p:nvSpPr>
          <p:cNvPr id="51" name="Text 49"/>
          <p:cNvSpPr txBox="1"/>
          <p:nvPr/>
        </p:nvSpPr>
        <p:spPr>
          <a:xfrm>
            <a:off x="7063087"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ㅌ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52" name="tile_12"/>
          <p:cNvSpPr/>
          <p:nvPr/>
        </p:nvSpPr>
        <p:spPr>
          <a:xfrm>
            <a:off x="8634549" y="4137660"/>
            <a:ext cx="1388582" cy="2034540"/>
          </a:xfrm>
          <a:prstGeom prst="roundRect">
            <a:avLst>
              <a:gd name="adj" fmla="val 9878"/>
            </a:avLst>
          </a:prstGeom>
          <a:solidFill>
            <a:srgbClr val="F1F0FE"/>
          </a:solidFill>
          <a:ln w="12700">
            <a:solidFill>
              <a:srgbClr val="D9D7F7"/>
            </a:solidFill>
            <a:prstDash val="solid"/>
          </a:ln>
        </p:spPr>
      </p:sp>
      <p:sp>
        <p:nvSpPr>
          <p:cNvPr id="53" name="Text 51"/>
          <p:cNvSpPr txBox="1"/>
          <p:nvPr/>
        </p:nvSpPr>
        <p:spPr>
          <a:xfrm>
            <a:off x="8634549"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파</a:t>
            </a:r>
            <a:endParaRPr lang="en-US" sz="7600" dirty="0"/>
          </a:p>
        </p:txBody>
      </p:sp>
      <p:sp>
        <p:nvSpPr>
          <p:cNvPr id="54" name="rom_38"/>
          <p:cNvSpPr txBox="1"/>
          <p:nvPr/>
        </p:nvSpPr>
        <p:spPr>
          <a:xfrm>
            <a:off x="8634549"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pa</a:t>
            </a:r>
            <a:endParaRPr lang="en-US" sz="1800" dirty="0"/>
          </a:p>
        </p:txBody>
      </p:sp>
      <p:sp>
        <p:nvSpPr>
          <p:cNvPr id="55" name="Text 53"/>
          <p:cNvSpPr txBox="1"/>
          <p:nvPr/>
        </p:nvSpPr>
        <p:spPr>
          <a:xfrm>
            <a:off x="8680269"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ㅍ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56" name="tile_13"/>
          <p:cNvSpPr/>
          <p:nvPr/>
        </p:nvSpPr>
        <p:spPr>
          <a:xfrm>
            <a:off x="10251730" y="4137660"/>
            <a:ext cx="1388582" cy="2034540"/>
          </a:xfrm>
          <a:prstGeom prst="roundRect">
            <a:avLst>
              <a:gd name="adj" fmla="val 9878"/>
            </a:avLst>
          </a:prstGeom>
          <a:solidFill>
            <a:srgbClr val="F1F0FE"/>
          </a:solidFill>
          <a:ln w="12700">
            <a:solidFill>
              <a:srgbClr val="D9D7F7"/>
            </a:solidFill>
            <a:prstDash val="solid"/>
          </a:ln>
        </p:spPr>
      </p:sp>
      <p:sp>
        <p:nvSpPr>
          <p:cNvPr id="57" name="Text 55"/>
          <p:cNvSpPr txBox="1"/>
          <p:nvPr/>
        </p:nvSpPr>
        <p:spPr>
          <a:xfrm>
            <a:off x="10251730" y="4210812"/>
            <a:ext cx="1388582"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하</a:t>
            </a:r>
            <a:endParaRPr lang="en-US" sz="7600" dirty="0"/>
          </a:p>
        </p:txBody>
      </p:sp>
      <p:sp>
        <p:nvSpPr>
          <p:cNvPr id="58" name="rom_39"/>
          <p:cNvSpPr txBox="1"/>
          <p:nvPr/>
        </p:nvSpPr>
        <p:spPr>
          <a:xfrm>
            <a:off x="10251730" y="5439766"/>
            <a:ext cx="1388582" cy="325526"/>
          </a:xfrm>
          <a:prstGeom prst="rect">
            <a:avLst/>
          </a:prstGeom>
          <a:noFill/>
          <a:ln/>
        </p:spPr>
        <p:txBody>
          <a:bodyPr wrap="square" lIns="0" tIns="0" rIns="0" bIns="0" rtlCol="0" anchor="ctr">
            <a:normAutofit/>
          </a:bodyPr>
          <a:lstStyle/>
          <a:p>
            <a:pPr marL="0" indent="0" algn="ctr" eaLnBrk="1">
              <a:buNone/>
            </a:pPr>
            <a:r>
              <a:rPr lang="en-US" sz="1800" dirty="0">
                <a:solidFill>
                  <a:srgbClr val="8A8DA0"/>
                </a:solidFill>
              </a:rPr>
              <a:t>ha</a:t>
            </a:r>
            <a:endParaRPr lang="en-US" sz="1800" dirty="0"/>
          </a:p>
        </p:txBody>
      </p:sp>
      <p:sp>
        <p:nvSpPr>
          <p:cNvPr id="59" name="Text 57"/>
          <p:cNvSpPr txBox="1"/>
          <p:nvPr/>
        </p:nvSpPr>
        <p:spPr>
          <a:xfrm>
            <a:off x="10297450" y="5765292"/>
            <a:ext cx="1297142" cy="370332"/>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ㅎ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6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animBg="1"/>
      <p:bldP spid="18" grpId="0" animBg="1"/>
      <p:bldP spid="22" grpId="0" animBg="1"/>
      <p:bldP spid="26" grpId="0" animBg="1"/>
      <p:bldP spid="30" grpId="0" animBg="1"/>
      <p:bldP spid="34" grpId="0" animBg="1"/>
      <p:bldP spid="38" grpId="0" animBg="1"/>
      <p:bldP spid="42" grpId="0" animBg="1"/>
      <p:bldP spid="46" grpId="0" animBg="1"/>
      <p:bldP spid="50" grpId="0" animBg="1"/>
      <p:bldP spid="54" grpId="0" animBg="1"/>
      <p:bldP spid="5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Un trazo más = más aire</a:t>
            </a:r>
            <a:r>
              <a:rPr lang="en-US" sz="1500" b="1" i="1" dirty="0">
                <a:solidFill>
                  <a:srgbClr val="8A8DA0"/>
                </a:solidFill>
              </a:rPr>
              <a:t>   One more stroke = more air</a:t>
            </a:r>
            <a:endParaRPr lang="en-US" sz="3000" dirty="0"/>
          </a:p>
        </p:txBody>
      </p:sp>
      <p:pic>
        <p:nvPicPr>
          <p:cNvPr id="3" name="imagen" descr="C:\Users\Chingu\AppData\Local\Temp\claude\C--Users-Chingu-Desktop-ACADEMIASEULWEB\d4111e1b-5523-44ea-97b2-b1a1d9545b9e\scratchpad\decks\cache\img_fc25696916ea9d63.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Cada trazo nuevo, un sonido más fuerte; en la última letra de cada familia, ese "más fuerte" es el soplo</a:t>
            </a:r>
            <a:endParaRPr lang="en-US" sz="1800" dirty="0"/>
          </a:p>
        </p:txBody>
      </p:sp>
      <p:graphicFrame>
        <p:nvGraphicFramePr>
          <p:cNvPr id="17" name="tabla"/>
          <p:cNvGraphicFramePr>
            <a:graphicFrameLocks noGrp="1"/>
          </p:cNvGraphicFramePr>
          <p:nvPr>
            <p:extLst>
              <p:ext uri="{D42A27DB-BD31-4B8C-83A1-F6EECF244321}">
                <p14:modId xmlns:p14="http://schemas.microsoft.com/office/powerpoint/2010/main" val="3571957954"/>
              </p:ext>
            </p:extLst>
          </p:nvPr>
        </p:nvGraphicFramePr>
        <p:xfrm>
          <a:off x="548640" y="1874520"/>
          <a:ext cx="6931152" cy="914400"/>
        </p:xfrm>
        <a:graphic>
          <a:graphicData uri="http://schemas.openxmlformats.org/drawingml/2006/table">
            <a:tbl>
              <a:tblPr/>
              <a:tblGrid>
                <a:gridCol w="1732788">
                  <a:extLst>
                    <a:ext uri="{9D8B030D-6E8A-4147-A177-3AD203B41FA5}">
                      <a16:colId xmlns:a16="http://schemas.microsoft.com/office/drawing/2014/main" val="20000"/>
                    </a:ext>
                  </a:extLst>
                </a:gridCol>
                <a:gridCol w="1732788">
                  <a:extLst>
                    <a:ext uri="{9D8B030D-6E8A-4147-A177-3AD203B41FA5}">
                      <a16:colId xmlns:a16="http://schemas.microsoft.com/office/drawing/2014/main" val="20001"/>
                    </a:ext>
                  </a:extLst>
                </a:gridCol>
                <a:gridCol w="1732788">
                  <a:extLst>
                    <a:ext uri="{9D8B030D-6E8A-4147-A177-3AD203B41FA5}">
                      <a16:colId xmlns:a16="http://schemas.microsoft.com/office/drawing/2014/main" val="20002"/>
                    </a:ext>
                  </a:extLst>
                </a:gridCol>
                <a:gridCol w="1732788">
                  <a:extLst>
                    <a:ext uri="{9D8B030D-6E8A-4147-A177-3AD203B41FA5}">
                      <a16:colId xmlns:a16="http://schemas.microsoft.com/office/drawing/2014/main" val="20003"/>
                    </a:ext>
                  </a:extLst>
                </a:gridCol>
              </a:tblGrid>
              <a:tr h="566928">
                <a:tc>
                  <a:txBody>
                    <a:bodyPr/>
                    <a:lstStyle/>
                    <a:p>
                      <a:pPr marL="0" indent="0" eaLnBrk="1">
                        <a:buNone/>
                      </a:pPr>
                      <a:r>
                        <a:rPr lang="en-US" sz="1800" b="1" dirty="0">
                          <a:solidFill>
                            <a:srgbClr val="FFFFFF"/>
                          </a:solidFill>
                        </a:rPr>
                        <a:t>Familia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Suave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Con más aire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Prueba con la palma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Lengua (atrás)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ㄱ</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ㅋ</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가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Lengua (punta)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ㄴ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ㄷ</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Labios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ㅁ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ㅂ</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ㅍ</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Dientes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ㅅ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ㅊ</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자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차</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1">
                        <a:buNone/>
                      </a:pPr>
                      <a:r>
                        <a:rPr lang="en-US" sz="1800" dirty="0">
                          <a:solidFill>
                            <a:srgbClr val="14142B"/>
                          </a:solidFill>
                        </a:rPr>
                        <a:t>Garganta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ㅇ</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ㅎ</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Cinco trampas + 1:1</a:t>
            </a:r>
            <a:r>
              <a:rPr lang="en-US" sz="1500" b="1" i="1" dirty="0">
                <a:solidFill>
                  <a:srgbClr val="8A8DA0"/>
                </a:solidFill>
              </a:rPr>
              <a:t>   Five traps + one-on-one</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ㅇ </a:t>
            </a:r>
            <a:r>
              <a:rPr lang="en-US" sz="2200" dirty="0">
                <a:solidFill>
                  <a:srgbClr val="14142B"/>
                </a:solidFill>
              </a:rPr>
              <a:t>al inicio no suena: es una silla vacía</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ㄹ </a:t>
            </a:r>
            <a:r>
              <a:rPr lang="en-US" sz="2200" dirty="0">
                <a:solidFill>
                  <a:srgbClr val="14142B"/>
                </a:solidFill>
              </a:rPr>
              <a:t>= la r de "pero", un toquecito; nunca la rr de "perro": </a:t>
            </a:r>
            <a:r>
              <a:rPr lang="ko-KR" altLang="en-US" sz="2200" dirty="0">
                <a:solidFill>
                  <a:srgbClr val="14142B"/>
                </a:solidFill>
                <a:latin typeface="Malgun Gothic" pitchFamily="34" charset="0"/>
                <a:ea typeface="Malgun Gothic" pitchFamily="34" charset="-122"/>
                <a:cs typeface="Malgun Gothic" pitchFamily="34" charset="-120"/>
              </a:rPr>
              <a:t>머리</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ㅈ </a:t>
            </a:r>
            <a:r>
              <a:rPr lang="en-US" sz="2200" dirty="0">
                <a:solidFill>
                  <a:srgbClr val="14142B"/>
                </a:solidFill>
              </a:rPr>
              <a:t>es una ch suave, nunca jota: </a:t>
            </a:r>
            <a:r>
              <a:rPr lang="ko-KR" altLang="en-US" sz="2200" dirty="0">
                <a:solidFill>
                  <a:srgbClr val="14142B"/>
                </a:solidFill>
                <a:latin typeface="Malgun Gothic" pitchFamily="34" charset="0"/>
                <a:ea typeface="Malgun Gothic" pitchFamily="34" charset="-122"/>
                <a:cs typeface="Malgun Gothic" pitchFamily="34" charset="-120"/>
              </a:rPr>
              <a:t>아버지</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ㅎ </a:t>
            </a:r>
            <a:r>
              <a:rPr lang="en-US" sz="2200" dirty="0">
                <a:solidFill>
                  <a:srgbClr val="14142B"/>
                </a:solidFill>
              </a:rPr>
              <a:t>= puro aire, como una jota muy suave: </a:t>
            </a:r>
            <a:r>
              <a:rPr lang="ko-KR" altLang="en-US" sz="2200" dirty="0">
                <a:solidFill>
                  <a:srgbClr val="14142B"/>
                </a:solidFill>
                <a:latin typeface="Malgun Gothic" pitchFamily="34" charset="0"/>
                <a:ea typeface="Malgun Gothic" pitchFamily="34" charset="-122"/>
                <a:cs typeface="Malgun Gothic" pitchFamily="34" charset="-120"/>
              </a:rPr>
              <a:t>하</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ㄱ ㄷ ㅂ</a:t>
            </a:r>
            <a:r>
              <a:rPr lang="en-US" sz="2200" dirty="0">
                <a:solidFill>
                  <a:srgbClr val="14142B"/>
                </a:solidFill>
              </a:rPr>
              <a:t>: g, d, b relajadas, con poco aire: </a:t>
            </a:r>
            <a:r>
              <a:rPr lang="ko-KR" altLang="en-US" sz="2200" dirty="0">
                <a:solidFill>
                  <a:srgbClr val="14142B"/>
                </a:solidFill>
                <a:latin typeface="Malgun Gothic" pitchFamily="34" charset="0"/>
                <a:ea typeface="Malgun Gothic" pitchFamily="34" charset="-122"/>
                <a:cs typeface="Malgun Gothic" pitchFamily="34" charset="-120"/>
              </a:rPr>
              <a:t>구두</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바다</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1:1 · 가</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카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다</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타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바</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파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자</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차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라</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하</a:t>
            </a:r>
            <a:endParaRPr lang="en-US" sz="22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Una sílaba = un cuadrado</a:t>
            </a:r>
            <a:r>
              <a:rPr lang="en-US" sz="1500" b="1" i="1" dirty="0">
                <a:solidFill>
                  <a:srgbClr val="8A8DA0"/>
                </a:solidFill>
              </a:rPr>
              <a:t>   One syllable = one square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Toda sílaba empieza con consonante · ㅇ </a:t>
            </a:r>
            <a:r>
              <a:rPr lang="en-US" sz="1800" i="1" dirty="0">
                <a:solidFill>
                  <a:srgbClr val="4236F6"/>
                </a:solidFill>
              </a:rPr>
              <a:t>= silla vacía</a:t>
            </a:r>
            <a:endParaRPr lang="en-US" sz="1800" dirty="0"/>
          </a:p>
        </p:txBody>
      </p:sp>
      <p:sp>
        <p:nvSpPr>
          <p:cNvPr id="4" name="tile_0"/>
          <p:cNvSpPr/>
          <p:nvPr/>
        </p:nvSpPr>
        <p:spPr>
          <a:xfrm>
            <a:off x="548640" y="1874520"/>
            <a:ext cx="3544824" cy="2034540"/>
          </a:xfrm>
          <a:prstGeom prst="roundRect">
            <a:avLst>
              <a:gd name="adj" fmla="val 6742"/>
            </a:avLst>
          </a:prstGeom>
          <a:solidFill>
            <a:srgbClr val="F1F0FE"/>
          </a:solidFill>
          <a:ln w="12700">
            <a:solidFill>
              <a:srgbClr val="D9D7F7"/>
            </a:solidFill>
            <a:prstDash val="solid"/>
          </a:ln>
        </p:spPr>
      </p:sp>
      <p:sp>
        <p:nvSpPr>
          <p:cNvPr id="5" name="Text 3"/>
          <p:cNvSpPr txBox="1"/>
          <p:nvPr/>
        </p:nvSpPr>
        <p:spPr>
          <a:xfrm>
            <a:off x="548640"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아</a:t>
            </a:r>
            <a:endParaRPr lang="en-US" sz="7600" dirty="0"/>
          </a:p>
        </p:txBody>
      </p:sp>
      <p:sp>
        <p:nvSpPr>
          <p:cNvPr id="6" name="Text 4"/>
          <p:cNvSpPr txBox="1"/>
          <p:nvPr/>
        </p:nvSpPr>
        <p:spPr>
          <a:xfrm>
            <a:off x="594360"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ㅏ</a:t>
            </a:r>
            <a:endParaRPr lang="en-US" sz="1700" dirty="0"/>
          </a:p>
        </p:txBody>
      </p:sp>
      <p:sp>
        <p:nvSpPr>
          <p:cNvPr id="7" name="tile_1"/>
          <p:cNvSpPr/>
          <p:nvPr/>
        </p:nvSpPr>
        <p:spPr>
          <a:xfrm>
            <a:off x="4322064" y="1874520"/>
            <a:ext cx="3544824" cy="2034540"/>
          </a:xfrm>
          <a:prstGeom prst="roundRect">
            <a:avLst>
              <a:gd name="adj" fmla="val 6742"/>
            </a:avLst>
          </a:prstGeom>
          <a:solidFill>
            <a:srgbClr val="F1F0FE"/>
          </a:solidFill>
          <a:ln w="12700">
            <a:solidFill>
              <a:srgbClr val="D9D7F7"/>
            </a:solidFill>
            <a:prstDash val="solid"/>
          </a:ln>
        </p:spPr>
      </p:sp>
      <p:sp>
        <p:nvSpPr>
          <p:cNvPr id="8" name="Text 6"/>
          <p:cNvSpPr txBox="1"/>
          <p:nvPr/>
        </p:nvSpPr>
        <p:spPr>
          <a:xfrm>
            <a:off x="4322064"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어</a:t>
            </a:r>
            <a:endParaRPr lang="en-US" sz="7600" dirty="0"/>
          </a:p>
        </p:txBody>
      </p:sp>
      <p:sp>
        <p:nvSpPr>
          <p:cNvPr id="9" name="Text 7"/>
          <p:cNvSpPr txBox="1"/>
          <p:nvPr/>
        </p:nvSpPr>
        <p:spPr>
          <a:xfrm>
            <a:off x="4367784"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ㅓ</a:t>
            </a:r>
            <a:endParaRPr lang="en-US" sz="1700" dirty="0"/>
          </a:p>
        </p:txBody>
      </p:sp>
      <p:sp>
        <p:nvSpPr>
          <p:cNvPr id="10" name="tile_2"/>
          <p:cNvSpPr/>
          <p:nvPr/>
        </p:nvSpPr>
        <p:spPr>
          <a:xfrm>
            <a:off x="8095488" y="1874520"/>
            <a:ext cx="3544824" cy="2034540"/>
          </a:xfrm>
          <a:prstGeom prst="roundRect">
            <a:avLst>
              <a:gd name="adj" fmla="val 6742"/>
            </a:avLst>
          </a:prstGeom>
          <a:solidFill>
            <a:srgbClr val="F1F0FE"/>
          </a:solidFill>
          <a:ln w="12700">
            <a:solidFill>
              <a:srgbClr val="D9D7F7"/>
            </a:solidFill>
            <a:prstDash val="solid"/>
          </a:ln>
        </p:spPr>
      </p:sp>
      <p:sp>
        <p:nvSpPr>
          <p:cNvPr id="11" name="Text 9"/>
          <p:cNvSpPr txBox="1"/>
          <p:nvPr/>
        </p:nvSpPr>
        <p:spPr>
          <a:xfrm>
            <a:off x="8095488"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오</a:t>
            </a:r>
            <a:endParaRPr lang="en-US" sz="7600" dirty="0"/>
          </a:p>
        </p:txBody>
      </p:sp>
      <p:sp>
        <p:nvSpPr>
          <p:cNvPr id="12" name="Text 10"/>
          <p:cNvSpPr txBox="1"/>
          <p:nvPr/>
        </p:nvSpPr>
        <p:spPr>
          <a:xfrm>
            <a:off x="8141208"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ㅗ</a:t>
            </a:r>
            <a:endParaRPr lang="en-US" sz="1700" dirty="0"/>
          </a:p>
        </p:txBody>
      </p:sp>
      <p:sp>
        <p:nvSpPr>
          <p:cNvPr id="13" name="tile_3"/>
          <p:cNvSpPr/>
          <p:nvPr/>
        </p:nvSpPr>
        <p:spPr>
          <a:xfrm>
            <a:off x="548640" y="4137660"/>
            <a:ext cx="3544824" cy="2034540"/>
          </a:xfrm>
          <a:prstGeom prst="roundRect">
            <a:avLst>
              <a:gd name="adj" fmla="val 6742"/>
            </a:avLst>
          </a:prstGeom>
          <a:solidFill>
            <a:srgbClr val="F1F0FE"/>
          </a:solidFill>
          <a:ln w="12700">
            <a:solidFill>
              <a:srgbClr val="D9D7F7"/>
            </a:solidFill>
            <a:prstDash val="solid"/>
          </a:ln>
        </p:spPr>
      </p:sp>
      <p:sp>
        <p:nvSpPr>
          <p:cNvPr id="14" name="Text 12"/>
          <p:cNvSpPr txBox="1"/>
          <p:nvPr/>
        </p:nvSpPr>
        <p:spPr>
          <a:xfrm>
            <a:off x="548640"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우</a:t>
            </a:r>
            <a:endParaRPr lang="en-US" sz="7600" dirty="0"/>
          </a:p>
        </p:txBody>
      </p:sp>
      <p:sp>
        <p:nvSpPr>
          <p:cNvPr id="15" name="Text 13"/>
          <p:cNvSpPr txBox="1"/>
          <p:nvPr/>
        </p:nvSpPr>
        <p:spPr>
          <a:xfrm>
            <a:off x="594360"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ㅜ</a:t>
            </a:r>
            <a:endParaRPr lang="en-US" sz="1700" dirty="0"/>
          </a:p>
        </p:txBody>
      </p:sp>
      <p:sp>
        <p:nvSpPr>
          <p:cNvPr id="16" name="tile_4"/>
          <p:cNvSpPr/>
          <p:nvPr/>
        </p:nvSpPr>
        <p:spPr>
          <a:xfrm>
            <a:off x="4322064" y="4137660"/>
            <a:ext cx="3544824" cy="2034540"/>
          </a:xfrm>
          <a:prstGeom prst="roundRect">
            <a:avLst>
              <a:gd name="adj" fmla="val 6742"/>
            </a:avLst>
          </a:prstGeom>
          <a:solidFill>
            <a:srgbClr val="F1F0FE"/>
          </a:solidFill>
          <a:ln w="12700">
            <a:solidFill>
              <a:srgbClr val="D9D7F7"/>
            </a:solidFill>
            <a:prstDash val="solid"/>
          </a:ln>
        </p:spPr>
      </p:sp>
      <p:sp>
        <p:nvSpPr>
          <p:cNvPr id="17" name="Text 15"/>
          <p:cNvSpPr txBox="1"/>
          <p:nvPr/>
        </p:nvSpPr>
        <p:spPr>
          <a:xfrm>
            <a:off x="4322064"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으</a:t>
            </a:r>
            <a:endParaRPr lang="en-US" sz="7600" dirty="0"/>
          </a:p>
        </p:txBody>
      </p:sp>
      <p:sp>
        <p:nvSpPr>
          <p:cNvPr id="18" name="Text 16"/>
          <p:cNvSpPr txBox="1"/>
          <p:nvPr/>
        </p:nvSpPr>
        <p:spPr>
          <a:xfrm>
            <a:off x="4367784"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ㅡ</a:t>
            </a:r>
            <a:endParaRPr lang="en-US" sz="1700" dirty="0"/>
          </a:p>
        </p:txBody>
      </p:sp>
      <p:sp>
        <p:nvSpPr>
          <p:cNvPr id="19" name="tile_5"/>
          <p:cNvSpPr/>
          <p:nvPr/>
        </p:nvSpPr>
        <p:spPr>
          <a:xfrm>
            <a:off x="8095488" y="4137660"/>
            <a:ext cx="3544824" cy="2034540"/>
          </a:xfrm>
          <a:prstGeom prst="roundRect">
            <a:avLst>
              <a:gd name="adj" fmla="val 6742"/>
            </a:avLst>
          </a:prstGeom>
          <a:solidFill>
            <a:srgbClr val="F1F0FE"/>
          </a:solidFill>
          <a:ln w="12700">
            <a:solidFill>
              <a:srgbClr val="D9D7F7"/>
            </a:solidFill>
            <a:prstDash val="solid"/>
          </a:ln>
        </p:spPr>
      </p:sp>
      <p:sp>
        <p:nvSpPr>
          <p:cNvPr id="20" name="Text 18"/>
          <p:cNvSpPr txBox="1"/>
          <p:nvPr/>
        </p:nvSpPr>
        <p:spPr>
          <a:xfrm>
            <a:off x="8095488"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이</a:t>
            </a:r>
            <a:endParaRPr lang="en-US" sz="7600" dirty="0"/>
          </a:p>
        </p:txBody>
      </p:sp>
      <p:sp>
        <p:nvSpPr>
          <p:cNvPr id="21" name="Text 19"/>
          <p:cNvSpPr txBox="1"/>
          <p:nvPr/>
        </p:nvSpPr>
        <p:spPr>
          <a:xfrm>
            <a:off x="8141208"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 </a:t>
            </a:r>
            <a:r>
              <a:rPr lang="ko-KR" altLang="en-US" sz="1700" dirty="0">
                <a:solidFill>
                  <a:srgbClr val="5C5F6B"/>
                </a:solidFill>
                <a:latin typeface="Malgun Gothic" pitchFamily="34" charset="0"/>
                <a:ea typeface="Malgun Gothic" pitchFamily="34" charset="-122"/>
                <a:cs typeface="Malgun Gothic" pitchFamily="34" charset="-120"/>
              </a:rPr>
              <a:t>ㅣ</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 vocal manda</a:t>
            </a:r>
            <a:r>
              <a:rPr lang="en-US" sz="1500" b="1" i="1" dirty="0">
                <a:solidFill>
                  <a:srgbClr val="8A8DA0"/>
                </a:solidFill>
              </a:rPr>
              <a:t>   The vowel is the boss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lee de izquierda a derecha y de arriba abajo</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Parada → a la derecha</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가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너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이</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ㅏ ㅓ ㅣ ㅑ ㅕ</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Acostada → debajo</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고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누 </a:t>
            </a:r>
            <a:r>
              <a:rPr lang="en-US" sz="5400" b="1" dirty="0">
                <a:solidFill>
                  <a:srgbClr val="4236F6"/>
                </a:solidFill>
              </a:rPr>
              <a:t>· </a:t>
            </a:r>
            <a:r>
              <a:rPr lang="ko-KR" altLang="en-US" sz="5400" b="1" dirty="0">
                <a:solidFill>
                  <a:srgbClr val="4236F6"/>
                </a:solidFill>
                <a:latin typeface="Malgun Gothic" pitchFamily="34" charset="0"/>
                <a:ea typeface="Malgun Gothic" pitchFamily="34" charset="-122"/>
                <a:cs typeface="Malgun Gothic" pitchFamily="34" charset="-120"/>
              </a:rPr>
              <a:t>으</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ㅗ ㅜ ㅡ ㅛ ㅠ</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¡Armemos!</a:t>
            </a:r>
            <a:r>
              <a:rPr lang="en-US" sz="1500" b="1" i="1" dirty="0">
                <a:solidFill>
                  <a:srgbClr val="8A8DA0"/>
                </a:solidFill>
              </a:rPr>
              <a:t>   Let's build!</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Arma las sílabas y lee la palabra (en voz alta o en el chat)</a:t>
            </a:r>
            <a:endParaRPr lang="en-US" sz="1800" dirty="0"/>
          </a:p>
        </p:txBody>
      </p:sp>
      <p:sp>
        <p:nvSpPr>
          <p:cNvPr id="4" name="num_0"/>
          <p:cNvSpPr/>
          <p:nvPr/>
        </p:nvSpPr>
        <p:spPr>
          <a:xfrm>
            <a:off x="548640" y="2106778"/>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0677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ㄴ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ㅏ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ㅁ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ㅜ</a:t>
            </a:r>
            <a:endParaRPr lang="en-US" sz="2400" dirty="0"/>
          </a:p>
        </p:txBody>
      </p:sp>
      <p:sp>
        <p:nvSpPr>
          <p:cNvPr id="7" name="rev_0_caja"/>
          <p:cNvSpPr/>
          <p:nvPr/>
        </p:nvSpPr>
        <p:spPr>
          <a:xfrm>
            <a:off x="6702552" y="2002536"/>
            <a:ext cx="4937760" cy="665683"/>
          </a:xfrm>
          <a:prstGeom prst="roundRect">
            <a:avLst>
              <a:gd name="adj" fmla="val 16484"/>
            </a:avLst>
          </a:prstGeom>
          <a:solidFill>
            <a:srgbClr val="4236F6"/>
          </a:solidFill>
          <a:ln w="12700">
            <a:solidFill>
              <a:srgbClr val="4236F6"/>
            </a:solidFill>
            <a:prstDash val="solid"/>
          </a:ln>
        </p:spPr>
      </p:sp>
      <p:sp>
        <p:nvSpPr>
          <p:cNvPr id="8" name="rev_0_txt"/>
          <p:cNvSpPr txBox="1"/>
          <p:nvPr/>
        </p:nvSpPr>
        <p:spPr>
          <a:xfrm>
            <a:off x="6793992" y="2002536"/>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나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무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나무 </a:t>
            </a:r>
            <a:r>
              <a:rPr lang="en-US" sz="2200" b="1" dirty="0">
                <a:solidFill>
                  <a:srgbClr val="FFFFFF"/>
                </a:solidFill>
              </a:rPr>
              <a:t>(árbol)</a:t>
            </a:r>
            <a:endParaRPr lang="en-US" sz="2200" dirty="0"/>
          </a:p>
        </p:txBody>
      </p:sp>
      <p:sp>
        <p:nvSpPr>
          <p:cNvPr id="9" name="num_1"/>
          <p:cNvSpPr/>
          <p:nvPr/>
        </p:nvSpPr>
        <p:spPr>
          <a:xfrm>
            <a:off x="548640" y="2973629"/>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973629"/>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832811"/>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ㅂ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ㅏ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ㄷ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ㅏ</a:t>
            </a:r>
            <a:endParaRPr lang="en-US" sz="2400" dirty="0"/>
          </a:p>
        </p:txBody>
      </p:sp>
      <p:sp>
        <p:nvSpPr>
          <p:cNvPr id="12" name="rev_1_caja"/>
          <p:cNvSpPr/>
          <p:nvPr/>
        </p:nvSpPr>
        <p:spPr>
          <a:xfrm>
            <a:off x="6702552" y="2869387"/>
            <a:ext cx="4937760" cy="665683"/>
          </a:xfrm>
          <a:prstGeom prst="roundRect">
            <a:avLst>
              <a:gd name="adj" fmla="val 16484"/>
            </a:avLst>
          </a:prstGeom>
          <a:solidFill>
            <a:srgbClr val="4236F6"/>
          </a:solidFill>
          <a:ln w="12700">
            <a:solidFill>
              <a:srgbClr val="4236F6"/>
            </a:solidFill>
            <a:prstDash val="solid"/>
          </a:ln>
        </p:spPr>
      </p:sp>
      <p:sp>
        <p:nvSpPr>
          <p:cNvPr id="13" name="rev_1_txt"/>
          <p:cNvSpPr txBox="1"/>
          <p:nvPr/>
        </p:nvSpPr>
        <p:spPr>
          <a:xfrm>
            <a:off x="6793992" y="2869387"/>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바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다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바다 </a:t>
            </a:r>
            <a:r>
              <a:rPr lang="en-US" sz="2200" b="1" dirty="0">
                <a:solidFill>
                  <a:srgbClr val="FFFFFF"/>
                </a:solidFill>
              </a:rPr>
              <a:t>(mar)</a:t>
            </a:r>
            <a:endParaRPr lang="en-US" sz="2200" dirty="0"/>
          </a:p>
        </p:txBody>
      </p:sp>
      <p:sp>
        <p:nvSpPr>
          <p:cNvPr id="14" name="num_2"/>
          <p:cNvSpPr/>
          <p:nvPr/>
        </p:nvSpPr>
        <p:spPr>
          <a:xfrm>
            <a:off x="548640" y="3840480"/>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84048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699662"/>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ㅇ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ㅜ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ㅇ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ㅠ</a:t>
            </a:r>
            <a:endParaRPr lang="en-US" sz="2400" dirty="0"/>
          </a:p>
        </p:txBody>
      </p:sp>
      <p:sp>
        <p:nvSpPr>
          <p:cNvPr id="17" name="rev_2_caja"/>
          <p:cNvSpPr/>
          <p:nvPr/>
        </p:nvSpPr>
        <p:spPr>
          <a:xfrm>
            <a:off x="6702552" y="3736238"/>
            <a:ext cx="4937760" cy="665683"/>
          </a:xfrm>
          <a:prstGeom prst="roundRect">
            <a:avLst>
              <a:gd name="adj" fmla="val 16484"/>
            </a:avLst>
          </a:prstGeom>
          <a:solidFill>
            <a:srgbClr val="4236F6"/>
          </a:solidFill>
          <a:ln w="12700">
            <a:solidFill>
              <a:srgbClr val="4236F6"/>
            </a:solidFill>
            <a:prstDash val="solid"/>
          </a:ln>
        </p:spPr>
      </p:sp>
      <p:sp>
        <p:nvSpPr>
          <p:cNvPr id="18" name="rev_2_txt"/>
          <p:cNvSpPr txBox="1"/>
          <p:nvPr/>
        </p:nvSpPr>
        <p:spPr>
          <a:xfrm>
            <a:off x="6793992" y="3736238"/>
            <a:ext cx="4754880" cy="665683"/>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우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유 </a:t>
            </a:r>
            <a:r>
              <a:rPr lang="en-US" sz="2200" b="1" dirty="0">
                <a:solidFill>
                  <a:srgbClr val="FFFFFF"/>
                </a:solidFill>
              </a:rPr>
              <a:t>→ </a:t>
            </a:r>
            <a:r>
              <a:rPr lang="ko-KR" altLang="en-US" sz="2200" b="1" dirty="0">
                <a:solidFill>
                  <a:srgbClr val="FFFFFF"/>
                </a:solidFill>
                <a:latin typeface="Malgun Gothic" pitchFamily="34" charset="0"/>
                <a:ea typeface="Malgun Gothic" pitchFamily="34" charset="-122"/>
                <a:cs typeface="Malgun Gothic" pitchFamily="34" charset="-120"/>
              </a:rPr>
              <a:t>우유 </a:t>
            </a:r>
            <a:r>
              <a:rPr lang="en-US" sz="2200" b="1" dirty="0">
                <a:solidFill>
                  <a:srgbClr val="FFFFFF"/>
                </a:solidFill>
              </a:rPr>
              <a:t>(leche)</a:t>
            </a:r>
            <a:endParaRPr lang="en-US" sz="2200" dirty="0"/>
          </a:p>
        </p:txBody>
      </p:sp>
      <p:sp>
        <p:nvSpPr>
          <p:cNvPr id="19" name="num_3"/>
          <p:cNvSpPr/>
          <p:nvPr/>
        </p:nvSpPr>
        <p:spPr>
          <a:xfrm>
            <a:off x="548640" y="4707331"/>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707331"/>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566514"/>
            <a:ext cx="5285232" cy="738835"/>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ㅁ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ㅗ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ㅈ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ㅏ</a:t>
            </a:r>
            <a:endParaRPr lang="en-US" sz="2400" dirty="0"/>
          </a:p>
        </p:txBody>
      </p:sp>
      <p:sp>
        <p:nvSpPr>
          <p:cNvPr id="22" name="rev_3_caja"/>
          <p:cNvSpPr/>
          <p:nvPr/>
        </p:nvSpPr>
        <p:spPr>
          <a:xfrm>
            <a:off x="6702552" y="4603090"/>
            <a:ext cx="4937760" cy="665683"/>
          </a:xfrm>
          <a:prstGeom prst="roundRect">
            <a:avLst>
              <a:gd name="adj" fmla="val 16484"/>
            </a:avLst>
          </a:prstGeom>
          <a:solidFill>
            <a:srgbClr val="4236F6"/>
          </a:solidFill>
          <a:ln w="12700">
            <a:solidFill>
              <a:srgbClr val="4236F6"/>
            </a:solidFill>
            <a:prstDash val="solid"/>
          </a:ln>
        </p:spPr>
      </p:sp>
      <p:sp>
        <p:nvSpPr>
          <p:cNvPr id="23" name="rev_3_txt"/>
          <p:cNvSpPr txBox="1"/>
          <p:nvPr/>
        </p:nvSpPr>
        <p:spPr>
          <a:xfrm>
            <a:off x="6793992" y="4603090"/>
            <a:ext cx="4754880" cy="665683"/>
          </a:xfrm>
          <a:prstGeom prst="rect">
            <a:avLst/>
          </a:prstGeom>
          <a:noFill/>
          <a:ln/>
        </p:spPr>
        <p:txBody>
          <a:bodyPr wrap="square" lIns="0" tIns="0" rIns="0" bIns="0" rtlCol="0" anchor="ctr">
            <a:normAutofit/>
          </a:bodyPr>
          <a:lstStyle/>
          <a:p>
            <a:pPr marL="0" indent="0" algn="ctr" eaLnBrk="1">
              <a:buNone/>
            </a:pPr>
            <a:r>
              <a:rPr lang="ko-KR" altLang="en-US" sz="2000" b="1" dirty="0">
                <a:solidFill>
                  <a:srgbClr val="FFFFFF"/>
                </a:solidFill>
                <a:latin typeface="Malgun Gothic" pitchFamily="34" charset="0"/>
                <a:ea typeface="Malgun Gothic" pitchFamily="34" charset="-122"/>
                <a:cs typeface="Malgun Gothic" pitchFamily="34" charset="-120"/>
              </a:rPr>
              <a:t>모 </a:t>
            </a:r>
            <a:r>
              <a:rPr lang="en-US" sz="2000" b="1" dirty="0">
                <a:solidFill>
                  <a:srgbClr val="FFFFFF"/>
                </a:solidFill>
              </a:rPr>
              <a:t>· </a:t>
            </a:r>
            <a:r>
              <a:rPr lang="ko-KR" altLang="en-US" sz="2000" b="1" dirty="0">
                <a:solidFill>
                  <a:srgbClr val="FFFFFF"/>
                </a:solidFill>
                <a:latin typeface="Malgun Gothic" pitchFamily="34" charset="0"/>
                <a:ea typeface="Malgun Gothic" pitchFamily="34" charset="-122"/>
                <a:cs typeface="Malgun Gothic" pitchFamily="34" charset="-120"/>
              </a:rPr>
              <a:t>자 </a:t>
            </a:r>
            <a:r>
              <a:rPr lang="en-US" sz="2000" b="1" dirty="0">
                <a:solidFill>
                  <a:srgbClr val="FFFFFF"/>
                </a:solidFill>
              </a:rPr>
              <a:t>→ </a:t>
            </a:r>
            <a:r>
              <a:rPr lang="ko-KR" altLang="en-US" sz="2000" b="1" dirty="0">
                <a:solidFill>
                  <a:srgbClr val="FFFFFF"/>
                </a:solidFill>
                <a:latin typeface="Malgun Gothic" pitchFamily="34" charset="0"/>
                <a:ea typeface="Malgun Gothic" pitchFamily="34" charset="-122"/>
                <a:cs typeface="Malgun Gothic" pitchFamily="34" charset="-120"/>
              </a:rPr>
              <a:t>모자 </a:t>
            </a:r>
            <a:r>
              <a:rPr lang="en-US" sz="2000" b="1" dirty="0">
                <a:solidFill>
                  <a:srgbClr val="FFFFFF"/>
                </a:solidFill>
              </a:rPr>
              <a:t>(sombrero, gorro)</a:t>
            </a:r>
            <a:endParaRPr lang="en-US" sz="2000" dirty="0"/>
          </a:p>
        </p:txBody>
      </p:sp>
      <p:sp>
        <p:nvSpPr>
          <p:cNvPr id="24" name="num_4"/>
          <p:cNvSpPr/>
          <p:nvPr/>
        </p:nvSpPr>
        <p:spPr>
          <a:xfrm>
            <a:off x="548640" y="5574182"/>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557418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5433365"/>
            <a:ext cx="5285232" cy="738835"/>
          </a:xfrm>
          <a:prstGeom prst="rect">
            <a:avLst/>
          </a:prstGeom>
          <a:noFill/>
          <a:ln/>
        </p:spPr>
        <p:txBody>
          <a:bodyPr wrap="square" lIns="0" tIns="0" rIns="0" bIns="0" rtlCol="0" anchor="ctr">
            <a:normAutofit/>
          </a:bodyPr>
          <a:lstStyle/>
          <a:p>
            <a:pPr marL="0" indent="0" eaLnBrk="1">
              <a:buNone/>
            </a:pPr>
            <a:r>
              <a:rPr lang="ko-KR" altLang="en-US" sz="2300" dirty="0">
                <a:solidFill>
                  <a:srgbClr val="14142B"/>
                </a:solidFill>
                <a:latin typeface="Malgun Gothic" pitchFamily="34" charset="0"/>
                <a:ea typeface="Malgun Gothic" pitchFamily="34" charset="-122"/>
                <a:cs typeface="Malgun Gothic" pitchFamily="34" charset="-120"/>
              </a:rPr>
              <a:t>¿Cuántos cuadrados tiene 어머니</a:t>
            </a:r>
            <a:r>
              <a:rPr lang="en-US" sz="2300" dirty="0">
                <a:solidFill>
                  <a:srgbClr val="14142B"/>
                </a:solidFill>
              </a:rPr>
              <a:t>?</a:t>
            </a:r>
            <a:endParaRPr lang="en-US" sz="2300" dirty="0"/>
          </a:p>
        </p:txBody>
      </p:sp>
      <p:sp>
        <p:nvSpPr>
          <p:cNvPr id="27" name="rev_4_caja"/>
          <p:cNvSpPr/>
          <p:nvPr/>
        </p:nvSpPr>
        <p:spPr>
          <a:xfrm>
            <a:off x="6702552" y="5469941"/>
            <a:ext cx="4937760" cy="665683"/>
          </a:xfrm>
          <a:prstGeom prst="roundRect">
            <a:avLst>
              <a:gd name="adj" fmla="val 16484"/>
            </a:avLst>
          </a:prstGeom>
          <a:solidFill>
            <a:srgbClr val="4236F6"/>
          </a:solidFill>
          <a:ln w="12700">
            <a:solidFill>
              <a:srgbClr val="4236F6"/>
            </a:solidFill>
            <a:prstDash val="solid"/>
          </a:ln>
        </p:spPr>
      </p:sp>
      <p:sp>
        <p:nvSpPr>
          <p:cNvPr id="28" name="rev_4_txt"/>
          <p:cNvSpPr txBox="1"/>
          <p:nvPr/>
        </p:nvSpPr>
        <p:spPr>
          <a:xfrm>
            <a:off x="6793992" y="5469941"/>
            <a:ext cx="4754880" cy="665683"/>
          </a:xfrm>
          <a:prstGeom prst="rect">
            <a:avLst/>
          </a:prstGeom>
          <a:noFill/>
          <a:ln/>
        </p:spPr>
        <p:txBody>
          <a:bodyPr wrap="square" lIns="0" tIns="0" rIns="0" bIns="0" rtlCol="0" anchor="ctr">
            <a:normAutofit/>
          </a:bodyPr>
          <a:lstStyle/>
          <a:p>
            <a:pPr marL="0" indent="0" algn="ctr" eaLnBrk="1">
              <a:buNone/>
            </a:pPr>
            <a:r>
              <a:rPr lang="en-US" sz="1700" b="1" dirty="0">
                <a:solidFill>
                  <a:srgbClr val="FFFFFF"/>
                </a:solidFill>
              </a:rPr>
              <a:t>Tres (y "madre" tiene dos sílabas)</a:t>
            </a:r>
            <a:endParaRPr lang="en-US" sz="1700"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¡Armemos! · 1:1</a:t>
            </a:r>
            <a:r>
              <a:rPr lang="en-US" sz="1500" b="1" i="1" dirty="0">
                <a:solidFill>
                  <a:srgbClr val="8A8DA0"/>
                </a:solidFill>
              </a:rPr>
              <a:t>   Let's build! · one-on-one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Lee tu par: 너</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노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머</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모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그</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구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스</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수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거</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고</a:t>
            </a:r>
            <a:endParaRPr lang="en-US" sz="1800" dirty="0"/>
          </a:p>
        </p:txBody>
      </p:sp>
      <p:sp>
        <p:nvSpPr>
          <p:cNvPr id="4" name="tile_0"/>
          <p:cNvSpPr/>
          <p:nvPr/>
        </p:nvSpPr>
        <p:spPr>
          <a:xfrm>
            <a:off x="548640" y="1874520"/>
            <a:ext cx="2035454" cy="2034540"/>
          </a:xfrm>
          <a:prstGeom prst="roundRect">
            <a:avLst>
              <a:gd name="adj" fmla="val 6742"/>
            </a:avLst>
          </a:prstGeom>
          <a:solidFill>
            <a:srgbClr val="F1F0FE"/>
          </a:solidFill>
          <a:ln w="12700">
            <a:solidFill>
              <a:srgbClr val="D9D7F7"/>
            </a:solidFill>
            <a:prstDash val="solid"/>
          </a:ln>
        </p:spPr>
      </p:sp>
      <p:sp>
        <p:nvSpPr>
          <p:cNvPr id="5" name="Text 3"/>
          <p:cNvSpPr txBox="1"/>
          <p:nvPr/>
        </p:nvSpPr>
        <p:spPr>
          <a:xfrm>
            <a:off x="548640" y="194767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너</a:t>
            </a:r>
            <a:endParaRPr lang="en-US" sz="7600" dirty="0"/>
          </a:p>
        </p:txBody>
      </p:sp>
      <p:sp>
        <p:nvSpPr>
          <p:cNvPr id="6" name="tile_1"/>
          <p:cNvSpPr/>
          <p:nvPr/>
        </p:nvSpPr>
        <p:spPr>
          <a:xfrm>
            <a:off x="2812694" y="1874520"/>
            <a:ext cx="2035454" cy="2034540"/>
          </a:xfrm>
          <a:prstGeom prst="roundRect">
            <a:avLst>
              <a:gd name="adj" fmla="val 6742"/>
            </a:avLst>
          </a:prstGeom>
          <a:solidFill>
            <a:srgbClr val="F1F0FE"/>
          </a:solidFill>
          <a:ln w="12700">
            <a:solidFill>
              <a:srgbClr val="D9D7F7"/>
            </a:solidFill>
            <a:prstDash val="solid"/>
          </a:ln>
        </p:spPr>
      </p:sp>
      <p:sp>
        <p:nvSpPr>
          <p:cNvPr id="7" name="Text 5"/>
          <p:cNvSpPr txBox="1"/>
          <p:nvPr/>
        </p:nvSpPr>
        <p:spPr>
          <a:xfrm>
            <a:off x="2812694" y="194767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노</a:t>
            </a:r>
            <a:endParaRPr lang="en-US" sz="7600" dirty="0"/>
          </a:p>
        </p:txBody>
      </p:sp>
      <p:sp>
        <p:nvSpPr>
          <p:cNvPr id="8" name="tile_2"/>
          <p:cNvSpPr/>
          <p:nvPr/>
        </p:nvSpPr>
        <p:spPr>
          <a:xfrm>
            <a:off x="5076749" y="1874520"/>
            <a:ext cx="2035454" cy="2034540"/>
          </a:xfrm>
          <a:prstGeom prst="roundRect">
            <a:avLst>
              <a:gd name="adj" fmla="val 6742"/>
            </a:avLst>
          </a:prstGeom>
          <a:solidFill>
            <a:srgbClr val="F1F0FE"/>
          </a:solidFill>
          <a:ln w="12700">
            <a:solidFill>
              <a:srgbClr val="D9D7F7"/>
            </a:solidFill>
            <a:prstDash val="solid"/>
          </a:ln>
        </p:spPr>
      </p:sp>
      <p:sp>
        <p:nvSpPr>
          <p:cNvPr id="9" name="Text 7"/>
          <p:cNvSpPr txBox="1"/>
          <p:nvPr/>
        </p:nvSpPr>
        <p:spPr>
          <a:xfrm>
            <a:off x="5076749" y="194767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머</a:t>
            </a:r>
            <a:endParaRPr lang="en-US" sz="7600" dirty="0"/>
          </a:p>
        </p:txBody>
      </p:sp>
      <p:sp>
        <p:nvSpPr>
          <p:cNvPr id="10" name="tile_3"/>
          <p:cNvSpPr/>
          <p:nvPr/>
        </p:nvSpPr>
        <p:spPr>
          <a:xfrm>
            <a:off x="7340803" y="1874520"/>
            <a:ext cx="2035454" cy="2034540"/>
          </a:xfrm>
          <a:prstGeom prst="roundRect">
            <a:avLst>
              <a:gd name="adj" fmla="val 6742"/>
            </a:avLst>
          </a:prstGeom>
          <a:solidFill>
            <a:srgbClr val="F1F0FE"/>
          </a:solidFill>
          <a:ln w="12700">
            <a:solidFill>
              <a:srgbClr val="D9D7F7"/>
            </a:solidFill>
            <a:prstDash val="solid"/>
          </a:ln>
        </p:spPr>
      </p:sp>
      <p:sp>
        <p:nvSpPr>
          <p:cNvPr id="11" name="Text 9"/>
          <p:cNvSpPr txBox="1"/>
          <p:nvPr/>
        </p:nvSpPr>
        <p:spPr>
          <a:xfrm>
            <a:off x="7340803" y="194767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모</a:t>
            </a:r>
            <a:endParaRPr lang="en-US" sz="7600" dirty="0"/>
          </a:p>
        </p:txBody>
      </p:sp>
      <p:sp>
        <p:nvSpPr>
          <p:cNvPr id="12" name="tile_4"/>
          <p:cNvSpPr/>
          <p:nvPr/>
        </p:nvSpPr>
        <p:spPr>
          <a:xfrm>
            <a:off x="9604858" y="1874520"/>
            <a:ext cx="2035454" cy="2034540"/>
          </a:xfrm>
          <a:prstGeom prst="roundRect">
            <a:avLst>
              <a:gd name="adj" fmla="val 6742"/>
            </a:avLst>
          </a:prstGeom>
          <a:solidFill>
            <a:srgbClr val="F1F0FE"/>
          </a:solidFill>
          <a:ln w="12700">
            <a:solidFill>
              <a:srgbClr val="D9D7F7"/>
            </a:solidFill>
            <a:prstDash val="solid"/>
          </a:ln>
        </p:spPr>
      </p:sp>
      <p:sp>
        <p:nvSpPr>
          <p:cNvPr id="13" name="Text 11"/>
          <p:cNvSpPr txBox="1"/>
          <p:nvPr/>
        </p:nvSpPr>
        <p:spPr>
          <a:xfrm>
            <a:off x="9604858" y="194767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그</a:t>
            </a:r>
            <a:endParaRPr lang="en-US" sz="7600" dirty="0"/>
          </a:p>
        </p:txBody>
      </p:sp>
      <p:sp>
        <p:nvSpPr>
          <p:cNvPr id="14" name="tile_5"/>
          <p:cNvSpPr/>
          <p:nvPr/>
        </p:nvSpPr>
        <p:spPr>
          <a:xfrm>
            <a:off x="548640" y="4137660"/>
            <a:ext cx="2035454" cy="2034540"/>
          </a:xfrm>
          <a:prstGeom prst="roundRect">
            <a:avLst>
              <a:gd name="adj" fmla="val 6742"/>
            </a:avLst>
          </a:prstGeom>
          <a:solidFill>
            <a:srgbClr val="F1F0FE"/>
          </a:solidFill>
          <a:ln w="12700">
            <a:solidFill>
              <a:srgbClr val="D9D7F7"/>
            </a:solidFill>
            <a:prstDash val="solid"/>
          </a:ln>
        </p:spPr>
      </p:sp>
      <p:sp>
        <p:nvSpPr>
          <p:cNvPr id="15" name="Text 13"/>
          <p:cNvSpPr txBox="1"/>
          <p:nvPr/>
        </p:nvSpPr>
        <p:spPr>
          <a:xfrm>
            <a:off x="548640" y="421081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구</a:t>
            </a:r>
            <a:endParaRPr lang="en-US" sz="7600" dirty="0"/>
          </a:p>
        </p:txBody>
      </p:sp>
      <p:sp>
        <p:nvSpPr>
          <p:cNvPr id="16" name="tile_6"/>
          <p:cNvSpPr/>
          <p:nvPr/>
        </p:nvSpPr>
        <p:spPr>
          <a:xfrm>
            <a:off x="2812694" y="4137660"/>
            <a:ext cx="2035454" cy="2034540"/>
          </a:xfrm>
          <a:prstGeom prst="roundRect">
            <a:avLst>
              <a:gd name="adj" fmla="val 6742"/>
            </a:avLst>
          </a:prstGeom>
          <a:solidFill>
            <a:srgbClr val="F1F0FE"/>
          </a:solidFill>
          <a:ln w="12700">
            <a:solidFill>
              <a:srgbClr val="D9D7F7"/>
            </a:solidFill>
            <a:prstDash val="solid"/>
          </a:ln>
        </p:spPr>
      </p:sp>
      <p:sp>
        <p:nvSpPr>
          <p:cNvPr id="17" name="Text 15"/>
          <p:cNvSpPr txBox="1"/>
          <p:nvPr/>
        </p:nvSpPr>
        <p:spPr>
          <a:xfrm>
            <a:off x="2812694" y="421081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스</a:t>
            </a:r>
            <a:endParaRPr lang="en-US" sz="7600" dirty="0"/>
          </a:p>
        </p:txBody>
      </p:sp>
      <p:sp>
        <p:nvSpPr>
          <p:cNvPr id="18" name="tile_7"/>
          <p:cNvSpPr/>
          <p:nvPr/>
        </p:nvSpPr>
        <p:spPr>
          <a:xfrm>
            <a:off x="5076749" y="4137660"/>
            <a:ext cx="2035454" cy="2034540"/>
          </a:xfrm>
          <a:prstGeom prst="roundRect">
            <a:avLst>
              <a:gd name="adj" fmla="val 6742"/>
            </a:avLst>
          </a:prstGeom>
          <a:solidFill>
            <a:srgbClr val="F1F0FE"/>
          </a:solidFill>
          <a:ln w="12700">
            <a:solidFill>
              <a:srgbClr val="D9D7F7"/>
            </a:solidFill>
            <a:prstDash val="solid"/>
          </a:ln>
        </p:spPr>
      </p:sp>
      <p:sp>
        <p:nvSpPr>
          <p:cNvPr id="19" name="Text 17"/>
          <p:cNvSpPr txBox="1"/>
          <p:nvPr/>
        </p:nvSpPr>
        <p:spPr>
          <a:xfrm>
            <a:off x="5076749" y="421081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수</a:t>
            </a:r>
            <a:endParaRPr lang="en-US" sz="7600" dirty="0"/>
          </a:p>
        </p:txBody>
      </p:sp>
      <p:sp>
        <p:nvSpPr>
          <p:cNvPr id="20" name="tile_8"/>
          <p:cNvSpPr/>
          <p:nvPr/>
        </p:nvSpPr>
        <p:spPr>
          <a:xfrm>
            <a:off x="7340803" y="4137660"/>
            <a:ext cx="2035454" cy="2034540"/>
          </a:xfrm>
          <a:prstGeom prst="roundRect">
            <a:avLst>
              <a:gd name="adj" fmla="val 6742"/>
            </a:avLst>
          </a:prstGeom>
          <a:solidFill>
            <a:srgbClr val="F1F0FE"/>
          </a:solidFill>
          <a:ln w="12700">
            <a:solidFill>
              <a:srgbClr val="D9D7F7"/>
            </a:solidFill>
            <a:prstDash val="solid"/>
          </a:ln>
        </p:spPr>
      </p:sp>
      <p:sp>
        <p:nvSpPr>
          <p:cNvPr id="21" name="Text 19"/>
          <p:cNvSpPr txBox="1"/>
          <p:nvPr/>
        </p:nvSpPr>
        <p:spPr>
          <a:xfrm>
            <a:off x="7340803" y="421081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거</a:t>
            </a:r>
            <a:endParaRPr lang="en-US" sz="7600" dirty="0"/>
          </a:p>
        </p:txBody>
      </p:sp>
      <p:sp>
        <p:nvSpPr>
          <p:cNvPr id="22" name="tile_9"/>
          <p:cNvSpPr/>
          <p:nvPr/>
        </p:nvSpPr>
        <p:spPr>
          <a:xfrm>
            <a:off x="9604858" y="4137660"/>
            <a:ext cx="2035454" cy="2034540"/>
          </a:xfrm>
          <a:prstGeom prst="roundRect">
            <a:avLst>
              <a:gd name="adj" fmla="val 6742"/>
            </a:avLst>
          </a:prstGeom>
          <a:solidFill>
            <a:srgbClr val="F1F0FE"/>
          </a:solidFill>
          <a:ln w="12700">
            <a:solidFill>
              <a:srgbClr val="D9D7F7"/>
            </a:solidFill>
            <a:prstDash val="solid"/>
          </a:ln>
        </p:spPr>
      </p:sp>
      <p:sp>
        <p:nvSpPr>
          <p:cNvPr id="23" name="Text 21"/>
          <p:cNvSpPr txBox="1"/>
          <p:nvPr/>
        </p:nvSpPr>
        <p:spPr>
          <a:xfrm>
            <a:off x="9604858" y="4210812"/>
            <a:ext cx="203545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고</a:t>
            </a:r>
            <a:endParaRPr lang="en-US" sz="7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Lectura relámpago (1)</a:t>
            </a:r>
            <a:r>
              <a:rPr lang="en-US" sz="1500" b="1" i="1" dirty="0">
                <a:solidFill>
                  <a:srgbClr val="8A8DA0"/>
                </a:solidFill>
              </a:rPr>
              <a:t>   Lightning reading (1)</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Lee en voz alta · los demás escriben en el chat qué significa</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eb8298ebacb4.png"/>
          <p:cNvPicPr>
            <a:picLocks noChangeAspect="1"/>
          </p:cNvPicPr>
          <p:nvPr/>
        </p:nvPicPr>
        <p:blipFill>
          <a:blip r:embed="rId15"/>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나무</a:t>
            </a:r>
            <a:endParaRPr lang="en-US" sz="2500" dirty="0"/>
          </a:p>
        </p:txBody>
      </p:sp>
      <p:sp>
        <p:nvSpPr>
          <p:cNvPr id="7" name="rom_40"/>
          <p:cNvSpPr txBox="1"/>
          <p:nvPr/>
        </p:nvSpPr>
        <p:spPr>
          <a:xfrm>
            <a:off x="548640"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namu</a:t>
            </a:r>
            <a:endParaRPr lang="en-US" sz="1600" dirty="0"/>
          </a:p>
        </p:txBody>
      </p:sp>
      <p:sp>
        <p:nvSpPr>
          <p:cNvPr id="8" name="Text 5"/>
          <p:cNvSpPr txBox="1"/>
          <p:nvPr/>
        </p:nvSpPr>
        <p:spPr>
          <a:xfrm>
            <a:off x="621792"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árbol</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3691128" y="1947672"/>
            <a:ext cx="310896" cy="310896"/>
          </a:xfrm>
          <a:prstGeom prst="rect">
            <a:avLst/>
          </a:prstGeom>
        </p:spPr>
      </p:pic>
      <p:sp>
        <p:nvSpPr>
          <p:cNvPr id="10"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ebb094eb8ba4.png"/>
          <p:cNvPicPr>
            <a:picLocks noChangeAspect="1"/>
          </p:cNvPicPr>
          <p:nvPr/>
        </p:nvPicPr>
        <p:blipFill>
          <a:blip r:embed="rId17"/>
          <a:stretch>
            <a:fillRect/>
          </a:stretch>
        </p:blipFill>
        <p:spPr>
          <a:xfrm>
            <a:off x="5606186" y="1984248"/>
            <a:ext cx="976579" cy="976579"/>
          </a:xfrm>
          <a:prstGeom prst="rect">
            <a:avLst/>
          </a:prstGeom>
        </p:spPr>
      </p:pic>
      <p:sp>
        <p:nvSpPr>
          <p:cNvPr id="12" name="Text 7"/>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바다</a:t>
            </a:r>
            <a:endParaRPr lang="en-US" sz="2500" dirty="0"/>
          </a:p>
        </p:txBody>
      </p:sp>
      <p:sp>
        <p:nvSpPr>
          <p:cNvPr id="13" name="rom_41"/>
          <p:cNvSpPr txBox="1"/>
          <p:nvPr/>
        </p:nvSpPr>
        <p:spPr>
          <a:xfrm>
            <a:off x="4322064"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bada</a:t>
            </a:r>
            <a:endParaRPr lang="en-US" sz="1600" dirty="0"/>
          </a:p>
        </p:txBody>
      </p:sp>
      <p:sp>
        <p:nvSpPr>
          <p:cNvPr id="14" name="Text 9"/>
          <p:cNvSpPr txBox="1"/>
          <p:nvPr/>
        </p:nvSpPr>
        <p:spPr>
          <a:xfrm>
            <a:off x="4395216"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mar</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7464552" y="1947672"/>
            <a:ext cx="310896" cy="310896"/>
          </a:xfrm>
          <a:prstGeom prst="rect">
            <a:avLst/>
          </a:prstGeom>
        </p:spPr>
      </p:pic>
      <p:sp>
        <p:nvSpPr>
          <p:cNvPr id="16"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ec9ab0ec9ca0.png"/>
          <p:cNvPicPr>
            <a:picLocks noChangeAspect="1"/>
          </p:cNvPicPr>
          <p:nvPr/>
        </p:nvPicPr>
        <p:blipFill>
          <a:blip r:embed="rId18"/>
          <a:stretch>
            <a:fillRect/>
          </a:stretch>
        </p:blipFill>
        <p:spPr>
          <a:xfrm>
            <a:off x="9379610" y="1984248"/>
            <a:ext cx="976579" cy="976579"/>
          </a:xfrm>
          <a:prstGeom prst="rect">
            <a:avLst/>
          </a:prstGeom>
        </p:spPr>
      </p:pic>
      <p:sp>
        <p:nvSpPr>
          <p:cNvPr id="18" name="Text 11"/>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우유</a:t>
            </a:r>
            <a:endParaRPr lang="en-US" sz="2500" dirty="0"/>
          </a:p>
        </p:txBody>
      </p:sp>
      <p:sp>
        <p:nvSpPr>
          <p:cNvPr id="19" name="rom_42"/>
          <p:cNvSpPr txBox="1"/>
          <p:nvPr/>
        </p:nvSpPr>
        <p:spPr>
          <a:xfrm>
            <a:off x="8095488"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uyu</a:t>
            </a:r>
            <a:endParaRPr lang="en-US" sz="1600" dirty="0"/>
          </a:p>
        </p:txBody>
      </p:sp>
      <p:sp>
        <p:nvSpPr>
          <p:cNvPr id="20" name="Text 13"/>
          <p:cNvSpPr txBox="1"/>
          <p:nvPr/>
        </p:nvSpPr>
        <p:spPr>
          <a:xfrm>
            <a:off x="8168640"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leche</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6"/>
          <a:stretch>
            <a:fillRect/>
          </a:stretch>
        </p:blipFill>
        <p:spPr>
          <a:xfrm>
            <a:off x="11237976" y="1947672"/>
            <a:ext cx="310896" cy="310896"/>
          </a:xfrm>
          <a:prstGeom prst="rect">
            <a:avLst/>
          </a:prstGeom>
        </p:spPr>
      </p:pic>
      <p:sp>
        <p:nvSpPr>
          <p:cNvPr id="22"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ec9584ec9db4.png"/>
          <p:cNvPicPr>
            <a:picLocks noChangeAspect="1"/>
          </p:cNvPicPr>
          <p:nvPr/>
        </p:nvPicPr>
        <p:blipFill>
          <a:blip r:embed="rId19"/>
          <a:stretch>
            <a:fillRect/>
          </a:stretch>
        </p:blipFill>
        <p:spPr>
          <a:xfrm>
            <a:off x="1832762" y="4247388"/>
            <a:ext cx="976579" cy="976579"/>
          </a:xfrm>
          <a:prstGeom prst="rect">
            <a:avLst/>
          </a:prstGeom>
        </p:spPr>
      </p:pic>
      <p:sp>
        <p:nvSpPr>
          <p:cNvPr id="24" name="Text 15"/>
          <p:cNvSpPr txBox="1"/>
          <p:nvPr/>
        </p:nvSpPr>
        <p:spPr>
          <a:xfrm>
            <a:off x="548640"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아이</a:t>
            </a:r>
            <a:endParaRPr lang="en-US" sz="2500" dirty="0"/>
          </a:p>
        </p:txBody>
      </p:sp>
      <p:sp>
        <p:nvSpPr>
          <p:cNvPr id="25" name="rom_43"/>
          <p:cNvSpPr txBox="1"/>
          <p:nvPr/>
        </p:nvSpPr>
        <p:spPr>
          <a:xfrm>
            <a:off x="548640"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ai</a:t>
            </a:r>
            <a:endParaRPr lang="en-US" sz="1600" dirty="0"/>
          </a:p>
        </p:txBody>
      </p:sp>
      <p:sp>
        <p:nvSpPr>
          <p:cNvPr id="26" name="Text 17"/>
          <p:cNvSpPr txBox="1"/>
          <p:nvPr/>
        </p:nvSpPr>
        <p:spPr>
          <a:xfrm>
            <a:off x="621792"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niño, niña</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6"/>
          <a:stretch>
            <a:fillRect/>
          </a:stretch>
        </p:blipFill>
        <p:spPr>
          <a:xfrm>
            <a:off x="3691128" y="4210812"/>
            <a:ext cx="310896" cy="310896"/>
          </a:xfrm>
          <a:prstGeom prst="rect">
            <a:avLst/>
          </a:prstGeom>
        </p:spPr>
      </p:pic>
      <p:sp>
        <p:nvSpPr>
          <p:cNvPr id="28"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9" name="dibujo_4" descr="C:\Users\Chingu\AppData\Local\Temp\claude\C--Users-Chingu-Desktop-ACADEMIASEULWEB\d4111e1b-5523-44ea-97b2-b1a1d9545b9e\scratchpad\decks\cache\ec98a4ec9db4.png"/>
          <p:cNvPicPr>
            <a:picLocks noChangeAspect="1"/>
          </p:cNvPicPr>
          <p:nvPr/>
        </p:nvPicPr>
        <p:blipFill>
          <a:blip r:embed="rId20"/>
          <a:stretch>
            <a:fillRect/>
          </a:stretch>
        </p:blipFill>
        <p:spPr>
          <a:xfrm>
            <a:off x="5606186" y="4247388"/>
            <a:ext cx="976579" cy="976579"/>
          </a:xfrm>
          <a:prstGeom prst="rect">
            <a:avLst/>
          </a:prstGeom>
        </p:spPr>
      </p:pic>
      <p:sp>
        <p:nvSpPr>
          <p:cNvPr id="30" name="Text 19"/>
          <p:cNvSpPr txBox="1"/>
          <p:nvPr/>
        </p:nvSpPr>
        <p:spPr>
          <a:xfrm>
            <a:off x="4322064"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오이</a:t>
            </a:r>
            <a:endParaRPr lang="en-US" sz="2500" dirty="0"/>
          </a:p>
        </p:txBody>
      </p:sp>
      <p:sp>
        <p:nvSpPr>
          <p:cNvPr id="31" name="rom_44"/>
          <p:cNvSpPr txBox="1"/>
          <p:nvPr/>
        </p:nvSpPr>
        <p:spPr>
          <a:xfrm>
            <a:off x="4322064"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oi</a:t>
            </a:r>
            <a:endParaRPr lang="en-US" sz="1600" dirty="0"/>
          </a:p>
        </p:txBody>
      </p:sp>
      <p:sp>
        <p:nvSpPr>
          <p:cNvPr id="32" name="Text 21"/>
          <p:cNvSpPr txBox="1"/>
          <p:nvPr/>
        </p:nvSpPr>
        <p:spPr>
          <a:xfrm>
            <a:off x="4395216"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pepino</a:t>
            </a:r>
            <a:endParaRPr lang="en-US" sz="1600" dirty="0"/>
          </a:p>
        </p:txBody>
      </p:sp>
      <p:pic>
        <p:nvPicPr>
          <p:cNvPr id="33"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6"/>
          <a:stretch>
            <a:fillRect/>
          </a:stretch>
        </p:blipFill>
        <p:spPr>
          <a:xfrm>
            <a:off x="7464552" y="4210812"/>
            <a:ext cx="310896" cy="310896"/>
          </a:xfrm>
          <a:prstGeom prst="rect">
            <a:avLst/>
          </a:prstGeom>
        </p:spPr>
      </p:pic>
      <p:sp>
        <p:nvSpPr>
          <p:cNvPr id="34"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5" name="dibujo_5" descr="C:\Users\Chingu\AppData\Local\Temp\claude\C--Users-Chingu-Desktop-ACADEMIASEULWEB\d4111e1b-5523-44ea-97b2-b1a1d9545b9e\scratchpad\decks\cache\ebaaa8ec9e90.png"/>
          <p:cNvPicPr>
            <a:picLocks noChangeAspect="1"/>
          </p:cNvPicPr>
          <p:nvPr/>
        </p:nvPicPr>
        <p:blipFill>
          <a:blip r:embed="rId21"/>
          <a:stretch>
            <a:fillRect/>
          </a:stretch>
        </p:blipFill>
        <p:spPr>
          <a:xfrm>
            <a:off x="9379610" y="4247388"/>
            <a:ext cx="976579" cy="976579"/>
          </a:xfrm>
          <a:prstGeom prst="rect">
            <a:avLst/>
          </a:prstGeom>
        </p:spPr>
      </p:pic>
      <p:sp>
        <p:nvSpPr>
          <p:cNvPr id="36" name="Text 23"/>
          <p:cNvSpPr txBox="1"/>
          <p:nvPr/>
        </p:nvSpPr>
        <p:spPr>
          <a:xfrm>
            <a:off x="8095488"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모자</a:t>
            </a:r>
            <a:endParaRPr lang="en-US" sz="2500" dirty="0"/>
          </a:p>
        </p:txBody>
      </p:sp>
      <p:sp>
        <p:nvSpPr>
          <p:cNvPr id="37" name="rom_45"/>
          <p:cNvSpPr txBox="1"/>
          <p:nvPr/>
        </p:nvSpPr>
        <p:spPr>
          <a:xfrm>
            <a:off x="8095488"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moja</a:t>
            </a:r>
            <a:endParaRPr lang="en-US" sz="1600" dirty="0"/>
          </a:p>
        </p:txBody>
      </p:sp>
      <p:sp>
        <p:nvSpPr>
          <p:cNvPr id="38" name="Text 25"/>
          <p:cNvSpPr txBox="1"/>
          <p:nvPr/>
        </p:nvSpPr>
        <p:spPr>
          <a:xfrm>
            <a:off x="8168640"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sombrero, gorro</a:t>
            </a:r>
            <a:endParaRPr lang="en-US" sz="1600" dirty="0"/>
          </a:p>
        </p:txBody>
      </p:sp>
      <p:pic>
        <p:nvPicPr>
          <p:cNvPr id="39"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6"/>
          <a:stretch>
            <a:fillRect/>
          </a:stretch>
        </p:blipFill>
        <p:spPr>
          <a:xfrm>
            <a:off x="11237976" y="4210812"/>
            <a:ext cx="310896" cy="310896"/>
          </a:xfrm>
          <a:prstGeom prst="rect">
            <a:avLst/>
          </a:prstGeom>
        </p:spPr>
      </p:pic>
      <p:sp>
        <p:nvSpPr>
          <p:cNvPr id="4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5" grpId="0" animBg="1"/>
      <p:bldP spid="31" grpId="0" animBg="1"/>
      <p:bldP spid="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Lectura relámpago (2)</a:t>
            </a:r>
            <a:r>
              <a:rPr lang="en-US" sz="1500" b="1" i="1" dirty="0">
                <a:solidFill>
                  <a:srgbClr val="8A8DA0"/>
                </a:solidFill>
              </a:rPr>
              <a:t>   Lightning reading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Lee en voz alta · los demás escriben en el chat qué significa</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eba8b8eba6ac.png"/>
          <p:cNvPicPr>
            <a:picLocks noChangeAspect="1"/>
          </p:cNvPicPr>
          <p:nvPr/>
        </p:nvPicPr>
        <p:blipFill>
          <a:blip r:embed="rId15"/>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머리</a:t>
            </a:r>
            <a:endParaRPr lang="en-US" sz="2500" dirty="0"/>
          </a:p>
        </p:txBody>
      </p:sp>
      <p:sp>
        <p:nvSpPr>
          <p:cNvPr id="7" name="rom_46"/>
          <p:cNvSpPr txBox="1"/>
          <p:nvPr/>
        </p:nvSpPr>
        <p:spPr>
          <a:xfrm>
            <a:off x="548640"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meori</a:t>
            </a:r>
            <a:endParaRPr lang="en-US" sz="1600" dirty="0"/>
          </a:p>
        </p:txBody>
      </p:sp>
      <p:sp>
        <p:nvSpPr>
          <p:cNvPr id="8" name="Text 5"/>
          <p:cNvSpPr txBox="1"/>
          <p:nvPr/>
        </p:nvSpPr>
        <p:spPr>
          <a:xfrm>
            <a:off x="621792"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cabeza; pelo</a:t>
            </a:r>
            <a:endParaRPr lang="en-US" sz="1600" dirty="0"/>
          </a:p>
        </p:txBody>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3691128" y="1947672"/>
            <a:ext cx="310896" cy="310896"/>
          </a:xfrm>
          <a:prstGeom prst="rect">
            <a:avLst/>
          </a:prstGeom>
        </p:spPr>
      </p:pic>
      <p:sp>
        <p:nvSpPr>
          <p:cNvPr id="10"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1" name="dibujo_1" descr="C:\Users\Chingu\AppData\Local\Temp\claude\C--Users-Chingu-Desktop-ACADEMIASEULWEB\d4111e1b-5523-44ea-97b2-b1a1d9545b9e\scratchpad\decks\cache\eab5aceb9190.png"/>
          <p:cNvPicPr>
            <a:picLocks noChangeAspect="1"/>
          </p:cNvPicPr>
          <p:nvPr/>
        </p:nvPicPr>
        <p:blipFill>
          <a:blip r:embed="rId17"/>
          <a:stretch>
            <a:fillRect/>
          </a:stretch>
        </p:blipFill>
        <p:spPr>
          <a:xfrm>
            <a:off x="5606186" y="1984248"/>
            <a:ext cx="976579" cy="976579"/>
          </a:xfrm>
          <a:prstGeom prst="rect">
            <a:avLst/>
          </a:prstGeom>
        </p:spPr>
      </p:pic>
      <p:sp>
        <p:nvSpPr>
          <p:cNvPr id="12" name="Text 7"/>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구두</a:t>
            </a:r>
            <a:endParaRPr lang="en-US" sz="2500" dirty="0"/>
          </a:p>
        </p:txBody>
      </p:sp>
      <p:sp>
        <p:nvSpPr>
          <p:cNvPr id="13" name="rom_47"/>
          <p:cNvSpPr txBox="1"/>
          <p:nvPr/>
        </p:nvSpPr>
        <p:spPr>
          <a:xfrm>
            <a:off x="4322064"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gudu</a:t>
            </a:r>
            <a:endParaRPr lang="en-US" sz="1600" dirty="0"/>
          </a:p>
        </p:txBody>
      </p:sp>
      <p:sp>
        <p:nvSpPr>
          <p:cNvPr id="14" name="Text 9"/>
          <p:cNvSpPr txBox="1"/>
          <p:nvPr/>
        </p:nvSpPr>
        <p:spPr>
          <a:xfrm>
            <a:off x="4395216"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zapatos (de vestir)</a:t>
            </a:r>
            <a:endParaRPr lang="en-US" sz="1600" dirty="0"/>
          </a:p>
        </p:txBody>
      </p:sp>
      <p:pic>
        <p:nvPicPr>
          <p:cNvPr id="15"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7464552" y="1947672"/>
            <a:ext cx="310896" cy="310896"/>
          </a:xfrm>
          <a:prstGeom prst="rect">
            <a:avLst/>
          </a:prstGeom>
        </p:spPr>
      </p:pic>
      <p:sp>
        <p:nvSpPr>
          <p:cNvPr id="16"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7" name="dibujo_2" descr="C:\Users\Chingu\AppData\Local\Temp\claude\C--Users-Chingu-Desktop-ACADEMIASEULWEB\d4111e1b-5523-44ea-97b2-b1a1d9545b9e\scratchpad\decks\cache\ec96b4eba8b8eb8b88.png"/>
          <p:cNvPicPr>
            <a:picLocks noChangeAspect="1"/>
          </p:cNvPicPr>
          <p:nvPr/>
        </p:nvPicPr>
        <p:blipFill>
          <a:blip r:embed="rId18"/>
          <a:stretch>
            <a:fillRect/>
          </a:stretch>
        </p:blipFill>
        <p:spPr>
          <a:xfrm>
            <a:off x="9379610" y="1984248"/>
            <a:ext cx="976579" cy="976579"/>
          </a:xfrm>
          <a:prstGeom prst="rect">
            <a:avLst/>
          </a:prstGeom>
        </p:spPr>
      </p:pic>
      <p:sp>
        <p:nvSpPr>
          <p:cNvPr id="18" name="Text 11"/>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어머니</a:t>
            </a:r>
            <a:endParaRPr lang="en-US" sz="2500" dirty="0"/>
          </a:p>
        </p:txBody>
      </p:sp>
      <p:sp>
        <p:nvSpPr>
          <p:cNvPr id="19" name="rom_48"/>
          <p:cNvSpPr txBox="1"/>
          <p:nvPr/>
        </p:nvSpPr>
        <p:spPr>
          <a:xfrm>
            <a:off x="8095488" y="338602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eomeoni</a:t>
            </a:r>
            <a:endParaRPr lang="en-US" sz="1600" dirty="0"/>
          </a:p>
        </p:txBody>
      </p:sp>
      <p:sp>
        <p:nvSpPr>
          <p:cNvPr id="20" name="Text 13"/>
          <p:cNvSpPr txBox="1"/>
          <p:nvPr/>
        </p:nvSpPr>
        <p:spPr>
          <a:xfrm>
            <a:off x="8168640" y="366034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madre</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6"/>
          <a:stretch>
            <a:fillRect/>
          </a:stretch>
        </p:blipFill>
        <p:spPr>
          <a:xfrm>
            <a:off x="11237976" y="1947672"/>
            <a:ext cx="310896" cy="310896"/>
          </a:xfrm>
          <a:prstGeom prst="rect">
            <a:avLst/>
          </a:prstGeom>
        </p:spPr>
      </p:pic>
      <p:sp>
        <p:nvSpPr>
          <p:cNvPr id="22"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3" name="dibujo_3" descr="C:\Users\Chingu\AppData\Local\Temp\claude\C--Users-Chingu-Desktop-ACADEMIASEULWEB\d4111e1b-5523-44ea-97b2-b1a1d9545b9e\scratchpad\decks\cache\ec9584ebb284eca780.png"/>
          <p:cNvPicPr>
            <a:picLocks noChangeAspect="1"/>
          </p:cNvPicPr>
          <p:nvPr/>
        </p:nvPicPr>
        <p:blipFill>
          <a:blip r:embed="rId19"/>
          <a:stretch>
            <a:fillRect/>
          </a:stretch>
        </p:blipFill>
        <p:spPr>
          <a:xfrm>
            <a:off x="1832762" y="4247388"/>
            <a:ext cx="976579" cy="976579"/>
          </a:xfrm>
          <a:prstGeom prst="rect">
            <a:avLst/>
          </a:prstGeom>
        </p:spPr>
      </p:pic>
      <p:sp>
        <p:nvSpPr>
          <p:cNvPr id="24" name="Text 15"/>
          <p:cNvSpPr txBox="1"/>
          <p:nvPr/>
        </p:nvSpPr>
        <p:spPr>
          <a:xfrm>
            <a:off x="548640"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아버지</a:t>
            </a:r>
            <a:endParaRPr lang="en-US" sz="2500" dirty="0"/>
          </a:p>
        </p:txBody>
      </p:sp>
      <p:sp>
        <p:nvSpPr>
          <p:cNvPr id="25" name="rom_49"/>
          <p:cNvSpPr txBox="1"/>
          <p:nvPr/>
        </p:nvSpPr>
        <p:spPr>
          <a:xfrm>
            <a:off x="548640"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abeoji</a:t>
            </a:r>
            <a:endParaRPr lang="en-US" sz="1600" dirty="0"/>
          </a:p>
        </p:txBody>
      </p:sp>
      <p:sp>
        <p:nvSpPr>
          <p:cNvPr id="26" name="Text 17"/>
          <p:cNvSpPr txBox="1"/>
          <p:nvPr/>
        </p:nvSpPr>
        <p:spPr>
          <a:xfrm>
            <a:off x="621792"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padre</a:t>
            </a:r>
            <a:endParaRPr lang="en-US" sz="1600" dirty="0"/>
          </a:p>
        </p:txBody>
      </p:sp>
      <p:pic>
        <p:nvPicPr>
          <p:cNvPr id="27"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6"/>
          <a:stretch>
            <a:fillRect/>
          </a:stretch>
        </p:blipFill>
        <p:spPr>
          <a:xfrm>
            <a:off x="3691128" y="4210812"/>
            <a:ext cx="310896" cy="310896"/>
          </a:xfrm>
          <a:prstGeom prst="rect">
            <a:avLst/>
          </a:prstGeom>
        </p:spPr>
      </p:pic>
      <p:sp>
        <p:nvSpPr>
          <p:cNvPr id="28"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9" name="dibujo_4" descr="C:\Users\Chingu\AppData\Local\Temp\claude\C--Users-Chingu-Desktop-ACADEMIASEULWEB\d4111e1b-5523-44ea-97b2-b1a1d9545b9e\scratchpad\decks\cache\eb8298.png"/>
          <p:cNvPicPr>
            <a:picLocks noChangeAspect="1"/>
          </p:cNvPicPr>
          <p:nvPr/>
        </p:nvPicPr>
        <p:blipFill>
          <a:blip r:embed="rId20"/>
          <a:stretch>
            <a:fillRect/>
          </a:stretch>
        </p:blipFill>
        <p:spPr>
          <a:xfrm>
            <a:off x="5606186" y="4247388"/>
            <a:ext cx="976579" cy="976579"/>
          </a:xfrm>
          <a:prstGeom prst="rect">
            <a:avLst/>
          </a:prstGeom>
        </p:spPr>
      </p:pic>
      <p:sp>
        <p:nvSpPr>
          <p:cNvPr id="30" name="Text 19"/>
          <p:cNvSpPr txBox="1"/>
          <p:nvPr/>
        </p:nvSpPr>
        <p:spPr>
          <a:xfrm>
            <a:off x="4322064"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나</a:t>
            </a:r>
            <a:endParaRPr lang="en-US" sz="2500" dirty="0"/>
          </a:p>
        </p:txBody>
      </p:sp>
      <p:sp>
        <p:nvSpPr>
          <p:cNvPr id="31" name="rom_50"/>
          <p:cNvSpPr txBox="1"/>
          <p:nvPr/>
        </p:nvSpPr>
        <p:spPr>
          <a:xfrm>
            <a:off x="4322064"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na</a:t>
            </a:r>
            <a:endParaRPr lang="en-US" sz="1600" dirty="0"/>
          </a:p>
        </p:txBody>
      </p:sp>
      <p:sp>
        <p:nvSpPr>
          <p:cNvPr id="32" name="Text 21"/>
          <p:cNvSpPr txBox="1"/>
          <p:nvPr/>
        </p:nvSpPr>
        <p:spPr>
          <a:xfrm>
            <a:off x="4395216"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yo (entre amigos)</a:t>
            </a:r>
            <a:endParaRPr lang="en-US" sz="1600" dirty="0"/>
          </a:p>
        </p:txBody>
      </p:sp>
      <p:pic>
        <p:nvPicPr>
          <p:cNvPr id="33"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6"/>
          <a:stretch>
            <a:fillRect/>
          </a:stretch>
        </p:blipFill>
        <p:spPr>
          <a:xfrm>
            <a:off x="7464552" y="4210812"/>
            <a:ext cx="310896" cy="310896"/>
          </a:xfrm>
          <a:prstGeom prst="rect">
            <a:avLst/>
          </a:prstGeom>
        </p:spPr>
      </p:pic>
      <p:sp>
        <p:nvSpPr>
          <p:cNvPr id="34"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5" name="dibujo_5" descr="C:\Users\Chingu\AppData\Local\Temp\claude\C--Users-Chingu-Desktop-ACADEMIASEULWEB\d4111e1b-5523-44ea-97b2-b1a1d9545b9e\scratchpad\decks\cache\eb8488.png"/>
          <p:cNvPicPr>
            <a:picLocks noChangeAspect="1"/>
          </p:cNvPicPr>
          <p:nvPr/>
        </p:nvPicPr>
        <p:blipFill>
          <a:blip r:embed="rId21"/>
          <a:stretch>
            <a:fillRect/>
          </a:stretch>
        </p:blipFill>
        <p:spPr>
          <a:xfrm>
            <a:off x="9379610" y="4247388"/>
            <a:ext cx="976579" cy="976579"/>
          </a:xfrm>
          <a:prstGeom prst="rect">
            <a:avLst/>
          </a:prstGeom>
        </p:spPr>
      </p:pic>
      <p:sp>
        <p:nvSpPr>
          <p:cNvPr id="36" name="Text 23"/>
          <p:cNvSpPr txBox="1"/>
          <p:nvPr/>
        </p:nvSpPr>
        <p:spPr>
          <a:xfrm>
            <a:off x="8095488"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너</a:t>
            </a:r>
            <a:endParaRPr lang="en-US" sz="2500" dirty="0"/>
          </a:p>
        </p:txBody>
      </p:sp>
      <p:sp>
        <p:nvSpPr>
          <p:cNvPr id="37" name="rom_51"/>
          <p:cNvSpPr txBox="1"/>
          <p:nvPr/>
        </p:nvSpPr>
        <p:spPr>
          <a:xfrm>
            <a:off x="8095488" y="5649163"/>
            <a:ext cx="3544824" cy="274320"/>
          </a:xfrm>
          <a:prstGeom prst="rect">
            <a:avLst/>
          </a:prstGeom>
          <a:noFill/>
          <a:ln/>
        </p:spPr>
        <p:txBody>
          <a:bodyPr wrap="square" lIns="0" tIns="0" rIns="0" bIns="0" rtlCol="0" anchor="ctr">
            <a:normAutofit/>
          </a:bodyPr>
          <a:lstStyle/>
          <a:p>
            <a:pPr marL="0" indent="0" algn="ctr" eaLnBrk="1">
              <a:buNone/>
            </a:pPr>
            <a:r>
              <a:rPr lang="en-US" sz="1600" dirty="0">
                <a:solidFill>
                  <a:srgbClr val="8A8DA0"/>
                </a:solidFill>
              </a:rPr>
              <a:t>neo</a:t>
            </a:r>
            <a:endParaRPr lang="en-US" sz="1600" dirty="0"/>
          </a:p>
        </p:txBody>
      </p:sp>
      <p:sp>
        <p:nvSpPr>
          <p:cNvPr id="38" name="Text 25"/>
          <p:cNvSpPr txBox="1"/>
          <p:nvPr/>
        </p:nvSpPr>
        <p:spPr>
          <a:xfrm>
            <a:off x="8168640" y="5923483"/>
            <a:ext cx="3398520" cy="274320"/>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tú (entre amigos)</a:t>
            </a:r>
            <a:endParaRPr lang="en-US" sz="1600" dirty="0"/>
          </a:p>
        </p:txBody>
      </p:sp>
      <p:pic>
        <p:nvPicPr>
          <p:cNvPr id="39"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6"/>
          <a:stretch>
            <a:fillRect/>
          </a:stretch>
        </p:blipFill>
        <p:spPr>
          <a:xfrm>
            <a:off x="11237976" y="4210812"/>
            <a:ext cx="310896" cy="310896"/>
          </a:xfrm>
          <a:prstGeom prst="rect">
            <a:avLst/>
          </a:prstGeom>
        </p:spPr>
      </p:pic>
      <p:sp>
        <p:nvSpPr>
          <p:cNvPr id="4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5" grpId="0" animBg="1"/>
      <p:bldP spid="31" grpId="0" animBg="1"/>
      <p:bldP spid="3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Salas · 4 rondas</a:t>
            </a:r>
            <a:r>
              <a:rPr lang="en-US" sz="1500" b="1" i="1" dirty="0">
                <a:solidFill>
                  <a:srgbClr val="8A8DA0"/>
                </a:solidFill>
              </a:rPr>
              <a:t>   Breakout rooms · 4 rounds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Salas de 2 (alguna de 3) · 18 minutos · tarjeta de sala: link en el chat</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Al entrar: 안녕하세요 </a:t>
            </a:r>
            <a:r>
              <a:rPr lang="en-US" sz="1800" dirty="0">
                <a:solidFill>
                  <a:srgbClr val="14142B"/>
                </a:solidFill>
              </a:rPr>
              <a:t>· abre ahora la tarjeta de sala (sección 7 de tu material)</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R1 · Batalla de sílabas: número = consonante, letra = vocal · "Dos, C" = ㄴ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ㅗ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노</a:t>
            </a:r>
            <a:endParaRPr lang="en-US" sz="1800" dirty="0"/>
          </a:p>
          <a:p>
            <a:pPr marL="228600" indent="-228600" eaLnBrk="1">
              <a:spcAft>
                <a:spcPts val="800"/>
              </a:spcAft>
              <a:buSzPct val="100000"/>
              <a:buChar char="•"/>
            </a:pPr>
            <a:r>
              <a:rPr lang="en-US" sz="1800" dirty="0">
                <a:solidFill>
                  <a:srgbClr val="14142B"/>
                </a:solidFill>
              </a:rPr>
              <a:t>R2 · Fábrica de oído: A lee la Lista A y B escribe sin mirar; después, la Lista B</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R3 · Las 12 palabras: un número del 1 al 12, lee y di qué significa · ¿아이 </a:t>
            </a:r>
            <a:r>
              <a:rPr lang="en-US" sz="1800" dirty="0">
                <a:solidFill>
                  <a:srgbClr val="14142B"/>
                </a:solidFill>
              </a:rPr>
              <a:t>u </a:t>
            </a:r>
            <a:r>
              <a:rPr lang="ko-KR" altLang="en-US" sz="1800" dirty="0">
                <a:solidFill>
                  <a:srgbClr val="14142B"/>
                </a:solidFill>
                <a:latin typeface="Malgun Gothic" pitchFamily="34" charset="0"/>
                <a:ea typeface="Malgun Gothic" pitchFamily="34" charset="-122"/>
                <a:cs typeface="Malgun Gothic" pitchFamily="34" charset="-120"/>
              </a:rPr>
              <a:t>오이</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R4 · Lectura relámpago con cronómetro, sin dibujos y sin línea gris: ¡bájale el tiempo!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Al volver: tu mejor tiempo en el chat · al cerrar la sala: 감사합니다</a:t>
            </a:r>
            <a:endParaRPr lang="en-US" sz="1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Lo que oí hoy</a:t>
            </a:r>
            <a:r>
              <a:rPr lang="en-US" sz="1500" b="1" i="1" dirty="0">
                <a:solidFill>
                  <a:srgbClr val="8A8DA0"/>
                </a:solidFill>
              </a:rPr>
              <a:t>   What I heard today</a:t>
            </a:r>
            <a:endParaRPr lang="en-US" sz="3000" dirty="0"/>
          </a:p>
        </p:txBody>
      </p:sp>
      <p:sp>
        <p:nvSpPr>
          <p:cNvPr id="3" name="col_0"/>
          <p:cNvSpPr/>
          <p:nvPr/>
        </p:nvSpPr>
        <p:spPr>
          <a:xfrm>
            <a:off x="548640" y="1325880"/>
            <a:ext cx="3483864" cy="4846320"/>
          </a:xfrm>
          <a:prstGeom prst="roundRect">
            <a:avLst>
              <a:gd name="adj" fmla="val 3937"/>
            </a:avLst>
          </a:prstGeom>
          <a:solidFill>
            <a:srgbClr val="F1F0FE"/>
          </a:solidFill>
          <a:ln w="12700">
            <a:solidFill>
              <a:srgbClr val="D9D7F7"/>
            </a:solidFill>
            <a:prstDash val="solid"/>
          </a:ln>
        </p:spPr>
      </p:sp>
      <p:sp>
        <p:nvSpPr>
          <p:cNvPr id="4" name="Text 2"/>
          <p:cNvSpPr txBox="1"/>
          <p:nvPr/>
        </p:nvSpPr>
        <p:spPr>
          <a:xfrm>
            <a:off x="777240" y="150876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ㅓ</a:t>
            </a:r>
            <a:r>
              <a:rPr lang="en-US" sz="2000" b="1" dirty="0">
                <a:solidFill>
                  <a:srgbClr val="003478"/>
                </a:solidFill>
              </a:rPr>
              <a:t>, no </a:t>
            </a:r>
            <a:r>
              <a:rPr lang="ko-KR" altLang="en-US" sz="2000" b="1" dirty="0">
                <a:solidFill>
                  <a:srgbClr val="003478"/>
                </a:solidFill>
                <a:latin typeface="Malgun Gothic" pitchFamily="34" charset="0"/>
                <a:ea typeface="Malgun Gothic" pitchFamily="34" charset="-122"/>
                <a:cs typeface="Malgun Gothic" pitchFamily="34" charset="-120"/>
              </a:rPr>
              <a:t>ㅗ</a:t>
            </a:r>
            <a:endParaRPr lang="en-US" sz="2000" dirty="0"/>
          </a:p>
        </p:txBody>
      </p:sp>
      <p:sp>
        <p:nvSpPr>
          <p:cNvPr id="5" name="Text 3"/>
          <p:cNvSpPr txBox="1"/>
          <p:nvPr/>
        </p:nvSpPr>
        <p:spPr>
          <a:xfrm>
            <a:off x="777240" y="210312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어머니</a:t>
            </a:r>
            <a:endParaRPr lang="en-US" sz="5400" dirty="0"/>
          </a:p>
        </p:txBody>
      </p:sp>
      <p:sp>
        <p:nvSpPr>
          <p:cNvPr id="6" name="lista"/>
          <p:cNvSpPr txBox="1"/>
          <p:nvPr/>
        </p:nvSpPr>
        <p:spPr>
          <a:xfrm>
            <a:off x="731520"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Boca abierta, labios sin redondear</a:t>
            </a:r>
            <a:endParaRPr lang="en-US" sz="1800" dirty="0"/>
          </a:p>
        </p:txBody>
      </p:sp>
      <p:sp>
        <p:nvSpPr>
          <p:cNvPr id="7" name="col_1"/>
          <p:cNvSpPr/>
          <p:nvPr/>
        </p:nvSpPr>
        <p:spPr>
          <a:xfrm>
            <a:off x="4352544" y="1325880"/>
            <a:ext cx="3483864" cy="4846320"/>
          </a:xfrm>
          <a:prstGeom prst="roundRect">
            <a:avLst>
              <a:gd name="adj" fmla="val 3937"/>
            </a:avLst>
          </a:prstGeom>
          <a:solidFill>
            <a:srgbClr val="FFFFFF"/>
          </a:solidFill>
          <a:ln w="12700">
            <a:solidFill>
              <a:srgbClr val="D9D7F7"/>
            </a:solidFill>
            <a:prstDash val="solid"/>
          </a:ln>
        </p:spPr>
      </p:sp>
      <p:sp>
        <p:nvSpPr>
          <p:cNvPr id="8" name="Text 6"/>
          <p:cNvSpPr txBox="1"/>
          <p:nvPr/>
        </p:nvSpPr>
        <p:spPr>
          <a:xfrm>
            <a:off x="4581144" y="150876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ㅡ</a:t>
            </a:r>
            <a:r>
              <a:rPr lang="en-US" sz="2000" b="1" dirty="0">
                <a:solidFill>
                  <a:srgbClr val="003478"/>
                </a:solidFill>
              </a:rPr>
              <a:t>, no </a:t>
            </a:r>
            <a:r>
              <a:rPr lang="ko-KR" altLang="en-US" sz="2000" b="1" dirty="0">
                <a:solidFill>
                  <a:srgbClr val="003478"/>
                </a:solidFill>
                <a:latin typeface="Malgun Gothic" pitchFamily="34" charset="0"/>
                <a:ea typeface="Malgun Gothic" pitchFamily="34" charset="-122"/>
                <a:cs typeface="Malgun Gothic" pitchFamily="34" charset="-120"/>
              </a:rPr>
              <a:t>ㅜ</a:t>
            </a:r>
            <a:endParaRPr lang="en-US" sz="2000" dirty="0"/>
          </a:p>
        </p:txBody>
      </p:sp>
      <p:sp>
        <p:nvSpPr>
          <p:cNvPr id="9" name="Text 7"/>
          <p:cNvSpPr txBox="1"/>
          <p:nvPr/>
        </p:nvSpPr>
        <p:spPr>
          <a:xfrm>
            <a:off x="4581144" y="210312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으</a:t>
            </a:r>
            <a:endParaRPr lang="en-US" sz="5400" dirty="0"/>
          </a:p>
        </p:txBody>
      </p:sp>
      <p:sp>
        <p:nvSpPr>
          <p:cNvPr id="10" name="lista"/>
          <p:cNvSpPr txBox="1"/>
          <p:nvPr/>
        </p:nvSpPr>
        <p:spPr>
          <a:xfrm>
            <a:off x="4535424"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Sonríe</a:t>
            </a:r>
            <a:endParaRPr lang="en-US" sz="1800" dirty="0"/>
          </a:p>
        </p:txBody>
      </p:sp>
      <p:sp>
        <p:nvSpPr>
          <p:cNvPr id="11" name="col_2"/>
          <p:cNvSpPr/>
          <p:nvPr/>
        </p:nvSpPr>
        <p:spPr>
          <a:xfrm>
            <a:off x="8156448" y="1325880"/>
            <a:ext cx="3483864" cy="4846320"/>
          </a:xfrm>
          <a:prstGeom prst="roundRect">
            <a:avLst>
              <a:gd name="adj" fmla="val 3937"/>
            </a:avLst>
          </a:prstGeom>
          <a:solidFill>
            <a:srgbClr val="F1F0FE"/>
          </a:solidFill>
          <a:ln w="12700">
            <a:solidFill>
              <a:srgbClr val="D9D7F7"/>
            </a:solidFill>
            <a:prstDash val="solid"/>
          </a:ln>
        </p:spPr>
      </p:sp>
      <p:sp>
        <p:nvSpPr>
          <p:cNvPr id="12" name="Text 10"/>
          <p:cNvSpPr txBox="1"/>
          <p:nvPr/>
        </p:nvSpPr>
        <p:spPr>
          <a:xfrm>
            <a:off x="8385048" y="150876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ㄹ </a:t>
            </a:r>
            <a:r>
              <a:rPr lang="en-US" sz="2000" b="1" dirty="0">
                <a:solidFill>
                  <a:srgbClr val="003478"/>
                </a:solidFill>
              </a:rPr>
              <a:t>suave · </a:t>
            </a:r>
            <a:r>
              <a:rPr lang="ko-KR" altLang="en-US" sz="2000" b="1" dirty="0">
                <a:solidFill>
                  <a:srgbClr val="003478"/>
                </a:solidFill>
                <a:latin typeface="Malgun Gothic" pitchFamily="34" charset="0"/>
                <a:ea typeface="Malgun Gothic" pitchFamily="34" charset="-122"/>
                <a:cs typeface="Malgun Gothic" pitchFamily="34" charset="-120"/>
              </a:rPr>
              <a:t>ㅈ </a:t>
            </a:r>
            <a:r>
              <a:rPr lang="en-US" sz="2000" b="1" dirty="0">
                <a:solidFill>
                  <a:srgbClr val="003478"/>
                </a:solidFill>
              </a:rPr>
              <a:t>sin jota</a:t>
            </a:r>
            <a:endParaRPr lang="en-US" sz="2000" dirty="0"/>
          </a:p>
        </p:txBody>
      </p:sp>
      <p:sp>
        <p:nvSpPr>
          <p:cNvPr id="13" name="Text 11"/>
          <p:cNvSpPr txBox="1"/>
          <p:nvPr/>
        </p:nvSpPr>
        <p:spPr>
          <a:xfrm>
            <a:off x="8385048" y="2103120"/>
            <a:ext cx="3026664" cy="914400"/>
          </a:xfrm>
          <a:prstGeom prst="rect">
            <a:avLst/>
          </a:prstGeom>
          <a:noFill/>
          <a:ln/>
        </p:spPr>
        <p:txBody>
          <a:bodyPr wrap="square" lIns="0" tIns="0" rIns="0" bIns="0" rtlCol="0" anchor="ctr">
            <a:normAutofit/>
          </a:bodyPr>
          <a:lstStyle/>
          <a:p>
            <a:pPr marL="0" indent="0" eaLnBrk="1">
              <a:buNone/>
            </a:pPr>
            <a:r>
              <a:rPr lang="ko-KR" altLang="en-US" sz="3400" b="1" dirty="0">
                <a:solidFill>
                  <a:srgbClr val="4236F6"/>
                </a:solidFill>
                <a:latin typeface="Malgun Gothic" pitchFamily="34" charset="0"/>
                <a:ea typeface="Malgun Gothic" pitchFamily="34" charset="-122"/>
                <a:cs typeface="Malgun Gothic" pitchFamily="34" charset="-120"/>
              </a:rPr>
              <a:t>머리 </a:t>
            </a:r>
            <a:r>
              <a:rPr lang="en-US" sz="3400" b="1" dirty="0">
                <a:solidFill>
                  <a:srgbClr val="4236F6"/>
                </a:solidFill>
              </a:rPr>
              <a:t>· </a:t>
            </a:r>
            <a:r>
              <a:rPr lang="ko-KR" altLang="en-US" sz="3400" b="1" dirty="0">
                <a:solidFill>
                  <a:srgbClr val="4236F6"/>
                </a:solidFill>
                <a:latin typeface="Malgun Gothic" pitchFamily="34" charset="0"/>
                <a:ea typeface="Malgun Gothic" pitchFamily="34" charset="-122"/>
                <a:cs typeface="Malgun Gothic" pitchFamily="34" charset="-120"/>
              </a:rPr>
              <a:t>아버지</a:t>
            </a:r>
            <a:endParaRPr lang="en-US" sz="3400" dirty="0"/>
          </a:p>
        </p:txBody>
      </p:sp>
      <p:sp>
        <p:nvSpPr>
          <p:cNvPr id="14" name="lista"/>
          <p:cNvSpPr txBox="1"/>
          <p:nvPr/>
        </p:nvSpPr>
        <p:spPr>
          <a:xfrm>
            <a:off x="8339328" y="3108960"/>
            <a:ext cx="3118104" cy="292608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ㄹ</a:t>
            </a:r>
            <a:r>
              <a:rPr lang="en-US" sz="1800" dirty="0">
                <a:solidFill>
                  <a:srgbClr val="14142B"/>
                </a:solidFill>
              </a:rPr>
              <a:t>: la r de "pero"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ㅈ</a:t>
            </a:r>
            <a:r>
              <a:rPr lang="en-US" sz="1800" dirty="0">
                <a:solidFill>
                  <a:srgbClr val="14142B"/>
                </a:solidFill>
              </a:rPr>
              <a:t>: ch suave, nunca jota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3 frases de hoy</a:t>
            </a:r>
            <a:r>
              <a:rPr lang="en-US" sz="1500" b="1" i="1" dirty="0">
                <a:solidFill>
                  <a:srgbClr val="8A8DA0"/>
                </a:solidFill>
              </a:rPr>
              <a:t>   Today's 3 key phrases</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아</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어</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오</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우</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으</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이</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나무 </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바다 </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우유</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어머니 </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아버지</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Tarea (≈ 30 min)</a:t>
            </a:r>
            <a:r>
              <a:rPr lang="en-US" sz="1500" b="1" i="1" dirty="0">
                <a:solidFill>
                  <a:srgbClr val="8A8DA0"/>
                </a:solidFill>
              </a:rPr>
              <a:t>   Homework (about 30 min)</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Antes de tu clase 2 · mar 27 / jue 29 oct, 20:00 (hora de Chile) · todo en el grupo de WhatsApp</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1 · Lector (10 min): Alfabeto + Aprender 1, 2, 3 y 5</a:t>
            </a:r>
            <a:endParaRPr lang="en-US" sz="1800" dirty="0"/>
          </a:p>
          <a:p>
            <a:pPr marL="228600" indent="-228600" eaLnBrk="1">
              <a:spcAft>
                <a:spcPts val="800"/>
              </a:spcAft>
              <a:buSzPct val="100000"/>
              <a:buChar char="•"/>
            </a:pPr>
            <a:r>
              <a:rPr lang="en-US" sz="1800" dirty="0">
                <a:solidFill>
                  <a:srgbClr val="14142B"/>
                </a:solidFill>
              </a:rPr>
              <a:t>Practicar → Vocales, 3 rondas seguidas, y Consonantes, 3 rondas · captura de Progreso</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2 · Hoja 가나다라 </a:t>
            </a:r>
            <a:r>
              <a:rPr lang="en-US" sz="1800" dirty="0">
                <a:solidFill>
                  <a:srgbClr val="14142B"/>
                </a:solidFill>
              </a:rPr>
              <a:t>I (15 min): las 10 vocales y las 14 consonantes, 5 veces cada una</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Tu nombre en 한글 </a:t>
            </a:r>
            <a:r>
              <a:rPr lang="en-US" sz="1800" dirty="0">
                <a:solidFill>
                  <a:srgbClr val="14142B"/>
                </a:solidFill>
              </a:rPr>
              <a:t>en la hoja (foto) y tipeado en el grupo con el teclado coreano</a:t>
            </a:r>
            <a:endParaRPr lang="en-US" sz="1800" dirty="0"/>
          </a:p>
          <a:p>
            <a:pPr marL="228600" indent="-228600" eaLnBrk="1">
              <a:spcAft>
                <a:spcPts val="800"/>
              </a:spcAft>
              <a:buSzPct val="100000"/>
              <a:buChar char="•"/>
            </a:pPr>
            <a:r>
              <a:rPr lang="en-US" sz="1800" dirty="0">
                <a:solidFill>
                  <a:srgbClr val="14142B"/>
                </a:solidFill>
              </a:rPr>
              <a:t>3 · Audio base de 30 s (5 min): las 6 vocales + las 12 palabras · ¡guárdalo!</a:t>
            </a:r>
            <a:endParaRPr lang="en-US" sz="1800" dirty="0"/>
          </a:p>
          <a:p>
            <a:pPr marL="228600" indent="-228600" eaLnBrk="1">
              <a:spcAft>
                <a:spcPts val="800"/>
              </a:spcAft>
              <a:buSzPct val="100000"/>
              <a:buChar char="•"/>
            </a:pPr>
            <a:r>
              <a:rPr lang="en-US" sz="1800" dirty="0">
                <a:solidFill>
                  <a:srgbClr val="14142B"/>
                </a:solidFill>
              </a:rPr>
              <a:t>Extra: Dubu, barrios Bukchon e Insadong · la clase 2 abre con un quiz de 5 preguntas</a:t>
            </a:r>
            <a:endParaRPr lang="en-US" sz="1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Tu nombre en 한글 </a:t>
            </a:r>
            <a:r>
              <a:rPr lang="en-US" sz="3000" b="1" dirty="0">
                <a:solidFill>
                  <a:srgbClr val="003478"/>
                </a:solidFill>
              </a:rPr>
              <a:t>(1)</a:t>
            </a:r>
            <a:r>
              <a:rPr lang="en-US" sz="1500" b="1" i="1" dirty="0">
                <a:solidFill>
                  <a:srgbClr val="8A8DA0"/>
                </a:solidFill>
              </a:rPr>
              <a:t>   Your name in Hangul (1)</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escribe según cómo suena, no letra por letra</a:t>
            </a:r>
            <a:endParaRPr lang="en-US" sz="1800" dirty="0"/>
          </a:p>
        </p:txBody>
      </p:sp>
      <p:graphicFrame>
        <p:nvGraphicFramePr>
          <p:cNvPr id="29" name="tabla"/>
          <p:cNvGraphicFramePr>
            <a:graphicFrameLocks noGrp="1"/>
          </p:cNvGraphicFramePr>
          <p:nvPr>
            <p:extLst>
              <p:ext uri="{D42A27DB-BD31-4B8C-83A1-F6EECF244321}">
                <p14:modId xmlns:p14="http://schemas.microsoft.com/office/powerpoint/2010/main" val="190149344"/>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477520">
                <a:tc>
                  <a:txBody>
                    <a:bodyPr/>
                    <a:lstStyle/>
                    <a:p>
                      <a:pPr marL="0" indent="0" eaLnBrk="1">
                        <a:buNone/>
                      </a:pPr>
                      <a:r>
                        <a:rPr lang="en-US" sz="1600" b="1" dirty="0">
                          <a:solidFill>
                            <a:srgbClr val="FFFFFF"/>
                          </a:solidFill>
                        </a:rPr>
                        <a:t>En tu nombre…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En 한글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Ejemplo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477520">
                <a:tc>
                  <a:txBody>
                    <a:bodyPr/>
                    <a:lstStyle/>
                    <a:p>
                      <a:pPr marL="0" indent="0" eaLnBrk="1">
                        <a:buNone/>
                      </a:pPr>
                      <a:r>
                        <a:rPr lang="en-US" sz="1600" dirty="0">
                          <a:solidFill>
                            <a:srgbClr val="14142B"/>
                          </a:solidFill>
                        </a:rPr>
                        <a:t>a · e · i · o · u</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ㅏ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ㅔ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ㅣ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ㅗ </a:t>
                      </a:r>
                      <a:r>
                        <a:rPr lang="en-US" sz="1600" dirty="0">
                          <a:solidFill>
                            <a:srgbClr val="14142B"/>
                          </a:solidFill>
                        </a:rPr>
                        <a:t>· </a:t>
                      </a:r>
                      <a:r>
                        <a:rPr lang="ko-KR" altLang="en-US" sz="1600" dirty="0">
                          <a:solidFill>
                            <a:srgbClr val="14142B"/>
                          </a:solidFill>
                          <a:latin typeface="Malgun Gothic" pitchFamily="34" charset="0"/>
                          <a:ea typeface="Malgun Gothic" pitchFamily="34" charset="-122"/>
                          <a:cs typeface="Malgun Gothic" pitchFamily="34" charset="-120"/>
                        </a:rPr>
                        <a:t>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Ana 아나 </a:t>
                      </a:r>
                      <a:r>
                        <a:rPr lang="en-US" sz="1600" dirty="0">
                          <a:solidFill>
                            <a:srgbClr val="14142B"/>
                          </a:solidFill>
                        </a:rPr>
                        <a:t>· Emilia </a:t>
                      </a:r>
                      <a:r>
                        <a:rPr lang="ko-KR" altLang="en-US" sz="1600" dirty="0">
                          <a:solidFill>
                            <a:srgbClr val="14142B"/>
                          </a:solidFill>
                          <a:latin typeface="Malgun Gothic" pitchFamily="34" charset="0"/>
                          <a:ea typeface="Malgun Gothic" pitchFamily="34" charset="-122"/>
                          <a:cs typeface="Malgun Gothic" pitchFamily="34" charset="-120"/>
                        </a:rPr>
                        <a:t>에밀리아</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477520">
                <a:tc>
                  <a:txBody>
                    <a:bodyPr/>
                    <a:lstStyle/>
                    <a:p>
                      <a:pPr marL="0" indent="0" eaLnBrk="1">
                        <a:buNone/>
                      </a:pPr>
                      <a:r>
                        <a:rPr lang="en-US" sz="1600" dirty="0">
                          <a:solidFill>
                            <a:srgbClr val="14142B"/>
                          </a:solidFill>
                        </a:rPr>
                        <a:t>b, v</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ㅂ</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Valentina 발렌티나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520">
                <a:tc>
                  <a:txBody>
                    <a:bodyPr/>
                    <a:lstStyle/>
                    <a:p>
                      <a:pPr marL="0" indent="0" eaLnBrk="1">
                        <a:buNone/>
                      </a:pPr>
                      <a:r>
                        <a:rPr lang="en-US" sz="1600" dirty="0">
                          <a:solidFill>
                            <a:srgbClr val="14142B"/>
                          </a:solidFill>
                        </a:rPr>
                        <a:t>ca, co, cu, qu, k</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ㅋ</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Carolina 카롤리나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477520">
                <a:tc>
                  <a:txBody>
                    <a:bodyPr/>
                    <a:lstStyle/>
                    <a:p>
                      <a:pPr marL="0" indent="0" eaLnBrk="1">
                        <a:buNone/>
                      </a:pPr>
                      <a:r>
                        <a:rPr lang="en-US" sz="1600" dirty="0">
                          <a:solidFill>
                            <a:srgbClr val="14142B"/>
                          </a:solidFill>
                        </a:rPr>
                        <a:t>ce, ci, s, z</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Lucía 루시아 </a:t>
                      </a:r>
                      <a:r>
                        <a:rPr lang="en-US" sz="1600" dirty="0">
                          <a:solidFill>
                            <a:srgbClr val="14142B"/>
                          </a:solidFill>
                        </a:rPr>
                        <a:t>· Constanza </a:t>
                      </a:r>
                      <a:r>
                        <a:rPr lang="ko-KR" altLang="en-US" sz="1600" dirty="0">
                          <a:solidFill>
                            <a:srgbClr val="14142B"/>
                          </a:solidFill>
                          <a:latin typeface="Malgun Gothic" pitchFamily="34" charset="0"/>
                          <a:ea typeface="Malgun Gothic" pitchFamily="34" charset="-122"/>
                          <a:cs typeface="Malgun Gothic" pitchFamily="34" charset="-120"/>
                        </a:rPr>
                        <a:t>콘스탄사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7520">
                <a:tc>
                  <a:txBody>
                    <a:bodyPr/>
                    <a:lstStyle/>
                    <a:p>
                      <a:pPr marL="0" indent="0" eaLnBrk="1">
                        <a:buNone/>
                      </a:pPr>
                      <a:r>
                        <a:rPr lang="en-US" sz="1600" dirty="0">
                          <a:solidFill>
                            <a:srgbClr val="14142B"/>
                          </a:solidFill>
                        </a:rPr>
                        <a:t>ch</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ㅊ</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Nacho 나초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477520">
                <a:tc>
                  <a:txBody>
                    <a:bodyPr/>
                    <a:lstStyle/>
                    <a:p>
                      <a:pPr marL="0" indent="0" eaLnBrk="1">
                        <a:buNone/>
                      </a:pPr>
                      <a:r>
                        <a:rPr lang="en-US" sz="1600" dirty="0">
                          <a:solidFill>
                            <a:srgbClr val="14142B"/>
                          </a:solidFill>
                        </a:rPr>
                        <a:t>d</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ㄷ</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Diego 디에고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7520">
                <a:tc>
                  <a:txBody>
                    <a:bodyPr/>
                    <a:lstStyle/>
                    <a:p>
                      <a:pPr marL="0" indent="0" eaLnBrk="1">
                        <a:buNone/>
                      </a:pPr>
                      <a:r>
                        <a:rPr lang="en-US" sz="1600" dirty="0">
                          <a:solidFill>
                            <a:srgbClr val="14142B"/>
                          </a:solidFill>
                        </a:rPr>
                        <a:t>f</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ㅍ</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Sofía 소피아</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477520">
                <a:tc>
                  <a:txBody>
                    <a:bodyPr/>
                    <a:lstStyle/>
                    <a:p>
                      <a:pPr marL="0" indent="0" eaLnBrk="1">
                        <a:buNone/>
                      </a:pPr>
                      <a:r>
                        <a:rPr lang="en-US" sz="1600" dirty="0">
                          <a:solidFill>
                            <a:srgbClr val="14142B"/>
                          </a:solidFill>
                        </a:rPr>
                        <a:t>ga, go, gu, gue, gui</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ㄱ</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Gabriela 가브리엘라 </a:t>
                      </a:r>
                      <a:r>
                        <a:rPr lang="en-US" sz="1600" dirty="0">
                          <a:solidFill>
                            <a:srgbClr val="14142B"/>
                          </a:solidFill>
                        </a:rPr>
                        <a:t>· Miguel </a:t>
                      </a:r>
                      <a:r>
                        <a:rPr lang="ko-KR" altLang="en-US" sz="1600" dirty="0">
                          <a:solidFill>
                            <a:srgbClr val="14142B"/>
                          </a:solidFill>
                          <a:latin typeface="Malgun Gothic" pitchFamily="34" charset="0"/>
                          <a:ea typeface="Malgun Gothic" pitchFamily="34" charset="-122"/>
                          <a:cs typeface="Malgun Gothic" pitchFamily="34" charset="-120"/>
                        </a:rPr>
                        <a:t>미겔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Tu nombre en 한글 </a:t>
            </a:r>
            <a:r>
              <a:rPr lang="en-US" sz="3000" b="1" dirty="0">
                <a:solidFill>
                  <a:srgbClr val="003478"/>
                </a:solidFill>
              </a:rPr>
              <a:t>(2)</a:t>
            </a:r>
            <a:r>
              <a:rPr lang="en-US" sz="1500" b="1" i="1" dirty="0">
                <a:solidFill>
                  <a:srgbClr val="8A8DA0"/>
                </a:solidFill>
              </a:rPr>
              <a:t>   Your name in Hangul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Y tu profe: Kiran = 기란 </a:t>
            </a:r>
            <a:r>
              <a:rPr lang="en-US" sz="1800" i="1" dirty="0">
                <a:solidFill>
                  <a:srgbClr val="4236F6"/>
                </a:solidFill>
              </a:rPr>
              <a:t>(su nombre es coreano: empieza con </a:t>
            </a:r>
            <a:r>
              <a:rPr lang="ko-KR" altLang="en-US" sz="1800" i="1" dirty="0">
                <a:solidFill>
                  <a:srgbClr val="4236F6"/>
                </a:solidFill>
                <a:latin typeface="Malgun Gothic" pitchFamily="34" charset="0"/>
                <a:ea typeface="Malgun Gothic" pitchFamily="34" charset="-122"/>
                <a:cs typeface="Malgun Gothic" pitchFamily="34" charset="-120"/>
              </a:rPr>
              <a:t>ㄱ</a:t>
            </a:r>
            <a:r>
              <a:rPr lang="en-US" sz="1800" i="1" dirty="0">
                <a:solidFill>
                  <a:srgbClr val="4236F6"/>
                </a:solidFill>
              </a:rPr>
              <a:t>, no con </a:t>
            </a:r>
            <a:r>
              <a:rPr lang="ko-KR" altLang="en-US" sz="1800" i="1" dirty="0">
                <a:solidFill>
                  <a:srgbClr val="4236F6"/>
                </a:solidFill>
                <a:latin typeface="Malgun Gothic" pitchFamily="34" charset="0"/>
                <a:ea typeface="Malgun Gothic" pitchFamily="34" charset="-122"/>
                <a:cs typeface="Malgun Gothic" pitchFamily="34" charset="-120"/>
              </a:rPr>
              <a:t>ㅋ</a:t>
            </a:r>
            <a:r>
              <a:rPr lang="en-US" sz="1800" i="1" dirty="0">
                <a:solidFill>
                  <a:srgbClr val="4236F6"/>
                </a:solidFill>
              </a:rPr>
              <a:t>)</a:t>
            </a:r>
            <a:endParaRPr lang="en-US" sz="1800" dirty="0"/>
          </a:p>
        </p:txBody>
      </p:sp>
      <p:graphicFrame>
        <p:nvGraphicFramePr>
          <p:cNvPr id="30" name="tabla"/>
          <p:cNvGraphicFramePr>
            <a:graphicFrameLocks noGrp="1"/>
          </p:cNvGraphicFramePr>
          <p:nvPr>
            <p:extLst>
              <p:ext uri="{D42A27DB-BD31-4B8C-83A1-F6EECF244321}">
                <p14:modId xmlns:p14="http://schemas.microsoft.com/office/powerpoint/2010/main" val="4257677566"/>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0">
                <a:tc>
                  <a:txBody>
                    <a:bodyPr/>
                    <a:lstStyle/>
                    <a:p>
                      <a:pPr marL="0" indent="0" eaLnBrk="1">
                        <a:buNone/>
                      </a:pPr>
                      <a:r>
                        <a:rPr lang="en-US" sz="1500" b="1" dirty="0">
                          <a:solidFill>
                            <a:srgbClr val="FFFFFF"/>
                          </a:solidFill>
                        </a:rPr>
                        <a:t>En tu nombre…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500" b="1" dirty="0">
                          <a:solidFill>
                            <a:srgbClr val="FFFFFF"/>
                          </a:solidFill>
                          <a:latin typeface="Malgun Gothic" pitchFamily="34" charset="0"/>
                          <a:ea typeface="Malgun Gothic" pitchFamily="34" charset="-122"/>
                          <a:cs typeface="Malgun Gothic" pitchFamily="34" charset="-120"/>
                        </a:rPr>
                        <a:t>En 한글</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Ejemplo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0">
                <a:tc>
                  <a:txBody>
                    <a:bodyPr/>
                    <a:lstStyle/>
                    <a:p>
                      <a:pPr marL="0" indent="0" eaLnBrk="1">
                        <a:buNone/>
                      </a:pPr>
                      <a:r>
                        <a:rPr lang="en-US" sz="1500" dirty="0">
                          <a:solidFill>
                            <a:srgbClr val="14142B"/>
                          </a:solidFill>
                        </a:rPr>
                        <a:t>j, ge, gi</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ㅎ</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José 호세 </a:t>
                      </a:r>
                      <a:r>
                        <a:rPr lang="en-US" sz="1500" dirty="0">
                          <a:solidFill>
                            <a:srgbClr val="14142B"/>
                          </a:solidFill>
                        </a:rPr>
                        <a:t>· Jorge </a:t>
                      </a:r>
                      <a:r>
                        <a:rPr lang="ko-KR" altLang="en-US" sz="1500" dirty="0">
                          <a:solidFill>
                            <a:srgbClr val="14142B"/>
                          </a:solidFill>
                          <a:latin typeface="Malgun Gothic" pitchFamily="34" charset="0"/>
                          <a:ea typeface="Malgun Gothic" pitchFamily="34" charset="-122"/>
                          <a:cs typeface="Malgun Gothic" pitchFamily="34" charset="-120"/>
                        </a:rPr>
                        <a:t>호르헤</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0">
                <a:tc>
                  <a:txBody>
                    <a:bodyPr/>
                    <a:lstStyle/>
                    <a:p>
                      <a:pPr marL="0" indent="0" eaLnBrk="1">
                        <a:buNone/>
                      </a:pPr>
                      <a:r>
                        <a:rPr lang="en-US" sz="1500" dirty="0">
                          <a:solidFill>
                            <a:srgbClr val="14142B"/>
                          </a:solidFill>
                        </a:rPr>
                        <a:t>h</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no se escribe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Hugo 우고</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eaLnBrk="1">
                        <a:buNone/>
                      </a:pPr>
                      <a:r>
                        <a:rPr lang="en-US" sz="1500" dirty="0">
                          <a:solidFill>
                            <a:srgbClr val="14142B"/>
                          </a:solidFill>
                        </a:rPr>
                        <a:t>l, r</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ㄹ</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Laura 라우라 </a:t>
                      </a:r>
                      <a:r>
                        <a:rPr lang="en-US" sz="1500" dirty="0">
                          <a:solidFill>
                            <a:srgbClr val="14142B"/>
                          </a:solidFill>
                        </a:rPr>
                        <a:t>· Rosa </a:t>
                      </a:r>
                      <a:r>
                        <a:rPr lang="ko-KR" altLang="en-US" sz="1500" dirty="0">
                          <a:solidFill>
                            <a:srgbClr val="14142B"/>
                          </a:solidFill>
                          <a:latin typeface="Malgun Gothic" pitchFamily="34" charset="0"/>
                          <a:ea typeface="Malgun Gothic" pitchFamily="34" charset="-122"/>
                          <a:cs typeface="Malgun Gothic" pitchFamily="34" charset="-120"/>
                        </a:rPr>
                        <a:t>로사</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0">
                <a:tc>
                  <a:txBody>
                    <a:bodyPr/>
                    <a:lstStyle/>
                    <a:p>
                      <a:pPr marL="0" indent="0" eaLnBrk="1">
                        <a:buNone/>
                      </a:pPr>
                      <a:r>
                        <a:rPr lang="en-US" sz="1500" dirty="0">
                          <a:solidFill>
                            <a:srgbClr val="14142B"/>
                          </a:solidFill>
                        </a:rPr>
                        <a:t>m · 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ㅁ </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ㄴ</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Mateo 마테오 </a:t>
                      </a:r>
                      <a:r>
                        <a:rPr lang="en-US" sz="1500" dirty="0">
                          <a:solidFill>
                            <a:srgbClr val="14142B"/>
                          </a:solidFill>
                        </a:rPr>
                        <a:t>· Natalia </a:t>
                      </a:r>
                      <a:r>
                        <a:rPr lang="ko-KR" altLang="en-US" sz="1500" dirty="0">
                          <a:solidFill>
                            <a:srgbClr val="14142B"/>
                          </a:solidFill>
                          <a:latin typeface="Malgun Gothic" pitchFamily="34" charset="0"/>
                          <a:ea typeface="Malgun Gothic" pitchFamily="34" charset="-122"/>
                          <a:cs typeface="Malgun Gothic" pitchFamily="34" charset="-120"/>
                        </a:rPr>
                        <a:t>나탈리아</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eaLnBrk="1">
                        <a:buNone/>
                      </a:pPr>
                      <a:r>
                        <a:rPr lang="en-US" sz="1500" dirty="0">
                          <a:solidFill>
                            <a:srgbClr val="14142B"/>
                          </a:solidFill>
                        </a:rPr>
                        <a:t>p · 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ㅍ </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ㅌ</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Paula 파울라 </a:t>
                      </a:r>
                      <a:r>
                        <a:rPr lang="en-US" sz="1500" dirty="0">
                          <a:solidFill>
                            <a:srgbClr val="14142B"/>
                          </a:solidFill>
                        </a:rPr>
                        <a:t>· Tomás </a:t>
                      </a:r>
                      <a:r>
                        <a:rPr lang="ko-KR" altLang="en-US" sz="1500" dirty="0">
                          <a:solidFill>
                            <a:srgbClr val="14142B"/>
                          </a:solidFill>
                          <a:latin typeface="Malgun Gothic" pitchFamily="34" charset="0"/>
                          <a:ea typeface="Malgun Gothic" pitchFamily="34" charset="-122"/>
                          <a:cs typeface="Malgun Gothic" pitchFamily="34" charset="-120"/>
                        </a:rPr>
                        <a:t>토마스</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0">
                <a:tc>
                  <a:txBody>
                    <a:bodyPr/>
                    <a:lstStyle/>
                    <a:p>
                      <a:pPr marL="0" indent="0" eaLnBrk="1">
                        <a:buNone/>
                      </a:pPr>
                      <a:r>
                        <a:rPr lang="en-US" sz="1500" dirty="0">
                          <a:solidFill>
                            <a:srgbClr val="14142B"/>
                          </a:solidFill>
                        </a:rPr>
                        <a:t>n, m o l sin vocal detrás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van abajo, en el mismo cuadrado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Juan 후안 </a:t>
                      </a:r>
                      <a:r>
                        <a:rPr lang="en-US" sz="1500" dirty="0">
                          <a:solidFill>
                            <a:srgbClr val="14142B"/>
                          </a:solidFill>
                        </a:rPr>
                        <a:t>· Daniel </a:t>
                      </a:r>
                      <a:r>
                        <a:rPr lang="ko-KR" altLang="en-US" sz="1500" dirty="0">
                          <a:solidFill>
                            <a:srgbClr val="14142B"/>
                          </a:solidFill>
                          <a:latin typeface="Malgun Gothic" pitchFamily="34" charset="0"/>
                          <a:ea typeface="Malgun Gothic" pitchFamily="34" charset="-122"/>
                          <a:cs typeface="Malgun Gothic" pitchFamily="34" charset="-120"/>
                        </a:rPr>
                        <a:t>다니엘 </a:t>
                      </a:r>
                      <a:r>
                        <a:rPr lang="en-US" sz="1500" dirty="0">
                          <a:solidFill>
                            <a:srgbClr val="14142B"/>
                          </a:solidFill>
                        </a:rPr>
                        <a:t>· Fernanda </a:t>
                      </a:r>
                      <a:r>
                        <a:rPr lang="ko-KR" altLang="en-US" sz="1500" dirty="0">
                          <a:solidFill>
                            <a:srgbClr val="14142B"/>
                          </a:solidFill>
                          <a:latin typeface="Malgun Gothic" pitchFamily="34" charset="0"/>
                          <a:ea typeface="Malgun Gothic" pitchFamily="34" charset="-122"/>
                          <a:cs typeface="Malgun Gothic" pitchFamily="34" charset="-120"/>
                        </a:rPr>
                        <a:t>페르난다</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eaLnBrk="1">
                        <a:buNone/>
                      </a:pPr>
                      <a:r>
                        <a:rPr lang="en-US" sz="1500" dirty="0">
                          <a:solidFill>
                            <a:srgbClr val="14142B"/>
                          </a:solidFill>
                        </a:rPr>
                        <a:t>otra consonante sin vocal detrás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se le agrega ㅡ</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Pablo 파블로 </a:t>
                      </a:r>
                      <a:r>
                        <a:rPr lang="en-US" sz="1500" dirty="0">
                          <a:solidFill>
                            <a:srgbClr val="14142B"/>
                          </a:solidFill>
                        </a:rPr>
                        <a:t>· Andrés </a:t>
                      </a:r>
                      <a:r>
                        <a:rPr lang="ko-KR" altLang="en-US" sz="1500" dirty="0">
                          <a:solidFill>
                            <a:srgbClr val="14142B"/>
                          </a:solidFill>
                          <a:latin typeface="Malgun Gothic" pitchFamily="34" charset="0"/>
                          <a:ea typeface="Malgun Gothic" pitchFamily="34" charset="-122"/>
                          <a:cs typeface="Malgun Gothic" pitchFamily="34" charset="-120"/>
                        </a:rPr>
                        <a:t>안드레스 </a:t>
                      </a:r>
                      <a:r>
                        <a:rPr lang="en-US" sz="1500" dirty="0">
                          <a:solidFill>
                            <a:srgbClr val="14142B"/>
                          </a:solidFill>
                        </a:rPr>
                        <a:t>· Javier </a:t>
                      </a:r>
                      <a:r>
                        <a:rPr lang="ko-KR" altLang="en-US" sz="1500" dirty="0">
                          <a:solidFill>
                            <a:srgbClr val="14142B"/>
                          </a:solidFill>
                          <a:latin typeface="Malgun Gothic" pitchFamily="34" charset="0"/>
                          <a:ea typeface="Malgun Gothic" pitchFamily="34" charset="-122"/>
                          <a:cs typeface="Malgun Gothic" pitchFamily="34" charset="-120"/>
                        </a:rPr>
                        <a:t>하비에르</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0">
                <a:tc>
                  <a:txBody>
                    <a:bodyPr/>
                    <a:lstStyle/>
                    <a:p>
                      <a:pPr marL="0" indent="0" eaLnBrk="1">
                        <a:buNone/>
                      </a:pPr>
                      <a:r>
                        <a:rPr lang="en-US" sz="1500" dirty="0">
                          <a:solidFill>
                            <a:srgbClr val="14142B"/>
                          </a:solidFill>
                        </a:rPr>
                        <a:t>l en medio de la palabra, antes de vocal</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ㄹㄹ</a:t>
                      </a:r>
                      <a:r>
                        <a:rPr lang="en-US" sz="1500" dirty="0">
                          <a:solidFill>
                            <a:srgbClr val="14142B"/>
                          </a:solidFill>
                        </a:rPr>
                        <a:t>: una abajo y otra adelante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Camila 카밀라 </a:t>
                      </a:r>
                      <a:r>
                        <a:rPr lang="en-US" sz="1500" dirty="0">
                          <a:solidFill>
                            <a:srgbClr val="14142B"/>
                          </a:solidFill>
                        </a:rPr>
                        <a:t>· Carlos </a:t>
                      </a:r>
                      <a:r>
                        <a:rPr lang="ko-KR" altLang="en-US" sz="1500" dirty="0">
                          <a:solidFill>
                            <a:srgbClr val="14142B"/>
                          </a:solidFill>
                          <a:latin typeface="Malgun Gothic" pitchFamily="34" charset="0"/>
                          <a:ea typeface="Malgun Gothic" pitchFamily="34" charset="-122"/>
                          <a:cs typeface="Malgun Gothic" pitchFamily="34" charset="-120"/>
                        </a:rPr>
                        <a:t>카를로스</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¿Y la línea gris?</a:t>
            </a:r>
            <a:r>
              <a:rPr lang="en-US" sz="1500" b="1" i="1" dirty="0">
                <a:solidFill>
                  <a:srgbClr val="8A8DA0"/>
                </a:solidFill>
              </a:rPr>
              <a:t>   And the grey line?</a:t>
            </a:r>
            <a:endParaRPr lang="en-US" sz="3000" dirty="0"/>
          </a:p>
        </p:txBody>
      </p:sp>
      <p:sp>
        <p:nvSpPr>
          <p:cNvPr id="3" name="lista"/>
          <p:cNvSpPr txBox="1"/>
          <p:nvPr/>
        </p:nvSpPr>
        <p:spPr>
          <a:xfrm>
            <a:off x="548640" y="1325880"/>
            <a:ext cx="6949440" cy="484632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800" dirty="0">
                <a:solidFill>
                  <a:srgbClr val="14142B"/>
                </a:solidFill>
              </a:rPr>
              <a:t>Semanas 1 y 2: sí, después del audio</a:t>
            </a:r>
            <a:endParaRPr lang="en-US" sz="2800" dirty="0"/>
          </a:p>
          <a:p>
            <a:pPr marL="228600" indent="-228600" eaLnBrk="1">
              <a:spcAft>
                <a:spcPts val="800"/>
              </a:spcAft>
              <a:buSzPct val="100000"/>
              <a:buChar char="•"/>
            </a:pPr>
            <a:r>
              <a:rPr lang="en-US" sz="2800" dirty="0">
                <a:solidFill>
                  <a:srgbClr val="14142B"/>
                </a:solidFill>
              </a:rPr>
              <a:t>Semanas 3 y 4: solo si la pides</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Desde la semana 5: solo 한글</a:t>
            </a:r>
            <a:endParaRPr lang="en-US" sz="2800" dirty="0"/>
          </a:p>
          <a:p>
            <a:pPr marL="228600" indent="-228600" eaLnBrk="1">
              <a:spcAft>
                <a:spcPts val="800"/>
              </a:spcAft>
              <a:buSzPct val="100000"/>
              <a:buChar char="•"/>
            </a:pPr>
            <a:r>
              <a:rPr lang="en-US" sz="2800" dirty="0">
                <a:solidFill>
                  <a:srgbClr val="14142B"/>
                </a:solidFill>
              </a:rPr>
              <a:t>Truco: tapa la línea con el dedo y mira si puedes leer sin ella</a:t>
            </a:r>
            <a:endParaRPr lang="en-US" sz="2800" dirty="0"/>
          </a:p>
        </p:txBody>
      </p:sp>
      <p:sp>
        <p:nvSpPr>
          <p:cNvPr id="4"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5"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a:t>
            </a:r>
            <a:r>
              <a:rPr lang="ko-KR" altLang="en-US" sz="3000" b="1" dirty="0">
                <a:solidFill>
                  <a:srgbClr val="FFFFFF"/>
                </a:solidFill>
                <a:latin typeface="Malgun Gothic" pitchFamily="34" charset="0"/>
                <a:ea typeface="Malgun Gothic" pitchFamily="34" charset="-122"/>
                <a:cs typeface="Malgun Gothic" pitchFamily="34" charset="-120"/>
              </a:rPr>
              <a:t>화이팅</a:t>
            </a:r>
            <a:r>
              <a:rPr lang="en-US" sz="3000" b="1" dirty="0">
                <a:solidFill>
                  <a:srgbClr val="FFFFFF"/>
                </a:solidFill>
              </a:rPr>
              <a:t>!  ¡Gracias! ¡Ánimo!</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감사합니다 </a:t>
            </a:r>
            <a:r>
              <a:rPr lang="en-US" sz="2200" dirty="0">
                <a:solidFill>
                  <a:srgbClr val="FFFFFF"/>
                </a:solidFill>
              </a:rPr>
              <a:t>= gracias</a:t>
            </a:r>
            <a:endParaRPr lang="en-US" sz="2200" dirty="0"/>
          </a:p>
          <a:p>
            <a:pPr marL="0" indent="0" algn="ctr" eaLnBrk="1">
              <a:buNone/>
            </a:pPr>
            <a:r>
              <a:rPr lang="ko-KR" altLang="en-US" sz="2200" dirty="0">
                <a:solidFill>
                  <a:srgbClr val="FFFFFF"/>
                </a:solidFill>
                <a:latin typeface="Malgun Gothic" pitchFamily="34" charset="0"/>
                <a:ea typeface="Malgun Gothic" pitchFamily="34" charset="-122"/>
                <a:cs typeface="Malgun Gothic" pitchFamily="34" charset="-120"/>
              </a:rPr>
              <a:t>화이팅 </a:t>
            </a:r>
            <a:r>
              <a:rPr lang="en-US" sz="2200" dirty="0">
                <a:solidFill>
                  <a:srgbClr val="FFFFFF"/>
                </a:solidFill>
              </a:rPr>
              <a:t>= ¡ánimo!</a:t>
            </a:r>
            <a:endParaRPr lang="en-US" sz="2200" dirty="0"/>
          </a:p>
          <a:p>
            <a:pPr marL="0" indent="0" algn="ctr" eaLnBrk="1">
              <a:buNone/>
            </a:pPr>
            <a:r>
              <a:rPr lang="en-US" sz="2200" dirty="0">
                <a:solidFill>
                  <a:srgbClr val="FFFFFF"/>
                </a:solidFill>
              </a:rPr>
              <a:t>Nos vemos en la clase 2</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Extra · el 가갸거겨 </a:t>
            </a:r>
            <a:r>
              <a:rPr lang="en-US" sz="3000" b="1" dirty="0">
                <a:solidFill>
                  <a:srgbClr val="003478"/>
                </a:solidFill>
              </a:rPr>
              <a:t>(1)</a:t>
            </a:r>
            <a:r>
              <a:rPr lang="en-US" sz="1500" b="1" i="1" dirty="0">
                <a:solidFill>
                  <a:srgbClr val="8A8DA0"/>
                </a:solidFill>
              </a:rPr>
              <a:t>   Extra · the syllable chart (1)</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En el orden del libro: ㅏ ㅑ ㅓ ㅕ ㅗ ㅛ ㅜ ㅠ ㅡ ㅣ</a:t>
            </a:r>
            <a:endParaRPr lang="en-US" sz="1800" dirty="0"/>
          </a:p>
        </p:txBody>
      </p:sp>
      <p:graphicFrame>
        <p:nvGraphicFramePr>
          <p:cNvPr id="33" name="tabla"/>
          <p:cNvGraphicFramePr>
            <a:graphicFrameLocks noGrp="1"/>
          </p:cNvGraphicFramePr>
          <p:nvPr>
            <p:extLst>
              <p:ext uri="{D42A27DB-BD31-4B8C-83A1-F6EECF244321}">
                <p14:modId xmlns:p14="http://schemas.microsoft.com/office/powerpoint/2010/main" val="755963763"/>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37210">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ㅏ ㅑ ㅓ ㅕ ㅗ</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ㅛ ㅜ ㅠ ㅡ ㅣ</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ㄱ</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가 갸 거 겨 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교 구 규 그 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나 냐 너 녀 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뇨 누 뉴 느 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ㄷ</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다 댜 더 뎌 도</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됴 두 듀 드 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ㄹ</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라 랴 러 려 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료 루 류 르 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ㅁ</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 먀 머 며 모</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묘 무 뮤 므 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ㅂ</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바 뱌 버 벼 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뵤 부 뷰 브 비</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ㅅ</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사 샤 서 셔 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쇼 수 슈 스 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Extra · el 가갸거겨 </a:t>
            </a:r>
            <a:r>
              <a:rPr lang="en-US" sz="3000" b="1" dirty="0">
                <a:solidFill>
                  <a:srgbClr val="003478"/>
                </a:solidFill>
              </a:rPr>
              <a:t>(2)</a:t>
            </a:r>
            <a:r>
              <a:rPr lang="en-US" sz="1500" b="1" i="1" dirty="0">
                <a:solidFill>
                  <a:srgbClr val="8A8DA0"/>
                </a:solidFill>
              </a:rPr>
              <a:t>   Extra · the syllable chart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En el orden del libro: ㅏ ㅑ ㅓ ㅕ ㅗ ㅛ ㅜ ㅠ ㅡ ㅣ</a:t>
            </a:r>
            <a:endParaRPr lang="en-US" sz="1800" dirty="0"/>
          </a:p>
        </p:txBody>
      </p:sp>
      <p:graphicFrame>
        <p:nvGraphicFramePr>
          <p:cNvPr id="34" name="tabla"/>
          <p:cNvGraphicFramePr>
            <a:graphicFrameLocks noGrp="1"/>
          </p:cNvGraphicFramePr>
          <p:nvPr>
            <p:extLst>
              <p:ext uri="{D42A27DB-BD31-4B8C-83A1-F6EECF244321}">
                <p14:modId xmlns:p14="http://schemas.microsoft.com/office/powerpoint/2010/main" val="3019340466"/>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37210">
                <a:tc>
                  <a:txBody>
                    <a:bodyPr/>
                    <a:lstStyle/>
                    <a:p>
                      <a:pPr marL="0" indent="0" eaLnBrk="1">
                        <a:buNone/>
                      </a:pP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ㅏ ㅑ ㅓ ㅕ ㅗ</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600" b="1" dirty="0">
                          <a:solidFill>
                            <a:srgbClr val="FFFFFF"/>
                          </a:solidFill>
                          <a:latin typeface="Malgun Gothic" pitchFamily="34" charset="0"/>
                          <a:ea typeface="Malgun Gothic" pitchFamily="34" charset="-122"/>
                          <a:cs typeface="Malgun Gothic" pitchFamily="34" charset="-120"/>
                        </a:rPr>
                        <a:t>ㅛ ㅜ ㅠ ㅡ ㅣ</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ㅇ</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아 야 어 여 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요 우 유 으 이</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자 쟈 저 져 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죠 주 쥬 즈 지</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ㅊ</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차 챠 처 쳐 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쵸 추 츄 츠 치</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ㅋ</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카 캬 커 켜 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쿄 쿠 큐 크 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ㅌ</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타 탸 터 텨 토</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툐 투 튜 트 티</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ㅍ</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파 퍄 퍼 펴 포</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표 푸 퓨 프 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ㅎ</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하 햐 허 혀 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효 후 휴 흐 히</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33</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5741</Words>
  <Application>Microsoft Office PowerPoint</Application>
  <PresentationFormat>Widescreen</PresentationFormat>
  <Paragraphs>575</Paragraphs>
  <Slides>33</Slides>
  <Notes>33</Notes>
  <HiddenSlides>0</HiddenSlides>
  <MMClips>19</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Malgun Gothic</vt:lpstr>
      <vt:lpstr>Arial</vt:lpstr>
      <vt:lpstr>Academia Seul</vt:lpstr>
      <vt:lpstr>안녕하세요!  Mientras llegan   While you arrive</vt:lpstr>
      <vt:lpstr>La sílaba</vt:lpstr>
      <vt:lpstr>Comandos de clase   Classroom commands</vt:lpstr>
      <vt:lpstr>세종  1443 · el rey Sejong   1443 · King Sejong</vt:lpstr>
      <vt:lpstr>한글날  9 de octubre   Hangul Day · October 9</vt:lpstr>
      <vt:lpstr>Como tu silabario   Just like your first reader</vt:lpstr>
      <vt:lpstr>Tres dibujos   Three drawings</vt:lpstr>
      <vt:lpstr>Las 6 vocales base   The 6 basic vowels</vt:lpstr>
      <vt:lpstr>¿ㅓ o ㅗ?   ㅓ or ㅗ?</vt:lpstr>
      <vt:lpstr>¿ㅡ o ㅜ? + 1:1   ㅡ or ㅜ? + one-on-one</vt:lpstr>
      <vt:lpstr>아이? 오이!  ¿Niño o pepino?   Child? Cucumber!</vt:lpstr>
      <vt:lpstr>Una rayita más = "y"   One more stroke = "y"</vt:lpstr>
      <vt:lpstr>Las 10, en orden   All 10, in order</vt:lpstr>
      <vt:lpstr>Tu boca, dibujada   Your mouth, drawn</vt:lpstr>
      <vt:lpstr>가나다라마바사 · 아자차카타파하  El canto de las consonantes</vt:lpstr>
      <vt:lpstr>Un trazo más = más aire   One more stroke = more air</vt:lpstr>
      <vt:lpstr>Cinco trampas + 1:1   Five traps + one-on-one</vt:lpstr>
      <vt:lpstr>Una sílaba = un cuadrado   One syllable = one square</vt:lpstr>
      <vt:lpstr>La vocal manda   The vowel is the boss</vt:lpstr>
      <vt:lpstr>¡Armemos!   Let's build!</vt:lpstr>
      <vt:lpstr>¡Armemos! · 1:1   Let's build! · one-on-one</vt:lpstr>
      <vt:lpstr>Lectura relámpago (1)   Lightning reading (1)</vt:lpstr>
      <vt:lpstr>Lectura relámpago (2)   Lightning reading (2)</vt:lpstr>
      <vt:lpstr>Salas · 4 rondas   Breakout rooms · 4 rounds</vt:lpstr>
      <vt:lpstr>Lo que oí hoy   What I heard today</vt:lpstr>
      <vt:lpstr>Las 3 frases de hoy   Today's 3 key phrases</vt:lpstr>
      <vt:lpstr>Tarea (≈ 30 min)   Homework (about 30 min)</vt:lpstr>
      <vt:lpstr>Tu nombre en 한글 (1)   Your name in Hangul (1)</vt:lpstr>
      <vt:lpstr>Tu nombre en 한글 (2)   Your name in Hangul (2)</vt:lpstr>
      <vt:lpstr>¿Y la línea gris?   And the grey line?</vt:lpstr>
      <vt:lpstr>감사합니다! 화이팅!  ¡Gracias! ¡Ánimo!</vt:lpstr>
      <vt:lpstr>Extra · el 가갸거겨 (1)   Extra · the syllable chart (1)</vt:lpstr>
      <vt:lpstr>Extra · el 가갸거겨 (2)   Extra · the syllable chart (2)</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1 (A1.1) · Semana 1 · 가나다라 I · La sílaba</dc:title>
  <dc:subject>PptxGenJS Presentation</dc:subject>
  <dc:creator>Academia Seúl</dc:creator>
  <cp:lastModifiedBy>Jae Hee Kim</cp:lastModifiedBy>
  <cp:revision>2</cp:revision>
  <dcterms:created xsi:type="dcterms:W3CDTF">2026-10-16T10:02:29Z</dcterms:created>
  <dcterms:modified xsi:type="dcterms:W3CDTF">2026-10-16T10:02:59Z</dcterms:modified>
</cp:coreProperties>
</file>