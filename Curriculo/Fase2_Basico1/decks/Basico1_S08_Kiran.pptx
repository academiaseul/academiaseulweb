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8" id="{24D64459-4CD9-B817-37CD-E8542BCC2B0E}">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95768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19:50: entra, reclama anfitrión, deja listas 7 salas automáticas (cuenta regresiva de 15 s), la planilla de rúbrica en el orden sorteado y el cronómetro. 20:00: graba desde el minuto 0 (Basico1-Martes_S08_2026-12-01 o Basico1-Jueves_S08_2026-12-03). Saluda con leve inclinación: 안녕하세요! y espera la respuesta, con cámaras encendidas.
Imagen sugerida: Portada de Repaso_MidTerm_A1.pptx lám. 1 con textos nuevos (plantilla de la casa, azul #4236F6, nada en rojo)
Fuente: S08_Guia_Profesor.md · C.15 #1 · B (19:50–20:01)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20:01–20:03. ES: “¡Última clase, chingus! Hoy pasan tres cosas: ordenamos lo de los gustos, hacemos una encuesta en parejas y, la estrella del día, Yo en coreano. El examen ya cerró, así que hoy no se habla de él.” Pega en el chat el orden de presentaciones (sorteado en la clase 7). Sigue con las reglas (láminas 13a–13b) y vuelve a la lámina 3.
Fuente: S08_Guia_Profesor.md · C.15 #2 · 0 · B (20:01) · C.3 bloque 1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20:03–20:05. Dilo primero; el texto aparece con clic después. KO, señalando cada foto: 저는 커피를 정말 좋아해요. 매일 커피를 마셔요. · 그리고 한국 드라마를 좋아해요. · 라면은… 조금 좋아해요 (gesto de más o menos). · 운동은… 안 좋아해요 (cara de pena, con humor). ES: “¿Qué me encanta? ¿Qué me gusta un poco? ¿Qué no me gusta?” (aceptan español o la palabra en coreano). Estos 4 gustos son de ejemplo: van los tuyos.
Imagen sugerida: 4 fotos de los gustos reales de Kiran (los manda antes del vie 20 nov); provisionalmente: café, K-drama, ramyeon, deporte
Fuente: S08_Guia_Profesor.md · C.15 #3 · C.3 bloque 2 (R)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ES: “En español decimos me gusta el café. Gramaticalmente, el que gusta es el café: es el sujeto. En coreano es al revés, como en yo adoro el café: yo soy el sujeto y el café es el objeto. Por eso lleva 을/를, la partícula de objeto de la semana pasada: 커피를 좋아해요.” Quien sabe inglés lo ve rápido con la frase equivalente. Sin artículo ni plural: me gustan las manzanas = 사과를 좋아해요.
Fuente: S08_Guia_Profesor.md · C.15 #4 · C.3 bloque 2 · C.4 (1 y 2) · idea de Repaso_MidTerm_A1.pptx lám. 19, sin romanización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“¿을 o 를? La pregunta de siempre: ¿termina en 받침? 라면, con ㄴ abajo: 라면을. 커피 termina en vocal: 커피를.” [라며늘] y [으마글] se imitan enteros, sin explicar la regla. Hablando se puede omitir la partícula (김치 좋아해요?); al escribir, siempre.
Fuente: S08_Guia_Profesor.md · C.15 #5 · C.3 bloque 2 · material §3.2 · adapta Repaso_MidTerm_A1.pptx láms. 22–23 (sin romanización ni 입어요; 을/를 es objeto directo)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“Para preguntar ¿qué te gusta?: 뭐 + 를 se junta en 뭘, igual que de + el se junta en del. 뭘 좋아해요?” En lo oral también se oye 뭐 좋아해요?, sin partícula: las dos están bien. Con 좋아해요 no va 뭐가: es objeto, 뭘. La misma frase con entonación que sube es pregunta.
Fuente: S08_Guia_Profesor.md · C.15 #6 · C.3 bloque 2 · C.4 (3 y 4) · material §3.3 · adapta Repaso_MidTerm_A1.pptx láms. 25–26 (sin 망고 주스, 파스타, 소주; 안 좋아해요 en vez de 싫어해요)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termómetro: 정말 좋아해요 es me encanta; 조금 좋아해요, me gusta un poco; 안 좋아해요, no me gusta. Y 싫어해요 es lo detesto: ojo, suena fuerte. Si no quieres sonar duro, 안 좋아해요.” 안 va justo delante del verbo y separado al escribir (안 좋아해요); 싫어해요, nunca para personas frente a ellas. La marca de “fuerte” va en gris o navy, nunca en rojo.
Fuente: S08_Guia_Profesor.md · C.15 #7 · C.3 bloque 2 · C.4 (5–7) · material §3.4–3.5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20:06–20:07. ES: “Pronunciación: 좋아해요 se dice [조아해요]: la ㅎ de 좋 desaparece. 싫어해요 se dice [시러해요].” KO: 따라 하세요! 좋아해요. 싫어해요. 라면을 좋아해요. Coro 2 veces. No corrijas a quien suaviza la ㅎ de 해; corrige solo [좋하해요] o [초아해요]. 과일: ㅘ de un solo golpe.
Fuente: S08_Guia_Profesor.md · C.15 #8 · A.6 · C.3 bloque 2 · C.6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20:07–20:09. KO: 따라 하세요: 김치를 좋아해요? (entonación que sube). Pregunta a 6–8 alumnos, empezando por los últimos del orden de presentaciones: (nombre), 사과를 좋아해요? → 네, (정말) 좋아해요. / 아니요, 안 좋아해요. · 정말 좋아해요? 조금 좋아해요? → 조금 좋아해요. Partícula: “¿termina en 받침?” (no des la respuesta); pronunciación: 다시 한번; bien: 잘했어요!
Imagen sugerida: Imágenes sin texto (la palabra en 한글 aparece con clic): manzana verde o amarilla (nunca roja ni el emoji de manzana roja), banana, fruta variada, bulgogi, ramyeon
Fuente: S08_Guia_Profesor.md · C.15 #9 · C.3 bloque 2 (C) · C.8
Lámina 9a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con estas imágenes. KO: (nombre), 김치를 좋아해요? → 네, 좋아해요. / 아니요, 안 좋아해요. · (nombre), 뭘 좋아해요? → 불고기를 좋아해요 (tiene que salir con partícula). Si un alumno nombra algo que te gusta, reacciona 저도요! (input, no se pide ni se evalúa). Si vas atrasada: 4 alumnos en vez de 8.
Imagen sugerida: Imágenes sin texto (la palabra en 한글 aparece con clic): película, canción, K-drama, deporte, kimchi
Fuente: S08_Guia_Profesor.md · C.15 #9 · C.3 bloque 2 (C) · B.3 (2)
Lámina 9b</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20:09, 45 s. ES: “En Corea, para 추석, la fiesta de la cosecha, que este año fue a fines de septiembre, y para 설날, el Año Nuevo lunar (el próximo es el 7 de febrero), un regalo clásico es una caja de 사과 o de 배, la pera coreana, con cada fruta envuelta una por una. ¿Y acá? La canasta navideña, el pan de pascua… En diciembre estamos justo en temporada de regalar.” KO a un alumno: (nombre), 사과를 좋아해요? 배를 좋아해요? → 잘했어요! Si vas atrasada, di solo la frase ancla.
Imagen sugerida: Foto de una caja de 사과 o de 배 con cada fruta envuelta una por una (manzana verde o amarilla, o el 배 dorado; nunca manzana roja)
Fuente: S08_Guia_Profesor.md · C.15 #10 · A.7 · C.3 bloque 2 (cultura) · material §8
Lámina 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20:10–20:11. Modelo de 30 s con un voluntario: 김치를 좋아해요? — 네, 좋아해요. — 정말 좋아해요? 조금 좋아해요? — 조금 좋아해요. — 라면을 좋아해요? — 아니요, 안 좋아해요. ES: “Listo: con el kimchi coincidimos un poco; con el ramyeon, no.” Abre 7 salas (6 de 2 + 1 de 3 con 15 alumnos); el chat no se ve en las salas. 20:16, a todas las salas: “Quedan 2 minutos: preparen su coincidencia y su diferencia, en 한글.” Una corrección por sala, casi siempre la partícula; 20:18, cierra las salas.
Fuente: S08_Guia_Profesor.md · C.15 #11 · B (20:10–20:18) · C.3 bloque 3 · material §7.A
Lámina 11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20:19–20:22. ES: “Escriban en el chat, en 한글, su coincidencia y su diferencia.” Lee 3 en voz alta y pide a 2 pares que lo digan de viva voz. Corrige un solo patrón para todos (p. ej., 라면를 → 라면을: ¿termina en 받침?). 20:21: pega en el chat las preguntas del grupo y deja de compartir pantalla a las 20:21:30.
Fuente: S08_Guia_Profesor.md · C.15 #12 · C.3 bloque 3 (reporte) · material §7.A
Lámina 12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 en la bienvenida (20:01–20:03), junto con las reglas. Los gustos pueden ser 1 frase. Mínimo esperado para “listo para Básico 2”: los 6 bloques, sin leer, comprensible para un oyente paciente, la mayoría de las partículas y de 이에요/예요 correctos, y una respuesta en coreano a la pregunta.
Fuente: S08_Guia_Profesor.md · C.15 #13 · material §7.B · C.10 · diseño de Sesion_11_Cierre_A1.pptx lám. 9 (lista con checks) con contenido nuevo
Lámina 13a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orden es el que sorteamos la semana pasada; lo pego en el chat. Cada uno tiene 2 minutos, con la pregunta incluida: tu parte es de más o menos un minuto y medio. Cuando levante la mano abierta, te quedan 30 segundos. Sin leer: puedes mostrar fotos o dibujos a la cámara, pero no el texto. La pregunta te la hace quien viene después de ti; al último le pregunta el primero. Hablar lento no baja la nota. Si no entiendes la pregunta, di 네? y te la repiten.”
Fuente: S08_Guia_Profesor.md · C.15 #13 · C.3 bloque 1 (reglas) · material §7.B
Lámina 13b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si falla el chat. 20:22–20:52, sin compartir pantalla, vista de orador y Spotlight a quien presenta: “(nombre), 화이팅!”; seña de 30 s a 1:00 y corte a 1:30 con 13–15 presentes (con 12 o menos, seña a 1:30 y corte a 2:00); el siguiente pregunta y, tras la respuesta, 잘했어요! No interrumpas para corregir: anota y puntúa. Respuestas modelo: 우리 아빠예요 · 침대가 있어요 · 회사에 가요 · 라면을 좋아해요 · 멕시코시티예요 · 페루 사람이에요; una sola palabra correcta cuenta. La última presentación empieza a más tardar a las 20:50.
Fuente: S08_Guia_Profesor.md · C.15 #14 · C.3 bloque 4 · C.10 (preguntas y respuestas modelo) · B.2–B.3
Lámina 14</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 KO: 따라 하세요! 뭘 좋아해요? … 불고기를 정말 좋아해요. … 아니요, 안 좋아해요. Dos veces, con los micrófonos abiertos. De aquí se recorta B1_S08_frases_clave.mp3: los 30 segundos del coro nunca se recortan.
Fuente: S08_Guia_Profesor.md · C.15 #15 · A.5 · C.3 bloque 5
Lámina 15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20:53–20:56. ES: “Última ronda: una frase que no sabías decir hace 8 semanas. Por ejemplo…” KO: 저는 한국어를 공부해요! ES: “…pero la de ustedes. Empieza (primer nombre de la lista).” Rueda en el orden de la lista, unos 8 s cada uno; con más de 12 presentes, todos al chat y 4 voces.
Fuente: S08_Guia_Profesor.md · C.15 #16 · C.3 bloque 5
Lámina 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 ES: “En enero viene Básico 2 (A1.2): pasado, futuro, la hora, la edad y las fechas. Hoy dices 불고기를 좋아해요; en Básico 2 vas a decir ayer comí bulgogi. El certificado se entrega la semana del 7 de diciembre, y Jay les va a contar de Básico 2.” Las frases de Básico 2 no se practican ni entran en nada: son solo para mirar. Si vas atrasada, una frase y el resto al mensaje post-clase.
Fuente: S08_Guia_Profesor.md · C.15 #17 · C.3 bloque 5 (puente) · material §10
Lámina 17</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20:56–20:57. ES: “Antes del [fecha], unos 20 minutos: captura final de Progreso y tu audio de 1 minuto con la presentación corregida. Escucha tu audio de la semana 1 y el de hoy: ese es tu antes y después. Anota para ti una cosa que mejoraste y una que quieres trabajar en Básico 2.” Plazo: [propuesta: domingo 6 de diciembre; confirmar con Kiran].
Fuente: S08_Guia_Profesor.md · C.15 #18 · A.13 · C.3 bloque 5 · material §9
Lámina 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20:57–20:58. KO: 감사합니다! 안녕히 가세요! 화이팅! Los alumnos: 감사합니다! 안녕히 계세요! con leve inclinación. Captura de galería solo si el grupo acepta (no va a redes sin permiso explícito). Corta la grabación y cierra a las 20:58: a las 21:00 empieza otra clase en la misma cuenta de Zoom. La frase de la lámina está en pasado: se muestra traducida, no se practica.
Imagen sugerida: Diseño de Repaso_MidTerm_A1.pptx lám. 34 (frase de marca del kit) con el sello del tigre (versión 2, sin marco)
Fuente: S08_Guia_Profesor.md · C.15 #19 · B (20:57) · D (1 y 11) · reutiliza Repaso_MidTerm_A1.pptx lám. 34
Lámina 19</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respaldo: solo si alguien pregunta en la encuesta o en el cierre. ES: “Una regla para cuatro pares: ¿termina en 받침?” El 에 no cambia. Presente: ㅏ/ㅗ → -아요, las demás → -어요, 하다 → 해요.
Fuente: S08_Guia_Profesor.md · C.15 #B1 · C.4 (8) · material §3.6 · adapta Particulas_Coreanas_Editable.pptx o Repaso_MidTerm_A1.pptx láms. 20–24 (sin 에서, 의, 안 가요, 수영장, 백화점 ni romanización)
Lámina B1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Emergencia si sobra tiempo (9 o menos presentes). KO: 읽으세요! Cada alumno lee una frase en voz alta, sin deletrear. Después, las 6 preguntas al grupo: 소피아는 어느 나라 사람이에요? (멕시코 사람이에요.) · 소피아는 학생이에요? (아니요, 학생이 아니에요. 회사원이에요.) · 소피아 가족은 네 명이에요? (아니요, 세 명이에요.) · 소피아 집 앞에 뭐가 있어요? (공원이 있어요.) · 소피아는 매일 어디에 가요? (회사에 가요.) · 소피아는 커피를 좋아해요? (아니요, 안 좋아해요.) Una palabra correcta también vale.
Fuente: S08_Guia_Profesor.md · C.15 #B2 · C.12 (1) · material §6, ejercicio 6 · C.14
Lámina B2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Extensión de 2–3 min si sobran minutos (13–14 presentes), con los reportes del chat de la encuesta. Elige a alguien sin decir el nombre y descríbelo con la plantilla; el grupo responde con el nombre + 예요/이에요. Con alumnos rápidos, que uno haga de Kiran.
Fuente: S08_Guia_Profesor.md · C.15 #B3 · C.11
Lámina B3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8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8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8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image" Target="../media/image3.png"/><Relationship Id="rId18" Type="http://schemas.openxmlformats.org/officeDocument/2006/relationships/image" Target="../media/image8.png"/><Relationship Id="rId3" Type="http://schemas.microsoft.com/office/2007/relationships/media" Target="../media/media2.mp3"/><Relationship Id="rId7" Type="http://schemas.microsoft.com/office/2007/relationships/media" Target="../media/media4.mp3"/><Relationship Id="rId12" Type="http://schemas.openxmlformats.org/officeDocument/2006/relationships/notesSlide" Target="../notesSlides/notesSlide9.xml"/><Relationship Id="rId17" Type="http://schemas.openxmlformats.org/officeDocument/2006/relationships/image" Target="../media/image7.png"/><Relationship Id="rId2" Type="http://schemas.openxmlformats.org/officeDocument/2006/relationships/audio" Target="../media/media1.mp3"/><Relationship Id="rId16" Type="http://schemas.openxmlformats.org/officeDocument/2006/relationships/image" Target="../media/image6.png"/><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slideLayout" Target="../slideLayouts/slideLayout3.xml"/><Relationship Id="rId5" Type="http://schemas.microsoft.com/office/2007/relationships/media" Target="../media/media3.mp3"/><Relationship Id="rId15" Type="http://schemas.openxmlformats.org/officeDocument/2006/relationships/image" Target="../media/image5.pn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image" Target="../media/image4.png"/></Relationships>
</file>

<file path=ppt/slides/_rels/slide10.xml.rels><?xml version="1.0" encoding="UTF-8" standalone="yes"?>
<Relationships xmlns="http://schemas.openxmlformats.org/package/2006/relationships"><Relationship Id="rId8" Type="http://schemas.openxmlformats.org/officeDocument/2006/relationships/audio" Target="../media/media9.mp3"/><Relationship Id="rId13" Type="http://schemas.openxmlformats.org/officeDocument/2006/relationships/image" Target="../media/image9.png"/><Relationship Id="rId18" Type="http://schemas.openxmlformats.org/officeDocument/2006/relationships/image" Target="../media/image13.png"/><Relationship Id="rId3" Type="http://schemas.microsoft.com/office/2007/relationships/media" Target="../media/media7.mp3"/><Relationship Id="rId7" Type="http://schemas.microsoft.com/office/2007/relationships/media" Target="../media/media9.mp3"/><Relationship Id="rId12" Type="http://schemas.openxmlformats.org/officeDocument/2006/relationships/notesSlide" Target="../notesSlides/notesSlide10.xml"/><Relationship Id="rId17" Type="http://schemas.openxmlformats.org/officeDocument/2006/relationships/image" Target="../media/image12.png"/><Relationship Id="rId2" Type="http://schemas.openxmlformats.org/officeDocument/2006/relationships/audio" Target="../media/media6.mp3"/><Relationship Id="rId16" Type="http://schemas.openxmlformats.org/officeDocument/2006/relationships/image" Target="../media/image11.png"/><Relationship Id="rId1" Type="http://schemas.microsoft.com/office/2007/relationships/media" Target="../media/media6.mp3"/><Relationship Id="rId6" Type="http://schemas.openxmlformats.org/officeDocument/2006/relationships/audio" Target="../media/media8.mp3"/><Relationship Id="rId11" Type="http://schemas.openxmlformats.org/officeDocument/2006/relationships/slideLayout" Target="../slideLayouts/slideLayout3.xml"/><Relationship Id="rId5" Type="http://schemas.microsoft.com/office/2007/relationships/media" Target="../media/media8.mp3"/><Relationship Id="rId15" Type="http://schemas.openxmlformats.org/officeDocument/2006/relationships/image" Target="../media/image10.png"/><Relationship Id="rId10" Type="http://schemas.openxmlformats.org/officeDocument/2006/relationships/audio" Target="../media/media10.mp3"/><Relationship Id="rId4" Type="http://schemas.openxmlformats.org/officeDocument/2006/relationships/audio" Target="../media/media7.mp3"/><Relationship Id="rId9" Type="http://schemas.microsoft.com/office/2007/relationships/media" Target="../media/media10.mp3"/><Relationship Id="rId1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4.png"/><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사과를 좋아해요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Semana 8 · Me gusta + “Yo en coreano”</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Clase 8 · Lección 9 + Lección 10 (repaso)</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Kiran (기란</a:t>
            </a:r>
            <a:r>
              <a:rPr lang="en-US" sz="2200" dirty="0">
                <a:solidFill>
                  <a:srgbClr val="E8B84B"/>
                </a:solidFill>
              </a:rPr>
              <a:t>)</a:t>
            </a:r>
            <a:endParaRPr lang="en-US" sz="2200" dirty="0"/>
          </a:p>
          <a:p>
            <a:pPr marL="0" indent="0" eaLnBrk="1">
              <a:buNone/>
            </a:pPr>
            <a:r>
              <a:rPr lang="en-US" sz="2200" dirty="0">
                <a:solidFill>
                  <a:srgbClr val="E8B84B"/>
                </a:solidFill>
              </a:rPr>
              <a:t>Martes 1 / jueves 3 de diciembre de 2026 · 20:00 (hora de Chile)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오늘  </a:t>
            </a:r>
            <a:r>
              <a:rPr lang="en-US" sz="3000" b="1" dirty="0">
                <a:solidFill>
                  <a:srgbClr val="003478"/>
                </a:solidFill>
              </a:rPr>
              <a:t>Hoy</a:t>
            </a:r>
            <a:r>
              <a:rPr lang="en-US" sz="1500" b="1" i="1" dirty="0">
                <a:solidFill>
                  <a:srgbClr val="8A8DA0"/>
                </a:solidFill>
              </a:rPr>
              <a:t>   Today</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El orden de presentaciones está en el chat</a:t>
            </a:r>
            <a:endParaRPr lang="en-US" sz="1800" dirty="0"/>
          </a:p>
        </p:txBody>
      </p:sp>
      <p:graphicFrame>
        <p:nvGraphicFramePr>
          <p:cNvPr id="4" name="tabla"/>
          <p:cNvGraphicFramePr>
            <a:graphicFrameLocks noGrp="1"/>
          </p:cNvGraphicFramePr>
          <p:nvPr>
            <p:extLst>
              <p:ext uri="{D42A27DB-BD31-4B8C-83A1-F6EECF244321}">
                <p14:modId xmlns:p14="http://schemas.microsoft.com/office/powerpoint/2010/main" val="1728241613"/>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800" b="1" dirty="0">
                          <a:solidFill>
                            <a:srgbClr val="FFFFFF"/>
                          </a:solidFill>
                        </a:rPr>
                        <a:t>Hora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Bloque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20:03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좋아해요 </a:t>
                      </a:r>
                      <a:r>
                        <a:rPr lang="en-US" sz="1800" dirty="0">
                          <a:solidFill>
                            <a:srgbClr val="14142B"/>
                          </a:solidFill>
                        </a:rPr>
                        <a:t>· gustos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20:10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Encuesta de gustos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20:22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Yo en 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20:52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Cierre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기란 선생님은 뭘 좋아해요</a:t>
            </a:r>
            <a:r>
              <a:rPr lang="en-US" sz="2600" b="1" dirty="0">
                <a:solidFill>
                  <a:srgbClr val="4236F6"/>
                </a:solidFill>
              </a:rPr>
              <a:t>?  </a:t>
            </a:r>
            <a:r>
              <a:rPr lang="en-US" sz="2600" b="1" dirty="0">
                <a:solidFill>
                  <a:srgbClr val="003478"/>
                </a:solidFill>
              </a:rPr>
              <a:t>¿Qué le gusta a Kiran?</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¿Qué le encanta? ¿Qué le gusta un poco? ¿Qué no le gusta?</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5" name="Text 3"/>
          <p:cNvSpPr txBox="1"/>
          <p:nvPr/>
        </p:nvSpPr>
        <p:spPr>
          <a:xfrm>
            <a:off x="548640" y="2499970"/>
            <a:ext cx="2601468" cy="1461211"/>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커피를 정말</a:t>
            </a:r>
            <a:endParaRPr lang="en-US" sz="3200" dirty="0"/>
          </a:p>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좋아해요</a:t>
            </a:r>
            <a:r>
              <a:rPr lang="en-US" sz="3200" b="1" dirty="0">
                <a:solidFill>
                  <a:srgbClr val="4236F6"/>
                </a:solidFill>
              </a:rPr>
              <a:t>.</a:t>
            </a:r>
            <a:endParaRPr lang="en-US" sz="3200" dirty="0"/>
          </a:p>
        </p:txBody>
      </p:sp>
      <p:sp>
        <p:nvSpPr>
          <p:cNvPr id="6" name="Text 4"/>
          <p:cNvSpPr txBox="1"/>
          <p:nvPr/>
        </p:nvSpPr>
        <p:spPr>
          <a:xfrm>
            <a:off x="621792" y="3961181"/>
            <a:ext cx="2455164" cy="179953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encanta el café.</a:t>
            </a:r>
            <a:endParaRPr lang="en-US" sz="1600" dirty="0"/>
          </a:p>
        </p:txBody>
      </p:sp>
      <p:sp>
        <p:nvSpPr>
          <p:cNvPr id="7"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8" name="Text 6"/>
          <p:cNvSpPr txBox="1"/>
          <p:nvPr/>
        </p:nvSpPr>
        <p:spPr>
          <a:xfrm>
            <a:off x="3378708" y="2499970"/>
            <a:ext cx="2601468" cy="1461211"/>
          </a:xfrm>
          <a:prstGeom prst="rect">
            <a:avLst/>
          </a:prstGeom>
          <a:noFill/>
          <a:ln/>
        </p:spPr>
        <p:txBody>
          <a:bodyPr wrap="square" lIns="0" tIns="0" rIns="0" bIns="0" rtlCol="0" anchor="ctr">
            <a:normAutofit/>
          </a:bodyPr>
          <a:lstStyle/>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한국 드라마를</a:t>
            </a:r>
            <a:endParaRPr lang="en-US" sz="2700" dirty="0"/>
          </a:p>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좋아해요</a:t>
            </a:r>
            <a:r>
              <a:rPr lang="en-US" sz="2700" b="1" dirty="0">
                <a:solidFill>
                  <a:srgbClr val="4236F6"/>
                </a:solidFill>
              </a:rPr>
              <a:t>.</a:t>
            </a:r>
            <a:endParaRPr lang="en-US" sz="2700" dirty="0"/>
          </a:p>
        </p:txBody>
      </p:sp>
      <p:sp>
        <p:nvSpPr>
          <p:cNvPr id="9" name="Text 7"/>
          <p:cNvSpPr txBox="1"/>
          <p:nvPr/>
        </p:nvSpPr>
        <p:spPr>
          <a:xfrm>
            <a:off x="3451860" y="3961181"/>
            <a:ext cx="2455164" cy="179953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gustan los dramas coreanos.</a:t>
            </a:r>
            <a:endParaRPr lang="en-US" sz="1600" dirty="0"/>
          </a:p>
        </p:txBody>
      </p:sp>
      <p:sp>
        <p:nvSpPr>
          <p:cNvPr id="10"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1" name="Text 9"/>
          <p:cNvSpPr txBox="1"/>
          <p:nvPr/>
        </p:nvSpPr>
        <p:spPr>
          <a:xfrm>
            <a:off x="6208776" y="2499970"/>
            <a:ext cx="2601468" cy="1461211"/>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라면은 조금</a:t>
            </a:r>
            <a:endParaRPr lang="en-US" sz="3200" dirty="0"/>
          </a:p>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좋아해요</a:t>
            </a:r>
            <a:r>
              <a:rPr lang="en-US" sz="3200" b="1" dirty="0">
                <a:solidFill>
                  <a:srgbClr val="4236F6"/>
                </a:solidFill>
              </a:rPr>
              <a:t>.</a:t>
            </a:r>
            <a:endParaRPr lang="en-US" sz="3200" dirty="0"/>
          </a:p>
        </p:txBody>
      </p:sp>
      <p:sp>
        <p:nvSpPr>
          <p:cNvPr id="12" name="Text 10"/>
          <p:cNvSpPr txBox="1"/>
          <p:nvPr/>
        </p:nvSpPr>
        <p:spPr>
          <a:xfrm>
            <a:off x="6281928" y="3961181"/>
            <a:ext cx="2455164" cy="179953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ramyeon me gusta un poco.</a:t>
            </a:r>
            <a:endParaRPr lang="en-US" sz="1600" dirty="0"/>
          </a:p>
        </p:txBody>
      </p:sp>
      <p:sp>
        <p:nvSpPr>
          <p:cNvPr id="13"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4" name="Text 12"/>
          <p:cNvSpPr txBox="1"/>
          <p:nvPr/>
        </p:nvSpPr>
        <p:spPr>
          <a:xfrm>
            <a:off x="9038844" y="2499970"/>
            <a:ext cx="2601468" cy="1461211"/>
          </a:xfrm>
          <a:prstGeom prst="rect">
            <a:avLst/>
          </a:prstGeom>
          <a:noFill/>
          <a:ln/>
        </p:spPr>
        <p:txBody>
          <a:bodyPr wrap="square" lIns="0" tIns="0" rIns="0" bIns="0" rtlCol="0" anchor="ctr">
            <a:normAutofit/>
          </a:bodyPr>
          <a:lstStyle/>
          <a:p>
            <a:pPr marL="0" indent="0" algn="ctr" eaLnBrk="1">
              <a:buNone/>
            </a:pPr>
            <a:r>
              <a:rPr lang="ko-KR" altLang="en-US" sz="3700" b="1" dirty="0">
                <a:solidFill>
                  <a:srgbClr val="4236F6"/>
                </a:solidFill>
                <a:latin typeface="Malgun Gothic" pitchFamily="34" charset="0"/>
                <a:ea typeface="Malgun Gothic" pitchFamily="34" charset="-122"/>
                <a:cs typeface="Malgun Gothic" pitchFamily="34" charset="-120"/>
              </a:rPr>
              <a:t>운동은 안</a:t>
            </a:r>
            <a:endParaRPr lang="en-US" sz="3700" dirty="0"/>
          </a:p>
          <a:p>
            <a:pPr marL="0" indent="0" algn="ctr" eaLnBrk="1">
              <a:buNone/>
            </a:pPr>
            <a:r>
              <a:rPr lang="ko-KR" altLang="en-US" sz="3700" b="1" dirty="0">
                <a:solidFill>
                  <a:srgbClr val="4236F6"/>
                </a:solidFill>
                <a:latin typeface="Malgun Gothic" pitchFamily="34" charset="0"/>
                <a:ea typeface="Malgun Gothic" pitchFamily="34" charset="-122"/>
                <a:cs typeface="Malgun Gothic" pitchFamily="34" charset="-120"/>
              </a:rPr>
              <a:t>좋아해요</a:t>
            </a:r>
            <a:r>
              <a:rPr lang="en-US" sz="3700" b="1" dirty="0">
                <a:solidFill>
                  <a:srgbClr val="4236F6"/>
                </a:solidFill>
              </a:rPr>
              <a:t>.</a:t>
            </a:r>
            <a:endParaRPr lang="en-US" sz="3700" dirty="0"/>
          </a:p>
        </p:txBody>
      </p:sp>
      <p:sp>
        <p:nvSpPr>
          <p:cNvPr id="15" name="Text 13"/>
          <p:cNvSpPr txBox="1"/>
          <p:nvPr/>
        </p:nvSpPr>
        <p:spPr>
          <a:xfrm>
            <a:off x="9111996" y="3961181"/>
            <a:ext cx="2455164" cy="179953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deporte no me gusta.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저는 김치를 좋아해요  </a:t>
            </a:r>
            <a:r>
              <a:rPr lang="en-US" sz="2600" b="1" dirty="0">
                <a:solidFill>
                  <a:srgbClr val="003478"/>
                </a:solidFill>
              </a:rPr>
              <a:t>“Me gusta” funciona al revés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Como “yo adoro el kimchi”: tú haces la acción y el kimchi es el objeto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Español</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(A mí) me gusta el kimchi.</a:t>
            </a:r>
            <a:endParaRPr lang="en-US" sz="2000" dirty="0"/>
          </a:p>
          <a:p>
            <a:pPr marL="228600" indent="-228600" eaLnBrk="1">
              <a:spcAft>
                <a:spcPts val="800"/>
              </a:spcAft>
              <a:buSzPct val="100000"/>
              <a:buChar char="•"/>
            </a:pPr>
            <a:r>
              <a:rPr lang="en-US" sz="2000" dirty="0">
                <a:solidFill>
                  <a:srgbClr val="14142B"/>
                </a:solidFill>
              </a:rPr>
              <a:t>El que “gusta” es el kimchi: es el sujeto.</a:t>
            </a:r>
            <a:endParaRPr lang="en-US" sz="2000" dirty="0"/>
          </a:p>
          <a:p>
            <a:pPr marL="228600" indent="-228600" eaLnBrk="1">
              <a:spcAft>
                <a:spcPts val="800"/>
              </a:spcAft>
              <a:buSzPct val="100000"/>
              <a:buChar char="•"/>
            </a:pPr>
            <a:r>
              <a:rPr lang="en-US" sz="2000" dirty="0">
                <a:solidFill>
                  <a:srgbClr val="14142B"/>
                </a:solidFill>
              </a:rPr>
              <a:t>Yo aparezco como “me”.</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Coreano</a:t>
            </a:r>
            <a:endParaRPr lang="en-US" sz="2000" dirty="0"/>
          </a:p>
        </p:txBody>
      </p:sp>
      <p:sp>
        <p:nvSpPr>
          <p:cNvPr id="9" name="Text 7"/>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저는 김치를 좋아해요</a:t>
            </a:r>
            <a:r>
              <a:rPr lang="en-US" sz="3400" b="1" dirty="0">
                <a:solidFill>
                  <a:srgbClr val="4236F6"/>
                </a:solidFill>
              </a:rPr>
              <a:t>.</a:t>
            </a:r>
            <a:endParaRPr lang="en-US" sz="3400" dirty="0"/>
          </a:p>
        </p:txBody>
      </p:sp>
      <p:sp>
        <p:nvSpPr>
          <p:cNvPr id="10"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저는</a:t>
            </a:r>
            <a:r>
              <a:rPr lang="en-US" sz="2000" dirty="0">
                <a:solidFill>
                  <a:srgbClr val="14142B"/>
                </a:solidFill>
              </a:rPr>
              <a:t>: yo (tema)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김치를</a:t>
            </a:r>
            <a:r>
              <a:rPr lang="en-US" sz="2000" dirty="0">
                <a:solidFill>
                  <a:srgbClr val="14142B"/>
                </a:solidFill>
              </a:rPr>
              <a:t>: el kimchi (objeto, con </a:t>
            </a:r>
            <a:r>
              <a:rPr lang="ko-KR" altLang="en-US" sz="2000" dirty="0">
                <a:solidFill>
                  <a:srgbClr val="14142B"/>
                </a:solidFill>
                <a:latin typeface="Malgun Gothic" pitchFamily="34" charset="0"/>
                <a:ea typeface="Malgun Gothic" pitchFamily="34" charset="-122"/>
                <a:cs typeface="Malgun Gothic" pitchFamily="34" charset="-120"/>
              </a:rPr>
              <a:t>을</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를</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좋아해요</a:t>
            </a:r>
            <a:r>
              <a:rPr lang="en-US" sz="2000" dirty="0">
                <a:solidFill>
                  <a:srgbClr val="14142B"/>
                </a:solidFill>
              </a:rPr>
              <a:t>: me gusta (el verbo, siempre al final)</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을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를  </a:t>
            </a:r>
            <a:r>
              <a:rPr lang="ko-KR" altLang="en-US" sz="3000" b="1" dirty="0">
                <a:solidFill>
                  <a:srgbClr val="003478"/>
                </a:solidFill>
                <a:latin typeface="Malgun Gothic" pitchFamily="34" charset="0"/>
                <a:ea typeface="Malgun Gothic" pitchFamily="34" charset="-122"/>
                <a:cs typeface="Malgun Gothic" pitchFamily="34" charset="-120"/>
              </a:rPr>
              <a:t>¿을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를</a:t>
            </a:r>
            <a:r>
              <a:rPr lang="en-US" sz="3000" b="1" dirty="0">
                <a:solidFill>
                  <a:srgbClr val="003478"/>
                </a:solidFill>
              </a:rPr>
              <a:t>?</a:t>
            </a:r>
            <a:r>
              <a:rPr lang="ko-KR" altLang="en-US" sz="1500" b="1" i="1" dirty="0">
                <a:solidFill>
                  <a:srgbClr val="8A8DA0"/>
                </a:solidFill>
              </a:rPr>
              <a:t>   을 or 를?</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pregunta de siempre: ¿termina en 받침</a:t>
            </a:r>
            <a:r>
              <a:rPr lang="en-US" sz="1800" i="1" dirty="0">
                <a:solidFill>
                  <a:srgbClr val="4236F6"/>
                </a:solidFill>
              </a:rPr>
              <a:t>?</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Termina en 받침</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을</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라면을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라며늘</a:t>
            </a:r>
            <a:r>
              <a:rPr lang="en-US" sz="2000" dirty="0">
                <a:solidFill>
                  <a:srgbClr val="14142B"/>
                </a:solidFill>
              </a:rPr>
              <a:t>] · el ramyeon</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음악을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으마글</a:t>
            </a:r>
            <a:r>
              <a:rPr lang="en-US" sz="2000" dirty="0">
                <a:solidFill>
                  <a:srgbClr val="14142B"/>
                </a:solidFill>
              </a:rPr>
              <a:t>] · la música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한국 음식을 </a:t>
            </a:r>
            <a:r>
              <a:rPr lang="en-US" sz="2000" dirty="0">
                <a:solidFill>
                  <a:srgbClr val="14142B"/>
                </a:solidFill>
              </a:rPr>
              <a:t>· la comida coreana</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Termina en vocal</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를</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사과를 </a:t>
            </a:r>
            <a:r>
              <a:rPr lang="en-US" sz="2000" dirty="0">
                <a:solidFill>
                  <a:srgbClr val="14142B"/>
                </a:solidFill>
              </a:rPr>
              <a:t>· las manzanas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커피를 </a:t>
            </a:r>
            <a:r>
              <a:rPr lang="en-US" sz="2000" dirty="0">
                <a:solidFill>
                  <a:srgbClr val="14142B"/>
                </a:solidFill>
              </a:rPr>
              <a:t>· el café</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드라마를 </a:t>
            </a:r>
            <a:r>
              <a:rPr lang="en-US" sz="2000" dirty="0">
                <a:solidFill>
                  <a:srgbClr val="14142B"/>
                </a:solidFill>
              </a:rPr>
              <a:t>· las series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뭘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뭐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를  </a:t>
            </a:r>
            <a:r>
              <a:rPr lang="en-US" sz="2600" b="1" dirty="0">
                <a:solidFill>
                  <a:srgbClr val="003478"/>
                </a:solidFill>
              </a:rPr>
              <a:t>Preguntar: ¿qué te gusta?</a:t>
            </a:r>
            <a:r>
              <a:rPr lang="en-US" sz="1500" b="1" i="1" dirty="0">
                <a:solidFill>
                  <a:srgbClr val="8A8DA0"/>
                </a:solidFill>
              </a:rPr>
              <a:t>   Asking: what do you like?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뭐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를</a:t>
            </a:r>
            <a:r>
              <a:rPr lang="en-US" sz="1800" i="1" dirty="0">
                <a:solidFill>
                  <a:srgbClr val="4236F6"/>
                </a:solidFill>
              </a:rPr>
              <a:t>, como “de + el” = “del”</a:t>
            </a:r>
            <a:endParaRPr lang="en-US" sz="1800" dirty="0"/>
          </a:p>
        </p:txBody>
      </p:sp>
      <p:graphicFrame>
        <p:nvGraphicFramePr>
          <p:cNvPr id="7" name="tabla"/>
          <p:cNvGraphicFramePr>
            <a:graphicFrameLocks noGrp="1"/>
          </p:cNvGraphicFramePr>
          <p:nvPr>
            <p:extLst>
              <p:ext uri="{D42A27DB-BD31-4B8C-83A1-F6EECF244321}">
                <p14:modId xmlns:p14="http://schemas.microsoft.com/office/powerpoint/2010/main" val="1082843172"/>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Pregunta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Respuestas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뭘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¿Qué te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___을</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를 좋아해요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영화를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___을</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를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¿Te gusta ___?</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정말</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좋아해요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아니요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안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El termómetro</a:t>
            </a:r>
            <a:r>
              <a:rPr lang="en-US" sz="1500" b="1" i="1" dirty="0">
                <a:solidFill>
                  <a:srgbClr val="8A8DA0"/>
                </a:solidFill>
              </a:rPr>
              <a:t>   The thermometer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정말 </a:t>
            </a:r>
            <a:r>
              <a:rPr lang="en-US" sz="1800" i="1" dirty="0">
                <a:solidFill>
                  <a:srgbClr val="4236F6"/>
                </a:solidFill>
              </a:rPr>
              <a:t>y </a:t>
            </a:r>
            <a:r>
              <a:rPr lang="ko-KR" altLang="en-US" sz="1800" i="1" dirty="0">
                <a:solidFill>
                  <a:srgbClr val="4236F6"/>
                </a:solidFill>
                <a:latin typeface="Malgun Gothic" pitchFamily="34" charset="0"/>
                <a:ea typeface="Malgun Gothic" pitchFamily="34" charset="-122"/>
                <a:cs typeface="Malgun Gothic" pitchFamily="34" charset="-120"/>
              </a:rPr>
              <a:t>조금 </a:t>
            </a:r>
            <a:r>
              <a:rPr lang="en-US" sz="1800" i="1" dirty="0">
                <a:solidFill>
                  <a:srgbClr val="4236F6"/>
                </a:solidFill>
              </a:rPr>
              <a:t>van delante del verbo · para no sonar duro: </a:t>
            </a:r>
            <a:r>
              <a:rPr lang="ko-KR" altLang="en-US" sz="1800" i="1" dirty="0">
                <a:solidFill>
                  <a:srgbClr val="4236F6"/>
                </a:solidFill>
                <a:latin typeface="Malgun Gothic" pitchFamily="34" charset="0"/>
                <a:ea typeface="Malgun Gothic" pitchFamily="34" charset="-122"/>
                <a:cs typeface="Malgun Gothic" pitchFamily="34" charset="-120"/>
              </a:rPr>
              <a:t>안 좋아해요</a:t>
            </a:r>
            <a:endParaRPr lang="en-US" sz="1800" dirty="0"/>
          </a:p>
        </p:txBody>
      </p:sp>
      <p:graphicFrame>
        <p:nvGraphicFramePr>
          <p:cNvPr id="8" name="tabla"/>
          <p:cNvGraphicFramePr>
            <a:graphicFrameLocks noGrp="1"/>
          </p:cNvGraphicFramePr>
          <p:nvPr>
            <p:extLst>
              <p:ext uri="{D42A27DB-BD31-4B8C-83A1-F6EECF244321}">
                <p14:modId xmlns:p14="http://schemas.microsoft.com/office/powerpoint/2010/main" val="2089134169"/>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Nivel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정말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me encanta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조금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me gusta un poco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no me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싫어해요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lo detesto (suena fuerte)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따라 하세요  </a:t>
            </a:r>
            <a:r>
              <a:rPr lang="en-US" sz="3000" b="1" dirty="0">
                <a:solidFill>
                  <a:srgbClr val="003478"/>
                </a:solidFill>
              </a:rPr>
              <a:t>Repite conmigo</a:t>
            </a:r>
            <a:r>
              <a:rPr lang="en-US" sz="1500" b="1" i="1" dirty="0">
                <a:solidFill>
                  <a:srgbClr val="8A8DA0"/>
                </a:solidFill>
              </a:rPr>
              <a:t>   Repeat after me</a:t>
            </a:r>
            <a:endParaRPr lang="en-US" sz="3000" dirty="0"/>
          </a:p>
        </p:txBody>
      </p:sp>
      <p:sp>
        <p:nvSpPr>
          <p:cNvPr id="3" name="card_0"/>
          <p:cNvSpPr/>
          <p:nvPr/>
        </p:nvSpPr>
        <p:spPr>
          <a:xfrm>
            <a:off x="548640"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4" name="Text 2"/>
          <p:cNvSpPr txBox="1"/>
          <p:nvPr/>
        </p:nvSpPr>
        <p:spPr>
          <a:xfrm>
            <a:off x="548640"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좋아해요</a:t>
            </a:r>
            <a:endParaRPr lang="en-US" sz="4200" dirty="0"/>
          </a:p>
        </p:txBody>
      </p:sp>
      <p:sp>
        <p:nvSpPr>
          <p:cNvPr id="5" name="Text 3"/>
          <p:cNvSpPr txBox="1"/>
          <p:nvPr/>
        </p:nvSpPr>
        <p:spPr>
          <a:xfrm>
            <a:off x="548640"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[조아해요</a:t>
            </a:r>
            <a:r>
              <a:rPr lang="en-US" sz="1300" dirty="0">
                <a:solidFill>
                  <a:srgbClr val="8A8DA0"/>
                </a:solidFill>
              </a:rPr>
              <a:t>]</a:t>
            </a:r>
            <a:endParaRPr lang="en-US" sz="1300" dirty="0"/>
          </a:p>
        </p:txBody>
      </p:sp>
      <p:sp>
        <p:nvSpPr>
          <p:cNvPr id="6" name="Text 4"/>
          <p:cNvSpPr txBox="1"/>
          <p:nvPr/>
        </p:nvSpPr>
        <p:spPr>
          <a:xfrm>
            <a:off x="621792" y="3728923"/>
            <a:ext cx="2455164" cy="157459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gusta</a:t>
            </a:r>
            <a:endParaRPr lang="en-US" sz="1600" dirty="0"/>
          </a:p>
        </p:txBody>
      </p:sp>
      <p:sp>
        <p:nvSpPr>
          <p:cNvPr id="7" name="card_1"/>
          <p:cNvSpPr/>
          <p:nvPr/>
        </p:nvSpPr>
        <p:spPr>
          <a:xfrm>
            <a:off x="3378708"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8" name="Text 6"/>
          <p:cNvSpPr txBox="1"/>
          <p:nvPr/>
        </p:nvSpPr>
        <p:spPr>
          <a:xfrm>
            <a:off x="3378708"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싫어해요</a:t>
            </a:r>
            <a:endParaRPr lang="en-US" sz="4200" dirty="0"/>
          </a:p>
        </p:txBody>
      </p:sp>
      <p:sp>
        <p:nvSpPr>
          <p:cNvPr id="9" name="Text 7"/>
          <p:cNvSpPr txBox="1"/>
          <p:nvPr/>
        </p:nvSpPr>
        <p:spPr>
          <a:xfrm>
            <a:off x="3378708"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[시러해요</a:t>
            </a:r>
            <a:r>
              <a:rPr lang="en-US" sz="1300" dirty="0">
                <a:solidFill>
                  <a:srgbClr val="8A8DA0"/>
                </a:solidFill>
              </a:rPr>
              <a:t>]</a:t>
            </a:r>
            <a:endParaRPr lang="en-US" sz="1300" dirty="0"/>
          </a:p>
        </p:txBody>
      </p:sp>
      <p:sp>
        <p:nvSpPr>
          <p:cNvPr id="10" name="Text 8"/>
          <p:cNvSpPr txBox="1"/>
          <p:nvPr/>
        </p:nvSpPr>
        <p:spPr>
          <a:xfrm>
            <a:off x="3451860" y="3728923"/>
            <a:ext cx="2455164" cy="157459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lo detesto (suena fuerte)</a:t>
            </a:r>
            <a:endParaRPr lang="en-US" sz="1600" dirty="0"/>
          </a:p>
        </p:txBody>
      </p:sp>
      <p:sp>
        <p:nvSpPr>
          <p:cNvPr id="11" name="card_2"/>
          <p:cNvSpPr/>
          <p:nvPr/>
        </p:nvSpPr>
        <p:spPr>
          <a:xfrm>
            <a:off x="6208776"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2" name="Text 10"/>
          <p:cNvSpPr txBox="1"/>
          <p:nvPr/>
        </p:nvSpPr>
        <p:spPr>
          <a:xfrm>
            <a:off x="6208776" y="1962302"/>
            <a:ext cx="2601468" cy="1492301"/>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라면을</a:t>
            </a:r>
            <a:endParaRPr lang="en-US" sz="5400" dirty="0"/>
          </a:p>
        </p:txBody>
      </p:sp>
      <p:sp>
        <p:nvSpPr>
          <p:cNvPr id="13" name="Text 11"/>
          <p:cNvSpPr txBox="1"/>
          <p:nvPr/>
        </p:nvSpPr>
        <p:spPr>
          <a:xfrm>
            <a:off x="6208776"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[라며늘</a:t>
            </a:r>
            <a:r>
              <a:rPr lang="en-US" sz="1300" dirty="0">
                <a:solidFill>
                  <a:srgbClr val="8A8DA0"/>
                </a:solidFill>
              </a:rPr>
              <a:t>]</a:t>
            </a:r>
            <a:endParaRPr lang="en-US" sz="1300" dirty="0"/>
          </a:p>
        </p:txBody>
      </p:sp>
      <p:sp>
        <p:nvSpPr>
          <p:cNvPr id="14" name="Text 12"/>
          <p:cNvSpPr txBox="1"/>
          <p:nvPr/>
        </p:nvSpPr>
        <p:spPr>
          <a:xfrm>
            <a:off x="6281928" y="3728923"/>
            <a:ext cx="2455164" cy="157459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ramyeon (objeto)</a:t>
            </a:r>
            <a:endParaRPr lang="en-US" sz="1600" dirty="0"/>
          </a:p>
        </p:txBody>
      </p:sp>
      <p:sp>
        <p:nvSpPr>
          <p:cNvPr id="15" name="card_3"/>
          <p:cNvSpPr/>
          <p:nvPr/>
        </p:nvSpPr>
        <p:spPr>
          <a:xfrm>
            <a:off x="9038844"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6" name="Text 14"/>
          <p:cNvSpPr txBox="1"/>
          <p:nvPr/>
        </p:nvSpPr>
        <p:spPr>
          <a:xfrm>
            <a:off x="9038844" y="1962302"/>
            <a:ext cx="2601468" cy="1492301"/>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과일을</a:t>
            </a:r>
            <a:endParaRPr lang="en-US" sz="5400" dirty="0"/>
          </a:p>
        </p:txBody>
      </p:sp>
      <p:sp>
        <p:nvSpPr>
          <p:cNvPr id="17" name="Text 15"/>
          <p:cNvSpPr txBox="1"/>
          <p:nvPr/>
        </p:nvSpPr>
        <p:spPr>
          <a:xfrm>
            <a:off x="9038844"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[과이를</a:t>
            </a:r>
            <a:r>
              <a:rPr lang="en-US" sz="1300" dirty="0">
                <a:solidFill>
                  <a:srgbClr val="8A8DA0"/>
                </a:solidFill>
              </a:rPr>
              <a:t>]</a:t>
            </a:r>
            <a:endParaRPr lang="en-US" sz="1300" dirty="0"/>
          </a:p>
        </p:txBody>
      </p:sp>
      <p:sp>
        <p:nvSpPr>
          <p:cNvPr id="18" name="Text 16"/>
          <p:cNvSpPr txBox="1"/>
          <p:nvPr/>
        </p:nvSpPr>
        <p:spPr>
          <a:xfrm>
            <a:off x="9111996" y="3728923"/>
            <a:ext cx="2455164" cy="157459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la fruta (objeto)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___을</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를 좋아해요</a:t>
            </a:r>
            <a:r>
              <a:rPr lang="en-US" sz="2600" b="1" dirty="0">
                <a:solidFill>
                  <a:srgbClr val="4236F6"/>
                </a:solidFill>
              </a:rPr>
              <a:t>?  </a:t>
            </a:r>
            <a:r>
              <a:rPr lang="en-US" sz="2600" b="1" dirty="0">
                <a:solidFill>
                  <a:srgbClr val="003478"/>
                </a:solidFill>
              </a:rPr>
              <a:t>¿Te gusta ___? (1/2)</a:t>
            </a:r>
            <a:r>
              <a:rPr lang="en-US" sz="1500" b="1" i="1" dirty="0">
                <a:solidFill>
                  <a:srgbClr val="8A8DA0"/>
                </a:solidFill>
              </a:rPr>
              <a:t>   Do you like ___? (1/2)</a:t>
            </a:r>
            <a:endParaRPr lang="en-US" sz="3000" dirty="0"/>
          </a:p>
        </p:txBody>
      </p:sp>
      <p:sp>
        <p:nvSpPr>
          <p:cNvPr id="3" name="card_0"/>
          <p:cNvSpPr/>
          <p:nvPr/>
        </p:nvSpPr>
        <p:spPr>
          <a:xfrm>
            <a:off x="548640"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c82aceab3bc.png"/>
          <p:cNvPicPr>
            <a:picLocks noChangeAspect="1"/>
          </p:cNvPicPr>
          <p:nvPr/>
        </p:nvPicPr>
        <p:blipFill>
          <a:blip r:embed="rId13"/>
          <a:stretch>
            <a:fillRect/>
          </a:stretch>
        </p:blipFill>
        <p:spPr>
          <a:xfrm>
            <a:off x="1836191" y="1435608"/>
            <a:ext cx="969721" cy="969721"/>
          </a:xfrm>
          <a:prstGeom prst="rect">
            <a:avLst/>
          </a:prstGeom>
        </p:spPr>
      </p:pic>
      <p:sp>
        <p:nvSpPr>
          <p:cNvPr id="5" name="Text 2"/>
          <p:cNvSpPr txBox="1"/>
          <p:nvPr/>
        </p:nvSpPr>
        <p:spPr>
          <a:xfrm>
            <a:off x="548640"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사과</a:t>
            </a:r>
            <a:endParaRPr lang="en-US" sz="3100" dirty="0"/>
          </a:p>
        </p:txBody>
      </p:sp>
      <p:sp>
        <p:nvSpPr>
          <p:cNvPr id="6" name="Text 3"/>
          <p:cNvSpPr txBox="1"/>
          <p:nvPr/>
        </p:nvSpPr>
        <p:spPr>
          <a:xfrm>
            <a:off x="621792"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manzana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4"/>
          <a:stretch>
            <a:fillRect/>
          </a:stretch>
        </p:blipFill>
        <p:spPr>
          <a:xfrm>
            <a:off x="3654552" y="3214116"/>
            <a:ext cx="329184" cy="329184"/>
          </a:xfrm>
          <a:prstGeom prst="rect">
            <a:avLst/>
          </a:prstGeom>
        </p:spPr>
      </p:pic>
      <p:sp>
        <p:nvSpPr>
          <p:cNvPr id="8" name="card_1"/>
          <p:cNvSpPr/>
          <p:nvPr/>
        </p:nvSpPr>
        <p:spPr>
          <a:xfrm>
            <a:off x="4322064"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ebb094eb8298eb8298.png"/>
          <p:cNvPicPr>
            <a:picLocks noChangeAspect="1"/>
          </p:cNvPicPr>
          <p:nvPr/>
        </p:nvPicPr>
        <p:blipFill>
          <a:blip r:embed="rId15"/>
          <a:stretch>
            <a:fillRect/>
          </a:stretch>
        </p:blipFill>
        <p:spPr>
          <a:xfrm>
            <a:off x="5609615" y="1435608"/>
            <a:ext cx="969721" cy="969721"/>
          </a:xfrm>
          <a:prstGeom prst="rect">
            <a:avLst/>
          </a:prstGeom>
        </p:spPr>
      </p:pic>
      <p:sp>
        <p:nvSpPr>
          <p:cNvPr id="10" name="Text 5"/>
          <p:cNvSpPr txBox="1"/>
          <p:nvPr/>
        </p:nvSpPr>
        <p:spPr>
          <a:xfrm>
            <a:off x="4322064"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바나나</a:t>
            </a:r>
            <a:endParaRPr lang="en-US" sz="3100" dirty="0"/>
          </a:p>
        </p:txBody>
      </p:sp>
      <p:sp>
        <p:nvSpPr>
          <p:cNvPr id="11" name="Text 6"/>
          <p:cNvSpPr txBox="1"/>
          <p:nvPr/>
        </p:nvSpPr>
        <p:spPr>
          <a:xfrm>
            <a:off x="4395216"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banana, plátano</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4"/>
          <a:stretch>
            <a:fillRect/>
          </a:stretch>
        </p:blipFill>
        <p:spPr>
          <a:xfrm>
            <a:off x="7427976" y="3214116"/>
            <a:ext cx="329184" cy="329184"/>
          </a:xfrm>
          <a:prstGeom prst="rect">
            <a:avLst/>
          </a:prstGeom>
        </p:spPr>
      </p:pic>
      <p:sp>
        <p:nvSpPr>
          <p:cNvPr id="13" name="card_2"/>
          <p:cNvSpPr/>
          <p:nvPr/>
        </p:nvSpPr>
        <p:spPr>
          <a:xfrm>
            <a:off x="8095488"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eab3bcec9dbc.png"/>
          <p:cNvPicPr>
            <a:picLocks noChangeAspect="1"/>
          </p:cNvPicPr>
          <p:nvPr/>
        </p:nvPicPr>
        <p:blipFill>
          <a:blip r:embed="rId16"/>
          <a:stretch>
            <a:fillRect/>
          </a:stretch>
        </p:blipFill>
        <p:spPr>
          <a:xfrm>
            <a:off x="9383039" y="1435608"/>
            <a:ext cx="969721" cy="969721"/>
          </a:xfrm>
          <a:prstGeom prst="rect">
            <a:avLst/>
          </a:prstGeom>
        </p:spPr>
      </p:pic>
      <p:sp>
        <p:nvSpPr>
          <p:cNvPr id="15" name="Text 8"/>
          <p:cNvSpPr txBox="1"/>
          <p:nvPr/>
        </p:nvSpPr>
        <p:spPr>
          <a:xfrm>
            <a:off x="8095488"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과일</a:t>
            </a:r>
            <a:endParaRPr lang="en-US" sz="3100" dirty="0"/>
          </a:p>
        </p:txBody>
      </p:sp>
      <p:sp>
        <p:nvSpPr>
          <p:cNvPr id="16" name="Text 9"/>
          <p:cNvSpPr txBox="1"/>
          <p:nvPr/>
        </p:nvSpPr>
        <p:spPr>
          <a:xfrm>
            <a:off x="8168640"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fruta</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4"/>
          <a:stretch>
            <a:fillRect/>
          </a:stretch>
        </p:blipFill>
        <p:spPr>
          <a:xfrm>
            <a:off x="11201400" y="3214116"/>
            <a:ext cx="329184" cy="329184"/>
          </a:xfrm>
          <a:prstGeom prst="rect">
            <a:avLst/>
          </a:prstGeom>
        </p:spPr>
      </p:pic>
      <p:sp>
        <p:nvSpPr>
          <p:cNvPr id="18" name="card_3"/>
          <p:cNvSpPr/>
          <p:nvPr/>
        </p:nvSpPr>
        <p:spPr>
          <a:xfrm>
            <a:off x="548640"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ebb688eab3a0eab8b0.png"/>
          <p:cNvPicPr>
            <a:picLocks noChangeAspect="1"/>
          </p:cNvPicPr>
          <p:nvPr/>
        </p:nvPicPr>
        <p:blipFill>
          <a:blip r:embed="rId17"/>
          <a:stretch>
            <a:fillRect/>
          </a:stretch>
        </p:blipFill>
        <p:spPr>
          <a:xfrm>
            <a:off x="1836191" y="3973068"/>
            <a:ext cx="969721" cy="969721"/>
          </a:xfrm>
          <a:prstGeom prst="rect">
            <a:avLst/>
          </a:prstGeom>
        </p:spPr>
      </p:pic>
      <p:sp>
        <p:nvSpPr>
          <p:cNvPr id="20" name="Text 11"/>
          <p:cNvSpPr txBox="1"/>
          <p:nvPr/>
        </p:nvSpPr>
        <p:spPr>
          <a:xfrm>
            <a:off x="548640" y="496107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불고기</a:t>
            </a:r>
            <a:endParaRPr lang="en-US" sz="3100" dirty="0"/>
          </a:p>
        </p:txBody>
      </p:sp>
      <p:sp>
        <p:nvSpPr>
          <p:cNvPr id="21" name="Text 12"/>
          <p:cNvSpPr txBox="1"/>
          <p:nvPr/>
        </p:nvSpPr>
        <p:spPr>
          <a:xfrm>
            <a:off x="621792" y="546902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bulgogi (carne marinada)</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4"/>
          <a:stretch>
            <a:fillRect/>
          </a:stretch>
        </p:blipFill>
        <p:spPr>
          <a:xfrm>
            <a:off x="3654552" y="5751576"/>
            <a:ext cx="329184" cy="329184"/>
          </a:xfrm>
          <a:prstGeom prst="rect">
            <a:avLst/>
          </a:prstGeom>
        </p:spPr>
      </p:pic>
      <p:sp>
        <p:nvSpPr>
          <p:cNvPr id="23" name="card_4"/>
          <p:cNvSpPr/>
          <p:nvPr/>
        </p:nvSpPr>
        <p:spPr>
          <a:xfrm>
            <a:off x="4322064"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b9dbceba9b4.png"/>
          <p:cNvPicPr>
            <a:picLocks noChangeAspect="1"/>
          </p:cNvPicPr>
          <p:nvPr/>
        </p:nvPicPr>
        <p:blipFill>
          <a:blip r:embed="rId18"/>
          <a:stretch>
            <a:fillRect/>
          </a:stretch>
        </p:blipFill>
        <p:spPr>
          <a:xfrm>
            <a:off x="5609615" y="3973068"/>
            <a:ext cx="969721" cy="969721"/>
          </a:xfrm>
          <a:prstGeom prst="rect">
            <a:avLst/>
          </a:prstGeom>
        </p:spPr>
      </p:pic>
      <p:sp>
        <p:nvSpPr>
          <p:cNvPr id="25" name="Text 14"/>
          <p:cNvSpPr txBox="1"/>
          <p:nvPr/>
        </p:nvSpPr>
        <p:spPr>
          <a:xfrm>
            <a:off x="4322064" y="496107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라면</a:t>
            </a:r>
            <a:endParaRPr lang="en-US" sz="3100" dirty="0"/>
          </a:p>
        </p:txBody>
      </p:sp>
      <p:sp>
        <p:nvSpPr>
          <p:cNvPr id="26" name="Text 15"/>
          <p:cNvSpPr txBox="1"/>
          <p:nvPr/>
        </p:nvSpPr>
        <p:spPr>
          <a:xfrm>
            <a:off x="4395216" y="546902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ramyeon (fideos instantáneos)</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4"/>
          <a:stretch>
            <a:fillRect/>
          </a:stretch>
        </p:blipFill>
        <p:spPr>
          <a:xfrm>
            <a:off x="7427976" y="5751576"/>
            <a:ext cx="329184" cy="329184"/>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___을</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를 좋아해요</a:t>
            </a:r>
            <a:r>
              <a:rPr lang="en-US" sz="2600" b="1" dirty="0">
                <a:solidFill>
                  <a:srgbClr val="4236F6"/>
                </a:solidFill>
              </a:rPr>
              <a:t>?  </a:t>
            </a:r>
            <a:r>
              <a:rPr lang="en-US" sz="2600" b="1" dirty="0">
                <a:solidFill>
                  <a:srgbClr val="003478"/>
                </a:solidFill>
              </a:rPr>
              <a:t>¿Te gusta ___? (2/2)</a:t>
            </a:r>
            <a:r>
              <a:rPr lang="en-US" sz="1500" b="1" i="1" dirty="0">
                <a:solidFill>
                  <a:srgbClr val="8A8DA0"/>
                </a:solidFill>
              </a:rPr>
              <a:t>   Do you like ___? (2/2)</a:t>
            </a:r>
            <a:endParaRPr lang="en-US" sz="3000" dirty="0"/>
          </a:p>
        </p:txBody>
      </p:sp>
      <p:sp>
        <p:nvSpPr>
          <p:cNvPr id="3" name="card_0"/>
          <p:cNvSpPr/>
          <p:nvPr/>
        </p:nvSpPr>
        <p:spPr>
          <a:xfrm>
            <a:off x="548640"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c9881ed9994.png"/>
          <p:cNvPicPr>
            <a:picLocks noChangeAspect="1"/>
          </p:cNvPicPr>
          <p:nvPr/>
        </p:nvPicPr>
        <p:blipFill>
          <a:blip r:embed="rId13"/>
          <a:stretch>
            <a:fillRect/>
          </a:stretch>
        </p:blipFill>
        <p:spPr>
          <a:xfrm>
            <a:off x="1836191" y="1435608"/>
            <a:ext cx="969721" cy="969721"/>
          </a:xfrm>
          <a:prstGeom prst="rect">
            <a:avLst/>
          </a:prstGeom>
        </p:spPr>
      </p:pic>
      <p:sp>
        <p:nvSpPr>
          <p:cNvPr id="5" name="Text 2"/>
          <p:cNvSpPr txBox="1"/>
          <p:nvPr/>
        </p:nvSpPr>
        <p:spPr>
          <a:xfrm>
            <a:off x="548640"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영화</a:t>
            </a:r>
            <a:endParaRPr lang="en-US" sz="3100" dirty="0"/>
          </a:p>
        </p:txBody>
      </p:sp>
      <p:sp>
        <p:nvSpPr>
          <p:cNvPr id="6" name="Text 3"/>
          <p:cNvSpPr txBox="1"/>
          <p:nvPr/>
        </p:nvSpPr>
        <p:spPr>
          <a:xfrm>
            <a:off x="621792"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película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4"/>
          <a:stretch>
            <a:fillRect/>
          </a:stretch>
        </p:blipFill>
        <p:spPr>
          <a:xfrm>
            <a:off x="3654552" y="3214116"/>
            <a:ext cx="329184" cy="329184"/>
          </a:xfrm>
          <a:prstGeom prst="rect">
            <a:avLst/>
          </a:prstGeom>
        </p:spPr>
      </p:pic>
      <p:sp>
        <p:nvSpPr>
          <p:cNvPr id="8" name="card_1"/>
          <p:cNvSpPr/>
          <p:nvPr/>
        </p:nvSpPr>
        <p:spPr>
          <a:xfrm>
            <a:off x="4322064"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eb85b8eb9e98.png"/>
          <p:cNvPicPr>
            <a:picLocks noChangeAspect="1"/>
          </p:cNvPicPr>
          <p:nvPr/>
        </p:nvPicPr>
        <p:blipFill>
          <a:blip r:embed="rId15"/>
          <a:stretch>
            <a:fillRect/>
          </a:stretch>
        </p:blipFill>
        <p:spPr>
          <a:xfrm>
            <a:off x="5609615" y="1435608"/>
            <a:ext cx="969721" cy="969721"/>
          </a:xfrm>
          <a:prstGeom prst="rect">
            <a:avLst/>
          </a:prstGeom>
        </p:spPr>
      </p:pic>
      <p:sp>
        <p:nvSpPr>
          <p:cNvPr id="10" name="Text 5"/>
          <p:cNvSpPr txBox="1"/>
          <p:nvPr/>
        </p:nvSpPr>
        <p:spPr>
          <a:xfrm>
            <a:off x="4322064"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노래</a:t>
            </a:r>
            <a:endParaRPr lang="en-US" sz="3100" dirty="0"/>
          </a:p>
        </p:txBody>
      </p:sp>
      <p:sp>
        <p:nvSpPr>
          <p:cNvPr id="11" name="Text 6"/>
          <p:cNvSpPr txBox="1"/>
          <p:nvPr/>
        </p:nvSpPr>
        <p:spPr>
          <a:xfrm>
            <a:off x="4395216"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canción</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4"/>
          <a:stretch>
            <a:fillRect/>
          </a:stretch>
        </p:blipFill>
        <p:spPr>
          <a:xfrm>
            <a:off x="7427976" y="3214116"/>
            <a:ext cx="329184" cy="329184"/>
          </a:xfrm>
          <a:prstGeom prst="rect">
            <a:avLst/>
          </a:prstGeom>
        </p:spPr>
      </p:pic>
      <p:sp>
        <p:nvSpPr>
          <p:cNvPr id="13" name="card_2"/>
          <p:cNvSpPr/>
          <p:nvPr/>
        </p:nvSpPr>
        <p:spPr>
          <a:xfrm>
            <a:off x="8095488"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eb939ceb9dbceba788.png"/>
          <p:cNvPicPr>
            <a:picLocks noChangeAspect="1"/>
          </p:cNvPicPr>
          <p:nvPr/>
        </p:nvPicPr>
        <p:blipFill>
          <a:blip r:embed="rId16"/>
          <a:stretch>
            <a:fillRect/>
          </a:stretch>
        </p:blipFill>
        <p:spPr>
          <a:xfrm>
            <a:off x="9383039" y="1435608"/>
            <a:ext cx="969721" cy="969721"/>
          </a:xfrm>
          <a:prstGeom prst="rect">
            <a:avLst/>
          </a:prstGeom>
        </p:spPr>
      </p:pic>
      <p:sp>
        <p:nvSpPr>
          <p:cNvPr id="15" name="Text 8"/>
          <p:cNvSpPr txBox="1"/>
          <p:nvPr/>
        </p:nvSpPr>
        <p:spPr>
          <a:xfrm>
            <a:off x="8095488" y="242361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드라마</a:t>
            </a:r>
            <a:endParaRPr lang="en-US" sz="3100" dirty="0"/>
          </a:p>
        </p:txBody>
      </p:sp>
      <p:sp>
        <p:nvSpPr>
          <p:cNvPr id="16" name="Text 9"/>
          <p:cNvSpPr txBox="1"/>
          <p:nvPr/>
        </p:nvSpPr>
        <p:spPr>
          <a:xfrm>
            <a:off x="8168640" y="293156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serie, K-drama</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4"/>
          <a:stretch>
            <a:fillRect/>
          </a:stretch>
        </p:blipFill>
        <p:spPr>
          <a:xfrm>
            <a:off x="11201400" y="3214116"/>
            <a:ext cx="329184" cy="329184"/>
          </a:xfrm>
          <a:prstGeom prst="rect">
            <a:avLst/>
          </a:prstGeom>
        </p:spPr>
      </p:pic>
      <p:sp>
        <p:nvSpPr>
          <p:cNvPr id="18" name="card_3"/>
          <p:cNvSpPr/>
          <p:nvPr/>
        </p:nvSpPr>
        <p:spPr>
          <a:xfrm>
            <a:off x="548640"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ec9ab4eb8f99.png"/>
          <p:cNvPicPr>
            <a:picLocks noChangeAspect="1"/>
          </p:cNvPicPr>
          <p:nvPr/>
        </p:nvPicPr>
        <p:blipFill>
          <a:blip r:embed="rId17"/>
          <a:stretch>
            <a:fillRect/>
          </a:stretch>
        </p:blipFill>
        <p:spPr>
          <a:xfrm>
            <a:off x="1836191" y="3973068"/>
            <a:ext cx="969721" cy="969721"/>
          </a:xfrm>
          <a:prstGeom prst="rect">
            <a:avLst/>
          </a:prstGeom>
        </p:spPr>
      </p:pic>
      <p:sp>
        <p:nvSpPr>
          <p:cNvPr id="20" name="Text 11"/>
          <p:cNvSpPr txBox="1"/>
          <p:nvPr/>
        </p:nvSpPr>
        <p:spPr>
          <a:xfrm>
            <a:off x="548640" y="496107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운동</a:t>
            </a:r>
            <a:endParaRPr lang="en-US" sz="3100" dirty="0"/>
          </a:p>
        </p:txBody>
      </p:sp>
      <p:sp>
        <p:nvSpPr>
          <p:cNvPr id="21" name="Text 12"/>
          <p:cNvSpPr txBox="1"/>
          <p:nvPr/>
        </p:nvSpPr>
        <p:spPr>
          <a:xfrm>
            <a:off x="621792" y="546902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deporte, ejercicio</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4"/>
          <a:stretch>
            <a:fillRect/>
          </a:stretch>
        </p:blipFill>
        <p:spPr>
          <a:xfrm>
            <a:off x="3654552" y="5751576"/>
            <a:ext cx="329184" cy="329184"/>
          </a:xfrm>
          <a:prstGeom prst="rect">
            <a:avLst/>
          </a:prstGeom>
        </p:spPr>
      </p:pic>
      <p:sp>
        <p:nvSpPr>
          <p:cNvPr id="23" name="card_4"/>
          <p:cNvSpPr/>
          <p:nvPr/>
        </p:nvSpPr>
        <p:spPr>
          <a:xfrm>
            <a:off x="4322064"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ab980ecb998.png"/>
          <p:cNvPicPr>
            <a:picLocks noChangeAspect="1"/>
          </p:cNvPicPr>
          <p:nvPr/>
        </p:nvPicPr>
        <p:blipFill>
          <a:blip r:embed="rId18"/>
          <a:stretch>
            <a:fillRect/>
          </a:stretch>
        </p:blipFill>
        <p:spPr>
          <a:xfrm>
            <a:off x="5609615" y="3973068"/>
            <a:ext cx="969721" cy="969721"/>
          </a:xfrm>
          <a:prstGeom prst="rect">
            <a:avLst/>
          </a:prstGeom>
        </p:spPr>
      </p:pic>
      <p:sp>
        <p:nvSpPr>
          <p:cNvPr id="25" name="Text 14"/>
          <p:cNvSpPr txBox="1"/>
          <p:nvPr/>
        </p:nvSpPr>
        <p:spPr>
          <a:xfrm>
            <a:off x="4322064" y="4961077"/>
            <a:ext cx="3544824"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김치</a:t>
            </a:r>
            <a:endParaRPr lang="en-US" sz="3100" dirty="0"/>
          </a:p>
        </p:txBody>
      </p:sp>
      <p:sp>
        <p:nvSpPr>
          <p:cNvPr id="26" name="Text 15"/>
          <p:cNvSpPr txBox="1"/>
          <p:nvPr/>
        </p:nvSpPr>
        <p:spPr>
          <a:xfrm>
            <a:off x="4395216" y="5469026"/>
            <a:ext cx="3398520"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kimchi</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4"/>
          <a:stretch>
            <a:fillRect/>
          </a:stretch>
        </p:blipFill>
        <p:spPr>
          <a:xfrm>
            <a:off x="7427976" y="5751576"/>
            <a:ext cx="329184" cy="329184"/>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사과를 좋아해요</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배를 좋아해요</a:t>
            </a:r>
            <a:r>
              <a:rPr lang="en-US" sz="2200" b="1" dirty="0">
                <a:solidFill>
                  <a:srgbClr val="4236F6"/>
                </a:solidFill>
              </a:rPr>
              <a:t>?  </a:t>
            </a:r>
            <a:r>
              <a:rPr lang="en-US" sz="2200" b="1" dirty="0">
                <a:solidFill>
                  <a:srgbClr val="003478"/>
                </a:solidFill>
              </a:rPr>
              <a:t>Una caja de manzanas</a:t>
            </a:r>
            <a:r>
              <a:rPr lang="en-US" sz="1500" b="1" i="1" dirty="0">
                <a:solidFill>
                  <a:srgbClr val="8A8DA0"/>
                </a:solidFill>
              </a:rPr>
              <a:t>   A box of apples</a:t>
            </a:r>
            <a:endParaRPr lang="en-US" sz="3000" dirty="0"/>
          </a:p>
        </p:txBody>
      </p:sp>
      <p:sp>
        <p:nvSpPr>
          <p:cNvPr id="3" name="col_0"/>
          <p:cNvSpPr/>
          <p:nvPr/>
        </p:nvSpPr>
        <p:spPr>
          <a:xfrm>
            <a:off x="548640" y="1325880"/>
            <a:ext cx="5385816" cy="4846320"/>
          </a:xfrm>
          <a:prstGeom prst="roundRect">
            <a:avLst>
              <a:gd name="adj" fmla="val 2830"/>
            </a:avLst>
          </a:prstGeom>
          <a:solidFill>
            <a:srgbClr val="F1F0FE"/>
          </a:solidFill>
          <a:ln w="12700">
            <a:solidFill>
              <a:srgbClr val="D9D7F7"/>
            </a:solidFill>
            <a:prstDash val="solid"/>
          </a:ln>
        </p:spPr>
      </p:sp>
      <p:sp>
        <p:nvSpPr>
          <p:cNvPr id="4" name="Text 2"/>
          <p:cNvSpPr txBox="1"/>
          <p:nvPr/>
        </p:nvSpPr>
        <p:spPr>
          <a:xfrm>
            <a:off x="777240" y="150876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En Corea</a:t>
            </a:r>
            <a:endParaRPr lang="en-US" sz="2000" dirty="0"/>
          </a:p>
        </p:txBody>
      </p:sp>
      <p:sp>
        <p:nvSpPr>
          <p:cNvPr id="5" name="Text 3"/>
          <p:cNvSpPr txBox="1"/>
          <p:nvPr/>
        </p:nvSpPr>
        <p:spPr>
          <a:xfrm>
            <a:off x="777240" y="210312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추석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설날</a:t>
            </a:r>
            <a:endParaRPr lang="en-US" sz="5400" dirty="0"/>
          </a:p>
        </p:txBody>
      </p:sp>
      <p:sp>
        <p:nvSpPr>
          <p:cNvPr id="6" name="lista"/>
          <p:cNvSpPr txBox="1"/>
          <p:nvPr/>
        </p:nvSpPr>
        <p:spPr>
          <a:xfrm>
            <a:off x="731520" y="3108960"/>
            <a:ext cx="5020056"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Regalo clásico: una caja de 사과 </a:t>
            </a:r>
            <a:r>
              <a:rPr lang="en-US" sz="2000" dirty="0">
                <a:solidFill>
                  <a:srgbClr val="14142B"/>
                </a:solidFill>
              </a:rPr>
              <a:t>o de </a:t>
            </a:r>
            <a:r>
              <a:rPr lang="ko-KR" altLang="en-US" sz="2000" dirty="0">
                <a:solidFill>
                  <a:srgbClr val="14142B"/>
                </a:solidFill>
                <a:latin typeface="Malgun Gothic" pitchFamily="34" charset="0"/>
                <a:ea typeface="Malgun Gothic" pitchFamily="34" charset="-122"/>
                <a:cs typeface="Malgun Gothic" pitchFamily="34" charset="-120"/>
              </a:rPr>
              <a:t>배</a:t>
            </a:r>
            <a:r>
              <a:rPr lang="en-US" sz="2000" dirty="0">
                <a:solidFill>
                  <a:srgbClr val="14142B"/>
                </a:solidFill>
              </a:rPr>
              <a:t>, cada fruta envuelta una por una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추석</a:t>
            </a:r>
            <a:r>
              <a:rPr lang="en-US" sz="2000" dirty="0">
                <a:solidFill>
                  <a:srgbClr val="14142B"/>
                </a:solidFill>
              </a:rPr>
              <a:t>: fiesta de la cosecha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설날</a:t>
            </a:r>
            <a:r>
              <a:rPr lang="en-US" sz="2000" dirty="0">
                <a:solidFill>
                  <a:srgbClr val="14142B"/>
                </a:solidFill>
              </a:rPr>
              <a:t>: Año Nuevo lunar · el próximo es el 7 de febrero de 2027</a:t>
            </a:r>
            <a:endParaRPr lang="en-US" sz="2000" dirty="0"/>
          </a:p>
        </p:txBody>
      </p:sp>
      <p:sp>
        <p:nvSpPr>
          <p:cNvPr id="7" name="col_1"/>
          <p:cNvSpPr/>
          <p:nvPr/>
        </p:nvSpPr>
        <p:spPr>
          <a:xfrm>
            <a:off x="6254496" y="1325880"/>
            <a:ext cx="5385816" cy="4846320"/>
          </a:xfrm>
          <a:prstGeom prst="roundRect">
            <a:avLst>
              <a:gd name="adj" fmla="val 2830"/>
            </a:avLst>
          </a:prstGeom>
          <a:solidFill>
            <a:srgbClr val="FFFFFF"/>
          </a:solidFill>
          <a:ln w="12700">
            <a:solidFill>
              <a:srgbClr val="D9D7F7"/>
            </a:solidFill>
            <a:prstDash val="solid"/>
          </a:ln>
        </p:spPr>
      </p:sp>
      <p:sp>
        <p:nvSpPr>
          <p:cNvPr id="8" name="Text 6"/>
          <p:cNvSpPr txBox="1"/>
          <p:nvPr/>
        </p:nvSpPr>
        <p:spPr>
          <a:xfrm>
            <a:off x="6483096" y="150876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Por acá</a:t>
            </a:r>
            <a:endParaRPr lang="en-US" sz="2000" dirty="0"/>
          </a:p>
        </p:txBody>
      </p:sp>
      <p:sp>
        <p:nvSpPr>
          <p:cNvPr id="9" name="lista"/>
          <p:cNvSpPr txBox="1"/>
          <p:nvPr/>
        </p:nvSpPr>
        <p:spPr>
          <a:xfrm>
            <a:off x="6437376" y="2103120"/>
            <a:ext cx="5020056" cy="39319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canasta navideña (en Colombia, la ancheta)</a:t>
            </a:r>
            <a:endParaRPr lang="en-US" sz="2000" dirty="0"/>
          </a:p>
          <a:p>
            <a:pPr marL="228600" indent="-228600" eaLnBrk="1">
              <a:spcAft>
                <a:spcPts val="800"/>
              </a:spcAft>
              <a:buSzPct val="100000"/>
              <a:buChar char="•"/>
            </a:pPr>
            <a:r>
              <a:rPr lang="en-US" sz="2000" dirty="0">
                <a:solidFill>
                  <a:srgbClr val="14142B"/>
                </a:solidFill>
              </a:rPr>
              <a:t>El pan de pascua en Chile, el pan dulce en Argentina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추석 </a:t>
            </a:r>
            <a:r>
              <a:rPr lang="en-US" sz="2000" dirty="0">
                <a:solidFill>
                  <a:srgbClr val="14142B"/>
                </a:solidFill>
              </a:rPr>
              <a:t>↔ Fiestas Patrias: todos vuelven a ver a la familia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Encuesta de gustos · 7 minutos</a:t>
            </a:r>
            <a:r>
              <a:rPr lang="en-US" sz="1500" b="1" i="1" dirty="0">
                <a:solidFill>
                  <a:srgbClr val="8A8DA0"/>
                </a:solidFill>
              </a:rPr>
              <a:t>   Likes survey · 7 minutes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En parejas o tríos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Pregunta: ___을</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를 좋아해요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정말 좋아해요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조금 좋아해요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뭘 좋아해요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Anota en tu hoja: ++ 정말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좋아해요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조금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안 좋아해요</a:t>
            </a:r>
            <a:endParaRPr lang="en-US" sz="2000" dirty="0"/>
          </a:p>
          <a:p>
            <a:pPr marL="228600" indent="-228600" eaLnBrk="1">
              <a:spcAft>
                <a:spcPts val="800"/>
              </a:spcAft>
              <a:buSzPct val="100000"/>
              <a:buChar char="•"/>
            </a:pPr>
            <a:r>
              <a:rPr lang="en-US" sz="2000" dirty="0">
                <a:solidFill>
                  <a:srgbClr val="14142B"/>
                </a:solidFill>
              </a:rPr>
              <a:t>Las 13 palabras de la tarjeta + tu palabra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3) Prepara una coincidencia y una diferencia, para el chat en 한글</a:t>
            </a:r>
            <a:endParaRPr lang="en-US" sz="2000" dirty="0"/>
          </a:p>
          <a:p>
            <a:pPr marL="228600" indent="-228600" eaLnBrk="1">
              <a:spcAft>
                <a:spcPts val="800"/>
              </a:spcAft>
              <a:buSzPct val="100000"/>
              <a:buChar char="•"/>
            </a:pPr>
            <a:r>
              <a:rPr lang="en-US" sz="2000" dirty="0">
                <a:solidFill>
                  <a:srgbClr val="14142B"/>
                </a:solidFill>
              </a:rPr>
              <a:t>4) ¿Sobra tiempo? Dile a tu compañero tus 2 frases de gustos</a:t>
            </a:r>
            <a:endParaRPr lang="en-US" sz="2000" dirty="0"/>
          </a:p>
          <a:p>
            <a:pPr marL="228600" indent="-228600" eaLnBrk="1">
              <a:spcAft>
                <a:spcPts val="800"/>
              </a:spcAft>
              <a:buSzPct val="100000"/>
              <a:buChar char="•"/>
            </a:pPr>
            <a:r>
              <a:rPr lang="en-US" sz="2000" dirty="0">
                <a:solidFill>
                  <a:srgbClr val="14142B"/>
                </a:solidFill>
              </a:rPr>
              <a:t>La tarjeta está en tu hoja: “En clase · A. Encuesta de gustos”</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Reporte</a:t>
            </a:r>
            <a:r>
              <a:rPr lang="en-US" sz="1500" b="1" i="1" dirty="0">
                <a:solidFill>
                  <a:srgbClr val="8A8DA0"/>
                </a:solidFill>
              </a:rPr>
              <a:t>   Report</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Al chat, en 한글</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coincidencia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우리는 </a:t>
            </a:r>
            <a:r>
              <a:rPr lang="en-US" sz="2800" b="1" dirty="0">
                <a:solidFill>
                  <a:srgbClr val="4236F6"/>
                </a:solidFill>
              </a:rPr>
              <a:t>___</a:t>
            </a:r>
            <a:r>
              <a:rPr lang="ko-KR" altLang="en-US" sz="2800" b="1" dirty="0">
                <a:solidFill>
                  <a:srgbClr val="4236F6"/>
                </a:solidFill>
                <a:latin typeface="Malgun Gothic" pitchFamily="34" charset="0"/>
                <a:ea typeface="Malgun Gothic" pitchFamily="34" charset="-122"/>
                <a:cs typeface="Malgun Gothic" pitchFamily="34" charset="-120"/>
              </a:rPr>
              <a:t>을</a:t>
            </a:r>
            <a:r>
              <a:rPr lang="en-US" sz="2800" b="1" dirty="0">
                <a:solidFill>
                  <a:srgbClr val="4236F6"/>
                </a:solidFill>
              </a:rPr>
              <a:t>/</a:t>
            </a:r>
            <a:r>
              <a:rPr lang="ko-KR" altLang="en-US" sz="2800" b="1" dirty="0">
                <a:solidFill>
                  <a:srgbClr val="4236F6"/>
                </a:solidFill>
                <a:latin typeface="Malgun Gothic" pitchFamily="34" charset="0"/>
                <a:ea typeface="Malgun Gothic" pitchFamily="34" charset="-122"/>
                <a:cs typeface="Malgun Gothic" pitchFamily="34" charset="-120"/>
              </a:rPr>
              <a:t>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좋아해요</a:t>
            </a:r>
            <a:r>
              <a:rPr lang="en-US" sz="2800" b="1" dirty="0">
                <a:solidFill>
                  <a:srgbClr val="4236F6"/>
                </a:solidFill>
              </a:rPr>
              <a:t>.</a:t>
            </a:r>
            <a:endParaRPr lang="en-US" sz="28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우리는 라면을 좋아해요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A nosotros nos gusta el ramyeon.</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diferencia</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2500" b="1" dirty="0">
                <a:solidFill>
                  <a:srgbClr val="4236F6"/>
                </a:solidFill>
                <a:latin typeface="Malgun Gothic" pitchFamily="34" charset="0"/>
                <a:ea typeface="Malgun Gothic" pitchFamily="34" charset="-122"/>
                <a:cs typeface="Malgun Gothic" pitchFamily="34" charset="-120"/>
              </a:rPr>
              <a:t>___는</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은 </a:t>
            </a:r>
            <a:r>
              <a:rPr lang="en-US" sz="2500" b="1" dirty="0">
                <a:solidFill>
                  <a:srgbClr val="4236F6"/>
                </a:solidFill>
              </a:rPr>
              <a:t>___</a:t>
            </a:r>
            <a:r>
              <a:rPr lang="ko-KR" altLang="en-US" sz="2500" b="1" dirty="0">
                <a:solidFill>
                  <a:srgbClr val="4236F6"/>
                </a:solidFill>
                <a:latin typeface="Malgun Gothic" pitchFamily="34" charset="0"/>
                <a:ea typeface="Malgun Gothic" pitchFamily="34" charset="-122"/>
                <a:cs typeface="Malgun Gothic" pitchFamily="34" charset="-120"/>
              </a:rPr>
              <a:t>을</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를 좋아해요</a:t>
            </a:r>
            <a:r>
              <a:rPr lang="en-US" sz="2500" b="1" dirty="0">
                <a:solidFill>
                  <a:srgbClr val="4236F6"/>
                </a:solidFill>
              </a:rPr>
              <a:t>.</a:t>
            </a:r>
            <a:endParaRPr lang="en-US" sz="2500" dirty="0"/>
          </a:p>
          <a:p>
            <a:pPr marL="0" indent="0" eaLnBrk="1">
              <a:buNone/>
            </a:pPr>
            <a:r>
              <a:rPr lang="ko-KR" altLang="en-US" sz="2500" b="1" dirty="0">
                <a:solidFill>
                  <a:srgbClr val="4236F6"/>
                </a:solidFill>
                <a:latin typeface="Malgun Gothic" pitchFamily="34" charset="0"/>
                <a:ea typeface="Malgun Gothic" pitchFamily="34" charset="-122"/>
                <a:cs typeface="Malgun Gothic" pitchFamily="34" charset="-120"/>
              </a:rPr>
              <a:t>저는 </a:t>
            </a:r>
            <a:r>
              <a:rPr lang="en-US" sz="2500" b="1" dirty="0">
                <a:solidFill>
                  <a:srgbClr val="4236F6"/>
                </a:solidFill>
              </a:rPr>
              <a:t>___</a:t>
            </a:r>
            <a:r>
              <a:rPr lang="ko-KR" altLang="en-US" sz="2500" b="1" dirty="0">
                <a:solidFill>
                  <a:srgbClr val="4236F6"/>
                </a:solidFill>
                <a:latin typeface="Malgun Gothic" pitchFamily="34" charset="0"/>
                <a:ea typeface="Malgun Gothic" pitchFamily="34" charset="-122"/>
                <a:cs typeface="Malgun Gothic" pitchFamily="34" charset="-120"/>
              </a:rPr>
              <a:t>을</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를 안 좋아해요</a:t>
            </a:r>
            <a:r>
              <a:rPr lang="en-US" sz="2500" b="1" dirty="0">
                <a:solidFill>
                  <a:srgbClr val="4236F6"/>
                </a:solidFill>
              </a:rPr>
              <a:t>.</a:t>
            </a:r>
            <a:endParaRPr lang="en-US" sz="25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마르코는 김치를 좋아해요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저는 김치를 안 좋아해요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A Marco le gusta el kimchi. A mí no me gusta.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Yo en coreano · qué cuentas</a:t>
            </a:r>
            <a:r>
              <a:rPr lang="en-US" sz="1500" b="1" i="1" dirty="0">
                <a:solidFill>
                  <a:srgbClr val="8A8DA0"/>
                </a:solidFill>
              </a:rPr>
              <a:t>   Me in Korean · what you tell</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1 a 2 minutos, sin leer</a:t>
            </a:r>
            <a:endParaRPr lang="en-US" sz="1800" dirty="0"/>
          </a:p>
        </p:txBody>
      </p:sp>
      <p:graphicFrame>
        <p:nvGraphicFramePr>
          <p:cNvPr id="15" name="tabla"/>
          <p:cNvGraphicFramePr>
            <a:graphicFrameLocks noGrp="1"/>
          </p:cNvGraphicFramePr>
          <p:nvPr>
            <p:extLst>
              <p:ext uri="{D42A27DB-BD31-4B8C-83A1-F6EECF244321}">
                <p14:modId xmlns:p14="http://schemas.microsoft.com/office/powerpoint/2010/main" val="219019147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Bloque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Qué cuentas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1</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Saludo y quién eres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Tu nombre, tu país y a qué te dedicas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2</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 familia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Cuántos son y 2 o 3 personas (si quieres, con una foto)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Dónde vives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Y algo que hay cerca de tu casa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4</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 día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 dónde vas y qué haces (al menos 3 verbos)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5</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Tu pieza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Qué hay y qué no hay</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en-US" sz="1500" dirty="0">
                          <a:solidFill>
                            <a:srgbClr val="14142B"/>
                          </a:solidFill>
                        </a:rPr>
                        <a:t>6</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Tus gustos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Algo que te gusta y algo que no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eaLnBrk="1">
                        <a:buNone/>
                      </a:pPr>
                      <a:r>
                        <a:rPr lang="en-US" sz="1500" dirty="0">
                          <a:solidFill>
                            <a:srgbClr val="14142B"/>
                          </a:solidFill>
                        </a:rPr>
                        <a:t>7</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Cierre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감사합니다</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Yo en coreano · reglas del día</a:t>
            </a:r>
            <a:r>
              <a:rPr lang="en-US" sz="1500" b="1" i="1" dirty="0">
                <a:solidFill>
                  <a:srgbClr val="8A8DA0"/>
                </a:solidFill>
              </a:rPr>
              <a:t>   Me in Korean · today's rules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2 minutos con la pregunta incluida: tu parte, ≈ 1 minuto y medio</a:t>
            </a:r>
            <a:endParaRPr lang="en-US" sz="2000" dirty="0"/>
          </a:p>
          <a:p>
            <a:pPr marL="228600" indent="-228600" eaLnBrk="1">
              <a:spcAft>
                <a:spcPts val="800"/>
              </a:spcAft>
              <a:buSzPct val="100000"/>
              <a:buChar char="•"/>
            </a:pPr>
            <a:r>
              <a:rPr lang="en-US" sz="2000" dirty="0">
                <a:solidFill>
                  <a:srgbClr val="14142B"/>
                </a:solidFill>
              </a:rPr>
              <a:t>Mano abierta de Kiran = te quedan 30 segundos</a:t>
            </a:r>
            <a:endParaRPr lang="en-US" sz="2000" dirty="0"/>
          </a:p>
          <a:p>
            <a:pPr marL="228600" indent="-228600" eaLnBrk="1">
              <a:spcAft>
                <a:spcPts val="800"/>
              </a:spcAft>
              <a:buSzPct val="100000"/>
              <a:buChar char="•"/>
            </a:pPr>
            <a:r>
              <a:rPr lang="en-US" sz="2000" dirty="0">
                <a:solidFill>
                  <a:srgbClr val="14142B"/>
                </a:solidFill>
              </a:rPr>
              <a:t>Sin leer: hasta 4 fotos o dibujos, a la cámara (nunca el texto)</a:t>
            </a:r>
            <a:endParaRPr lang="en-US" sz="2000" dirty="0"/>
          </a:p>
          <a:p>
            <a:pPr marL="228600" indent="-228600" eaLnBrk="1">
              <a:spcAft>
                <a:spcPts val="800"/>
              </a:spcAft>
              <a:buSzPct val="100000"/>
              <a:buChar char="•"/>
            </a:pPr>
            <a:r>
              <a:rPr lang="en-US" sz="2000" dirty="0">
                <a:solidFill>
                  <a:srgbClr val="14142B"/>
                </a:solidFill>
              </a:rPr>
              <a:t>Cámara encendida</a:t>
            </a:r>
            <a:endParaRPr lang="en-US" sz="2000" dirty="0"/>
          </a:p>
          <a:p>
            <a:pPr marL="228600" indent="-228600" eaLnBrk="1">
              <a:spcAft>
                <a:spcPts val="800"/>
              </a:spcAft>
              <a:buSzPct val="100000"/>
              <a:buChar char="•"/>
            </a:pPr>
            <a:r>
              <a:rPr lang="en-US" sz="2000" dirty="0">
                <a:solidFill>
                  <a:srgbClr val="14142B"/>
                </a:solidFill>
              </a:rPr>
              <a:t>Te pregunta quien viene después de ti (al último, el primero)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Hablar lento no baja la nota · ¿No entendiste? Di 네</a:t>
            </a:r>
            <a:r>
              <a:rPr lang="en-US" sz="2000" dirty="0">
                <a:solidFill>
                  <a:srgbClr val="14142B"/>
                </a:solidFill>
              </a:rPr>
              <a:t>? y te la repiten</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Preguntas para tu compañero</a:t>
            </a:r>
            <a:r>
              <a:rPr lang="en-US" sz="1500" b="1" i="1" dirty="0">
                <a:solidFill>
                  <a:srgbClr val="8A8DA0"/>
                </a:solidFill>
              </a:rPr>
              <a:t>   Questions for your classmate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Elige una o haz la tuya</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3757014362"/>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477520">
                <a:tc>
                  <a:txBody>
                    <a:bodyPr/>
                    <a:lstStyle/>
                    <a:p>
                      <a:pPr marL="0" indent="0" eaLnBrk="1">
                        <a:buNone/>
                      </a:pPr>
                      <a:r>
                        <a:rPr lang="en-US" sz="1600" b="1" dirty="0">
                          <a:solidFill>
                            <a:srgbClr val="FFFFFF"/>
                          </a:solidFill>
                        </a:rPr>
                        <a:t>Pregunta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누구예요</a:t>
                      </a:r>
                      <a:r>
                        <a:rPr lang="en-US" sz="1600" dirty="0">
                          <a:solidFill>
                            <a:srgbClr val="14142B"/>
                          </a:solidFill>
                        </a:rPr>
                        <a:t>? (señalando una foto)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¿Quién 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방에 뭐가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¿Qué hay en tu pieza?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매일 뭐 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¿Qué haces todos los días?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김치를 좋아해요</a:t>
                      </a:r>
                      <a:r>
                        <a:rPr lang="en-US" sz="1600" dirty="0">
                          <a:solidFill>
                            <a:srgbClr val="14142B"/>
                          </a:solidFill>
                        </a:rPr>
                        <a:t>? / ___</a:t>
                      </a:r>
                      <a:r>
                        <a:rPr lang="ko-KR" altLang="en-US" sz="1600" dirty="0">
                          <a:solidFill>
                            <a:srgbClr val="14142B"/>
                          </a:solidFill>
                          <a:latin typeface="Malgun Gothic" pitchFamily="34" charset="0"/>
                          <a:ea typeface="Malgun Gothic" pitchFamily="34" charset="-122"/>
                          <a:cs typeface="Malgun Gothic" pitchFamily="34" charset="-120"/>
                        </a:rPr>
                        <a:t>을</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를 좋아해요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¿Te gusta el kimchi? / ¿Te gusta ___?</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뭘 좋아해요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¿Qué te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집이 어디예요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¿Dónde está tu casa?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어느 나라 사람이에요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¿De qué país eres?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뭐 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¿Qué haces hoy?</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오늘의 문장  </a:t>
            </a:r>
            <a:r>
              <a:rPr lang="en-US" sz="3000" b="1" dirty="0">
                <a:solidFill>
                  <a:srgbClr val="003478"/>
                </a:solidFill>
              </a:rPr>
              <a:t>3 frases clave</a:t>
            </a:r>
            <a:r>
              <a:rPr lang="en-US" sz="1500" b="1" i="1" dirty="0">
                <a:solidFill>
                  <a:srgbClr val="8A8DA0"/>
                </a:solidFill>
              </a:rPr>
              <a:t>   3 key sentences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뭘 좋아해요</a:t>
            </a:r>
            <a:r>
              <a:rPr lang="en-US" sz="2400" dirty="0">
                <a:solidFill>
                  <a:srgbClr val="14142B"/>
                </a:solidFill>
              </a:rPr>
              <a:t>? — ¿Qué te gusta?</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불고기를 정말 좋아해요</a:t>
            </a:r>
            <a:r>
              <a:rPr lang="en-US" sz="2400" dirty="0">
                <a:solidFill>
                  <a:srgbClr val="14142B"/>
                </a:solidFill>
              </a:rPr>
              <a:t>. — Me encanta el bulgogi.</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아니요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안 좋아해요</a:t>
            </a:r>
            <a:r>
              <a:rPr lang="en-US" sz="2400" dirty="0">
                <a:solidFill>
                  <a:srgbClr val="14142B"/>
                </a:solidFill>
              </a:rPr>
              <a:t>. — No, no me gusta.</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오늘의</a:t>
            </a:r>
            <a:endParaRPr lang="en-US" sz="7700" dirty="0"/>
          </a:p>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문장</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8주 전에는</a:t>
            </a:r>
            <a:r>
              <a:rPr lang="en-US" sz="3000" b="1" dirty="0">
                <a:solidFill>
                  <a:srgbClr val="4236F6"/>
                </a:solidFill>
              </a:rPr>
              <a:t>…?  </a:t>
            </a:r>
            <a:r>
              <a:rPr lang="en-US" sz="3000" b="1" dirty="0">
                <a:solidFill>
                  <a:srgbClr val="003478"/>
                </a:solidFill>
              </a:rPr>
              <a:t>Hace 8 semanas…</a:t>
            </a:r>
            <a:r>
              <a:rPr lang="en-US" sz="1500" b="1" i="1" dirty="0">
                <a:solidFill>
                  <a:srgbClr val="8A8DA0"/>
                </a:solidFill>
              </a:rPr>
              <a:t>   8 weeks ago…</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800" b="1" dirty="0">
                <a:solidFill>
                  <a:srgbClr val="4236F6"/>
                </a:solidFill>
                <a:latin typeface="Malgun Gothic" pitchFamily="34" charset="0"/>
                <a:ea typeface="Malgun Gothic" pitchFamily="34" charset="-122"/>
                <a:cs typeface="Malgun Gothic" pitchFamily="34" charset="-120"/>
              </a:rPr>
              <a:t>저는 한국어를 공부해요</a:t>
            </a:r>
            <a:r>
              <a:rPr lang="en-US" sz="5800" b="1" dirty="0">
                <a:solidFill>
                  <a:srgbClr val="4236F6"/>
                </a:solidFill>
              </a:rPr>
              <a:t>!</a:t>
            </a:r>
            <a:endParaRPr lang="en-US" sz="5800" dirty="0"/>
          </a:p>
        </p:txBody>
      </p:sp>
      <p:sp>
        <p:nvSpPr>
          <p:cNvPr id="5" name="Text 3"/>
          <p:cNvSpPr txBox="1"/>
          <p:nvPr/>
        </p:nvSpPr>
        <p:spPr>
          <a:xfrm>
            <a:off x="1463040" y="3657600"/>
            <a:ext cx="926287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¡Estudio coreano!</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Una frase que no sabías decir hace 8 semanas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다음 단계  </a:t>
            </a:r>
            <a:r>
              <a:rPr lang="en-US" sz="2200" b="1" dirty="0">
                <a:solidFill>
                  <a:srgbClr val="003478"/>
                </a:solidFill>
              </a:rPr>
              <a:t>Próximo paso · Básico 2 (A1.2)</a:t>
            </a:r>
            <a:r>
              <a:rPr lang="en-US" sz="1500" b="1" i="1" dirty="0">
                <a:solidFill>
                  <a:srgbClr val="8A8DA0"/>
                </a:solidFill>
              </a:rPr>
              <a:t>   Next step · Basic 2 (A1.2)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Pasado · futuro · la hora · la edad · las fechas · enero de 2027 · Certificado: semana del 7 de diciembre</a:t>
            </a:r>
            <a:endParaRPr lang="en-US" sz="1800" dirty="0"/>
          </a:p>
        </p:txBody>
      </p:sp>
      <p:sp>
        <p:nvSpPr>
          <p:cNvPr id="4" name="col_0"/>
          <p:cNvSpPr/>
          <p:nvPr/>
        </p:nvSpPr>
        <p:spPr>
          <a:xfrm>
            <a:off x="548640" y="1874520"/>
            <a:ext cx="3483864" cy="4297680"/>
          </a:xfrm>
          <a:prstGeom prst="roundRect">
            <a:avLst>
              <a:gd name="adj" fmla="val 3937"/>
            </a:avLst>
          </a:prstGeom>
          <a:solidFill>
            <a:srgbClr val="F1F0FE"/>
          </a:solidFill>
          <a:ln w="12700">
            <a:solidFill>
              <a:srgbClr val="D9D7F7"/>
            </a:solidFill>
            <a:prstDash val="solid"/>
          </a:ln>
        </p:spPr>
      </p:sp>
      <p:sp>
        <p:nvSpPr>
          <p:cNvPr id="5" name="Text 3"/>
          <p:cNvSpPr txBox="1"/>
          <p:nvPr/>
        </p:nvSpPr>
        <p:spPr>
          <a:xfrm>
            <a:off x="777240"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Hoy · Básico 1</a:t>
            </a:r>
            <a:endParaRPr lang="en-US" sz="2000" dirty="0"/>
          </a:p>
        </p:txBody>
      </p:sp>
      <p:sp>
        <p:nvSpPr>
          <p:cNvPr id="6" name="Text 4"/>
          <p:cNvSpPr txBox="1"/>
          <p:nvPr/>
        </p:nvSpPr>
        <p:spPr>
          <a:xfrm>
            <a:off x="777240"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좋아해요</a:t>
            </a:r>
            <a:r>
              <a:rPr lang="en-US" sz="2800" b="1" dirty="0">
                <a:solidFill>
                  <a:srgbClr val="4236F6"/>
                </a:solidFill>
              </a:rPr>
              <a:t>.</a:t>
            </a:r>
            <a:endParaRPr lang="en-US" sz="2800" dirty="0"/>
          </a:p>
        </p:txBody>
      </p:sp>
      <p:sp>
        <p:nvSpPr>
          <p:cNvPr id="7" name="lista"/>
          <p:cNvSpPr txBox="1"/>
          <p:nvPr/>
        </p:nvSpPr>
        <p:spPr>
          <a:xfrm>
            <a:off x="731520"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Me gusta el bulgogi.</a:t>
            </a:r>
            <a:endParaRPr lang="en-US" sz="1800" dirty="0"/>
          </a:p>
        </p:txBody>
      </p:sp>
      <p:sp>
        <p:nvSpPr>
          <p:cNvPr id="8" name="col_1"/>
          <p:cNvSpPr/>
          <p:nvPr/>
        </p:nvSpPr>
        <p:spPr>
          <a:xfrm>
            <a:off x="4352544" y="1874520"/>
            <a:ext cx="3483864" cy="4297680"/>
          </a:xfrm>
          <a:prstGeom prst="roundRect">
            <a:avLst>
              <a:gd name="adj" fmla="val 3937"/>
            </a:avLst>
          </a:prstGeom>
          <a:solidFill>
            <a:srgbClr val="FFFFFF"/>
          </a:solidFill>
          <a:ln w="12700">
            <a:solidFill>
              <a:srgbClr val="D9D7F7"/>
            </a:solidFill>
            <a:prstDash val="solid"/>
          </a:ln>
        </p:spPr>
      </p:sp>
      <p:sp>
        <p:nvSpPr>
          <p:cNvPr id="9" name="Text 7"/>
          <p:cNvSpPr txBox="1"/>
          <p:nvPr/>
        </p:nvSpPr>
        <p:spPr>
          <a:xfrm>
            <a:off x="4581144"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Básico 2 · pasado</a:t>
            </a:r>
            <a:endParaRPr lang="en-US" sz="2000" dirty="0"/>
          </a:p>
        </p:txBody>
      </p:sp>
      <p:sp>
        <p:nvSpPr>
          <p:cNvPr id="10" name="Text 8"/>
          <p:cNvSpPr txBox="1"/>
          <p:nvPr/>
        </p:nvSpPr>
        <p:spPr>
          <a:xfrm>
            <a:off x="4581144"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어제 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먹었어요</a:t>
            </a:r>
            <a:r>
              <a:rPr lang="en-US" sz="2800" b="1" dirty="0">
                <a:solidFill>
                  <a:srgbClr val="4236F6"/>
                </a:solidFill>
              </a:rPr>
              <a:t>.</a:t>
            </a:r>
            <a:endParaRPr lang="en-US" sz="2800" dirty="0"/>
          </a:p>
        </p:txBody>
      </p:sp>
      <p:sp>
        <p:nvSpPr>
          <p:cNvPr id="11" name="lista"/>
          <p:cNvSpPr txBox="1"/>
          <p:nvPr/>
        </p:nvSpPr>
        <p:spPr>
          <a:xfrm>
            <a:off x="4535424"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Ayer comí bulgogi.</a:t>
            </a:r>
            <a:endParaRPr lang="en-US" sz="1800" dirty="0"/>
          </a:p>
          <a:p>
            <a:pPr marL="228600" indent="-228600" eaLnBrk="1">
              <a:spcAft>
                <a:spcPts val="800"/>
              </a:spcAft>
              <a:buSzPct val="100000"/>
              <a:buChar char="•"/>
            </a:pPr>
            <a:r>
              <a:rPr lang="en-US" sz="1800" dirty="0">
                <a:solidFill>
                  <a:srgbClr val="14142B"/>
                </a:solidFill>
              </a:rPr>
              <a:t>Solo para mirar</a:t>
            </a:r>
            <a:endParaRPr lang="en-US" sz="1800" dirty="0"/>
          </a:p>
        </p:txBody>
      </p:sp>
      <p:sp>
        <p:nvSpPr>
          <p:cNvPr id="12" name="col_2"/>
          <p:cNvSpPr/>
          <p:nvPr/>
        </p:nvSpPr>
        <p:spPr>
          <a:xfrm>
            <a:off x="8156448" y="1874520"/>
            <a:ext cx="3483864" cy="4297680"/>
          </a:xfrm>
          <a:prstGeom prst="roundRect">
            <a:avLst>
              <a:gd name="adj" fmla="val 3937"/>
            </a:avLst>
          </a:prstGeom>
          <a:solidFill>
            <a:srgbClr val="F1F0FE"/>
          </a:solidFill>
          <a:ln w="12700">
            <a:solidFill>
              <a:srgbClr val="D9D7F7"/>
            </a:solidFill>
            <a:prstDash val="solid"/>
          </a:ln>
        </p:spPr>
      </p:sp>
      <p:sp>
        <p:nvSpPr>
          <p:cNvPr id="13" name="Text 11"/>
          <p:cNvSpPr txBox="1"/>
          <p:nvPr/>
        </p:nvSpPr>
        <p:spPr>
          <a:xfrm>
            <a:off x="8385048"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Básico 2 · futuro</a:t>
            </a:r>
            <a:endParaRPr lang="en-US" sz="2000" dirty="0"/>
          </a:p>
        </p:txBody>
      </p:sp>
      <p:sp>
        <p:nvSpPr>
          <p:cNvPr id="14" name="Text 12"/>
          <p:cNvSpPr txBox="1"/>
          <p:nvPr/>
        </p:nvSpPr>
        <p:spPr>
          <a:xfrm>
            <a:off x="8385048"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내일 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먹을 거예요</a:t>
            </a:r>
            <a:r>
              <a:rPr lang="en-US" sz="2800" b="1" dirty="0">
                <a:solidFill>
                  <a:srgbClr val="4236F6"/>
                </a:solidFill>
              </a:rPr>
              <a:t>.</a:t>
            </a:r>
            <a:endParaRPr lang="en-US" sz="2800" dirty="0"/>
          </a:p>
        </p:txBody>
      </p:sp>
      <p:sp>
        <p:nvSpPr>
          <p:cNvPr id="15" name="lista"/>
          <p:cNvSpPr txBox="1"/>
          <p:nvPr/>
        </p:nvSpPr>
        <p:spPr>
          <a:xfrm>
            <a:off x="8339328"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Mañana voy a comer bulgogi.</a:t>
            </a:r>
            <a:endParaRPr lang="en-US" sz="1800" dirty="0"/>
          </a:p>
          <a:p>
            <a:pPr marL="228600" indent="-228600" eaLnBrk="1">
              <a:spcAft>
                <a:spcPts val="800"/>
              </a:spcAft>
              <a:buSzPct val="100000"/>
              <a:buChar char="•"/>
            </a:pPr>
            <a:r>
              <a:rPr lang="en-US" sz="1800" dirty="0">
                <a:solidFill>
                  <a:srgbClr val="14142B"/>
                </a:solidFill>
              </a:rPr>
              <a:t>Solo para mirar</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tarea final (≈ 20 min)</a:t>
            </a:r>
            <a:r>
              <a:rPr lang="en-US" sz="1500" b="1" i="1" dirty="0">
                <a:solidFill>
                  <a:srgbClr val="8A8DA0"/>
                </a:solidFill>
              </a:rPr>
              <a:t>   Your final homework</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1) Lector → Progreso: captura final con tus estrellas (≈ 5 min)</a:t>
            </a:r>
            <a:endParaRPr lang="en-US" sz="2000" dirty="0"/>
          </a:p>
          <a:p>
            <a:pPr marL="228600" indent="-228600" eaLnBrk="1">
              <a:spcAft>
                <a:spcPts val="800"/>
              </a:spcAft>
              <a:buSzPct val="100000"/>
              <a:buChar char="•"/>
            </a:pPr>
            <a:r>
              <a:rPr lang="en-US" sz="2000" dirty="0">
                <a:solidFill>
                  <a:srgbClr val="14142B"/>
                </a:solidFill>
              </a:rPr>
              <a:t>Si quieres, antes juega una ronda de Contrarreloj: tu récord sale en Progreso</a:t>
            </a:r>
            <a:endParaRPr lang="en-US" sz="2000" dirty="0"/>
          </a:p>
          <a:p>
            <a:pPr marL="228600" indent="-228600" eaLnBrk="1">
              <a:spcAft>
                <a:spcPts val="800"/>
              </a:spcAft>
              <a:buSzPct val="100000"/>
              <a:buChar char="•"/>
            </a:pPr>
            <a:r>
              <a:rPr lang="en-US" sz="2000" dirty="0">
                <a:solidFill>
                  <a:srgbClr val="14142B"/>
                </a:solidFill>
              </a:rPr>
              <a:t>2) Audio de 1 minuto en el grupo: tu presentación corregida, sin leer (≈ 10 min)</a:t>
            </a:r>
            <a:endParaRPr lang="en-US" sz="2000" dirty="0"/>
          </a:p>
          <a:p>
            <a:pPr marL="228600" indent="-228600" eaLnBrk="1">
              <a:spcAft>
                <a:spcPts val="800"/>
              </a:spcAft>
              <a:buSzPct val="100000"/>
              <a:buChar char="•"/>
            </a:pPr>
            <a:r>
              <a:rPr lang="en-US" sz="2000" dirty="0">
                <a:solidFill>
                  <a:srgbClr val="14142B"/>
                </a:solidFill>
              </a:rPr>
              <a:t>3) Escucha tu audio de la semana 1 y el de hoy: tu antes y después (≈ 5 min)</a:t>
            </a:r>
            <a:endParaRPr lang="en-US" sz="2000" dirty="0"/>
          </a:p>
          <a:p>
            <a:pPr marL="228600" indent="-228600" eaLnBrk="1">
              <a:spcAft>
                <a:spcPts val="800"/>
              </a:spcAft>
              <a:buSzPct val="100000"/>
              <a:buChar char="•"/>
            </a:pPr>
            <a:r>
              <a:rPr lang="en-US" sz="2000" dirty="0">
                <a:solidFill>
                  <a:srgbClr val="14142B"/>
                </a:solidFill>
              </a:rPr>
              <a:t>Anota para ti 1 cosa que mejoraste y 1 que quieres trabajar en Básico 2</a:t>
            </a:r>
            <a:endParaRPr lang="en-US" sz="2000" dirty="0"/>
          </a:p>
          <a:p>
            <a:pPr marL="228600" indent="-228600" eaLnBrk="1">
              <a:spcAft>
                <a:spcPts val="800"/>
              </a:spcAft>
              <a:buSzPct val="100000"/>
              <a:buChar char="•"/>
            </a:pPr>
            <a:r>
              <a:rPr lang="en-US" sz="2000" dirty="0">
                <a:solidFill>
                  <a:srgbClr val="14142B"/>
                </a:solidFill>
              </a:rPr>
              <a:t>Plazo: antes del ______ (Kiran confirma la fecha)</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8주 전에는 한글도 몰랐어요</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Hace 8 semanas no sabía ni 한글</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감사합니다</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Kiran: 안녕히 가세요</a:t>
            </a:r>
            <a:r>
              <a:rPr lang="en-US" sz="2200" dirty="0">
                <a:solidFill>
                  <a:srgbClr val="FFFFFF"/>
                </a:solidFill>
              </a:rPr>
              <a:t>! · Alumnos: </a:t>
            </a: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 Las 6 piezas</a:t>
            </a:r>
            <a:r>
              <a:rPr lang="en-US" sz="1500" b="1" i="1" dirty="0">
                <a:solidFill>
                  <a:srgbClr val="8A8DA0"/>
                </a:solidFill>
              </a:rPr>
              <a:t>   Backup · The 6 pieces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pista: ¿termina en 받침</a:t>
            </a:r>
            <a:r>
              <a:rPr lang="en-US" sz="1800" i="1" dirty="0">
                <a:solidFill>
                  <a:srgbClr val="4236F6"/>
                </a:solidFill>
              </a:rPr>
              <a:t>? · El verbo, siempre al final: </a:t>
            </a:r>
            <a:r>
              <a:rPr lang="ko-KR" altLang="en-US" sz="1800" i="1" dirty="0">
                <a:solidFill>
                  <a:srgbClr val="4236F6"/>
                </a:solidFill>
                <a:latin typeface="Malgun Gothic" pitchFamily="34" charset="0"/>
                <a:ea typeface="Malgun Gothic" pitchFamily="34" charset="-122"/>
                <a:cs typeface="Malgun Gothic" pitchFamily="34" charset="-120"/>
              </a:rPr>
              <a:t>저는 매일 학교에 가요</a:t>
            </a:r>
            <a:r>
              <a:rPr lang="en-US" sz="1800" i="1" dirty="0">
                <a:solidFill>
                  <a:srgbClr val="4236F6"/>
                </a:solidFill>
              </a:rPr>
              <a:t>.</a:t>
            </a:r>
            <a:endParaRPr lang="en-US" sz="1800" dirty="0"/>
          </a:p>
        </p:txBody>
      </p:sp>
      <p:graphicFrame>
        <p:nvGraphicFramePr>
          <p:cNvPr id="23" name="tabla"/>
          <p:cNvGraphicFramePr>
            <a:graphicFrameLocks noGrp="1"/>
          </p:cNvGraphicFramePr>
          <p:nvPr>
            <p:extLst>
              <p:ext uri="{D42A27DB-BD31-4B8C-83A1-F6EECF244321}">
                <p14:modId xmlns:p14="http://schemas.microsoft.com/office/powerpoint/2010/main" val="4131079843"/>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Pieza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Para qué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Con 받침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Sin 받침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Semana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이에요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학생이에요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마리아예요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은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tema: “en cuanto 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우리 가족은 네 명이에요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칠레 사람이에요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2, 4, 7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lo que está o lo que hay</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책이 책상 위에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커피가 컴퓨터 옆에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을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objeto de la acción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책을 읽어요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커피를 마셔요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7, 8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dónde está, a dónde vas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우리 집은 산티아고에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매일 회사에 가요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5, 6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presente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ㅏ </a:t>
                      </a:r>
                      <a:r>
                        <a:rPr lang="en-US" sz="1600" dirty="0">
                          <a:solidFill>
                            <a:srgbClr val="14142B"/>
                          </a:solidFill>
                        </a:rPr>
                        <a:t>o </a:t>
                      </a:r>
                      <a:r>
                        <a:rPr lang="ko-KR" altLang="en-US" sz="1600" dirty="0">
                          <a:solidFill>
                            <a:srgbClr val="14142B"/>
                          </a:solidFill>
                          <a:latin typeface="Malgun Gothic" pitchFamily="34" charset="0"/>
                          <a:ea typeface="Malgun Gothic" pitchFamily="34" charset="-122"/>
                          <a:cs typeface="Malgun Gothic" pitchFamily="34" charset="-120"/>
                        </a:rPr>
                        <a:t>ㅗ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가요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las demás → -어요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먹어요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마셔요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6, 7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소피아  </a:t>
            </a:r>
            <a:r>
              <a:rPr lang="en-US" sz="2600" b="1" dirty="0">
                <a:solidFill>
                  <a:srgbClr val="003478"/>
                </a:solidFill>
              </a:rPr>
              <a:t>Respaldo · Lectura de Sofía</a:t>
            </a:r>
            <a:r>
              <a:rPr lang="en-US" sz="1500" b="1" i="1" dirty="0">
                <a:solidFill>
                  <a:srgbClr val="8A8DA0"/>
                </a:solidFill>
              </a:rPr>
              <a:t>   Backup · Sofía's reading</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안녕하세요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소피아예요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멕시코 사람이에요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회사원이에요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세 명이에요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우리 엄마는 선생님이에요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집은 멕시코시티에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집 앞에 공원이 있어요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매일 회사에 가요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그리고 한국어를 공부해요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방에 컴퓨터가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텔레비전은 없어요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케이팝을 정말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커피는 안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감사합니다</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소피아</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누구예요</a:t>
            </a:r>
            <a:r>
              <a:rPr lang="en-US" sz="3000" b="1" dirty="0">
                <a:solidFill>
                  <a:srgbClr val="4236F6"/>
                </a:solidFill>
              </a:rPr>
              <a:t>?  </a:t>
            </a:r>
            <a:r>
              <a:rPr lang="en-US" sz="3000" b="1" dirty="0">
                <a:solidFill>
                  <a:srgbClr val="003478"/>
                </a:solidFill>
              </a:rPr>
              <a:t>Respaldo · Adivina quién</a:t>
            </a:r>
            <a:r>
              <a:rPr lang="en-US" sz="1500" b="1" i="1" dirty="0">
                <a:solidFill>
                  <a:srgbClr val="8A8DA0"/>
                </a:solidFill>
              </a:rPr>
              <a:t>   Backup · Guess who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 사람은 </a:t>
            </a:r>
            <a:r>
              <a:rPr lang="en-US" sz="2400" dirty="0">
                <a:solidFill>
                  <a:srgbClr val="14142B"/>
                </a:solidFill>
              </a:rPr>
              <a:t>___</a:t>
            </a:r>
            <a:r>
              <a:rPr lang="ko-KR" altLang="en-US" sz="2400" dirty="0">
                <a:solidFill>
                  <a:srgbClr val="14142B"/>
                </a:solidFill>
                <a:latin typeface="Malgun Gothic" pitchFamily="34" charset="0"/>
                <a:ea typeface="Malgun Gothic" pitchFamily="34" charset="-122"/>
                <a:cs typeface="Malgun Gothic" pitchFamily="34" charset="-120"/>
              </a:rPr>
              <a:t>을</a:t>
            </a:r>
            <a:r>
              <a:rPr lang="en-US" sz="2400" dirty="0">
                <a:solidFill>
                  <a:srgbClr val="14142B"/>
                </a:solidFill>
              </a:rPr>
              <a:t>/</a:t>
            </a:r>
            <a:r>
              <a:rPr lang="ko-KR" altLang="en-US" sz="2400" dirty="0">
                <a:solidFill>
                  <a:srgbClr val="14142B"/>
                </a:solidFill>
                <a:latin typeface="Malgun Gothic" pitchFamily="34" charset="0"/>
                <a:ea typeface="Malgun Gothic" pitchFamily="34" charset="-122"/>
                <a:cs typeface="Malgun Gothic" pitchFamily="34" charset="-120"/>
              </a:rPr>
              <a:t>를 정말 좋아해요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___은</a:t>
            </a:r>
            <a:r>
              <a:rPr lang="en-US" sz="2400" dirty="0">
                <a:solidFill>
                  <a:srgbClr val="14142B"/>
                </a:solidFill>
              </a:rPr>
              <a:t>/</a:t>
            </a:r>
            <a:r>
              <a:rPr lang="ko-KR" altLang="en-US" sz="2400" dirty="0">
                <a:solidFill>
                  <a:srgbClr val="14142B"/>
                </a:solidFill>
                <a:latin typeface="Malgun Gothic" pitchFamily="34" charset="0"/>
                <a:ea typeface="Malgun Gothic" pitchFamily="34" charset="-122"/>
                <a:cs typeface="Malgun Gothic" pitchFamily="34" charset="-120"/>
              </a:rPr>
              <a:t>는 안 좋아해요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Ej.: 이 사람은 라면을 정말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운동은 안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마리아예요</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5000" b="1" dirty="0">
                <a:solidFill>
                  <a:srgbClr val="4236F6"/>
                </a:solidFill>
                <a:latin typeface="Malgun Gothic" pitchFamily="34" charset="0"/>
                <a:ea typeface="Malgun Gothic" pitchFamily="34" charset="-122"/>
                <a:cs typeface="Malgun Gothic" pitchFamily="34" charset="-120"/>
              </a:rPr>
              <a:t>누구예요</a:t>
            </a:r>
            <a:r>
              <a:rPr lang="en-US" sz="5000" b="1" dirty="0">
                <a:solidFill>
                  <a:srgbClr val="4236F6"/>
                </a:solidFill>
              </a:rPr>
              <a:t>?</a:t>
            </a:r>
            <a:endParaRPr lang="en-US" sz="50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4866</Words>
  <Application>Microsoft Office PowerPoint</Application>
  <PresentationFormat>Widescreen</PresentationFormat>
  <Paragraphs>361</Paragraphs>
  <Slides>24</Slides>
  <Notes>24</Notes>
  <HiddenSlides>0</HiddenSlides>
  <MMClips>11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Malgun Gothic</vt:lpstr>
      <vt:lpstr>Arial</vt:lpstr>
      <vt:lpstr>Academia Seul</vt:lpstr>
      <vt:lpstr>Semana 8 · Me gusta + “Yo en coreano”</vt:lpstr>
      <vt:lpstr>오늘  Hoy   Today</vt:lpstr>
      <vt:lpstr>기란 선생님은 뭘 좋아해요?  ¿Qué le gusta a Kiran?</vt:lpstr>
      <vt:lpstr>저는 김치를 좋아해요  “Me gusta” funciona al revés</vt:lpstr>
      <vt:lpstr>을 · 를  ¿을 o 를?   을 or 를?</vt:lpstr>
      <vt:lpstr>뭘 = 뭐 + 를  Preguntar: ¿qué te gusta?   Asking: what do you like?</vt:lpstr>
      <vt:lpstr>El termómetro   The thermometer</vt:lpstr>
      <vt:lpstr>따라 하세요  Repite conmigo   Repeat after me</vt:lpstr>
      <vt:lpstr>___을/를 좋아해요?  ¿Te gusta ___? (1/2)   Do you like ___? (1/2)</vt:lpstr>
      <vt:lpstr>___을/를 좋아해요?  ¿Te gusta ___? (2/2)   Do you like ___? (2/2)</vt:lpstr>
      <vt:lpstr>사과를 좋아해요? 배를 좋아해요?  Una caja de manzanas   A box of apples</vt:lpstr>
      <vt:lpstr>Encuesta de gustos · 7 minutos   Likes survey · 7 minutes</vt:lpstr>
      <vt:lpstr>Reporte   Report</vt:lpstr>
      <vt:lpstr>Yo en coreano · qué cuentas   Me in Korean · what you tell</vt:lpstr>
      <vt:lpstr>Yo en coreano · reglas del día   Me in Korean · today's rules</vt:lpstr>
      <vt:lpstr>Preguntas para tu compañero   Questions for your classmate</vt:lpstr>
      <vt:lpstr>오늘의 문장  3 frases clave   3 key sentences</vt:lpstr>
      <vt:lpstr>8주 전에는…?  Hace 8 semanas…   8 weeks ago…</vt:lpstr>
      <vt:lpstr>다음 단계  Próximo paso · Básico 2 (A1.2)   Next step · Basic 2 (A1.2)</vt:lpstr>
      <vt:lpstr>Tu tarea final (≈ 20 min)   Your final homework</vt:lpstr>
      <vt:lpstr>8주 전에는 한글도 몰랐어요.  Hace 8 semanas no sabía ni 한글</vt:lpstr>
      <vt:lpstr>Respaldo · Las 6 piezas   Backup · The 6 pieces</vt:lpstr>
      <vt:lpstr>소피아  Respaldo · Lectura de Sofía   Backup · Sofía's reading</vt:lpstr>
      <vt:lpstr>누구예요?  Respaldo · Adivina quién   Backup · Guess who</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8 · 사과를 좋아해요 + examen · Yo en coreano</dc:title>
  <dc:subject>PptxGenJS Presentation</dc:subject>
  <dc:creator>Academia Seúl</dc:creator>
  <cp:lastModifiedBy>Jae Hee Kim</cp:lastModifiedBy>
  <cp:revision>2</cp:revision>
  <dcterms:created xsi:type="dcterms:W3CDTF">2026-10-10T04:31:48Z</dcterms:created>
  <dcterms:modified xsi:type="dcterms:W3CDTF">2026-10-10T04:32:32Z</dcterms:modified>
</cp:coreProperties>
</file>