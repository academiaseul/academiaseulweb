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5" id="{AEA43AF2-ED43-3733-1303-DC6C3E99ADF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0591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20:00–20:01 (1 min). Graba desde el minuto 0 (Basico1-Martes_S05_2026-11-10 / Basico1-Jueves_S05_2026-11-12). Saluda: 안녕하세요, 여러분! Una línea sobre el comentario de mitad de curso (si ya llegó; si no, di cuándo llega). Anuncia: 'Hoy aprendemos la frase más útil de cualquier viaje; al final la van a decir sin pensar: 화장실이 어디예요?'
Fuente: A1_Nivel_1/06_Ubicacion/Sesion_06_Ubicacion.pptx lám. 1 (adaptada: Kiran en vez de Jay, sin romanización)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20:01–20:05 (4 min). Dicta los ítems 1–3 dos veces cada uno: 이십칠 … 팔십사 … 칠, 공, 육, 삼; los ítems 4 y 5 están en pantalla. Cuenta regresiva y revela la clave (1 min): 'El error clásico es el 4: 네 명, no 사 명. Para contar personas usamos los nativos.' Formato esperado: 1) 27 2) 84 3) 7063 4) b 5) b; anota el puntaje (0–5) en la hoja del curso después de clase (sirve para armar las parejas).
Imagen: incluida (dibujo de la casa).
Fuente: Nueva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20:05–20:08 (3 min). Señalando Corea: 여기 한국이에요. 서울이에요. Pregunta 집이 어디예요?, responde con tu ciudad (선생님 집은… ___예요/이에요) y pon un sello. Explica en español: literalmente '¿la casa dónde es?'; se responde con la ciudad + 예요/이에요 según el 받침 (con país: 칠레 산티아고예요). Cadena por la lista de Zoom: cada uno responde y le pregunta al siguiente por su nombre; con más de 10 alumnos, la otra mitad escribe su ciudad en el chat.
Imagen: incluida (dibujo de la casa).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 (20 s). 'Esto es lo que van a poder decir al final de hoy. No lo lean todavía: al final lo decimos juntos.' No expliques nada; pasa a los lugares.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20:08–20:11 (con 5b y 6). 따라 하세요: cada palabra dos veces y el grupo repite. En 학교: 'Se escribe 학교 y se dice [학꾜]; no expliquen la regla, imiten la palabra entera.' 회사: la ㅚ hoy suena casi como 'we'.
Fuente: A1_Nivel_1/06_Ubicacion/Sesion_06_Ubicacion.pptx lám. 7 (sin 백화점 ni 영화관; + 은행, 화장실)
Lámina 5a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el eco (dos veces cada una). En 식당: 'Se escribe 식당 y se dice [식땅].' 은행: dos sílabas claras, la ㅎ suave, nunca jota. Después 읽으세요!: 3 alumnos por nombre leen 3 palabras cada uno de 5a y 5b.
Fuente: A1_Nivel_1/06_Ubicacion/Sesion_06_Ubicacion.pptx lám. 7 (sin 백화점 ni 영화관; + 은행, 화장실)
Lámina 5b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Señala tu escritorio: 여기; la cámara (el lado de ellos): 거기; lejos, la ventana: 저기. 'Es la misma familia que 이거, 그거, 저거: 이 → 여기, 그 → 거기, 저 → 저기.' Corrige la ㅓ de 어디, 저기, 거기 con la boca abierta y relajada: 다시 한번. 어-디.
Imagen: incluida (dibujo de la casa).
Fuente: Deck S3 de esta cohorte (diagrama de 이거 · 그거 · 저거)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20:11–20:13 (2 min). Cámara al escritorio (esta lámina es el respaldo). Describe dos veces, despacio, señalando: 선생님 책상이에요. 컴퓨터가 책상 위에 있어요. 커피가 컴퓨터 옆에 있어요. 휴대폰이 책 위에 있어요. 가방이 책상 아래에 있어요. 우산은… 없어요! (우산은 lleva 은 a propósito; no lo expliques.) Pregunta y el grupo responde 네! / 아니요! en coro: 'No les pido que lo digan todavía: solo que lo entiendan.'
Imagen: incluida (dibujo de la casa).
Fuente: Nueva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20:13–20:16 (con la 9). Gestos: mano izquierda plana = escritorio, puño derecho = la cosa: 위 encima, 아래 debajo, 앞 entre la mano y la cámara, 뒤 detrás de la mano, 옆 al lado, 안 un dedo dentro de la mano en tazón. 따라 하세요: 위! 아래! 앞! 뒤! 옆! 안! (gesto + palabra, dos veces); después dices solo la palabra, en desorden, y ellos hacen el gesto. Par mínimo: 앞에 [아페] / 안에 [아네]; 위 / 뒤: la ㄷ de 뒤 suave.
Imagen: incluida (dibujo de la casa).
Fuente: A1_Nivel_1/06_Ubicacion/Sesion_06_Ubicacion.pptx lám. 8 (sin 밑, 밖, 사이 ni 의)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'La frase coreana es un tren de 3 vagones: la cosa + 이 o 가; el lugar + 에 (primero el objeto de referencia, después la posición); y siempre al final 있어요 o 없어요.' Di lento, señalando: 책이 · 책상 위에 · 있어요. 'No hay ningún de: 책상 위, sin nada en el medio. 위 es un sustantivo, la parte de arriba.'
Fuente: A1_Nivel_1/06_Ubicacion/Sesion_06_Ubicacion.pptx lám. 6 (idea; ejemplos nuevos)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20:16–20:20 (con 11 y 12). 'El primer vagón lleva 이 o 가. La regla ya la conocen de 이에요/예요 y de 아니에요: si termina en 받침, 이; si termina en vocal, 가. El español también ajusta por sonido: Fernando e Isabel, no y Isabel.' Si alguien duda, no respondas: pregunta '¿Termina en 받침?'
Fuente: A1_Nivel_1/Particulas_Coreanas_Editable.pptx lám. 2 (regla; ejemplos cambiados) · puente de Guia_Particulas_Coreanas_ES.md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'Se escribe 있어요 y se dice [이써요], con la ㅆ apretada. 없어요 se dice [업써요]: cierren los labios en la ㅂ. En español no está es no + está; en coreano 없어요 es otra palabra.' 따라 하세요: 있어요 … 없어요 … 휴대폰이 가방 안에 있어요. … 휴대폰이 가방 안에 없어요. Se imitan enteros.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'En español dónde se va al principio; en coreano 어디 se queda justo donde va la respuesta: 화장실이 어디예요? → 화장실이 저기예요.' Con 여기, 거기, 저기 el 에 se suele omitir al hablar (저기에 있어요 también es correcto). 'Muchos coreanos escriben 어디에요 en el chat: ustedes, no.' 저기요 se aprende como fórmula para llamar a un desconocido. Cierra con 따라 하세요: 화장실이 어디예요? … 저기 있어요, y dos alumnos por nombre: uno pregunta, otro responde.
Fuente: A1_Nivel_1/06_Ubicacion/Sesion_06_Ubicacion.pptx lám. 13 (reemplazada por el diálogo 2)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20:20–20:22 (2 min). Con tu cámara: lápiz sobre el libro → 연필이 어디에 있어요? → 책 위에 있어요! Lo mueves debajo (아래), al lado (옆), delante (앞), detrás (뒤) y dentro de la taza (컵 안에 있어요): primero coro, después 4 alumnos por nombre. Variante: 휴대폰, 책 위에! (ponen su celular) → a uno: 휴대폰이 어디에 있어요? Si dicen 책 위 있어요: 에! 책 위에 있어요. 다시 한번.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20:22–20:25 (3 min, con 14b). 'Aparece una palabra. Escriben solo 이 o 가 en el chat, pero no aprieten enter hasta que yo diga 3, 2, 1, enter.' Revela y pide a un alumno: ___, 읽으세요! para leer la frase completa.
Fuente: Nueva
Lámina 14a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con las 4 últimas, mismo ritmo, y un alumno distinto lee cada frase. Si vas atrasada, el relámpago se queda en 4 palabras (solo 14a).
Fuente: Nueva
Lámina 14b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20:25–20:28 (3 min). Cuenta que desde 2014 la dirección oficial usa el nombre de la calle (도로명 주소), pero para juntarse mucha gente usa la estación de metro y su número de salida. Lee el letrero: 3번 출구 ('번 es número; el 3 se lee 삼번'). Di las frases ancla despacio; 3번 출구에서 만나요 es solo para reconocer. A 2–3 voluntarios: 동네에 지하철역이 있어요? → 네, 있어요 / 아니요, 없어요 · 지하철역이 어디예요? → 우리 집 앞에 있어요. Si vas atrasada: 1 minuto, solo el letrero y 화장실이 어디예요? — 3번 출구 옆에 있어요.
Imagen: incluida (dibujo de la casa).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20:28–20:31 (3 min, con 16b). 'Primera lectura con comprensión del curso. Cada uno lee una frase en voz alta y después respondemos 2 preguntas.' ___, 읽으세요!: 6 alumnos, una línea cada uno (la primera tiene 3 frases cortas). Corrige 받침 y pronunciación con 다시 한번. No expliques el orden de 우리 동네에 병원이 없어요: solo se entiende.
Fuente: Nueva
Lámina 16a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grupo responde en coreano; revela con clic. Si vas atrasada: 2 frases y 1 pregunta, o se lee en casa (ejercicio 6 del material del alumno).
Fuente: Nueva
Lámina 16b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20:31–20:33 (2 min). Explica los 3 pasos y haz 20 s de modelo del tour con tu escritorio. Trío: en el tour dibuja quien sigue en la lista; en el plano, el tercero tiene el B y verifica, y a la mitad cambian. Abre las salas (6 de 2 + 1 de 3 con 15 alumnos, 19 min, cuenta regresiva de 60 s); difusión a las 20:40 (Plano A/B) y a las 20:48 (minuto libre). En salas (20:33–20:52) rota ~2,5 min por sala, corrige solo lo que bloquea y anota 이/가 y posición + 에.
Fuente: Nueva
Lámina 17a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Muéstrala solo si un grupo se bloquea en el minuto libre (20:48–20:51) o si las salas no abren y lo hacen dos parejas en voz alta. Que lo lean una vez y lo repitan con sus datos reales, sin mirar.
Fuente: Nueva (modelo de C.8)
Lámina 17b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20:53–20:55 (2 min). Reemplaza en vivo con las 2 o 3 frases que más se equivocaron en salas, ya corregidas (la frase buena, nunca la mala). 따라 하세요. Para la partícula, pregunta: '¿Termina en 받침?'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20:55–20:56 (1 min). Di cada frase sola, clara y a velocidad natural lenta (de aquí se recorta el clip B1_S05_frases_clave.mp3); después el grupo repite con micrófono abierto. Si son las 20:56 y no lo hiciste: coro primero, tarea en una línea.
Fuente: Plantilla del coro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20:56–20:57 (1 min). 'Tres cosas, unos 25 minutos, antes de la clase 6. Les llega el mensaje al grupo.' No leas la lámina entera: el detalle va en el mensaje post-clase. Recuerda que la foto puede ser de cualquier mesa.
Fuente: Nueva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20:57–20:58. Despedida: alumnos 감사합니다! 안녕히 계세요! → Kiran 안녕히 가세요! 화이팅! Detén la grabación a las 20:58: a las 21:00 empieza otra clase en la misma cuenta. Dentro de 24 h: grabación + PDF del deck + tarea a la carpeta y mensaje post-clase.
Fuente: A1_Nivel_1/06_Ubicacion/Sesion_06_Ubicacion.pptx lám. 15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Respaldo para alumnos rápidos o si sobran 3–5 minutos. Cada uno describe su dibujo sin mostrarlo; revela las diferencias con clic al final. Alternativa de emergencia: esconde un objeto y que adivinen con 가방 안에 있어요? — 아니요, 없어요! (máximo 10 preguntas).
Imagen: incluida (dibujo de la casa).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5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5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5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audio" Target="../media/media4.mp3"/><Relationship Id="rId13" Type="http://schemas.openxmlformats.org/officeDocument/2006/relationships/image" Target="../media/image8.png"/><Relationship Id="rId18" Type="http://schemas.openxmlformats.org/officeDocument/2006/relationships/image" Target="../media/image13.png"/><Relationship Id="rId3" Type="http://schemas.microsoft.com/office/2007/relationships/media" Target="../media/media2.mp3"/><Relationship Id="rId7" Type="http://schemas.microsoft.com/office/2007/relationships/media" Target="../media/media4.mp3"/><Relationship Id="rId12" Type="http://schemas.openxmlformats.org/officeDocument/2006/relationships/notesSlide" Target="../notesSlides/notesSlide5.xml"/><Relationship Id="rId17" Type="http://schemas.openxmlformats.org/officeDocument/2006/relationships/image" Target="../media/image12.png"/><Relationship Id="rId2" Type="http://schemas.openxmlformats.org/officeDocument/2006/relationships/audio" Target="../media/media1.mp3"/><Relationship Id="rId16" Type="http://schemas.openxmlformats.org/officeDocument/2006/relationships/image" Target="../media/image11.png"/><Relationship Id="rId1" Type="http://schemas.microsoft.com/office/2007/relationships/media" Target="../media/media1.mp3"/><Relationship Id="rId6" Type="http://schemas.openxmlformats.org/officeDocument/2006/relationships/audio" Target="../media/media3.mp3"/><Relationship Id="rId11" Type="http://schemas.openxmlformats.org/officeDocument/2006/relationships/slideLayout" Target="../slideLayouts/slideLayout3.xml"/><Relationship Id="rId5" Type="http://schemas.microsoft.com/office/2007/relationships/media" Target="../media/media3.mp3"/><Relationship Id="rId15" Type="http://schemas.openxmlformats.org/officeDocument/2006/relationships/image" Target="../media/image10.png"/><Relationship Id="rId10" Type="http://schemas.openxmlformats.org/officeDocument/2006/relationships/audio" Target="../media/media5.mp3"/><Relationship Id="rId4" Type="http://schemas.openxmlformats.org/officeDocument/2006/relationships/audio" Target="../media/media2.mp3"/><Relationship Id="rId9" Type="http://schemas.microsoft.com/office/2007/relationships/media" Target="../media/media5.mp3"/><Relationship Id="rId1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audio" Target="../media/media9.mp3"/><Relationship Id="rId13" Type="http://schemas.openxmlformats.org/officeDocument/2006/relationships/image" Target="../media/image15.png"/><Relationship Id="rId3" Type="http://schemas.microsoft.com/office/2007/relationships/media" Target="../media/media7.mp3"/><Relationship Id="rId7" Type="http://schemas.microsoft.com/office/2007/relationships/media" Target="../media/media9.mp3"/><Relationship Id="rId12" Type="http://schemas.openxmlformats.org/officeDocument/2006/relationships/image" Target="../media/image9.png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audio" Target="../media/media8.mp3"/><Relationship Id="rId11" Type="http://schemas.openxmlformats.org/officeDocument/2006/relationships/image" Target="../media/image14.png"/><Relationship Id="rId5" Type="http://schemas.microsoft.com/office/2007/relationships/media" Target="../media/media8.mp3"/><Relationship Id="rId15" Type="http://schemas.openxmlformats.org/officeDocument/2006/relationships/image" Target="../media/image17.png"/><Relationship Id="rId10" Type="http://schemas.openxmlformats.org/officeDocument/2006/relationships/notesSlide" Target="../notesSlides/notesSlide6.xml"/><Relationship Id="rId4" Type="http://schemas.openxmlformats.org/officeDocument/2006/relationships/audio" Target="../media/media7.mp3"/><Relationship Id="rId9" Type="http://schemas.openxmlformats.org/officeDocument/2006/relationships/slideLayout" Target="../slideLayouts/slideLayout3.xml"/><Relationship Id="rId1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audio" Target="../media/media13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24.png"/><Relationship Id="rId3" Type="http://schemas.microsoft.com/office/2007/relationships/media" Target="../media/media11.mp3"/><Relationship Id="rId21" Type="http://schemas.openxmlformats.org/officeDocument/2006/relationships/image" Target="../media/image27.png"/><Relationship Id="rId7" Type="http://schemas.microsoft.com/office/2007/relationships/media" Target="../media/media13.mp3"/><Relationship Id="rId12" Type="http://schemas.openxmlformats.org/officeDocument/2006/relationships/audio" Target="../media/media15.mp3"/><Relationship Id="rId17" Type="http://schemas.openxmlformats.org/officeDocument/2006/relationships/image" Target="../media/image23.png"/><Relationship Id="rId2" Type="http://schemas.openxmlformats.org/officeDocument/2006/relationships/audio" Target="../media/media10.mp3"/><Relationship Id="rId16" Type="http://schemas.openxmlformats.org/officeDocument/2006/relationships/image" Target="../media/image9.png"/><Relationship Id="rId20" Type="http://schemas.openxmlformats.org/officeDocument/2006/relationships/image" Target="../media/image26.png"/><Relationship Id="rId1" Type="http://schemas.microsoft.com/office/2007/relationships/media" Target="../media/media10.mp3"/><Relationship Id="rId6" Type="http://schemas.openxmlformats.org/officeDocument/2006/relationships/audio" Target="../media/media12.mp3"/><Relationship Id="rId11" Type="http://schemas.microsoft.com/office/2007/relationships/media" Target="../media/media15.mp3"/><Relationship Id="rId5" Type="http://schemas.microsoft.com/office/2007/relationships/media" Target="../media/media12.mp3"/><Relationship Id="rId15" Type="http://schemas.openxmlformats.org/officeDocument/2006/relationships/image" Target="../media/image22.png"/><Relationship Id="rId10" Type="http://schemas.openxmlformats.org/officeDocument/2006/relationships/audio" Target="../media/media14.mp3"/><Relationship Id="rId19" Type="http://schemas.openxmlformats.org/officeDocument/2006/relationships/image" Target="../media/image25.png"/><Relationship Id="rId4" Type="http://schemas.openxmlformats.org/officeDocument/2006/relationships/audio" Target="../media/media11.mp3"/><Relationship Id="rId9" Type="http://schemas.microsoft.com/office/2007/relationships/media" Target="../media/media14.mp3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6600" b="1" dirty="0">
                <a:solidFill>
                  <a:srgbClr val="E8B84B"/>
                </a:solidFill>
              </a:rPr>
              <a:t>?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5 · Lugares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Lección 5 del libro · Básico 1 (A1.1) · Kiran (기란</a:t>
            </a:r>
            <a:r>
              <a:rPr lang="en-US" sz="2200" dirty="0">
                <a:solidFill>
                  <a:srgbClr val="E8B84B"/>
                </a:solidFill>
              </a:rPr>
              <a:t>) · mar 10 / jue 12 nov · 20:00 (Chile)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Frase del día: 화장실이 어디예요</a:t>
            </a:r>
            <a:r>
              <a:rPr lang="en-US" sz="2200" dirty="0">
                <a:solidFill>
                  <a:srgbClr val="E8B84B"/>
                </a:solidFill>
              </a:rPr>
              <a:t>?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4</a:t>
            </a:r>
            <a:r>
              <a:rPr lang="en-US" sz="1500" b="1" i="1" dirty="0">
                <a:solidFill>
                  <a:srgbClr val="8A8DA0"/>
                </a:solidFill>
              </a:rPr>
              <a:t>   Quiz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Sobre la semana 4 · 5 ítems, 1 punto cada uno · Responde en el chat, en privado para Kiran, todo en un solo mensaje: 1) … 5) … (3 minutos)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item_img_0" descr="C:\Users\Chingu\AppData\Local\Temp\claude\C--Users-Chingu-Desktop-ACADEMIASEULWEB\d4111e1b-5523-44ea-97b2-b1a1d9545b9e\scratchpad\decks\cache\img_9326893e8083d2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" y="2057400"/>
            <a:ext cx="1828800" cy="1828800"/>
          </a:xfrm>
          <a:prstGeom prst="rect">
            <a:avLst/>
          </a:prstGeom>
        </p:spPr>
      </p:pic>
      <p:sp>
        <p:nvSpPr>
          <p:cNvPr id="6" name="num_0"/>
          <p:cNvSpPr/>
          <p:nvPr/>
        </p:nvSpPr>
        <p:spPr>
          <a:xfrm>
            <a:off x="64008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dirty="0">
                <a:solidFill>
                  <a:srgbClr val="14142B"/>
                </a:solidFill>
              </a:rPr>
              <a:t>Escucha y escribe el número</a:t>
            </a:r>
            <a:endParaRPr lang="en-US" sz="1500" dirty="0"/>
          </a:p>
        </p:txBody>
      </p:sp>
      <p:sp>
        <p:nvSpPr>
          <p:cNvPr id="9" name="rev_0_caja"/>
          <p:cNvSpPr/>
          <p:nvPr/>
        </p:nvSpPr>
        <p:spPr>
          <a:xfrm>
            <a:off x="65836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0" name="rev_0_txt"/>
          <p:cNvSpPr txBox="1"/>
          <p:nvPr/>
        </p:nvSpPr>
        <p:spPr>
          <a:xfrm>
            <a:off x="68580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(이십칠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11" name="card_1"/>
          <p:cNvSpPr/>
          <p:nvPr/>
        </p:nvSpPr>
        <p:spPr>
          <a:xfrm>
            <a:off x="280355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2" name="item_img_1" descr="C:\Users\Chingu\AppData\Local\Temp\claude\C--Users-Chingu-Desktop-ACADEMIASEULWEB\d4111e1b-5523-44ea-97b2-b1a1d9545b9e\scratchpad\decks\cache\img_c60c0ed04787e9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166" y="2057400"/>
            <a:ext cx="1828800" cy="1828800"/>
          </a:xfrm>
          <a:prstGeom prst="rect">
            <a:avLst/>
          </a:prstGeom>
        </p:spPr>
      </p:pic>
      <p:sp>
        <p:nvSpPr>
          <p:cNvPr id="13" name="num_1"/>
          <p:cNvSpPr/>
          <p:nvPr/>
        </p:nvSpPr>
        <p:spPr>
          <a:xfrm>
            <a:off x="289499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89499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89499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dirty="0">
                <a:solidFill>
                  <a:srgbClr val="14142B"/>
                </a:solidFill>
              </a:rPr>
              <a:t>Escucha y escribe el número</a:t>
            </a:r>
            <a:endParaRPr lang="en-US" sz="1500" dirty="0"/>
          </a:p>
        </p:txBody>
      </p:sp>
      <p:sp>
        <p:nvSpPr>
          <p:cNvPr id="16" name="rev_1_caja"/>
          <p:cNvSpPr/>
          <p:nvPr/>
        </p:nvSpPr>
        <p:spPr>
          <a:xfrm>
            <a:off x="291327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7" name="rev_1_txt"/>
          <p:cNvSpPr txBox="1"/>
          <p:nvPr/>
        </p:nvSpPr>
        <p:spPr>
          <a:xfrm>
            <a:off x="294071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 (팔십사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18" name="card_2"/>
          <p:cNvSpPr/>
          <p:nvPr/>
        </p:nvSpPr>
        <p:spPr>
          <a:xfrm>
            <a:off x="505846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9" name="item_img_2" descr="C:\Users\Chingu\AppData\Local\Temp\claude\C--Users-Chingu-Desktop-ACADEMIASEULWEB\d4111e1b-5523-44ea-97b2-b1a1d9545b9e\scratchpad\decks\cache\img_3124a2973042906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076" y="2057400"/>
            <a:ext cx="1828800" cy="1828800"/>
          </a:xfrm>
          <a:prstGeom prst="rect">
            <a:avLst/>
          </a:prstGeom>
        </p:spPr>
      </p:pic>
      <p:sp>
        <p:nvSpPr>
          <p:cNvPr id="20" name="num_2"/>
          <p:cNvSpPr/>
          <p:nvPr/>
        </p:nvSpPr>
        <p:spPr>
          <a:xfrm>
            <a:off x="514990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4990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14990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dirty="0">
                <a:solidFill>
                  <a:srgbClr val="14142B"/>
                </a:solidFill>
              </a:rPr>
              <a:t>Escucha y escribe los 4 dígitos de un teléfono</a:t>
            </a:r>
            <a:endParaRPr lang="en-US" sz="1500" dirty="0"/>
          </a:p>
        </p:txBody>
      </p:sp>
      <p:sp>
        <p:nvSpPr>
          <p:cNvPr id="23" name="rev_2_caja"/>
          <p:cNvSpPr/>
          <p:nvPr/>
        </p:nvSpPr>
        <p:spPr>
          <a:xfrm>
            <a:off x="516818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2_txt"/>
          <p:cNvSpPr txBox="1"/>
          <p:nvPr/>
        </p:nvSpPr>
        <p:spPr>
          <a:xfrm>
            <a:off x="519562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7063 (칠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lang="en-US" sz="1200" dirty="0"/>
          </a:p>
        </p:txBody>
      </p:sp>
      <p:sp>
        <p:nvSpPr>
          <p:cNvPr id="25" name="card_3"/>
          <p:cNvSpPr/>
          <p:nvPr/>
        </p:nvSpPr>
        <p:spPr>
          <a:xfrm>
            <a:off x="731337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item_img_3" descr="C:\Users\Chingu\AppData\Local\Temp\claude\C--Users-Chingu-Desktop-ACADEMIASEULWEB\d4111e1b-5523-44ea-97b2-b1a1d9545b9e\scratchpad\decks\cache\img_4f994664896441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986" y="2057400"/>
            <a:ext cx="1828800" cy="1828800"/>
          </a:xfrm>
          <a:prstGeom prst="rect">
            <a:avLst/>
          </a:prstGeom>
        </p:spPr>
      </p:pic>
      <p:sp>
        <p:nvSpPr>
          <p:cNvPr id="27" name="num_3"/>
          <p:cNvSpPr/>
          <p:nvPr/>
        </p:nvSpPr>
        <p:spPr>
          <a:xfrm>
            <a:off x="740481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40481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40481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(dibujo de 4 personas) 우리 가족은 </a:t>
            </a:r>
            <a:r>
              <a:rPr lang="en-US" sz="1500" dirty="0">
                <a:solidFill>
                  <a:srgbClr val="14142B"/>
                </a:solidFill>
              </a:rPr>
              <a:t>___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명이에요</a:t>
            </a:r>
            <a:r>
              <a:rPr lang="en-US" sz="1500" dirty="0">
                <a:solidFill>
                  <a:srgbClr val="14142B"/>
                </a:solidFill>
              </a:rPr>
              <a:t>. a)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 </a:t>
            </a:r>
            <a:r>
              <a:rPr lang="en-US" sz="1500" dirty="0">
                <a:solidFill>
                  <a:srgbClr val="14142B"/>
                </a:solidFill>
              </a:rPr>
              <a:t>b)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1500" dirty="0">
                <a:solidFill>
                  <a:srgbClr val="14142B"/>
                </a:solidFill>
              </a:rPr>
              <a:t>c)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endParaRPr lang="en-US" sz="1500" dirty="0"/>
          </a:p>
        </p:txBody>
      </p:sp>
      <p:sp>
        <p:nvSpPr>
          <p:cNvPr id="30" name="rev_3_caja"/>
          <p:cNvSpPr/>
          <p:nvPr/>
        </p:nvSpPr>
        <p:spPr>
          <a:xfrm>
            <a:off x="742309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1" name="rev_3_txt"/>
          <p:cNvSpPr txBox="1"/>
          <p:nvPr/>
        </p:nvSpPr>
        <p:spPr>
          <a:xfrm>
            <a:off x="745053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네 </a:t>
            </a:r>
            <a:r>
              <a:rPr lang="en-US" sz="1200" b="1" dirty="0">
                <a:solidFill>
                  <a:srgbClr val="FFFFFF"/>
                </a:solidFill>
              </a:rPr>
              <a:t>· para contar personas, nativos: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 명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 명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 명</a:t>
            </a:r>
            <a:r>
              <a:rPr lang="en-US" sz="1200" b="1" dirty="0">
                <a:solidFill>
                  <a:srgbClr val="FFFFFF"/>
                </a:solidFill>
              </a:rPr>
              <a:t>,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 명</a:t>
            </a:r>
            <a:endParaRPr lang="en-US" sz="1200" dirty="0"/>
          </a:p>
        </p:txBody>
      </p:sp>
      <p:sp>
        <p:nvSpPr>
          <p:cNvPr id="32" name="card_4"/>
          <p:cNvSpPr/>
          <p:nvPr/>
        </p:nvSpPr>
        <p:spPr>
          <a:xfrm>
            <a:off x="9568282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3" name="item_img_4" descr="C:\Users\Chingu\AppData\Local\Temp\claude\C--Users-Chingu-Desktop-ACADEMIASEULWEB\d4111e1b-5523-44ea-97b2-b1a1d9545b9e\scratchpad\decks\cache\img_afe7e9e7798af6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9897" y="2057400"/>
            <a:ext cx="1828800" cy="1828800"/>
          </a:xfrm>
          <a:prstGeom prst="rect">
            <a:avLst/>
          </a:prstGeom>
        </p:spPr>
      </p:pic>
      <p:sp>
        <p:nvSpPr>
          <p:cNvPr id="34" name="num_4"/>
          <p:cNvSpPr/>
          <p:nvPr/>
        </p:nvSpPr>
        <p:spPr>
          <a:xfrm>
            <a:off x="9659722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659722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9659722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Daniel (hombre) presenta a su hermana mayor: 우리 </a:t>
            </a:r>
            <a:r>
              <a:rPr lang="en-US" sz="1500" dirty="0">
                <a:solidFill>
                  <a:srgbClr val="14142B"/>
                </a:solidFill>
              </a:rPr>
              <a:t>___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1500" dirty="0">
                <a:solidFill>
                  <a:srgbClr val="14142B"/>
                </a:solidFill>
              </a:rPr>
              <a:t>. a)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언니 </a:t>
            </a:r>
            <a:r>
              <a:rPr lang="en-US" sz="1500" dirty="0">
                <a:solidFill>
                  <a:srgbClr val="14142B"/>
                </a:solidFill>
              </a:rPr>
              <a:t>b) </a:t>
            </a:r>
            <a:r>
              <a:rPr lang="ko-KR" altLang="en-US" sz="15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</a:t>
            </a:r>
            <a:endParaRPr lang="en-US" sz="1500" dirty="0"/>
          </a:p>
        </p:txBody>
      </p:sp>
      <p:sp>
        <p:nvSpPr>
          <p:cNvPr id="37" name="rev_4_caja"/>
          <p:cNvSpPr/>
          <p:nvPr/>
        </p:nvSpPr>
        <p:spPr>
          <a:xfrm>
            <a:off x="9678010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8" name="rev_4_txt"/>
          <p:cNvSpPr txBox="1"/>
          <p:nvPr/>
        </p:nvSpPr>
        <p:spPr>
          <a:xfrm>
            <a:off x="9705442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누나 </a:t>
            </a:r>
            <a:r>
              <a:rPr lang="en-US" sz="1200" b="1" dirty="0">
                <a:solidFill>
                  <a:srgbClr val="FFFFFF"/>
                </a:solidFill>
              </a:rPr>
              <a:t>· </a:t>
            </a: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언니 </a:t>
            </a:r>
            <a:r>
              <a:rPr lang="en-US" sz="1200" b="1" dirty="0">
                <a:solidFill>
                  <a:srgbClr val="FFFFFF"/>
                </a:solidFill>
              </a:rPr>
              <a:t>es hermana mayor para una mujer</a:t>
            </a:r>
            <a:endParaRPr lang="en-US" sz="12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7" grpId="0" animBg="1"/>
      <p:bldP spid="24" grpId="0" animBg="1"/>
      <p:bldP spid="31" grpId="0" animBg="1"/>
      <p:bldP spid="3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¿Dónde vives?</a:t>
            </a:r>
            <a:r>
              <a:rPr lang="en-US" sz="1500" b="1" i="1" dirty="0">
                <a:solidFill>
                  <a:srgbClr val="8A8DA0"/>
                </a:solidFill>
              </a:rPr>
              <a:t>   Where do you live?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467489cd079223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5700" b="1" dirty="0">
                <a:solidFill>
                  <a:srgbClr val="4236F6"/>
                </a:solidFill>
              </a:rPr>
              <a:t>?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산티아고예요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¿Dónde vives? — En Santiago.</a:t>
            </a:r>
            <a:endParaRPr lang="en-US" sz="2400" dirty="0"/>
          </a:p>
        </p:txBody>
      </p:sp>
      <p:sp>
        <p:nvSpPr>
          <p:cNvPr id="7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산티아고예요</a:t>
            </a:r>
            <a:r>
              <a:rPr lang="en-US" sz="1800" dirty="0">
                <a:solidFill>
                  <a:srgbClr val="14142B"/>
                </a:solidFill>
              </a:rPr>
              <a:t>.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서울이에요</a:t>
            </a:r>
            <a:r>
              <a:rPr lang="en-US" sz="1800" dirty="0">
                <a:solidFill>
                  <a:srgbClr val="14142B"/>
                </a:solidFill>
              </a:rPr>
              <a:t>. · ¿Termina en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1800" dirty="0">
                <a:solidFill>
                  <a:srgbClr val="14142B"/>
                </a:solidFill>
              </a:rPr>
              <a:t>? 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1800" dirty="0">
                <a:solidFill>
                  <a:srgbClr val="14142B"/>
                </a:solidFill>
              </a:rPr>
              <a:t>/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659074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vives? — En Santiago.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화장실이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저기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el baño? — Está allá.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 책상 위에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libro está encima del escritorio.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은행이 카페 옆에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banco está al lado de la cafetería.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 앞에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la estación de metro? — Delante del banco.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Lugares del barrio (1)</a:t>
            </a:r>
            <a:r>
              <a:rPr lang="en-US" sz="1500" b="1" i="1" dirty="0">
                <a:solidFill>
                  <a:srgbClr val="8A8DA0"/>
                </a:solidFill>
              </a:rPr>
              <a:t>   Places in the neighborhood (1)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eca79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66926" y="1435608"/>
            <a:ext cx="1108253" cy="110825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casa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3691128" y="1399032"/>
            <a:ext cx="310896" cy="310896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ed9599eab5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40350" y="1435608"/>
            <a:ext cx="1108253" cy="11082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22064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endParaRPr lang="en-US" sz="2900" dirty="0"/>
          </a:p>
        </p:txBody>
      </p:sp>
      <p:sp>
        <p:nvSpPr>
          <p:cNvPr id="11" name="Text 6"/>
          <p:cNvSpPr txBox="1"/>
          <p:nvPr/>
        </p:nvSpPr>
        <p:spPr>
          <a:xfrm>
            <a:off x="4322064" y="302392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[학꾜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395216" y="329824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colegio, escuela</a:t>
            </a:r>
            <a:endParaRPr lang="en-US" sz="1600" dirty="0"/>
          </a:p>
        </p:txBody>
      </p:sp>
      <p:pic>
        <p:nvPicPr>
          <p:cNvPr id="13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464552" y="1399032"/>
            <a:ext cx="310896" cy="310896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8095488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d9a8cec82ac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13774" y="1435608"/>
            <a:ext cx="1108253" cy="1108253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095488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29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empresa, oficina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11237976" y="1399032"/>
            <a:ext cx="310896" cy="310896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548640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bb391ec9b9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66926" y="3973068"/>
            <a:ext cx="1108253" cy="1108253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48640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</a:t>
            </a:r>
            <a:endParaRPr lang="en-US" sz="2900" dirty="0"/>
          </a:p>
        </p:txBody>
      </p:sp>
      <p:sp>
        <p:nvSpPr>
          <p:cNvPr id="22" name="Text 13"/>
          <p:cNvSpPr txBox="1"/>
          <p:nvPr/>
        </p:nvSpPr>
        <p:spPr>
          <a:xfrm>
            <a:off x="621792" y="556138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hospital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3691128" y="3936492"/>
            <a:ext cx="310896" cy="310896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4322064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ecb9b4ed8e9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40350" y="3973068"/>
            <a:ext cx="1108253" cy="1108253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322064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2900" dirty="0"/>
          </a:p>
        </p:txBody>
      </p:sp>
      <p:sp>
        <p:nvSpPr>
          <p:cNvPr id="27" name="Text 16"/>
          <p:cNvSpPr txBox="1"/>
          <p:nvPr/>
        </p:nvSpPr>
        <p:spPr>
          <a:xfrm>
            <a:off x="4395216" y="556138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cafetería</a:t>
            </a:r>
            <a:endParaRPr lang="en-US" sz="1600" dirty="0"/>
          </a:p>
        </p:txBody>
      </p:sp>
      <p:pic>
        <p:nvPicPr>
          <p:cNvPr id="28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464552" y="3936492"/>
            <a:ext cx="310896" cy="310896"/>
          </a:xfrm>
          <a:prstGeom prst="rect">
            <a:avLst/>
          </a:prstGeom>
        </p:spPr>
      </p:pic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Lugares del barrio (2)</a:t>
            </a:r>
            <a:r>
              <a:rPr lang="en-US" sz="1500" b="1" i="1" dirty="0">
                <a:solidFill>
                  <a:srgbClr val="8A8DA0"/>
                </a:solidFill>
              </a:rPr>
              <a:t>   Places in the neighborhood (2)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ec8b9deb8bb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919" y="1435608"/>
            <a:ext cx="1612910" cy="16129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4463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[식땅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218950"/>
            <a:ext cx="2455164" cy="1422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restaurante</a:t>
            </a:r>
            <a:endParaRPr lang="en-US" sz="16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2747772" y="1399032"/>
            <a:ext cx="310896" cy="310896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3378708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d9994ec9ea5ec8ba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72987" y="1435608"/>
            <a:ext cx="1612910" cy="161291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78708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endParaRPr lang="en-US" sz="5400" dirty="0"/>
          </a:p>
        </p:txBody>
      </p:sp>
      <p:sp>
        <p:nvSpPr>
          <p:cNvPr id="12" name="Text 7"/>
          <p:cNvSpPr txBox="1"/>
          <p:nvPr/>
        </p:nvSpPr>
        <p:spPr>
          <a:xfrm>
            <a:off x="3451860" y="3944630"/>
            <a:ext cx="2455164" cy="169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baño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5577840" y="1399032"/>
            <a:ext cx="310896" cy="310896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6208776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c9d80ed968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03055" y="1435608"/>
            <a:ext cx="1612910" cy="161291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endParaRPr lang="en-US" sz="5400" dirty="0"/>
          </a:p>
        </p:txBody>
      </p:sp>
      <p:sp>
        <p:nvSpPr>
          <p:cNvPr id="17" name="Text 10"/>
          <p:cNvSpPr txBox="1"/>
          <p:nvPr/>
        </p:nvSpPr>
        <p:spPr>
          <a:xfrm>
            <a:off x="6281928" y="3944630"/>
            <a:ext cx="2455164" cy="169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banco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8407908" y="1399032"/>
            <a:ext cx="310896" cy="310896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9038844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ab3b5ec9b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33123" y="1435608"/>
            <a:ext cx="1612910" cy="161291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9038844" y="3066806"/>
            <a:ext cx="26014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endParaRPr lang="en-US" sz="5400" dirty="0"/>
          </a:p>
        </p:txBody>
      </p:sp>
      <p:sp>
        <p:nvSpPr>
          <p:cNvPr id="22" name="Text 13"/>
          <p:cNvSpPr txBox="1"/>
          <p:nvPr/>
        </p:nvSpPr>
        <p:spPr>
          <a:xfrm>
            <a:off x="9111996" y="3944630"/>
            <a:ext cx="2455164" cy="169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parque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1237976" y="139903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 </a:t>
            </a:r>
            <a:r>
              <a:rPr lang="en-US" sz="3000" b="1" dirty="0">
                <a:solidFill>
                  <a:srgbClr val="003478"/>
                </a:solidFill>
              </a:rPr>
              <a:t>Aquí, ahí, allá</a:t>
            </a:r>
            <a:r>
              <a:rPr lang="en-US" sz="1500" b="1" i="1" dirty="0">
                <a:solidFill>
                  <a:srgbClr val="8A8DA0"/>
                </a:solidFill>
              </a:rPr>
              <a:t>   Here, there, over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1800" i="1" dirty="0">
                <a:solidFill>
                  <a:srgbClr val="4236F6"/>
                </a:solidFill>
              </a:rPr>
              <a:t>= ¿dónde?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mí</a:t>
            </a:r>
            <a:endParaRPr lang="en-US" sz="2000" dirty="0"/>
          </a:p>
        </p:txBody>
      </p:sp>
      <p:pic>
        <p:nvPicPr>
          <p:cNvPr id="6" name="col_img_0" descr="C:\Users\Chingu\AppData\Local\Temp\claude\C--Users-Chingu-Desktop-ACADEMIASEULWEB\d4111e1b-5523-44ea-97b2-b1a1d9545b9e\scratchpad\decks\cache\img_2f9da15f99119e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26664" cy="13757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4118956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</a:t>
            </a:r>
            <a:endParaRPr lang="en-US" sz="5400" dirty="0"/>
          </a:p>
        </p:txBody>
      </p:sp>
      <p:sp>
        <p:nvSpPr>
          <p:cNvPr id="8" name="lista"/>
          <p:cNvSpPr txBox="1"/>
          <p:nvPr/>
        </p:nvSpPr>
        <p:spPr>
          <a:xfrm>
            <a:off x="731520" y="5124796"/>
            <a:ext cx="3118104" cy="910244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aquí, acá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이거 </a:t>
            </a:r>
            <a:r>
              <a:rPr lang="en-US" sz="1800" dirty="0">
                <a:solidFill>
                  <a:srgbClr val="14142B"/>
                </a:solidFill>
              </a:rPr>
              <a:t>(esto)</a:t>
            </a:r>
            <a:endParaRPr lang="en-US" sz="1800" dirty="0"/>
          </a:p>
        </p:txBody>
      </p:sp>
      <p:sp>
        <p:nvSpPr>
          <p:cNvPr id="9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ti</a:t>
            </a:r>
            <a:endParaRPr lang="en-US" sz="2000" dirty="0"/>
          </a:p>
        </p:txBody>
      </p:sp>
      <p:pic>
        <p:nvPicPr>
          <p:cNvPr id="11" name="col_img_1" descr="C:\Users\Chingu\AppData\Local\Temp\claude\C--Users-Chingu-Desktop-ACADEMIASEULWEB\d4111e1b-5523-44ea-97b2-b1a1d9545b9e\scratchpad\decks\cache\img_bdf3e9b87e325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2281" y="2651760"/>
            <a:ext cx="1904390" cy="8656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1144" y="3608832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</a:t>
            </a:r>
            <a:endParaRPr lang="en-US" sz="5400" dirty="0"/>
          </a:p>
        </p:txBody>
      </p:sp>
      <p:sp>
        <p:nvSpPr>
          <p:cNvPr id="13" name="lista"/>
          <p:cNvSpPr txBox="1"/>
          <p:nvPr/>
        </p:nvSpPr>
        <p:spPr>
          <a:xfrm>
            <a:off x="4535424" y="4614672"/>
            <a:ext cx="3118104" cy="1420368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4142B"/>
                </a:solidFill>
              </a:rPr>
              <a:t>ahí</a:t>
            </a:r>
            <a:endParaRPr lang="en-US" sz="17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4142B"/>
                </a:solidFill>
              </a:rPr>
              <a:t>o el lugar del que hablamos</a:t>
            </a:r>
            <a:endParaRPr lang="en-US" sz="17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그거 </a:t>
            </a:r>
            <a:r>
              <a:rPr lang="en-US" sz="1700" dirty="0">
                <a:solidFill>
                  <a:srgbClr val="14142B"/>
                </a:solidFill>
              </a:rPr>
              <a:t>(eso)</a:t>
            </a:r>
            <a:endParaRPr lang="en-US" sz="1700" dirty="0"/>
          </a:p>
        </p:txBody>
      </p:sp>
      <p:sp>
        <p:nvSpPr>
          <p:cNvPr id="14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Lejos de los dos</a:t>
            </a:r>
            <a:endParaRPr lang="en-US" sz="2000" dirty="0"/>
          </a:p>
        </p:txBody>
      </p:sp>
      <p:pic>
        <p:nvPicPr>
          <p:cNvPr id="16" name="col_img_2" descr="C:\Users\Chingu\AppData\Local\Temp\claude\C--Users-Chingu-Desktop-ACADEMIASEULWEB\d4111e1b-5523-44ea-97b2-b1a1d9545b9e\scratchpad\decks\cache\img_bd8196e0d49518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2651760"/>
            <a:ext cx="3026664" cy="13757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85048" y="4118956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</a:t>
            </a:r>
            <a:endParaRPr lang="en-US" sz="5400" dirty="0"/>
          </a:p>
        </p:txBody>
      </p:sp>
      <p:sp>
        <p:nvSpPr>
          <p:cNvPr id="18" name="lista"/>
          <p:cNvSpPr txBox="1"/>
          <p:nvPr/>
        </p:nvSpPr>
        <p:spPr>
          <a:xfrm>
            <a:off x="8339328" y="5124796"/>
            <a:ext cx="3118104" cy="910244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allá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저거 </a:t>
            </a:r>
            <a:r>
              <a:rPr lang="en-US" sz="1800" dirty="0">
                <a:solidFill>
                  <a:srgbClr val="14142B"/>
                </a:solidFill>
              </a:rPr>
              <a:t>(aquello)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 책상  </a:t>
            </a:r>
            <a:r>
              <a:rPr lang="en-US" sz="2600" b="1" dirty="0">
                <a:solidFill>
                  <a:srgbClr val="003478"/>
                </a:solidFill>
              </a:rPr>
              <a:t>El escritorio de la profe</a:t>
            </a:r>
            <a:r>
              <a:rPr lang="en-US" sz="1500" b="1" i="1" dirty="0">
                <a:solidFill>
                  <a:srgbClr val="8A8DA0"/>
                </a:solidFill>
              </a:rPr>
              <a:t>   The teacher's desk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21471846d17cd1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 si la cámara no muestra la mesa · Escucha a Kiran y responde: 네</a:t>
            </a:r>
            <a:r>
              <a:rPr lang="en-US" sz="1800" i="1" dirty="0">
                <a:solidFill>
                  <a:srgbClr val="4236F6"/>
                </a:solidFill>
              </a:rPr>
              <a:t>!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!</a:t>
            </a:r>
            <a:endParaRPr lang="en-US" sz="1800" dirty="0"/>
          </a:p>
        </p:txBody>
      </p:sp>
      <p:sp>
        <p:nvSpPr>
          <p:cNvPr id="5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965960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위에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8" name="rev_5_caja"/>
          <p:cNvSpPr/>
          <p:nvPr/>
        </p:nvSpPr>
        <p:spPr>
          <a:xfrm>
            <a:off x="4152839" y="2002536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5_txt"/>
          <p:cNvSpPr txBox="1"/>
          <p:nvPr/>
        </p:nvSpPr>
        <p:spPr>
          <a:xfrm>
            <a:off x="4244279" y="2002536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688336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옆에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13" name="rev_6_caja"/>
          <p:cNvSpPr/>
          <p:nvPr/>
        </p:nvSpPr>
        <p:spPr>
          <a:xfrm>
            <a:off x="4152839" y="2724912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4" name="rev_6_txt"/>
          <p:cNvSpPr txBox="1"/>
          <p:nvPr/>
        </p:nvSpPr>
        <p:spPr>
          <a:xfrm>
            <a:off x="4244279" y="2724912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410712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18" name="rev_7_caja"/>
          <p:cNvSpPr/>
          <p:nvPr/>
        </p:nvSpPr>
        <p:spPr>
          <a:xfrm>
            <a:off x="4152839" y="3447288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9" name="rev_7_txt"/>
          <p:cNvSpPr txBox="1"/>
          <p:nvPr/>
        </p:nvSpPr>
        <p:spPr>
          <a:xfrm>
            <a:off x="4244279" y="3447288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위에 있어요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20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4133088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가방이 책상 아래에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23" name="rev_8_caja"/>
          <p:cNvSpPr/>
          <p:nvPr/>
        </p:nvSpPr>
        <p:spPr>
          <a:xfrm>
            <a:off x="4152839" y="4169664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8_txt"/>
          <p:cNvSpPr txBox="1"/>
          <p:nvPr/>
        </p:nvSpPr>
        <p:spPr>
          <a:xfrm>
            <a:off x="4244279" y="4169664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188720" y="4855464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고양이가 의자 뒤에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28" name="rev_9_caja"/>
          <p:cNvSpPr/>
          <p:nvPr/>
        </p:nvSpPr>
        <p:spPr>
          <a:xfrm>
            <a:off x="4152839" y="4892040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9" name="rev_9_txt"/>
          <p:cNvSpPr txBox="1"/>
          <p:nvPr/>
        </p:nvSpPr>
        <p:spPr>
          <a:xfrm>
            <a:off x="4244279" y="4892040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188720" y="5577840"/>
            <a:ext cx="27355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9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책상 옆에 있어요</a:t>
            </a:r>
            <a:r>
              <a:rPr lang="en-US" sz="1900" dirty="0">
                <a:solidFill>
                  <a:srgbClr val="14142B"/>
                </a:solidFill>
              </a:rPr>
              <a:t>?</a:t>
            </a:r>
            <a:endParaRPr lang="en-US" sz="1900" dirty="0"/>
          </a:p>
        </p:txBody>
      </p:sp>
      <p:sp>
        <p:nvSpPr>
          <p:cNvPr id="33" name="rev_10_caja"/>
          <p:cNvSpPr/>
          <p:nvPr/>
        </p:nvSpPr>
        <p:spPr>
          <a:xfrm>
            <a:off x="4152839" y="5614416"/>
            <a:ext cx="3326953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4" name="rev_10_txt"/>
          <p:cNvSpPr txBox="1"/>
          <p:nvPr/>
        </p:nvSpPr>
        <p:spPr>
          <a:xfrm>
            <a:off x="4244279" y="5614416"/>
            <a:ext cx="314407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9" grpId="0" animBg="1"/>
      <p:bldP spid="24" grpId="0" animBg="1"/>
      <p:bldP spid="29" grpId="0" animBg="1"/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 </a:t>
            </a:r>
            <a:r>
              <a:rPr lang="en-US" sz="2600" b="1" dirty="0">
                <a:solidFill>
                  <a:srgbClr val="003478"/>
                </a:solidFill>
              </a:rPr>
              <a:t>Las 6 posiciones</a:t>
            </a:r>
            <a:r>
              <a:rPr lang="en-US" sz="1500" b="1" i="1" dirty="0">
                <a:solidFill>
                  <a:srgbClr val="8A8DA0"/>
                </a:solidFill>
              </a:rPr>
              <a:t>   The 6 positions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img_14d5a418a639b10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66926" y="1435608"/>
            <a:ext cx="1108253" cy="110825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arriba, encima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1399032"/>
            <a:ext cx="310896" cy="310896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img_90149f94431dfea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40350" y="1435608"/>
            <a:ext cx="1108253" cy="11082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22064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2900" dirty="0"/>
          </a:p>
        </p:txBody>
      </p:sp>
      <p:sp>
        <p:nvSpPr>
          <p:cNvPr id="11" name="Text 6"/>
          <p:cNvSpPr txBox="1"/>
          <p:nvPr/>
        </p:nvSpPr>
        <p:spPr>
          <a:xfrm>
            <a:off x="4395216" y="302392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abajo, debajo</a:t>
            </a:r>
            <a:endParaRPr lang="en-US" sz="16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1399032"/>
            <a:ext cx="310896" cy="310896"/>
          </a:xfrm>
          <a:prstGeom prst="rect">
            <a:avLst/>
          </a:prstGeom>
        </p:spPr>
      </p:pic>
      <p:sp>
        <p:nvSpPr>
          <p:cNvPr id="13" name="card_2"/>
          <p:cNvSpPr/>
          <p:nvPr/>
        </p:nvSpPr>
        <p:spPr>
          <a:xfrm>
            <a:off x="8095488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4" name="dibujo_2" descr="C:\Users\Chingu\AppData\Local\Temp\claude\C--Users-Chingu-Desktop-ACADEMIASEULWEB\d4111e1b-5523-44ea-97b2-b1a1d9545b9e\scratchpad\decks\cache\img_ee758e7c02eb2c1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13774" y="1435608"/>
            <a:ext cx="1108253" cy="110825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095488" y="256214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endParaRPr lang="en-US" sz="2900" dirty="0"/>
          </a:p>
        </p:txBody>
      </p:sp>
      <p:sp>
        <p:nvSpPr>
          <p:cNvPr id="16" name="Text 9"/>
          <p:cNvSpPr txBox="1"/>
          <p:nvPr/>
        </p:nvSpPr>
        <p:spPr>
          <a:xfrm>
            <a:off x="8095488" y="302392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아페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329824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delante</a:t>
            </a:r>
            <a:endParaRPr lang="en-US" sz="1600" dirty="0"/>
          </a:p>
        </p:txBody>
      </p:sp>
      <p:pic>
        <p:nvPicPr>
          <p:cNvPr id="12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1399032"/>
            <a:ext cx="310896" cy="310896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548640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img_f13a4ca604c498af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66926" y="3973068"/>
            <a:ext cx="1108253" cy="1108253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48640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</a:t>
            </a:r>
            <a:endParaRPr lang="en-US" sz="2900" dirty="0"/>
          </a:p>
        </p:txBody>
      </p:sp>
      <p:sp>
        <p:nvSpPr>
          <p:cNvPr id="22" name="Text 13"/>
          <p:cNvSpPr txBox="1"/>
          <p:nvPr/>
        </p:nvSpPr>
        <p:spPr>
          <a:xfrm>
            <a:off x="621792" y="5561381"/>
            <a:ext cx="339852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detrás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91128" y="3936492"/>
            <a:ext cx="310896" cy="310896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4322064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img_6b865faecca06d3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540350" y="3973068"/>
            <a:ext cx="1108253" cy="1108253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322064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endParaRPr lang="en-US" sz="2900" dirty="0"/>
          </a:p>
        </p:txBody>
      </p:sp>
      <p:sp>
        <p:nvSpPr>
          <p:cNvPr id="27" name="Text 16"/>
          <p:cNvSpPr txBox="1"/>
          <p:nvPr/>
        </p:nvSpPr>
        <p:spPr>
          <a:xfrm>
            <a:off x="4322064" y="556138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여페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28" name="Text 17"/>
          <p:cNvSpPr txBox="1"/>
          <p:nvPr/>
        </p:nvSpPr>
        <p:spPr>
          <a:xfrm>
            <a:off x="4395216" y="583570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al lado</a:t>
            </a:r>
            <a:endParaRPr lang="en-US" sz="1600" dirty="0"/>
          </a:p>
        </p:txBody>
      </p:sp>
      <p:pic>
        <p:nvPicPr>
          <p:cNvPr id="29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64552" y="3936492"/>
            <a:ext cx="310896" cy="310896"/>
          </a:xfrm>
          <a:prstGeom prst="rect">
            <a:avLst/>
          </a:prstGeom>
        </p:spPr>
      </p:pic>
      <p:sp>
        <p:nvSpPr>
          <p:cNvPr id="30" name="card_5"/>
          <p:cNvSpPr/>
          <p:nvPr/>
        </p:nvSpPr>
        <p:spPr>
          <a:xfrm>
            <a:off x="8095488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1" name="dibujo_5" descr="C:\Users\Chingu\AppData\Local\Temp\claude\C--Users-Chingu-Desktop-ACADEMIASEULWEB\d4111e1b-5523-44ea-97b2-b1a1d9545b9e\scratchpad\decks\cache\img_60e1b9d214478d04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13774" y="3973068"/>
            <a:ext cx="1108253" cy="1108253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8095488" y="5099609"/>
            <a:ext cx="3544824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endParaRPr lang="en-US" sz="2900" dirty="0"/>
          </a:p>
        </p:txBody>
      </p:sp>
      <p:sp>
        <p:nvSpPr>
          <p:cNvPr id="33" name="Text 20"/>
          <p:cNvSpPr txBox="1"/>
          <p:nvPr/>
        </p:nvSpPr>
        <p:spPr>
          <a:xfrm>
            <a:off x="8095488" y="5561381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아네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34" name="Text 21"/>
          <p:cNvSpPr txBox="1"/>
          <p:nvPr/>
        </p:nvSpPr>
        <p:spPr>
          <a:xfrm>
            <a:off x="8168640" y="5835701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dentro</a:t>
            </a:r>
            <a:endParaRPr lang="en-US" sz="1600" dirty="0"/>
          </a:p>
        </p:txBody>
      </p:sp>
      <p:pic>
        <p:nvPicPr>
          <p:cNvPr id="35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3936492"/>
            <a:ext cx="310896" cy="310896"/>
          </a:xfrm>
          <a:prstGeom prst="rect">
            <a:avLst/>
          </a:prstGeom>
        </p:spPr>
      </p:pic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frase en 3 vagones</a:t>
            </a:r>
            <a:r>
              <a:rPr lang="en-US" sz="1500" b="1" i="1" dirty="0">
                <a:solidFill>
                  <a:srgbClr val="8A8DA0"/>
                </a:solidFill>
              </a:rPr>
              <a:t>   The sentence in 3 train cars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Primero la referencia, después la posición: 책상 위 </a:t>
            </a:r>
            <a:r>
              <a:rPr lang="en-US" sz="1800" i="1" dirty="0">
                <a:solidFill>
                  <a:srgbClr val="4236F6"/>
                </a:solidFill>
              </a:rPr>
              <a:t>('escritorio-encima'), sin 'de'</a:t>
            </a:r>
            <a:endParaRPr lang="en-US" sz="1800" dirty="0"/>
          </a:p>
        </p:txBody>
      </p:sp>
      <p:graphicFrame>
        <p:nvGraphicFramePr>
          <p:cNvPr id="1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632147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Vagón 1: la cosa + 이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Vagón 2: el lugar + 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Vagón 3: siempre al final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컴퓨터 옆에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의자 아래에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 안에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3000" b="1" dirty="0">
                <a:solidFill>
                  <a:srgbClr val="4236F6"/>
                </a:solidFill>
              </a:rPr>
              <a:t>/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Subject particle: 이 or 가?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en español: 'Fernando e Isabel' · misma regla que 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받침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Termina en vocal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 </a:t>
            </a:r>
            <a:r>
              <a:rPr lang="en-US" sz="3000" b="1" dirty="0">
                <a:solidFill>
                  <a:srgbClr val="003478"/>
                </a:solidFill>
              </a:rPr>
              <a:t>Está / no está</a:t>
            </a:r>
            <a:r>
              <a:rPr lang="en-US" sz="1500" b="1" i="1" dirty="0">
                <a:solidFill>
                  <a:srgbClr val="8A8DA0"/>
                </a:solidFill>
              </a:rPr>
              <a:t>   It's there / it's not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i="1" dirty="0">
                <a:solidFill>
                  <a:srgbClr val="4236F6"/>
                </a:solidFill>
              </a:rPr>
              <a:t>es otra palabra: no se dice 'no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1800" i="1" dirty="0">
                <a:solidFill>
                  <a:srgbClr val="4236F6"/>
                </a:solidFill>
              </a:rPr>
              <a:t>'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Está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[이써요</a:t>
            </a:r>
            <a:r>
              <a:rPr lang="en-US" sz="2000" dirty="0">
                <a:solidFill>
                  <a:srgbClr val="14142B"/>
                </a:solidFill>
              </a:rPr>
              <a:t>]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 </a:t>
            </a:r>
            <a:r>
              <a:rPr lang="en-US" sz="2000" dirty="0">
                <a:solidFill>
                  <a:srgbClr val="14142B"/>
                </a:solidFill>
              </a:rPr>
              <a:t>apretada, sin aire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No está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[업써요</a:t>
            </a:r>
            <a:r>
              <a:rPr lang="en-US" sz="2000" dirty="0">
                <a:solidFill>
                  <a:srgbClr val="14142B"/>
                </a:solidFill>
              </a:rPr>
              <a:t>] · cierra los labios en la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ㅂ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없어요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¿Dónde está?</a:t>
            </a:r>
            <a:r>
              <a:rPr lang="en-US" sz="1500" b="1" i="1" dirty="0">
                <a:solidFill>
                  <a:srgbClr val="8A8DA0"/>
                </a:solidFill>
              </a:rPr>
              <a:t>   Where is it?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있어요</a:t>
            </a:r>
            <a:r>
              <a:rPr lang="en-US" sz="2200" dirty="0">
                <a:solidFill>
                  <a:srgbClr val="14142B"/>
                </a:solidFill>
              </a:rPr>
              <a:t>. 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저기예요</a:t>
            </a:r>
            <a:r>
              <a:rPr lang="en-US" sz="2200" dirty="0">
                <a:solidFill>
                  <a:srgbClr val="14142B"/>
                </a:solidFill>
              </a:rPr>
              <a:t>. 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옆에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2200" dirty="0">
                <a:solidFill>
                  <a:srgbClr val="14142B"/>
                </a:solidFill>
              </a:rPr>
              <a:t>se queda donde va la respuesta: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저기예요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repitas la cosa: 저기 있어요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저기예요 </a:t>
            </a:r>
            <a:r>
              <a:rPr lang="en-US" sz="2200" dirty="0">
                <a:solidFill>
                  <a:srgbClr val="14142B"/>
                </a:solidFill>
              </a:rPr>
              <a:t>(las dos valen)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escribe 어디예요</a:t>
            </a:r>
            <a:r>
              <a:rPr lang="en-US" sz="2200" dirty="0">
                <a:solidFill>
                  <a:srgbClr val="14142B"/>
                </a:solidFill>
              </a:rPr>
              <a:t>, se dice 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어디에요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</a:t>
            </a:r>
            <a:r>
              <a:rPr lang="en-US" sz="2200" dirty="0">
                <a:solidFill>
                  <a:srgbClr val="14142B"/>
                </a:solidFill>
              </a:rPr>
              <a:t>= allá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 </a:t>
            </a:r>
            <a:r>
              <a:rPr lang="en-US" sz="2200" dirty="0">
                <a:solidFill>
                  <a:srgbClr val="14142B"/>
                </a:solidFill>
              </a:rPr>
              <a:t>= ¡disculpe!: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5000" b="1" dirty="0">
                <a:solidFill>
                  <a:srgbClr val="4236F6"/>
                </a:solidFill>
              </a:rPr>
              <a:t>?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어디에 있어요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¿Dónde está el lápiz?</a:t>
            </a:r>
            <a:r>
              <a:rPr lang="en-US" sz="1500" b="1" i="1" dirty="0">
                <a:solidFill>
                  <a:srgbClr val="8A8DA0"/>
                </a:solidFill>
              </a:rPr>
              <a:t>   Where is the pencil?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어디에 있어요</a:t>
            </a:r>
            <a:r>
              <a:rPr lang="en-US" sz="6400" b="1" dirty="0">
                <a:solidFill>
                  <a:srgbClr val="4236F6"/>
                </a:solidFill>
              </a:rPr>
              <a:t>?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¿Dónde está el lápiz?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 Relámpago (1)</a:t>
            </a:r>
            <a:r>
              <a:rPr lang="en-US" sz="1500" b="1" i="1" dirty="0">
                <a:solidFill>
                  <a:srgbClr val="8A8DA0"/>
                </a:solidFill>
              </a:rPr>
              <a:t>   Lightning round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en el chat · envía cuando Kiran diga '3, 2, 1, enter'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1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1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저기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2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2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 학교 옆에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3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3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카페 옆에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14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4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학교가 공원 앞에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 Relámpago (2)</a:t>
            </a:r>
            <a:r>
              <a:rPr lang="en-US" sz="1500" b="1" i="1" dirty="0">
                <a:solidFill>
                  <a:srgbClr val="8A8DA0"/>
                </a:solidFill>
              </a:rPr>
              <a:t>   Lightning round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en el chat · envía cuando Kiran diga '3, 2, 1, enter'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5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5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학교 뒤에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6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6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b="1" dirty="0">
                <a:solidFill>
                  <a:srgbClr val="FFFFFF"/>
                </a:solidFill>
              </a:rPr>
              <a:t>·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위에 있어요</a:t>
            </a:r>
            <a:r>
              <a:rPr lang="en-US" sz="1800" b="1" dirty="0">
                <a:solidFill>
                  <a:srgbClr val="FFFFFF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7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7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800" b="1" dirty="0">
                <a:solidFill>
                  <a:srgbClr val="FFFFFF"/>
                </a:solidFill>
              </a:rPr>
              <a:t>·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1800" b="1" dirty="0">
                <a:solidFill>
                  <a:srgbClr val="FFFFFF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18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8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100" b="1" dirty="0">
                <a:solidFill>
                  <a:srgbClr val="FFFFFF"/>
                </a:solidFill>
              </a:rPr>
              <a:t>·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우유가 컵 안에 있어요</a:t>
            </a:r>
            <a:r>
              <a:rPr lang="en-US" sz="2100" b="1" dirty="0">
                <a:solidFill>
                  <a:srgbClr val="FFFFFF"/>
                </a:solidFill>
              </a:rPr>
              <a:t>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출구  </a:t>
            </a:r>
            <a:r>
              <a:rPr lang="en-US" sz="2200" b="1" dirty="0">
                <a:solidFill>
                  <a:srgbClr val="003478"/>
                </a:solidFill>
              </a:rPr>
              <a:t>Seúl se orienta por el metro</a:t>
            </a:r>
            <a:r>
              <a:rPr lang="en-US" sz="1500" b="1" i="1" dirty="0">
                <a:solidFill>
                  <a:srgbClr val="8A8DA0"/>
                </a:solidFill>
              </a:rPr>
              <a:t>   Seoul finds its way by subway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출구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삼번 출구</a:t>
            </a:r>
            <a:r>
              <a:rPr lang="en-US" sz="1800" i="1" dirty="0">
                <a:solidFill>
                  <a:srgbClr val="4236F6"/>
                </a:solidFill>
              </a:rPr>
              <a:t>] = salida 3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 주소 </a:t>
            </a:r>
            <a:r>
              <a:rPr lang="en-US" sz="2200" dirty="0">
                <a:solidFill>
                  <a:srgbClr val="14142B"/>
                </a:solidFill>
              </a:rPr>
              <a:t>· desde 2014 · para juntarse: estación de metro + número de salida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지하철역이 어디예요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 — 3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 출구 옆에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동네에 지하철역이 없어요</a:t>
            </a:r>
            <a:r>
              <a:rPr lang="en-US" sz="2200" dirty="0">
                <a:solidFill>
                  <a:srgbClr val="14142B"/>
                </a:solidFill>
              </a:rPr>
              <a:t>. (En mi barrio no hay metro.)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 para reconocer: 3번 출구에서 만나요</a:t>
            </a:r>
            <a:r>
              <a:rPr lang="en-US" sz="2200" dirty="0">
                <a:solidFill>
                  <a:srgbClr val="14142B"/>
                </a:solidFill>
              </a:rPr>
              <a:t>. (Nos vemos en la salida 3.)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Puente: 'a dos cuadras del metro', 'frente a la plaza'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a69623e1146afd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3000" b="1" dirty="0">
                <a:solidFill>
                  <a:srgbClr val="003478"/>
                </a:solidFill>
              </a:rPr>
              <a:t>Lee: nuestro barrio</a:t>
            </a:r>
            <a:r>
              <a:rPr lang="en-US" sz="1500" b="1" i="1" dirty="0">
                <a:solidFill>
                  <a:srgbClr val="8A8DA0"/>
                </a:solidFill>
              </a:rPr>
              <a:t>   Read: our neighborhood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Cada alumno lee una línea en voz alta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발렌티나예요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 사람이에요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집은 산티아고에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우리 집 뒤에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지하철역이 우리 집 앞에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지하철역 옆에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동네에 병원이 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endParaRPr lang="en-US" sz="8600" dirty="0"/>
          </a:p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</a:t>
            </a:r>
            <a:endParaRPr lang="en-US" sz="8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Responde: nuestro barrio</a:t>
            </a:r>
            <a:r>
              <a:rPr lang="en-US" sz="1500" b="1" i="1" dirty="0">
                <a:solidFill>
                  <a:srgbClr val="8A8DA0"/>
                </a:solidFill>
              </a:rPr>
              <a:t>   Answer: our neighborhood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Responde en coreano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841955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8419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476195"/>
            <a:ext cx="5285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어디에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9_caja"/>
          <p:cNvSpPr/>
          <p:nvPr/>
        </p:nvSpPr>
        <p:spPr>
          <a:xfrm>
            <a:off x="6702552" y="2512771"/>
            <a:ext cx="4937760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9_txt"/>
          <p:cNvSpPr txBox="1"/>
          <p:nvPr/>
        </p:nvSpPr>
        <p:spPr>
          <a:xfrm>
            <a:off x="6793992" y="2512771"/>
            <a:ext cx="4754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뒤에 있어요</a:t>
            </a:r>
            <a:r>
              <a:rPr lang="en-US" sz="1600" b="1" dirty="0">
                <a:solidFill>
                  <a:srgbClr val="FFFFFF"/>
                </a:solidFill>
              </a:rPr>
              <a:t>. (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발렌티나 집 뒤에 있어요</a:t>
            </a:r>
            <a:r>
              <a:rPr lang="en-US" sz="1600" b="1" dirty="0">
                <a:solidFill>
                  <a:srgbClr val="FFFFFF"/>
                </a:solidFill>
              </a:rPr>
              <a:t>.)</a:t>
            </a:r>
            <a:endParaRPr lang="en-US" sz="1600" dirty="0"/>
          </a:p>
        </p:txBody>
      </p:sp>
      <p:sp>
        <p:nvSpPr>
          <p:cNvPr id="9" name="num_1"/>
          <p:cNvSpPr/>
          <p:nvPr/>
        </p:nvSpPr>
        <p:spPr>
          <a:xfrm>
            <a:off x="548640" y="415869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15869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792931"/>
            <a:ext cx="5285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어디에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20_caja"/>
          <p:cNvSpPr/>
          <p:nvPr/>
        </p:nvSpPr>
        <p:spPr>
          <a:xfrm>
            <a:off x="6702552" y="3829507"/>
            <a:ext cx="4937760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0_txt"/>
          <p:cNvSpPr txBox="1"/>
          <p:nvPr/>
        </p:nvSpPr>
        <p:spPr>
          <a:xfrm>
            <a:off x="6793992" y="3829507"/>
            <a:ext cx="4754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옆에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3 pasos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3 steps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19 minutos · salas de 2 (un trío) · abre tu material en 'En clase'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Tour de escritorio (7 min): describe 3 cosas de tu mesa; tu compañero dibuja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Después muestra tu mesa a la cámara y comparen. Cambien.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 · Plano A/B (8 min): primero en la lista de Zoom = Plano A · no mires el otro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 어디예요</a:t>
            </a:r>
            <a:r>
              <a:rPr lang="en-US" sz="2000" dirty="0">
                <a:solidFill>
                  <a:srgbClr val="14142B"/>
                </a:solidFill>
              </a:rPr>
              <a:t>?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옆에 있어요</a:t>
            </a:r>
            <a:r>
              <a:rPr lang="en-US" sz="2000" dirty="0">
                <a:solidFill>
                  <a:srgbClr val="14142B"/>
                </a:solidFill>
              </a:rPr>
              <a:t>.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Minuto libre (3 min), sin cuaderno: 집이 어디예요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누구예요</a:t>
            </a:r>
            <a:r>
              <a:rPr lang="en-US" sz="2000" dirty="0">
                <a:solidFill>
                  <a:srgbClr val="14142B"/>
                </a:solidFill>
              </a:rPr>
              <a:t>? (foto del celular)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Modelo: 휴대폰이 책 위에 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컵이 컴퓨터 옆에 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컵 안에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Modelo del minuto libre</a:t>
            </a:r>
            <a:r>
              <a:rPr lang="en-US" sz="1500" b="1" i="1" dirty="0">
                <a:solidFill>
                  <a:srgbClr val="8A8DA0"/>
                </a:solidFill>
              </a:rPr>
              <a:t>   Free-minute model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el grupo se bloquea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89998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vives?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리마예요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En Lima.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la estación de metro?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집 옆에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동네에 지하철역이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Al lado de mi casa. / En mi barrio no hay metro.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(señala una foto) 누구예요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¿Quién es?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언니예요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Es mi hermana mayor.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Errores del día</a:t>
            </a:r>
            <a:r>
              <a:rPr lang="en-US" sz="1500" b="1" i="1" dirty="0">
                <a:solidFill>
                  <a:srgbClr val="8A8DA0"/>
                </a:solidFill>
              </a:rPr>
              <a:t>   Today's mistakes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frase buena, ya corregida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</a:t>
            </a:r>
            <a:r>
              <a:rPr lang="en-US" sz="2800" dirty="0">
                <a:solidFill>
                  <a:srgbClr val="14142B"/>
                </a:solidFill>
              </a:rPr>
              <a:t>· la posición lleva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옆에 있어요</a:t>
            </a:r>
            <a:r>
              <a:rPr lang="en-US" sz="2800" dirty="0">
                <a:solidFill>
                  <a:srgbClr val="14142B"/>
                </a:solidFill>
              </a:rPr>
              <a:t>. · ¿termina en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2800" dirty="0">
                <a:solidFill>
                  <a:srgbClr val="14142B"/>
                </a:solidFill>
              </a:rPr>
              <a:t>? No →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책상 위에 있어요</a:t>
            </a:r>
            <a:r>
              <a:rPr lang="en-US" sz="2800" dirty="0">
                <a:solidFill>
                  <a:srgbClr val="14142B"/>
                </a:solidFill>
              </a:rPr>
              <a:t>. ·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800" dirty="0">
                <a:solidFill>
                  <a:srgbClr val="14142B"/>
                </a:solidFill>
              </a:rPr>
              <a:t>, siempre al final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3 frases clave</a:t>
            </a:r>
            <a:r>
              <a:rPr lang="en-US" sz="1500" b="1" i="1" dirty="0">
                <a:solidFill>
                  <a:srgbClr val="8A8DA0"/>
                </a:solidFill>
              </a:rPr>
              <a:t>   3 key phrases</a:t>
            </a:r>
            <a:endParaRPr lang="en-US" sz="30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95100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화장실이 어디예요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¿Dónde está el baño?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저기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Está allá.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 책상 위에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libro está encima del escritorio.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· ≈ 25 min · antes de la clase 6</a:t>
            </a:r>
            <a:r>
              <a:rPr lang="en-US" sz="1500" b="1" i="1" dirty="0">
                <a:solidFill>
                  <a:srgbClr val="8A8DA0"/>
                </a:solidFill>
              </a:rPr>
              <a:t>   Homework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Lector → Practicar → Pictogramas (3 rondas) + Palabras (3 rondas) · 8 min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Di cada palabra en voz alta ANTES de mirar las opciones · captura de Progreso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Hoja de la lección 5 · 10 min: etiqueta 위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</a:t>
            </a:r>
            <a:r>
              <a:rPr lang="en-US" sz="1800" dirty="0">
                <a:solidFill>
                  <a:srgbClr val="14142B"/>
                </a:solidFill>
              </a:rPr>
              <a:t>+ 8 frases con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Foto de tu escritorio o tu pieza + 5 frases tipeadas en 한글 </a:t>
            </a:r>
            <a:r>
              <a:rPr lang="en-US" sz="1800" dirty="0">
                <a:solidFill>
                  <a:srgbClr val="14142B"/>
                </a:solidFill>
              </a:rPr>
              <a:t>· 7 min · al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Entrega: antes del mar 17 / jue 19 nov, 20:00 (Chile), en el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Prepara la S6: anota en español 5 cosas que haces todos los días</a:t>
            </a:r>
            <a:endParaRPr lang="en-US" sz="1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 </a:t>
            </a:r>
            <a:r>
              <a:rPr lang="en-US" sz="3000" b="1" dirty="0">
                <a:solidFill>
                  <a:srgbClr val="FFFFFF"/>
                </a:solidFill>
              </a:rPr>
              <a:t>·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¡Hasta la próxima!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Alumnos: 감사합니다</a:t>
            </a:r>
            <a:r>
              <a:rPr lang="en-US" sz="2200" dirty="0">
                <a:solidFill>
                  <a:srgbClr val="FFFFFF"/>
                </a:solidFill>
              </a:rPr>
              <a:t>!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Kiran: 안녕히 가세요</a:t>
            </a:r>
            <a:r>
              <a:rPr lang="en-US" sz="2200" dirty="0">
                <a:solidFill>
                  <a:srgbClr val="FFFFFF"/>
                </a:solidFill>
              </a:rPr>
              <a:t>!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Próxima clase: Semana 6 · 학교에 가요 </a:t>
            </a:r>
            <a:r>
              <a:rPr lang="en-US" sz="2200" dirty="0">
                <a:solidFill>
                  <a:srgbClr val="FFFFFF"/>
                </a:solidFill>
              </a:rPr>
              <a:t>· Mi día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Respaldo: las 3 diferencias</a:t>
            </a:r>
            <a:r>
              <a:rPr lang="en-US" sz="1500" b="1" i="1" dirty="0">
                <a:solidFill>
                  <a:srgbClr val="8A8DA0"/>
                </a:solidFill>
              </a:rPr>
              <a:t>   Backup: spot the 3 differences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1bc2374c382cc4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sobra tiempo · En parejas: describe tu dibujo sin mostrarlo hasta encontrar las 3 diferencias</a:t>
            </a:r>
            <a:endParaRPr lang="en-US" sz="1800" dirty="0"/>
          </a:p>
        </p:txBody>
      </p:sp>
      <p:sp>
        <p:nvSpPr>
          <p:cNvPr id="5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2369210"/>
            <a:ext cx="27355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휴대폰이 책 위에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8" name="rev_21_caja"/>
          <p:cNvSpPr/>
          <p:nvPr/>
        </p:nvSpPr>
        <p:spPr>
          <a:xfrm>
            <a:off x="4152839" y="2405786"/>
            <a:ext cx="332695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21_txt"/>
          <p:cNvSpPr txBox="1"/>
          <p:nvPr/>
        </p:nvSpPr>
        <p:spPr>
          <a:xfrm>
            <a:off x="4244279" y="2405786"/>
            <a:ext cx="314407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휴대폰이 책 아래에 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3365906"/>
            <a:ext cx="27355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고양이가 의자 뒤에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3" name="rev_22_caja"/>
          <p:cNvSpPr/>
          <p:nvPr/>
        </p:nvSpPr>
        <p:spPr>
          <a:xfrm>
            <a:off x="4152839" y="3402482"/>
            <a:ext cx="332695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4" name="rev_22_txt"/>
          <p:cNvSpPr txBox="1"/>
          <p:nvPr/>
        </p:nvSpPr>
        <p:spPr>
          <a:xfrm>
            <a:off x="4244279" y="3402482"/>
            <a:ext cx="314407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고양이가 의자 앞에 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362602"/>
            <a:ext cx="27355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안경이 가방 안에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8" name="rev_23_caja"/>
          <p:cNvSpPr/>
          <p:nvPr/>
        </p:nvSpPr>
        <p:spPr>
          <a:xfrm>
            <a:off x="4152839" y="4399178"/>
            <a:ext cx="332695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9" name="rev_23_txt"/>
          <p:cNvSpPr txBox="1"/>
          <p:nvPr/>
        </p:nvSpPr>
        <p:spPr>
          <a:xfrm>
            <a:off x="4244279" y="4399178"/>
            <a:ext cx="314407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안경이 가방 안에 없어요</a:t>
            </a:r>
            <a:r>
              <a:rPr lang="en-US" sz="1900" b="1" dirty="0">
                <a:solidFill>
                  <a:srgbClr val="FFFFFF"/>
                </a:solidFill>
              </a:rPr>
              <a:t>.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옆에 있어요</a:t>
            </a:r>
            <a:r>
              <a:rPr lang="en-US" sz="1900" b="1" dirty="0">
                <a:solidFill>
                  <a:srgbClr val="FFFFFF"/>
                </a:solidFill>
              </a:rPr>
              <a:t>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9" grpId="0" animBg="1"/>
    </p:bldLst>
  </p:timing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4136</Words>
  <Application>Microsoft Office PowerPoint</Application>
  <PresentationFormat>Widescreen</PresentationFormat>
  <Paragraphs>357</Paragraphs>
  <Slides>26</Slides>
  <Notes>26</Notes>
  <HiddenSlides>0</HiddenSlides>
  <MMClips>15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Malgun Gothic</vt:lpstr>
      <vt:lpstr>Arial</vt:lpstr>
      <vt:lpstr>Academia Seul</vt:lpstr>
      <vt:lpstr>Semana 5 · Lugares</vt:lpstr>
      <vt:lpstr>Quiz 4   Quiz 4</vt:lpstr>
      <vt:lpstr>집이 어디예요?  ¿Dónde vives?   Where do you live?</vt:lpstr>
      <vt:lpstr>Hoy vas a poder decir…   Today you'll be able to say…</vt:lpstr>
      <vt:lpstr>우리 동네  Lugares del barrio (1)   Places in the neighborhood (1)</vt:lpstr>
      <vt:lpstr>우리 동네  Lugares del barrio (2)   Places in the neighborhood (2)</vt:lpstr>
      <vt:lpstr>여기 · 거기 · 저기  Aquí, ahí, allá   Here, there, over there</vt:lpstr>
      <vt:lpstr>선생님 책상  El escritorio de la profe   The teacher's desk</vt:lpstr>
      <vt:lpstr>위 · 아래 · 앞 · 뒤 · 옆 · 안  Las 6 posiciones   The 6 positions</vt:lpstr>
      <vt:lpstr>La frase en 3 vagones   The sentence in 3 train cars</vt:lpstr>
      <vt:lpstr>이 / 가  ¿이 o 가?   Subject particle: 이 or 가?</vt:lpstr>
      <vt:lpstr>있어요 · 없어요  Está / no está   It's there / it's not there</vt:lpstr>
      <vt:lpstr>어디예요?  ¿Dónde está?   Where is it?</vt:lpstr>
      <vt:lpstr>연필이 어디에 있어요?  ¿Dónde está el lápiz?   Where is the pencil?</vt:lpstr>
      <vt:lpstr>¿이 o 가? Relámpago (1)   Lightning round (1)</vt:lpstr>
      <vt:lpstr>¿이 o 가? Relámpago (2)   Lightning round (2)</vt:lpstr>
      <vt:lpstr>3번 출구  Seúl se orienta por el metro   Seoul finds its way by subway</vt:lpstr>
      <vt:lpstr>우리 동네  Lee: nuestro barrio   Read: our neighborhood</vt:lpstr>
      <vt:lpstr>우리 동네  Responde: nuestro barrio   Answer: our neighborhood</vt:lpstr>
      <vt:lpstr>Salas · 3 pasos   Breakout rooms · 3 steps</vt:lpstr>
      <vt:lpstr>Modelo del minuto libre   Free-minute model</vt:lpstr>
      <vt:lpstr>Errores del día   Today's mistakes</vt:lpstr>
      <vt:lpstr>3 frases clave   3 key phrases</vt:lpstr>
      <vt:lpstr>Tarea · ≈ 25 min · antes de la clase 6   Homework</vt:lpstr>
      <vt:lpstr>안녕히 계세요 · 화이팅!  ¡Hasta la próxima!</vt:lpstr>
      <vt:lpstr>Respaldo: las 3 diferencias   Backup: spot the 3 differences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5 · 집이 어디예요? · Lugares</dc:title>
  <dc:subject>PptxGenJS Presentation</dc:subject>
  <dc:creator>Academia Seúl</dc:creator>
  <cp:lastModifiedBy>Jae Hee Kim</cp:lastModifiedBy>
  <cp:revision>2</cp:revision>
  <dcterms:created xsi:type="dcterms:W3CDTF">2026-10-10T14:16:05Z</dcterms:created>
  <dcterms:modified xsi:type="dcterms:W3CDTF">2026-10-10T14:16:35Z</dcterms:modified>
</cp:coreProperties>
</file>