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5" id="{E5D3B472-501B-2529-870C-4C99D68A9D0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526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20:00–20:01 (1 min). Graba desde el minuto 0 (Basico1-Martes_S05_2026-11-17 / Basico1-Jueves_S05_2026-11-19). Saluda: 안녕하세요, 여러분! Una línea sobre el comentario de mitad de curso (si ya llegó; si no, di cuándo llega). Anuncia: 'Hoy aprendemos la frase más útil de cualquier viaje; al final la van a decir sin pensar: 화장실이 어디예요?'
Fuente: A1_Nivel_1/06_Ubicacion/Sesion_06_Ubicacion.pptx lám. 1 (adaptada: Kiran en vez de Jay, sin romanización)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20:01–20:05 (4 min). Dicta los ítems 1–3 dos veces cada uno: 이십칠 … 팔십사 … 칠, 공, 육, 삼; los ítems 4 y 5 están en pantalla. Cuenta regresiva y revela la clave (1 min): 'El error clásico es el 4: 네 명, no 사 명. Para contar personas usamos los nativos.' Formato esperado: 1) 27 2) 84 3) 7063 4) b 5) b; anota el puntaje (0–5) en la hoja del curso después de clase (sirve para armar las parejas).
Imagen: incluida (dibujo de la casa).
Fuente: Nueva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20:05–20:08 (3 min). Señalando Corea: 여기 한국이에요. 서울이에요. Pregunta 집이 어디예요?, responde con tu ciudad (선생님 집은… ___예요/이에요) y pon un sello. Explica en español: literalmente '¿la casa dónde es?'; se responde con la ciudad + 예요/이에요 según el 받침 (con país: 칠레 산티아고예요). Cadena por la lista de Zoom: cada uno responde y le pregunta al siguiente por su nombre; con más de 10 alumnos, la otra mitad escribe su ciudad en el chat.
Imagen: incluida (dibujo de la casa).
Fuente: Nueva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20:08 (20 s). 'Esto es lo que van a poder decir al final de hoy. No lo lean todavía: al final lo decimos juntos.' No expliques nada; pasa a los lugares.
Fuente: Nueva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20:08–20:11 (con 5b y 6). 따라 하세요: cada palabra dos veces y el grupo repite. En 학교: 'Se escribe 학교 y se dice [학꾜]; no expliquen la regla, imiten la palabra entera.' 회사: la ㅚ hoy suena casi como 'we'.
Fuente: A1_Nivel_1/06_Ubicacion/Sesion_06_Ubicacion.pptx lám. 7 (sin 백화점 ni 영화관; + 은행, 화장실)
Lámina 5a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Sigue el eco (dos veces cada una). En 식당: 'Se escribe 식당 y se dice [식땅].' 은행: dos sílabas claras, la ㅎ suave, nunca jota. Después 읽으세요!: 3 alumnos por nombre leen 3 palabras cada uno de 5a y 5b.
Fuente: A1_Nivel_1/06_Ubicacion/Sesion_06_Ubicacion.pptx lám. 7 (sin 백화점 ni 영화관; + 은행, 화장실)
Lámina 5b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Señala tu escritorio: 여기; la cámara (el lado de ellos): 거기; lejos, la ventana: 저기. 'Es la misma familia que 이거, 그거, 저거: 이 → 여기, 그 → 거기, 저 → 저기.' Corrige la ㅓ de 어디, 저기, 거기 con la boca abierta y relajada: 다시 한번. 어-디.
Imagen: incluida (dibujo de la casa).
Fuente: Deck S3 de esta cohorte (diagrama de 이거 · 그거 · 저거)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20:11–20:13 (2 min). Cámara al escritorio (esta lámina es el respaldo). Describe dos veces, despacio, señalando: 선생님 책상이에요. 컴퓨터가 책상 위에 있어요. 커피가 컴퓨터 옆에 있어요. 휴대폰이 책 위에 있어요. 가방이 책상 아래에 있어요. 우산은… 없어요! (우산은 lleva 은 a propósito; no lo expliques.) Pregunta y el grupo responde 네! / 아니요! en coro: 'No les pido que lo digan todavía: solo que lo entiendan.'
Imagen: incluida (dibujo de la casa).
Fuente: Nueva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20:13–20:16 (con la 9). Gestos: mano izquierda plana = escritorio, puño derecho = la cosa: 위 encima, 아래 debajo, 앞 entre la mano y la cámara, 뒤 detrás de la mano, 옆 al lado, 안 un dedo dentro de la mano en tazón. 따라 하세요: 위! 아래! 앞! 뒤! 옆! 안! (gesto + palabra, dos veces); después dices solo la palabra, en desorden, y ellos hacen el gesto. Par mínimo: 앞에 [아페] / 안에 [아네]; 위 / 뒤: la ㄷ de 뒤 suave. Hoy van 6 aquí y 4 más en la 9b (밖, 사이, 오른쪽, 왼쪽: ampliación pedida por Jay el 21 oct 2026). No las anuncies todavía: primero las 6 y el tren de la 9.
Imagen: incluida (dibujo de la casa).
Fuente: A1_Nivel_1/06_Ubicacion/Sesion_06_Ubicacion.pptx lám. 8 (sin 밑 ni 의; 밖 y 사이 vuelven en la 9b, ampliación del 21 oct 2026)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'La frase coreana es un tren de 3 vagones: la cosa + 이 o 가; el lugar + 에 (primero el objeto de referencia, después la posición); y siempre al final 있어요 o 없어요.' Di lento, señalando: 책이 · 책상 위에 · 있어요. 'No hay ningún de: 책상 위, sin nada en el medio. 위 es un sustantivo, la parte de arriba.'
Fuente: A1_Nivel_1/06_Ubicacion/Sesion_06_Ubicacion.pptx lám. 6 (idea; ejemplos nuevos)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20:16–20:18 (2 min) · AMPLIACIÓN pedida por Jay el 21 oct 2026. La guía (C.4: 'hoy nos quedamos con 6'; C.16) y el material del alumno traen solo 6 posiciones: estas 4 son extra, para entender y usar si salen. No entran en el Quiz 5 ni en la hoja de la lección 5, y no están en su material: su referencia es la 9d, en el PDF del deck que subes a la carpeta. Gestos: 밖 = el dedo de 안 sale de la mano en tazón y queda afuera; 사이 = las dos manos planas a los lados de la cara: tu cara está 사이; 오른쪽 / 왼쪽 = levanta tu mano derecha / izquierda. Zoom: estás frente a ellos, así que tu mano derecha les aparece al lado izquierdo de la pantalla y tienden a copiarte como espejo. No digas 'hagan como yo': di 'levanten SU mano derecha: 오른쪽!'. Con cosas, la derecha y la izquierda se dicen como se ve el dibujo: señala las flechas de la lámina (la pantalla compartida no se invierte). 따라 하세요: 밖! 사이! 오른쪽! 왼쪽! (dos veces, con gesto); después en desorden y ellos hacen el gesto. Pronunciación: 밖 sola, [박]; 밖에 [바께] (la ㄲ pasa a la sílaba siguiente); 오른쪽에 [오른쪼게]; 왼쪽에 [왼쪼게], con la ㅚ como en 회사 (casi 'we'): [웬쪽] también es correcto, no lo corrijas. 쪽 = lado: 오른쪽 = lado derecho, 왼쪽 = lado izquierdo. '옆 es al lado, cualquiera de los dos; 오른쪽 y 왼쪽 dicen cuál.' Ojo: 밖에 va siempre con 있어요. Nunca 'N 밖에 없어요': al oído, 집 밖에 없어요 suena igual que 집밖에 없어요 ('no hay nada más que la casa'; ese 밖에 = 'solo' llega en Básico 2). Para 'no está afuera', di 안에 있어요.
TIEMPO: 9b (2 min) + 9c (1) + 9d (20 s) + 13b (2) ≈ 5,5 min que el plan de la guía no tiene, y a las 20:58 se corta (a las 21:00 empieza otra clase en la misma cuenta). Salen de C.12, pasos 1–3, aplicados de antemano: relámpago solo con la 14a (1,5 min), cultura (15) en 1 min y lectura (16) en 1 min, con 2 frases y 1 pregunta. Las notas de las láminas 10 a 16b ya traen la hora nueva. Las salas abren a las 20:33 y sus 19 min no se tocan. 9c y 13b son opcionales: si vas atrasada, sáltalas. Si te saltas alguna y vas adelantada, devuelve el tiempo en este orden: 14b · lectura completa · cultura completa. Si a las 20:16 ya vas atrasada, muestra solo la 9d (20 s: 'estas 4 son extra, están en el PDF') y sigue.
Imagen: incluida (dibujo de la casa).
Fuente: Nueva (ampliación 21 oct 2026)
Lámina 9b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20:18–20:19 (1 min) · OPCIONAL: si vas justa, sáltala; los mismos ejemplos están en la 9d. 'Es el mismo tren de 3 vagones: solo cambia el vagón del medio.' 오른쪽 y 왼쪽 funcionan como 위: 쪽 es 'lado', así que primero va la referencia y después 에: 컴퓨터 오른쪽에 = 'computador-lado derecho-en'. 사이 necesita dos cosas: 의자하고 책상 사이에 ('silla y escritorio, entre'). 하고 va pegado a la primera cosa (의자하고, sin espacio) y aquí es solo una fórmula: no lo expliques como partícula nueva. Buena noticia: 하고 no cambia con el 받침 (의자하고, 책상하고). Ojo con el sonido (se imita, no se explica): 책하고 [채카고], 컵하고 [커파고]. 밖 es el contrario de 안. Dos alumnos por nombre leen una frase cada uno: ___, 읽으세요! Errores esperables: *사이 의자하고 책상에 → 의자하고 책상 사이에 · *오른쪽 컴퓨터에 → 컴퓨터 오른쪽에 · *의자 사이에 (con una sola cosa) → 사이 necesita dos. 오른쪽에 있어요 solo (sin referencia), señalando, también vale.
Fuente: Nueva (ampliación 21 oct 2026)
Lámina 9c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20:19 (20 s). Resumen para tener a mano, no para leer: 'Aquí están las 10: las 6 de hoy y 4 extra.' Pasa a la 10. Queda en el PDF del deck que subes a la carpeta (C.14): es la referencia de los alumnos, porque las 4 nuevas no están en su material. Derecha e izquierda: como se ve el dibujo o la foto. Si preguntan por otras: 밑 es casi lo mismo que 아래 y al hablar se oye mucho (가방이 책상 밑에 있어요): se reconoce, no se pide. 가운데 (en medio), 근처 (cerca) y 건너편 / 맞은편 (al otro lado de la calle) llegan más adelante. 'Frente al banco', cruzando la calle, no es 앞: 앞 es justo delante. [Si Jay la reutiliza en Básico 2: 하고 se enseña en su S4; avisa que este 밖에 va separado (집 밖에 = fuera de la casa) y no es el 밖에 de 'solo' de la S7, que va pegado (천 원밖에 없어요).]
Fuente: Nueva (ampliación 21 oct 2026)
Lámina 9d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20:19–20:23 (con 11 y 12; corrida 3 min por la ampliación 9b–9d). 'El primer vagón lleva 이 o 가. La regla ya la conocen de 이에요/예요 y de 아니에요: si termina en 받침, 이; si termina en vocal, 가. El español también ajusta por sonido: Fernando e Isabel, no y Isabel.' Si alguien duda, no respondas: pregunta '¿Termina en 받침?'
Fuente: A1_Nivel_1/Particulas_Coreanas_Editable.pptx lám. 2 (regla; ejemplos cambiados) · puente de Guia_Particulas_Coreanas_ES.md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'Se escribe 있어요 y se dice [이써요], con la ㅆ apretada. 없어요 se dice [업써요]: cierren los labios en la ㅂ. En español no está es no + está; en coreano 없어요 es otra palabra.' 따라 하세요: 있어요 … 없어요 … 휴대폰이 가방 안에 있어요. … 휴대폰이 가방 안에 없어요. Se imitan enteros.
Fuente: Nueva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'En español dónde se va al principio; en coreano 어디 se queda justo donde va la respuesta: 화장실이 어디예요? → 화장실이 저기예요.' Con 여기, 거기, 저기 el 에 se suele omitir al hablar (저기에 있어요 también es correcto). 'Muchos coreanos escriben 어디에요 en el chat: ustedes, no.' 저기요 se aprende como fórmula para llamar a un desconocido. Cierra con 따라 하세요: 화장실이 어디예요? … 저기 있어요, y dos alumnos por nombre: uno pregunta, otro responde.
Fuente: A1_Nivel_1/06_Ubicacion/Sesion_06_Ubicacion.pptx lám. 13 (reemplazada por el diálogo 2)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20:23–20:25 (2 min; corrida 3 min por la ampliación 9b–9d). Con tu cámara: lápiz sobre el libro → 연필이 어디에 있어요? → 책 위에 있어요! Lo mueves debajo (아래), al lado (옆), delante (앞), detrás (뒤) y dentro de la taza (컵 안에 있어요): primero coro, después 4 alumnos por nombre. Variante: 휴대폰, 책 위에! (ponen su celular) → a uno: 휴대폰이 어디에 있어요? Si dicen 책 위 있어요: 에! 책 위에 있어요. 다시 한번. Si diste la 9b, cierra con uno de 사이 (≈ 20 s): el lápiz entre el libro y la taza → 연필이 어디에 있어요? → 책하고 컵 사이에 있어요 (책하고 se dice [채카고]: se imita, no se explica). Derecha e izquierda NO con la cámara: lo que pones a tu derecha, ellos lo ven a su izquierda (y tu vista propia de Zoom está en espejo). Eso se practica con los dibujos de la 13b, que tienen un solo punto de vista.
Fuente: Nueva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20:25–20:27 (2 min) · OPCIONAL (ampliación del 21 oct 2026; va justo después del lápiz). Si a las 20:25 vas atrasada, sáltala: la 14a no se toca. Un alumno por dibujo, por nombre: ___, 고양이가 어디에 있어요? La palabra bajo el dibujo es la pista (la referencia). Revela con clic. Derecha e izquierda: como se ve el dibujo. Si dicen otra posición que también es cierta (옆에 en el 2, el 3 o el 4), acéptala y pide la nueva: 네, 잘했어요! 오른쪽? 왼쪽? 밖? Sin la referencia también vale: 오른쪽에 있어요 · 밖에 있어요. En el 1, si dicen solo 사이에 있어요, acéptalo y complétalo tú: 네! 의자하고 책상 사이에 있어요. Si falta el 에: 에! 오른쪽에 있어요. 다시 한번. Sin variante con cámara: en Zoom, la derecha y la izquierda llegan invertidas.
Imagen: incluida (dibujo de la casa).
Fuente: Nueva (ampliación 21 oct 2026)
Lámina 13b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20:27–20:28:30 (1,5 min: hoy solo la 14a, por la ampliación 9b–9d; la 14b solo si vas adelantada). 'Aparece una palabra. Escriben solo 이 o 가 en el chat, pero no aprieten enter hasta que yo diga 3, 2, 1, enter.' Revela y pide a un alumno: ___, 읽으세요! para leer la frase completa.
Fuente: Nueva
Lámina 14a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se salta: el relámpago queda en 4 palabras (solo 14a) por la ampliación 9b–9d. Úsala solo si vas adelantada: sigue con las 4 últimas, mismo ritmo, y un alumno distinto lee cada frase.
Fuente: Nueva
Lámina 14b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20:28:30–20:29:30 (1 min: versión corta de C.12, por la ampliación 9b–9d). Solo el letrero (3번 출구: '번 es número; el 3 se lee 삼번') y 화장실이 어디예요? — 3번 출구 옆에 있어요. El resto está en la nota cultural del material del alumno. Si vas adelantada, versión completa (3 min): cuenta que desde 2014 la dirección oficial usa el nombre de la calle (도로명 주소), pero para juntarse mucha gente usa la estación de metro y su número de salida. Lee el letrero: 3번 출구 ('번 es número; el 3 se lee 삼번'). Di las frases ancla despacio; 3번 출구에서 만나요 es solo para reconocer. A 2–3 voluntarios: 동네에 지하철역이 있어요? → 네, 있어요 / 아니요, 없어요 · 지하철역이 어디예요? → 우리 집 앞에 있어요.
Imagen: incluida (dibujo de la casa).
Fuente: Nueva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20:29:30–20:30:30 (1 min: versión corta de C.12, por la ampliación 9b–9d). 'Primera lectura con comprensión del curso.' ___, 읽으세요!: 2 alumnos, las líneas 2 y 3 (우리 집은 산티아고에 있어요 · 공원이 우리 집 뒤에 있어요), y el grupo responde la pregunta 1 de la 16b. El resto se lee en casa (ejercicio 6 del material del alumno). Si vas adelantada, versión completa (3 min): 6 alumnos, una línea cada uno (la primera tiene 3 frases cortas), y las 2 preguntas. Corrige 받침 y pronunciación con 다시 한번. No expliques el orden de 우리 동네에 병원이 없어요: solo se entiende.
Fuente: Nueva
Lámina 16a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Hoy, solo la pregunta 1 (공원이 어디에 있어요?); la 2 queda para casa (ejercicio 6 del material del alumno), salvo que vayas adelantada. El grupo responde en coreano; revela con clic.
Fuente: Nueva
Lámina 16b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20:31–20:33 (2 min). Explica los 3 pasos y haz 20 s de modelo del tour con tu escritorio. Trío: en el tour dibuja quien sigue en la lista; en el plano, el tercero tiene el B y verifica, y a la mitad cambian. Abre las salas (6 de 2 + 1 de 3 con 15 alumnos, 19 min, cuenta regresiva de 60 s); difusión a las 20:40 (Plano A/B) y a las 20:48 (minuto libre). En salas (20:33–20:52) rota ~2,5 min por sala, corrige solo lo que bloquea y anota 이/가 y posición + 에. Plano: con la 9b también valen (derecha e izquierda mirando el plano): ① 학교 왼쪽에 있어요 · ② 회사 왼쪽에 있어요 · ⑤ 학교하고 식당 사이에 있어요 · ⑥ 은행 오른쪽에 있어요 · ⑧ 회사 오른쪽에 있어요. Acéptalas sin dudar. En el tour, 오른쪽/왼쪽 es desde la silla de quien describe: si al mostrar la mesa la cámara la ve al revés, no es un error.
Fuente: Nueva
Lámina 17a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Muéstrala solo si un grupo se bloquea en el minuto libre (20:48–20:51) o si las salas no abren y lo hacen dos parejas en voz alta. Que lo lean una vez y lo repitan con sus datos reales, sin mirar.
Fuente: Nueva (modelo de C.8)
Lámina 17b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20:53–20:55 (2 min). Reemplaza en vivo con las 2 o 3 frases que más se equivocaron en salas, ya corregidas (la frase buena, nunca la mala). 따라 하세요. Para la partícula, pregunta: '¿Termina en 받침?'
Fuente: Nueva
Lámina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20:55–20:56 (1 min). Di cada frase sola, clara y a velocidad natural lenta (de aquí se recorta el clip B1_S05_frases_clave.mp3); después el grupo repite con micrófono abierto. Si son las 20:56 y no lo hiciste: coro primero, tarea en una línea.
Fuente: Plantilla del coro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20:56–20:57 (1 min). 'Tres cosas, unos 25 minutos, antes de la clase 6. Les llega el mensaje al grupo.' No leas la lámina entera: el detalle va en el mensaje post-clase. Recuerda que la foto puede ser de cualquier mesa.
Fuente: Nueva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20:57–20:58. Despedida: alumnos 감사합니다! 안녕히 계세요! → Kiran 안녕히 가세요! 화이팅! Detén la grabación a las 20:58: a las 21:00 empieza otra clase en la misma cuenta. Dentro de 24 h: grabación + PDF del deck + tarea a la carpeta y mensaje post-clase.
Fuente: A1_Nivel_1/06_Ubicacion/Sesion_06_Ubicacion.pptx lám. 15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Respaldo para alumnos rápidos o si sobran 3–5 minutos. Cada uno describe su dibujo sin mostrarlo; revela las diferencias con clic al final. Alternativa de emergencia: esconde un objeto y que adivinen con 가방 안에 있어요? — 아니요, 없어요! (máximo 10 preguntas).
Imagen: incluida (dibujo de la casa).
Fuente: Nueva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1 (A1.1) · Semana 5 · Kiran (기란)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1 (A1.1) · Semana 5 · Kiran (기란)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1 (A1.1) · Semana 5 · Kiran (기란)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notesSlide" Target="../notesSlides/notesSlide5.xml"/><Relationship Id="rId17" Type="http://schemas.openxmlformats.org/officeDocument/2006/relationships/image" Target="../media/image12.png"/><Relationship Id="rId2" Type="http://schemas.openxmlformats.org/officeDocument/2006/relationships/audio" Target="../media/media1.mp3"/><Relationship Id="rId16" Type="http://schemas.openxmlformats.org/officeDocument/2006/relationships/image" Target="../media/image11.png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slideLayout" Target="../slideLayouts/slideLayout3.xml"/><Relationship Id="rId5" Type="http://schemas.microsoft.com/office/2007/relationships/media" Target="../media/media3.mp3"/><Relationship Id="rId15" Type="http://schemas.openxmlformats.org/officeDocument/2006/relationships/image" Target="../media/image10.png"/><Relationship Id="rId10" Type="http://schemas.openxmlformats.org/officeDocument/2006/relationships/audio" Target="../media/media5.mp3"/><Relationship Id="rId4" Type="http://schemas.openxmlformats.org/officeDocument/2006/relationships/audio" Target="../media/media2.mp3"/><Relationship Id="rId9" Type="http://schemas.microsoft.com/office/2007/relationships/media" Target="../media/media5.mp3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audio" Target="../media/media9.mp3"/><Relationship Id="rId13" Type="http://schemas.openxmlformats.org/officeDocument/2006/relationships/image" Target="../media/image15.png"/><Relationship Id="rId3" Type="http://schemas.microsoft.com/office/2007/relationships/media" Target="../media/media7.mp3"/><Relationship Id="rId7" Type="http://schemas.microsoft.com/office/2007/relationships/media" Target="../media/media9.mp3"/><Relationship Id="rId12" Type="http://schemas.openxmlformats.org/officeDocument/2006/relationships/image" Target="../media/image9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audio" Target="../media/media8.mp3"/><Relationship Id="rId11" Type="http://schemas.openxmlformats.org/officeDocument/2006/relationships/image" Target="../media/image14.png"/><Relationship Id="rId5" Type="http://schemas.microsoft.com/office/2007/relationships/media" Target="../media/media8.mp3"/><Relationship Id="rId15" Type="http://schemas.openxmlformats.org/officeDocument/2006/relationships/image" Target="../media/image17.png"/><Relationship Id="rId10" Type="http://schemas.openxmlformats.org/officeDocument/2006/relationships/notesSlide" Target="../notesSlides/notesSlide6.xml"/><Relationship Id="rId4" Type="http://schemas.openxmlformats.org/officeDocument/2006/relationships/audio" Target="../media/media7.mp3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audio" Target="../media/media13.mp3"/><Relationship Id="rId13" Type="http://schemas.openxmlformats.org/officeDocument/2006/relationships/slideLayout" Target="../slideLayouts/slideLayout3.xml"/><Relationship Id="rId18" Type="http://schemas.openxmlformats.org/officeDocument/2006/relationships/image" Target="../media/image24.png"/><Relationship Id="rId3" Type="http://schemas.microsoft.com/office/2007/relationships/media" Target="../media/media11.mp3"/><Relationship Id="rId21" Type="http://schemas.openxmlformats.org/officeDocument/2006/relationships/image" Target="../media/image27.png"/><Relationship Id="rId7" Type="http://schemas.microsoft.com/office/2007/relationships/media" Target="../media/media13.mp3"/><Relationship Id="rId12" Type="http://schemas.openxmlformats.org/officeDocument/2006/relationships/audio" Target="../media/media15.mp3"/><Relationship Id="rId17" Type="http://schemas.openxmlformats.org/officeDocument/2006/relationships/image" Target="../media/image23.png"/><Relationship Id="rId2" Type="http://schemas.openxmlformats.org/officeDocument/2006/relationships/audio" Target="../media/media10.mp3"/><Relationship Id="rId16" Type="http://schemas.openxmlformats.org/officeDocument/2006/relationships/image" Target="../media/image9.png"/><Relationship Id="rId20" Type="http://schemas.openxmlformats.org/officeDocument/2006/relationships/image" Target="../media/image26.png"/><Relationship Id="rId1" Type="http://schemas.microsoft.com/office/2007/relationships/media" Target="../media/media10.mp3"/><Relationship Id="rId6" Type="http://schemas.openxmlformats.org/officeDocument/2006/relationships/audio" Target="../media/media12.mp3"/><Relationship Id="rId11" Type="http://schemas.microsoft.com/office/2007/relationships/media" Target="../media/media15.mp3"/><Relationship Id="rId5" Type="http://schemas.microsoft.com/office/2007/relationships/media" Target="../media/media12.mp3"/><Relationship Id="rId15" Type="http://schemas.openxmlformats.org/officeDocument/2006/relationships/image" Target="../media/image22.png"/><Relationship Id="rId10" Type="http://schemas.openxmlformats.org/officeDocument/2006/relationships/audio" Target="../media/media14.mp3"/><Relationship Id="rId19" Type="http://schemas.openxmlformats.org/officeDocument/2006/relationships/image" Target="../media/image25.png"/><Relationship Id="rId4" Type="http://schemas.openxmlformats.org/officeDocument/2006/relationships/audio" Target="../media/media11.mp3"/><Relationship Id="rId9" Type="http://schemas.microsoft.com/office/2007/relationships/media" Target="../media/media14.mp3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audio" Target="../media/media19.mp3"/><Relationship Id="rId13" Type="http://schemas.openxmlformats.org/officeDocument/2006/relationships/image" Target="../media/image29.png"/><Relationship Id="rId3" Type="http://schemas.microsoft.com/office/2007/relationships/media" Target="../media/media17.mp3"/><Relationship Id="rId7" Type="http://schemas.microsoft.com/office/2007/relationships/media" Target="../media/media19.mp3"/><Relationship Id="rId12" Type="http://schemas.openxmlformats.org/officeDocument/2006/relationships/image" Target="../media/image9.png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6" Type="http://schemas.openxmlformats.org/officeDocument/2006/relationships/audio" Target="../media/media18.mp3"/><Relationship Id="rId11" Type="http://schemas.openxmlformats.org/officeDocument/2006/relationships/image" Target="../media/image28.png"/><Relationship Id="rId5" Type="http://schemas.microsoft.com/office/2007/relationships/media" Target="../media/media18.mp3"/><Relationship Id="rId15" Type="http://schemas.openxmlformats.org/officeDocument/2006/relationships/image" Target="../media/image31.png"/><Relationship Id="rId10" Type="http://schemas.openxmlformats.org/officeDocument/2006/relationships/notesSlide" Target="../notesSlides/notesSlide11.xml"/><Relationship Id="rId4" Type="http://schemas.openxmlformats.org/officeDocument/2006/relationships/audio" Target="../media/media17.mp3"/><Relationship Id="rId9" Type="http://schemas.openxmlformats.org/officeDocument/2006/relationships/slideLayout" Target="../slideLayouts/slideLayout3.xml"/><Relationship Id="rId1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집이 어디예요</a:t>
            </a:r>
            <a:r>
              <a:rPr lang="en-US" sz="6600" b="1" dirty="0">
                <a:solidFill>
                  <a:srgbClr val="E8B84B"/>
                </a:solidFill>
              </a:rPr>
              <a:t>?</a:t>
            </a:r>
            <a:endParaRPr lang="en-US" sz="6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Semana 5 · Lugares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Lección 5 del libro · Básico 1 (A1.1) · Kiran (기란</a:t>
            </a:r>
            <a:r>
              <a:rPr lang="en-US" sz="2200" dirty="0">
                <a:solidFill>
                  <a:srgbClr val="E8B84B"/>
                </a:solidFill>
              </a:rPr>
              <a:t>) · mar 17 / jue 19 nov · 20:00 (Chile)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Frase del día: 화장실이 어디예요</a:t>
            </a:r>
            <a:r>
              <a:rPr lang="en-US" sz="2200" dirty="0">
                <a:solidFill>
                  <a:srgbClr val="E8B84B"/>
                </a:solidFill>
              </a:rPr>
              <a:t>?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4</a:t>
            </a:r>
            <a:r>
              <a:rPr lang="en-US" sz="1500" b="1" i="1" dirty="0">
                <a:solidFill>
                  <a:srgbClr val="8A8DA0"/>
                </a:solidFill>
              </a:rPr>
              <a:t>   Quiz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Sobre la semana 4 · 5 ítems, 1 punto cada uno · Responde en el chat, en privado para Kiran, todo en un solo mensaje: 1) … 5) … (3 minutos)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9326893e8083d2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" y="2057400"/>
            <a:ext cx="1828800" cy="1828800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dirty="0">
                <a:solidFill>
                  <a:srgbClr val="14142B"/>
                </a:solidFill>
              </a:rPr>
              <a:t>Escucha y escribe el número</a:t>
            </a:r>
            <a:endParaRPr lang="en-US" sz="1500" dirty="0"/>
          </a:p>
        </p:txBody>
      </p:sp>
      <p:sp>
        <p:nvSpPr>
          <p:cNvPr id="9" name="rev_0_caja"/>
          <p:cNvSpPr/>
          <p:nvPr/>
        </p:nvSpPr>
        <p:spPr>
          <a:xfrm>
            <a:off x="658368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0_txt"/>
          <p:cNvSpPr txBox="1"/>
          <p:nvPr/>
        </p:nvSpPr>
        <p:spPr>
          <a:xfrm>
            <a:off x="685800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(이십칠</a:t>
            </a:r>
            <a:r>
              <a:rPr lang="en-US" sz="1200" b="1" dirty="0">
                <a:solidFill>
                  <a:srgbClr val="FFFFFF"/>
                </a:solidFill>
              </a:rPr>
              <a:t>)</a:t>
            </a:r>
            <a:endParaRPr lang="en-US" sz="1200" dirty="0"/>
          </a:p>
        </p:txBody>
      </p:sp>
      <p:sp>
        <p:nvSpPr>
          <p:cNvPr id="11" name="card_1"/>
          <p:cNvSpPr/>
          <p:nvPr/>
        </p:nvSpPr>
        <p:spPr>
          <a:xfrm>
            <a:off x="2803550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c60c0ed04787e9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166" y="2057400"/>
            <a:ext cx="1828800" cy="1828800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289499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89499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894990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dirty="0">
                <a:solidFill>
                  <a:srgbClr val="14142B"/>
                </a:solidFill>
              </a:rPr>
              <a:t>Escucha y escribe el número</a:t>
            </a:r>
            <a:endParaRPr lang="en-US" sz="1500" dirty="0"/>
          </a:p>
        </p:txBody>
      </p:sp>
      <p:sp>
        <p:nvSpPr>
          <p:cNvPr id="16" name="rev_1_caja"/>
          <p:cNvSpPr/>
          <p:nvPr/>
        </p:nvSpPr>
        <p:spPr>
          <a:xfrm>
            <a:off x="2913278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1_txt"/>
          <p:cNvSpPr txBox="1"/>
          <p:nvPr/>
        </p:nvSpPr>
        <p:spPr>
          <a:xfrm>
            <a:off x="2940710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(팔십사</a:t>
            </a:r>
            <a:r>
              <a:rPr lang="en-US" sz="1200" b="1" dirty="0">
                <a:solidFill>
                  <a:srgbClr val="FFFFFF"/>
                </a:solidFill>
              </a:rPr>
              <a:t>)</a:t>
            </a:r>
            <a:endParaRPr lang="en-US" sz="1200" dirty="0"/>
          </a:p>
        </p:txBody>
      </p:sp>
      <p:sp>
        <p:nvSpPr>
          <p:cNvPr id="18" name="card_2"/>
          <p:cNvSpPr/>
          <p:nvPr/>
        </p:nvSpPr>
        <p:spPr>
          <a:xfrm>
            <a:off x="5058461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3124a297304290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076" y="2057400"/>
            <a:ext cx="1828800" cy="1828800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5149901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49901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149901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dirty="0">
                <a:solidFill>
                  <a:srgbClr val="14142B"/>
                </a:solidFill>
              </a:rPr>
              <a:t>Escucha y escribe los 4 dígitos de un teléfono</a:t>
            </a:r>
            <a:endParaRPr lang="en-US" sz="1500" dirty="0"/>
          </a:p>
        </p:txBody>
      </p:sp>
      <p:sp>
        <p:nvSpPr>
          <p:cNvPr id="23" name="rev_2_caja"/>
          <p:cNvSpPr/>
          <p:nvPr/>
        </p:nvSpPr>
        <p:spPr>
          <a:xfrm>
            <a:off x="5168189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2_txt"/>
          <p:cNvSpPr txBox="1"/>
          <p:nvPr/>
        </p:nvSpPr>
        <p:spPr>
          <a:xfrm>
            <a:off x="5195621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7063 (칠</a:t>
            </a:r>
            <a:r>
              <a:rPr lang="en-US" sz="1200" b="1" dirty="0">
                <a:solidFill>
                  <a:srgbClr val="FFFFFF"/>
                </a:solidFill>
              </a:rPr>
              <a:t>,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</a:t>
            </a:r>
            <a:r>
              <a:rPr lang="en-US" sz="1200" b="1" dirty="0">
                <a:solidFill>
                  <a:srgbClr val="FFFFFF"/>
                </a:solidFill>
              </a:rPr>
              <a:t>,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</a:t>
            </a:r>
            <a:r>
              <a:rPr lang="en-US" sz="1200" b="1" dirty="0">
                <a:solidFill>
                  <a:srgbClr val="FFFFFF"/>
                </a:solidFill>
              </a:rPr>
              <a:t>,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</a:t>
            </a:r>
            <a:r>
              <a:rPr lang="en-US" sz="1200" b="1" dirty="0">
                <a:solidFill>
                  <a:srgbClr val="FFFFFF"/>
                </a:solidFill>
              </a:rPr>
              <a:t>)</a:t>
            </a:r>
            <a:endParaRPr lang="en-US" sz="1200" dirty="0"/>
          </a:p>
        </p:txBody>
      </p:sp>
      <p:sp>
        <p:nvSpPr>
          <p:cNvPr id="25" name="card_3"/>
          <p:cNvSpPr/>
          <p:nvPr/>
        </p:nvSpPr>
        <p:spPr>
          <a:xfrm>
            <a:off x="7313371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4f994664896441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986" y="2057400"/>
            <a:ext cx="1828800" cy="1828800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7404811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404811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404811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(dibujo de 4 personas) 우리 가족은 </a:t>
            </a:r>
            <a:r>
              <a:rPr lang="en-US" sz="1500" dirty="0">
                <a:solidFill>
                  <a:srgbClr val="14142B"/>
                </a:solidFill>
              </a:rPr>
              <a:t>___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명이에요</a:t>
            </a:r>
            <a:r>
              <a:rPr lang="en-US" sz="1500" dirty="0">
                <a:solidFill>
                  <a:srgbClr val="14142B"/>
                </a:solidFill>
              </a:rPr>
              <a:t>. a)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 </a:t>
            </a:r>
            <a:r>
              <a:rPr lang="en-US" sz="1500" dirty="0">
                <a:solidFill>
                  <a:srgbClr val="14142B"/>
                </a:solidFill>
              </a:rPr>
              <a:t>b)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</a:t>
            </a:r>
            <a:r>
              <a:rPr lang="en-US" sz="1500" dirty="0">
                <a:solidFill>
                  <a:srgbClr val="14142B"/>
                </a:solidFill>
              </a:rPr>
              <a:t>c)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</a:t>
            </a:r>
            <a:endParaRPr lang="en-US" sz="1500" dirty="0"/>
          </a:p>
        </p:txBody>
      </p:sp>
      <p:sp>
        <p:nvSpPr>
          <p:cNvPr id="30" name="rev_3_caja"/>
          <p:cNvSpPr/>
          <p:nvPr/>
        </p:nvSpPr>
        <p:spPr>
          <a:xfrm>
            <a:off x="7423099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3_txt"/>
          <p:cNvSpPr txBox="1"/>
          <p:nvPr/>
        </p:nvSpPr>
        <p:spPr>
          <a:xfrm>
            <a:off x="7450531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b) 네 </a:t>
            </a:r>
            <a:r>
              <a:rPr lang="en-US" sz="1200" b="1" dirty="0">
                <a:solidFill>
                  <a:srgbClr val="FFFFFF"/>
                </a:solidFill>
              </a:rPr>
              <a:t>· para contar personas, nativos: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 명</a:t>
            </a:r>
            <a:r>
              <a:rPr lang="en-US" sz="1200" b="1" dirty="0">
                <a:solidFill>
                  <a:srgbClr val="FFFFFF"/>
                </a:solidFill>
              </a:rPr>
              <a:t>,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 명</a:t>
            </a:r>
            <a:r>
              <a:rPr lang="en-US" sz="1200" b="1" dirty="0">
                <a:solidFill>
                  <a:srgbClr val="FFFFFF"/>
                </a:solidFill>
              </a:rPr>
              <a:t>,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 명</a:t>
            </a:r>
            <a:r>
              <a:rPr lang="en-US" sz="1200" b="1" dirty="0">
                <a:solidFill>
                  <a:srgbClr val="FFFFFF"/>
                </a:solidFill>
              </a:rPr>
              <a:t>,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 명</a:t>
            </a:r>
            <a:endParaRPr lang="en-US" sz="1200" dirty="0"/>
          </a:p>
        </p:txBody>
      </p:sp>
      <p:sp>
        <p:nvSpPr>
          <p:cNvPr id="32" name="card_4"/>
          <p:cNvSpPr/>
          <p:nvPr/>
        </p:nvSpPr>
        <p:spPr>
          <a:xfrm>
            <a:off x="9568282" y="1965960"/>
            <a:ext cx="2072030" cy="4206240"/>
          </a:xfrm>
          <a:prstGeom prst="roundRect">
            <a:avLst>
              <a:gd name="adj" fmla="val 6620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3" name="item_img_4" descr="C:\Users\Chingu\AppData\Local\Temp\claude\C--Users-Chingu-Desktop-ACADEMIASEULWEB\d4111e1b-5523-44ea-97b2-b1a1d9545b9e\scratchpad\decks\cache\img_afe7e9e7798af6c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9897" y="2057400"/>
            <a:ext cx="1828800" cy="1828800"/>
          </a:xfrm>
          <a:prstGeom prst="rect">
            <a:avLst/>
          </a:prstGeom>
        </p:spPr>
      </p:pic>
      <p:sp>
        <p:nvSpPr>
          <p:cNvPr id="34" name="num_4"/>
          <p:cNvSpPr/>
          <p:nvPr/>
        </p:nvSpPr>
        <p:spPr>
          <a:xfrm>
            <a:off x="9659722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659722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9659722" y="3931920"/>
            <a:ext cx="188915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Daniel (hombre) presenta a su hermana mayor: 우리 </a:t>
            </a:r>
            <a:r>
              <a:rPr lang="en-US" sz="1500" dirty="0">
                <a:solidFill>
                  <a:srgbClr val="14142B"/>
                </a:solidFill>
              </a:rPr>
              <a:t>___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</a:t>
            </a:r>
            <a:r>
              <a:rPr lang="en-US" sz="1500" dirty="0">
                <a:solidFill>
                  <a:srgbClr val="14142B"/>
                </a:solidFill>
              </a:rPr>
              <a:t>. a)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언니 </a:t>
            </a:r>
            <a:r>
              <a:rPr lang="en-US" sz="1500" dirty="0">
                <a:solidFill>
                  <a:srgbClr val="14142B"/>
                </a:solidFill>
              </a:rPr>
              <a:t>b) </a:t>
            </a:r>
            <a:r>
              <a:rPr lang="ko-KR" altLang="en-US" sz="15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누나</a:t>
            </a:r>
            <a:endParaRPr lang="en-US" sz="1500" dirty="0"/>
          </a:p>
        </p:txBody>
      </p:sp>
      <p:sp>
        <p:nvSpPr>
          <p:cNvPr id="37" name="rev_4_caja"/>
          <p:cNvSpPr/>
          <p:nvPr/>
        </p:nvSpPr>
        <p:spPr>
          <a:xfrm>
            <a:off x="9678010" y="5212080"/>
            <a:ext cx="1852574" cy="868680"/>
          </a:xfrm>
          <a:prstGeom prst="roundRect">
            <a:avLst>
              <a:gd name="adj" fmla="val 12632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8" name="rev_4_txt"/>
          <p:cNvSpPr txBox="1"/>
          <p:nvPr/>
        </p:nvSpPr>
        <p:spPr>
          <a:xfrm>
            <a:off x="9705442" y="5212080"/>
            <a:ext cx="17977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b) 누나 </a:t>
            </a:r>
            <a:r>
              <a:rPr lang="en-US" sz="1200" b="1" dirty="0">
                <a:solidFill>
                  <a:srgbClr val="FFFFFF"/>
                </a:solidFill>
              </a:rPr>
              <a:t>· </a:t>
            </a: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언니 </a:t>
            </a:r>
            <a:r>
              <a:rPr lang="en-US" sz="1200" b="1" dirty="0">
                <a:solidFill>
                  <a:srgbClr val="FFFFFF"/>
                </a:solidFill>
              </a:rPr>
              <a:t>es hermana mayor para una mujer</a:t>
            </a:r>
            <a:endParaRPr lang="en-US" sz="1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집이 어디예요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¿Dónde vives?</a:t>
            </a:r>
            <a:r>
              <a:rPr lang="en-US" sz="1500" b="1" i="1" dirty="0">
                <a:solidFill>
                  <a:srgbClr val="8A8DA0"/>
                </a:solidFill>
              </a:rPr>
              <a:t>   Where do you live?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467489cd079223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548640" y="1645920"/>
            <a:ext cx="693115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frase_ko"/>
          <p:cNvSpPr txBox="1"/>
          <p:nvPr/>
        </p:nvSpPr>
        <p:spPr>
          <a:xfrm>
            <a:off x="731520" y="1828800"/>
            <a:ext cx="6565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집이 어디예요</a:t>
            </a:r>
            <a:r>
              <a:rPr lang="en-US" sz="5700" b="1" dirty="0">
                <a:solidFill>
                  <a:srgbClr val="4236F6"/>
                </a:solidFill>
              </a:rPr>
              <a:t>?</a:t>
            </a:r>
            <a:endParaRPr lang="en-US" sz="5700" dirty="0"/>
          </a:p>
          <a:p>
            <a:pPr marL="0" indent="0" algn="ctr" eaLnBrk="1">
              <a:buNone/>
            </a:pPr>
            <a:r>
              <a:rPr lang="ko-KR" altLang="en-US" sz="5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산티아고예요</a:t>
            </a:r>
            <a:r>
              <a:rPr lang="en-US" sz="5700" b="1" dirty="0">
                <a:solidFill>
                  <a:srgbClr val="4236F6"/>
                </a:solidFill>
              </a:rPr>
              <a:t>.</a:t>
            </a:r>
            <a:endParaRPr lang="en-US" sz="57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6576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¿Dónde vives? — En Santiago.</a:t>
            </a:r>
            <a:endParaRPr lang="en-US" sz="2400" dirty="0"/>
          </a:p>
        </p:txBody>
      </p:sp>
      <p:sp>
        <p:nvSpPr>
          <p:cNvPr id="7" name="lista"/>
          <p:cNvSpPr txBox="1"/>
          <p:nvPr/>
        </p:nvSpPr>
        <p:spPr>
          <a:xfrm>
            <a:off x="548640" y="4937760"/>
            <a:ext cx="6931152" cy="1234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산티아고예요</a:t>
            </a:r>
            <a:r>
              <a:rPr lang="en-US" sz="1800" dirty="0">
                <a:solidFill>
                  <a:srgbClr val="14142B"/>
                </a:solidFill>
              </a:rPr>
              <a:t>. 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서울이에요</a:t>
            </a:r>
            <a:r>
              <a:rPr lang="en-US" sz="1800" dirty="0">
                <a:solidFill>
                  <a:srgbClr val="14142B"/>
                </a:solidFill>
              </a:rPr>
              <a:t>. · ¿Termina en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r>
              <a:rPr lang="en-US" sz="1800" dirty="0">
                <a:solidFill>
                  <a:srgbClr val="14142B"/>
                </a:solidFill>
              </a:rPr>
              <a:t>? →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이에요 </a:t>
            </a:r>
            <a:r>
              <a:rPr lang="en-US" sz="1800" dirty="0">
                <a:solidFill>
                  <a:srgbClr val="14142B"/>
                </a:solidFill>
              </a:rPr>
              <a:t>/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Hoy vas a poder decir…</a:t>
            </a:r>
            <a:r>
              <a:rPr lang="en-US" sz="1500" b="1" i="1" dirty="0">
                <a:solidFill>
                  <a:srgbClr val="8A8DA0"/>
                </a:solidFill>
              </a:rPr>
              <a:t>   Today you'll be able to say…</a:t>
            </a:r>
            <a:endParaRPr lang="en-US" sz="3000" dirty="0"/>
          </a:p>
        </p:txBody>
      </p:sp>
      <p:graphicFrame>
        <p:nvGraphicFramePr>
          <p:cNvPr id="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504947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집이 어디예요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산티아고예요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¿Dónde vives? — En Santiago.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화장실이 어디예요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저기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¿Dónde está el baño? — Está allá.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책이 책상 위에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El libro está encima del escritorio.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은행이 카페 옆에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El banco está al lado de la cafetería.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지하철역이 어디예요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은행 앞에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¿Dónde está la estación de metro? — Delante del banco.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동네  </a:t>
            </a:r>
            <a:r>
              <a:rPr lang="en-US" sz="2600" b="1" dirty="0">
                <a:solidFill>
                  <a:srgbClr val="003478"/>
                </a:solidFill>
              </a:rPr>
              <a:t>Lugares del barrio (1)</a:t>
            </a:r>
            <a:r>
              <a:rPr lang="en-US" sz="1500" b="1" i="1" dirty="0">
                <a:solidFill>
                  <a:srgbClr val="8A8DA0"/>
                </a:solidFill>
              </a:rPr>
              <a:t>   Places in the neighborhood (1)</a:t>
            </a:r>
            <a:endParaRPr lang="en-US" sz="3000" dirty="0"/>
          </a:p>
        </p:txBody>
      </p:sp>
      <p:sp>
        <p:nvSpPr>
          <p:cNvPr id="3" name="card_0"/>
          <p:cNvSpPr/>
          <p:nvPr/>
        </p:nvSpPr>
        <p:spPr>
          <a:xfrm>
            <a:off x="548640" y="1325880"/>
            <a:ext cx="3544824" cy="230886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" name="dibujo_0" descr="C:\Users\Chingu\AppData\Local\Temp\claude\C--Users-Chingu-Desktop-ACADEMIASEULWEB\d4111e1b-5523-44ea-97b2-b1a1d9545b9e\scratchpad\decks\cache\eca79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6926" y="1435608"/>
            <a:ext cx="1108253" cy="11082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62149"/>
            <a:ext cx="3544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3023921"/>
            <a:ext cx="33985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casa</a:t>
            </a:r>
            <a:endParaRPr lang="en-US" sz="1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691128" y="1399032"/>
            <a:ext cx="310896" cy="310896"/>
          </a:xfrm>
          <a:prstGeom prst="rect">
            <a:avLst/>
          </a:prstGeom>
        </p:spPr>
      </p:pic>
      <p:sp>
        <p:nvSpPr>
          <p:cNvPr id="8" name="card_1"/>
          <p:cNvSpPr/>
          <p:nvPr/>
        </p:nvSpPr>
        <p:spPr>
          <a:xfrm>
            <a:off x="4322064" y="1325880"/>
            <a:ext cx="3544824" cy="230886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9" name="dibujo_1" descr="C:\Users\Chingu\AppData\Local\Temp\claude\C--Users-Chingu-Desktop-ACADEMIASEULWEB\d4111e1b-5523-44ea-97b2-b1a1d9545b9e\scratchpad\decks\cache\ed9599eab59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0350" y="1435608"/>
            <a:ext cx="1108253" cy="110825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22064" y="2562149"/>
            <a:ext cx="3544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endParaRPr lang="en-US" sz="2900" dirty="0"/>
          </a:p>
        </p:txBody>
      </p:sp>
      <p:sp>
        <p:nvSpPr>
          <p:cNvPr id="11" name="Text 6"/>
          <p:cNvSpPr txBox="1"/>
          <p:nvPr/>
        </p:nvSpPr>
        <p:spPr>
          <a:xfrm>
            <a:off x="4322064" y="3023921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[학꾜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395216" y="3298241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colegio, escuela</a:t>
            </a:r>
            <a:endParaRPr lang="en-US" sz="1600" dirty="0"/>
          </a:p>
        </p:txBody>
      </p:sp>
      <p:pic>
        <p:nvPicPr>
          <p:cNvPr id="13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7464552" y="139903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8095488" y="1325880"/>
            <a:ext cx="3544824" cy="230886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ed9a8cec82ac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13774" y="1435608"/>
            <a:ext cx="1108253" cy="1108253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95488" y="2562149"/>
            <a:ext cx="3544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</a:t>
            </a:r>
            <a:endParaRPr lang="en-US" sz="2900" dirty="0"/>
          </a:p>
        </p:txBody>
      </p:sp>
      <p:sp>
        <p:nvSpPr>
          <p:cNvPr id="17" name="Text 10"/>
          <p:cNvSpPr txBox="1"/>
          <p:nvPr/>
        </p:nvSpPr>
        <p:spPr>
          <a:xfrm>
            <a:off x="8168640" y="3023921"/>
            <a:ext cx="33985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empresa, oficina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1237976" y="139903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2435352" y="3863340"/>
            <a:ext cx="3544824" cy="230886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ebb391ec9b9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53638" y="3973068"/>
            <a:ext cx="1108253" cy="1108253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2435352" y="5099609"/>
            <a:ext cx="3544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</a:t>
            </a:r>
            <a:endParaRPr lang="en-US" sz="2900" dirty="0"/>
          </a:p>
        </p:txBody>
      </p:sp>
      <p:sp>
        <p:nvSpPr>
          <p:cNvPr id="22" name="Text 13"/>
          <p:cNvSpPr txBox="1"/>
          <p:nvPr/>
        </p:nvSpPr>
        <p:spPr>
          <a:xfrm>
            <a:off x="2508504" y="5561381"/>
            <a:ext cx="33985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hospital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5577840" y="3936492"/>
            <a:ext cx="310896" cy="310896"/>
          </a:xfrm>
          <a:prstGeom prst="rect">
            <a:avLst/>
          </a:prstGeom>
        </p:spPr>
      </p:pic>
      <p:sp>
        <p:nvSpPr>
          <p:cNvPr id="24" name="card_4"/>
          <p:cNvSpPr/>
          <p:nvPr/>
        </p:nvSpPr>
        <p:spPr>
          <a:xfrm>
            <a:off x="6208776" y="3863340"/>
            <a:ext cx="3544824" cy="230886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4" descr="C:\Users\Chingu\AppData\Local\Temp\claude\C--Users-Chingu-Desktop-ACADEMIASEULWEB\d4111e1b-5523-44ea-97b2-b1a1d9545b9e\scratchpad\decks\cache\ecb9b4ed8e9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7062" y="3973068"/>
            <a:ext cx="1108253" cy="1108253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208776" y="5099609"/>
            <a:ext cx="3544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endParaRPr lang="en-US" sz="2900" dirty="0"/>
          </a:p>
        </p:txBody>
      </p:sp>
      <p:sp>
        <p:nvSpPr>
          <p:cNvPr id="27" name="Text 16"/>
          <p:cNvSpPr txBox="1"/>
          <p:nvPr/>
        </p:nvSpPr>
        <p:spPr>
          <a:xfrm>
            <a:off x="6281928" y="5561381"/>
            <a:ext cx="33985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cafetería</a:t>
            </a:r>
            <a:endParaRPr lang="en-US" sz="1600" dirty="0"/>
          </a:p>
        </p:txBody>
      </p:sp>
      <p:pic>
        <p:nvPicPr>
          <p:cNvPr id="28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9351264" y="3936492"/>
            <a:ext cx="310896" cy="310896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동네  </a:t>
            </a:r>
            <a:r>
              <a:rPr lang="en-US" sz="2600" b="1" dirty="0">
                <a:solidFill>
                  <a:srgbClr val="003478"/>
                </a:solidFill>
              </a:rPr>
              <a:t>Lugares del barrio (2)</a:t>
            </a:r>
            <a:r>
              <a:rPr lang="en-US" sz="1500" b="1" i="1" dirty="0">
                <a:solidFill>
                  <a:srgbClr val="8A8DA0"/>
                </a:solidFill>
              </a:rPr>
              <a:t>   Places in the neighborhood (2)</a:t>
            </a:r>
            <a:endParaRPr lang="en-US" sz="3000" dirty="0"/>
          </a:p>
        </p:txBody>
      </p:sp>
      <p:sp>
        <p:nvSpPr>
          <p:cNvPr id="3" name="card_0"/>
          <p:cNvSpPr/>
          <p:nvPr/>
        </p:nvSpPr>
        <p:spPr>
          <a:xfrm>
            <a:off x="548640" y="1325880"/>
            <a:ext cx="2601468" cy="438912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" name="dibujo_0" descr="C:\Users\Chingu\AppData\Local\Temp\claude\C--Users-Chingu-Desktop-ACADEMIASEULWEB\d4111e1b-5523-44ea-97b2-b1a1d9545b9e\scratchpad\decks\cache\ec8b9deb8bb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919" y="1435608"/>
            <a:ext cx="1612910" cy="16129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066806"/>
            <a:ext cx="26014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식당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44630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[식땅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218950"/>
            <a:ext cx="2455164" cy="1422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restaurante</a:t>
            </a:r>
            <a:endParaRPr lang="en-US" sz="16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747772" y="1399032"/>
            <a:ext cx="310896" cy="310896"/>
          </a:xfrm>
          <a:prstGeom prst="rect">
            <a:avLst/>
          </a:prstGeom>
        </p:spPr>
      </p:pic>
      <p:sp>
        <p:nvSpPr>
          <p:cNvPr id="9" name="card_1"/>
          <p:cNvSpPr/>
          <p:nvPr/>
        </p:nvSpPr>
        <p:spPr>
          <a:xfrm>
            <a:off x="3378708" y="1325880"/>
            <a:ext cx="2601468" cy="438912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0" name="dibujo_1" descr="C:\Users\Chingu\AppData\Local\Temp\claude\C--Users-Chingu-Desktop-ACADEMIASEULWEB\d4111e1b-5523-44ea-97b2-b1a1d9545b9e\scratchpad\decks\cache\ed9994ec9ea5ec8ba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2987" y="1435608"/>
            <a:ext cx="1612910" cy="161291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78708" y="3066806"/>
            <a:ext cx="26014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</a:t>
            </a:r>
            <a:endParaRPr lang="en-US" sz="5400" dirty="0"/>
          </a:p>
        </p:txBody>
      </p:sp>
      <p:sp>
        <p:nvSpPr>
          <p:cNvPr id="12" name="Text 7"/>
          <p:cNvSpPr txBox="1"/>
          <p:nvPr/>
        </p:nvSpPr>
        <p:spPr>
          <a:xfrm>
            <a:off x="3451860" y="3944630"/>
            <a:ext cx="2455164" cy="169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baño</a:t>
            </a:r>
            <a:endParaRPr lang="en-US" sz="1600" dirty="0"/>
          </a:p>
        </p:txBody>
      </p:sp>
      <p:pic>
        <p:nvPicPr>
          <p:cNvPr id="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577840" y="1399032"/>
            <a:ext cx="310896" cy="310896"/>
          </a:xfrm>
          <a:prstGeom prst="rect">
            <a:avLst/>
          </a:prstGeom>
        </p:spPr>
      </p:pic>
      <p:sp>
        <p:nvSpPr>
          <p:cNvPr id="14" name="card_2"/>
          <p:cNvSpPr/>
          <p:nvPr/>
        </p:nvSpPr>
        <p:spPr>
          <a:xfrm>
            <a:off x="6208776" y="1325880"/>
            <a:ext cx="2601468" cy="438912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5" name="dibujo_2" descr="C:\Users\Chingu\AppData\Local\Temp\claude\C--Users-Chingu-Desktop-ACADEMIASEULWEB\d4111e1b-5523-44ea-97b2-b1a1d9545b9e\scratchpad\decks\cache\ec9d80ed968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3055" y="1435608"/>
            <a:ext cx="1612910" cy="161291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208776" y="3066806"/>
            <a:ext cx="26014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</a:t>
            </a:r>
            <a:endParaRPr lang="en-US" sz="5400" dirty="0"/>
          </a:p>
        </p:txBody>
      </p:sp>
      <p:sp>
        <p:nvSpPr>
          <p:cNvPr id="17" name="Text 10"/>
          <p:cNvSpPr txBox="1"/>
          <p:nvPr/>
        </p:nvSpPr>
        <p:spPr>
          <a:xfrm>
            <a:off x="6281928" y="3944630"/>
            <a:ext cx="2455164" cy="169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banco</a:t>
            </a:r>
            <a:endParaRPr lang="en-US" sz="1600" dirty="0"/>
          </a:p>
        </p:txBody>
      </p:sp>
      <p:pic>
        <p:nvPicPr>
          <p:cNvPr id="18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407908" y="139903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9038844" y="1325880"/>
            <a:ext cx="2601468" cy="438912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eab3b5ec9b9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33123" y="1435608"/>
            <a:ext cx="1612910" cy="161291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038844" y="3066806"/>
            <a:ext cx="26014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</a:t>
            </a:r>
            <a:endParaRPr lang="en-US" sz="5400" dirty="0"/>
          </a:p>
        </p:txBody>
      </p:sp>
      <p:sp>
        <p:nvSpPr>
          <p:cNvPr id="22" name="Text 13"/>
          <p:cNvSpPr txBox="1"/>
          <p:nvPr/>
        </p:nvSpPr>
        <p:spPr>
          <a:xfrm>
            <a:off x="9111996" y="3944630"/>
            <a:ext cx="2455164" cy="169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parque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237976" y="139903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거기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저기  </a:t>
            </a:r>
            <a:r>
              <a:rPr lang="en-US" sz="3000" b="1" dirty="0">
                <a:solidFill>
                  <a:srgbClr val="003478"/>
                </a:solidFill>
              </a:rPr>
              <a:t>Aquí, ahí, allá</a:t>
            </a:r>
            <a:r>
              <a:rPr lang="en-US" sz="1500" b="1" i="1" dirty="0">
                <a:solidFill>
                  <a:srgbClr val="8A8DA0"/>
                </a:solidFill>
              </a:rPr>
              <a:t>   Here, there, over there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 </a:t>
            </a:r>
            <a:r>
              <a:rPr lang="en-US" sz="1800" i="1" dirty="0">
                <a:solidFill>
                  <a:srgbClr val="4236F6"/>
                </a:solidFill>
              </a:rPr>
              <a:t>= ¿dónde?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Cerca de mí</a:t>
            </a:r>
            <a:endParaRPr lang="en-US" sz="2000" dirty="0"/>
          </a:p>
        </p:txBody>
      </p:sp>
      <p:pic>
        <p:nvPicPr>
          <p:cNvPr id="6" name="col_img_0" descr="C:\Users\Chingu\AppData\Local\Temp\claude\C--Users-Chingu-Desktop-ACADEMIASEULWEB\d4111e1b-5523-44ea-97b2-b1a1d9545b9e\scratchpad\decks\cache\img_2f9da15f99119e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26664" cy="13757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4118956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</a:t>
            </a:r>
            <a:endParaRPr lang="en-US" sz="5400" dirty="0"/>
          </a:p>
        </p:txBody>
      </p:sp>
      <p:sp>
        <p:nvSpPr>
          <p:cNvPr id="8" name="lista"/>
          <p:cNvSpPr txBox="1"/>
          <p:nvPr/>
        </p:nvSpPr>
        <p:spPr>
          <a:xfrm>
            <a:off x="731520" y="5124796"/>
            <a:ext cx="3118104" cy="910244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aquí, acá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como 이거 </a:t>
            </a:r>
            <a:r>
              <a:rPr lang="en-US" sz="1800" dirty="0">
                <a:solidFill>
                  <a:srgbClr val="14142B"/>
                </a:solidFill>
              </a:rPr>
              <a:t>(esto)</a:t>
            </a:r>
            <a:endParaRPr lang="en-US" sz="1800" dirty="0"/>
          </a:p>
        </p:txBody>
      </p:sp>
      <p:sp>
        <p:nvSpPr>
          <p:cNvPr id="9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Cerca de ti</a:t>
            </a:r>
            <a:endParaRPr lang="en-US" sz="2000" dirty="0"/>
          </a:p>
        </p:txBody>
      </p:sp>
      <p:pic>
        <p:nvPicPr>
          <p:cNvPr id="11" name="col_img_1" descr="C:\Users\Chingu\AppData\Local\Temp\claude\C--Users-Chingu-Desktop-ACADEMIASEULWEB\d4111e1b-5523-44ea-97b2-b1a1d9545b9e\scratchpad\decks\cache\img_bdf3e9b87e3254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281" y="2651760"/>
            <a:ext cx="1904390" cy="8656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1144" y="3608832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거기</a:t>
            </a:r>
            <a:endParaRPr lang="en-US" sz="5400" dirty="0"/>
          </a:p>
        </p:txBody>
      </p:sp>
      <p:sp>
        <p:nvSpPr>
          <p:cNvPr id="13" name="lista"/>
          <p:cNvSpPr txBox="1"/>
          <p:nvPr/>
        </p:nvSpPr>
        <p:spPr>
          <a:xfrm>
            <a:off x="4535424" y="4614672"/>
            <a:ext cx="3118104" cy="1420368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142B"/>
                </a:solidFill>
              </a:rPr>
              <a:t>ahí</a:t>
            </a:r>
            <a:endParaRPr lang="en-US" sz="17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4142B"/>
                </a:solidFill>
              </a:rPr>
              <a:t>o el lugar del que hablamos</a:t>
            </a:r>
            <a:endParaRPr lang="en-US" sz="17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7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como 그거 </a:t>
            </a:r>
            <a:r>
              <a:rPr lang="en-US" sz="1700" dirty="0">
                <a:solidFill>
                  <a:srgbClr val="14142B"/>
                </a:solidFill>
              </a:rPr>
              <a:t>(eso)</a:t>
            </a:r>
            <a:endParaRPr lang="en-US" sz="1700" dirty="0"/>
          </a:p>
        </p:txBody>
      </p:sp>
      <p:sp>
        <p:nvSpPr>
          <p:cNvPr id="14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Lejos de los dos</a:t>
            </a:r>
            <a:endParaRPr lang="en-US" sz="2000" dirty="0"/>
          </a:p>
        </p:txBody>
      </p:sp>
      <p:pic>
        <p:nvPicPr>
          <p:cNvPr id="16" name="col_img_2" descr="C:\Users\Chingu\AppData\Local\Temp\claude\C--Users-Chingu-Desktop-ACADEMIASEULWEB\d4111e1b-5523-44ea-97b2-b1a1d9545b9e\scratchpad\decks\cache\img_bd8196e0d495181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651760"/>
            <a:ext cx="3026664" cy="13757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5048" y="4118956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저기</a:t>
            </a:r>
            <a:endParaRPr lang="en-US" sz="5400" dirty="0"/>
          </a:p>
        </p:txBody>
      </p:sp>
      <p:sp>
        <p:nvSpPr>
          <p:cNvPr id="18" name="lista"/>
          <p:cNvSpPr txBox="1"/>
          <p:nvPr/>
        </p:nvSpPr>
        <p:spPr>
          <a:xfrm>
            <a:off x="8339328" y="5124796"/>
            <a:ext cx="3118104" cy="910244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allá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como 저거 </a:t>
            </a:r>
            <a:r>
              <a:rPr lang="en-US" sz="1800" dirty="0">
                <a:solidFill>
                  <a:srgbClr val="14142B"/>
                </a:solidFill>
              </a:rPr>
              <a:t>(aquello)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 책상  </a:t>
            </a:r>
            <a:r>
              <a:rPr lang="en-US" sz="2600" b="1" dirty="0">
                <a:solidFill>
                  <a:srgbClr val="003478"/>
                </a:solidFill>
              </a:rPr>
              <a:t>El escritorio de la profe</a:t>
            </a:r>
            <a:r>
              <a:rPr lang="en-US" sz="1500" b="1" i="1" dirty="0">
                <a:solidFill>
                  <a:srgbClr val="8A8DA0"/>
                </a:solidFill>
              </a:rPr>
              <a:t>   The teacher's desk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21471846d17cd1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Respaldo si la cámara no muestra la mesa · Escucha a Kiran y responde: 네</a:t>
            </a:r>
            <a:r>
              <a:rPr lang="en-US" sz="1800" i="1" dirty="0">
                <a:solidFill>
                  <a:srgbClr val="4236F6"/>
                </a:solidFill>
              </a:rPr>
              <a:t>! /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800" i="1" dirty="0">
                <a:solidFill>
                  <a:srgbClr val="4236F6"/>
                </a:solidFill>
              </a:rPr>
              <a:t>!</a:t>
            </a:r>
            <a:endParaRPr lang="en-US" sz="1800" dirty="0"/>
          </a:p>
        </p:txBody>
      </p:sp>
      <p:sp>
        <p:nvSpPr>
          <p:cNvPr id="5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65960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컴퓨터가 책상 위에 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8" name="rev_5_caja"/>
          <p:cNvSpPr/>
          <p:nvPr/>
        </p:nvSpPr>
        <p:spPr>
          <a:xfrm>
            <a:off x="4152839" y="2002536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5_txt"/>
          <p:cNvSpPr txBox="1"/>
          <p:nvPr/>
        </p:nvSpPr>
        <p:spPr>
          <a:xfrm>
            <a:off x="4244279" y="2002536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688336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커피가 컴퓨터 옆에 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13" name="rev_6_caja"/>
          <p:cNvSpPr/>
          <p:nvPr/>
        </p:nvSpPr>
        <p:spPr>
          <a:xfrm>
            <a:off x="4152839" y="2724912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4" name="rev_6_txt"/>
          <p:cNvSpPr txBox="1"/>
          <p:nvPr/>
        </p:nvSpPr>
        <p:spPr>
          <a:xfrm>
            <a:off x="4244279" y="2724912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410712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휴대폰이 가방 안에 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18" name="rev_7_caja"/>
          <p:cNvSpPr/>
          <p:nvPr/>
        </p:nvSpPr>
        <p:spPr>
          <a:xfrm>
            <a:off x="4152839" y="3447288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9" name="rev_7_txt"/>
          <p:cNvSpPr txBox="1"/>
          <p:nvPr/>
        </p:nvSpPr>
        <p:spPr>
          <a:xfrm>
            <a:off x="4244279" y="3447288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1900" b="1" dirty="0">
                <a:solidFill>
                  <a:srgbClr val="FFFFFF"/>
                </a:solidFill>
              </a:rPr>
              <a:t>,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위에 있어요</a:t>
            </a:r>
            <a:r>
              <a:rPr lang="en-US" sz="1900" b="1" dirty="0">
                <a:solidFill>
                  <a:srgbClr val="FFFFFF"/>
                </a:solidFill>
              </a:rPr>
              <a:t>.</a:t>
            </a:r>
            <a:endParaRPr lang="en-US" sz="1900" dirty="0"/>
          </a:p>
        </p:txBody>
      </p:sp>
      <p:sp>
        <p:nvSpPr>
          <p:cNvPr id="20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4133088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가방이 책상 아래에 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23" name="rev_8_caja"/>
          <p:cNvSpPr/>
          <p:nvPr/>
        </p:nvSpPr>
        <p:spPr>
          <a:xfrm>
            <a:off x="4152839" y="4169664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8_txt"/>
          <p:cNvSpPr txBox="1"/>
          <p:nvPr/>
        </p:nvSpPr>
        <p:spPr>
          <a:xfrm>
            <a:off x="4244279" y="4169664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25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4855464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의자 뒤에 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28" name="rev_9_caja"/>
          <p:cNvSpPr/>
          <p:nvPr/>
        </p:nvSpPr>
        <p:spPr>
          <a:xfrm>
            <a:off x="4152839" y="4892040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9" name="rev_9_txt"/>
          <p:cNvSpPr txBox="1"/>
          <p:nvPr/>
        </p:nvSpPr>
        <p:spPr>
          <a:xfrm>
            <a:off x="4244279" y="4892040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30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188720" y="5577840"/>
            <a:ext cx="273551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9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우산이 책상 옆에 있어요</a:t>
            </a:r>
            <a:r>
              <a:rPr lang="en-US" sz="1900" dirty="0">
                <a:solidFill>
                  <a:srgbClr val="14142B"/>
                </a:solidFill>
              </a:rPr>
              <a:t>?</a:t>
            </a:r>
            <a:endParaRPr lang="en-US" sz="1900" dirty="0"/>
          </a:p>
        </p:txBody>
      </p:sp>
      <p:sp>
        <p:nvSpPr>
          <p:cNvPr id="33" name="rev_10_caja"/>
          <p:cNvSpPr/>
          <p:nvPr/>
        </p:nvSpPr>
        <p:spPr>
          <a:xfrm>
            <a:off x="4152839" y="5614416"/>
            <a:ext cx="3326953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4" name="rev_10_txt"/>
          <p:cNvSpPr txBox="1"/>
          <p:nvPr/>
        </p:nvSpPr>
        <p:spPr>
          <a:xfrm>
            <a:off x="4244279" y="5614416"/>
            <a:ext cx="31440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200" b="1" dirty="0">
                <a:solidFill>
                  <a:srgbClr val="FFFFFF"/>
                </a:solidFill>
              </a:rPr>
              <a:t>,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  <p:bldP spid="24" grpId="0" animBg="1"/>
      <p:bldP spid="29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 </a:t>
            </a:r>
            <a:r>
              <a:rPr lang="en-US" sz="2600" b="1" dirty="0">
                <a:solidFill>
                  <a:srgbClr val="003478"/>
                </a:solidFill>
              </a:rPr>
              <a:t>Las 6 posiciones</a:t>
            </a:r>
            <a:r>
              <a:rPr lang="en-US" sz="1500" b="1" i="1" dirty="0">
                <a:solidFill>
                  <a:srgbClr val="8A8DA0"/>
                </a:solidFill>
              </a:rPr>
              <a:t>   The 6 positions</a:t>
            </a:r>
            <a:endParaRPr lang="en-US" sz="3000" dirty="0"/>
          </a:p>
        </p:txBody>
      </p:sp>
      <p:sp>
        <p:nvSpPr>
          <p:cNvPr id="3" name="card_0"/>
          <p:cNvSpPr/>
          <p:nvPr/>
        </p:nvSpPr>
        <p:spPr>
          <a:xfrm>
            <a:off x="548640" y="1325880"/>
            <a:ext cx="3544824" cy="230886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4" name="dibujo_0" descr="C:\Users\Chingu\AppData\Local\Temp\claude\C--Users-Chingu-Desktop-ACADEMIASEULWEB\d4111e1b-5523-44ea-97b2-b1a1d9545b9e\scratchpad\decks\cache\img_14d5a418a639b10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66926" y="1435608"/>
            <a:ext cx="1108253" cy="110825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62149"/>
            <a:ext cx="3544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3023921"/>
            <a:ext cx="33985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arriba, encima</a:t>
            </a:r>
            <a:endParaRPr lang="en-US" sz="1600" dirty="0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1399032"/>
            <a:ext cx="310896" cy="310896"/>
          </a:xfrm>
          <a:prstGeom prst="rect">
            <a:avLst/>
          </a:prstGeom>
        </p:spPr>
      </p:pic>
      <p:sp>
        <p:nvSpPr>
          <p:cNvPr id="8" name="card_1"/>
          <p:cNvSpPr/>
          <p:nvPr/>
        </p:nvSpPr>
        <p:spPr>
          <a:xfrm>
            <a:off x="4322064" y="1325880"/>
            <a:ext cx="3544824" cy="230886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9" name="dibujo_1" descr="C:\Users\Chingu\AppData\Local\Temp\claude\C--Users-Chingu-Desktop-ACADEMIASEULWEB\d4111e1b-5523-44ea-97b2-b1a1d9545b9e\scratchpad\decks\cache\img_90149f94431dfea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40350" y="1435608"/>
            <a:ext cx="1108253" cy="110825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22064" y="2562149"/>
            <a:ext cx="3544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endParaRPr lang="en-US" sz="2900" dirty="0"/>
          </a:p>
        </p:txBody>
      </p:sp>
      <p:sp>
        <p:nvSpPr>
          <p:cNvPr id="11" name="Text 6"/>
          <p:cNvSpPr txBox="1"/>
          <p:nvPr/>
        </p:nvSpPr>
        <p:spPr>
          <a:xfrm>
            <a:off x="4395216" y="3023921"/>
            <a:ext cx="33985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abajo, debajo</a:t>
            </a:r>
            <a:endParaRPr lang="en-US" sz="160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1399032"/>
            <a:ext cx="310896" cy="310896"/>
          </a:xfrm>
          <a:prstGeom prst="rect">
            <a:avLst/>
          </a:prstGeom>
        </p:spPr>
      </p:pic>
      <p:sp>
        <p:nvSpPr>
          <p:cNvPr id="13" name="card_2"/>
          <p:cNvSpPr/>
          <p:nvPr/>
        </p:nvSpPr>
        <p:spPr>
          <a:xfrm>
            <a:off x="8095488" y="1325880"/>
            <a:ext cx="3544824" cy="230886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4" name="dibujo_2" descr="C:\Users\Chingu\AppData\Local\Temp\claude\C--Users-Chingu-Desktop-ACADEMIASEULWEB\d4111e1b-5523-44ea-97b2-b1a1d9545b9e\scratchpad\decks\cache\img_ee758e7c02eb2c1a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13774" y="1435608"/>
            <a:ext cx="1108253" cy="1108253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095488" y="2562149"/>
            <a:ext cx="3544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</a:t>
            </a:r>
            <a:endParaRPr lang="en-US" sz="2900" dirty="0"/>
          </a:p>
        </p:txBody>
      </p:sp>
      <p:sp>
        <p:nvSpPr>
          <p:cNvPr id="16" name="Text 9"/>
          <p:cNvSpPr txBox="1"/>
          <p:nvPr/>
        </p:nvSpPr>
        <p:spPr>
          <a:xfrm>
            <a:off x="8095488" y="3023921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 </a:t>
            </a:r>
            <a:r>
              <a:rPr lang="en-US" sz="1300" dirty="0">
                <a:solidFill>
                  <a:srgbClr val="8A8DA0"/>
                </a:solidFill>
              </a:rPr>
              <a:t>[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아페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8168640" y="3298241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delante</a:t>
            </a:r>
            <a:endParaRPr lang="en-US" sz="1600" dirty="0"/>
          </a:p>
        </p:txBody>
      </p:sp>
      <p:pic>
        <p:nvPicPr>
          <p:cNvPr id="12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1399032"/>
            <a:ext cx="310896" cy="310896"/>
          </a:xfrm>
          <a:prstGeom prst="rect">
            <a:avLst/>
          </a:prstGeom>
        </p:spPr>
      </p:pic>
      <p:sp>
        <p:nvSpPr>
          <p:cNvPr id="19" name="card_3"/>
          <p:cNvSpPr/>
          <p:nvPr/>
        </p:nvSpPr>
        <p:spPr>
          <a:xfrm>
            <a:off x="548640" y="3863340"/>
            <a:ext cx="3544824" cy="230886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0" name="dibujo_3" descr="C:\Users\Chingu\AppData\Local\Temp\claude\C--Users-Chingu-Desktop-ACADEMIASEULWEB\d4111e1b-5523-44ea-97b2-b1a1d9545b9e\scratchpad\decks\cache\img_f13a4ca604c498a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66926" y="3973068"/>
            <a:ext cx="1108253" cy="1108253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548640" y="5099609"/>
            <a:ext cx="3544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</a:t>
            </a:r>
            <a:endParaRPr lang="en-US" sz="2900" dirty="0"/>
          </a:p>
        </p:txBody>
      </p:sp>
      <p:sp>
        <p:nvSpPr>
          <p:cNvPr id="22" name="Text 13"/>
          <p:cNvSpPr txBox="1"/>
          <p:nvPr/>
        </p:nvSpPr>
        <p:spPr>
          <a:xfrm>
            <a:off x="621792" y="5561381"/>
            <a:ext cx="339852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detrás</a:t>
            </a:r>
            <a:endParaRPr lang="en-US" sz="1600" dirty="0"/>
          </a:p>
        </p:txBody>
      </p:sp>
      <p:pic>
        <p:nvPicPr>
          <p:cNvPr id="23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691128" y="3936492"/>
            <a:ext cx="310896" cy="310896"/>
          </a:xfrm>
          <a:prstGeom prst="rect">
            <a:avLst/>
          </a:prstGeom>
        </p:spPr>
      </p:pic>
      <p:sp>
        <p:nvSpPr>
          <p:cNvPr id="24" name="card_4"/>
          <p:cNvSpPr/>
          <p:nvPr/>
        </p:nvSpPr>
        <p:spPr>
          <a:xfrm>
            <a:off x="4322064" y="3863340"/>
            <a:ext cx="3544824" cy="230886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5" name="dibujo_4" descr="C:\Users\Chingu\AppData\Local\Temp\claude\C--Users-Chingu-Desktop-ACADEMIASEULWEB\d4111e1b-5523-44ea-97b2-b1a1d9545b9e\scratchpad\decks\cache\img_6b865faecca06d3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540350" y="3973068"/>
            <a:ext cx="1108253" cy="1108253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4322064" y="5099609"/>
            <a:ext cx="3544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</a:t>
            </a:r>
            <a:endParaRPr lang="en-US" sz="2900" dirty="0"/>
          </a:p>
        </p:txBody>
      </p:sp>
      <p:sp>
        <p:nvSpPr>
          <p:cNvPr id="27" name="Text 16"/>
          <p:cNvSpPr txBox="1"/>
          <p:nvPr/>
        </p:nvSpPr>
        <p:spPr>
          <a:xfrm>
            <a:off x="4322064" y="5561381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옆에 </a:t>
            </a:r>
            <a:r>
              <a:rPr lang="en-US" sz="1300" dirty="0">
                <a:solidFill>
                  <a:srgbClr val="8A8DA0"/>
                </a:solidFill>
              </a:rPr>
              <a:t>[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여페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8" name="Text 17"/>
          <p:cNvSpPr txBox="1"/>
          <p:nvPr/>
        </p:nvSpPr>
        <p:spPr>
          <a:xfrm>
            <a:off x="4395216" y="5835701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al lado</a:t>
            </a:r>
            <a:endParaRPr lang="en-US" sz="1600" dirty="0"/>
          </a:p>
        </p:txBody>
      </p:sp>
      <p:pic>
        <p:nvPicPr>
          <p:cNvPr id="29" name="Media 4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464552" y="3936492"/>
            <a:ext cx="310896" cy="310896"/>
          </a:xfrm>
          <a:prstGeom prst="rect">
            <a:avLst/>
          </a:prstGeom>
        </p:spPr>
      </p:pic>
      <p:sp>
        <p:nvSpPr>
          <p:cNvPr id="30" name="card_5"/>
          <p:cNvSpPr/>
          <p:nvPr/>
        </p:nvSpPr>
        <p:spPr>
          <a:xfrm>
            <a:off x="8095488" y="3863340"/>
            <a:ext cx="3544824" cy="2308860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31" name="dibujo_5" descr="C:\Users\Chingu\AppData\Local\Temp\claude\C--Users-Chingu-Desktop-ACADEMIASEULWEB\d4111e1b-5523-44ea-97b2-b1a1d9545b9e\scratchpad\decks\cache\img_60e1b9d214478d0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13774" y="3973068"/>
            <a:ext cx="1108253" cy="1108253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095488" y="5099609"/>
            <a:ext cx="3544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9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</a:t>
            </a:r>
            <a:endParaRPr lang="en-US" sz="2900" dirty="0"/>
          </a:p>
        </p:txBody>
      </p:sp>
      <p:sp>
        <p:nvSpPr>
          <p:cNvPr id="33" name="Text 20"/>
          <p:cNvSpPr txBox="1"/>
          <p:nvPr/>
        </p:nvSpPr>
        <p:spPr>
          <a:xfrm>
            <a:off x="8095488" y="5561381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안에 </a:t>
            </a:r>
            <a:r>
              <a:rPr lang="en-US" sz="1300" dirty="0">
                <a:solidFill>
                  <a:srgbClr val="8A8DA0"/>
                </a:solidFill>
              </a:rPr>
              <a:t>[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아네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34" name="Text 21"/>
          <p:cNvSpPr txBox="1"/>
          <p:nvPr/>
        </p:nvSpPr>
        <p:spPr>
          <a:xfrm>
            <a:off x="8168640" y="5835701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dentro</a:t>
            </a:r>
            <a:endParaRPr lang="en-US" sz="1600" dirty="0"/>
          </a:p>
        </p:txBody>
      </p:sp>
      <p:pic>
        <p:nvPicPr>
          <p:cNvPr id="35" name="Media 5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37976" y="3936492"/>
            <a:ext cx="310896" cy="310896"/>
          </a:xfrm>
          <a:prstGeom prst="rect">
            <a:avLst/>
          </a:prstGeom>
        </p:spPr>
      </p:pic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La frase en 3 vagones</a:t>
            </a:r>
            <a:r>
              <a:rPr lang="en-US" sz="1500" b="1" i="1" dirty="0">
                <a:solidFill>
                  <a:srgbClr val="8A8DA0"/>
                </a:solidFill>
              </a:rPr>
              <a:t>   The sentence in 3 train cars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Primero la referencia, después la posición: 책상 위 </a:t>
            </a:r>
            <a:r>
              <a:rPr lang="en-US" sz="1800" i="1" dirty="0">
                <a:solidFill>
                  <a:srgbClr val="4236F6"/>
                </a:solidFill>
              </a:rPr>
              <a:t>('escritorio-encima'), sin 'de'</a:t>
            </a:r>
            <a:endParaRPr lang="en-US" sz="1800" dirty="0"/>
          </a:p>
        </p:txBody>
      </p:sp>
      <p:graphicFrame>
        <p:nvGraphicFramePr>
          <p:cNvPr id="11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17086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Vagón 1: la cosa + 이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/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Vagón 2: el lugar + 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Vagón 3: siempre al final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책상 위에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 옆에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가방이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의자 아래에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가방 안에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</a:t>
            </a:r>
            <a:r>
              <a:rPr lang="en-US" sz="2600" b="1" dirty="0">
                <a:solidFill>
                  <a:srgbClr val="4236F6"/>
                </a:solidFill>
              </a:rPr>
              <a:t>· </a:t>
            </a: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 </a:t>
            </a:r>
            <a:r>
              <a:rPr lang="en-US" sz="2600" b="1" dirty="0">
                <a:solidFill>
                  <a:srgbClr val="003478"/>
                </a:solidFill>
              </a:rPr>
              <a:t>4 posiciones más</a:t>
            </a:r>
            <a:r>
              <a:rPr lang="en-US" sz="1500" b="1" i="1" dirty="0">
                <a:solidFill>
                  <a:srgbClr val="8A8DA0"/>
                </a:solidFill>
              </a:rPr>
              <a:t>   4 more positions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Extra de hoy: para entender y usar si las necesitas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3fcb1dbfe080285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919" y="1984248"/>
            <a:ext cx="1612910" cy="16129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74982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 </a:t>
            </a:r>
            <a:r>
              <a:rPr lang="en-US" sz="1300" dirty="0">
                <a:solidFill>
                  <a:srgbClr val="8A8DA0"/>
                </a:solidFill>
              </a:rPr>
              <a:t>[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</a:t>
            </a:r>
            <a:r>
              <a:rPr lang="en-US" sz="1300" dirty="0">
                <a:solidFill>
                  <a:srgbClr val="8A8DA0"/>
                </a:solidFill>
              </a:rPr>
              <a:t>] · 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 </a:t>
            </a:r>
            <a:r>
              <a:rPr lang="en-US" sz="1300" dirty="0">
                <a:solidFill>
                  <a:srgbClr val="8A8DA0"/>
                </a:solidFill>
              </a:rPr>
              <a:t>[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바께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4749302"/>
            <a:ext cx="2455164" cy="1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fuera, afuera</a:t>
            </a:r>
            <a:endParaRPr lang="en-US" sz="1600" dirty="0"/>
          </a:p>
        </p:txBody>
      </p:sp>
      <p:pic>
        <p:nvPicPr>
          <p:cNvPr id="9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747772" y="1947672"/>
            <a:ext cx="310896" cy="310896"/>
          </a:xfrm>
          <a:prstGeom prst="rect">
            <a:avLst/>
          </a:prstGeom>
        </p:spPr>
      </p:pic>
      <p:sp>
        <p:nvSpPr>
          <p:cNvPr id="10" name="card_1"/>
          <p:cNvSpPr/>
          <p:nvPr/>
        </p:nvSpPr>
        <p:spPr>
          <a:xfrm>
            <a:off x="3378708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1" name="dibujo_1" descr="C:\Users\Chingu\AppData\Local\Temp\claude\C--Users-Chingu-Desktop-ACADEMIASEULWEB\d4111e1b-5523-44ea-97b2-b1a1d9545b9e\scratchpad\decks\cache\img_bfe2eede074dc95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2987" y="1984248"/>
            <a:ext cx="1612910" cy="161291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378708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</a:t>
            </a:r>
            <a:endParaRPr lang="en-US" sz="5400" dirty="0"/>
          </a:p>
        </p:txBody>
      </p:sp>
      <p:sp>
        <p:nvSpPr>
          <p:cNvPr id="13" name="Text 8"/>
          <p:cNvSpPr txBox="1"/>
          <p:nvPr/>
        </p:nvSpPr>
        <p:spPr>
          <a:xfrm>
            <a:off x="3451860" y="4474982"/>
            <a:ext cx="2455164" cy="162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entre</a:t>
            </a:r>
            <a:endParaRPr lang="en-US" sz="1600" dirty="0"/>
          </a:p>
        </p:txBody>
      </p:sp>
      <p:pic>
        <p:nvPicPr>
          <p:cNvPr id="14" name="Media 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577840" y="1947672"/>
            <a:ext cx="310896" cy="310896"/>
          </a:xfrm>
          <a:prstGeom prst="rect">
            <a:avLst/>
          </a:prstGeom>
        </p:spPr>
      </p:pic>
      <p:sp>
        <p:nvSpPr>
          <p:cNvPr id="15" name="card_2"/>
          <p:cNvSpPr/>
          <p:nvPr/>
        </p:nvSpPr>
        <p:spPr>
          <a:xfrm>
            <a:off x="6208776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6" name="dibujo_2" descr="C:\Users\Chingu\AppData\Local\Temp\claude\C--Users-Chingu-Desktop-ACADEMIASEULWEB\d4111e1b-5523-44ea-97b2-b1a1d9545b9e\scratchpad\decks\cache\img_67936ef818940e8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3055" y="1984248"/>
            <a:ext cx="1612910" cy="161291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08776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</a:t>
            </a:r>
            <a:endParaRPr lang="en-US" sz="5400" dirty="0"/>
          </a:p>
        </p:txBody>
      </p:sp>
      <p:sp>
        <p:nvSpPr>
          <p:cNvPr id="18" name="Text 11"/>
          <p:cNvSpPr txBox="1"/>
          <p:nvPr/>
        </p:nvSpPr>
        <p:spPr>
          <a:xfrm>
            <a:off x="6208776" y="4474982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오른쪽에 </a:t>
            </a:r>
            <a:r>
              <a:rPr lang="en-US" sz="1300" dirty="0">
                <a:solidFill>
                  <a:srgbClr val="8A8DA0"/>
                </a:solidFill>
              </a:rPr>
              <a:t>[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오른쪼게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6281928" y="4749302"/>
            <a:ext cx="2455164" cy="1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derecha</a:t>
            </a:r>
            <a:endParaRPr lang="en-US" sz="1600" dirty="0"/>
          </a:p>
        </p:txBody>
      </p:sp>
      <p:pic>
        <p:nvPicPr>
          <p:cNvPr id="20" name="Media 2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407908" y="1947672"/>
            <a:ext cx="310896" cy="310896"/>
          </a:xfrm>
          <a:prstGeom prst="rect">
            <a:avLst/>
          </a:prstGeom>
        </p:spPr>
      </p:pic>
      <p:sp>
        <p:nvSpPr>
          <p:cNvPr id="21" name="card_3"/>
          <p:cNvSpPr/>
          <p:nvPr/>
        </p:nvSpPr>
        <p:spPr>
          <a:xfrm>
            <a:off x="9038844" y="1874520"/>
            <a:ext cx="2601468" cy="4297680"/>
          </a:xfrm>
          <a:prstGeom prst="roundRect">
            <a:avLst>
              <a:gd name="adj" fmla="val 5272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2" name="dibujo_3" descr="C:\Users\Chingu\AppData\Local\Temp\claude\C--Users-Chingu-Desktop-ACADEMIASEULWEB\d4111e1b-5523-44ea-97b2-b1a1d9545b9e\scratchpad\decks\cache\img_e9da346243b4197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33123" y="1984248"/>
            <a:ext cx="1612910" cy="161291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038844" y="3615446"/>
            <a:ext cx="26014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</a:t>
            </a:r>
            <a:endParaRPr lang="en-US" sz="5400" dirty="0"/>
          </a:p>
        </p:txBody>
      </p:sp>
      <p:sp>
        <p:nvSpPr>
          <p:cNvPr id="24" name="Text 15"/>
          <p:cNvSpPr txBox="1"/>
          <p:nvPr/>
        </p:nvSpPr>
        <p:spPr>
          <a:xfrm>
            <a:off x="9038844" y="4474982"/>
            <a:ext cx="26014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왼쪽에 </a:t>
            </a:r>
            <a:r>
              <a:rPr lang="en-US" sz="1300" dirty="0">
                <a:solidFill>
                  <a:srgbClr val="8A8DA0"/>
                </a:solidFill>
              </a:rPr>
              <a:t>[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왼쪼게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9111996" y="4749302"/>
            <a:ext cx="2455164" cy="1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izquierda</a:t>
            </a:r>
            <a:endParaRPr lang="en-US" sz="1600" dirty="0"/>
          </a:p>
        </p:txBody>
      </p:sp>
      <p:pic>
        <p:nvPicPr>
          <p:cNvPr id="26" name="Media 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237976" y="1947672"/>
            <a:ext cx="310896" cy="310896"/>
          </a:xfrm>
          <a:prstGeom prst="rect">
            <a:avLst/>
          </a:prstGeom>
        </p:spPr>
      </p:pic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  </a:t>
            </a:r>
            <a:r>
              <a:rPr lang="en-US" sz="3000" b="1" dirty="0">
                <a:solidFill>
                  <a:srgbClr val="003478"/>
                </a:solidFill>
              </a:rPr>
              <a:t>Cómo se arman</a:t>
            </a:r>
            <a:r>
              <a:rPr lang="en-US" sz="1500" b="1" i="1" dirty="0">
                <a:solidFill>
                  <a:srgbClr val="8A8DA0"/>
                </a:solidFill>
              </a:rPr>
              <a:t>   How to build them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Siempre: primero la referencia, después la posición, y 에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Entre dos cosas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___하고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사이에</a:t>
            </a:r>
            <a:endParaRPr lang="en-US" sz="28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의자하고 책상 사이에 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r>
              <a:rPr lang="en-US" sz="1800" dirty="0">
                <a:solidFill>
                  <a:srgbClr val="14142B"/>
                </a:solidFill>
              </a:rPr>
              <a:t>= y (solo en esta fórmula)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¿Qué lado?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오른쪽에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___ 왼쪽에</a:t>
            </a:r>
            <a:endParaRPr lang="en-US" sz="28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커피가 컴퓨터 오른쪽에 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 컴퓨터 왼쪽에 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Dentro / fuera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안에 </a:t>
            </a:r>
            <a:r>
              <a:rPr lang="en-US" sz="2800" b="1" dirty="0">
                <a:solidFill>
                  <a:srgbClr val="4236F6"/>
                </a:solidFill>
              </a:rPr>
              <a:t>↔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밖에</a:t>
            </a:r>
            <a:endParaRPr lang="en-US" sz="28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집 안에 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집 밖에 있어요</a:t>
            </a:r>
            <a:r>
              <a:rPr lang="en-US" sz="1800" dirty="0">
                <a:solidFill>
                  <a:srgbClr val="14142B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 </a:t>
            </a:r>
            <a:r>
              <a:rPr lang="en-US" sz="3000" b="1" dirty="0">
                <a:solidFill>
                  <a:srgbClr val="003478"/>
                </a:solidFill>
              </a:rPr>
              <a:t>Las 10 posiciones</a:t>
            </a:r>
            <a:r>
              <a:rPr lang="en-US" sz="1500" b="1" i="1" dirty="0">
                <a:solidFill>
                  <a:srgbClr val="8A8DA0"/>
                </a:solidFill>
              </a:rPr>
              <a:t>   The 10 positions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cosa + 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· el lugar +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endParaRPr lang="en-US" sz="1800" dirty="0"/>
          </a:p>
        </p:txBody>
      </p:sp>
      <p:graphicFrame>
        <p:nvGraphicFramePr>
          <p:cNvPr id="14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127278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Posición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arriba, encima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책이 책상 위에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abajo, debajo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가방이 책상 아래에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delante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의자가 책상 앞에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detrás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고양이가 의자 뒤에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옆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al lado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커피가 컴퓨터 옆에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dentro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휴대폰이 가방 안에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밖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fuera, afuera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고양이가 집 밖에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entre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고양이가 의자하고 책상 사이에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오른쪽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a la derecha (como lo ves)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커피가 컴퓨터 오른쪽에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왼쪽 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· a la izquierda (como lo ves)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책이 컴퓨터 왼쪽에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3000" b="1" dirty="0">
                <a:solidFill>
                  <a:srgbClr val="4236F6"/>
                </a:solidFill>
              </a:rPr>
              <a:t>/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¿이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3000" b="1" dirty="0">
                <a:solidFill>
                  <a:srgbClr val="003478"/>
                </a:solidFill>
              </a:rPr>
              <a:t>?</a:t>
            </a:r>
            <a:r>
              <a:rPr lang="ko-KR" altLang="en-US" sz="1500" b="1" i="1" dirty="0">
                <a:solidFill>
                  <a:srgbClr val="8A8DA0"/>
                </a:solidFill>
              </a:rPr>
              <a:t>   Subject particle: 이 or 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Como en español: 'Fernando e Isabel' · misma regla que 이에요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예요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Termina en 받침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은행이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화장실이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Termina en vocal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커피가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카페가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컴퓨터가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 </a:t>
            </a:r>
            <a:r>
              <a:rPr lang="en-US" sz="3000" b="1" dirty="0">
                <a:solidFill>
                  <a:srgbClr val="003478"/>
                </a:solidFill>
              </a:rPr>
              <a:t>Está / no está</a:t>
            </a:r>
            <a:r>
              <a:rPr lang="en-US" sz="1500" b="1" i="1" dirty="0">
                <a:solidFill>
                  <a:srgbClr val="8A8DA0"/>
                </a:solidFill>
              </a:rPr>
              <a:t>   It's there / it's not there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</a:t>
            </a:r>
            <a:r>
              <a:rPr lang="en-US" sz="1800" i="1" dirty="0">
                <a:solidFill>
                  <a:srgbClr val="4236F6"/>
                </a:solidFill>
              </a:rPr>
              <a:t>es otra palabra: no se dice 'no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1800" i="1" dirty="0">
                <a:solidFill>
                  <a:srgbClr val="4236F6"/>
                </a:solidFill>
              </a:rPr>
              <a:t>'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Está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endParaRPr lang="en-US" sz="54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[이써요</a:t>
            </a:r>
            <a:r>
              <a:rPr lang="en-US" sz="2000" dirty="0">
                <a:solidFill>
                  <a:srgbClr val="14142B"/>
                </a:solidFill>
              </a:rPr>
              <a:t>] 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ㅆ </a:t>
            </a:r>
            <a:r>
              <a:rPr lang="en-US" sz="2000" dirty="0">
                <a:solidFill>
                  <a:srgbClr val="14142B"/>
                </a:solidFill>
              </a:rPr>
              <a:t>apretada, sin aire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휴대폰이 가방 안에 있어요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No está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endParaRPr lang="en-US" sz="54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[업써요</a:t>
            </a:r>
            <a:r>
              <a:rPr lang="en-US" sz="2000" dirty="0">
                <a:solidFill>
                  <a:srgbClr val="14142B"/>
                </a:solidFill>
              </a:rPr>
              <a:t>] · cierra los labios en la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ㅂ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휴대폰이 가방 안에 없어요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어디예요</a:t>
            </a:r>
            <a:r>
              <a:rPr lang="en-US" sz="3000" b="1" dirty="0">
                <a:solidFill>
                  <a:srgbClr val="4236F6"/>
                </a:solidFill>
              </a:rPr>
              <a:t>?  </a:t>
            </a:r>
            <a:r>
              <a:rPr lang="en-US" sz="3000" b="1" dirty="0">
                <a:solidFill>
                  <a:srgbClr val="003478"/>
                </a:solidFill>
              </a:rPr>
              <a:t>¿Dónde está?</a:t>
            </a:r>
            <a:r>
              <a:rPr lang="en-US" sz="1500" b="1" i="1" dirty="0">
                <a:solidFill>
                  <a:srgbClr val="8A8DA0"/>
                </a:solidFill>
              </a:rPr>
              <a:t>   Where is it?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화장실이 어디예요</a:t>
            </a:r>
            <a:r>
              <a:rPr lang="en-US" sz="2200" dirty="0">
                <a:solidFill>
                  <a:srgbClr val="14142B"/>
                </a:solidFill>
              </a:rPr>
              <a:t>? →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저기 있어요</a:t>
            </a:r>
            <a:r>
              <a:rPr lang="en-US" sz="2200" dirty="0">
                <a:solidFill>
                  <a:srgbClr val="14142B"/>
                </a:solidFill>
              </a:rPr>
              <a:t>. 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저기예요</a:t>
            </a:r>
            <a:r>
              <a:rPr lang="en-US" sz="2200" dirty="0">
                <a:solidFill>
                  <a:srgbClr val="14142B"/>
                </a:solidFill>
              </a:rPr>
              <a:t>. 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옆에 있어요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 </a:t>
            </a:r>
            <a:r>
              <a:rPr lang="en-US" sz="2200" dirty="0">
                <a:solidFill>
                  <a:srgbClr val="14142B"/>
                </a:solidFill>
              </a:rPr>
              <a:t>se queda donde va la respuesta: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화장실이 저기예요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repitas la cosa: 저기 있어요 </a:t>
            </a:r>
            <a:r>
              <a:rPr lang="en-US" sz="2200" dirty="0">
                <a:solidFill>
                  <a:srgbClr val="14142B"/>
                </a:solidFill>
              </a:rPr>
              <a:t>=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저기예요 </a:t>
            </a:r>
            <a:r>
              <a:rPr lang="en-US" sz="2200" dirty="0">
                <a:solidFill>
                  <a:srgbClr val="14142B"/>
                </a:solidFill>
              </a:rPr>
              <a:t>(las dos valen)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 escribe 어디예요</a:t>
            </a:r>
            <a:r>
              <a:rPr lang="en-US" sz="2200" dirty="0">
                <a:solidFill>
                  <a:srgbClr val="14142B"/>
                </a:solidFill>
              </a:rPr>
              <a:t>, se dice [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어디에요</a:t>
            </a:r>
            <a:r>
              <a:rPr lang="en-US" sz="2200" dirty="0">
                <a:solidFill>
                  <a:srgbClr val="14142B"/>
                </a:solidFill>
              </a:rPr>
              <a:t>]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저기 </a:t>
            </a:r>
            <a:r>
              <a:rPr lang="en-US" sz="2200" dirty="0">
                <a:solidFill>
                  <a:srgbClr val="14142B"/>
                </a:solidFill>
              </a:rPr>
              <a:t>= allá 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저기요 </a:t>
            </a:r>
            <a:r>
              <a:rPr lang="en-US" sz="2200" dirty="0">
                <a:solidFill>
                  <a:srgbClr val="14142B"/>
                </a:solidFill>
              </a:rPr>
              <a:t>= ¡disculpe!: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저기요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화장실이 어디예요</a:t>
            </a:r>
            <a:r>
              <a:rPr lang="en-US" sz="2200" dirty="0">
                <a:solidFill>
                  <a:srgbClr val="14142B"/>
                </a:solidFill>
              </a:rPr>
              <a:t>?</a:t>
            </a:r>
            <a:endParaRPr lang="en-US" sz="22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어디예요</a:t>
            </a:r>
            <a:r>
              <a:rPr lang="en-US" sz="5000" b="1" dirty="0">
                <a:solidFill>
                  <a:srgbClr val="4236F6"/>
                </a:solidFill>
              </a:rPr>
              <a:t>?</a:t>
            </a: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연필이 어디에 있어요</a:t>
            </a:r>
            <a:r>
              <a:rPr lang="en-US" sz="2200" b="1" dirty="0">
                <a:solidFill>
                  <a:srgbClr val="4236F6"/>
                </a:solidFill>
              </a:rPr>
              <a:t>?  </a:t>
            </a:r>
            <a:r>
              <a:rPr lang="en-US" sz="2200" b="1" dirty="0">
                <a:solidFill>
                  <a:srgbClr val="003478"/>
                </a:solidFill>
              </a:rPr>
              <a:t>¿Dónde está el lápiz?</a:t>
            </a:r>
            <a:r>
              <a:rPr lang="en-US" sz="1500" b="1" i="1" dirty="0">
                <a:solidFill>
                  <a:srgbClr val="8A8DA0"/>
                </a:solidFill>
              </a:rPr>
              <a:t>   Where is the pencil?</a:t>
            </a:r>
            <a:endParaRPr lang="en-US" sz="3000" dirty="0"/>
          </a:p>
        </p:txBody>
      </p:sp>
      <p:sp>
        <p:nvSpPr>
          <p:cNvPr id="3" name="panel"/>
          <p:cNvSpPr/>
          <p:nvPr/>
        </p:nvSpPr>
        <p:spPr>
          <a:xfrm>
            <a:off x="1280160" y="1645920"/>
            <a:ext cx="9628632" cy="3108960"/>
          </a:xfrm>
          <a:prstGeom prst="roundRect">
            <a:avLst>
              <a:gd name="adj" fmla="val 8824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4" name="frase_ko"/>
          <p:cNvSpPr txBox="1"/>
          <p:nvPr/>
        </p:nvSpPr>
        <p:spPr>
          <a:xfrm>
            <a:off x="1463040" y="1828800"/>
            <a:ext cx="9262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6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연필이 어디에 있어요</a:t>
            </a:r>
            <a:r>
              <a:rPr lang="en-US" sz="6400" b="1" dirty="0">
                <a:solidFill>
                  <a:srgbClr val="4236F6"/>
                </a:solidFill>
              </a:rPr>
              <a:t>?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3657600"/>
            <a:ext cx="8439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2400" dirty="0">
                <a:solidFill>
                  <a:srgbClr val="5C5F6B"/>
                </a:solidFill>
              </a:rPr>
              <a:t>¿Dónde está el lápiz?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어디에 있어요</a:t>
            </a:r>
            <a:r>
              <a:rPr lang="en-US" sz="2200" b="1" dirty="0">
                <a:solidFill>
                  <a:srgbClr val="4236F6"/>
                </a:solidFill>
              </a:rPr>
              <a:t>?  </a:t>
            </a:r>
            <a:r>
              <a:rPr lang="en-US" sz="2200" b="1" dirty="0">
                <a:solidFill>
                  <a:srgbClr val="003478"/>
                </a:solidFill>
              </a:rPr>
              <a:t>¿Dónde está el gato?</a:t>
            </a:r>
            <a:r>
              <a:rPr lang="en-US" sz="1500" b="1" i="1" dirty="0">
                <a:solidFill>
                  <a:srgbClr val="8A8DA0"/>
                </a:solidFill>
              </a:rPr>
              <a:t>   Where is the cat?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Mira el dibujo y responde: ___에 있어요</a:t>
            </a:r>
            <a:r>
              <a:rPr lang="en-US" sz="1800" i="1" dirty="0">
                <a:solidFill>
                  <a:srgbClr val="4236F6"/>
                </a:solidFill>
              </a:rPr>
              <a:t>. (Derecha e izquierda: como lo ves tú)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item_img_0" descr="C:\Users\Chingu\AppData\Local\Temp\claude\C--Users-Chingu-Desktop-ACADEMIASEULWEB\d4111e1b-5523-44ea-97b2-b1a1d9545b9e\scratchpad\decks\cache\img_b65b3d40e2414c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06549"/>
            <a:ext cx="2416302" cy="2416302"/>
          </a:xfrm>
          <a:prstGeom prst="rect">
            <a:avLst/>
          </a:prstGeom>
        </p:spPr>
      </p:pic>
      <p:sp>
        <p:nvSpPr>
          <p:cNvPr id="6" name="num_0"/>
          <p:cNvSpPr/>
          <p:nvPr/>
        </p:nvSpPr>
        <p:spPr>
          <a:xfrm>
            <a:off x="640080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 </a:t>
            </a:r>
            <a:r>
              <a:rPr lang="en-US" sz="2200" dirty="0">
                <a:solidFill>
                  <a:srgbClr val="14142B"/>
                </a:solidFill>
              </a:rPr>
              <a:t>·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</a:t>
            </a:r>
            <a:endParaRPr lang="en-US" sz="2200" dirty="0"/>
          </a:p>
        </p:txBody>
      </p:sp>
      <p:sp>
        <p:nvSpPr>
          <p:cNvPr id="9" name="rev_11_caja"/>
          <p:cNvSpPr/>
          <p:nvPr/>
        </p:nvSpPr>
        <p:spPr>
          <a:xfrm>
            <a:off x="658368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0" name="rev_11_txt"/>
          <p:cNvSpPr txBox="1"/>
          <p:nvPr/>
        </p:nvSpPr>
        <p:spPr>
          <a:xfrm>
            <a:off x="685800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의자하고 책상 사이에 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card_1"/>
          <p:cNvSpPr/>
          <p:nvPr/>
        </p:nvSpPr>
        <p:spPr>
          <a:xfrm>
            <a:off x="3367278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2" name="item_img_1" descr="C:\Users\Chingu\AppData\Local\Temp\claude\C--Users-Chingu-Desktop-ACADEMIASEULWEB\d4111e1b-5523-44ea-97b2-b1a1d9545b9e\scratchpad\decks\cache\img_2bad1e15f5afe9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006" y="2106549"/>
            <a:ext cx="2416302" cy="2416302"/>
          </a:xfrm>
          <a:prstGeom prst="rect">
            <a:avLst/>
          </a:prstGeom>
        </p:spPr>
      </p:pic>
      <p:sp>
        <p:nvSpPr>
          <p:cNvPr id="13" name="num_1"/>
          <p:cNvSpPr/>
          <p:nvPr/>
        </p:nvSpPr>
        <p:spPr>
          <a:xfrm>
            <a:off x="3458718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5871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58718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</a:t>
            </a:r>
            <a:endParaRPr lang="en-US" sz="2200" dirty="0"/>
          </a:p>
        </p:txBody>
      </p:sp>
      <p:sp>
        <p:nvSpPr>
          <p:cNvPr id="16" name="rev_12_caja"/>
          <p:cNvSpPr/>
          <p:nvPr/>
        </p:nvSpPr>
        <p:spPr>
          <a:xfrm>
            <a:off x="3477006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7" name="rev_12_txt"/>
          <p:cNvSpPr txBox="1"/>
          <p:nvPr/>
        </p:nvSpPr>
        <p:spPr>
          <a:xfrm>
            <a:off x="3504438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오른쪽에 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8" name="card_2"/>
          <p:cNvSpPr/>
          <p:nvPr/>
        </p:nvSpPr>
        <p:spPr>
          <a:xfrm>
            <a:off x="6185916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9" name="item_img_2" descr="C:\Users\Chingu\AppData\Local\Temp\claude\C--Users-Chingu-Desktop-ACADEMIASEULWEB\d4111e1b-5523-44ea-97b2-b1a1d9545b9e\scratchpad\decks\cache\img_b8da36386605f5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644" y="2106549"/>
            <a:ext cx="2416302" cy="2416302"/>
          </a:xfrm>
          <a:prstGeom prst="rect">
            <a:avLst/>
          </a:prstGeom>
        </p:spPr>
      </p:pic>
      <p:sp>
        <p:nvSpPr>
          <p:cNvPr id="20" name="num_2"/>
          <p:cNvSpPr/>
          <p:nvPr/>
        </p:nvSpPr>
        <p:spPr>
          <a:xfrm>
            <a:off x="6277356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277356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277356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</a:t>
            </a:r>
            <a:endParaRPr lang="en-US" sz="2200" dirty="0"/>
          </a:p>
        </p:txBody>
      </p:sp>
      <p:sp>
        <p:nvSpPr>
          <p:cNvPr id="23" name="rev_13_caja"/>
          <p:cNvSpPr/>
          <p:nvPr/>
        </p:nvSpPr>
        <p:spPr>
          <a:xfrm>
            <a:off x="6295644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13_txt"/>
          <p:cNvSpPr txBox="1"/>
          <p:nvPr/>
        </p:nvSpPr>
        <p:spPr>
          <a:xfrm>
            <a:off x="6323076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밖에 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card_3"/>
          <p:cNvSpPr/>
          <p:nvPr/>
        </p:nvSpPr>
        <p:spPr>
          <a:xfrm>
            <a:off x="9004554" y="1965960"/>
            <a:ext cx="2635758" cy="4206240"/>
          </a:xfrm>
          <a:prstGeom prst="roundRect">
            <a:avLst>
              <a:gd name="adj" fmla="val 5204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26" name="item_img_3" descr="C:\Users\Chingu\AppData\Local\Temp\claude\C--Users-Chingu-Desktop-ACADEMIASEULWEB\d4111e1b-5523-44ea-97b2-b1a1d9545b9e\scratchpad\decks\cache\img_ceb6db93f53847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4282" y="2106549"/>
            <a:ext cx="2416302" cy="2416302"/>
          </a:xfrm>
          <a:prstGeom prst="rect">
            <a:avLst/>
          </a:prstGeom>
        </p:spPr>
      </p:pic>
      <p:sp>
        <p:nvSpPr>
          <p:cNvPr id="27" name="num_3"/>
          <p:cNvSpPr/>
          <p:nvPr/>
        </p:nvSpPr>
        <p:spPr>
          <a:xfrm>
            <a:off x="9095994" y="2057400"/>
            <a:ext cx="420624" cy="420624"/>
          </a:xfrm>
          <a:prstGeom prst="ellipse">
            <a:avLst/>
          </a:prstGeom>
          <a:solidFill>
            <a:srgbClr val="003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095994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9095994" y="4617720"/>
            <a:ext cx="24528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</a:t>
            </a:r>
            <a:endParaRPr lang="en-US" sz="2200" dirty="0"/>
          </a:p>
        </p:txBody>
      </p:sp>
      <p:sp>
        <p:nvSpPr>
          <p:cNvPr id="30" name="rev_14_caja"/>
          <p:cNvSpPr/>
          <p:nvPr/>
        </p:nvSpPr>
        <p:spPr>
          <a:xfrm>
            <a:off x="9114282" y="5440680"/>
            <a:ext cx="2416302" cy="640080"/>
          </a:xfrm>
          <a:prstGeom prst="roundRect">
            <a:avLst>
              <a:gd name="adj" fmla="val 1714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1" name="rev_14_txt"/>
          <p:cNvSpPr txBox="1"/>
          <p:nvPr/>
        </p:nvSpPr>
        <p:spPr>
          <a:xfrm>
            <a:off x="9141714" y="5440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왼쪽에 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4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¿이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3000" b="1" dirty="0">
                <a:solidFill>
                  <a:srgbClr val="003478"/>
                </a:solidFill>
              </a:rPr>
              <a:t>? Relámpago (1)</a:t>
            </a:r>
            <a:r>
              <a:rPr lang="en-US" sz="1500" b="1" i="1" dirty="0">
                <a:solidFill>
                  <a:srgbClr val="8A8DA0"/>
                </a:solidFill>
              </a:rPr>
              <a:t>   Lightning round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Escribe solo 이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en el chat · envía cuando Kiran diga '3, 2, 1, enter'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7170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7" name="rev_15_caja"/>
          <p:cNvSpPr/>
          <p:nvPr/>
        </p:nvSpPr>
        <p:spPr>
          <a:xfrm>
            <a:off x="7498080" y="200253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5_txt"/>
          <p:cNvSpPr txBox="1"/>
          <p:nvPr/>
        </p:nvSpPr>
        <p:spPr>
          <a:xfrm>
            <a:off x="7589520" y="200253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2200" b="1" dirty="0">
                <a:solidFill>
                  <a:srgbClr val="FFFFFF"/>
                </a:solidFill>
              </a:rPr>
              <a:t>·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화장실이 저기 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16839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6265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12" name="rev_16_caja"/>
          <p:cNvSpPr/>
          <p:nvPr/>
        </p:nvSpPr>
        <p:spPr>
          <a:xfrm>
            <a:off x="7498080" y="299923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6_txt"/>
          <p:cNvSpPr txBox="1"/>
          <p:nvPr/>
        </p:nvSpPr>
        <p:spPr>
          <a:xfrm>
            <a:off x="7589520" y="299923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000" b="1" dirty="0">
                <a:solidFill>
                  <a:srgbClr val="FFFFFF"/>
                </a:solidFill>
              </a:rPr>
              <a:t>· 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카페가 학교 옆에 있어요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14" name="num_2"/>
          <p:cNvSpPr/>
          <p:nvPr/>
        </p:nvSpPr>
        <p:spPr>
          <a:xfrm>
            <a:off x="548640" y="41650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59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17" name="rev_17_caja"/>
          <p:cNvSpPr/>
          <p:nvPr/>
        </p:nvSpPr>
        <p:spPr>
          <a:xfrm>
            <a:off x="7498080" y="399592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7_txt"/>
          <p:cNvSpPr txBox="1"/>
          <p:nvPr/>
        </p:nvSpPr>
        <p:spPr>
          <a:xfrm>
            <a:off x="7589520" y="399592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2000" b="1" dirty="0">
                <a:solidFill>
                  <a:srgbClr val="FFFFFF"/>
                </a:solidFill>
              </a:rPr>
              <a:t>· 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은행이 카페 옆에 있어요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19" name="num_3"/>
          <p:cNvSpPr/>
          <p:nvPr/>
        </p:nvSpPr>
        <p:spPr>
          <a:xfrm>
            <a:off x="548640" y="516178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1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5604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22" name="rev_18_caja"/>
          <p:cNvSpPr/>
          <p:nvPr/>
        </p:nvSpPr>
        <p:spPr>
          <a:xfrm>
            <a:off x="7498080" y="4992624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18_txt"/>
          <p:cNvSpPr txBox="1"/>
          <p:nvPr/>
        </p:nvSpPr>
        <p:spPr>
          <a:xfrm>
            <a:off x="7589520" y="4992624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000" b="1" dirty="0">
                <a:solidFill>
                  <a:srgbClr val="FFFFFF"/>
                </a:solidFill>
              </a:rPr>
              <a:t>· 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학교가 공원 앞에 있어요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¿이 </a:t>
            </a:r>
            <a:r>
              <a:rPr lang="en-US" sz="3000" b="1" dirty="0">
                <a:solidFill>
                  <a:srgbClr val="003478"/>
                </a:solidFill>
              </a:rPr>
              <a:t>o 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3000" b="1" dirty="0">
                <a:solidFill>
                  <a:srgbClr val="003478"/>
                </a:solidFill>
              </a:rPr>
              <a:t>? Relámpago (2)</a:t>
            </a:r>
            <a:r>
              <a:rPr lang="en-US" sz="1500" b="1" i="1" dirty="0">
                <a:solidFill>
                  <a:srgbClr val="8A8DA0"/>
                </a:solidFill>
              </a:rPr>
              <a:t>   Lightning round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Escribe solo 이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en el chat · envía cuando Kiran diga '3, 2, 1, enter'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7170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71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7" name="rev_19_caja"/>
          <p:cNvSpPr/>
          <p:nvPr/>
        </p:nvSpPr>
        <p:spPr>
          <a:xfrm>
            <a:off x="7498080" y="2002536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9_txt"/>
          <p:cNvSpPr txBox="1"/>
          <p:nvPr/>
        </p:nvSpPr>
        <p:spPr>
          <a:xfrm>
            <a:off x="7589520" y="2002536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2000" b="1" dirty="0">
                <a:solidFill>
                  <a:srgbClr val="FFFFFF"/>
                </a:solidFill>
              </a:rPr>
              <a:t>· </a:t>
            </a: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공원이 학교 뒤에 있어요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9" name="num_1"/>
          <p:cNvSpPr/>
          <p:nvPr/>
        </p:nvSpPr>
        <p:spPr>
          <a:xfrm>
            <a:off x="548640" y="316839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62656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12" name="rev_20_caja"/>
          <p:cNvSpPr/>
          <p:nvPr/>
        </p:nvSpPr>
        <p:spPr>
          <a:xfrm>
            <a:off x="7498080" y="2999232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0_txt"/>
          <p:cNvSpPr txBox="1"/>
          <p:nvPr/>
        </p:nvSpPr>
        <p:spPr>
          <a:xfrm>
            <a:off x="7589520" y="2999232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b="1" dirty="0">
                <a:solidFill>
                  <a:srgbClr val="FFFFFF"/>
                </a:solidFill>
              </a:rPr>
              <a:t>·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컴퓨터가 책상 위에 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4" name="num_2"/>
          <p:cNvSpPr/>
          <p:nvPr/>
        </p:nvSpPr>
        <p:spPr>
          <a:xfrm>
            <a:off x="548640" y="41650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5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59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17" name="rev_21_caja"/>
          <p:cNvSpPr/>
          <p:nvPr/>
        </p:nvSpPr>
        <p:spPr>
          <a:xfrm>
            <a:off x="7498080" y="3995928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1_txt"/>
          <p:cNvSpPr txBox="1"/>
          <p:nvPr/>
        </p:nvSpPr>
        <p:spPr>
          <a:xfrm>
            <a:off x="7589520" y="3995928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1800" b="1" dirty="0">
                <a:solidFill>
                  <a:srgbClr val="FFFFFF"/>
                </a:solidFill>
              </a:rPr>
              <a:t>·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휴대폰이 가방 안에 있어요</a:t>
            </a:r>
            <a:r>
              <a:rPr lang="en-US" sz="1800" b="1" dirty="0">
                <a:solidFill>
                  <a:srgbClr val="FFFFFF"/>
                </a:solidFill>
              </a:rPr>
              <a:t>.</a:t>
            </a:r>
            <a:endParaRPr lang="en-US" sz="1800" dirty="0"/>
          </a:p>
        </p:txBody>
      </p:sp>
      <p:sp>
        <p:nvSpPr>
          <p:cNvPr id="19" name="num_3"/>
          <p:cNvSpPr/>
          <p:nvPr/>
        </p:nvSpPr>
        <p:spPr>
          <a:xfrm>
            <a:off x="548640" y="516178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17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956048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endParaRPr lang="en-US" sz="2400" dirty="0"/>
          </a:p>
        </p:txBody>
      </p:sp>
      <p:sp>
        <p:nvSpPr>
          <p:cNvPr id="22" name="rev_22_caja"/>
          <p:cNvSpPr/>
          <p:nvPr/>
        </p:nvSpPr>
        <p:spPr>
          <a:xfrm>
            <a:off x="7498080" y="4992624"/>
            <a:ext cx="4142232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22_txt"/>
          <p:cNvSpPr txBox="1"/>
          <p:nvPr/>
        </p:nvSpPr>
        <p:spPr>
          <a:xfrm>
            <a:off x="7589520" y="4992624"/>
            <a:ext cx="39593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100" b="1" dirty="0">
                <a:solidFill>
                  <a:srgbClr val="FFFFFF"/>
                </a:solidFill>
              </a:rPr>
              <a:t>· </a:t>
            </a: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우유가 컵 안에 있어요</a:t>
            </a:r>
            <a:r>
              <a:rPr lang="en-US" sz="2100" b="1" dirty="0">
                <a:solidFill>
                  <a:srgbClr val="FFFFFF"/>
                </a:solidFill>
              </a:rPr>
              <a:t>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출구  </a:t>
            </a:r>
            <a:r>
              <a:rPr lang="en-US" sz="2200" b="1" dirty="0">
                <a:solidFill>
                  <a:srgbClr val="003478"/>
                </a:solidFill>
              </a:rPr>
              <a:t>Seúl se orienta por el metro</a:t>
            </a:r>
            <a:r>
              <a:rPr lang="en-US" sz="1500" b="1" i="1" dirty="0">
                <a:solidFill>
                  <a:srgbClr val="8A8DA0"/>
                </a:solidFill>
              </a:rPr>
              <a:t>   Seoul finds its way by subway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출구 </a:t>
            </a:r>
            <a:r>
              <a:rPr lang="en-US" sz="1800" i="1" dirty="0">
                <a:solidFill>
                  <a:srgbClr val="4236F6"/>
                </a:solidFill>
              </a:rPr>
              <a:t>[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삼번 출구</a:t>
            </a:r>
            <a:r>
              <a:rPr lang="en-US" sz="1800" i="1" dirty="0">
                <a:solidFill>
                  <a:srgbClr val="4236F6"/>
                </a:solidFill>
              </a:rPr>
              <a:t>] = salida 3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566928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도로명 주소 </a:t>
            </a:r>
            <a:r>
              <a:rPr lang="en-US" sz="2200" dirty="0">
                <a:solidFill>
                  <a:srgbClr val="14142B"/>
                </a:solidFill>
              </a:rPr>
              <a:t>· desde 2014 · para juntarse: estación de metro + número de salida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지하철역이 어디예요</a:t>
            </a:r>
            <a:r>
              <a:rPr lang="en-US" sz="2200" dirty="0">
                <a:solidFill>
                  <a:srgbClr val="14142B"/>
                </a:solidFill>
              </a:rPr>
              <a:t>? —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저기 있어요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화장실이 어디예요</a:t>
            </a:r>
            <a:r>
              <a:rPr lang="en-US" sz="2200" dirty="0">
                <a:solidFill>
                  <a:srgbClr val="14142B"/>
                </a:solidFill>
              </a:rPr>
              <a:t>? — 3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출구 옆에 있어요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동네에 지하철역이 없어요</a:t>
            </a:r>
            <a:r>
              <a:rPr lang="en-US" sz="2200" dirty="0">
                <a:solidFill>
                  <a:srgbClr val="14142B"/>
                </a:solidFill>
              </a:rPr>
              <a:t>. (En mi barrio no hay metro.)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Solo para reconocer: 3번 출구에서 만나요</a:t>
            </a:r>
            <a:r>
              <a:rPr lang="en-US" sz="2200" dirty="0">
                <a:solidFill>
                  <a:srgbClr val="14142B"/>
                </a:solidFill>
              </a:rPr>
              <a:t>. (Nos vemos en la salida 3.)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Puente: 'a dos cuadras del metro', 'frente a la plaza'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6446520" y="1371600"/>
            <a:ext cx="5193792" cy="4800600"/>
          </a:xfrm>
          <a:prstGeom prst="roundRect">
            <a:avLst>
              <a:gd name="adj" fmla="val 4762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imagen" descr="C:\Users\Chingu\AppData\Local\Temp\claude\C--Users-Chingu-Desktop-ACADEMIASEULWEB\d4111e1b-5523-44ea-97b2-b1a1d9545b9e\scratchpad\decks\cache\img_a69623e1146afd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33" y="1463040"/>
            <a:ext cx="4005165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동네  </a:t>
            </a:r>
            <a:r>
              <a:rPr lang="en-US" sz="3000" b="1" dirty="0">
                <a:solidFill>
                  <a:srgbClr val="003478"/>
                </a:solidFill>
              </a:rPr>
              <a:t>Lee: nuestro barrio</a:t>
            </a:r>
            <a:r>
              <a:rPr lang="en-US" sz="1500" b="1" i="1" dirty="0">
                <a:solidFill>
                  <a:srgbClr val="8A8DA0"/>
                </a:solidFill>
              </a:rPr>
              <a:t>   Read: our neighborhood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Cada alumno lee una línea en voz alta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</a:t>
            </a:r>
            <a:r>
              <a:rPr lang="en-US" sz="2400" dirty="0">
                <a:solidFill>
                  <a:srgbClr val="14142B"/>
                </a:solidFill>
              </a:rPr>
              <a:t>!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발렌티나예요</a:t>
            </a:r>
            <a:r>
              <a:rPr lang="en-US" sz="2400" dirty="0">
                <a:solidFill>
                  <a:srgbClr val="14142B"/>
                </a:solidFill>
              </a:rPr>
              <a:t>.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칠레 사람이에요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집은 산티아고에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공원이 우리 집 뒤에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지하철역이 우리 집 앞에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은행이 지하철역 옆에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동네에 병원이 없어요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8600" dirty="0"/>
          </a:p>
          <a:p>
            <a:pPr marL="0" indent="0" algn="ctr" eaLnBrk="1">
              <a:buNone/>
            </a:pPr>
            <a:r>
              <a:rPr lang="ko-KR" altLang="en-US" sz="8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동네</a:t>
            </a:r>
            <a:endParaRPr lang="en-US" sz="8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6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동네  </a:t>
            </a:r>
            <a:r>
              <a:rPr lang="en-US" sz="2600" b="1" dirty="0">
                <a:solidFill>
                  <a:srgbClr val="003478"/>
                </a:solidFill>
              </a:rPr>
              <a:t>Responde: nuestro barrio</a:t>
            </a:r>
            <a:r>
              <a:rPr lang="en-US" sz="1500" b="1" i="1" dirty="0">
                <a:solidFill>
                  <a:srgbClr val="8A8DA0"/>
                </a:solidFill>
              </a:rPr>
              <a:t>   Answer: our neighborhood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Responde en coreano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841955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8419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476195"/>
            <a:ext cx="5285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공원이 어디에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7" name="rev_23_caja"/>
          <p:cNvSpPr/>
          <p:nvPr/>
        </p:nvSpPr>
        <p:spPr>
          <a:xfrm>
            <a:off x="6702552" y="2512771"/>
            <a:ext cx="4937760" cy="1115568"/>
          </a:xfrm>
          <a:prstGeom prst="roundRect">
            <a:avLst>
              <a:gd name="adj" fmla="val 9836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23_txt"/>
          <p:cNvSpPr txBox="1"/>
          <p:nvPr/>
        </p:nvSpPr>
        <p:spPr>
          <a:xfrm>
            <a:off x="6793992" y="2512771"/>
            <a:ext cx="4754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뒤에 있어요</a:t>
            </a:r>
            <a:r>
              <a:rPr lang="en-US" sz="1600" b="1" dirty="0">
                <a:solidFill>
                  <a:srgbClr val="FFFFFF"/>
                </a:solidFill>
              </a:rPr>
              <a:t>. (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발렌티나 집 뒤에 있어요</a:t>
            </a:r>
            <a:r>
              <a:rPr lang="en-US" sz="1600" b="1" dirty="0">
                <a:solidFill>
                  <a:srgbClr val="FFFFFF"/>
                </a:solidFill>
              </a:rPr>
              <a:t>.)</a:t>
            </a:r>
            <a:endParaRPr lang="en-US" sz="1600" dirty="0"/>
          </a:p>
        </p:txBody>
      </p:sp>
      <p:sp>
        <p:nvSpPr>
          <p:cNvPr id="9" name="num_1"/>
          <p:cNvSpPr/>
          <p:nvPr/>
        </p:nvSpPr>
        <p:spPr>
          <a:xfrm>
            <a:off x="548640" y="415869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1586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792931"/>
            <a:ext cx="5285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은행이 어디에 있어요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12" name="rev_24_caja"/>
          <p:cNvSpPr/>
          <p:nvPr/>
        </p:nvSpPr>
        <p:spPr>
          <a:xfrm>
            <a:off x="6702552" y="3829507"/>
            <a:ext cx="4937760" cy="1115568"/>
          </a:xfrm>
          <a:prstGeom prst="roundRect">
            <a:avLst>
              <a:gd name="adj" fmla="val 9836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4_txt"/>
          <p:cNvSpPr txBox="1"/>
          <p:nvPr/>
        </p:nvSpPr>
        <p:spPr>
          <a:xfrm>
            <a:off x="6793992" y="3829507"/>
            <a:ext cx="4754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지하철역 옆에 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Salas · 3 pasos</a:t>
            </a:r>
            <a:r>
              <a:rPr lang="en-US" sz="1500" b="1" i="1" dirty="0">
                <a:solidFill>
                  <a:srgbClr val="8A8DA0"/>
                </a:solidFill>
              </a:rPr>
              <a:t>   Breakout rooms · 3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19 minutos · salas de 2 (un trío) · abre tu material en 'En clase'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1 · Tour de escritorio (7 min): describe 3 cosas de tu mesa; tu compañero dibuja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Después muestra tu mesa a la cámara y comparen. Cambien.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2 · Plano A/B (8 min): primero en la lista de Zoom = Plano A · no mires el otro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저기요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카페가 어디예요</a:t>
            </a:r>
            <a:r>
              <a:rPr lang="en-US" sz="2000" dirty="0">
                <a:solidFill>
                  <a:srgbClr val="14142B"/>
                </a:solidFill>
              </a:rPr>
              <a:t>? —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옆에 있어요</a:t>
            </a:r>
            <a:r>
              <a:rPr lang="en-US" sz="2000" dirty="0">
                <a:solidFill>
                  <a:srgbClr val="14142B"/>
                </a:solidFill>
              </a:rPr>
              <a:t>. —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</a:t>
            </a:r>
            <a:r>
              <a:rPr lang="en-US" sz="2000" dirty="0">
                <a:solidFill>
                  <a:srgbClr val="14142B"/>
                </a:solidFill>
              </a:rPr>
              <a:t>,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2000" dirty="0">
                <a:solidFill>
                  <a:srgbClr val="14142B"/>
                </a:solidFill>
              </a:rPr>
              <a:t>!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Minuto libre (3 min), sin cuaderno: 집이 어디예요</a:t>
            </a:r>
            <a:r>
              <a:rPr lang="en-US" sz="2000" dirty="0">
                <a:solidFill>
                  <a:srgbClr val="14142B"/>
                </a:solidFill>
              </a:rPr>
              <a:t>? 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누구예요</a:t>
            </a:r>
            <a:r>
              <a:rPr lang="en-US" sz="2000" dirty="0">
                <a:solidFill>
                  <a:srgbClr val="14142B"/>
                </a:solidFill>
              </a:rPr>
              <a:t>? (foto del celular)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Modelo: 휴대폰이 책 위에 있어요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컵이 컴퓨터 옆에 있어요</a:t>
            </a:r>
            <a:r>
              <a:rPr lang="en-US" sz="2000" dirty="0">
                <a:solidFill>
                  <a:srgbClr val="14142B"/>
                </a:solidFill>
              </a:rPr>
              <a:t>.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연필이 컵 안에 있어요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Modelo del minuto libre</a:t>
            </a:r>
            <a:r>
              <a:rPr lang="en-US" sz="1500" b="1" i="1" dirty="0">
                <a:solidFill>
                  <a:srgbClr val="8A8DA0"/>
                </a:solidFill>
              </a:rPr>
              <a:t>   Free-minute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Solo si el grupo se bloquea</a:t>
            </a:r>
            <a:endParaRPr lang="en-US" sz="1800" dirty="0"/>
          </a:p>
        </p:txBody>
      </p:sp>
      <p:graphicFrame>
        <p:nvGraphicFramePr>
          <p:cNvPr id="26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18999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집이 어디예요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¿Dónde vives?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리마예요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En Lima.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지하철역이 어디예요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¿Dónde está la estación de metro?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집 옆에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/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동네에 지하철역이 없어요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Al lado de mi casa. / En mi barrio no hay metro.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(señala una foto) 누구예요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¿Quién es?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언니예요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Es mi hermana mayor.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Errores del día</a:t>
            </a:r>
            <a:r>
              <a:rPr lang="en-US" sz="1500" b="1" i="1" dirty="0">
                <a:solidFill>
                  <a:srgbClr val="8A8DA0"/>
                </a:solidFill>
              </a:rPr>
              <a:t>   Today's mistakes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 frase buena, ya corregida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위에 </a:t>
            </a:r>
            <a:r>
              <a:rPr lang="en-US" sz="2800" dirty="0">
                <a:solidFill>
                  <a:srgbClr val="14142B"/>
                </a:solidFill>
              </a:rPr>
              <a:t>· la posición lleva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커피가 컴퓨터 옆에 있어요</a:t>
            </a:r>
            <a:r>
              <a:rPr lang="en-US" sz="2800" dirty="0">
                <a:solidFill>
                  <a:srgbClr val="14142B"/>
                </a:solidFill>
              </a:rPr>
              <a:t>. · ¿termina en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r>
              <a:rPr lang="en-US" sz="2800" dirty="0">
                <a:solidFill>
                  <a:srgbClr val="14142B"/>
                </a:solidFill>
              </a:rPr>
              <a:t>? No →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 책상 위에 있어요</a:t>
            </a:r>
            <a:r>
              <a:rPr lang="en-US" sz="2800" dirty="0">
                <a:solidFill>
                  <a:srgbClr val="14142B"/>
                </a:solidFill>
              </a:rPr>
              <a:t>. · </a:t>
            </a: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2800" dirty="0">
                <a:solidFill>
                  <a:srgbClr val="14142B"/>
                </a:solidFill>
              </a:rPr>
              <a:t>, siempre al final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3 frases clave</a:t>
            </a:r>
            <a:r>
              <a:rPr lang="en-US" sz="1500" b="1" i="1" dirty="0">
                <a:solidFill>
                  <a:srgbClr val="8A8DA0"/>
                </a:solidFill>
              </a:rPr>
              <a:t>   3 key phrases</a:t>
            </a:r>
            <a:endParaRPr lang="en-US" sz="3000" dirty="0"/>
          </a:p>
        </p:txBody>
      </p:sp>
      <p:graphicFrame>
        <p:nvGraphicFramePr>
          <p:cNvPr id="28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607159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화장실이 어디예요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¿Dónde está el baño?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저기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Está allá.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책이 책상 위에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El libro está encima del escritorio.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Tarea · ≈ 25 min · antes de la clase 6</a:t>
            </a:r>
            <a:r>
              <a:rPr lang="en-US" sz="1500" b="1" i="1" dirty="0">
                <a:solidFill>
                  <a:srgbClr val="8A8DA0"/>
                </a:solidFill>
              </a:rPr>
              <a:t>   Homework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Lector → Practicar → Pictogramas (3 rondas) + Palabras (3 rondas) · 8 min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Di cada palabra en voz alta ANTES de mirar las opciones · captura de Progreso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Hoja de la lección 5 · 10 min: etiqueta 위</a:t>
            </a:r>
            <a:r>
              <a:rPr lang="en-US" sz="1800" dirty="0">
                <a:solidFill>
                  <a:srgbClr val="14142B"/>
                </a:solidFill>
              </a:rPr>
              <a:t>/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sz="1800" dirty="0">
                <a:solidFill>
                  <a:srgbClr val="14142B"/>
                </a:solidFill>
              </a:rPr>
              <a:t>/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</a:t>
            </a:r>
            <a:r>
              <a:rPr lang="en-US" sz="1800" dirty="0">
                <a:solidFill>
                  <a:srgbClr val="14142B"/>
                </a:solidFill>
              </a:rPr>
              <a:t>/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</a:t>
            </a:r>
            <a:r>
              <a:rPr lang="en-US" sz="1800" dirty="0">
                <a:solidFill>
                  <a:srgbClr val="14142B"/>
                </a:solidFill>
              </a:rPr>
              <a:t>/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</a:t>
            </a:r>
            <a:r>
              <a:rPr lang="en-US" sz="1800" dirty="0">
                <a:solidFill>
                  <a:srgbClr val="14142B"/>
                </a:solidFill>
              </a:rPr>
              <a:t>/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</a:t>
            </a:r>
            <a:r>
              <a:rPr lang="en-US" sz="1800" dirty="0">
                <a:solidFill>
                  <a:srgbClr val="14142B"/>
                </a:solidFill>
              </a:rPr>
              <a:t>+ 8 frases con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있어요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Foto de tu escritorio o tu pieza + 5 frases tipeadas en 한글 </a:t>
            </a:r>
            <a:r>
              <a:rPr lang="en-US" sz="1800" dirty="0">
                <a:solidFill>
                  <a:srgbClr val="14142B"/>
                </a:solidFill>
              </a:rPr>
              <a:t>(puedes usar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</a:t>
            </a:r>
            <a:r>
              <a:rPr lang="en-US" sz="1800" dirty="0">
                <a:solidFill>
                  <a:srgbClr val="14142B"/>
                </a:solidFill>
              </a:rPr>
              <a:t>,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</a:t>
            </a:r>
            <a:r>
              <a:rPr lang="en-US" sz="1800" dirty="0">
                <a:solidFill>
                  <a:srgbClr val="14142B"/>
                </a:solidFill>
              </a:rPr>
              <a:t>,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 </a:t>
            </a:r>
            <a:r>
              <a:rPr lang="en-US" sz="1800" dirty="0">
                <a:solidFill>
                  <a:srgbClr val="14142B"/>
                </a:solidFill>
              </a:rPr>
              <a:t>y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</a:t>
            </a:r>
            <a:r>
              <a:rPr lang="en-US" sz="1800" dirty="0">
                <a:solidFill>
                  <a:srgbClr val="14142B"/>
                </a:solidFill>
              </a:rPr>
              <a:t>) · 7 min · al grupo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Entrega: antes del mar 24 / jue 26 nov, 20:00 (Chile), en el grupo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4142B"/>
                </a:solidFill>
              </a:rPr>
              <a:t>Prepara la S6: anota en español 5 cosas que haces todos los días</a:t>
            </a:r>
            <a:endParaRPr lang="en-US" sz="18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안녕히 계세요 </a:t>
            </a:r>
            <a:r>
              <a:rPr lang="en-US" sz="3000" b="1" dirty="0">
                <a:solidFill>
                  <a:srgbClr val="FFFFFF"/>
                </a:solidFill>
              </a:rPr>
              <a:t>·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3000" b="1" dirty="0">
                <a:solidFill>
                  <a:srgbClr val="FFFFFF"/>
                </a:solidFill>
              </a:rPr>
              <a:t>!  ¡Hasta la próxima!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Alumnos: 감사합니다</a:t>
            </a:r>
            <a:r>
              <a:rPr lang="en-US" sz="2200" dirty="0">
                <a:solidFill>
                  <a:srgbClr val="FFFFFF"/>
                </a:solidFill>
              </a:rPr>
              <a:t>! 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안녕히 계세요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Kiran: 안녕히 가세요</a:t>
            </a:r>
            <a:r>
              <a:rPr lang="en-US" sz="2200" dirty="0">
                <a:solidFill>
                  <a:srgbClr val="FFFFFF"/>
                </a:solidFill>
              </a:rPr>
              <a:t>! 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Próxima clase: Semana 6 · 학교에 가요 </a:t>
            </a:r>
            <a:r>
              <a:rPr lang="en-US" sz="2200" dirty="0">
                <a:solidFill>
                  <a:srgbClr val="FFFFFF"/>
                </a:solidFill>
              </a:rPr>
              <a:t>· Mi día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Respaldo: las 3 diferencias</a:t>
            </a:r>
            <a:r>
              <a:rPr lang="en-US" sz="1500" b="1" i="1" dirty="0">
                <a:solidFill>
                  <a:srgbClr val="8A8DA0"/>
                </a:solidFill>
              </a:rPr>
              <a:t>   Backup: spot the 3 differences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1bc2374c382cc4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Solo si sobra tiempo · En parejas: describe tu dibujo sin mostrarlo hasta encontrar las 3 diferencias</a:t>
            </a:r>
            <a:endParaRPr lang="en-US" sz="1800" dirty="0"/>
          </a:p>
        </p:txBody>
      </p:sp>
      <p:sp>
        <p:nvSpPr>
          <p:cNvPr id="5" name="num_0"/>
          <p:cNvSpPr/>
          <p:nvPr/>
        </p:nvSpPr>
        <p:spPr>
          <a:xfrm>
            <a:off x="548640" y="257495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574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369210"/>
            <a:ext cx="2735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휴대폰이 책 위에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8" name="rev_25_caja"/>
          <p:cNvSpPr/>
          <p:nvPr/>
        </p:nvSpPr>
        <p:spPr>
          <a:xfrm>
            <a:off x="4152839" y="2405786"/>
            <a:ext cx="332695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25_txt"/>
          <p:cNvSpPr txBox="1"/>
          <p:nvPr/>
        </p:nvSpPr>
        <p:spPr>
          <a:xfrm>
            <a:off x="4244279" y="2405786"/>
            <a:ext cx="314407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휴대폰이 책 아래에 있어요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357164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571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3365906"/>
            <a:ext cx="2735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고양이가 의자 뒤에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3" name="rev_26_caja"/>
          <p:cNvSpPr/>
          <p:nvPr/>
        </p:nvSpPr>
        <p:spPr>
          <a:xfrm>
            <a:off x="4152839" y="3402482"/>
            <a:ext cx="332695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4" name="rev_26_txt"/>
          <p:cNvSpPr txBox="1"/>
          <p:nvPr/>
        </p:nvSpPr>
        <p:spPr>
          <a:xfrm>
            <a:off x="4244279" y="3402482"/>
            <a:ext cx="314407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고양이가 의자 앞에 있어요</a:t>
            </a: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num_2"/>
          <p:cNvSpPr/>
          <p:nvPr/>
        </p:nvSpPr>
        <p:spPr>
          <a:xfrm>
            <a:off x="548640" y="456834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568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362602"/>
            <a:ext cx="27355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안경이 가방 안에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8" name="rev_27_caja"/>
          <p:cNvSpPr/>
          <p:nvPr/>
        </p:nvSpPr>
        <p:spPr>
          <a:xfrm>
            <a:off x="4152839" y="4399178"/>
            <a:ext cx="3326953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9" name="rev_27_txt"/>
          <p:cNvSpPr txBox="1"/>
          <p:nvPr/>
        </p:nvSpPr>
        <p:spPr>
          <a:xfrm>
            <a:off x="4244279" y="4399178"/>
            <a:ext cx="3144073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안경이 가방 안에 없어요</a:t>
            </a:r>
            <a:r>
              <a:rPr lang="en-US" sz="1900" b="1" dirty="0">
                <a:solidFill>
                  <a:srgbClr val="FFFFFF"/>
                </a:solidFill>
              </a:rPr>
              <a:t>.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옆에 있어요</a:t>
            </a:r>
            <a:r>
              <a:rPr lang="en-US" sz="1900" b="1" dirty="0">
                <a:solidFill>
                  <a:srgbClr val="FFFFFF"/>
                </a:solidFill>
              </a:rPr>
              <a:t>!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</p:bldLst>
  </p:timing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6084</Words>
  <Application>Microsoft Office PowerPoint</Application>
  <PresentationFormat>Widescreen</PresentationFormat>
  <Paragraphs>437</Paragraphs>
  <Slides>30</Slides>
  <Notes>30</Notes>
  <HiddenSlides>0</HiddenSlides>
  <MMClips>19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Malgun Gothic</vt:lpstr>
      <vt:lpstr>Arial</vt:lpstr>
      <vt:lpstr>Academia Seul</vt:lpstr>
      <vt:lpstr>Semana 5 · Lugares</vt:lpstr>
      <vt:lpstr>Quiz 4   Quiz 4</vt:lpstr>
      <vt:lpstr>집이 어디예요?  ¿Dónde vives?   Where do you live?</vt:lpstr>
      <vt:lpstr>Hoy vas a poder decir…   Today you'll be able to say…</vt:lpstr>
      <vt:lpstr>우리 동네  Lugares del barrio (1)   Places in the neighborhood (1)</vt:lpstr>
      <vt:lpstr>우리 동네  Lugares del barrio (2)   Places in the neighborhood (2)</vt:lpstr>
      <vt:lpstr>여기 · 거기 · 저기  Aquí, ahí, allá   Here, there, over there</vt:lpstr>
      <vt:lpstr>선생님 책상  El escritorio de la profe   The teacher's desk</vt:lpstr>
      <vt:lpstr>위 · 아래 · 앞 · 뒤 · 옆 · 안  Las 6 posiciones   The 6 positions</vt:lpstr>
      <vt:lpstr>La frase en 3 vagones   The sentence in 3 train cars</vt:lpstr>
      <vt:lpstr>밖 · 사이 · 오른쪽 · 왼쪽  4 posiciones más   4 more positions</vt:lpstr>
      <vt:lpstr>사이 · 오른쪽 · 밖  Cómo se arman   How to build them</vt:lpstr>
      <vt:lpstr>위치  Las 10 posiciones   The 10 positions</vt:lpstr>
      <vt:lpstr>이 / 가  ¿이 o 가?   Subject particle: 이 or 가?</vt:lpstr>
      <vt:lpstr>있어요 · 없어요  Está / no está   It's there / it's not there</vt:lpstr>
      <vt:lpstr>어디예요?  ¿Dónde está?   Where is it?</vt:lpstr>
      <vt:lpstr>연필이 어디에 있어요?  ¿Dónde está el lápiz?   Where is the pencil?</vt:lpstr>
      <vt:lpstr>고양이가 어디에 있어요?  ¿Dónde está el gato?   Where is the cat?</vt:lpstr>
      <vt:lpstr>¿이 o 가? Relámpago (1)   Lightning round (1)</vt:lpstr>
      <vt:lpstr>¿이 o 가? Relámpago (2)   Lightning round (2)</vt:lpstr>
      <vt:lpstr>3번 출구  Seúl se orienta por el metro   Seoul finds its way by subway</vt:lpstr>
      <vt:lpstr>우리 동네  Lee: nuestro barrio   Read: our neighborhood</vt:lpstr>
      <vt:lpstr>우리 동네  Responde: nuestro barrio   Answer: our neighborhood</vt:lpstr>
      <vt:lpstr>Salas · 3 pasos   Breakout rooms · 3 steps</vt:lpstr>
      <vt:lpstr>Modelo del minuto libre   Free-minute model</vt:lpstr>
      <vt:lpstr>Errores del día   Today's mistakes</vt:lpstr>
      <vt:lpstr>3 frases clave   3 key phrases</vt:lpstr>
      <vt:lpstr>Tarea · ≈ 25 min · antes de la clase 6   Homework</vt:lpstr>
      <vt:lpstr>안녕히 계세요 · 화이팅!  ¡Hasta la próxima!</vt:lpstr>
      <vt:lpstr>Respaldo: las 3 diferencias   Backup: spot the 3 differences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1 (A1.1) · Semana 5 · 집이 어디예요? · Lugares</dc:title>
  <dc:subject>PptxGenJS Presentation</dc:subject>
  <dc:creator>Academia Seúl</dc:creator>
  <cp:lastModifiedBy>Jae Hee Kim</cp:lastModifiedBy>
  <cp:revision>2</cp:revision>
  <dcterms:created xsi:type="dcterms:W3CDTF">2026-10-21T23:56:36Z</dcterms:created>
  <dcterms:modified xsi:type="dcterms:W3CDTF">2026-10-22T01:29:12Z</dcterms:modified>
</cp:coreProperties>
</file>