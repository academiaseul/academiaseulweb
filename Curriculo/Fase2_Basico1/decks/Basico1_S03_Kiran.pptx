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3" id="{41C0E340-D174-B6F4-645B-3F3A3474D09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518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20:00–20:01. Inicia la grabación en la nube (Basico1-Martes_S03_2026-11-03 o Basico1-Jueves_S03_2026-11-05) y comparte el deck. Saluda con una leve inclinación: «안녕하세요!» y espera que el grupo responda con cámara. Recuerda que en EE.UU. cambió la hora el domingo 1 de noviembre (EE.UU. Este: 18:00). En español: «¡Bienvenidos a la semana 3! La semana pasada aprendimos a presentarnos. Hoy empezamos a preguntar por todo lo que nos rodea. Pero primero, el quiz: 3 minutos, 5 respuestas, en un solo mensaje privado para mí.»
Fuente: S03 C.14 L1 · B 20:00 · C.3 Bloque 0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20:01–20:04. Dicta en voz: «Número uno: 밥. 밥.» y «Número dos: 한국. 한국.», con 10 s entre ítems (los números de los ítems van en español; 번 llega en la S4). Los ítems 3–5 se leen en la lámina. Los dos nombres son campos editables: uno del grupo que en 한글 termine en 받침 y otro en vocal, tal como cada alumno lo escribió en la S1–S2, distintos el martes y el jueves (respaldo: 다니엘 · 카르멘 · 마르틴 / 마리아 · 호세 · 루시아). Chat «Para: Kiran» (si el privado no funciona, a «Todos»); quien no tenga teclado coreano escribe en papel y lo muestra a la cámara.
Fuente: S03 C.14 L2 · C.13 Quiz 2 · C.3 Bloque 0 · C.2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20:04–20:05. Diseño: el 받침 de 밥 y 한국 marcado en azul. «Miren las respuestas. El 1: 밥, sin vocal al final, nunca ba-bu. El 5: 안녕히 계세요, porque la mamá de tu amigo se queda.» Si preguntan: a un amigo de tu edad le dirías 안녕; 안녕히 계세요 es para alguien mayor o a quien tratas con respeto. Comenta 1 error frecuente de las entregas de la S2, pide la reacción de mano levantada a quien tuvo 5 de 5 y guarda el chat. Después deja de compartir pantalla para la bolsa misteriosa (guion en las notas de la L5).
Fuente: S03 C.14 L3 · C.13 Quiz 2 · C.3 Bloque 0 paso 4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20:08, al volver al deck después de la bolsa misteriosa: solo 10 segundos y sin leerla entera. «Esto es lo que van a poder decir al final de la clase.» Sin romanización. Después pasa de largo la L5 y sigue con el vocabulario.
Fuente: S03 C.14 L4 · §0 · C.1 · Material del alumno §1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Fondo de la bolsa misteriosa (20:05–20:08, R): deja de compartir y destaca tu video; los alumnos solo escuchan y repiten, sin ver nada escrito. Guion: «이게 뭐예요?» (pausa) «책이에요. 따라 하세요: 책이에요.» → coro; sigue con 연필 → 공책 → 휴대폰 → 시계 → 우산 → 안경 → 열쇠 → 컵 → 물, tocas tu 책상 y tu 의자 («책상이에요. 의자예요.») y levantas la taza («커피예요.»). Desde el cuarto objeto deja 2 segundos antes de responder; final: das vuelta la bolsa vacía: «이게 뭐예요? … 가방이에요!» Al volver al deck (L4), esta lámina se pasa de largo.
Imagen: incluida (dibujo de la casa).
Fuente: S03 C.14 L5 · C.3 1a · C.2 (la bolsa)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20:08–20:12 (con L7–L10). «읽으세요!»: el grupo lee en coro cada etiqueta (ya las oyó en la bolsa, así que va rápido) y tú confirmas con «잘했어요!». Corrige siempre la ㅎ de 휴대폰 (soplido suave, no jota) y el 받침 sin vocal de apoyo (책, no che-ku). Si tú dices 핸드폰 de forma natural, menciónala como «también se oye». 시계 casi siempre se oye [시게]; no corrijas a quien dice [시계].
Fuente: S03 C.14 L6 · A campo 4 · C.6 · C.7 · Material del alumno §2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Sigue el coro con «읽으세요!» y «잘했어요!»; toca tu 책상 y tu 의자 en cámara. 책상 suena [책쌍]: se imita entera. ㅢ de 의자 y ㅚ de 열쇠, de un solo golpe. En 안경 la ㅇ final se dice con la lengua atrás (la n de «tengo»), no como «n».
Fuente: S03 C.14 L7 (partida en 7a/7b por el límite de 8 tarjetas) · C.7
Lámina 7a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la ㅓ de 커피 suena «o», para: «커피, no 코피» (코피 es sangre de nariz: si pides 코피 en un café, pediste una hemorragia nasal). 빵: ㅃ tensa, sin aire (prueba del papel de la S2: con 빵 el papel no se mueve). 물: ㄹ final = l, sin vocal de apoyo (no mulu).
Fuente: S03 C.14 L7 · C.7
Lámina 7b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«En español tenemos este, ese y aquel. En coreano también son tres: 이, 그, 저. Y 거 es 'cosa'. 이거 es esta cosa, cerca de mí; 그거, esa cosa, cerca de ti; 저거, aquella cosa, lejos de los dos.» Demo en vivo: con tu lápiz, «이거 연필이에요.»; pide a un alumno que levante su libro: «[nombre], 그게 뭐예요?» → «책이에요.» → «잘했어요!» y explica: «Para mí es 그거; para [nombre] es 이거.» Ojo: los apuntes de julio decían «저게 = eso»; es «aquello».
Imagen: incluida (dibujo de la casa).
Fuente: S03 C.14 L8 · C.3 1b · C.4 · C.6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«En Zoom es fácil: lo que tienes en tu mano es 이거. Lo que muestra tu compañero a la cámara es 그거. Y 저거 lo vamos a usar con la escena.» Señala el reloj de la pared del fondo: «저게 뭐예요? 시계예요.» Control de 30 s en coro y con el gesto: lees las situaciones 1–3 del ejercicio 1 del material (lápiz en tu mano → 이거 · paraguas de tu amiga → 그거 · reloj en la pared del fondo → 저거); si el coro se divide en 2 y 3, repite con el gesto exagerado. La deixis en Zoom está pendiente de revisión nativa (guía D.2).
Fuente: S03 C.14 L9 · C.3 1b · C.6 · Material del alumno §3 y ejercicio 1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«Cuando preguntamos '¿qué es esto?', 이거 se funde con una marquita de sujeto y queda 이게. Lo mismo con 그게 y 저게. En la respuesta no hace falta repetir 'esto': 책이에요. Y en la calle vas a oír también 이거 뭐예요?: las dos están bien.» «Fíjense dónde va 뭐: en el mismo lugar donde va la respuesta. Cambias 뭐 por la cosa; en coreano el 'qué' se queda quieto.» Si alguien dice 이거가, modela 이게 sin retarlo. Cierra el bloque a las 20:12.
Fuente: S03 C.14 L10 · C.3 1b · C.4 · Base: Repaso_MidTerm_A1.pptx lámina 9, sin romanización, sin 응/어/아니, 안/못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20:12–20:15. Diseño: flechas de entonación en azul. Con el libro en la mano y la voz que sube: «이거 빵이에요?» → el grupo se ríe: «아니요!» → «아니요, 빵이 아니에요. 책이에요.» Con el celular: «이거 우유예요?» → «아니요, 우유가 아니에요. 휴대폰이에요.»; con el lápiz: «이거 연필이에요?» → «네, 연필이에요.» Luego: «네 es sí. Suena como 'ne' y parece 'no', pero es sí. Para preguntar no cambias nada: la misma frase con la voz hacia arriba.» La entonación se modela, no se corrige 1:1.
Fuente: S03 C.14 L11 · C.3 1c · C.4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«Para decir 'no es', la misma regla de bolsillo de la semana pasada. ¿Termina en 받침? → 이 아니에요: 빵이 아니에요. ¿Termina en vocal? → 가 아니에요: 우유가 아니에요. El orden es al revés que en español: primero la cosa y al final el 'no es'.» Pregunta siempre «¿termina en 받침?» en vez de dar la respuesta. Si preguntan qué es ese 이/가: «Es una partícula; en la semana 5 la vemos con otro uso. Por ahora es parte del molde 'no es'.» No digas que aquí marca el sujeto ni abras 은/는 vs 이/가 (S7).
Fuente: S03 C.14 L12 · C.3 1c · C.4 · Base: Sesion_03_Saludos.pptx láminas 24–25 (빵/우유 en vez de 학생/요리사, sin romanización ni ejemplos con 저는)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«Ojo con dos palabras que parecen gemelas. 아니요 es 'no', la respuesta corta. 아니에요 es 'no es'. La respuesta completa lleva las dos.» Coro rápido: 네, 빵이에요. / 아니요, 빵이 아니에요. / 아니요, 우유가 아니에요. Error típico que se corrige con esta lámina: «빵이 아니요». Cierra el bloque a las 20:15.
Fuente: S03 C.14 L13 · C.3 1c · C.6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20:15–20:17. «Desde hoy, cuando una palabra no suena como se escribe, la van a ver en 한글 entre corchetes. No es una regla para memorizar: se escucha y se imita la palabra entera.» Coro, dos veces cada una. Si preguntan por qué, una sola frase: «La consonante de abajo se apoya en la vocal que viene; la ㅇ no se mueve.» Sobre 뭐예요: «Hablando rápido suele sonar [뭐에요]; [뭐예요] también está bien. Pero se escribe siempre 뭐예요; en el chat, 뭐예요.»
Fuente: S03 C.14 L14 · C.3 1d · C.7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20:17–20:18. Muestra la foto sin texto: «이거 뭐예요?» y deja que adivinen en español («¿un pescado?», «¿un waffle?»). «¡Para esto sirve 뭐예요: para lo que no conoces!» Clic: «붕어빵이에요. 따라 하세요: 붕어빵이에요.» → coro.
Imagen: incluida (dibujo de la casa).
Fuente: S03 C.14 L15 · C.3 1e · A campo 7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20:18–20:20, tres datos en 1 minuto. 1) «붕어 es un pez, una carpa, y 빵 es pan: 'pan-pez'. No lleva pescado: va relleno de pasta dulce de porotos rojos o de crema.» 2) «En Seúl aparece en puestos callejeros cuando empieza el frío. Allá ahora es otoño; acá en el Cono Sur, primavera: estaciones al revés (en México, EE.UU. o España también van entrando al frío).» 3) «Mucho pan de panadería coreano es blando y dulce y se come como merienda o antojo; ese papel en la comida lo hace el arroz. También hay pan salado. Si eres de México, piensa en el pan dulce.» Cierra con el coro: 이거 뭐예요? — 붕어빵이에요. Sin marcas comerciales.
Fuente: S03 C.14 L16 · C.3 1e · A campo 7 · Material del alumno §8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20:20–20:23. Ítems 1–5 en coro, con micrófonos abiertos: señalas la imagen y preguntas («빵이에요?»); el grupo responde la frase completa y el clic muestra la respuesta. Si prefieres, muestra a la cámara los dibujos de la lección 3 de tu libro (no se copian en el deck). La corrección siempre termina en ___이에요/예요; 김치, 우유 y 밥 son reciclaje de la S1–S2.
Imagen: incluida (dibujo de la casa).
Fuente: S03 C.14 L17 · C.13 Quiz relámpago · C.3 2a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20:23–20:25. Ítems 6–10 por nombre: dices el nombre del alumno, señalas la imagen y haces la pregunta; responde con la frase completa. Si responde solo «아니요», pide el resto con un gesto de «sigue» y, si hace falta, en español: «frase completa». 구두, 모자 y 오이 son reciclaje de la S1.
Imagen: incluida (dibujo de la casa).
Fuente: S03 C.14 L18 · C.13 Quiz relámpago · C.3 2a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20:25–20:28 (con 19b). «Les muestro una palabra. Escriben solo la palabra + 이 o 가, pero no aprieten Enter hasta que diga '¡ya!'. Después, la frase completa en voz alta.» Una palabra por clic: «3, 2, 1… ¡ya!», revisas la cascada de un vistazo y el grupo dice en coro la frase entera. Donde haya errores: «¿Termina en 받침?» (no des la respuesta). Corrige el espacio: la partícula va pegada (우산이, no «우산 이»). Unos 20 segundos por palabra.
Fuente: S03 C.14 L19 (partida en 19a/19b por el límite de 6 ítems) · C.13 Cascada · C.3 2b
Lámina 19a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Sigue igual con las 4 últimas palabras. Si a las 20:28 no terminaste, cortas donde vayas: la lectura por turnos no se mueve. Si vas atrasada, la cascada es lo segundo que se recorta (el quiz relámpago ya trabajó 이/가).
Fuente: S03 C.14 L19 · C.13 Cascada · C.3 2b · C.12
Lámina 19b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20:28–20:33 (con 20b). Una línea por alumno, por nombre. Corriges solo el foco de la semana: 1 ㅓ de 뭐, [뭐에요] · 2 [채기에요] · 3 [무리에요], ㅜ · 4 [연피리에요], ㅕ · 5 [책쌍이에요] · 6 [커비에요] · 7 ㅇ final [가방이에요] · 8 [우사니에요], ㅜ. Modela y di «다시 한번»; al segundo intento, «잘했어요!» aunque no sea perfecto. Letra grande: se lee desde el celular.
Fuente: S03 C.14 L20 (partida en 20a/20b por el límite de 8 filas) · C.13 Lectura por turnos · C.3 2c
Lámina 20a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Focos: 9 [공채기에요] · 10 ㅓ de 그거 y 커피, voz que sube · 11 voz que baja · 12 tensa ㅃ y ㅇ final · 13 ㅓ de 저게 · 14 [시게] · 15 frase ancla. La entonación se modela, no se corrige 1:1: solo importa que la pregunta suene a pregunta. Si vas atrasada, leen solo 5 alumnos y el resto se corrige en las salas.
Fuente: S03 C.14 L20 · C.13 Lectura por turnos · C.3 2c · C.12
Lámina 20b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20:33–20:34. «Van a salas de 2 o 3. Tienen tres tareas y sus tarjetas están en su material, en 'En clase: hablamos'.» En la tarea B, quien muestra pregunta «이게 뭐예요?» y quien mira pregunta «그게 뭐예요?» o hace preguntas trampa («그거 컵이에요?»). 7 salas automáticas; mueve 2–3 personas para que cada sala tenga un lector seguro (según el dictado del quiz 2). Mensajes a todas las salas a las 20:40 (tarea B), 20:49 (tarea C) y 20:51 («1 minuto: terminen la frase»); a las 20:52, cerrar con cuenta regresiva de 30 s. En cada visita (~2,5 min) corrige un solo error en coreano y anota 이/가 en 아니에요 y 그거 para lo del compañero.
Fuente: S03 C.14 L21 · B 20:33–20:52 · C.3 Bloque 3 · C.2 (mensajes) · Material del alumno §7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Tarea A (20:34–20:40). Turno de A (3 min): elige una cosa de la escena y dice una frase con 이거, 그거 o 저거 desde su lugar («저거 시계예요.»); B es el árbitro. Turno de B (3 min): ahora lo que está cerca de B es 이거. El árbitro también puede preguntar «그게 뭐예요?» · «저게 뭐예요?». En salas de 3, la tercera persona es segunda árbitra y después toma un turno.
Imagen: incluida (dibujo de la casa).
Fuente: S03 C.14 L22 · Material del alumno §7 Tarea A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Tarea C (20:49–20:52). Mensaje a las salas a las 20:49: «Tarea C · Minuto libre (3 min), sin mirar la hoja: saca 2 o 3 cosas que NO preparaste. 그게 뭐예요? + 어느 나라 사람이에요?» En la tarea C no corriges: escuchas. Es el único momento de la semana en que hablan sin guion.
Fuente: S03 C.14 L23 · Tarjeta B.11 del diseño · Material del alumno §7 Tarea C · C.2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20:53–20:55. «Tres cosas que escuché en las salas…» (sin nombres); completas las casillas en voz. Si no escuchaste otras, usa las de respaldo. Después: «¿Qué cosas no sabían nombrar?» Uno o dos alumnos muestran su objeto: «선생님, 이게 뭐예요?» → respondes con una palabra de rescate («지갑이에요.») y aclaras: «es de regalo, no entra en el quiz». Rescate: 지갑 billetera · 볼펜 bolígrafo · 이어폰 audífonos · 충전기 cargador · 노트북 notebook · 마스크 mascarilla · 텀블러 termo · 립밤 bálsamo labial · 리모컨 control remoto · 달력 calendario · 인형 peluche · 칠판 pizarra · 지우개 goma de borrar.
Fuente: S03 C.14 L24 · C.3 Bloque 4 · C.18
Lámina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20:55–20:57. Dices cada frase sola, clara y despacio, una vez (de esa toma se recorta el clip B1_S03_frases_clave.mp3; tú no grabas ni editas nada) y el grupo repite dos veces, con micrófonos abiertos. Letra muy grande.
Fuente: S03 C.14 L25 · §0 · C.3 Bloque 4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20:57–20:58, en 30 segundos: «Tres cosas antes de la próxima clase: Lector, Pictogramas y Palabras, tres rondas de cada uno; la hoja con el quiz y la foto de 5 cosas de tu casa con su etiqueta en 한글; y un audio de 30 segundos preguntando y respondiendo con el objeto en la mano. Y para la clase 4: elijan una foto con 3 o 4 personas.» En el audio, al menos una respuesta con 아니요. La clase 4 abre con el quiz 3 sobre esta semana.
Fuente: S03 C.14 L26 · A campo 13 · C.3 Bloque 4 · Material del alumno §9
Lámina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«감사합니다! 화이팅!» Despedida con la convención de la S2 (ellos se van y tú te quedas): te dicen «안녕히 계세요!» y respondes «안녕히 가세요!». 20:58: detienes la grabación y «Finalizar reunión para todos» (a las 21:00 empieza otra clase en la misma cuenta).
Fuente: S03 C.14 L27 · C.3 Bloque 4
Lámina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1 (A1.1) · Semana 3 · Kiran (기란)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1 (A1.1) · Semana 3 · Kiran (기란)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1 (A1.1) · Semana 3 · Kiran (기란)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media5.mp3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7.png"/><Relationship Id="rId3" Type="http://schemas.microsoft.com/office/2007/relationships/media" Target="../media/media3.mp3"/><Relationship Id="rId21" Type="http://schemas.openxmlformats.org/officeDocument/2006/relationships/image" Target="../media/image10.png"/><Relationship Id="rId7" Type="http://schemas.microsoft.com/office/2007/relationships/media" Target="../media/media5.mp3"/><Relationship Id="rId12" Type="http://schemas.openxmlformats.org/officeDocument/2006/relationships/audio" Target="../media/media7.mp3"/><Relationship Id="rId17" Type="http://schemas.openxmlformats.org/officeDocument/2006/relationships/image" Target="../media/image6.png"/><Relationship Id="rId2" Type="http://schemas.openxmlformats.org/officeDocument/2006/relationships/audio" Target="../media/media2.mp3"/><Relationship Id="rId16" Type="http://schemas.openxmlformats.org/officeDocument/2006/relationships/image" Target="../media/image4.png"/><Relationship Id="rId20" Type="http://schemas.openxmlformats.org/officeDocument/2006/relationships/image" Target="../media/image9.png"/><Relationship Id="rId1" Type="http://schemas.microsoft.com/office/2007/relationships/media" Target="../media/media2.mp3"/><Relationship Id="rId6" Type="http://schemas.openxmlformats.org/officeDocument/2006/relationships/audio" Target="../media/media4.mp3"/><Relationship Id="rId11" Type="http://schemas.microsoft.com/office/2007/relationships/media" Target="../media/media7.mp3"/><Relationship Id="rId5" Type="http://schemas.microsoft.com/office/2007/relationships/media" Target="../media/media4.mp3"/><Relationship Id="rId15" Type="http://schemas.openxmlformats.org/officeDocument/2006/relationships/image" Target="../media/image5.png"/><Relationship Id="rId10" Type="http://schemas.openxmlformats.org/officeDocument/2006/relationships/audio" Target="../media/media6.mp3"/><Relationship Id="rId19" Type="http://schemas.openxmlformats.org/officeDocument/2006/relationships/image" Target="../media/image8.png"/><Relationship Id="rId4" Type="http://schemas.openxmlformats.org/officeDocument/2006/relationships/audio" Target="../media/media3.mp3"/><Relationship Id="rId9" Type="http://schemas.microsoft.com/office/2007/relationships/media" Target="../media/media6.mp3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audio" Target="../media/media11.mp3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13.png"/><Relationship Id="rId3" Type="http://schemas.microsoft.com/office/2007/relationships/media" Target="../media/media9.mp3"/><Relationship Id="rId21" Type="http://schemas.openxmlformats.org/officeDocument/2006/relationships/image" Target="../media/image16.png"/><Relationship Id="rId7" Type="http://schemas.microsoft.com/office/2007/relationships/media" Target="../media/media11.mp3"/><Relationship Id="rId12" Type="http://schemas.openxmlformats.org/officeDocument/2006/relationships/audio" Target="../media/media13.mp3"/><Relationship Id="rId17" Type="http://schemas.openxmlformats.org/officeDocument/2006/relationships/image" Target="../media/image12.png"/><Relationship Id="rId2" Type="http://schemas.openxmlformats.org/officeDocument/2006/relationships/audio" Target="../media/media8.mp3"/><Relationship Id="rId16" Type="http://schemas.openxmlformats.org/officeDocument/2006/relationships/image" Target="../media/image4.png"/><Relationship Id="rId20" Type="http://schemas.openxmlformats.org/officeDocument/2006/relationships/image" Target="../media/image15.png"/><Relationship Id="rId1" Type="http://schemas.microsoft.com/office/2007/relationships/media" Target="../media/media8.mp3"/><Relationship Id="rId6" Type="http://schemas.openxmlformats.org/officeDocument/2006/relationships/audio" Target="../media/media10.mp3"/><Relationship Id="rId11" Type="http://schemas.microsoft.com/office/2007/relationships/media" Target="../media/media13.mp3"/><Relationship Id="rId5" Type="http://schemas.microsoft.com/office/2007/relationships/media" Target="../media/media10.mp3"/><Relationship Id="rId15" Type="http://schemas.openxmlformats.org/officeDocument/2006/relationships/image" Target="../media/image11.png"/><Relationship Id="rId10" Type="http://schemas.openxmlformats.org/officeDocument/2006/relationships/audio" Target="../media/media12.mp3"/><Relationship Id="rId19" Type="http://schemas.openxmlformats.org/officeDocument/2006/relationships/image" Target="../media/image14.png"/><Relationship Id="rId4" Type="http://schemas.openxmlformats.org/officeDocument/2006/relationships/audio" Target="../media/media9.mp3"/><Relationship Id="rId9" Type="http://schemas.microsoft.com/office/2007/relationships/media" Target="../media/media12.mp3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3" Type="http://schemas.microsoft.com/office/2007/relationships/media" Target="../media/media15.mp3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19.png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audio" Target="../media/media16.mp3"/><Relationship Id="rId11" Type="http://schemas.openxmlformats.org/officeDocument/2006/relationships/image" Target="../media/image18.png"/><Relationship Id="rId5" Type="http://schemas.microsoft.com/office/2007/relationships/media" Target="../media/media16.mp3"/><Relationship Id="rId10" Type="http://schemas.openxmlformats.org/officeDocument/2006/relationships/image" Target="../media/image4.png"/><Relationship Id="rId4" Type="http://schemas.openxmlformats.org/officeDocument/2006/relationships/audio" Target="../media/media15.mp3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6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6600" b="1" dirty="0">
                <a:solidFill>
                  <a:srgbClr val="E8B84B"/>
                </a:solidFill>
              </a:rPr>
              <a:t>?</a:t>
            </a:r>
            <a:endParaRPr lang="en-US" sz="66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Semana 3 · ¿Qué es esto?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Básico 1 (A1.1) · Lecciones 2 y 3 del libro · Kiran (기란</a:t>
            </a:r>
            <a:r>
              <a:rPr lang="en-US" sz="2200" dirty="0">
                <a:solidFill>
                  <a:srgbClr val="E8B84B"/>
                </a:solidFill>
              </a:rPr>
              <a:t>) · mar 3 / jue 5 nov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2 · 5 respuestas</a:t>
            </a:r>
            <a:r>
              <a:rPr lang="en-US" sz="1500" b="1" i="1" dirty="0">
                <a:solidFill>
                  <a:srgbClr val="8A8DA0"/>
                </a:solidFill>
              </a:rPr>
              <a:t>   Quiz 2 · 5 answers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Un solo mensaje privado a Kiran: 1… 2… 3… 4… 5…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1 y 2 · Escribe lo que oyes.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저는 </a:t>
            </a:r>
            <a:r>
              <a:rPr lang="en-US" sz="2400" dirty="0">
                <a:solidFill>
                  <a:srgbClr val="14142B"/>
                </a:solidFill>
              </a:rPr>
              <a:t>[nombre 1]___. (¿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 </a:t>
            </a:r>
            <a:r>
              <a:rPr lang="en-US" sz="2400" dirty="0">
                <a:solidFill>
                  <a:srgbClr val="14142B"/>
                </a:solidFill>
              </a:rPr>
              <a:t>o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</a:t>
            </a:r>
            <a:r>
              <a:rPr lang="en-US" sz="2400" dirty="0">
                <a:solidFill>
                  <a:srgbClr val="14142B"/>
                </a:solidFill>
              </a:rPr>
              <a:t>?)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저는 </a:t>
            </a:r>
            <a:r>
              <a:rPr lang="en-US" sz="2400" dirty="0">
                <a:solidFill>
                  <a:srgbClr val="14142B"/>
                </a:solidFill>
              </a:rPr>
              <a:t>[nombre 2]___. (¿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 </a:t>
            </a:r>
            <a:r>
              <a:rPr lang="en-US" sz="2400" dirty="0">
                <a:solidFill>
                  <a:srgbClr val="14142B"/>
                </a:solidFill>
              </a:rPr>
              <a:t>o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</a:t>
            </a:r>
            <a:r>
              <a:rPr lang="en-US" sz="2400" dirty="0">
                <a:solidFill>
                  <a:srgbClr val="14142B"/>
                </a:solidFill>
              </a:rPr>
              <a:t>?)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5 · Sales de la casa de un amigo. Su mamá se queda en la puerta. ¿Qué le dices a ella?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2 · respuestas</a:t>
            </a:r>
            <a:r>
              <a:rPr lang="en-US" sz="1500" b="1" i="1" dirty="0">
                <a:solidFill>
                  <a:srgbClr val="8A8DA0"/>
                </a:solidFill>
              </a:rPr>
              <a:t>   Quiz 2 · answers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Revisa tus 5 respuestas.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Dictado</a:t>
            </a:r>
            <a:endParaRPr lang="en-US" sz="2400" dirty="0"/>
          </a:p>
        </p:txBody>
      </p:sp>
      <p:sp>
        <p:nvSpPr>
          <p:cNvPr id="7" name="rev_0_caja"/>
          <p:cNvSpPr/>
          <p:nvPr/>
        </p:nvSpPr>
        <p:spPr>
          <a:xfrm>
            <a:off x="7498080" y="2002536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0_txt"/>
          <p:cNvSpPr txBox="1"/>
          <p:nvPr/>
        </p:nvSpPr>
        <p:spPr>
          <a:xfrm>
            <a:off x="7589520" y="2002536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Dictado</a:t>
            </a:r>
            <a:endParaRPr lang="en-US" sz="2400" dirty="0"/>
          </a:p>
        </p:txBody>
      </p:sp>
      <p:sp>
        <p:nvSpPr>
          <p:cNvPr id="12" name="rev_1_caja"/>
          <p:cNvSpPr/>
          <p:nvPr/>
        </p:nvSpPr>
        <p:spPr>
          <a:xfrm>
            <a:off x="7498080" y="2869387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_txt"/>
          <p:cNvSpPr txBox="1"/>
          <p:nvPr/>
        </p:nvSpPr>
        <p:spPr>
          <a:xfrm>
            <a:off x="7589520" y="2869387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</a:t>
            </a:r>
            <a:r>
              <a:rPr lang="en-US" sz="2400" dirty="0">
                <a:solidFill>
                  <a:srgbClr val="14142B"/>
                </a:solidFill>
              </a:rPr>
              <a:t>[nombre 1]___.</a:t>
            </a:r>
            <a:endParaRPr lang="en-US" sz="2400" dirty="0"/>
          </a:p>
        </p:txBody>
      </p:sp>
      <p:sp>
        <p:nvSpPr>
          <p:cNvPr id="17" name="rev_2_caja"/>
          <p:cNvSpPr/>
          <p:nvPr/>
        </p:nvSpPr>
        <p:spPr>
          <a:xfrm>
            <a:off x="7498080" y="3736238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_txt"/>
          <p:cNvSpPr txBox="1"/>
          <p:nvPr/>
        </p:nvSpPr>
        <p:spPr>
          <a:xfrm>
            <a:off x="7589520" y="3736238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 </a:t>
            </a:r>
            <a:r>
              <a:rPr lang="en-US" sz="1800" b="1" dirty="0">
                <a:solidFill>
                  <a:srgbClr val="FFFFFF"/>
                </a:solidFill>
              </a:rPr>
              <a:t>(p. ej.,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다니엘이에요</a:t>
            </a:r>
            <a:r>
              <a:rPr lang="en-US" sz="1800" b="1" dirty="0">
                <a:solidFill>
                  <a:srgbClr val="FFFFFF"/>
                </a:solidFill>
              </a:rPr>
              <a:t>)</a:t>
            </a:r>
            <a:endParaRPr lang="en-US" sz="18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</a:t>
            </a:r>
            <a:r>
              <a:rPr lang="en-US" sz="2400" dirty="0">
                <a:solidFill>
                  <a:srgbClr val="14142B"/>
                </a:solidFill>
              </a:rPr>
              <a:t>[nombre 2]___.</a:t>
            </a:r>
            <a:endParaRPr lang="en-US" sz="2400" dirty="0"/>
          </a:p>
        </p:txBody>
      </p:sp>
      <p:sp>
        <p:nvSpPr>
          <p:cNvPr id="22" name="rev_3_caja"/>
          <p:cNvSpPr/>
          <p:nvPr/>
        </p:nvSpPr>
        <p:spPr>
          <a:xfrm>
            <a:off x="7498080" y="4603090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_txt"/>
          <p:cNvSpPr txBox="1"/>
          <p:nvPr/>
        </p:nvSpPr>
        <p:spPr>
          <a:xfrm>
            <a:off x="7589520" y="4603090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 </a:t>
            </a:r>
            <a:r>
              <a:rPr lang="en-US" sz="2100" b="1" dirty="0">
                <a:solidFill>
                  <a:srgbClr val="FFFFFF"/>
                </a:solidFill>
              </a:rPr>
              <a:t>(p. ej., </a:t>
            </a: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마리아예요</a:t>
            </a:r>
            <a:r>
              <a:rPr lang="en-US" sz="2100" b="1" dirty="0">
                <a:solidFill>
                  <a:srgbClr val="FFFFFF"/>
                </a:solidFill>
              </a:rPr>
              <a:t>)</a:t>
            </a:r>
            <a:endParaRPr lang="en-US" sz="21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300" dirty="0">
                <a:solidFill>
                  <a:srgbClr val="14142B"/>
                </a:solidFill>
              </a:rPr>
              <a:t>La mamá de tu amigo se queda en la puerta.</a:t>
            </a:r>
            <a:endParaRPr lang="en-US" sz="2300" dirty="0"/>
          </a:p>
        </p:txBody>
      </p:sp>
      <p:sp>
        <p:nvSpPr>
          <p:cNvPr id="27" name="rev_4_caja"/>
          <p:cNvSpPr/>
          <p:nvPr/>
        </p:nvSpPr>
        <p:spPr>
          <a:xfrm>
            <a:off x="7498080" y="5469941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4_txt"/>
          <p:cNvSpPr txBox="1"/>
          <p:nvPr/>
        </p:nvSpPr>
        <p:spPr>
          <a:xfrm>
            <a:off x="7589520" y="5469941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안녕히 계세요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Hoy vas a poder decir…</a:t>
            </a:r>
            <a:r>
              <a:rPr lang="en-US" sz="1500" b="1" i="1" dirty="0">
                <a:solidFill>
                  <a:srgbClr val="8A8DA0"/>
                </a:solidFill>
              </a:rPr>
              <a:t>   Today you will be able to say…</a:t>
            </a:r>
            <a:endParaRPr lang="en-US" sz="3000" dirty="0"/>
          </a:p>
        </p:txBody>
      </p:sp>
      <p:graphicFrame>
        <p:nvGraphicFramePr>
          <p:cNvPr id="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63680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이게 뭐예요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¿Qué es esto? — Es un libro.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그거 휴대폰이에요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¿Eso es un celular? — Sí, es un celular.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빵이 아니에요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우유예요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No, no es pan. Es leche.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저거 시계예요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시계가 아니에요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가방이에요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¿Aquello es un reloj? — No, no es un reloj. Es un bolso.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이거 뭐예요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붕어빵이에요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¿Qué es esto? — Es un 붕어빵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(un pan con forma de pez).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¿Qué es esto?</a:t>
            </a:r>
            <a:r>
              <a:rPr lang="en-US" sz="1500" b="1" i="1" dirty="0">
                <a:solidFill>
                  <a:srgbClr val="8A8DA0"/>
                </a:solidFill>
              </a:rPr>
              <a:t>   What is this?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26e0c2056a9b68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783080"/>
            <a:ext cx="65653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6400" b="1" dirty="0">
                <a:solidFill>
                  <a:srgbClr val="4236F6"/>
                </a:solidFill>
              </a:rPr>
              <a:t>?</a:t>
            </a:r>
            <a:endParaRPr lang="en-US" sz="6400" dirty="0"/>
          </a:p>
        </p:txBody>
      </p:sp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03720" y="416052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Cosas de todos los días (1)</a:t>
            </a:r>
            <a:r>
              <a:rPr lang="en-US" sz="1500" b="1" i="1" dirty="0">
                <a:solidFill>
                  <a:srgbClr val="8A8DA0"/>
                </a:solidFill>
              </a:rPr>
              <a:t>   Everyday things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★ = palabra núcleo: entra en el quiz 3 y en el examen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ecb18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libro ★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ec97b0ed958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4395216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lápiz ★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eab3b5ecb18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공책</a:t>
            </a:r>
            <a:endParaRPr lang="en-US" sz="2500" dirty="0"/>
          </a:p>
        </p:txBody>
      </p:sp>
      <p:sp>
        <p:nvSpPr>
          <p:cNvPr id="17" name="Text 10"/>
          <p:cNvSpPr txBox="1"/>
          <p:nvPr/>
        </p:nvSpPr>
        <p:spPr>
          <a:xfrm>
            <a:off x="8168640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cuaderno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eab080ebb0a9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32762" y="4247388"/>
            <a:ext cx="976579" cy="97657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48640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</a:t>
            </a:r>
            <a:endParaRPr lang="en-US" sz="2500" dirty="0"/>
          </a:p>
        </p:txBody>
      </p:sp>
      <p:sp>
        <p:nvSpPr>
          <p:cNvPr id="22" name="Text 13"/>
          <p:cNvSpPr txBox="1"/>
          <p:nvPr/>
        </p:nvSpPr>
        <p:spPr>
          <a:xfrm>
            <a:off x="621792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bolso, mochila ★</a:t>
            </a:r>
            <a:endParaRPr lang="en-US" sz="16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4210812"/>
            <a:ext cx="310896" cy="310896"/>
          </a:xfrm>
          <a:prstGeom prst="rect">
            <a:avLst/>
          </a:prstGeom>
        </p:spPr>
      </p:pic>
      <p:sp>
        <p:nvSpPr>
          <p:cNvPr id="24" name="card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5" name="dibujo_4" descr="C:\Users\Chingu\AppData\Local\Temp\claude\C--Users-Chingu-Desktop-ACADEMIASEULWEB\d4111e1b-5523-44ea-97b2-b1a1d9545b9e\scratchpad\decks\cache\ed9cb4eb8c80ed8fb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06186" y="4247388"/>
            <a:ext cx="976579" cy="976579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4322064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</a:t>
            </a:r>
            <a:endParaRPr lang="en-US" sz="2500" dirty="0"/>
          </a:p>
        </p:txBody>
      </p:sp>
      <p:sp>
        <p:nvSpPr>
          <p:cNvPr id="27" name="Text 16"/>
          <p:cNvSpPr txBox="1"/>
          <p:nvPr/>
        </p:nvSpPr>
        <p:spPr>
          <a:xfrm>
            <a:off x="4395216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celular ★</a:t>
            </a:r>
            <a:endParaRPr lang="en-US" sz="1600" dirty="0"/>
          </a:p>
        </p:txBody>
      </p:sp>
      <p:pic>
        <p:nvPicPr>
          <p:cNvPr id="28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4210812"/>
            <a:ext cx="310896" cy="310896"/>
          </a:xfrm>
          <a:prstGeom prst="rect">
            <a:avLst/>
          </a:prstGeom>
        </p:spPr>
      </p:pic>
      <p:sp>
        <p:nvSpPr>
          <p:cNvPr id="29" name="card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0" name="dibujo_5" descr="C:\Users\Chingu\AppData\Local\Temp\claude\C--Users-Chingu-Desktop-ACADEMIASEULWEB\d4111e1b-5523-44ea-97b2-b1a1d9545b9e\scratchpad\decks\cache\ec8b9ceab38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79610" y="4247388"/>
            <a:ext cx="976579" cy="976579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8095488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</a:t>
            </a:r>
            <a:endParaRPr lang="en-US" sz="2500" dirty="0"/>
          </a:p>
        </p:txBody>
      </p:sp>
      <p:sp>
        <p:nvSpPr>
          <p:cNvPr id="32" name="Text 19"/>
          <p:cNvSpPr txBox="1"/>
          <p:nvPr/>
        </p:nvSpPr>
        <p:spPr>
          <a:xfrm>
            <a:off x="8168640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reloj ★</a:t>
            </a:r>
            <a:endParaRPr lang="en-US" sz="1600" dirty="0"/>
          </a:p>
        </p:txBody>
      </p:sp>
      <p:pic>
        <p:nvPicPr>
          <p:cNvPr id="33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Cosas de todos los días (2)</a:t>
            </a:r>
            <a:r>
              <a:rPr lang="en-US" sz="1500" b="1" i="1" dirty="0">
                <a:solidFill>
                  <a:srgbClr val="8A8DA0"/>
                </a:solidFill>
              </a:rPr>
              <a:t>   Everyday things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★ = palabra núcleo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ec9d98ec9e9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silla ★</a:t>
            </a:r>
            <a:endParaRPr lang="en-US" sz="16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ecb185ec838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4322064" y="338602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[책쌍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395216" y="366034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escritorio ★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5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6" name="dibujo_2" descr="C:\Users\Chingu\AppData\Local\Temp\claude\C--Users-Chingu-Desktop-ACADEMIASEULWEB\d4111e1b-5523-44ea-97b2-b1a1d9545b9e\scratchpad\decks\cache\ec9ab0ec82b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우산</a:t>
            </a:r>
            <a:endParaRPr lang="en-US" sz="2500" dirty="0"/>
          </a:p>
        </p:txBody>
      </p:sp>
      <p:sp>
        <p:nvSpPr>
          <p:cNvPr id="18" name="Text 11"/>
          <p:cNvSpPr txBox="1"/>
          <p:nvPr/>
        </p:nvSpPr>
        <p:spPr>
          <a:xfrm>
            <a:off x="8168640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paraguas ★</a:t>
            </a:r>
            <a:endParaRPr lang="en-US" sz="1600" dirty="0"/>
          </a:p>
        </p:txBody>
      </p:sp>
      <p:pic>
        <p:nvPicPr>
          <p:cNvPr id="19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0" name="card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1" name="dibujo_3" descr="C:\Users\Chingu\AppData\Local\Temp\claude\C--Users-Chingu-Desktop-ACADEMIASEULWEB\d4111e1b-5523-44ea-97b2-b1a1d9545b9e\scratchpad\decks\cache\ecbbb5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32762" y="4247388"/>
            <a:ext cx="976579" cy="976579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48640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</a:t>
            </a:r>
            <a:endParaRPr lang="en-US" sz="2500" dirty="0"/>
          </a:p>
        </p:txBody>
      </p:sp>
      <p:sp>
        <p:nvSpPr>
          <p:cNvPr id="23" name="Text 14"/>
          <p:cNvSpPr txBox="1"/>
          <p:nvPr/>
        </p:nvSpPr>
        <p:spPr>
          <a:xfrm>
            <a:off x="621792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taza, vaso</a:t>
            </a:r>
            <a:endParaRPr lang="en-US" sz="1600" dirty="0"/>
          </a:p>
        </p:txBody>
      </p:sp>
      <p:pic>
        <p:nvPicPr>
          <p:cNvPr id="29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4210812"/>
            <a:ext cx="310896" cy="310896"/>
          </a:xfrm>
          <a:prstGeom prst="rect">
            <a:avLst/>
          </a:prstGeom>
        </p:spPr>
      </p:pic>
      <p:sp>
        <p:nvSpPr>
          <p:cNvPr id="25" name="card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dibujo_4" descr="C:\Users\Chingu\AppData\Local\Temp\claude\C--Users-Chingu-Desktop-ACADEMIASEULWEB\d4111e1b-5523-44ea-97b2-b1a1d9545b9e\scratchpad\decks\cache\ec9588eab2b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06186" y="4247388"/>
            <a:ext cx="976579" cy="976579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4322064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</a:t>
            </a:r>
            <a:endParaRPr lang="en-US" sz="2500" dirty="0"/>
          </a:p>
        </p:txBody>
      </p:sp>
      <p:sp>
        <p:nvSpPr>
          <p:cNvPr id="28" name="Text 17"/>
          <p:cNvSpPr txBox="1"/>
          <p:nvPr/>
        </p:nvSpPr>
        <p:spPr>
          <a:xfrm>
            <a:off x="4395216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lentes, anteojos</a:t>
            </a:r>
            <a:endParaRPr lang="en-US" sz="1600" dirty="0"/>
          </a:p>
        </p:txBody>
      </p:sp>
      <p:pic>
        <p:nvPicPr>
          <p:cNvPr id="34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4210812"/>
            <a:ext cx="310896" cy="310896"/>
          </a:xfrm>
          <a:prstGeom prst="rect">
            <a:avLst/>
          </a:prstGeom>
        </p:spPr>
      </p:pic>
      <p:sp>
        <p:nvSpPr>
          <p:cNvPr id="30" name="card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1" name="dibujo_5" descr="C:\Users\Chingu\AppData\Local\Temp\claude\C--Users-Chingu-Desktop-ACADEMIASEULWEB\d4111e1b-5523-44ea-97b2-b1a1d9545b9e\scratchpad\decks\cache\ec97b4ec87a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79610" y="4247388"/>
            <a:ext cx="976579" cy="976579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095488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열쇠</a:t>
            </a:r>
            <a:endParaRPr lang="en-US" sz="2500" dirty="0"/>
          </a:p>
        </p:txBody>
      </p:sp>
      <p:sp>
        <p:nvSpPr>
          <p:cNvPr id="33" name="Text 20"/>
          <p:cNvSpPr txBox="1"/>
          <p:nvPr/>
        </p:nvSpPr>
        <p:spPr>
          <a:xfrm>
            <a:off x="8168640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llave</a:t>
            </a:r>
            <a:endParaRPr lang="en-US" sz="1600" dirty="0"/>
          </a:p>
        </p:txBody>
      </p:sp>
      <p:pic>
        <p:nvPicPr>
          <p:cNvPr id="24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Para tomar y comer</a:t>
            </a:r>
            <a:r>
              <a:rPr lang="en-US" sz="1500" b="1" i="1" dirty="0">
                <a:solidFill>
                  <a:srgbClr val="8A8DA0"/>
                </a:solidFill>
              </a:rPr>
              <a:t>   To drink and eat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★ = palabra núcleo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ebb9b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9609" y="1984248"/>
            <a:ext cx="2062886" cy="20628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065422"/>
            <a:ext cx="3544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924958"/>
            <a:ext cx="3398520" cy="1174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pan ★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ebacb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3033" y="1984248"/>
            <a:ext cx="2062886" cy="206288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4065422"/>
            <a:ext cx="3544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</a:t>
            </a:r>
            <a:endParaRPr lang="en-US" sz="5400" dirty="0"/>
          </a:p>
        </p:txBody>
      </p:sp>
      <p:sp>
        <p:nvSpPr>
          <p:cNvPr id="12" name="Text 7"/>
          <p:cNvSpPr txBox="1"/>
          <p:nvPr/>
        </p:nvSpPr>
        <p:spPr>
          <a:xfrm>
            <a:off x="4395216" y="4924958"/>
            <a:ext cx="3398520" cy="1174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agua ★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095488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ecbba4ed94b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6457" y="1984248"/>
            <a:ext cx="2062886" cy="206288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95488" y="4065422"/>
            <a:ext cx="3544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</a:t>
            </a:r>
            <a:endParaRPr lang="en-US" sz="5400" dirty="0"/>
          </a:p>
        </p:txBody>
      </p:sp>
      <p:sp>
        <p:nvSpPr>
          <p:cNvPr id="17" name="Text 10"/>
          <p:cNvSpPr txBox="1"/>
          <p:nvPr/>
        </p:nvSpPr>
        <p:spPr>
          <a:xfrm>
            <a:off x="8168640" y="4924958"/>
            <a:ext cx="3398520" cy="1174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café (la bebida) ★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이거 </a:t>
            </a:r>
            <a:r>
              <a:rPr lang="en-US" sz="2200" b="1" dirty="0">
                <a:solidFill>
                  <a:srgbClr val="4236F6"/>
                </a:solidFill>
              </a:rPr>
              <a:t>·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그거 </a:t>
            </a:r>
            <a:r>
              <a:rPr lang="en-US" sz="2200" b="1" dirty="0">
                <a:solidFill>
                  <a:srgbClr val="4236F6"/>
                </a:solidFill>
              </a:rPr>
              <a:t>·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저거  </a:t>
            </a:r>
            <a:r>
              <a:rPr lang="en-US" sz="2200" b="1" dirty="0">
                <a:solidFill>
                  <a:srgbClr val="003478"/>
                </a:solidFill>
              </a:rPr>
              <a:t>Esto · eso · aquello</a:t>
            </a:r>
            <a:r>
              <a:rPr lang="en-US" sz="1500" b="1" i="1" dirty="0">
                <a:solidFill>
                  <a:srgbClr val="8A8DA0"/>
                </a:solidFill>
              </a:rPr>
              <a:t>   This · that · that over there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pregunta clave: ¿quién tiene la cosa? · 거 </a:t>
            </a:r>
            <a:r>
              <a:rPr lang="en-US" sz="1800" i="1" dirty="0">
                <a:solidFill>
                  <a:srgbClr val="4236F6"/>
                </a:solidFill>
              </a:rPr>
              <a:t>= cosa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Cerca de mí (quien habla)</a:t>
            </a:r>
            <a:endParaRPr lang="en-US" sz="2000" dirty="0"/>
          </a:p>
        </p:txBody>
      </p:sp>
      <p:pic>
        <p:nvPicPr>
          <p:cNvPr id="6" name="col_img_0" descr="C:\Users\Chingu\AppData\Local\Temp\claude\C--Users-Chingu-Desktop-ACADEMIASEULWEB\d4111e1b-5523-44ea-97b2-b1a1d9545b9e\scratchpad\decks\cache\img_2d5bf76f71eb7d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596" y="2651760"/>
            <a:ext cx="2517953" cy="11445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887724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이거</a:t>
            </a:r>
            <a:endParaRPr lang="en-US" sz="5400" dirty="0"/>
          </a:p>
        </p:txBody>
      </p:sp>
      <p:sp>
        <p:nvSpPr>
          <p:cNvPr id="8" name="lista"/>
          <p:cNvSpPr txBox="1"/>
          <p:nvPr/>
        </p:nvSpPr>
        <p:spPr>
          <a:xfrm>
            <a:off x="731520" y="4893564"/>
            <a:ext cx="3118104" cy="1141476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este · esto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Persona A con un lápiz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Gesto: mano en el pecho</a:t>
            </a:r>
            <a:endParaRPr lang="en-US" sz="1800" dirty="0"/>
          </a:p>
        </p:txBody>
      </p:sp>
      <p:sp>
        <p:nvSpPr>
          <p:cNvPr id="9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Cerca de ti (quien escucha)</a:t>
            </a:r>
            <a:endParaRPr lang="en-US" sz="2000" dirty="0"/>
          </a:p>
        </p:txBody>
      </p:sp>
      <p:pic>
        <p:nvPicPr>
          <p:cNvPr id="11" name="col_img_1" descr="C:\Users\Chingu\AppData\Local\Temp\claude\C--Users-Chingu-Desktop-ACADEMIASEULWEB\d4111e1b-5523-44ea-97b2-b1a1d9545b9e\scratchpad\decks\cache\img_265fec8363d5be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500" y="2651760"/>
            <a:ext cx="2517953" cy="11445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1144" y="3887724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그거</a:t>
            </a:r>
            <a:endParaRPr lang="en-US" sz="5400" dirty="0"/>
          </a:p>
        </p:txBody>
      </p:sp>
      <p:sp>
        <p:nvSpPr>
          <p:cNvPr id="13" name="lista"/>
          <p:cNvSpPr txBox="1"/>
          <p:nvPr/>
        </p:nvSpPr>
        <p:spPr>
          <a:xfrm>
            <a:off x="4535424" y="4893564"/>
            <a:ext cx="3118104" cy="1141476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ese · eso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Persona B con un libro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Gesto: mano hacia el otro</a:t>
            </a:r>
            <a:endParaRPr lang="en-US" sz="1800" dirty="0"/>
          </a:p>
        </p:txBody>
      </p:sp>
      <p:sp>
        <p:nvSpPr>
          <p:cNvPr id="14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Lejos de los dos</a:t>
            </a:r>
            <a:endParaRPr lang="en-US" sz="2000" dirty="0"/>
          </a:p>
        </p:txBody>
      </p:sp>
      <p:pic>
        <p:nvPicPr>
          <p:cNvPr id="16" name="col_img_2" descr="C:\Users\Chingu\AppData\Local\Temp\claude\C--Users-Chingu-Desktop-ACADEMIASEULWEB\d4111e1b-5523-44ea-97b2-b1a1d9545b9e\scratchpad\decks\cache\img_e29ce44e0ad031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6185" y="2651760"/>
            <a:ext cx="1904390" cy="8656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5048" y="3608832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저거</a:t>
            </a:r>
            <a:endParaRPr lang="en-US" sz="5400" dirty="0"/>
          </a:p>
        </p:txBody>
      </p:sp>
      <p:sp>
        <p:nvSpPr>
          <p:cNvPr id="18" name="lista"/>
          <p:cNvSpPr txBox="1"/>
          <p:nvPr/>
        </p:nvSpPr>
        <p:spPr>
          <a:xfrm>
            <a:off x="8339328" y="4614672"/>
            <a:ext cx="3118104" cy="1420368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aquel · aquello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Un reloj lejos de los dos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Gesto: brazo estirado a lo lejos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En Zoom</a:t>
            </a:r>
            <a:r>
              <a:rPr lang="en-US" sz="1500" b="1" i="1" dirty="0">
                <a:solidFill>
                  <a:srgbClr val="8A8DA0"/>
                </a:solidFill>
              </a:rPr>
              <a:t>   On Zoom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 regla de la clase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 que tengo en mi mano → 이거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 que tú muestras a la cámara → 그거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Lejos de los dos (la escena) → 저거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이거 연필이에요</a:t>
            </a:r>
            <a:r>
              <a:rPr lang="en-US" sz="2400" dirty="0">
                <a:solidFill>
                  <a:srgbClr val="14142B"/>
                </a:solidFill>
              </a:rPr>
              <a:t>. · Esto es un lápiz.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그게 뭐예요</a:t>
            </a:r>
            <a:r>
              <a:rPr lang="en-US" sz="2400" dirty="0">
                <a:solidFill>
                  <a:srgbClr val="14142B"/>
                </a:solidFill>
              </a:rPr>
              <a:t>? · ¿Qué es eso?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2200" b="1" dirty="0">
                <a:solidFill>
                  <a:srgbClr val="4236F6"/>
                </a:solidFill>
              </a:rPr>
              <a:t>?  </a:t>
            </a:r>
            <a:r>
              <a:rPr lang="en-US" sz="2200" b="1" dirty="0">
                <a:solidFill>
                  <a:srgbClr val="003478"/>
                </a:solidFill>
              </a:rPr>
              <a:t>La pregunta: ¿qué es esto?</a:t>
            </a:r>
            <a:r>
              <a:rPr lang="en-US" sz="1500" b="1" i="1" dirty="0">
                <a:solidFill>
                  <a:srgbClr val="8A8DA0"/>
                </a:solidFill>
              </a:rPr>
              <a:t>   The question: what is this?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이거 </a:t>
            </a:r>
            <a:r>
              <a:rPr lang="en-US" sz="2400" dirty="0">
                <a:solidFill>
                  <a:srgbClr val="14142B"/>
                </a:solidFill>
              </a:rPr>
              <a:t>+ marca de sujeto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그게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저게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2400" dirty="0">
                <a:solidFill>
                  <a:srgbClr val="14142B"/>
                </a:solidFill>
              </a:rPr>
              <a:t>?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그게 뭐예요</a:t>
            </a:r>
            <a:r>
              <a:rPr lang="en-US" sz="2400" dirty="0">
                <a:solidFill>
                  <a:srgbClr val="14142B"/>
                </a:solidFill>
              </a:rPr>
              <a:t>?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저게 뭐예요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</a:t>
            </a:r>
            <a:r>
              <a:rPr lang="en-US" sz="2400" dirty="0">
                <a:solidFill>
                  <a:srgbClr val="14142B"/>
                </a:solidFill>
              </a:rPr>
              <a:t>va donde va la respuesta: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2400" dirty="0">
                <a:solidFill>
                  <a:srgbClr val="14142B"/>
                </a:solidFill>
              </a:rPr>
              <a:t>?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책이에요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 la respuesta no repites «esto»: 책이에요</a:t>
            </a:r>
            <a:r>
              <a:rPr lang="en-US" sz="2400" dirty="0">
                <a:solidFill>
                  <a:srgbClr val="14142B"/>
                </a:solidFill>
              </a:rPr>
              <a:t>. (Es un libro.)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 la calle también se oye: 이거 뭐예요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</a:t>
            </a:r>
            <a:endParaRPr lang="en-US" sz="6500" dirty="0"/>
          </a:p>
          <a:p>
            <a:pPr marL="0" indent="0" algn="ctr" eaLnBrk="1">
              <a:buNone/>
            </a:pPr>
            <a:r>
              <a:rPr lang="ko-KR" altLang="en-US" sz="6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뭐예요</a:t>
            </a:r>
            <a:r>
              <a:rPr lang="en-US" sz="6500" b="1" dirty="0">
                <a:solidFill>
                  <a:srgbClr val="4236F6"/>
                </a:solidFill>
              </a:rPr>
              <a:t>?</a:t>
            </a:r>
            <a:endParaRPr lang="en-US" sz="6500" dirty="0"/>
          </a:p>
        </p:txBody>
      </p:sp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</a:t>
            </a:r>
            <a:r>
              <a:rPr lang="en-US" sz="3000" b="1" dirty="0">
                <a:solidFill>
                  <a:srgbClr val="4236F6"/>
                </a:solidFill>
              </a:rPr>
              <a:t>/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  </a:t>
            </a:r>
            <a:r>
              <a:rPr lang="en-US" sz="3000" b="1" dirty="0">
                <a:solidFill>
                  <a:srgbClr val="003478"/>
                </a:solidFill>
              </a:rPr>
              <a:t>¿Es…? Sí / No</a:t>
            </a:r>
            <a:r>
              <a:rPr lang="en-US" sz="1500" b="1" i="1" dirty="0">
                <a:solidFill>
                  <a:srgbClr val="8A8DA0"/>
                </a:solidFill>
              </a:rPr>
              <a:t>   Is it…? Yes / No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 misma frase con otra entonación, igual que en español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Pregunta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책이에요</a:t>
            </a:r>
            <a:r>
              <a:rPr lang="en-US" sz="3900" b="1" dirty="0">
                <a:solidFill>
                  <a:srgbClr val="4236F6"/>
                </a:solidFill>
              </a:rPr>
              <a:t>? ↗</a:t>
            </a:r>
            <a:endParaRPr lang="en-US" sz="39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La voz sube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¿Es un libro?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Afirmación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책이에요</a:t>
            </a:r>
            <a:r>
              <a:rPr lang="en-US" sz="3900" b="1" dirty="0">
                <a:solidFill>
                  <a:srgbClr val="4236F6"/>
                </a:solidFill>
              </a:rPr>
              <a:t>. ↘</a:t>
            </a:r>
            <a:endParaRPr lang="en-US" sz="39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La voz baja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Es un libro.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Respuesta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</a:t>
            </a:r>
            <a:r>
              <a:rPr lang="en-US" sz="4100" b="1" dirty="0">
                <a:solidFill>
                  <a:srgbClr val="4236F6"/>
                </a:solidFill>
              </a:rPr>
              <a:t>· </a:t>
            </a: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en-US" sz="41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</a:t>
            </a:r>
            <a:r>
              <a:rPr lang="en-US" sz="1800" dirty="0">
                <a:solidFill>
                  <a:srgbClr val="14142B"/>
                </a:solidFill>
              </a:rPr>
              <a:t>= sí (suena «ne», pero es SÍ)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 </a:t>
            </a:r>
            <a:r>
              <a:rPr lang="en-US" sz="1800" dirty="0">
                <a:solidFill>
                  <a:srgbClr val="14142B"/>
                </a:solidFill>
              </a:rPr>
              <a:t>= no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N이</a:t>
            </a:r>
            <a:r>
              <a:rPr lang="en-US" sz="3000" b="1" dirty="0">
                <a:solidFill>
                  <a:srgbClr val="4236F6"/>
                </a:solidFill>
              </a:rPr>
              <a:t>/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아니에요  </a:t>
            </a:r>
            <a:r>
              <a:rPr lang="en-US" sz="3000" b="1" dirty="0">
                <a:solidFill>
                  <a:srgbClr val="003478"/>
                </a:solidFill>
              </a:rPr>
              <a:t>No es…</a:t>
            </a:r>
            <a:r>
              <a:rPr lang="en-US" sz="1500" b="1" i="1" dirty="0">
                <a:solidFill>
                  <a:srgbClr val="8A8DA0"/>
                </a:solidFill>
              </a:rPr>
              <a:t>   It is not…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Orden: la cosa + 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+ «no es» al final · la partícula va pegada: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빵이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¿Termina en 받침</a:t>
            </a:r>
            <a:r>
              <a:rPr lang="en-US" sz="2000" b="1" dirty="0">
                <a:solidFill>
                  <a:srgbClr val="003478"/>
                </a:solidFill>
              </a:rPr>
              <a:t>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아니에요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빵이 아니에요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No es pan.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¿Termina en vocal?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아니에요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우유가 아니에요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No es leche.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 </a:t>
            </a:r>
            <a:r>
              <a:rPr lang="en-US" sz="3000" b="1" dirty="0">
                <a:solidFill>
                  <a:srgbClr val="4236F6"/>
                </a:solidFill>
              </a:rPr>
              <a:t>≠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아니에요  </a:t>
            </a:r>
            <a:r>
              <a:rPr lang="en-US" sz="3000" b="1" dirty="0">
                <a:solidFill>
                  <a:srgbClr val="003478"/>
                </a:solidFill>
              </a:rPr>
              <a:t>«No» no es «no es»</a:t>
            </a:r>
            <a:r>
              <a:rPr lang="en-US" sz="1500" b="1" i="1" dirty="0">
                <a:solidFill>
                  <a:srgbClr val="8A8DA0"/>
                </a:solidFill>
              </a:rPr>
              <a:t>   'No' vs 'it is not'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Respuesta completa: 아니요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빵이 아니에요</a:t>
            </a:r>
            <a:r>
              <a:rPr lang="en-US" sz="1800" i="1" dirty="0">
                <a:solidFill>
                  <a:srgbClr val="4236F6"/>
                </a:solidFill>
              </a:rPr>
              <a:t>.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우유예요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«No.»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La respuesta corta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Va al principio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«no es»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아니에요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Niega la cosa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Va al final de la frase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Suena así</a:t>
            </a:r>
            <a:r>
              <a:rPr lang="en-US" sz="1500" b="1" i="1" dirty="0">
                <a:solidFill>
                  <a:srgbClr val="8A8DA0"/>
                </a:solidFill>
              </a:rPr>
              <a:t>   How it sounds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한글 </a:t>
            </a:r>
            <a:r>
              <a:rPr lang="en-US" sz="1800" i="1" dirty="0">
                <a:solidFill>
                  <a:srgbClr val="4236F6"/>
                </a:solidFill>
              </a:rPr>
              <a:t>entre corchetes es cómo suena</a:t>
            </a:r>
            <a:endParaRPr lang="en-US" sz="1800" dirty="0"/>
          </a:p>
        </p:txBody>
      </p:sp>
      <p:graphicFrame>
        <p:nvGraphicFramePr>
          <p:cNvPr id="1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266940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Se escribe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Suena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책이에요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[채기에요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물이에요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[무리에요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연필이에요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[연피리에요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책상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[책쌍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빵이에요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[빵이에요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 (la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ㅇ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final no se mueve)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뭐예요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[뭐에요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 (se escribe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뭐예요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이거 뭐예요</a:t>
            </a:r>
            <a:r>
              <a:rPr lang="en-US" sz="2600" b="1" dirty="0">
                <a:solidFill>
                  <a:srgbClr val="4236F6"/>
                </a:solidFill>
              </a:rPr>
              <a:t>?  </a:t>
            </a:r>
            <a:r>
              <a:rPr lang="en-US" sz="2600" b="1" dirty="0">
                <a:solidFill>
                  <a:srgbClr val="003478"/>
                </a:solidFill>
              </a:rPr>
              <a:t>Adivina: ¿qué es esto?</a:t>
            </a:r>
            <a:r>
              <a:rPr lang="en-US" sz="1500" b="1" i="1" dirty="0">
                <a:solidFill>
                  <a:srgbClr val="8A8DA0"/>
                </a:solidFill>
              </a:rPr>
              <a:t>   Guess: what is this?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c156e1d17f8062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Mira la foto y adivina.</a:t>
            </a:r>
            <a:endParaRPr lang="en-US" sz="1800" dirty="0"/>
          </a:p>
        </p:txBody>
      </p:sp>
      <p:sp>
        <p:nvSpPr>
          <p:cNvPr id="5" name="num_0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871216"/>
            <a:ext cx="27355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이거 뭐예요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8" name="rev_5_caja"/>
          <p:cNvSpPr/>
          <p:nvPr/>
        </p:nvSpPr>
        <p:spPr>
          <a:xfrm>
            <a:off x="4152839" y="2907792"/>
            <a:ext cx="3326953" cy="1115568"/>
          </a:xfrm>
          <a:prstGeom prst="roundRect">
            <a:avLst>
              <a:gd name="adj" fmla="val 9836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5_txt"/>
          <p:cNvSpPr txBox="1"/>
          <p:nvPr/>
        </p:nvSpPr>
        <p:spPr>
          <a:xfrm>
            <a:off x="4244279" y="2907792"/>
            <a:ext cx="3144073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붕어빵이에요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붕어빵  </a:t>
            </a:r>
            <a:r>
              <a:rPr lang="en-US" sz="3000" b="1" dirty="0">
                <a:solidFill>
                  <a:srgbClr val="003478"/>
                </a:solidFill>
              </a:rPr>
              <a:t>El pan en Corea</a:t>
            </a:r>
            <a:r>
              <a:rPr lang="en-US" sz="1500" b="1" i="1" dirty="0">
                <a:solidFill>
                  <a:srgbClr val="8A8DA0"/>
                </a:solidFill>
              </a:rPr>
              <a:t>   Bread in Korea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붕어 </a:t>
            </a:r>
            <a:r>
              <a:rPr lang="en-US" sz="2200" dirty="0">
                <a:solidFill>
                  <a:srgbClr val="14142B"/>
                </a:solidFill>
              </a:rPr>
              <a:t>= carpa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 </a:t>
            </a:r>
            <a:r>
              <a:rPr lang="en-US" sz="2200" dirty="0">
                <a:solidFill>
                  <a:srgbClr val="14142B"/>
                </a:solidFill>
              </a:rPr>
              <a:t>= pan (no lleva pescado)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Relleno de porotos rojos dulces o de crema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Puestos callejeros cuando empieza el frío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Nuestro pan (marraqueta, bolillo, pan francés): salado, para la mesa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Mucho 빵 </a:t>
            </a:r>
            <a:r>
              <a:rPr lang="en-US" sz="2200" dirty="0">
                <a:solidFill>
                  <a:srgbClr val="14142B"/>
                </a:solidFill>
              </a:rPr>
              <a:t>coreano: blando, dulce, de merienda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이거 뭐예요</a:t>
            </a:r>
            <a:r>
              <a:rPr lang="en-US" sz="2200" dirty="0">
                <a:solidFill>
                  <a:srgbClr val="14142B"/>
                </a:solidFill>
              </a:rPr>
              <a:t>? —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붕어빵이에요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붕어빵</a:t>
            </a:r>
            <a:endParaRPr lang="en-US" sz="7700" dirty="0"/>
          </a:p>
        </p:txBody>
      </p:sp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relámpago 1–5</a:t>
            </a:r>
            <a:r>
              <a:rPr lang="en-US" sz="1500" b="1" i="1" dirty="0">
                <a:solidFill>
                  <a:srgbClr val="8A8DA0"/>
                </a:solidFill>
              </a:rPr>
              <a:t>   Lightning quiz 1–5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Responde: 네</a:t>
            </a:r>
            <a:r>
              <a:rPr lang="en-US" sz="1800" i="1" dirty="0">
                <a:solidFill>
                  <a:srgbClr val="4236F6"/>
                </a:solidFill>
              </a:rPr>
              <a:t>, ___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</a:t>
            </a:r>
            <a:r>
              <a:rPr lang="en-US" sz="1800" i="1" dirty="0">
                <a:solidFill>
                  <a:srgbClr val="4236F6"/>
                </a:solidFill>
              </a:rPr>
              <a:t>.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800" i="1" dirty="0">
                <a:solidFill>
                  <a:srgbClr val="4236F6"/>
                </a:solidFill>
              </a:rPr>
              <a:t>, ___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아니에요</a:t>
            </a:r>
            <a:r>
              <a:rPr lang="en-US" sz="1800" i="1" dirty="0">
                <a:solidFill>
                  <a:srgbClr val="4236F6"/>
                </a:solidFill>
              </a:rPr>
              <a:t>. ___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d1706db0664790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" y="2057400"/>
            <a:ext cx="1828800" cy="1828800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(pan) 빵이에요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9" name="rev_6_caja"/>
          <p:cNvSpPr/>
          <p:nvPr/>
        </p:nvSpPr>
        <p:spPr>
          <a:xfrm>
            <a:off x="658368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6_txt"/>
          <p:cNvSpPr txBox="1"/>
          <p:nvPr/>
        </p:nvSpPr>
        <p:spPr>
          <a:xfrm>
            <a:off x="685800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700" b="1" dirty="0">
                <a:solidFill>
                  <a:srgbClr val="FFFFFF"/>
                </a:solidFill>
              </a:rPr>
              <a:t>,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빵이에요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card_1"/>
          <p:cNvSpPr/>
          <p:nvPr/>
        </p:nvSpPr>
        <p:spPr>
          <a:xfrm>
            <a:off x="2803550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8334109b724d9d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166" y="2057400"/>
            <a:ext cx="1828800" cy="1828800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289499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89499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894990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(vaso de leche) 물이에요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16" name="rev_7_caja"/>
          <p:cNvSpPr/>
          <p:nvPr/>
        </p:nvSpPr>
        <p:spPr>
          <a:xfrm>
            <a:off x="2913278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7_txt"/>
          <p:cNvSpPr txBox="1"/>
          <p:nvPr/>
        </p:nvSpPr>
        <p:spPr>
          <a:xfrm>
            <a:off x="2940710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700" b="1" dirty="0">
                <a:solidFill>
                  <a:srgbClr val="FFFFFF"/>
                </a:solidFill>
              </a:rPr>
              <a:t>,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물이 아니에요</a:t>
            </a:r>
            <a:r>
              <a:rPr lang="en-US" sz="1700" b="1" dirty="0">
                <a:solidFill>
                  <a:srgbClr val="FFFFFF"/>
                </a:solidFill>
              </a:rPr>
              <a:t>.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우유예요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18" name="card_2"/>
          <p:cNvSpPr/>
          <p:nvPr/>
        </p:nvSpPr>
        <p:spPr>
          <a:xfrm>
            <a:off x="5058461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1b36426dcaf117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076" y="2057400"/>
            <a:ext cx="1828800" cy="1828800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5149901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49901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149901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(libro) 책이에요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23" name="rev_8_caja"/>
          <p:cNvSpPr/>
          <p:nvPr/>
        </p:nvSpPr>
        <p:spPr>
          <a:xfrm>
            <a:off x="5168189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8_txt"/>
          <p:cNvSpPr txBox="1"/>
          <p:nvPr/>
        </p:nvSpPr>
        <p:spPr>
          <a:xfrm>
            <a:off x="5195621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700" b="1" dirty="0">
                <a:solidFill>
                  <a:srgbClr val="FFFFFF"/>
                </a:solidFill>
              </a:rPr>
              <a:t>,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책이에요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card_3"/>
          <p:cNvSpPr/>
          <p:nvPr/>
        </p:nvSpPr>
        <p:spPr>
          <a:xfrm>
            <a:off x="7313371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53cb8e9c870e4f7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986" y="2057400"/>
            <a:ext cx="1828800" cy="1828800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7404811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404811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404811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(taza de café) 우유예요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30" name="rev_9_caja"/>
          <p:cNvSpPr/>
          <p:nvPr/>
        </p:nvSpPr>
        <p:spPr>
          <a:xfrm>
            <a:off x="7423099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9_txt"/>
          <p:cNvSpPr txBox="1"/>
          <p:nvPr/>
        </p:nvSpPr>
        <p:spPr>
          <a:xfrm>
            <a:off x="7450531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700" b="1" dirty="0">
                <a:solidFill>
                  <a:srgbClr val="FFFFFF"/>
                </a:solidFill>
              </a:rPr>
              <a:t>,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우유가 아니에요</a:t>
            </a:r>
            <a:r>
              <a:rPr lang="en-US" sz="1700" b="1" dirty="0">
                <a:solidFill>
                  <a:srgbClr val="FFFFFF"/>
                </a:solidFill>
              </a:rPr>
              <a:t>.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커피예요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32" name="card_4"/>
          <p:cNvSpPr/>
          <p:nvPr/>
        </p:nvSpPr>
        <p:spPr>
          <a:xfrm>
            <a:off x="9568282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3" name="item_img_4" descr="C:\Users\Chingu\AppData\Local\Temp\claude\C--Users-Chingu-Desktop-ACADEMIASEULWEB\d4111e1b-5523-44ea-97b2-b1a1d9545b9e\scratchpad\decks\cache\img_50a8840769af424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9897" y="2057400"/>
            <a:ext cx="1828800" cy="1828800"/>
          </a:xfrm>
          <a:prstGeom prst="rect">
            <a:avLst/>
          </a:prstGeom>
        </p:spPr>
      </p:pic>
      <p:sp>
        <p:nvSpPr>
          <p:cNvPr id="34" name="num_4"/>
          <p:cNvSpPr/>
          <p:nvPr/>
        </p:nvSpPr>
        <p:spPr>
          <a:xfrm>
            <a:off x="9659722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659722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9659722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(plato de arroz) 김치예요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37" name="rev_10_caja"/>
          <p:cNvSpPr/>
          <p:nvPr/>
        </p:nvSpPr>
        <p:spPr>
          <a:xfrm>
            <a:off x="9678010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8" name="rev_10_txt"/>
          <p:cNvSpPr txBox="1"/>
          <p:nvPr/>
        </p:nvSpPr>
        <p:spPr>
          <a:xfrm>
            <a:off x="9705442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700" b="1" dirty="0">
                <a:solidFill>
                  <a:srgbClr val="FFFFFF"/>
                </a:solidFill>
              </a:rPr>
              <a:t>,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김치가 아니에요</a:t>
            </a:r>
            <a:r>
              <a:rPr lang="en-US" sz="1700" b="1" dirty="0">
                <a:solidFill>
                  <a:srgbClr val="FFFFFF"/>
                </a:solidFill>
              </a:rPr>
              <a:t>.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밥이에요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  <p:bldP spid="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relámpago 6–10</a:t>
            </a:r>
            <a:r>
              <a:rPr lang="en-US" sz="1500" b="1" i="1" dirty="0">
                <a:solidFill>
                  <a:srgbClr val="8A8DA0"/>
                </a:solidFill>
              </a:rPr>
              <a:t>   Lightning quiz 6–10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Responde con la frase completa cuando Kiran diga tu nombre.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661c4215b15fcc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" y="2057400"/>
            <a:ext cx="1828800" cy="1828800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(silla) 의자예요</a:t>
            </a:r>
            <a:r>
              <a:rPr lang="en-US" sz="2000" dirty="0">
                <a:solidFill>
                  <a:srgbClr val="14142B"/>
                </a:solidFill>
              </a:rPr>
              <a:t>?</a:t>
            </a:r>
            <a:endParaRPr lang="en-US" sz="2000" dirty="0"/>
          </a:p>
        </p:txBody>
      </p:sp>
      <p:sp>
        <p:nvSpPr>
          <p:cNvPr id="9" name="rev_11_caja"/>
          <p:cNvSpPr/>
          <p:nvPr/>
        </p:nvSpPr>
        <p:spPr>
          <a:xfrm>
            <a:off x="658368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11_txt"/>
          <p:cNvSpPr txBox="1"/>
          <p:nvPr/>
        </p:nvSpPr>
        <p:spPr>
          <a:xfrm>
            <a:off x="685800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700" b="1" dirty="0">
                <a:solidFill>
                  <a:srgbClr val="FFFFFF"/>
                </a:solidFill>
              </a:rPr>
              <a:t>,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의자예요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card_1"/>
          <p:cNvSpPr/>
          <p:nvPr/>
        </p:nvSpPr>
        <p:spPr>
          <a:xfrm>
            <a:off x="2803550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03731e08908ff8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166" y="2057400"/>
            <a:ext cx="1828800" cy="1828800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289499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89499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894990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(gorro) 구두예요</a:t>
            </a:r>
            <a:r>
              <a:rPr lang="en-US" sz="2000" dirty="0">
                <a:solidFill>
                  <a:srgbClr val="14142B"/>
                </a:solidFill>
              </a:rPr>
              <a:t>?</a:t>
            </a:r>
            <a:endParaRPr lang="en-US" sz="2000" dirty="0"/>
          </a:p>
        </p:txBody>
      </p:sp>
      <p:sp>
        <p:nvSpPr>
          <p:cNvPr id="16" name="rev_12_caja"/>
          <p:cNvSpPr/>
          <p:nvPr/>
        </p:nvSpPr>
        <p:spPr>
          <a:xfrm>
            <a:off x="2913278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12_txt"/>
          <p:cNvSpPr txBox="1"/>
          <p:nvPr/>
        </p:nvSpPr>
        <p:spPr>
          <a:xfrm>
            <a:off x="2940710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700" b="1" dirty="0">
                <a:solidFill>
                  <a:srgbClr val="FFFFFF"/>
                </a:solidFill>
              </a:rPr>
              <a:t>,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구두가 아니에요</a:t>
            </a:r>
            <a:r>
              <a:rPr lang="en-US" sz="1700" b="1" dirty="0">
                <a:solidFill>
                  <a:srgbClr val="FFFFFF"/>
                </a:solidFill>
              </a:rPr>
              <a:t>.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모자예요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18" name="card_2"/>
          <p:cNvSpPr/>
          <p:nvPr/>
        </p:nvSpPr>
        <p:spPr>
          <a:xfrm>
            <a:off x="5058461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36c83ca68b74cf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076" y="2057400"/>
            <a:ext cx="1828800" cy="1828800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5149901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49901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149901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(lápiz) 연필이에요</a:t>
            </a:r>
            <a:r>
              <a:rPr lang="en-US" sz="2000" dirty="0">
                <a:solidFill>
                  <a:srgbClr val="14142B"/>
                </a:solidFill>
              </a:rPr>
              <a:t>?</a:t>
            </a:r>
            <a:endParaRPr lang="en-US" sz="2000" dirty="0"/>
          </a:p>
        </p:txBody>
      </p:sp>
      <p:sp>
        <p:nvSpPr>
          <p:cNvPr id="23" name="rev_13_caja"/>
          <p:cNvSpPr/>
          <p:nvPr/>
        </p:nvSpPr>
        <p:spPr>
          <a:xfrm>
            <a:off x="5168189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13_txt"/>
          <p:cNvSpPr txBox="1"/>
          <p:nvPr/>
        </p:nvSpPr>
        <p:spPr>
          <a:xfrm>
            <a:off x="5195621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700" b="1" dirty="0">
                <a:solidFill>
                  <a:srgbClr val="FFFFFF"/>
                </a:solidFill>
              </a:rPr>
              <a:t>,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연필이에요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card_3"/>
          <p:cNvSpPr/>
          <p:nvPr/>
        </p:nvSpPr>
        <p:spPr>
          <a:xfrm>
            <a:off x="7313371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f2d76872a59da0c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986" y="2057400"/>
            <a:ext cx="1828800" cy="1828800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7404811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404811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404811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(reloj de pulsera) 휴대폰이에요</a:t>
            </a:r>
            <a:r>
              <a:rPr lang="en-US" sz="2000" dirty="0">
                <a:solidFill>
                  <a:srgbClr val="14142B"/>
                </a:solidFill>
              </a:rPr>
              <a:t>?</a:t>
            </a:r>
            <a:endParaRPr lang="en-US" sz="2000" dirty="0"/>
          </a:p>
        </p:txBody>
      </p:sp>
      <p:sp>
        <p:nvSpPr>
          <p:cNvPr id="30" name="rev_14_caja"/>
          <p:cNvSpPr/>
          <p:nvPr/>
        </p:nvSpPr>
        <p:spPr>
          <a:xfrm>
            <a:off x="7423099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14_txt"/>
          <p:cNvSpPr txBox="1"/>
          <p:nvPr/>
        </p:nvSpPr>
        <p:spPr>
          <a:xfrm>
            <a:off x="7450531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700" b="1" dirty="0">
                <a:solidFill>
                  <a:srgbClr val="FFFFFF"/>
                </a:solidFill>
              </a:rPr>
              <a:t>,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휴대폰이 아니에요</a:t>
            </a:r>
            <a:r>
              <a:rPr lang="en-US" sz="1700" b="1" dirty="0">
                <a:solidFill>
                  <a:srgbClr val="FFFFFF"/>
                </a:solidFill>
              </a:rPr>
              <a:t>.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시계예요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32" name="card_4"/>
          <p:cNvSpPr/>
          <p:nvPr/>
        </p:nvSpPr>
        <p:spPr>
          <a:xfrm>
            <a:off x="9568282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3" name="item_img_4" descr="C:\Users\Chingu\AppData\Local\Temp\claude\C--Users-Chingu-Desktop-ACADEMIASEULWEB\d4111e1b-5523-44ea-97b2-b1a1d9545b9e\scratchpad\decks\cache\img_132efa44514374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9897" y="2057400"/>
            <a:ext cx="1828800" cy="1828800"/>
          </a:xfrm>
          <a:prstGeom prst="rect">
            <a:avLst/>
          </a:prstGeom>
        </p:spPr>
      </p:pic>
      <p:sp>
        <p:nvSpPr>
          <p:cNvPr id="34" name="num_4"/>
          <p:cNvSpPr/>
          <p:nvPr/>
        </p:nvSpPr>
        <p:spPr>
          <a:xfrm>
            <a:off x="9659722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659722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9659722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(pepino) 오이예요</a:t>
            </a:r>
            <a:r>
              <a:rPr lang="en-US" sz="2000" dirty="0">
                <a:solidFill>
                  <a:srgbClr val="14142B"/>
                </a:solidFill>
              </a:rPr>
              <a:t>?</a:t>
            </a:r>
            <a:endParaRPr lang="en-US" sz="2000" dirty="0"/>
          </a:p>
        </p:txBody>
      </p:sp>
      <p:sp>
        <p:nvSpPr>
          <p:cNvPr id="37" name="rev_15_caja"/>
          <p:cNvSpPr/>
          <p:nvPr/>
        </p:nvSpPr>
        <p:spPr>
          <a:xfrm>
            <a:off x="9678010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8" name="rev_15_txt"/>
          <p:cNvSpPr txBox="1"/>
          <p:nvPr/>
        </p:nvSpPr>
        <p:spPr>
          <a:xfrm>
            <a:off x="9705442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700" b="1" dirty="0">
                <a:solidFill>
                  <a:srgbClr val="FFFFFF"/>
                </a:solidFill>
              </a:rPr>
              <a:t>,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오이예요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  <p:bldP spid="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Cascada en el chat (1)</a:t>
            </a:r>
            <a:r>
              <a:rPr lang="en-US" sz="1500" b="1" i="1" dirty="0">
                <a:solidFill>
                  <a:srgbClr val="8A8DA0"/>
                </a:solidFill>
              </a:rPr>
              <a:t>   Chat cascade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Escribe la palabra + 이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(ej.: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우산이</a:t>
            </a:r>
            <a:r>
              <a:rPr lang="en-US" sz="1800" i="1" dirty="0">
                <a:solidFill>
                  <a:srgbClr val="4236F6"/>
                </a:solidFill>
              </a:rPr>
              <a:t>). Enter cuando Kiran diga ¡ya! Después, en voz alta: ___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아니에요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7170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우산</a:t>
            </a:r>
            <a:endParaRPr lang="en-US" sz="2400" dirty="0"/>
          </a:p>
        </p:txBody>
      </p:sp>
      <p:sp>
        <p:nvSpPr>
          <p:cNvPr id="7" name="rev_16_caja"/>
          <p:cNvSpPr/>
          <p:nvPr/>
        </p:nvSpPr>
        <p:spPr>
          <a:xfrm>
            <a:off x="7498080" y="2002536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6_txt"/>
          <p:cNvSpPr txBox="1"/>
          <p:nvPr/>
        </p:nvSpPr>
        <p:spPr>
          <a:xfrm>
            <a:off x="7589520" y="2002536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우산이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우산이 아니에요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16839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68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6265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</a:t>
            </a:r>
            <a:endParaRPr lang="en-US" sz="2400" dirty="0"/>
          </a:p>
        </p:txBody>
      </p:sp>
      <p:sp>
        <p:nvSpPr>
          <p:cNvPr id="12" name="rev_17_caja"/>
          <p:cNvSpPr/>
          <p:nvPr/>
        </p:nvSpPr>
        <p:spPr>
          <a:xfrm>
            <a:off x="7498080" y="2999232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7_txt"/>
          <p:cNvSpPr txBox="1"/>
          <p:nvPr/>
        </p:nvSpPr>
        <p:spPr>
          <a:xfrm>
            <a:off x="7589520" y="2999232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커피가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커피가 아니에요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1650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959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</a:t>
            </a:r>
            <a:endParaRPr lang="en-US" sz="2400" dirty="0"/>
          </a:p>
        </p:txBody>
      </p:sp>
      <p:sp>
        <p:nvSpPr>
          <p:cNvPr id="17" name="rev_18_caja"/>
          <p:cNvSpPr/>
          <p:nvPr/>
        </p:nvSpPr>
        <p:spPr>
          <a:xfrm>
            <a:off x="7498080" y="3995928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8_txt"/>
          <p:cNvSpPr txBox="1"/>
          <p:nvPr/>
        </p:nvSpPr>
        <p:spPr>
          <a:xfrm>
            <a:off x="7589520" y="3995928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가방이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가방이 아니에요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516178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61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56048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</a:t>
            </a:r>
            <a:endParaRPr lang="en-US" sz="2400" dirty="0"/>
          </a:p>
        </p:txBody>
      </p:sp>
      <p:sp>
        <p:nvSpPr>
          <p:cNvPr id="22" name="rev_19_caja"/>
          <p:cNvSpPr/>
          <p:nvPr/>
        </p:nvSpPr>
        <p:spPr>
          <a:xfrm>
            <a:off x="7498080" y="4992624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19_txt"/>
          <p:cNvSpPr txBox="1"/>
          <p:nvPr/>
        </p:nvSpPr>
        <p:spPr>
          <a:xfrm>
            <a:off x="7589520" y="4992624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의자가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의자가 아니에요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Cascada en el chat (2)</a:t>
            </a:r>
            <a:r>
              <a:rPr lang="en-US" sz="1500" b="1" i="1" dirty="0">
                <a:solidFill>
                  <a:srgbClr val="8A8DA0"/>
                </a:solidFill>
              </a:rPr>
              <a:t>   Chat cascade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Escribe la palabra + 이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800" i="1" dirty="0">
                <a:solidFill>
                  <a:srgbClr val="4236F6"/>
                </a:solidFill>
              </a:rPr>
              <a:t>. Enter cuando Kiran diga ¡ya! Después, en voz alta: ___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아니에요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7170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</a:t>
            </a:r>
            <a:endParaRPr lang="en-US" sz="2400" dirty="0"/>
          </a:p>
        </p:txBody>
      </p:sp>
      <p:sp>
        <p:nvSpPr>
          <p:cNvPr id="7" name="rev_20_caja"/>
          <p:cNvSpPr/>
          <p:nvPr/>
        </p:nvSpPr>
        <p:spPr>
          <a:xfrm>
            <a:off x="7498080" y="2002536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20_txt"/>
          <p:cNvSpPr txBox="1"/>
          <p:nvPr/>
        </p:nvSpPr>
        <p:spPr>
          <a:xfrm>
            <a:off x="7589520" y="2002536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물이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물이 아니에요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16839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68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6265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</a:t>
            </a:r>
            <a:endParaRPr lang="en-US" sz="2400" dirty="0"/>
          </a:p>
        </p:txBody>
      </p:sp>
      <p:sp>
        <p:nvSpPr>
          <p:cNvPr id="12" name="rev_21_caja"/>
          <p:cNvSpPr/>
          <p:nvPr/>
        </p:nvSpPr>
        <p:spPr>
          <a:xfrm>
            <a:off x="7498080" y="2999232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21_txt"/>
          <p:cNvSpPr txBox="1"/>
          <p:nvPr/>
        </p:nvSpPr>
        <p:spPr>
          <a:xfrm>
            <a:off x="7589520" y="2999232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시계가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시계가 아니에요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1650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959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공책</a:t>
            </a:r>
            <a:endParaRPr lang="en-US" sz="2400" dirty="0"/>
          </a:p>
        </p:txBody>
      </p:sp>
      <p:sp>
        <p:nvSpPr>
          <p:cNvPr id="17" name="rev_22_caja"/>
          <p:cNvSpPr/>
          <p:nvPr/>
        </p:nvSpPr>
        <p:spPr>
          <a:xfrm>
            <a:off x="7498080" y="3995928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2_txt"/>
          <p:cNvSpPr txBox="1"/>
          <p:nvPr/>
        </p:nvSpPr>
        <p:spPr>
          <a:xfrm>
            <a:off x="7589520" y="3995928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공책이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공책이 아니에요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516178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61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56048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</a:t>
            </a:r>
            <a:endParaRPr lang="en-US" sz="2400" dirty="0"/>
          </a:p>
        </p:txBody>
      </p:sp>
      <p:sp>
        <p:nvSpPr>
          <p:cNvPr id="22" name="rev_23_caja"/>
          <p:cNvSpPr/>
          <p:nvPr/>
        </p:nvSpPr>
        <p:spPr>
          <a:xfrm>
            <a:off x="7498080" y="4992624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23_txt"/>
          <p:cNvSpPr txBox="1"/>
          <p:nvPr/>
        </p:nvSpPr>
        <p:spPr>
          <a:xfrm>
            <a:off x="7589520" y="4992624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컵이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컵이 아니에요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Lee en voz alta (1–8)</a:t>
            </a:r>
            <a:r>
              <a:rPr lang="en-US" sz="1500" b="1" i="1" dirty="0">
                <a:solidFill>
                  <a:srgbClr val="8A8DA0"/>
                </a:solidFill>
              </a:rPr>
              <a:t>   Read aloud (1–8)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Una línea por persona, con cámara</a:t>
            </a:r>
            <a:endParaRPr lang="en-US" sz="1800" dirty="0"/>
          </a:p>
        </p:txBody>
      </p:sp>
      <p:graphicFrame>
        <p:nvGraphicFramePr>
          <p:cNvPr id="23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679448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Línea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이게 뭐예요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연필이에요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책상이에요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컵이에요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가방이에요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우산이에요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Lee en voz alta (9–15)</a:t>
            </a:r>
            <a:r>
              <a:rPr lang="en-US" sz="1500" b="1" i="1" dirty="0">
                <a:solidFill>
                  <a:srgbClr val="8A8DA0"/>
                </a:solidFill>
              </a:rPr>
              <a:t>   Read aloud (9–15)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Una línea por persona, con cámara</a:t>
            </a:r>
            <a:endParaRPr lang="en-US" sz="1800" dirty="0"/>
          </a:p>
        </p:txBody>
      </p:sp>
      <p:graphicFrame>
        <p:nvGraphicFramePr>
          <p:cNvPr id="2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081384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Línea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공책이에요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그거 커피예요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빵이 아니에요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저게 뭐예요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시계가 아니에요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이거 뭐예요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붕어빵이에요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En salas · 18 minutos</a:t>
            </a:r>
            <a:r>
              <a:rPr lang="en-US" sz="1500" b="1" i="1" dirty="0">
                <a:solidFill>
                  <a:srgbClr val="8A8DA0"/>
                </a:solidFill>
              </a:rPr>
              <a:t>   Breakout rooms · 18 minutes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Kiran te avisa por mensaje cuándo cambiar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A · Batalla de distancias (6 min): la escena del café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B · Muestra y pregunta (9 min): tus 5 objetos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C · Minuto libre (3 min): sin mirar la hoja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Tu tarjeta está en tu material: «En clase: hablamos»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La escena del café</a:t>
            </a:r>
            <a:r>
              <a:rPr lang="en-US" sz="1500" b="1" i="1" dirty="0">
                <a:solidFill>
                  <a:srgbClr val="8A8DA0"/>
                </a:solidFill>
              </a:rPr>
              <a:t>   The café scene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7e9e4d8057b1e5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167666"/>
            <a:ext cx="2743200" cy="31627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8074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Tarea A: desde tu lugar, di 이거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그거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저거</a:t>
            </a:r>
            <a:r>
              <a:rPr lang="en-US" sz="1800" i="1" dirty="0">
                <a:solidFill>
                  <a:srgbClr val="4236F6"/>
                </a:solidFill>
              </a:rPr>
              <a:t>. Árbitro: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800" i="1" dirty="0">
                <a:solidFill>
                  <a:srgbClr val="4236F6"/>
                </a:solidFill>
              </a:rPr>
              <a:t>!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잘했어요</a:t>
            </a:r>
            <a:r>
              <a:rPr lang="en-US" sz="1800" i="1" dirty="0">
                <a:solidFill>
                  <a:srgbClr val="4236F6"/>
                </a:solidFill>
              </a:rPr>
              <a:t>! /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800" i="1" dirty="0">
                <a:solidFill>
                  <a:srgbClr val="4236F6"/>
                </a:solidFill>
              </a:rPr>
              <a:t>!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한번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5" name="col_0"/>
          <p:cNvSpPr/>
          <p:nvPr/>
        </p:nvSpPr>
        <p:spPr>
          <a:xfrm>
            <a:off x="548640" y="1874520"/>
            <a:ext cx="2478024" cy="4297680"/>
          </a:xfrm>
          <a:prstGeom prst="roundRect">
            <a:avLst>
              <a:gd name="adj" fmla="val 5535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05740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Cerca de 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51760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</a:t>
            </a:r>
            <a:r>
              <a:rPr lang="en-US" sz="2700" b="1" dirty="0">
                <a:solidFill>
                  <a:srgbClr val="4236F6"/>
                </a:solidFill>
              </a:rPr>
              <a:t>·</a:t>
            </a:r>
            <a:endParaRPr lang="en-US" sz="2700" dirty="0"/>
          </a:p>
          <a:p>
            <a:pPr marL="0" indent="0" eaLnBrk="1">
              <a:buNone/>
            </a:pPr>
            <a:r>
              <a:rPr lang="ko-KR" altLang="en-US" sz="2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</a:t>
            </a:r>
            <a:r>
              <a:rPr lang="en-US" sz="2700" b="1" dirty="0">
                <a:solidFill>
                  <a:srgbClr val="4236F6"/>
                </a:solidFill>
              </a:rPr>
              <a:t>· </a:t>
            </a:r>
            <a:r>
              <a:rPr lang="ko-KR" altLang="en-US" sz="2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</a:t>
            </a:r>
            <a:endParaRPr lang="en-US" sz="2700" dirty="0"/>
          </a:p>
        </p:txBody>
      </p:sp>
      <p:sp>
        <p:nvSpPr>
          <p:cNvPr id="8" name="lista"/>
          <p:cNvSpPr txBox="1"/>
          <p:nvPr/>
        </p:nvSpPr>
        <p:spPr>
          <a:xfrm>
            <a:off x="731520" y="3657600"/>
            <a:ext cx="211226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café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celular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libro</a:t>
            </a:r>
            <a:endParaRPr lang="en-US" sz="1800" dirty="0"/>
          </a:p>
        </p:txBody>
      </p:sp>
      <p:sp>
        <p:nvSpPr>
          <p:cNvPr id="9" name="col_1"/>
          <p:cNvSpPr/>
          <p:nvPr/>
        </p:nvSpPr>
        <p:spPr>
          <a:xfrm>
            <a:off x="3346704" y="1874520"/>
            <a:ext cx="2478024" cy="4297680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75304" y="205740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Cerca de B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575304" y="2651760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 </a:t>
            </a:r>
            <a:r>
              <a:rPr lang="en-US" sz="2700" b="1" dirty="0">
                <a:solidFill>
                  <a:srgbClr val="4236F6"/>
                </a:solidFill>
              </a:rPr>
              <a:t>·</a:t>
            </a:r>
            <a:endParaRPr lang="en-US" sz="2700" dirty="0"/>
          </a:p>
          <a:p>
            <a:pPr marL="0" indent="0" eaLnBrk="1">
              <a:buNone/>
            </a:pPr>
            <a:r>
              <a:rPr lang="ko-KR" altLang="en-US" sz="2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우산 </a:t>
            </a:r>
            <a:r>
              <a:rPr lang="en-US" sz="2700" b="1" dirty="0">
                <a:solidFill>
                  <a:srgbClr val="4236F6"/>
                </a:solidFill>
              </a:rPr>
              <a:t>· </a:t>
            </a:r>
            <a:r>
              <a:rPr lang="ko-KR" altLang="en-US" sz="2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공책</a:t>
            </a:r>
            <a:endParaRPr lang="en-US" sz="2700" dirty="0"/>
          </a:p>
        </p:txBody>
      </p:sp>
      <p:sp>
        <p:nvSpPr>
          <p:cNvPr id="12" name="lista"/>
          <p:cNvSpPr txBox="1"/>
          <p:nvPr/>
        </p:nvSpPr>
        <p:spPr>
          <a:xfrm>
            <a:off x="3529584" y="3657600"/>
            <a:ext cx="211226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bolso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paraguas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cuaderno</a:t>
            </a:r>
            <a:endParaRPr lang="en-US" sz="1800" dirty="0"/>
          </a:p>
        </p:txBody>
      </p:sp>
      <p:sp>
        <p:nvSpPr>
          <p:cNvPr id="13" name="col_2"/>
          <p:cNvSpPr/>
          <p:nvPr/>
        </p:nvSpPr>
        <p:spPr>
          <a:xfrm>
            <a:off x="6144768" y="1874520"/>
            <a:ext cx="2478024" cy="4297680"/>
          </a:xfrm>
          <a:prstGeom prst="roundRect">
            <a:avLst>
              <a:gd name="adj" fmla="val 5535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3368" y="205740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Lejos de los dos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373368" y="2651760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 </a:t>
            </a:r>
            <a:r>
              <a:rPr lang="en-US" sz="2800" b="1" dirty="0">
                <a:solidFill>
                  <a:srgbClr val="4236F6"/>
                </a:solidFill>
              </a:rPr>
              <a:t>·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붕어빵</a:t>
            </a:r>
            <a:endParaRPr lang="en-US" sz="2800" dirty="0"/>
          </a:p>
        </p:txBody>
      </p:sp>
      <p:sp>
        <p:nvSpPr>
          <p:cNvPr id="16" name="lista"/>
          <p:cNvSpPr txBox="1"/>
          <p:nvPr/>
        </p:nvSpPr>
        <p:spPr>
          <a:xfrm>
            <a:off x="6327648" y="3657600"/>
            <a:ext cx="211226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reloj (en la pared del fondo)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붕어빵 </a:t>
            </a:r>
            <a:r>
              <a:rPr lang="en-US" sz="1800" dirty="0">
                <a:solidFill>
                  <a:srgbClr val="14142B"/>
                </a:solidFill>
              </a:rPr>
              <a:t>(en el puesto de la calle)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Minuto libre</a:t>
            </a:r>
            <a:r>
              <a:rPr lang="en-US" sz="1500" b="1" i="1" dirty="0">
                <a:solidFill>
                  <a:srgbClr val="8A8DA0"/>
                </a:solidFill>
              </a:rPr>
              <a:t>   Free minute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3 minutos, sin mirar la hoja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Saca 2 o 3 cosas que NO preparaste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2400" dirty="0">
                <a:solidFill>
                  <a:srgbClr val="14142B"/>
                </a:solidFill>
              </a:rPr>
              <a:t>?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그게 뭐예요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그거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la pregunta de la semana 2: 어느 나라 사람이에요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¿No sabes cómo se llama algo? Al volver: 선생님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Errores del día</a:t>
            </a:r>
            <a:r>
              <a:rPr lang="en-US" sz="1500" b="1" i="1" dirty="0">
                <a:solidFill>
                  <a:srgbClr val="8A8DA0"/>
                </a:solidFill>
              </a:rPr>
              <a:t>   Today's mistakes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1 · ____________________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2 · ____________________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3 · ____________________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Respaldo: 책가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 아니에요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Respaldo: lo que tiene tu compañero → 그거</a:t>
            </a:r>
            <a:endParaRPr lang="en-US" sz="24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3 frases clave</a:t>
            </a:r>
            <a:r>
              <a:rPr lang="en-US" sz="1500" b="1" i="1" dirty="0">
                <a:solidFill>
                  <a:srgbClr val="8A8DA0"/>
                </a:solidFill>
              </a:rPr>
              <a:t>   3 key phrases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¿Qué es esto? / Es un libro. / No, no es pan.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2800" dirty="0">
                <a:solidFill>
                  <a:srgbClr val="14142B"/>
                </a:solidFill>
              </a:rPr>
              <a:t>?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책이에요</a:t>
            </a:r>
            <a:r>
              <a:rPr lang="en-US" sz="2800" dirty="0">
                <a:solidFill>
                  <a:srgbClr val="14142B"/>
                </a:solidFill>
              </a:rPr>
              <a:t>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800" dirty="0">
                <a:solidFill>
                  <a:srgbClr val="14142B"/>
                </a:solidFill>
              </a:rPr>
              <a:t>,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빵이 아니에요</a:t>
            </a:r>
            <a:r>
              <a:rPr lang="en-US" sz="2800" dirty="0">
                <a:solidFill>
                  <a:srgbClr val="14142B"/>
                </a:solidFill>
              </a:rPr>
              <a:t>.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Tarea · antes de la clase 4</a:t>
            </a:r>
            <a:r>
              <a:rPr lang="en-US" sz="1500" b="1" i="1" dirty="0">
                <a:solidFill>
                  <a:srgbClr val="8A8DA0"/>
                </a:solidFill>
              </a:rPr>
              <a:t>   Homework · before class 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Entrega en el grupo de WhatsApp: mar 10 / jue 12 nov, 20:00 (hora de Chile)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1) Lector → Practicar → Pictogramas y Palabras (3 rondas cada uno) + captura de Progreso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Hoja de las lecciones 2–3 (quiz de 10) + foto de 5 objetos con etiqueta en 한글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3) Audio de 30 s: 5 preguntas y respuestas con el objeto en la mano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Extra: Dubu, barrio 5 (Río Han)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Para la clase 4: una foto con 3 o 4 personas (familia, amigos, famosos o un dibujo)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3000" b="1" dirty="0">
                <a:solidFill>
                  <a:srgbClr val="FFFFFF"/>
                </a:solidFill>
              </a:rPr>
              <a:t>!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3000" b="1" dirty="0">
                <a:solidFill>
                  <a:srgbClr val="FFFFFF"/>
                </a:solidFill>
              </a:rPr>
              <a:t>!  ¡Gracias! ¡Ánimo!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5621</Words>
  <Application>Microsoft Office PowerPoint</Application>
  <PresentationFormat>Widescreen</PresentationFormat>
  <Paragraphs>412</Paragraphs>
  <Slides>30</Slides>
  <Notes>30</Notes>
  <HiddenSlides>0</HiddenSlides>
  <MMClips>18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Malgun Gothic</vt:lpstr>
      <vt:lpstr>Arial</vt:lpstr>
      <vt:lpstr>Academia Seul</vt:lpstr>
      <vt:lpstr>Semana 3 · ¿Qué es esto?</vt:lpstr>
      <vt:lpstr>Quiz 2 · 5 respuestas   Quiz 2 · 5 answers</vt:lpstr>
      <vt:lpstr>Quiz 2 · respuestas   Quiz 2 · answers</vt:lpstr>
      <vt:lpstr>Hoy vas a poder decir…   Today you will be able to say…</vt:lpstr>
      <vt:lpstr>이게 뭐예요?  ¿Qué es esto?   What is this?</vt:lpstr>
      <vt:lpstr>Cosas de todos los días (1)   Everyday things (1)</vt:lpstr>
      <vt:lpstr>Cosas de todos los días (2)   Everyday things (2)</vt:lpstr>
      <vt:lpstr>Para tomar y comer   To drink and eat</vt:lpstr>
      <vt:lpstr>이거 · 그거 · 저거  Esto · eso · aquello   This · that · that over there</vt:lpstr>
      <vt:lpstr>En Zoom   On Zoom</vt:lpstr>
      <vt:lpstr>이게 뭐예요?  La pregunta: ¿qué es esto?   The question: what is this?</vt:lpstr>
      <vt:lpstr>네 / 아니요  ¿Es…? Sí / No   Is it…? Yes / No</vt:lpstr>
      <vt:lpstr>N이/가 아니에요  No es…   It is not…</vt:lpstr>
      <vt:lpstr>아니요 ≠ 아니에요  «No» no es «no es»   'No' vs 'it is not'</vt:lpstr>
      <vt:lpstr>Suena así   How it sounds</vt:lpstr>
      <vt:lpstr>이거 뭐예요?  Adivina: ¿qué es esto?   Guess: what is this?</vt:lpstr>
      <vt:lpstr>붕어빵  El pan en Corea   Bread in Korea</vt:lpstr>
      <vt:lpstr>Quiz relámpago 1–5   Lightning quiz 1–5</vt:lpstr>
      <vt:lpstr>Quiz relámpago 6–10   Lightning quiz 6–10</vt:lpstr>
      <vt:lpstr>Cascada en el chat (1)   Chat cascade (1)</vt:lpstr>
      <vt:lpstr>Cascada en el chat (2)   Chat cascade (2)</vt:lpstr>
      <vt:lpstr>Lee en voz alta (1–8)   Read aloud (1–8)</vt:lpstr>
      <vt:lpstr>Lee en voz alta (9–15)   Read aloud (9–15)</vt:lpstr>
      <vt:lpstr>En salas · 18 minutos   Breakout rooms · 18 minutes</vt:lpstr>
      <vt:lpstr>La escena del café   The café scene</vt:lpstr>
      <vt:lpstr>Minuto libre   Free minute</vt:lpstr>
      <vt:lpstr>Errores del día   Today's mistakes</vt:lpstr>
      <vt:lpstr>3 frases clave   3 key phrases</vt:lpstr>
      <vt:lpstr>Tarea · antes de la clase 4   Homework · before class 4</vt:lpstr>
      <vt:lpstr>감사합니다! 화이팅!  ¡Gracias! ¡Ánimo!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1 (A1.1) · Semana 3 · 이게 뭐예요? · ¿Qué es esto?</dc:title>
  <dc:subject>PptxGenJS Presentation</dc:subject>
  <dc:creator>Academia Seúl</dc:creator>
  <cp:lastModifiedBy>Jae Hee Kim</cp:lastModifiedBy>
  <cp:revision>2</cp:revision>
  <dcterms:created xsi:type="dcterms:W3CDTF">2026-10-16T10:02:30Z</dcterms:created>
  <dcterms:modified xsi:type="dcterms:W3CDTF">2026-10-16T10:03:11Z</dcterms:modified>
</cp:coreProperties>
</file>