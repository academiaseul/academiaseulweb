
<file path=[Content_Types].xml><?xml version="1.0" encoding="utf-8"?>
<Types xmlns="http://schemas.openxmlformats.org/package/2006/content-types"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12192000"/>
  <p:defaultTextStyle>
    <a:lvl1pPr marL="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mana 3" id="{09672897-1490-CF4A-7172-15EC95A70B3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11643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20:00–20:01. Inicia la grabación en la nube (Basico1-Martes_S03_2026-10-27 o Basico1-Jueves_S03_2026-10-29) y comparte el deck. Saluda con una leve inclinación: «안녕하세요!» y espera que el grupo responda con cámara. En español: «¡Bienvenidos a la semana 3! La semana pasada aprendimos a presentarnos. Hoy empezamos a preguntar por todo lo que nos rodea. Pero primero, el quiz: 3 minutos, 5 respuestas, en un solo mensaje privado para mí.»
Imagen sugerida: Logo azul de Academia Seúl (portada de la casa)
Fuente: S03 C.14 L1 · B 20:00 · C.3 Bloque 0
Lámina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20:01–20:04. Dicta en voz: «Número uno: 밥. 밥.» y «Número dos: 한국. 한국.», con 10 s entre ítems (los números de los ítems van en español; 번 llega en la S4). Los ítems 3–5 se leen en la lámina. Los dos nombres son campos editables: uno del grupo que en 한글 termine en 받침 y otro en vocal, tal como cada alumno lo escribió en la S1–S2, distintos el martes y el jueves (respaldo: 다니엘 · 카르멘 · 마르틴 / 마리아 · 호세 · 루시아). Chat «Para: Kiran» (si el privado no funciona, a «Todos»); quien no tenga teclado coreano escribe en papel y lo muestra a la cámara.
Fuente: S03 C.14 L2 · C.13 Quiz 2 · C.3 Bloque 0 · C.2
Lámina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20:04–20:05. Diseño: el 받침 de 밥 y 한국 marcado en azul. «Miren las respuestas. El 1: 밥, sin vocal al final, nunca ba-bu. El 5: 안녕히 계세요, porque la mamá de tu amigo se queda.» Si preguntan: a un amigo de tu edad le dirías 안녕; 안녕히 계세요 es para alguien mayor o a quien tratas con respeto. Comenta 1 error frecuente de las entregas de la S2, pide la reacción de mano levantada a quien tuvo 5 de 5 y guarda el chat. Después deja de compartir pantalla para la bolsa misteriosa (guion en las notas de la L5).
Fuente: S03 C.14 L3 · C.13 Quiz 2 · C.3 Bloque 0 paso 4
Lámina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20:08, al volver al deck después de la bolsa misteriosa: solo 10 segundos y sin leerla entera. «Esto es lo que van a poder decir al final de la clase.» Sin romanización. Después pasa de largo la L5 y sigue con el vocabulario.
Fuente: S03 C.14 L4 · §0 · C.1 · Material del alumno §1
Lámina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Fondo de la bolsa misteriosa (20:05–20:08, R): deja de compartir y destaca tu video; los alumnos solo escuchan y repiten, sin ver nada escrito. Guion: «이게 뭐예요?» (pausa) «책이에요. 따라 하세요: 책이에요.» → coro; sigue con 연필 → 공책 → 휴대폰 → 시계 → 우산 → 안경 → 열쇠 → 컵 → 물, tocas tu 책상 y tu 의자 («책상이에요. 의자예요.») y levantas la taza («커피예요.»). Desde el cuarto objeto deja 2 segundos antes de responder; final: das vuelta la bolsa vacía: «이게 뭐예요? … 가방이에요!» Al volver al deck (L4), esta lámina se pasa de largo.
Imagen sugerida: Silueta de una bolsa o mochila (가방), en azul o gris; solo la pregunta, enorme
Fuente: S03 C.14 L5 · C.3 1a · C.2 (la bolsa)
Lámina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20:08–20:12 (con L7–L10). «읽으세요!»: el grupo lee en coro cada etiqueta (ya las oyó en la bolsa, así que va rápido) y tú confirmas con «잘했어요!». Corrige siempre la ㅎ de 휴대폰 (soplido suave, no jota) y el 받침 sin vocal de apoyo (책, no che-ku). Si tú dices 핸드폰 de forma natural, menciónala como «también se oye». 시계 casi siempre se oye [시게]; no corrijas a quien dice [시계].
Fuente: S03 C.14 L6 · A campo 4 · C.6 · C.7 · Material del alumno §2
Lámina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Sigue el coro con «읽으세요!» y «잘했어요!»; toca tu 책상 y tu 의자 en cámara. 책상 suena [책쌍]: se imita entera. ㅢ de 의자 y ㅚ de 열쇠, de un solo golpe. En 안경 la ㅇ final se dice con la lengua atrás (la n de «tengo»), no como «n».
Fuente: S03 C.14 L7 (partida en 7a/7b por el límite de 8 tarjetas) · C.7
Lámina 7a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la ㅓ de 커피 suena «o», para: «커피, no 코피» (코피 es sangre de nariz: si pides 코피 en un café, pediste una hemorragia nasal). 빵: ㅃ tensa, sin aire (prueba del papel de la S2: con 빵 el papel no se mueve). 물: ㄹ final = l, sin vocal de apoyo (no mulu).
Fuente: S03 C.14 L7 · C.7
Lámina 7b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«En español tenemos este, ese y aquel. En coreano también son tres: 이, 그, 저. Y 거 es 'cosa'. 이거 es esta cosa, cerca de mí; 그거, esa cosa, cerca de ti; 저거, aquella cosa, lejos de los dos.» Demo en vivo: con tu lápiz, «이거 연필이에요.»; pide a un alumno que levante su libro: «[nombre], 그게 뭐예요?» → «책이에요.» → «잘했어요!» y explica: «Para mí es 그거; para [nombre] es 이거.» Ojo: los apuntes de julio decían «저게 = eso»; es «aquello».
Imagen sugerida: Esquema de 3 zonas: persona A con un lápiz (이거), persona B con un libro (그거) y un reloj lejos de los dos (저거); íconos de mano en el pecho, hacia el otro y a lo lejos
Fuente: S03 C.14 L8 · C.3 1b · C.4 · C.6
Lámina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«En Zoom es fácil: lo que tienes en tu mano es 이거. Lo que muestra tu compañero a la cámara es 그거. Y 저거 lo vamos a usar con la escena.» Señala el reloj de la pared del fondo: «저게 뭐예요? 시계예요.» Control de 30 s en coro y con el gesto: lees las situaciones 1–3 del ejercicio 1 del material (lápiz en tu mano → 이거 · paraguas de tu amiga → 그거 · reloj en la pared del fondo → 저거); si el coro se divide en 2 y 3, repite con el gesto exagerado. La deixis en Zoom está pendiente de revisión nativa (guía D.2).
Fuente: S03 C.14 L9 · C.3 1b · C.6 · Material del alumno §3 y ejercicio 1
Lámina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«Cuando preguntamos '¿qué es esto?', 이거 se funde con una marquita de sujeto y queda 이게. Lo mismo con 그게 y 저게. En la respuesta no hace falta repetir 'esto': 책이에요. Y en la calle vas a oír también 이거 뭐예요?: las dos están bien.» «Fíjense dónde va 뭐: en el mismo lugar donde va la respuesta. Cambias 뭐 por la cosa; en coreano el 'qué' se queda quieto.» Si alguien dice 이거가, modela 이게 sin retarlo. Cierra el bloque a las 20:12.
Fuente: S03 C.14 L10 · C.3 1b · C.4 · Base: Repaso_MidTerm_A1.pptx lámina 9, sin romanización, sin 응/어/아니, 안/못
Lámina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20:12–20:15. Diseño: flechas de entonación en azul. Con el libro en la mano y la voz que sube: «이거 빵이에요?» → el grupo se ríe: «아니요!» → «아니요, 빵이 아니에요. 책이에요.» Con el celular: «이거 우유예요?» → «아니요, 우유가 아니에요. 휴대폰이에요.»; con el lápiz: «이거 연필이에요?» → «네, 연필이에요.» Luego: «네 es sí. Suena como 'ne' y parece 'no', pero es sí. Para preguntar no cambias nada: la misma frase con la voz hacia arriba.» La entonación se modela, no se corrige 1:1.
Fuente: S03 C.14 L11 · C.3 1c · C.4
Lámina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«Para decir 'no es', la misma regla de bolsillo de la semana pasada. ¿Termina en 받침? → 이 아니에요: 빵이 아니에요. ¿Termina en vocal? → 가 아니에요: 우유가 아니에요. El orden es al revés que en español: primero la cosa y al final el 'no es'.» Pregunta siempre «¿termina en 받침?» en vez de dar la respuesta. Si preguntan qué es ese 이/가: «Es una partícula; en la semana 5 la vemos con otro uso. Por ahora es parte del molde 'no es'.» No digas que aquí marca el sujeto ni abras 은/는 vs 이/가 (S7).
Fuente: S03 C.14 L12 · C.3 1c · C.4 · Base: Sesion_03_Saludos.pptx láminas 24–25 (빵/우유 en vez de 학생/요리사, sin romanización ni ejemplos con 저는)
Lámina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«Ojo con dos palabras que parecen gemelas. 아니요 es 'no', la respuesta corta. 아니에요 es 'no es'. La respuesta completa lleva las dos.» Coro rápido: 네, 빵이에요. / 아니요, 빵이 아니에요. / 아니요, 우유가 아니에요. Error típico que se corrige con esta lámina: «빵이 아니요». Cierra el bloque a las 20:15.
Fuente: S03 C.14 L13 · C.3 1c · C.6
Lámina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20:15–20:17. «Desde hoy, cuando una palabra no suena como se escribe, la van a ver en 한글 entre corchetes. No es una regla para memorizar: se escucha y se imita la palabra entera.» Coro, dos veces cada una. Si preguntan por qué, una sola frase: «La consonante de abajo se apoya en la vocal que viene; la ㅇ no se mueve.» Sobre 뭐예요: «Hablando rápido suele sonar [뭐에요]; [뭐예요] también está bien. Pero se escribe siempre 뭐예요; en el chat, 뭐예요.»
Fuente: S03 C.14 L14 · C.3 1d · C.7
Lámina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20:17–20:18. Muestra la foto sin texto: «이거 뭐예요?» y deja que adivinen en español («¿un pescado?», «¿un waffle?»). «¡Para esto sirve 뭐예요: para lo que no conoces!» Clic: «붕어빵이에요. 따라 하세요: 붕어빵이에요.» → coro.
Imagen sugerida: Foto de 붕어빵 sin texto (licencia libre o propia del equipo; sin rojo)
Fuente: S03 C.14 L15 · C.3 1e · A campo 7
Lámina 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20:18–20:20, tres datos en 1 minuto. 1) «붕어 es un pez, una carpa, y 빵 es pan: 'pan-pez'. No lleva pescado: va relleno de pasta dulce de porotos rojos o de crema.» 2) «En Seúl aparece en puestos callejeros cuando empieza el frío. Allá ahora es otoño; acá en el Cono Sur, primavera: estaciones al revés (en México, EE.UU. o España también van entrando al frío).» 3) «Mucho pan de panadería coreano es blando y dulce y se come como merienda o antojo; ese papel en la comida lo hace el arroz. También hay pan salado. Si eres de México, piensa en el pan dulce.» Cierra con el coro: 이거 뭐예요? — 붕어빵이에요. Sin marcas comerciales.
Fuente: S03 C.14 L16 · C.3 1e · A campo 7 · Material del alumno §8
Lámina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20:20–20:23. Ítems 1–5 en coro, con micrófonos abiertos: señalas la imagen y preguntas («빵이에요?»); el grupo responde la frase completa y el clic muestra la respuesta. Si prefieres, muestra a la cámara los dibujos de la lección 3 de tu libro (no se copian en el deck). La corrección siempre termina en ___이에요/예요; 김치, 우유 y 밥 son reciclaje de la S1–S2.
Imagen sugerida: 5 imágenes numeradas, propias o íconos (ninguna en rojo): 1 pan · 2 vaso de leche · 3 libro · 4 taza de café · 5 plato de arroz
Fuente: S03 C.14 L17 · C.13 Quiz relámpago · C.3 2a
Lámina 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20:23–20:25. Ítems 6–10 por nombre: dices el nombre del alumno, señalas la imagen y haces la pregunta; responde con la frase completa. Si responde solo «아니요», pide el resto con un gesto de «sigue» y, si hace falta, en español: «frase completa». 구두, 모자 y 오이 son reciclaje de la S1.
Imagen sugerida: 5 imágenes numeradas, propias o íconos (ninguna en rojo): 6 silla · 7 gorro · 8 lápiz · 9 reloj de pulsera · 10 pepino
Fuente: S03 C.14 L18 · C.13 Quiz relámpago · C.3 2a
Lámina 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20:25–20:28 (con 19b). «Les muestro una palabra. Escriben solo la palabra + 이 o 가, pero no aprieten Enter hasta que diga '¡ya!'. Después, la frase completa en voz alta.» Una palabra por clic: «3, 2, 1… ¡ya!», revisas la cascada de un vistazo y el grupo dice en coro la frase entera. Donde haya errores: «¿Termina en 받침?» (no des la respuesta). Corrige el espacio: la partícula va pegada (우산이, no «우산 이»). Unos 20 segundos por palabra.
Fuente: S03 C.14 L19 (partida en 19a/19b por el límite de 6 ítems) · C.13 Cascada · C.3 2b
Lámina 19a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Sigue igual con las 4 últimas palabras. Si a las 20:28 no terminaste, cortas donde vayas: la lectura por turnos no se mueve. Si vas atrasada, la cascada es lo segundo que se recorta (el quiz relámpago ya trabajó 이/가).
Fuente: S03 C.14 L19 · C.13 Cascada · C.3 2b · C.12
Lámina 19b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20:28–20:33 (con 20b). Una línea por alumno, por nombre. Corriges solo el foco de la semana: 1 ㅓ de 뭐, [뭐에요] · 2 [채기에요] · 3 [무리에요], ㅜ · 4 [연피리에요], ㅕ · 5 [책쌍이에요] · 6 [커비에요] · 7 ㅇ final [가방이에요] · 8 [우사니에요], ㅜ. Modela y di «다시 한번»; al segundo intento, «잘했어요!» aunque no sea perfecto. Letra grande: se lee desde el celular.
Fuente: S03 C.14 L20 (partida en 20a/20b por el límite de 8 filas) · C.13 Lectura por turnos · C.3 2c
Lámina 20a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Focos: 9 [공채기에요] · 10 ㅓ de 그거 y 커피, voz que sube · 11 voz que baja · 12 tensa ㅃ y ㅇ final · 13 ㅓ de 저게 · 14 [시게] · 15 frase ancla. La entonación se modela, no se corrige 1:1: solo importa que la pregunta suene a pregunta. Si vas atrasada, leen solo 5 alumnos y el resto se corrige en las salas.
Fuente: S03 C.14 L20 · C.13 Lectura por turnos · C.3 2c · C.12
Lámina 20b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20:33–20:34. «Van a salas de 2 o 3. Tienen tres tareas y sus tarjetas están en su material, en 'En clase: hablamos'.» En la tarea B, quien muestra pregunta «이게 뭐예요?» y quien mira pregunta «그게 뭐예요?» o hace preguntas trampa («그거 컵이에요?»). 7 salas automáticas; mueve 2–3 personas para que cada sala tenga un lector seguro (según el dictado del quiz 2). Mensajes a todas las salas a las 20:40 (tarea B), 20:49 (tarea C) y 20:51 («1 minuto: terminen la frase»); a las 20:52, cerrar con cuenta regresiva de 30 s. En cada visita (~2,5 min) corrige un solo error en coreano y anota 이/가 en 아니에요 y 그거 para lo del compañero.
Fuente: S03 C.14 L21 · B 20:33–20:52 · C.3 Bloque 3 · C.2 (mensajes) · Material del alumno §7
Lámina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Tarea A (20:34–20:40). Turno de A (3 min): elige una cosa de la escena y dice una frase con 이거, 그거 o 저거 desde su lugar («저거 시계예요.»); B es el árbitro. Turno de B (3 min): ahora lo que está cerca de B es 이거. El árbitro también puede preguntar «그게 뭐예요?» · «저게 뭐예요?». En salas de 3, la tercera persona es segunda árbitra y después toma un turno.
Imagen sugerida: Dibujo simple de un café de Seúl: dos personajes frente a frente (A y B); cerca de A café, celular y libro; cerca de B bolso, paraguas y cuaderno; reloj en la pared del fondo y puesto de 붕어빵 en la calle, lejos de los dos. La misma escena de la tarjeta A del material del alumno. Sin rojo.
Fuente: S03 C.14 L22 · Material del alumno §7 Tarea A
Lámina 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Tarea C (20:49–20:52). Mensaje a las salas a las 20:49: «Tarea C · Minuto libre (3 min), sin mirar la hoja: saca 2 o 3 cosas que NO preparaste. 그게 뭐예요? + 어느 나라 사람이에요?» En la tarea C no corriges: escuchas. Es el único momento de la semana en que hablan sin guion.
Fuente: S03 C.14 L23 · Tarjeta B.11 del diseño · Material del alumno §7 Tarea C · C.2
Lámina 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20:53–20:55. «Tres cosas que escuché en las salas…» (sin nombres); completas las casillas en voz. Si no escuchaste otras, usa las de respaldo. Después: «¿Qué cosas no sabían nombrar?» Uno o dos alumnos muestran su objeto: «선생님, 이게 뭐예요?» → respondes con una palabra de rescate («지갑이에요.») y aclaras: «es de regalo, no entra en el quiz». Rescate: 지갑 billetera · 볼펜 bolígrafo · 이어폰 audífonos · 충전기 cargador · 노트북 notebook · 마스크 mascarilla · 텀블러 termo · 립밤 bálsamo labial · 리모컨 control remoto · 달력 calendario · 인형 peluche · 칠판 pizarra · 지우개 goma de borrar.
Fuente: S03 C.14 L24 · C.3 Bloque 4 · C.18
Lámina 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20:55–20:57. Dices cada frase sola, clara y despacio, una vez (de esa toma se recorta el clip B1_S03_frases_clave.mp3; tú no grabas ni editas nada) y el grupo repite dos veces, con micrófonos abiertos. Letra muy grande.
Fuente: S03 C.14 L25 · §0 · C.3 Bloque 4
Lámina 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20:57–20:58, en 30 segundos: «Tres cosas antes de la próxima clase: Lector, Pictogramas y Palabras, tres rondas de cada uno; la hoja con el quiz y la foto de 5 cosas de tu casa con su etiqueta en 한글; y un audio de 30 segundos preguntando y respondiendo con el objeto en la mano. Y para la clase 4: elijan una foto con 3 o 4 personas.» En el audio, al menos una respuesta con 아니요. La clase 4 abre con el quiz 3 sobre esta semana.
Fuente: S03 C.14 L26 · A campo 13 · C.3 Bloque 4 · Material del alumno §9
Lámina 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«감사합니다! 화이팅!» Despedida con la convención de la S2 (ellos se van y tú te quedas): te dicen «안녕히 계세요!» y respondes «안녕히 가세요!». 20:58: detienes la grabación y «Finalizar reunión para todos» (a las 21:00 empieza otra clase en la misma cuenta).
Imagen sugerida: Sello del tigre (versión 2, sin marco)
Fuente: S03 C.14 L27 · C.3 Bloque 4
Lámina 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PORTADA">
    <p:bg>
      <p:bgPr>
        <a:solidFill>
          <a:srgbClr val="0034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00200" y="7132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FFFFFF"/>
                </a:solidFill>
              </a:rPr>
              <a:t>ACADEMIA SEÚL</a:t>
            </a:r>
            <a:endParaRPr lang="en-US" sz="14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44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E8B84B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6" name="Text 1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9C3DA"/>
                </a:solidFill>
              </a:rPr>
              <a:t>Básico 1 (A1.1) · Semana 3 · Kiran (기란) · Academia Seúl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rgbClr val="003478"/>
                </a:solidFill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pic>
        <p:nvPicPr>
          <p:cNvPr id="3" name="Image 0" descr="C:/Users/Chingu/Desktop/ACADEMIASEULWEB/public/email/sello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411480"/>
            <a:ext cx="502920" cy="502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DA0"/>
                </a:solidFill>
              </a:rPr>
              <a:t>Básico 1 (A1.1) · Semana 3 · Kiran (기란) · Academia Seúl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IERRE">
    <p:bg>
      <p:bgPr>
        <a:solidFill>
          <a:srgbClr val="423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5029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Text 0"/>
          <p:cNvSpPr txBox="1"/>
          <p:nvPr/>
        </p:nvSpPr>
        <p:spPr>
          <a:xfrm>
            <a:off x="731520" y="626364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9D7F7"/>
                </a:solidFill>
              </a:rPr>
              <a:t>Básico 1 (A1.1) · Semana 3 · Kiran (기란) · Academia Seúl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0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0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0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0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0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audio" Target="../media/media5.mp3"/><Relationship Id="rId13" Type="http://schemas.openxmlformats.org/officeDocument/2006/relationships/slideLayout" Target="../slideLayouts/slideLayout3.xml"/><Relationship Id="rId18" Type="http://schemas.openxmlformats.org/officeDocument/2006/relationships/image" Target="../media/image6.png"/><Relationship Id="rId3" Type="http://schemas.microsoft.com/office/2007/relationships/media" Target="../media/media3.mp3"/><Relationship Id="rId21" Type="http://schemas.openxmlformats.org/officeDocument/2006/relationships/image" Target="../media/image9.png"/><Relationship Id="rId7" Type="http://schemas.microsoft.com/office/2007/relationships/media" Target="../media/media5.mp3"/><Relationship Id="rId12" Type="http://schemas.openxmlformats.org/officeDocument/2006/relationships/audio" Target="../media/media7.mp3"/><Relationship Id="rId17" Type="http://schemas.openxmlformats.org/officeDocument/2006/relationships/image" Target="../media/image5.png"/><Relationship Id="rId2" Type="http://schemas.openxmlformats.org/officeDocument/2006/relationships/audio" Target="../media/media2.mp3"/><Relationship Id="rId16" Type="http://schemas.openxmlformats.org/officeDocument/2006/relationships/image" Target="../media/image3.png"/><Relationship Id="rId20" Type="http://schemas.openxmlformats.org/officeDocument/2006/relationships/image" Target="../media/image8.png"/><Relationship Id="rId1" Type="http://schemas.microsoft.com/office/2007/relationships/media" Target="../media/media2.mp3"/><Relationship Id="rId6" Type="http://schemas.openxmlformats.org/officeDocument/2006/relationships/audio" Target="../media/media4.mp3"/><Relationship Id="rId11" Type="http://schemas.microsoft.com/office/2007/relationships/media" Target="../media/media7.mp3"/><Relationship Id="rId5" Type="http://schemas.microsoft.com/office/2007/relationships/media" Target="../media/media4.mp3"/><Relationship Id="rId15" Type="http://schemas.openxmlformats.org/officeDocument/2006/relationships/image" Target="../media/image4.png"/><Relationship Id="rId10" Type="http://schemas.openxmlformats.org/officeDocument/2006/relationships/audio" Target="../media/media6.mp3"/><Relationship Id="rId19" Type="http://schemas.openxmlformats.org/officeDocument/2006/relationships/image" Target="../media/image7.png"/><Relationship Id="rId4" Type="http://schemas.openxmlformats.org/officeDocument/2006/relationships/audio" Target="../media/media3.mp3"/><Relationship Id="rId9" Type="http://schemas.microsoft.com/office/2007/relationships/media" Target="../media/media6.mp3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audio" Target="../media/media11.mp3"/><Relationship Id="rId13" Type="http://schemas.openxmlformats.org/officeDocument/2006/relationships/slideLayout" Target="../slideLayouts/slideLayout3.xml"/><Relationship Id="rId18" Type="http://schemas.openxmlformats.org/officeDocument/2006/relationships/image" Target="../media/image12.png"/><Relationship Id="rId3" Type="http://schemas.microsoft.com/office/2007/relationships/media" Target="../media/media9.mp3"/><Relationship Id="rId21" Type="http://schemas.openxmlformats.org/officeDocument/2006/relationships/image" Target="../media/image15.png"/><Relationship Id="rId7" Type="http://schemas.microsoft.com/office/2007/relationships/media" Target="../media/media11.mp3"/><Relationship Id="rId12" Type="http://schemas.openxmlformats.org/officeDocument/2006/relationships/audio" Target="../media/media13.mp3"/><Relationship Id="rId17" Type="http://schemas.openxmlformats.org/officeDocument/2006/relationships/image" Target="../media/image11.png"/><Relationship Id="rId2" Type="http://schemas.openxmlformats.org/officeDocument/2006/relationships/audio" Target="../media/media8.mp3"/><Relationship Id="rId16" Type="http://schemas.openxmlformats.org/officeDocument/2006/relationships/image" Target="../media/image3.png"/><Relationship Id="rId20" Type="http://schemas.openxmlformats.org/officeDocument/2006/relationships/image" Target="../media/image14.png"/><Relationship Id="rId1" Type="http://schemas.microsoft.com/office/2007/relationships/media" Target="../media/media8.mp3"/><Relationship Id="rId6" Type="http://schemas.openxmlformats.org/officeDocument/2006/relationships/audio" Target="../media/media10.mp3"/><Relationship Id="rId11" Type="http://schemas.microsoft.com/office/2007/relationships/media" Target="../media/media13.mp3"/><Relationship Id="rId5" Type="http://schemas.microsoft.com/office/2007/relationships/media" Target="../media/media10.mp3"/><Relationship Id="rId15" Type="http://schemas.openxmlformats.org/officeDocument/2006/relationships/image" Target="../media/image10.png"/><Relationship Id="rId10" Type="http://schemas.openxmlformats.org/officeDocument/2006/relationships/audio" Target="../media/media12.mp3"/><Relationship Id="rId19" Type="http://schemas.openxmlformats.org/officeDocument/2006/relationships/image" Target="../media/image13.png"/><Relationship Id="rId4" Type="http://schemas.openxmlformats.org/officeDocument/2006/relationships/audio" Target="../media/media9.mp3"/><Relationship Id="rId9" Type="http://schemas.microsoft.com/office/2007/relationships/media" Target="../media/media12.mp3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8.xml"/><Relationship Id="rId3" Type="http://schemas.microsoft.com/office/2007/relationships/media" Target="../media/media15.mp3"/><Relationship Id="rId7" Type="http://schemas.openxmlformats.org/officeDocument/2006/relationships/slideLayout" Target="../slideLayouts/slideLayout3.xml"/><Relationship Id="rId12" Type="http://schemas.openxmlformats.org/officeDocument/2006/relationships/image" Target="../media/image18.png"/><Relationship Id="rId2" Type="http://schemas.openxmlformats.org/officeDocument/2006/relationships/audio" Target="../media/media14.mp3"/><Relationship Id="rId1" Type="http://schemas.microsoft.com/office/2007/relationships/media" Target="../media/media14.mp3"/><Relationship Id="rId6" Type="http://schemas.openxmlformats.org/officeDocument/2006/relationships/audio" Target="../media/media16.mp3"/><Relationship Id="rId11" Type="http://schemas.openxmlformats.org/officeDocument/2006/relationships/image" Target="../media/image17.png"/><Relationship Id="rId5" Type="http://schemas.microsoft.com/office/2007/relationships/media" Target="../media/media16.mp3"/><Relationship Id="rId10" Type="http://schemas.openxmlformats.org/officeDocument/2006/relationships/image" Target="../media/image3.png"/><Relationship Id="rId4" Type="http://schemas.openxmlformats.org/officeDocument/2006/relationships/audio" Target="../media/media15.mp3"/><Relationship Id="rId9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17.mp3"/><Relationship Id="rId1" Type="http://schemas.microsoft.com/office/2007/relationships/media" Target="../media/media17.mp3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_ko"/>
          <p:cNvSpPr txBox="1"/>
          <p:nvPr/>
        </p:nvSpPr>
        <p:spPr>
          <a:xfrm>
            <a:off x="640080" y="16916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marL="0" indent="0" eaLnBrk="1">
              <a:buNone/>
            </a:pPr>
            <a:r>
              <a:rPr lang="ko-KR" altLang="en-US" sz="6600" b="1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이게 뭐예요</a:t>
            </a:r>
            <a:r>
              <a:rPr lang="en-US" sz="6600" b="1" dirty="0">
                <a:solidFill>
                  <a:srgbClr val="E8B84B"/>
                </a:solidFill>
              </a:rPr>
              <a:t>?</a:t>
            </a:r>
            <a:endParaRPr lang="en-US" sz="660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 eaLnBrk="1">
              <a:buNone/>
            </a:pPr>
            <a:r>
              <a:rPr lang="en-US" sz="4400" b="1" dirty="0">
                <a:solidFill>
                  <a:srgbClr val="FFFFFF"/>
                </a:solidFill>
              </a:rPr>
              <a:t>Semana 3 · ¿Qué es esto?</a:t>
            </a:r>
            <a:endParaRPr lang="en-US" sz="4400" dirty="0"/>
          </a:p>
        </p:txBody>
      </p:sp>
      <p:sp>
        <p:nvSpPr>
          <p:cNvPr id="4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22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Básico 1 (A1.1) · Lecciones 2 y 3 del libro · Kiran (기란</a:t>
            </a:r>
            <a:r>
              <a:rPr lang="en-US" sz="2200" dirty="0">
                <a:solidFill>
                  <a:srgbClr val="E8B84B"/>
                </a:solidFill>
              </a:rPr>
              <a:t>) · mar 27 / jue 29 oct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Quiz 2 · 5 respuestas</a:t>
            </a:r>
            <a:r>
              <a:rPr lang="en-US" sz="1500" b="1" i="1" dirty="0">
                <a:solidFill>
                  <a:srgbClr val="8A8DA0"/>
                </a:solidFill>
              </a:rPr>
              <a:t>   Quiz 2 · 5 answers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Un solo mensaje privado a Kiran: 1… 2… 3… 4… 5…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1 y 2 · Escribe lo que oyes.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저는 </a:t>
            </a:r>
            <a:r>
              <a:rPr lang="en-US" sz="2400" dirty="0">
                <a:solidFill>
                  <a:srgbClr val="14142B"/>
                </a:solidFill>
              </a:rPr>
              <a:t>[nombre 1]___. (¿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이에요 </a:t>
            </a:r>
            <a:r>
              <a:rPr lang="en-US" sz="2400" dirty="0">
                <a:solidFill>
                  <a:srgbClr val="14142B"/>
                </a:solidFill>
              </a:rPr>
              <a:t>o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예요</a:t>
            </a:r>
            <a:r>
              <a:rPr lang="en-US" sz="2400" dirty="0">
                <a:solidFill>
                  <a:srgbClr val="14142B"/>
                </a:solidFill>
              </a:rPr>
              <a:t>?)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저는 </a:t>
            </a:r>
            <a:r>
              <a:rPr lang="en-US" sz="2400" dirty="0">
                <a:solidFill>
                  <a:srgbClr val="14142B"/>
                </a:solidFill>
              </a:rPr>
              <a:t>[nombre 2]___. (¿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이에요 </a:t>
            </a:r>
            <a:r>
              <a:rPr lang="en-US" sz="2400" dirty="0">
                <a:solidFill>
                  <a:srgbClr val="14142B"/>
                </a:solidFill>
              </a:rPr>
              <a:t>o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예요</a:t>
            </a:r>
            <a:r>
              <a:rPr lang="en-US" sz="2400" dirty="0">
                <a:solidFill>
                  <a:srgbClr val="14142B"/>
                </a:solidFill>
              </a:rPr>
              <a:t>?)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5 · Sales de la casa de un amigo. Su mamá se queda en la puerta. ¿Qué le dices a ella?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Quiz 2 · respuestas</a:t>
            </a:r>
            <a:r>
              <a:rPr lang="en-US" sz="1500" b="1" i="1" dirty="0">
                <a:solidFill>
                  <a:srgbClr val="8A8DA0"/>
                </a:solidFill>
              </a:rPr>
              <a:t>   Quiz 2 · answers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Revisa tus 5 respuestas.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Dictado</a:t>
            </a:r>
            <a:endParaRPr lang="en-US" sz="2400" dirty="0"/>
          </a:p>
        </p:txBody>
      </p:sp>
      <p:sp>
        <p:nvSpPr>
          <p:cNvPr id="7" name="rev_0_caja"/>
          <p:cNvSpPr/>
          <p:nvPr/>
        </p:nvSpPr>
        <p:spPr>
          <a:xfrm>
            <a:off x="7498080" y="2002536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0_txt"/>
          <p:cNvSpPr txBox="1"/>
          <p:nvPr/>
        </p:nvSpPr>
        <p:spPr>
          <a:xfrm>
            <a:off x="7589520" y="2002536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밥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Dictado</a:t>
            </a:r>
            <a:endParaRPr lang="en-US" sz="2400" dirty="0"/>
          </a:p>
        </p:txBody>
      </p:sp>
      <p:sp>
        <p:nvSpPr>
          <p:cNvPr id="12" name="rev_1_caja"/>
          <p:cNvSpPr/>
          <p:nvPr/>
        </p:nvSpPr>
        <p:spPr>
          <a:xfrm>
            <a:off x="7498080" y="2869387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_txt"/>
          <p:cNvSpPr txBox="1"/>
          <p:nvPr/>
        </p:nvSpPr>
        <p:spPr>
          <a:xfrm>
            <a:off x="7589520" y="2869387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</a:t>
            </a:r>
            <a:r>
              <a:rPr lang="en-US" sz="2400" dirty="0">
                <a:solidFill>
                  <a:srgbClr val="14142B"/>
                </a:solidFill>
              </a:rPr>
              <a:t>[nombre 1]___.</a:t>
            </a:r>
            <a:endParaRPr lang="en-US" sz="2400" dirty="0"/>
          </a:p>
        </p:txBody>
      </p:sp>
      <p:sp>
        <p:nvSpPr>
          <p:cNvPr id="17" name="rev_2_caja"/>
          <p:cNvSpPr/>
          <p:nvPr/>
        </p:nvSpPr>
        <p:spPr>
          <a:xfrm>
            <a:off x="7498080" y="3736238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_txt"/>
          <p:cNvSpPr txBox="1"/>
          <p:nvPr/>
        </p:nvSpPr>
        <p:spPr>
          <a:xfrm>
            <a:off x="7589520" y="3736238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이에요 </a:t>
            </a:r>
            <a:r>
              <a:rPr lang="en-US" sz="1800" b="1" dirty="0">
                <a:solidFill>
                  <a:srgbClr val="FFFFFF"/>
                </a:solidFill>
              </a:rPr>
              <a:t>(p. ej., </a:t>
            </a:r>
            <a:r>
              <a:rPr lang="ko-KR" alt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다니엘이에요</a:t>
            </a:r>
            <a:r>
              <a:rPr lang="en-US" sz="1800" b="1" dirty="0">
                <a:solidFill>
                  <a:srgbClr val="FFFFFF"/>
                </a:solidFill>
              </a:rPr>
              <a:t>)</a:t>
            </a:r>
            <a:endParaRPr lang="en-US" sz="18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</a:t>
            </a:r>
            <a:r>
              <a:rPr lang="en-US" sz="2400" dirty="0">
                <a:solidFill>
                  <a:srgbClr val="14142B"/>
                </a:solidFill>
              </a:rPr>
              <a:t>[nombre 2]___.</a:t>
            </a:r>
            <a:endParaRPr lang="en-US" sz="2400" dirty="0"/>
          </a:p>
        </p:txBody>
      </p:sp>
      <p:sp>
        <p:nvSpPr>
          <p:cNvPr id="22" name="rev_3_caja"/>
          <p:cNvSpPr/>
          <p:nvPr/>
        </p:nvSpPr>
        <p:spPr>
          <a:xfrm>
            <a:off x="7498080" y="4603090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3_txt"/>
          <p:cNvSpPr txBox="1"/>
          <p:nvPr/>
        </p:nvSpPr>
        <p:spPr>
          <a:xfrm>
            <a:off x="7589520" y="4603090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예요 </a:t>
            </a:r>
            <a:r>
              <a:rPr lang="en-US" sz="2100" b="1" dirty="0">
                <a:solidFill>
                  <a:srgbClr val="FFFFFF"/>
                </a:solidFill>
              </a:rPr>
              <a:t>(p. ej., </a:t>
            </a:r>
            <a:r>
              <a:rPr lang="ko-KR" alt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마리아예요</a:t>
            </a:r>
            <a:r>
              <a:rPr lang="en-US" sz="2100" b="1" dirty="0">
                <a:solidFill>
                  <a:srgbClr val="FFFFFF"/>
                </a:solidFill>
              </a:rPr>
              <a:t>)</a:t>
            </a:r>
            <a:endParaRPr lang="en-US" sz="21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La mamá de tu amigo se queda en la puerta.</a:t>
            </a:r>
            <a:endParaRPr lang="en-US" sz="2400" dirty="0"/>
          </a:p>
        </p:txBody>
      </p:sp>
      <p:sp>
        <p:nvSpPr>
          <p:cNvPr id="27" name="rev_4_caja"/>
          <p:cNvSpPr/>
          <p:nvPr/>
        </p:nvSpPr>
        <p:spPr>
          <a:xfrm>
            <a:off x="7498080" y="5469941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4_txt"/>
          <p:cNvSpPr txBox="1"/>
          <p:nvPr/>
        </p:nvSpPr>
        <p:spPr>
          <a:xfrm>
            <a:off x="7589520" y="5469941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안녕히 계세요</a:t>
            </a:r>
            <a:endParaRPr lang="en-US" sz="22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Hoy vas a poder decir…</a:t>
            </a:r>
            <a:r>
              <a:rPr lang="en-US" sz="1500" b="1" i="1" dirty="0">
                <a:solidFill>
                  <a:srgbClr val="8A8DA0"/>
                </a:solidFill>
              </a:rPr>
              <a:t>   Today you will be able to say…</a:t>
            </a:r>
            <a:endParaRPr lang="en-US" sz="3000" dirty="0"/>
          </a:p>
        </p:txBody>
      </p:sp>
      <p:graphicFrame>
        <p:nvGraphicFramePr>
          <p:cNvPr id="5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5949430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이게 뭐예요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¿Qué es esto? — Es un libro.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그거 휴대폰이에요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휴대폰이에요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¿Eso es un celular? — Sí, es un celular.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빵이 아니에요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우유예요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No, no es pan. Es leche.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저거 시계예요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시계가 아니에요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가방이에요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¿Aquello es un reloj? — No, no es un reloj. Es un bolso.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이거 뭐예요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붕어빵이에요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¿Qué es esto? — Es un 붕어빵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(un pan con forma de pez).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이게 뭐예요</a:t>
            </a:r>
            <a:r>
              <a:rPr lang="en-US" sz="3000" b="1" dirty="0">
                <a:solidFill>
                  <a:srgbClr val="4236F6"/>
                </a:solidFill>
              </a:rPr>
              <a:t>?  </a:t>
            </a:r>
            <a:r>
              <a:rPr lang="en-US" sz="3000" b="1" dirty="0">
                <a:solidFill>
                  <a:srgbClr val="003478"/>
                </a:solidFill>
              </a:rPr>
              <a:t>¿Qué es esto?</a:t>
            </a:r>
            <a:r>
              <a:rPr lang="en-US" sz="1500" b="1" i="1" dirty="0">
                <a:solidFill>
                  <a:srgbClr val="8A8DA0"/>
                </a:solidFill>
              </a:rPr>
              <a:t>   What is this?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6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이게 뭐예요</a:t>
            </a:r>
            <a:r>
              <a:rPr lang="en-US" sz="6400" b="1" dirty="0">
                <a:solidFill>
                  <a:srgbClr val="4236F6"/>
                </a:solidFill>
              </a:rPr>
              <a:t>?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3657600"/>
            <a:ext cx="9262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0">
              <a:buNone/>
            </a:pPr>
            <a:endParaRPr lang="en-US" sz="2400" dirty="0"/>
          </a:p>
        </p:txBody>
      </p:sp>
      <p:pic>
        <p:nvPicPr>
          <p:cNvPr id="6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0332720" y="4160520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Cosas de todos los días (1)</a:t>
            </a:r>
            <a:r>
              <a:rPr lang="en-US" sz="1500" b="1" i="1" dirty="0">
                <a:solidFill>
                  <a:srgbClr val="8A8DA0"/>
                </a:solidFill>
              </a:rPr>
              <a:t>   Everyday things (1)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★ = palabra núcleo: entra en el quiz 3 y en el examen</a:t>
            </a:r>
            <a:endParaRPr lang="en-US" sz="1800" dirty="0"/>
          </a:p>
        </p:txBody>
      </p:sp>
      <p:sp>
        <p:nvSpPr>
          <p:cNvPr id="4" name="card_0"/>
          <p:cNvSpPr/>
          <p:nvPr/>
        </p:nvSpPr>
        <p:spPr>
          <a:xfrm>
            <a:off x="548640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5" name="dibujo_0" descr="C:\Users\Chingu\AppData\Local\Temp\claude\C--Users-Chingu-Desktop-ACADEMIASEULWEB\d4111e1b-5523-44ea-97b2-b1a1d9545b9e\scratchpad\decks\cache\ecb18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893799" y="1984248"/>
            <a:ext cx="854507" cy="85450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857043"/>
            <a:ext cx="3544824" cy="4475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3304642"/>
            <a:ext cx="339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libro ★</a:t>
            </a:r>
            <a:endParaRPr lang="en-US" sz="1600" dirty="0"/>
          </a:p>
        </p:txBody>
      </p:sp>
      <p:pic>
        <p:nvPicPr>
          <p:cNvPr id="13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3654552" y="3488436"/>
            <a:ext cx="329184" cy="329184"/>
          </a:xfrm>
          <a:prstGeom prst="rect">
            <a:avLst/>
          </a:prstGeom>
        </p:spPr>
      </p:pic>
      <p:sp>
        <p:nvSpPr>
          <p:cNvPr id="9" name="card_1"/>
          <p:cNvSpPr/>
          <p:nvPr/>
        </p:nvSpPr>
        <p:spPr>
          <a:xfrm>
            <a:off x="4322064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0" name="dibujo_1" descr="C:\Users\Chingu\AppData\Local\Temp\claude\C--Users-Chingu-Desktop-ACADEMIASEULWEB\d4111e1b-5523-44ea-97b2-b1a1d9545b9e\scratchpad\decks\cache\ec97b0ed9584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667223" y="1984248"/>
            <a:ext cx="854507" cy="85450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322064" y="2857043"/>
            <a:ext cx="3544824" cy="4475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연필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4395216" y="3304642"/>
            <a:ext cx="339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lápiz ★</a:t>
            </a:r>
            <a:endParaRPr lang="en-US" sz="1600" dirty="0"/>
          </a:p>
        </p:txBody>
      </p:sp>
      <p:pic>
        <p:nvPicPr>
          <p:cNvPr id="8" name="Media 1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7427976" y="3488436"/>
            <a:ext cx="329184" cy="329184"/>
          </a:xfrm>
          <a:prstGeom prst="rect">
            <a:avLst/>
          </a:prstGeom>
        </p:spPr>
      </p:pic>
      <p:sp>
        <p:nvSpPr>
          <p:cNvPr id="14" name="card_2"/>
          <p:cNvSpPr/>
          <p:nvPr/>
        </p:nvSpPr>
        <p:spPr>
          <a:xfrm>
            <a:off x="8095488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5" name="dibujo_2" descr="C:\Users\Chingu\AppData\Local\Temp\claude\C--Users-Chingu-Desktop-ACADEMIASEULWEB\d4111e1b-5523-44ea-97b2-b1a1d9545b9e\scratchpad\decks\cache\eab3b5ecb185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440647" y="1984248"/>
            <a:ext cx="854507" cy="854507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095488" y="2857043"/>
            <a:ext cx="3544824" cy="4475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공책</a:t>
            </a:r>
            <a:endParaRPr lang="en-US" sz="2800" dirty="0"/>
          </a:p>
        </p:txBody>
      </p:sp>
      <p:sp>
        <p:nvSpPr>
          <p:cNvPr id="17" name="Text 10"/>
          <p:cNvSpPr txBox="1"/>
          <p:nvPr/>
        </p:nvSpPr>
        <p:spPr>
          <a:xfrm>
            <a:off x="8168640" y="3304642"/>
            <a:ext cx="339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cuaderno</a:t>
            </a:r>
            <a:endParaRPr lang="en-US" sz="1600" dirty="0"/>
          </a:p>
        </p:txBody>
      </p:sp>
      <p:pic>
        <p:nvPicPr>
          <p:cNvPr id="18" name="Media 2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11201400" y="3488436"/>
            <a:ext cx="329184" cy="329184"/>
          </a:xfrm>
          <a:prstGeom prst="rect">
            <a:avLst/>
          </a:prstGeom>
        </p:spPr>
      </p:pic>
      <p:sp>
        <p:nvSpPr>
          <p:cNvPr id="19" name="card_3"/>
          <p:cNvSpPr/>
          <p:nvPr/>
        </p:nvSpPr>
        <p:spPr>
          <a:xfrm>
            <a:off x="548640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0" name="dibujo_3" descr="C:\Users\Chingu\AppData\Local\Temp\claude\C--Users-Chingu-Desktop-ACADEMIASEULWEB\d4111e1b-5523-44ea-97b2-b1a1d9545b9e\scratchpad\decks\cache\eab080ebb0a9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893799" y="4247388"/>
            <a:ext cx="854507" cy="854507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548640" y="5120183"/>
            <a:ext cx="3544824" cy="4475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가방</a:t>
            </a:r>
            <a:endParaRPr lang="en-US" sz="2800" dirty="0"/>
          </a:p>
        </p:txBody>
      </p:sp>
      <p:sp>
        <p:nvSpPr>
          <p:cNvPr id="22" name="Text 13"/>
          <p:cNvSpPr txBox="1"/>
          <p:nvPr/>
        </p:nvSpPr>
        <p:spPr>
          <a:xfrm>
            <a:off x="621792" y="5567782"/>
            <a:ext cx="339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bolso, mochila ★</a:t>
            </a:r>
            <a:endParaRPr lang="en-US" sz="1600" dirty="0"/>
          </a:p>
        </p:txBody>
      </p:sp>
      <p:pic>
        <p:nvPicPr>
          <p:cNvPr id="23" name="Media 3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3654552" y="5751576"/>
            <a:ext cx="329184" cy="329184"/>
          </a:xfrm>
          <a:prstGeom prst="rect">
            <a:avLst/>
          </a:prstGeom>
        </p:spPr>
      </p:pic>
      <p:sp>
        <p:nvSpPr>
          <p:cNvPr id="24" name="card_4"/>
          <p:cNvSpPr/>
          <p:nvPr/>
        </p:nvSpPr>
        <p:spPr>
          <a:xfrm>
            <a:off x="4322064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5" name="dibujo_4" descr="C:\Users\Chingu\AppData\Local\Temp\claude\C--Users-Chingu-Desktop-ACADEMIASEULWEB\d4111e1b-5523-44ea-97b2-b1a1d9545b9e\scratchpad\decks\cache\ed9cb4eb8c80ed8fb0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67223" y="4247388"/>
            <a:ext cx="854507" cy="854507"/>
          </a:xfrm>
          <a:prstGeom prst="rect">
            <a:avLst/>
          </a:prstGeom>
        </p:spPr>
      </p:pic>
      <p:sp>
        <p:nvSpPr>
          <p:cNvPr id="26" name="Text 15"/>
          <p:cNvSpPr txBox="1"/>
          <p:nvPr/>
        </p:nvSpPr>
        <p:spPr>
          <a:xfrm>
            <a:off x="4322064" y="5120183"/>
            <a:ext cx="3544824" cy="4475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</a:t>
            </a:r>
            <a:endParaRPr lang="en-US" sz="2800" dirty="0"/>
          </a:p>
        </p:txBody>
      </p:sp>
      <p:sp>
        <p:nvSpPr>
          <p:cNvPr id="27" name="Text 16"/>
          <p:cNvSpPr txBox="1"/>
          <p:nvPr/>
        </p:nvSpPr>
        <p:spPr>
          <a:xfrm>
            <a:off x="4395216" y="5567782"/>
            <a:ext cx="339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celular ★</a:t>
            </a:r>
            <a:endParaRPr lang="en-US" sz="1600" dirty="0"/>
          </a:p>
        </p:txBody>
      </p:sp>
      <p:pic>
        <p:nvPicPr>
          <p:cNvPr id="28" name="Media 4">
            <a:hlinkClick r:id="" action="ppaction://media"/>
          </p:cNvPr>
          <p:cNvPicPr>
            <a:picLocks noChangeAspect="1"/>
          </p:cNvPicPr>
          <p:nvPr>
            <a:audi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7427976" y="5751576"/>
            <a:ext cx="329184" cy="329184"/>
          </a:xfrm>
          <a:prstGeom prst="rect">
            <a:avLst/>
          </a:prstGeom>
        </p:spPr>
      </p:pic>
      <p:sp>
        <p:nvSpPr>
          <p:cNvPr id="29" name="card_5"/>
          <p:cNvSpPr/>
          <p:nvPr/>
        </p:nvSpPr>
        <p:spPr>
          <a:xfrm>
            <a:off x="8095488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30" name="dibujo_5" descr="C:\Users\Chingu\AppData\Local\Temp\claude\C--Users-Chingu-Desktop-ACADEMIASEULWEB\d4111e1b-5523-44ea-97b2-b1a1d9545b9e\scratchpad\decks\cache\ec8b9ceab384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440647" y="4247388"/>
            <a:ext cx="854507" cy="854507"/>
          </a:xfrm>
          <a:prstGeom prst="rect">
            <a:avLst/>
          </a:prstGeom>
        </p:spPr>
      </p:pic>
      <p:sp>
        <p:nvSpPr>
          <p:cNvPr id="31" name="Text 18"/>
          <p:cNvSpPr txBox="1"/>
          <p:nvPr/>
        </p:nvSpPr>
        <p:spPr>
          <a:xfrm>
            <a:off x="8095488" y="5120183"/>
            <a:ext cx="3544824" cy="4475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</a:t>
            </a:r>
            <a:endParaRPr lang="en-US" sz="2800" dirty="0"/>
          </a:p>
        </p:txBody>
      </p:sp>
      <p:sp>
        <p:nvSpPr>
          <p:cNvPr id="32" name="Text 19"/>
          <p:cNvSpPr txBox="1"/>
          <p:nvPr/>
        </p:nvSpPr>
        <p:spPr>
          <a:xfrm>
            <a:off x="8168640" y="5567782"/>
            <a:ext cx="339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reloj ★</a:t>
            </a:r>
            <a:endParaRPr lang="en-US" sz="1600" dirty="0"/>
          </a:p>
        </p:txBody>
      </p:sp>
      <p:pic>
        <p:nvPicPr>
          <p:cNvPr id="33" name="Media 5">
            <a:hlinkClick r:id="" action="ppaction://media"/>
          </p:cNvPr>
          <p:cNvPicPr>
            <a:picLocks noChangeAspect="1"/>
          </p:cNvPicPr>
          <p:nvPr>
            <a:audioFile r:link="rId12"/>
            <p:extLst>
              <p:ext uri="{DAA4B4D4-6D71-4841-9C94-3DE7FCFB9230}">
                <p14:media xmlns:p14="http://schemas.microsoft.com/office/powerpoint/2010/main" r:embed="rId11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11201400" y="5751576"/>
            <a:ext cx="329184" cy="329184"/>
          </a:xfrm>
          <a:prstGeom prst="rect">
            <a:avLst/>
          </a:prstGeom>
        </p:spPr>
      </p:pic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Cosas de todos los días (2)</a:t>
            </a:r>
            <a:r>
              <a:rPr lang="en-US" sz="1500" b="1" i="1" dirty="0">
                <a:solidFill>
                  <a:srgbClr val="8A8DA0"/>
                </a:solidFill>
              </a:rPr>
              <a:t>   Everyday things (2)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★ = palabra núcleo</a:t>
            </a:r>
            <a:endParaRPr lang="en-US" sz="1800" dirty="0"/>
          </a:p>
        </p:txBody>
      </p:sp>
      <p:sp>
        <p:nvSpPr>
          <p:cNvPr id="4" name="card_0"/>
          <p:cNvSpPr/>
          <p:nvPr/>
        </p:nvSpPr>
        <p:spPr>
          <a:xfrm>
            <a:off x="548640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5" name="dibujo_0" descr="C:\Users\Chingu\AppData\Local\Temp\claude\C--Users-Chingu-Desktop-ACADEMIASEULWEB\d4111e1b-5523-44ea-97b2-b1a1d9545b9e\scratchpad\decks\cache\ec9d98ec9e9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893799" y="1984248"/>
            <a:ext cx="854507" cy="85450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857043"/>
            <a:ext cx="3544824" cy="4475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의자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3304642"/>
            <a:ext cx="339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silla ★</a:t>
            </a:r>
            <a:endParaRPr lang="en-US" sz="1600" dirty="0"/>
          </a:p>
        </p:txBody>
      </p:sp>
      <p:pic>
        <p:nvPicPr>
          <p:cNvPr id="14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3654552" y="3488436"/>
            <a:ext cx="329184" cy="329184"/>
          </a:xfrm>
          <a:prstGeom prst="rect">
            <a:avLst/>
          </a:prstGeom>
        </p:spPr>
      </p:pic>
      <p:sp>
        <p:nvSpPr>
          <p:cNvPr id="9" name="card_1"/>
          <p:cNvSpPr/>
          <p:nvPr/>
        </p:nvSpPr>
        <p:spPr>
          <a:xfrm>
            <a:off x="4322064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0" name="dibujo_1" descr="C:\Users\Chingu\AppData\Local\Temp\claude\C--Users-Chingu-Desktop-ACADEMIASEULWEB\d4111e1b-5523-44ea-97b2-b1a1d9545b9e\scratchpad\decks\cache\ecb185ec8381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667223" y="1984248"/>
            <a:ext cx="854507" cy="85450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322064" y="2857043"/>
            <a:ext cx="3544824" cy="4475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책상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4322064" y="3304642"/>
            <a:ext cx="3544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[책쌍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4395216" y="3578962"/>
            <a:ext cx="339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escritorio ★</a:t>
            </a:r>
            <a:endParaRPr lang="en-US" sz="1600" dirty="0"/>
          </a:p>
        </p:txBody>
      </p:sp>
      <p:pic>
        <p:nvPicPr>
          <p:cNvPr id="8" name="Media 1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7427976" y="3488436"/>
            <a:ext cx="329184" cy="329184"/>
          </a:xfrm>
          <a:prstGeom prst="rect">
            <a:avLst/>
          </a:prstGeom>
        </p:spPr>
      </p:pic>
      <p:sp>
        <p:nvSpPr>
          <p:cNvPr id="15" name="card_2"/>
          <p:cNvSpPr/>
          <p:nvPr/>
        </p:nvSpPr>
        <p:spPr>
          <a:xfrm>
            <a:off x="8095488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6" name="dibujo_2" descr="C:\Users\Chingu\AppData\Local\Temp\claude\C--Users-Chingu-Desktop-ACADEMIASEULWEB\d4111e1b-5523-44ea-97b2-b1a1d9545b9e\scratchpad\decks\cache\ec9ab0ec82b0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440647" y="1984248"/>
            <a:ext cx="854507" cy="854507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095488" y="2857043"/>
            <a:ext cx="3544824" cy="4475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우산</a:t>
            </a:r>
            <a:endParaRPr lang="en-US" sz="2800" dirty="0"/>
          </a:p>
        </p:txBody>
      </p:sp>
      <p:sp>
        <p:nvSpPr>
          <p:cNvPr id="18" name="Text 11"/>
          <p:cNvSpPr txBox="1"/>
          <p:nvPr/>
        </p:nvSpPr>
        <p:spPr>
          <a:xfrm>
            <a:off x="8168640" y="3304642"/>
            <a:ext cx="339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paraguas ★</a:t>
            </a:r>
            <a:endParaRPr lang="en-US" sz="1600" dirty="0"/>
          </a:p>
        </p:txBody>
      </p:sp>
      <p:pic>
        <p:nvPicPr>
          <p:cNvPr id="19" name="Media 2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11201400" y="3488436"/>
            <a:ext cx="329184" cy="329184"/>
          </a:xfrm>
          <a:prstGeom prst="rect">
            <a:avLst/>
          </a:prstGeom>
        </p:spPr>
      </p:pic>
      <p:sp>
        <p:nvSpPr>
          <p:cNvPr id="20" name="card_3"/>
          <p:cNvSpPr/>
          <p:nvPr/>
        </p:nvSpPr>
        <p:spPr>
          <a:xfrm>
            <a:off x="548640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1" name="dibujo_3" descr="C:\Users\Chingu\AppData\Local\Temp\claude\C--Users-Chingu-Desktop-ACADEMIASEULWEB\d4111e1b-5523-44ea-97b2-b1a1d9545b9e\scratchpad\decks\cache\ecbbb5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893799" y="4247388"/>
            <a:ext cx="854507" cy="854507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548640" y="5120183"/>
            <a:ext cx="3544824" cy="4475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</a:t>
            </a:r>
            <a:endParaRPr lang="en-US" sz="2800" dirty="0"/>
          </a:p>
        </p:txBody>
      </p:sp>
      <p:sp>
        <p:nvSpPr>
          <p:cNvPr id="23" name="Text 14"/>
          <p:cNvSpPr txBox="1"/>
          <p:nvPr/>
        </p:nvSpPr>
        <p:spPr>
          <a:xfrm>
            <a:off x="621792" y="5567782"/>
            <a:ext cx="339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taza, vaso</a:t>
            </a:r>
            <a:endParaRPr lang="en-US" sz="1600" dirty="0"/>
          </a:p>
        </p:txBody>
      </p:sp>
      <p:pic>
        <p:nvPicPr>
          <p:cNvPr id="29" name="Media 3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3654552" y="5751576"/>
            <a:ext cx="329184" cy="329184"/>
          </a:xfrm>
          <a:prstGeom prst="rect">
            <a:avLst/>
          </a:prstGeom>
        </p:spPr>
      </p:pic>
      <p:sp>
        <p:nvSpPr>
          <p:cNvPr id="25" name="card_4"/>
          <p:cNvSpPr/>
          <p:nvPr/>
        </p:nvSpPr>
        <p:spPr>
          <a:xfrm>
            <a:off x="4322064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6" name="dibujo_4" descr="C:\Users\Chingu\AppData\Local\Temp\claude\C--Users-Chingu-Desktop-ACADEMIASEULWEB\d4111e1b-5523-44ea-97b2-b1a1d9545b9e\scratchpad\decks\cache\ec9588eab2b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67223" y="4247388"/>
            <a:ext cx="854507" cy="854507"/>
          </a:xfrm>
          <a:prstGeom prst="rect">
            <a:avLst/>
          </a:prstGeom>
        </p:spPr>
      </p:pic>
      <p:sp>
        <p:nvSpPr>
          <p:cNvPr id="27" name="Text 16"/>
          <p:cNvSpPr txBox="1"/>
          <p:nvPr/>
        </p:nvSpPr>
        <p:spPr>
          <a:xfrm>
            <a:off x="4322064" y="5120183"/>
            <a:ext cx="3544824" cy="4475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안경</a:t>
            </a:r>
            <a:endParaRPr lang="en-US" sz="2800" dirty="0"/>
          </a:p>
        </p:txBody>
      </p:sp>
      <p:sp>
        <p:nvSpPr>
          <p:cNvPr id="28" name="Text 17"/>
          <p:cNvSpPr txBox="1"/>
          <p:nvPr/>
        </p:nvSpPr>
        <p:spPr>
          <a:xfrm>
            <a:off x="4395216" y="5567782"/>
            <a:ext cx="339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lentes, anteojos</a:t>
            </a:r>
            <a:endParaRPr lang="en-US" sz="1600" dirty="0"/>
          </a:p>
        </p:txBody>
      </p:sp>
      <p:pic>
        <p:nvPicPr>
          <p:cNvPr id="34" name="Media 4">
            <a:hlinkClick r:id="" action="ppaction://media"/>
          </p:cNvPr>
          <p:cNvPicPr>
            <a:picLocks noChangeAspect="1"/>
          </p:cNvPicPr>
          <p:nvPr>
            <a:audi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7427976" y="5751576"/>
            <a:ext cx="329184" cy="329184"/>
          </a:xfrm>
          <a:prstGeom prst="rect">
            <a:avLst/>
          </a:prstGeom>
        </p:spPr>
      </p:pic>
      <p:sp>
        <p:nvSpPr>
          <p:cNvPr id="30" name="card_5"/>
          <p:cNvSpPr/>
          <p:nvPr/>
        </p:nvSpPr>
        <p:spPr>
          <a:xfrm>
            <a:off x="8095488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31" name="dibujo_5" descr="C:\Users\Chingu\AppData\Local\Temp\claude\C--Users-Chingu-Desktop-ACADEMIASEULWEB\d4111e1b-5523-44ea-97b2-b1a1d9545b9e\scratchpad\decks\cache\ec97b4ec87a0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440647" y="4247388"/>
            <a:ext cx="854507" cy="854507"/>
          </a:xfrm>
          <a:prstGeom prst="rect">
            <a:avLst/>
          </a:prstGeom>
        </p:spPr>
      </p:pic>
      <p:sp>
        <p:nvSpPr>
          <p:cNvPr id="32" name="Text 19"/>
          <p:cNvSpPr txBox="1"/>
          <p:nvPr/>
        </p:nvSpPr>
        <p:spPr>
          <a:xfrm>
            <a:off x="8095488" y="5120183"/>
            <a:ext cx="3544824" cy="4475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열쇠</a:t>
            </a:r>
            <a:endParaRPr lang="en-US" sz="2800" dirty="0"/>
          </a:p>
        </p:txBody>
      </p:sp>
      <p:sp>
        <p:nvSpPr>
          <p:cNvPr id="33" name="Text 20"/>
          <p:cNvSpPr txBox="1"/>
          <p:nvPr/>
        </p:nvSpPr>
        <p:spPr>
          <a:xfrm>
            <a:off x="8168640" y="5567782"/>
            <a:ext cx="339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llave</a:t>
            </a:r>
            <a:endParaRPr lang="en-US" sz="1600" dirty="0"/>
          </a:p>
        </p:txBody>
      </p:sp>
      <p:pic>
        <p:nvPicPr>
          <p:cNvPr id="24" name="Media 5">
            <a:hlinkClick r:id="" action="ppaction://media"/>
          </p:cNvPr>
          <p:cNvPicPr>
            <a:picLocks noChangeAspect="1"/>
          </p:cNvPicPr>
          <p:nvPr>
            <a:audioFile r:link="rId12"/>
            <p:extLst>
              <p:ext uri="{DAA4B4D4-6D71-4841-9C94-3DE7FCFB9230}">
                <p14:media xmlns:p14="http://schemas.microsoft.com/office/powerpoint/2010/main" r:embed="rId11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11201400" y="5751576"/>
            <a:ext cx="329184" cy="329184"/>
          </a:xfrm>
          <a:prstGeom prst="rect">
            <a:avLst/>
          </a:prstGeom>
        </p:spPr>
      </p:pic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Para tomar y comer</a:t>
            </a:r>
            <a:r>
              <a:rPr lang="en-US" sz="1500" b="1" i="1" dirty="0">
                <a:solidFill>
                  <a:srgbClr val="8A8DA0"/>
                </a:solidFill>
              </a:rPr>
              <a:t>   To drink and eat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★ = palabra núcleo</a:t>
            </a:r>
            <a:endParaRPr lang="en-US" sz="1800" dirty="0"/>
          </a:p>
        </p:txBody>
      </p:sp>
      <p:sp>
        <p:nvSpPr>
          <p:cNvPr id="4" name="card_0"/>
          <p:cNvSpPr/>
          <p:nvPr/>
        </p:nvSpPr>
        <p:spPr>
          <a:xfrm>
            <a:off x="548640" y="1874520"/>
            <a:ext cx="3544824" cy="4297680"/>
          </a:xfrm>
          <a:prstGeom prst="roundRect">
            <a:avLst>
              <a:gd name="adj" fmla="val 3869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5" name="dibujo_0" descr="C:\Users\Chingu\AppData\Local\Temp\claude\C--Users-Chingu-Desktop-ACADEMIASEULWEB\d4111e1b-5523-44ea-97b2-b1a1d9545b9e\scratchpad\decks\cache\ebb9b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18539" y="1984248"/>
            <a:ext cx="1805026" cy="180502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807562"/>
            <a:ext cx="3544824" cy="9454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빵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753051"/>
            <a:ext cx="3398520" cy="10076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pan ★</a:t>
            </a:r>
            <a:endParaRPr lang="en-US" sz="1600" dirty="0"/>
          </a:p>
        </p:txBody>
      </p:sp>
      <p:pic>
        <p:nvPicPr>
          <p:cNvPr id="13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3654552" y="5751576"/>
            <a:ext cx="329184" cy="329184"/>
          </a:xfrm>
          <a:prstGeom prst="rect">
            <a:avLst/>
          </a:prstGeom>
        </p:spPr>
      </p:pic>
      <p:sp>
        <p:nvSpPr>
          <p:cNvPr id="9" name="card_1"/>
          <p:cNvSpPr/>
          <p:nvPr/>
        </p:nvSpPr>
        <p:spPr>
          <a:xfrm>
            <a:off x="4322064" y="1874520"/>
            <a:ext cx="3544824" cy="4297680"/>
          </a:xfrm>
          <a:prstGeom prst="roundRect">
            <a:avLst>
              <a:gd name="adj" fmla="val 3869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0" name="dibujo_1" descr="C:\Users\Chingu\AppData\Local\Temp\claude\C--Users-Chingu-Desktop-ACADEMIASEULWEB\d4111e1b-5523-44ea-97b2-b1a1d9545b9e\scratchpad\decks\cache\ebacb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91963" y="1984248"/>
            <a:ext cx="1805026" cy="180502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322064" y="3807562"/>
            <a:ext cx="3544824" cy="9454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</a:t>
            </a:r>
            <a:endParaRPr lang="en-US" sz="5400" dirty="0"/>
          </a:p>
        </p:txBody>
      </p:sp>
      <p:sp>
        <p:nvSpPr>
          <p:cNvPr id="12" name="Text 7"/>
          <p:cNvSpPr txBox="1"/>
          <p:nvPr/>
        </p:nvSpPr>
        <p:spPr>
          <a:xfrm>
            <a:off x="4395216" y="4753051"/>
            <a:ext cx="3398520" cy="10076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agua ★</a:t>
            </a:r>
            <a:endParaRPr lang="en-US" sz="1600" dirty="0"/>
          </a:p>
        </p:txBody>
      </p:sp>
      <p:pic>
        <p:nvPicPr>
          <p:cNvPr id="8" name="Media 1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7427976" y="5751576"/>
            <a:ext cx="329184" cy="329184"/>
          </a:xfrm>
          <a:prstGeom prst="rect">
            <a:avLst/>
          </a:prstGeom>
        </p:spPr>
      </p:pic>
      <p:sp>
        <p:nvSpPr>
          <p:cNvPr id="14" name="card_2"/>
          <p:cNvSpPr/>
          <p:nvPr/>
        </p:nvSpPr>
        <p:spPr>
          <a:xfrm>
            <a:off x="8095488" y="1874520"/>
            <a:ext cx="3544824" cy="4297680"/>
          </a:xfrm>
          <a:prstGeom prst="roundRect">
            <a:avLst>
              <a:gd name="adj" fmla="val 3869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5" name="dibujo_2" descr="C:\Users\Chingu\AppData\Local\Temp\claude\C--Users-Chingu-Desktop-ACADEMIASEULWEB\d4111e1b-5523-44ea-97b2-b1a1d9545b9e\scratchpad\decks\cache\ecbba4ed94bc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65387" y="1984248"/>
            <a:ext cx="1805026" cy="1805026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095488" y="3807562"/>
            <a:ext cx="3544824" cy="9454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</a:t>
            </a:r>
            <a:endParaRPr lang="en-US" sz="5400" dirty="0"/>
          </a:p>
        </p:txBody>
      </p:sp>
      <p:sp>
        <p:nvSpPr>
          <p:cNvPr id="17" name="Text 10"/>
          <p:cNvSpPr txBox="1"/>
          <p:nvPr/>
        </p:nvSpPr>
        <p:spPr>
          <a:xfrm>
            <a:off x="8168640" y="4753051"/>
            <a:ext cx="3398520" cy="10076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café (la bebida) ★</a:t>
            </a:r>
            <a:endParaRPr lang="en-US" sz="1600" dirty="0"/>
          </a:p>
        </p:txBody>
      </p:sp>
      <p:pic>
        <p:nvPicPr>
          <p:cNvPr id="18" name="Media 2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11201400" y="5751576"/>
            <a:ext cx="329184" cy="3291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이거 </a:t>
            </a:r>
            <a:r>
              <a:rPr lang="en-US" sz="2200" b="1" dirty="0">
                <a:solidFill>
                  <a:srgbClr val="4236F6"/>
                </a:solidFill>
              </a:rPr>
              <a:t>· </a:t>
            </a: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그거 </a:t>
            </a:r>
            <a:r>
              <a:rPr lang="en-US" sz="2200" b="1" dirty="0">
                <a:solidFill>
                  <a:srgbClr val="4236F6"/>
                </a:solidFill>
              </a:rPr>
              <a:t>· </a:t>
            </a: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저거  </a:t>
            </a:r>
            <a:r>
              <a:rPr lang="en-US" sz="2200" b="1" dirty="0">
                <a:solidFill>
                  <a:srgbClr val="003478"/>
                </a:solidFill>
              </a:rPr>
              <a:t>Esto · eso · aquello</a:t>
            </a:r>
            <a:r>
              <a:rPr lang="en-US" sz="1500" b="1" i="1" dirty="0">
                <a:solidFill>
                  <a:srgbClr val="8A8DA0"/>
                </a:solidFill>
              </a:rPr>
              <a:t>   This · that · that over there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 pregunta clave: ¿quién tiene la cosa? · 거 </a:t>
            </a:r>
            <a:r>
              <a:rPr lang="en-US" sz="1800" i="1" dirty="0">
                <a:solidFill>
                  <a:srgbClr val="4236F6"/>
                </a:solidFill>
              </a:rPr>
              <a:t>= cosa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Cerca de mí (quien habla)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이거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este · esto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Persona A con un lápiz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Gesto: mano en el pecho</a:t>
            </a:r>
            <a:endParaRPr lang="en-US" sz="1800" dirty="0"/>
          </a:p>
        </p:txBody>
      </p:sp>
      <p:sp>
        <p:nvSpPr>
          <p:cNvPr id="8" name="col_1"/>
          <p:cNvSpPr/>
          <p:nvPr/>
        </p:nvSpPr>
        <p:spPr>
          <a:xfrm>
            <a:off x="4352544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81144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Cerca de ti (quien escucha)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그거</a:t>
            </a:r>
            <a:endParaRPr lang="en-US" sz="5400" dirty="0"/>
          </a:p>
        </p:txBody>
      </p:sp>
      <p:sp>
        <p:nvSpPr>
          <p:cNvPr id="11" name="lista"/>
          <p:cNvSpPr txBox="1"/>
          <p:nvPr/>
        </p:nvSpPr>
        <p:spPr>
          <a:xfrm>
            <a:off x="4535424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ese · eso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Persona B con un libro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Gesto: mano hacia el otro</a:t>
            </a:r>
            <a:endParaRPr lang="en-US" sz="1800" dirty="0"/>
          </a:p>
        </p:txBody>
      </p:sp>
      <p:sp>
        <p:nvSpPr>
          <p:cNvPr id="12" name="col_2"/>
          <p:cNvSpPr/>
          <p:nvPr/>
        </p:nvSpPr>
        <p:spPr>
          <a:xfrm>
            <a:off x="8156448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85048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Lejos de los dos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85048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저거</a:t>
            </a:r>
            <a:endParaRPr lang="en-US" sz="5400" dirty="0"/>
          </a:p>
        </p:txBody>
      </p:sp>
      <p:sp>
        <p:nvSpPr>
          <p:cNvPr id="15" name="lista"/>
          <p:cNvSpPr txBox="1"/>
          <p:nvPr/>
        </p:nvSpPr>
        <p:spPr>
          <a:xfrm>
            <a:off x="8339328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aquel · aquello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Un reloj lejos de los dos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Gesto: brazo estirado a lo lejos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En Zoom</a:t>
            </a:r>
            <a:r>
              <a:rPr lang="en-US" sz="1500" b="1" i="1" dirty="0">
                <a:solidFill>
                  <a:srgbClr val="8A8DA0"/>
                </a:solidFill>
              </a:rPr>
              <a:t>   On Zoom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 regla de la clase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 que tengo en mi mano → 이거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 que tú muestras a la cámara → 그거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Lejos de los dos (la escena) → 저거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이거 연필이에요</a:t>
            </a:r>
            <a:r>
              <a:rPr lang="en-US" sz="2400" dirty="0">
                <a:solidFill>
                  <a:srgbClr val="14142B"/>
                </a:solidFill>
              </a:rPr>
              <a:t>. · Esto es un lápiz.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그게 뭐예요</a:t>
            </a:r>
            <a:r>
              <a:rPr lang="en-US" sz="2400" dirty="0">
                <a:solidFill>
                  <a:srgbClr val="14142B"/>
                </a:solidFill>
              </a:rPr>
              <a:t>? · ¿Qué es eso?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이게 뭐예요</a:t>
            </a:r>
            <a:r>
              <a:rPr lang="en-US" sz="2200" b="1" dirty="0">
                <a:solidFill>
                  <a:srgbClr val="4236F6"/>
                </a:solidFill>
              </a:rPr>
              <a:t>?  </a:t>
            </a:r>
            <a:r>
              <a:rPr lang="en-US" sz="2200" b="1" dirty="0">
                <a:solidFill>
                  <a:srgbClr val="003478"/>
                </a:solidFill>
              </a:rPr>
              <a:t>La pregunta: ¿qué es esto?</a:t>
            </a:r>
            <a:r>
              <a:rPr lang="en-US" sz="1500" b="1" i="1" dirty="0">
                <a:solidFill>
                  <a:srgbClr val="8A8DA0"/>
                </a:solidFill>
              </a:rPr>
              <a:t>   The question: what is this?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이거 </a:t>
            </a:r>
            <a:r>
              <a:rPr lang="en-US" sz="2400" dirty="0">
                <a:solidFill>
                  <a:srgbClr val="14142B"/>
                </a:solidFill>
              </a:rPr>
              <a:t>+ marca de sujeto 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이게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그게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저게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이게 뭐예요</a:t>
            </a:r>
            <a:r>
              <a:rPr lang="en-US" sz="2400" dirty="0">
                <a:solidFill>
                  <a:srgbClr val="14142B"/>
                </a:solidFill>
              </a:rPr>
              <a:t>?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그게 뭐예요</a:t>
            </a:r>
            <a:r>
              <a:rPr lang="en-US" sz="2400" dirty="0">
                <a:solidFill>
                  <a:srgbClr val="14142B"/>
                </a:solidFill>
              </a:rPr>
              <a:t>?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저게 뭐예요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뭐 </a:t>
            </a:r>
            <a:r>
              <a:rPr lang="en-US" sz="2400" dirty="0">
                <a:solidFill>
                  <a:srgbClr val="14142B"/>
                </a:solidFill>
              </a:rPr>
              <a:t>va donde va la respuesta: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이게 뭐예요</a:t>
            </a:r>
            <a:r>
              <a:rPr lang="en-US" sz="2400" dirty="0">
                <a:solidFill>
                  <a:srgbClr val="14142B"/>
                </a:solidFill>
              </a:rPr>
              <a:t>? 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이게 책이에요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 la respuesta no repites «esto»: 책이에요</a:t>
            </a:r>
            <a:r>
              <a:rPr lang="en-US" sz="2400" dirty="0">
                <a:solidFill>
                  <a:srgbClr val="14142B"/>
                </a:solidFill>
              </a:rPr>
              <a:t>. (Es un libro.)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 la calle también se oye: 이거 뭐예요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6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이게</a:t>
            </a:r>
            <a:endParaRPr lang="en-US" sz="6500" dirty="0"/>
          </a:p>
          <a:p>
            <a:pPr marL="0" indent="0" algn="ctr" eaLnBrk="1">
              <a:buNone/>
            </a:pPr>
            <a:r>
              <a:rPr lang="ko-KR" altLang="en-US" sz="6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뭐예요</a:t>
            </a:r>
            <a:r>
              <a:rPr lang="en-US" sz="6500" b="1" dirty="0">
                <a:solidFill>
                  <a:srgbClr val="4236F6"/>
                </a:solidFill>
              </a:rPr>
              <a:t>?</a:t>
            </a:r>
            <a:endParaRPr lang="en-US" sz="6500" dirty="0"/>
          </a:p>
        </p:txBody>
      </p:sp>
      <p:pic>
        <p:nvPicPr>
          <p:cNvPr id="6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601200" y="4983480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</a:t>
            </a:r>
            <a:r>
              <a:rPr lang="en-US" sz="3000" b="1" dirty="0">
                <a:solidFill>
                  <a:srgbClr val="4236F6"/>
                </a:solidFill>
              </a:rPr>
              <a:t>/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  </a:t>
            </a:r>
            <a:r>
              <a:rPr lang="en-US" sz="3000" b="1" dirty="0">
                <a:solidFill>
                  <a:srgbClr val="003478"/>
                </a:solidFill>
              </a:rPr>
              <a:t>¿Es…? Sí / No</a:t>
            </a:r>
            <a:r>
              <a:rPr lang="en-US" sz="1500" b="1" i="1" dirty="0">
                <a:solidFill>
                  <a:srgbClr val="8A8DA0"/>
                </a:solidFill>
              </a:rPr>
              <a:t>   Is it…? Yes / No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 misma frase con otra entonación, igual que en español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Pregunta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3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책이에요</a:t>
            </a:r>
            <a:r>
              <a:rPr lang="en-US" sz="3900" b="1" dirty="0">
                <a:solidFill>
                  <a:srgbClr val="4236F6"/>
                </a:solidFill>
              </a:rPr>
              <a:t>? ↗</a:t>
            </a:r>
            <a:endParaRPr lang="en-US" sz="39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La voz sube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¿Es un libro?</a:t>
            </a:r>
            <a:endParaRPr lang="en-US" sz="1800" dirty="0"/>
          </a:p>
        </p:txBody>
      </p:sp>
      <p:sp>
        <p:nvSpPr>
          <p:cNvPr id="8" name="col_1"/>
          <p:cNvSpPr/>
          <p:nvPr/>
        </p:nvSpPr>
        <p:spPr>
          <a:xfrm>
            <a:off x="4352544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81144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Afirmación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3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책이에요</a:t>
            </a:r>
            <a:r>
              <a:rPr lang="en-US" sz="3900" b="1" dirty="0">
                <a:solidFill>
                  <a:srgbClr val="4236F6"/>
                </a:solidFill>
              </a:rPr>
              <a:t>. ↘</a:t>
            </a:r>
            <a:endParaRPr lang="en-US" sz="3900" dirty="0"/>
          </a:p>
        </p:txBody>
      </p:sp>
      <p:sp>
        <p:nvSpPr>
          <p:cNvPr id="11" name="lista"/>
          <p:cNvSpPr txBox="1"/>
          <p:nvPr/>
        </p:nvSpPr>
        <p:spPr>
          <a:xfrm>
            <a:off x="4535424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La voz baja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Es un libro.</a:t>
            </a:r>
            <a:endParaRPr lang="en-US" sz="1800" dirty="0"/>
          </a:p>
        </p:txBody>
      </p:sp>
      <p:sp>
        <p:nvSpPr>
          <p:cNvPr id="12" name="col_2"/>
          <p:cNvSpPr/>
          <p:nvPr/>
        </p:nvSpPr>
        <p:spPr>
          <a:xfrm>
            <a:off x="8156448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85048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Respuesta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85048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4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</a:t>
            </a:r>
            <a:r>
              <a:rPr lang="en-US" sz="4100" b="1" dirty="0">
                <a:solidFill>
                  <a:srgbClr val="4236F6"/>
                </a:solidFill>
              </a:rPr>
              <a:t>· </a:t>
            </a:r>
            <a:r>
              <a:rPr lang="ko-KR" altLang="en-US" sz="4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endParaRPr lang="en-US" sz="4100" dirty="0"/>
          </a:p>
        </p:txBody>
      </p:sp>
      <p:sp>
        <p:nvSpPr>
          <p:cNvPr id="15" name="lista"/>
          <p:cNvSpPr txBox="1"/>
          <p:nvPr/>
        </p:nvSpPr>
        <p:spPr>
          <a:xfrm>
            <a:off x="8339328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</a:t>
            </a:r>
            <a:r>
              <a:rPr lang="en-US" sz="1800" dirty="0">
                <a:solidFill>
                  <a:srgbClr val="14142B"/>
                </a:solidFill>
              </a:rPr>
              <a:t>= sí (suena «ne», pero es SÍ)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 </a:t>
            </a:r>
            <a:r>
              <a:rPr lang="en-US" sz="1800" dirty="0">
                <a:solidFill>
                  <a:srgbClr val="14142B"/>
                </a:solidFill>
              </a:rPr>
              <a:t>= no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N이</a:t>
            </a:r>
            <a:r>
              <a:rPr lang="en-US" sz="3000" b="1" dirty="0">
                <a:solidFill>
                  <a:srgbClr val="4236F6"/>
                </a:solidFill>
              </a:rPr>
              <a:t>/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아니에요  </a:t>
            </a:r>
            <a:r>
              <a:rPr lang="en-US" sz="3000" b="1" dirty="0">
                <a:solidFill>
                  <a:srgbClr val="003478"/>
                </a:solidFill>
              </a:rPr>
              <a:t>No es…</a:t>
            </a:r>
            <a:r>
              <a:rPr lang="en-US" sz="1500" b="1" i="1" dirty="0">
                <a:solidFill>
                  <a:srgbClr val="8A8DA0"/>
                </a:solidFill>
              </a:rPr>
              <a:t>   It is not…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Orden: la cosa + 이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i="1" dirty="0">
                <a:solidFill>
                  <a:srgbClr val="4236F6"/>
                </a:solidFill>
              </a:rPr>
              <a:t>+ «no es» al final · la partícula va pegada: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빵이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2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¿Termina en 받침</a:t>
            </a:r>
            <a:r>
              <a:rPr lang="en-US" sz="2000" b="1" dirty="0">
                <a:solidFill>
                  <a:srgbClr val="003478"/>
                </a:solidFill>
              </a:rPr>
              <a:t>?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아니에요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빵이 아니에요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No es pan.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¿Termina en vocal?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아니에요</a:t>
            </a:r>
            <a:endParaRPr lang="en-US" sz="54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우유가 아니에요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No es leche.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 </a:t>
            </a:r>
            <a:r>
              <a:rPr lang="en-US" sz="3000" b="1" dirty="0">
                <a:solidFill>
                  <a:srgbClr val="4236F6"/>
                </a:solidFill>
              </a:rPr>
              <a:t>≠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아니에요  </a:t>
            </a:r>
            <a:r>
              <a:rPr lang="en-US" sz="3000" b="1" dirty="0">
                <a:solidFill>
                  <a:srgbClr val="003478"/>
                </a:solidFill>
              </a:rPr>
              <a:t>«No» no es «no es»</a:t>
            </a:r>
            <a:r>
              <a:rPr lang="en-US" sz="1500" b="1" i="1" dirty="0">
                <a:solidFill>
                  <a:srgbClr val="8A8DA0"/>
                </a:solidFill>
              </a:rPr>
              <a:t>   'No' vs 'it is not'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Respuesta completa: 아니요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빵이 아니에요</a:t>
            </a:r>
            <a:r>
              <a:rPr lang="en-US" sz="1800" i="1" dirty="0">
                <a:solidFill>
                  <a:srgbClr val="4236F6"/>
                </a:solidFill>
              </a:rPr>
              <a:t>.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우유예요</a:t>
            </a:r>
            <a:r>
              <a:rPr lang="en-US" sz="1800" i="1" dirty="0">
                <a:solidFill>
                  <a:srgbClr val="4236F6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«No.»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La respuesta corta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Va al principio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«no es»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아니에요</a:t>
            </a:r>
            <a:endParaRPr lang="en-US" sz="54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Niega la cosa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Va al final de la frase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Suena así</a:t>
            </a:r>
            <a:r>
              <a:rPr lang="en-US" sz="1500" b="1" i="1" dirty="0">
                <a:solidFill>
                  <a:srgbClr val="8A8DA0"/>
                </a:solidFill>
              </a:rPr>
              <a:t>   How it sounds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 한글 </a:t>
            </a:r>
            <a:r>
              <a:rPr lang="en-US" sz="1800" i="1" dirty="0">
                <a:solidFill>
                  <a:srgbClr val="4236F6"/>
                </a:solidFill>
              </a:rPr>
              <a:t>entre corchetes es cómo suena</a:t>
            </a:r>
            <a:endParaRPr lang="en-US" sz="1800" dirty="0"/>
          </a:p>
        </p:txBody>
      </p:sp>
      <p:graphicFrame>
        <p:nvGraphicFramePr>
          <p:cNvPr id="16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4084576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Se escribe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Suena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책이에요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[채기에요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물이에요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[무리에요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연필이에요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[연피리에요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책상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[책쌍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빵이에요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[빵이에요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 (la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ㅇ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final no se mueve)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뭐예요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[뭐에요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 (se escribe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뭐예요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이거 뭐예요</a:t>
            </a:r>
            <a:r>
              <a:rPr lang="en-US" sz="2600" b="1" dirty="0">
                <a:solidFill>
                  <a:srgbClr val="4236F6"/>
                </a:solidFill>
              </a:rPr>
              <a:t>?  </a:t>
            </a:r>
            <a:r>
              <a:rPr lang="en-US" sz="2600" b="1" dirty="0">
                <a:solidFill>
                  <a:srgbClr val="003478"/>
                </a:solidFill>
              </a:rPr>
              <a:t>Adivina: ¿qué es esto?</a:t>
            </a:r>
            <a:r>
              <a:rPr lang="en-US" sz="1500" b="1" i="1" dirty="0">
                <a:solidFill>
                  <a:srgbClr val="8A8DA0"/>
                </a:solidFill>
              </a:rPr>
              <a:t>   Guess: what is this?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Mira la foto y adivina.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이거 뭐예요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7" name="rev_5_caja"/>
          <p:cNvSpPr/>
          <p:nvPr/>
        </p:nvSpPr>
        <p:spPr>
          <a:xfrm>
            <a:off x="7498080" y="2002536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5_txt"/>
          <p:cNvSpPr txBox="1"/>
          <p:nvPr/>
        </p:nvSpPr>
        <p:spPr>
          <a:xfrm>
            <a:off x="7589520" y="2002536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붕어빵이에요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붕어빵  </a:t>
            </a:r>
            <a:r>
              <a:rPr lang="en-US" sz="3000" b="1" dirty="0">
                <a:solidFill>
                  <a:srgbClr val="003478"/>
                </a:solidFill>
              </a:rPr>
              <a:t>El pan en Corea</a:t>
            </a:r>
            <a:r>
              <a:rPr lang="en-US" sz="1500" b="1" i="1" dirty="0">
                <a:solidFill>
                  <a:srgbClr val="8A8DA0"/>
                </a:solidFill>
              </a:rPr>
              <a:t>   Bread in Korea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붕어 </a:t>
            </a:r>
            <a:r>
              <a:rPr lang="en-US" sz="2200" dirty="0">
                <a:solidFill>
                  <a:srgbClr val="14142B"/>
                </a:solidFill>
              </a:rPr>
              <a:t>= carpa 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빵 </a:t>
            </a:r>
            <a:r>
              <a:rPr lang="en-US" sz="2200" dirty="0">
                <a:solidFill>
                  <a:srgbClr val="14142B"/>
                </a:solidFill>
              </a:rPr>
              <a:t>= pan (no lleva pescado)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Relleno de porotos rojos dulces o de crema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Puestos callejeros cuando empieza el frío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Nuestro pan (marraqueta, bolillo, pan francés): salado, para la mesa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Mucho 빵 </a:t>
            </a:r>
            <a:r>
              <a:rPr lang="en-US" sz="2200" dirty="0">
                <a:solidFill>
                  <a:srgbClr val="14142B"/>
                </a:solidFill>
              </a:rPr>
              <a:t>coreano: blando, dulce, de merienda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이거 뭐예요</a:t>
            </a:r>
            <a:r>
              <a:rPr lang="en-US" sz="2200" dirty="0">
                <a:solidFill>
                  <a:srgbClr val="14142B"/>
                </a:solidFill>
              </a:rPr>
              <a:t>? —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붕어빵이에요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7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붕어빵</a:t>
            </a:r>
            <a:endParaRPr lang="en-US" sz="7700" dirty="0"/>
          </a:p>
        </p:txBody>
      </p:sp>
      <p:pic>
        <p:nvPicPr>
          <p:cNvPr id="6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601200" y="4983480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Quiz relámpago 1–5</a:t>
            </a:r>
            <a:r>
              <a:rPr lang="en-US" sz="1500" b="1" i="1" dirty="0">
                <a:solidFill>
                  <a:srgbClr val="8A8DA0"/>
                </a:solidFill>
              </a:rPr>
              <a:t>   Lightning quiz 1–5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Responde: 네</a:t>
            </a:r>
            <a:r>
              <a:rPr lang="en-US" sz="1800" i="1" dirty="0">
                <a:solidFill>
                  <a:srgbClr val="4236F6"/>
                </a:solidFill>
              </a:rPr>
              <a:t>, ___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이에요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예요</a:t>
            </a:r>
            <a:r>
              <a:rPr lang="en-US" sz="1800" i="1" dirty="0">
                <a:solidFill>
                  <a:srgbClr val="4236F6"/>
                </a:solidFill>
              </a:rPr>
              <a:t>.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1800" i="1" dirty="0">
                <a:solidFill>
                  <a:srgbClr val="4236F6"/>
                </a:solidFill>
              </a:rPr>
              <a:t>, ___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아니에요</a:t>
            </a:r>
            <a:r>
              <a:rPr lang="en-US" sz="1800" i="1" dirty="0">
                <a:solidFill>
                  <a:srgbClr val="4236F6"/>
                </a:solidFill>
              </a:rPr>
              <a:t>. ___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이에요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예요</a:t>
            </a:r>
            <a:r>
              <a:rPr lang="en-US" sz="1800" i="1" dirty="0">
                <a:solidFill>
                  <a:srgbClr val="4236F6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(pan) 빵이에요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7" name="rev_6_caja"/>
          <p:cNvSpPr/>
          <p:nvPr/>
        </p:nvSpPr>
        <p:spPr>
          <a:xfrm>
            <a:off x="6702552" y="2002536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6_txt"/>
          <p:cNvSpPr txBox="1"/>
          <p:nvPr/>
        </p:nvSpPr>
        <p:spPr>
          <a:xfrm>
            <a:off x="6793992" y="2002536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200" b="1" dirty="0">
                <a:solidFill>
                  <a:srgbClr val="FFFFFF"/>
                </a:solidFill>
              </a:rPr>
              <a:t>,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빵이에요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(vaso de leche) 물이에요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12" name="rev_7_caja"/>
          <p:cNvSpPr/>
          <p:nvPr/>
        </p:nvSpPr>
        <p:spPr>
          <a:xfrm>
            <a:off x="6702552" y="2869387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7_txt"/>
          <p:cNvSpPr txBox="1"/>
          <p:nvPr/>
        </p:nvSpPr>
        <p:spPr>
          <a:xfrm>
            <a:off x="6793992" y="2869387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2100" b="1" dirty="0">
                <a:solidFill>
                  <a:srgbClr val="FFFFFF"/>
                </a:solidFill>
              </a:rPr>
              <a:t>, </a:t>
            </a:r>
            <a:r>
              <a:rPr lang="ko-KR" alt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물이 아니에요</a:t>
            </a:r>
            <a:r>
              <a:rPr lang="en-US" sz="2100" b="1" dirty="0">
                <a:solidFill>
                  <a:srgbClr val="FFFFFF"/>
                </a:solidFill>
              </a:rPr>
              <a:t>. </a:t>
            </a:r>
            <a:r>
              <a:rPr lang="ko-KR" alt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우유예요</a:t>
            </a:r>
            <a:r>
              <a:rPr lang="en-US" sz="2100" b="1" dirty="0">
                <a:solidFill>
                  <a:srgbClr val="FFFFFF"/>
                </a:solidFill>
              </a:rPr>
              <a:t>.</a:t>
            </a:r>
            <a:endParaRPr lang="en-US" sz="21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(libro) 책이에요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17" name="rev_8_caja"/>
          <p:cNvSpPr/>
          <p:nvPr/>
        </p:nvSpPr>
        <p:spPr>
          <a:xfrm>
            <a:off x="6702552" y="3736238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8_txt"/>
          <p:cNvSpPr txBox="1"/>
          <p:nvPr/>
        </p:nvSpPr>
        <p:spPr>
          <a:xfrm>
            <a:off x="6793992" y="3736238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200" b="1" dirty="0">
                <a:solidFill>
                  <a:srgbClr val="FFFFFF"/>
                </a:solidFill>
              </a:rPr>
              <a:t>,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책이에요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(taza de café) 우유예요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22" name="rev_9_caja"/>
          <p:cNvSpPr/>
          <p:nvPr/>
        </p:nvSpPr>
        <p:spPr>
          <a:xfrm>
            <a:off x="6702552" y="4603090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9_txt"/>
          <p:cNvSpPr txBox="1"/>
          <p:nvPr/>
        </p:nvSpPr>
        <p:spPr>
          <a:xfrm>
            <a:off x="6793992" y="4603090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1900" b="1" dirty="0">
                <a:solidFill>
                  <a:srgbClr val="FFFFFF"/>
                </a:solidFill>
              </a:rPr>
              <a:t>, 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우유가 아니에요</a:t>
            </a:r>
            <a:r>
              <a:rPr lang="en-US" sz="1900" b="1" dirty="0">
                <a:solidFill>
                  <a:srgbClr val="FFFFFF"/>
                </a:solidFill>
              </a:rPr>
              <a:t>. 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커피예요</a:t>
            </a:r>
            <a:r>
              <a:rPr lang="en-US" sz="1900" b="1" dirty="0">
                <a:solidFill>
                  <a:srgbClr val="FFFFFF"/>
                </a:solidFill>
              </a:rPr>
              <a:t>.</a:t>
            </a:r>
            <a:endParaRPr lang="en-US" sz="19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(plato de arroz) 김치예요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27" name="rev_10_caja"/>
          <p:cNvSpPr/>
          <p:nvPr/>
        </p:nvSpPr>
        <p:spPr>
          <a:xfrm>
            <a:off x="6702552" y="5469941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10_txt"/>
          <p:cNvSpPr txBox="1"/>
          <p:nvPr/>
        </p:nvSpPr>
        <p:spPr>
          <a:xfrm>
            <a:off x="6793992" y="5469941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1900" b="1" dirty="0">
                <a:solidFill>
                  <a:srgbClr val="FFFFFF"/>
                </a:solidFill>
              </a:rPr>
              <a:t>, 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김치가 아니에요</a:t>
            </a:r>
            <a:r>
              <a:rPr lang="en-US" sz="1900" b="1" dirty="0">
                <a:solidFill>
                  <a:srgbClr val="FFFFFF"/>
                </a:solidFill>
              </a:rPr>
              <a:t>. 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밥이에요</a:t>
            </a:r>
            <a:r>
              <a:rPr lang="en-US" sz="1900" b="1" dirty="0">
                <a:solidFill>
                  <a:srgbClr val="FFFFFF"/>
                </a:solidFill>
              </a:rPr>
              <a:t>.</a:t>
            </a:r>
            <a:endParaRPr lang="en-US" sz="19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Quiz relámpago 6–10</a:t>
            </a:r>
            <a:r>
              <a:rPr lang="en-US" sz="1500" b="1" i="1" dirty="0">
                <a:solidFill>
                  <a:srgbClr val="8A8DA0"/>
                </a:solidFill>
              </a:rPr>
              <a:t>   Lightning quiz 6–10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Responde con la frase completa cuando Kiran diga tu nombre.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(silla) 의자예요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7" name="rev_11_caja"/>
          <p:cNvSpPr/>
          <p:nvPr/>
        </p:nvSpPr>
        <p:spPr>
          <a:xfrm>
            <a:off x="6702552" y="2002536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1_txt"/>
          <p:cNvSpPr txBox="1"/>
          <p:nvPr/>
        </p:nvSpPr>
        <p:spPr>
          <a:xfrm>
            <a:off x="6793992" y="2002536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200" b="1" dirty="0">
                <a:solidFill>
                  <a:srgbClr val="FFFFFF"/>
                </a:solidFill>
              </a:rPr>
              <a:t>,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의자예요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7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(gorro) 구두예요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12" name="rev_12_caja"/>
          <p:cNvSpPr/>
          <p:nvPr/>
        </p:nvSpPr>
        <p:spPr>
          <a:xfrm>
            <a:off x="6702552" y="2869387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2_txt"/>
          <p:cNvSpPr txBox="1"/>
          <p:nvPr/>
        </p:nvSpPr>
        <p:spPr>
          <a:xfrm>
            <a:off x="6793992" y="2869387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1900" b="1" dirty="0">
                <a:solidFill>
                  <a:srgbClr val="FFFFFF"/>
                </a:solidFill>
              </a:rPr>
              <a:t>, 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구두가 아니에요</a:t>
            </a:r>
            <a:r>
              <a:rPr lang="en-US" sz="1900" b="1" dirty="0">
                <a:solidFill>
                  <a:srgbClr val="FFFFFF"/>
                </a:solidFill>
              </a:rPr>
              <a:t>. 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모자예요</a:t>
            </a:r>
            <a:r>
              <a:rPr lang="en-US" sz="1900" b="1" dirty="0">
                <a:solidFill>
                  <a:srgbClr val="FFFFFF"/>
                </a:solidFill>
              </a:rPr>
              <a:t>.</a:t>
            </a:r>
            <a:endParaRPr lang="en-US" sz="19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8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(lápiz) 연필이에요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17" name="rev_13_caja"/>
          <p:cNvSpPr/>
          <p:nvPr/>
        </p:nvSpPr>
        <p:spPr>
          <a:xfrm>
            <a:off x="6702552" y="3736238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3_txt"/>
          <p:cNvSpPr txBox="1"/>
          <p:nvPr/>
        </p:nvSpPr>
        <p:spPr>
          <a:xfrm>
            <a:off x="6793992" y="3736238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200" b="1" dirty="0">
                <a:solidFill>
                  <a:srgbClr val="FFFFFF"/>
                </a:solidFill>
              </a:rPr>
              <a:t>,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연필이에요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9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(reloj de pulsera) 휴대폰이에요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22" name="rev_14_caja"/>
          <p:cNvSpPr/>
          <p:nvPr/>
        </p:nvSpPr>
        <p:spPr>
          <a:xfrm>
            <a:off x="6702552" y="4603090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14_txt"/>
          <p:cNvSpPr txBox="1"/>
          <p:nvPr/>
        </p:nvSpPr>
        <p:spPr>
          <a:xfrm>
            <a:off x="6793992" y="4603090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1800" b="1" dirty="0">
                <a:solidFill>
                  <a:srgbClr val="FFFFFF"/>
                </a:solidFill>
              </a:rPr>
              <a:t>, </a:t>
            </a:r>
            <a:r>
              <a:rPr lang="ko-KR" alt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휴대폰이 아니에요</a:t>
            </a:r>
            <a:r>
              <a:rPr lang="en-US" sz="1800" b="1" dirty="0">
                <a:solidFill>
                  <a:srgbClr val="FFFFFF"/>
                </a:solidFill>
              </a:rPr>
              <a:t>. </a:t>
            </a:r>
            <a:r>
              <a:rPr lang="ko-KR" alt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시계예요</a:t>
            </a:r>
            <a:r>
              <a:rPr lang="en-US" sz="1800" b="1" dirty="0">
                <a:solidFill>
                  <a:srgbClr val="FFFFFF"/>
                </a:solidFill>
              </a:rPr>
              <a:t>.</a:t>
            </a:r>
            <a:endParaRPr lang="en-US" sz="18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10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(pepino) 오이예요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27" name="rev_15_caja"/>
          <p:cNvSpPr/>
          <p:nvPr/>
        </p:nvSpPr>
        <p:spPr>
          <a:xfrm>
            <a:off x="6702552" y="5469941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15_txt"/>
          <p:cNvSpPr txBox="1"/>
          <p:nvPr/>
        </p:nvSpPr>
        <p:spPr>
          <a:xfrm>
            <a:off x="6793992" y="5469941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200" b="1" dirty="0">
                <a:solidFill>
                  <a:srgbClr val="FFFFFF"/>
                </a:solidFill>
              </a:rPr>
              <a:t>,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오이예요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Cascada en el chat (1)</a:t>
            </a:r>
            <a:r>
              <a:rPr lang="en-US" sz="1500" b="1" i="1" dirty="0">
                <a:solidFill>
                  <a:srgbClr val="8A8DA0"/>
                </a:solidFill>
              </a:rPr>
              <a:t>   Chat cascade (1)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Escribe la palabra + 이 </a:t>
            </a:r>
            <a:r>
              <a:rPr lang="en-US" sz="1800" i="1" dirty="0">
                <a:solidFill>
                  <a:srgbClr val="4236F6"/>
                </a:solidFill>
              </a:rPr>
              <a:t>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i="1" dirty="0">
                <a:solidFill>
                  <a:srgbClr val="4236F6"/>
                </a:solidFill>
              </a:rPr>
              <a:t>(ej.: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우산이</a:t>
            </a:r>
            <a:r>
              <a:rPr lang="en-US" sz="1800" i="1" dirty="0">
                <a:solidFill>
                  <a:srgbClr val="4236F6"/>
                </a:solidFill>
              </a:rPr>
              <a:t>). Enter cuando Kiran diga ¡ya! Después, en voz alta: ___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아니에요</a:t>
            </a:r>
            <a:r>
              <a:rPr lang="en-US" sz="1800" i="1" dirty="0">
                <a:solidFill>
                  <a:srgbClr val="4236F6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우산</a:t>
            </a:r>
            <a:endParaRPr lang="en-US" sz="2400" dirty="0"/>
          </a:p>
        </p:txBody>
      </p:sp>
      <p:sp>
        <p:nvSpPr>
          <p:cNvPr id="7" name="rev_16_caja"/>
          <p:cNvSpPr/>
          <p:nvPr/>
        </p:nvSpPr>
        <p:spPr>
          <a:xfrm>
            <a:off x="7498080" y="2002536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6_txt"/>
          <p:cNvSpPr txBox="1"/>
          <p:nvPr/>
        </p:nvSpPr>
        <p:spPr>
          <a:xfrm>
            <a:off x="7589520" y="2002536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우산이 </a:t>
            </a:r>
            <a:r>
              <a:rPr lang="en-US" sz="2200" b="1" dirty="0">
                <a:solidFill>
                  <a:srgbClr val="FFFFFF"/>
                </a:solidFill>
              </a:rPr>
              <a:t>→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우산이 아니에요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</a:t>
            </a:r>
            <a:endParaRPr lang="en-US" sz="2400" dirty="0"/>
          </a:p>
        </p:txBody>
      </p:sp>
      <p:sp>
        <p:nvSpPr>
          <p:cNvPr id="12" name="rev_17_caja"/>
          <p:cNvSpPr/>
          <p:nvPr/>
        </p:nvSpPr>
        <p:spPr>
          <a:xfrm>
            <a:off x="7498080" y="2999232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7_txt"/>
          <p:cNvSpPr txBox="1"/>
          <p:nvPr/>
        </p:nvSpPr>
        <p:spPr>
          <a:xfrm>
            <a:off x="7589520" y="2999232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커피가 </a:t>
            </a:r>
            <a:r>
              <a:rPr lang="en-US" sz="2200" b="1" dirty="0">
                <a:solidFill>
                  <a:srgbClr val="FFFFFF"/>
                </a:solidFill>
              </a:rPr>
              <a:t>→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커피가 아니에요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가방</a:t>
            </a:r>
            <a:endParaRPr lang="en-US" sz="2400" dirty="0"/>
          </a:p>
        </p:txBody>
      </p:sp>
      <p:sp>
        <p:nvSpPr>
          <p:cNvPr id="17" name="rev_18_caja"/>
          <p:cNvSpPr/>
          <p:nvPr/>
        </p:nvSpPr>
        <p:spPr>
          <a:xfrm>
            <a:off x="7498080" y="3995928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8_txt"/>
          <p:cNvSpPr txBox="1"/>
          <p:nvPr/>
        </p:nvSpPr>
        <p:spPr>
          <a:xfrm>
            <a:off x="7589520" y="3995928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가방이 </a:t>
            </a:r>
            <a:r>
              <a:rPr lang="en-US" sz="2200" b="1" dirty="0">
                <a:solidFill>
                  <a:srgbClr val="FFFFFF"/>
                </a:solidFill>
              </a:rPr>
              <a:t>→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가방이 아니에요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516178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617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956048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의자</a:t>
            </a:r>
            <a:endParaRPr lang="en-US" sz="2400" dirty="0"/>
          </a:p>
        </p:txBody>
      </p:sp>
      <p:sp>
        <p:nvSpPr>
          <p:cNvPr id="22" name="rev_19_caja"/>
          <p:cNvSpPr/>
          <p:nvPr/>
        </p:nvSpPr>
        <p:spPr>
          <a:xfrm>
            <a:off x="7498080" y="4992624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19_txt"/>
          <p:cNvSpPr txBox="1"/>
          <p:nvPr/>
        </p:nvSpPr>
        <p:spPr>
          <a:xfrm>
            <a:off x="7589520" y="4992624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의자가 </a:t>
            </a:r>
            <a:r>
              <a:rPr lang="en-US" sz="2200" b="1" dirty="0">
                <a:solidFill>
                  <a:srgbClr val="FFFFFF"/>
                </a:solidFill>
              </a:rPr>
              <a:t>→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의자가 아니에요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Cascada en el chat (2)</a:t>
            </a:r>
            <a:r>
              <a:rPr lang="en-US" sz="1500" b="1" i="1" dirty="0">
                <a:solidFill>
                  <a:srgbClr val="8A8DA0"/>
                </a:solidFill>
              </a:rPr>
              <a:t>   Chat cascade (2)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Escribe la palabra + 이 </a:t>
            </a:r>
            <a:r>
              <a:rPr lang="en-US" sz="1800" i="1" dirty="0">
                <a:solidFill>
                  <a:srgbClr val="4236F6"/>
                </a:solidFill>
              </a:rPr>
              <a:t>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1800" i="1" dirty="0">
                <a:solidFill>
                  <a:srgbClr val="4236F6"/>
                </a:solidFill>
              </a:rPr>
              <a:t>. Enter cuando Kiran diga ¡ya! Después, en voz alta: ___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아니에요</a:t>
            </a:r>
            <a:r>
              <a:rPr lang="en-US" sz="1800" i="1" dirty="0">
                <a:solidFill>
                  <a:srgbClr val="4236F6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</a:t>
            </a:r>
            <a:endParaRPr lang="en-US" sz="2400" dirty="0"/>
          </a:p>
        </p:txBody>
      </p:sp>
      <p:sp>
        <p:nvSpPr>
          <p:cNvPr id="7" name="rev_20_caja"/>
          <p:cNvSpPr/>
          <p:nvPr/>
        </p:nvSpPr>
        <p:spPr>
          <a:xfrm>
            <a:off x="7498080" y="2002536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20_txt"/>
          <p:cNvSpPr txBox="1"/>
          <p:nvPr/>
        </p:nvSpPr>
        <p:spPr>
          <a:xfrm>
            <a:off x="7589520" y="2002536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물이 </a:t>
            </a:r>
            <a:r>
              <a:rPr lang="en-US" sz="2200" b="1" dirty="0">
                <a:solidFill>
                  <a:srgbClr val="FFFFFF"/>
                </a:solidFill>
              </a:rPr>
              <a:t>→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물이 아니에요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</a:t>
            </a:r>
            <a:endParaRPr lang="en-US" sz="2400" dirty="0"/>
          </a:p>
        </p:txBody>
      </p:sp>
      <p:sp>
        <p:nvSpPr>
          <p:cNvPr id="12" name="rev_21_caja"/>
          <p:cNvSpPr/>
          <p:nvPr/>
        </p:nvSpPr>
        <p:spPr>
          <a:xfrm>
            <a:off x="7498080" y="2999232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21_txt"/>
          <p:cNvSpPr txBox="1"/>
          <p:nvPr/>
        </p:nvSpPr>
        <p:spPr>
          <a:xfrm>
            <a:off x="7589520" y="2999232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시계가 </a:t>
            </a:r>
            <a:r>
              <a:rPr lang="en-US" sz="2200" b="1" dirty="0">
                <a:solidFill>
                  <a:srgbClr val="FFFFFF"/>
                </a:solidFill>
              </a:rPr>
              <a:t>→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시계가 아니에요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공책</a:t>
            </a:r>
            <a:endParaRPr lang="en-US" sz="2400" dirty="0"/>
          </a:p>
        </p:txBody>
      </p:sp>
      <p:sp>
        <p:nvSpPr>
          <p:cNvPr id="17" name="rev_22_caja"/>
          <p:cNvSpPr/>
          <p:nvPr/>
        </p:nvSpPr>
        <p:spPr>
          <a:xfrm>
            <a:off x="7498080" y="3995928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2_txt"/>
          <p:cNvSpPr txBox="1"/>
          <p:nvPr/>
        </p:nvSpPr>
        <p:spPr>
          <a:xfrm>
            <a:off x="7589520" y="3995928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공책이 </a:t>
            </a:r>
            <a:r>
              <a:rPr lang="en-US" sz="2200" b="1" dirty="0">
                <a:solidFill>
                  <a:srgbClr val="FFFFFF"/>
                </a:solidFill>
              </a:rPr>
              <a:t>→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공책이 아니에요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516178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617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956048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</a:t>
            </a:r>
            <a:endParaRPr lang="en-US" sz="2400" dirty="0"/>
          </a:p>
        </p:txBody>
      </p:sp>
      <p:sp>
        <p:nvSpPr>
          <p:cNvPr id="22" name="rev_23_caja"/>
          <p:cNvSpPr/>
          <p:nvPr/>
        </p:nvSpPr>
        <p:spPr>
          <a:xfrm>
            <a:off x="7498080" y="4992624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23_txt"/>
          <p:cNvSpPr txBox="1"/>
          <p:nvPr/>
        </p:nvSpPr>
        <p:spPr>
          <a:xfrm>
            <a:off x="7589520" y="4992624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컵이 </a:t>
            </a:r>
            <a:r>
              <a:rPr lang="en-US" sz="2200" b="1" dirty="0">
                <a:solidFill>
                  <a:srgbClr val="FFFFFF"/>
                </a:solidFill>
              </a:rPr>
              <a:t>→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컵이 아니에요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Lee en voz alta (1–8)</a:t>
            </a:r>
            <a:r>
              <a:rPr lang="en-US" sz="1500" b="1" i="1" dirty="0">
                <a:solidFill>
                  <a:srgbClr val="8A8DA0"/>
                </a:solidFill>
              </a:rPr>
              <a:t>   Read aloud (1–8)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Una línea por persona, con cámara</a:t>
            </a:r>
            <a:endParaRPr lang="en-US" sz="1800" dirty="0"/>
          </a:p>
        </p:txBody>
      </p:sp>
      <p:graphicFrame>
        <p:nvGraphicFramePr>
          <p:cNvPr id="23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013972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Línea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이게 뭐예요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연필이에요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책상이에요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컵이에요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가방이에요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우산이에요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Lee en voz alta (9–15)</a:t>
            </a:r>
            <a:r>
              <a:rPr lang="en-US" sz="1500" b="1" i="1" dirty="0">
                <a:solidFill>
                  <a:srgbClr val="8A8DA0"/>
                </a:solidFill>
              </a:rPr>
              <a:t>   Read aloud (9–15)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Una línea por persona, con cámara</a:t>
            </a:r>
            <a:endParaRPr lang="en-US" sz="1800" dirty="0"/>
          </a:p>
        </p:txBody>
      </p:sp>
      <p:graphicFrame>
        <p:nvGraphicFramePr>
          <p:cNvPr id="24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3897694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Línea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공책이에요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그거 커피예요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커피예요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빵이 아니에요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저게 뭐예요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14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시계가 아니에요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15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이거 뭐예요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붕어빵이에요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En salas · 18 minutos</a:t>
            </a:r>
            <a:r>
              <a:rPr lang="en-US" sz="1500" b="1" i="1" dirty="0">
                <a:solidFill>
                  <a:srgbClr val="8A8DA0"/>
                </a:solidFill>
              </a:rPr>
              <a:t>   Breakout rooms · 18 minutes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Kiran te avisa por mensaje cuándo cambiar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A · Batalla de distancias (6 min): la escena del café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B · Muestra y pregunta (9 min): tus 5 objetos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C · Minuto libre (3 min): sin mirar la hoja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Tu tarjeta está en tu material: «En clase: hablamos»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La escena del café</a:t>
            </a:r>
            <a:r>
              <a:rPr lang="en-US" sz="1500" b="1" i="1" dirty="0">
                <a:solidFill>
                  <a:srgbClr val="8A8DA0"/>
                </a:solidFill>
              </a:rPr>
              <a:t>   The café scene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Tarea A: desde tu lugar, di 이거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그거 </a:t>
            </a:r>
            <a:r>
              <a:rPr lang="en-US" sz="1800" i="1" dirty="0">
                <a:solidFill>
                  <a:srgbClr val="4236F6"/>
                </a:solidFill>
              </a:rPr>
              <a:t>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저거</a:t>
            </a:r>
            <a:r>
              <a:rPr lang="en-US" sz="1800" i="1" dirty="0">
                <a:solidFill>
                  <a:srgbClr val="4236F6"/>
                </a:solidFill>
              </a:rPr>
              <a:t>. Árbitro: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1800" i="1" dirty="0">
                <a:solidFill>
                  <a:srgbClr val="4236F6"/>
                </a:solidFill>
              </a:rPr>
              <a:t>!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잘했어요</a:t>
            </a:r>
            <a:r>
              <a:rPr lang="en-US" sz="1800" i="1" dirty="0">
                <a:solidFill>
                  <a:srgbClr val="4236F6"/>
                </a:solidFill>
              </a:rPr>
              <a:t>! /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1800" i="1" dirty="0">
                <a:solidFill>
                  <a:srgbClr val="4236F6"/>
                </a:solidFill>
              </a:rPr>
              <a:t>!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한번</a:t>
            </a:r>
            <a:r>
              <a:rPr lang="en-US" sz="1800" i="1" dirty="0">
                <a:solidFill>
                  <a:srgbClr val="4236F6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Cerca de A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 </a:t>
            </a:r>
            <a:r>
              <a:rPr lang="en-US" sz="2800" b="1" dirty="0">
                <a:solidFill>
                  <a:srgbClr val="4236F6"/>
                </a:solidFill>
              </a:rPr>
              <a:t>·</a:t>
            </a:r>
            <a:endParaRPr lang="en-US" sz="2800" dirty="0"/>
          </a:p>
          <a:p>
            <a:pPr marL="0" indent="0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 </a:t>
            </a:r>
            <a:r>
              <a:rPr lang="en-US" sz="2800" b="1" dirty="0">
                <a:solidFill>
                  <a:srgbClr val="4236F6"/>
                </a:solidFill>
              </a:rPr>
              <a:t>· 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</a:t>
            </a:r>
            <a:endParaRPr lang="en-US" sz="28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café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celular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libro</a:t>
            </a:r>
            <a:endParaRPr lang="en-US" sz="1800" dirty="0"/>
          </a:p>
        </p:txBody>
      </p:sp>
      <p:sp>
        <p:nvSpPr>
          <p:cNvPr id="8" name="col_1"/>
          <p:cNvSpPr/>
          <p:nvPr/>
        </p:nvSpPr>
        <p:spPr>
          <a:xfrm>
            <a:off x="4352544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81144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Cerca de B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가방 </a:t>
            </a:r>
            <a:r>
              <a:rPr lang="en-US" sz="2800" b="1" dirty="0">
                <a:solidFill>
                  <a:srgbClr val="4236F6"/>
                </a:solidFill>
              </a:rPr>
              <a:t>·</a:t>
            </a:r>
            <a:endParaRPr lang="en-US" sz="2800" dirty="0"/>
          </a:p>
          <a:p>
            <a:pPr marL="0" indent="0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우산 </a:t>
            </a:r>
            <a:r>
              <a:rPr lang="en-US" sz="2800" b="1" dirty="0">
                <a:solidFill>
                  <a:srgbClr val="4236F6"/>
                </a:solidFill>
              </a:rPr>
              <a:t>· 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공책</a:t>
            </a:r>
            <a:endParaRPr lang="en-US" sz="2800" dirty="0"/>
          </a:p>
        </p:txBody>
      </p:sp>
      <p:sp>
        <p:nvSpPr>
          <p:cNvPr id="11" name="lista"/>
          <p:cNvSpPr txBox="1"/>
          <p:nvPr/>
        </p:nvSpPr>
        <p:spPr>
          <a:xfrm>
            <a:off x="4535424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bolso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paraguas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cuaderno</a:t>
            </a:r>
            <a:endParaRPr lang="en-US" sz="1800" dirty="0"/>
          </a:p>
        </p:txBody>
      </p:sp>
      <p:sp>
        <p:nvSpPr>
          <p:cNvPr id="12" name="col_2"/>
          <p:cNvSpPr/>
          <p:nvPr/>
        </p:nvSpPr>
        <p:spPr>
          <a:xfrm>
            <a:off x="8156448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85048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Lejos de los dos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85048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3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 </a:t>
            </a:r>
            <a:r>
              <a:rPr lang="en-US" sz="3400" b="1" dirty="0">
                <a:solidFill>
                  <a:srgbClr val="4236F6"/>
                </a:solidFill>
              </a:rPr>
              <a:t>· </a:t>
            </a:r>
            <a:r>
              <a:rPr lang="ko-KR" altLang="en-US" sz="3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붕어빵</a:t>
            </a:r>
            <a:endParaRPr lang="en-US" sz="3400" dirty="0"/>
          </a:p>
        </p:txBody>
      </p:sp>
      <p:sp>
        <p:nvSpPr>
          <p:cNvPr id="15" name="lista"/>
          <p:cNvSpPr txBox="1"/>
          <p:nvPr/>
        </p:nvSpPr>
        <p:spPr>
          <a:xfrm>
            <a:off x="8339328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reloj (en la pared del fondo)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붕어빵 </a:t>
            </a:r>
            <a:r>
              <a:rPr lang="en-US" sz="1800" dirty="0">
                <a:solidFill>
                  <a:srgbClr val="14142B"/>
                </a:solidFill>
              </a:rPr>
              <a:t>(en el puesto de la calle)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Minuto libre</a:t>
            </a:r>
            <a:r>
              <a:rPr lang="en-US" sz="1500" b="1" i="1" dirty="0">
                <a:solidFill>
                  <a:srgbClr val="8A8DA0"/>
                </a:solidFill>
              </a:rPr>
              <a:t>   Free minute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3 minutos, sin mirar la hoja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Saca 2 o 3 cosas que NO preparaste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이게 뭐예요</a:t>
            </a:r>
            <a:r>
              <a:rPr lang="en-US" sz="2400" dirty="0">
                <a:solidFill>
                  <a:srgbClr val="14142B"/>
                </a:solidFill>
              </a:rPr>
              <a:t>?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그게 뭐예요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그거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이에요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la pregunta de la semana 2: 어느 나라 사람이에요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¿No sabes cómo se llama algo? Al volver: 선생님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이게 뭐예요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Errores del día</a:t>
            </a:r>
            <a:r>
              <a:rPr lang="en-US" sz="1500" b="1" i="1" dirty="0">
                <a:solidFill>
                  <a:srgbClr val="8A8DA0"/>
                </a:solidFill>
              </a:rPr>
              <a:t>   Today's mistakes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1 · ____________________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2 · ____________________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3 · ____________________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Respaldo: 책가 </a:t>
            </a:r>
            <a:r>
              <a:rPr lang="en-US" sz="2400" dirty="0">
                <a:solidFill>
                  <a:srgbClr val="14142B"/>
                </a:solidFill>
              </a:rPr>
              <a:t>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책이 아니에요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Respaldo: lo que tiene tu compañero → 그거</a:t>
            </a:r>
            <a:endParaRPr lang="en-US" sz="24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5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3 frases clave</a:t>
            </a:r>
            <a:r>
              <a:rPr lang="en-US" sz="1500" b="1" i="1" dirty="0">
                <a:solidFill>
                  <a:srgbClr val="8A8DA0"/>
                </a:solidFill>
              </a:rPr>
              <a:t>   3 key phrases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¿Qué es esto? / Es un libro. / No, no es pan.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이게 뭐예요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책이에요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빵이 아니에요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Tarea · antes de la clase 4</a:t>
            </a:r>
            <a:r>
              <a:rPr lang="en-US" sz="1500" b="1" i="1" dirty="0">
                <a:solidFill>
                  <a:srgbClr val="8A8DA0"/>
                </a:solidFill>
              </a:rPr>
              <a:t>   Homework · before class 4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Entrega en el grupo de WhatsApp: mar 3 / jue 5 nov, 20:00 (hora de Chile)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1) Lector → Practicar → Pictogramas y Palabras (3 rondas cada uno) + captura de Progreso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Hoja de las lecciones 2–3 (quiz de 10) + foto de 5 objetos con etiqueta en 한글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3) Audio de 30 s: 5 preguntas y respuestas con el objeto en la mano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Extra: Dubu, barrio 5 (Río Han)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Para la clase 4: una foto con 3 o 4 personas (familia, amigos, famosos o un dibujo)</a:t>
            </a:r>
            <a:endParaRPr lang="en-US" sz="20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r>
              <a:rPr lang="en-US" sz="3000" b="1" dirty="0">
                <a:solidFill>
                  <a:srgbClr val="FFFFFF"/>
                </a:solidFill>
              </a:rPr>
              <a:t>! </a:t>
            </a: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3000" b="1" dirty="0">
                <a:solidFill>
                  <a:srgbClr val="FFFFFF"/>
                </a:solidFill>
              </a:rPr>
              <a:t>!  ¡Gracias! ¡Ánimo!</a:t>
            </a: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ademia Seul">
  <a:themeElements>
    <a:clrScheme name="Academia Seul">
      <a:dk1>
        <a:srgbClr val="14142B"/>
      </a:dk1>
      <a:lt1>
        <a:srgbClr val="FFFFFF"/>
      </a:lt1>
      <a:dk2>
        <a:srgbClr val="003478"/>
      </a:dk2>
      <a:lt2>
        <a:srgbClr val="F1F0FE"/>
      </a:lt2>
      <a:accent1>
        <a:srgbClr val="4236F6"/>
      </a:accent1>
      <a:accent2>
        <a:srgbClr val="E8B84B"/>
      </a:accent2>
      <a:accent3>
        <a:srgbClr val="003478"/>
      </a:accent3>
      <a:accent4>
        <a:srgbClr val="8A83FF"/>
      </a:accent4>
      <a:accent5>
        <a:srgbClr val="5C5F6B"/>
      </a:accent5>
      <a:accent6>
        <a:srgbClr val="B8962E"/>
      </a:accent6>
      <a:hlink>
        <a:srgbClr val="4236F6"/>
      </a:hlink>
      <a:folHlink>
        <a:srgbClr val="003478"/>
      </a:folHlink>
    </a:clrScheme>
    <a:fontScheme name="Academia Seu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5802</Words>
  <Application>Microsoft Office PowerPoint</Application>
  <PresentationFormat>Widescreen</PresentationFormat>
  <Paragraphs>411</Paragraphs>
  <Slides>30</Slides>
  <Notes>30</Notes>
  <HiddenSlides>0</HiddenSlides>
  <MMClips>18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Malgun Gothic</vt:lpstr>
      <vt:lpstr>Arial</vt:lpstr>
      <vt:lpstr>Academia Seul</vt:lpstr>
      <vt:lpstr>Semana 3 · ¿Qué es esto?</vt:lpstr>
      <vt:lpstr>Quiz 2 · 5 respuestas   Quiz 2 · 5 answers</vt:lpstr>
      <vt:lpstr>Quiz 2 · respuestas   Quiz 2 · answers</vt:lpstr>
      <vt:lpstr>Hoy vas a poder decir…   Today you will be able to say…</vt:lpstr>
      <vt:lpstr>이게 뭐예요?  ¿Qué es esto?   What is this?</vt:lpstr>
      <vt:lpstr>Cosas de todos los días (1)   Everyday things (1)</vt:lpstr>
      <vt:lpstr>Cosas de todos los días (2)   Everyday things (2)</vt:lpstr>
      <vt:lpstr>Para tomar y comer   To drink and eat</vt:lpstr>
      <vt:lpstr>이거 · 그거 · 저거  Esto · eso · aquello   This · that · that over there</vt:lpstr>
      <vt:lpstr>En Zoom   On Zoom</vt:lpstr>
      <vt:lpstr>이게 뭐예요?  La pregunta: ¿qué es esto?   The question: what is this?</vt:lpstr>
      <vt:lpstr>네 / 아니요  ¿Es…? Sí / No   Is it…? Yes / No</vt:lpstr>
      <vt:lpstr>N이/가 아니에요  No es…   It is not…</vt:lpstr>
      <vt:lpstr>아니요 ≠ 아니에요  «No» no es «no es»   'No' vs 'it is not'</vt:lpstr>
      <vt:lpstr>Suena así   How it sounds</vt:lpstr>
      <vt:lpstr>이거 뭐예요?  Adivina: ¿qué es esto?   Guess: what is this?</vt:lpstr>
      <vt:lpstr>붕어빵  El pan en Corea   Bread in Korea</vt:lpstr>
      <vt:lpstr>Quiz relámpago 1–5   Lightning quiz 1–5</vt:lpstr>
      <vt:lpstr>Quiz relámpago 6–10   Lightning quiz 6–10</vt:lpstr>
      <vt:lpstr>Cascada en el chat (1)   Chat cascade (1)</vt:lpstr>
      <vt:lpstr>Cascada en el chat (2)   Chat cascade (2)</vt:lpstr>
      <vt:lpstr>Lee en voz alta (1–8)   Read aloud (1–8)</vt:lpstr>
      <vt:lpstr>Lee en voz alta (9–15)   Read aloud (9–15)</vt:lpstr>
      <vt:lpstr>En salas · 18 minutos   Breakout rooms · 18 minutes</vt:lpstr>
      <vt:lpstr>La escena del café   The café scene</vt:lpstr>
      <vt:lpstr>Minuto libre   Free minute</vt:lpstr>
      <vt:lpstr>Errores del día   Today's mistakes</vt:lpstr>
      <vt:lpstr>3 frases clave   3 key phrases</vt:lpstr>
      <vt:lpstr>Tarea · antes de la clase 4   Homework · before class 4</vt:lpstr>
      <vt:lpstr>감사합니다! 화이팅!  ¡Gracias! ¡Ánimo!</vt:lpstr>
    </vt:vector>
  </TitlesOfParts>
  <Company>Academia Seúl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Básico 1 (A1.1) · Semana 3 · 이게 뭐예요? · ¿Qué es esto?</dc:title>
  <dc:subject>PptxGenJS Presentation</dc:subject>
  <dc:creator>Academia Seúl</dc:creator>
  <cp:lastModifiedBy>Jae Hee Kim</cp:lastModifiedBy>
  <cp:revision>2</cp:revision>
  <dcterms:created xsi:type="dcterms:W3CDTF">2026-10-10T04:31:47Z</dcterms:created>
  <dcterms:modified xsi:type="dcterms:W3CDTF">2026-10-10T04:32:12Z</dcterms:modified>
</cp:coreProperties>
</file>