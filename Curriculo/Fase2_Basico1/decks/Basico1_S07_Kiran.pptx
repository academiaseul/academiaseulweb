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12192000"/>
  <p:defaultTextStyle>
    <a:lvl1pPr marL="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0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mana 7" id="{9D2DB0BB-1453-6DB3-4997-F05CBEA7AF7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9890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minutos antes: deck abierto en esta lámina, barajador de listas listo en otra pestaña y sobre el escritorio un libro, audífonos, un lápiz y una hoja. Graba desde el minuto 0 (Basico1-Martes_S07_2026-12-01 o Basico1-Jueves_S07_2026-12-03). 20:00: saluda con 안녕하세요! y pasa al quiz.
Fuente: S07_Guia_Profesor.md · C.15 #1 · C.2 (10 minutos antes)
Lámina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20:00–20:05. ES: “¡Hola, chingus! Quiz relámpago de la semana 6: 5 preguntas en el chat, 3 minutos. En 한글, por favor.” Pega el mismo texto en el chat. Lee el ítem 5 dos veces, despacio: 마리아는 매일 회사에 가요. 오늘 운동해요. Ítems 1–4 en 한글; el 5 en español.
Fuente: S07_Guia_Profesor.md · C.15 #2 · C.3 bloque 0–5 (texto del quiz)
Lámina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minuto, revelando cada respuesta con clic. ES: “Ojo con la 5: 매일 es todos los días y 오늘 es hoy. Todos los días va a la empresa; hoy, además, hace ejercicio.” Se acepta “va a trabajar” si menciona el lugar. Guarda el chat (… → Guardar chat), anota 1 punto por ítem en la hoja del curso y recuerda en general la tarea de la S6 (a quien le falte, en privado después).
Fuente: S07_Guia_Profesor.md · C.15 #3 · C.14 (quiz 6)
Lámina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s. Lee las 5 frases en coreano para que vean a dónde llega la clase. La última (좋아해요) hoy solo se dice: se explica en la clase 8.
Fuente: S07_Guia_Profesor.md · C.15 #4 · 0. En una mirada · material del alumno §1
Lámina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20:05–20:08. ES: “Hoy entramos a las piezas. Primero, la mía. Escuchen: si algo HAY, levanten el pulgar; si NO hay, la mano abierta” (reacciones de Zoom). KO, despacio, señalando el dibujo: 방이에요. 방에 침대가 있어요. 창문이 있어요. 침대 옆에 창문이 있어요. 책상이 있어요. 책상 위에 컴퓨터가 있어요. 책상 위에 사진이 있어요. 옷장이 있어요. 옷장 옆에 거울이 있어요. 그림이 있어요. 텔레비전은… 없어요! Después: “¿Qué no hay?” (el televisor).
Imagen: incluida (dibujo de la casa).
Fuente: S07_Guia_Profesor.md · C.15 #5 · C.2 (contenido del dibujo) · C.3 bloque 5–10
Lámina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s. ES: “Ahora ustedes.” KO: 따라 하세요: 있어요. 있어요. 없어요. 없어요. Marca [이써요] y [업써요]: la ㅆ tensa se oye en la sílaba siguiente; que no la digan con una s española suave.
Fuente: S07_Guia_Profesor.md · C.15 #6 · C.3 bloque 5–10 · C.7 · reutiliza 06_Ubicacion/Sesion_06_Ubicacion.pptx láms. 3–4 (sin “tengo”, 시간이 없어요 ni 돈이 없어요)
Lámina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controlada, 90 s. Señala cada objeto del dibujo y el grupo responde en coro; revela la frase con clic después del coro. Si alguien dice 안 있어요, corrige en coreano: 없어요.
Imagen: incluida (dibujo de la casa).
Fuente: S07_Guia_Profesor.md · C.15 #7 · C.3 bloque 5–10 (controlada)
Lámina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20:08–20:10. ES: “Fórmula: LUGAR에 + COSA이/가 + 있어요 o 없어요. 방에 침대가 있어요 = en la pieza hay una cama.” “Y 없어요 es su propio verbo: no hay. Nunca 안 있어요.” “Fíjense: no dije mi pieza. En coreano, si está claro de quién es, no se dice.” Si preguntan cómo se dice “mi”: la palabra la vemos en Básico 2.
Fuente: S07_Guia_Profesor.md · C.15 #8 · C.3 bloque 5–10 (explicación) · C.4 (1, 3 y 5)
Lámina 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ES: “En la semana 5 decíamos 책이 책상 위에 있어요, el libro está encima del escritorio. Son las mismas piezas en otro orden, igual que en español: el libro está en la mesa / en la mesa hay un libro. Si empiezas por el lugar, estás contando qué hay.” Los dos órdenes son correctos.
Fuente: S07_Guia_Profesor.md · C.15 #9 · C.3 bloque 5–10 · C.4 (2)
Lámina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20:10–20:12. ES: “En Corea, casi todas las casas tienen calefacción bajo el piso: viene del 온돌 tradicional, cuando el calor del fogón pasaba bajo piedras; hoy son tubos de agua caliente. Todavía hay quien duerme en un 요, que en la mañana se guarda; hoy la mayoría duerme en cama, pero en algunas casas de abuelos todavía no hay.” Frase ancla con 따라 하세요, 2 veces; luego “¿En sus casas se entra con zapatos?” (1–2 respuestas) y las estaciones: allá el 온돌 ya está prendido, en Chile y Argentina se viene el verano (México y España van al invierno). Opcional, 20 s: el 김장. Di “hay quien”, “hoy la mayoría”, nunca “los coreanos duermen en el suelo”.
Imagen: incluida (dibujo de la casa).
Fuente: S07_Guia_Profesor.md · C.15 #10 · A.7 · C.3 bloque 10–12
Lámina 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20:12–20:16 (láminas 11–13). En C.3 primero van las mímicas de la lámina 12 y después esta explicación. ES: “¿Ven algo que se repite? 책을, 음악을, 그림을. Es una etiqueta que se pega a la cosa que recibe la acción. En coreano el verbo va al final y la etiqueta dice quién es quién.” “La semana pasada dijimos 커피 마셔요, sin etiqueta. Al hablar está bien. Desde hoy, al escribir, con etiqueta.” El objeto va resaltado en azul.
Fuente: S07_Guia_Profesor.md · C.15 #11 · C.3 bloque 12–16 · reutiliza Sesion_04_Vida_Diaria_v6.pptx láms. 53–54 (sin romanización) y Particulas_Coreanas_Editable.pptx lám. 5
Lámina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Mímicas con objetos reales. ES: “Adivinen qué hago.” Toma el libro y haz como que lees: 책을 읽어요. Ponte los audífonos: 음악을 들어요. Dibuja en la hoja: 그림을 그려요. 따라 하세요, cada frase 2 veces; la frase aparece con clic después de que adivinen.
Imagen: incluida (dibujo de la casa).
Fuente: S07_Guia_Profesor.md · C.15 #12 · C.3 bloque 12–16 · C.2 (objetos sobre el escritorio)
Lámina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ES: “Pregunta 1: ¿el verbo es 있어요 o 없어요? Entonces la cosa lleva 이/가: es lo que hay. ¿Es una acción que le haces a algo? Entonces 을/를. Pregunta 2, la de siempre: ¿termina en 받침?” “En las partículas de dos formas, la de después de 받침 empieza con ㅇ: 이, 은, 을, 이에요; como esa ㅇ no suena, el 받침 se pasa a la sílaba siguiente.” KO: 책을 [채글] · 음악을 [으마글] · 그림을 [그리믈]. 따라 하세요.
Fuente: S07_Guia_Profesor.md · C.15 #13 · C.3 bloque 12–16 · reutiliza Particulas_Coreanas_Editable.pptx lám. 7 (solo 3 filas; sin 와/과, (이)랑, 하고)
Lámina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20:16–20:18, descubrimiento guiado. ES: “마시다 ya lo conocen: ¿cómo era el presente?” (espera 마셔요). “La ㅣ y la ㅓ se juntan en ㅕ. Ahora ustedes: 그리다, dibujar. 그리 + 어요 → …” (espera 그려요; 잘했어요!). “배우다: la ㅜ y la ㅓ se juntan en ㅝ, como cuota.” Revela cada respuesta con clic solo después de que la digan.
Fuente: S07_Guia_Profesor.md · C.15 #14 · C.3 bloque 16–20 · material §3.3 · reutiliza Sesion_04_Vida_Diaria_v6.pptx láms. 48–49 (sin romanización)
Lámina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20:18–20:20. ES: “Dos que se aprenden de memoria: 쓰다 → 써요 (la ㅡ se cae) y 듣다 → 들어요 (la ㄷ se vuelve ㄹ). Nunca 쓰어요 ni 듣어요. Y una trampa: 쉬다, descansar, queda 쉬어요: esa ㅟ no se junta.” KO: 써요 · 들어요 · 그려요 · 배워요 · 마셔요. 따라 하세요. Corrige 써요: ㅆ tensa, sin aire (prueba del papel).
Fuente: S07_Guia_Profesor.md · C.15 #15 · C.3 bloque 16–20 · C.7 · reutiliza 07_Rutina_Diaria/Sesion_07_Rutina_Diaria_v2.pptx lám. 18 (solo 듣다)
Lámina 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20:20–20:23. ES: “Yo digo el verbo, ustedes el presente. Primero todos.” Di cada verbo con un gesto y revela el presente con clic después del coro, con todos los micrófonos abiertos. Luego relevo por nombre, uno por verbo, empezando por los que menos hablaron en el quiz; corrige con 다시 한번 + el modelo.
Fuente: S07_Guia_Profesor.md · C.15 #16 · C.3 bloque 20–23 · reutiliza Sesion_04_Vida_Diaria_v6.pptx lám. 52
Lámina 16a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Sigue la rueda igual: coro y relevo. 쉬다 es la trampa (쉬어요, sin contracción): si dicen 쉬여요, corrige con 다시 한번. Si vas atrasada, solo coro, sin relevo individual.
Fuente: S07_Guia_Profesor.md · C.15 #16 · C.3 bloque 20–23 · C.12 (4)
Lámina 16b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20:23–20:29. ES: “Leo la frase; donde hay silencio va una partícula. Escriban en el chat solo la partícula. Después, quien yo nombre la justifica con las 2 preguntas y lee la frase completa.” Lee cada frase con una pausa en el hueco y revela con clic tras la justificación. Modelo: “Es 있어요, entonces 이/가; 침대 termina en vocal, entonces 가.” En la 4 también se acepta 은 si lo explica como contraste.
Fuente: S07_Guia_Profesor.md · C.15 #17 · C.3 bloque 23–29 (frases originales, no del libro) · C.14
Lámina 17a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Sigue igual, con un alumno distinto por frase (son 10 turnos de habla). En la 6 también se acepta 은 si lo explica como contraste; la respuesta esperada es 이. Si vas atrasada, haz solo 1, 2, 3, 5, 7 y 9.
Fuente: S07_Guia_Profesor.md · C.15 #17 · C.3 bloque 23–29 · C.12 (3) · C.14
Lámina 17b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Lectura en voz alta por turnos: KO 읽으세요! y cada alumno lee una frase completa. Corrige la pronunciación de 책을 [채글], 음악을 [으마글] y 창문이 [창무니].
Fuente: S07_Guia_Profesor.md · C.15 #18 · C.14 (dictado) · C.7
Lámina 18a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Sigue la lectura por turnos. En 4 y 6 también vale 은 (contraste: 창문은 없어요 / 텔레비전은 있어요) si el alumno lo explica; la respuesta esperada es 이. Corrige 써요: ㅆ tensa, sin aire.
Fuente: S07_Guia_Profesor.md · C.15 #18 · C.14 (dictado)
Lámina 18b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20:29–20:31. ES: “Solo para reconocer, no para elegir todavía. Tres frases que ya conocen.” “Para hablar, con 있어요 y 없어요 usen siempre 이/가 y estará bien. El 은 de 텔레비전은 없어요 es un bonus: si les sale, perfecto.” No abras más el tema: “Esa pregunta es buenísima y la vemos en Básico 2.” Si vas atrasada: 30 s, solo 텔레비전은 없어요 = en cambio.
Fuente: S07_Guia_Profesor.md · C.15 #19 · C.3 bloque 29–31 · C.14 · reutiliza Particulas_Coreanas_Editable.pptx lám. 4, simplificada
Lámina 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20:31–20:33. Modela con un voluntario, 2 frases cada uno: 방에 뭐가 있어요? — 침대가 있어요. 책상이 있어요. — 텔레비전이 있어요? — 아니요, 없어요. Pega en el chat el texto de salas y la tarjeta de mímica. Abre salas de 3 (5 × 3, o 4 × 3 + 1 × 2; con menos de 9, parejas), cierre automático a los 19 min + cuenta regresiva de 15 s. Las salas nunca se recortan.
Fuente: S07_Guia_Profesor.md · C.15 #20 · C.3 bloque 31–33 (texto de salas)
Lámina 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20:33–20:42, en salas. ES: “Muestra tu pieza con la cámara, o una foto, o un dibujo, o la pieza de tus sueños: no tienen que mostrar su casa.” Rota unos 4 min por sala: escucha 1 minuto antes de hablar, corrige 1 cosa por persona y anota 이/가 con 있어요 y 을/를 (bien / a reforzar). No preguntes 그림을 그려요? esperando un no: 안 + verbo no está enseñado. A los 9 min, “Transmitir mensaje”: “Cambio: MÍMICA”.
Fuente: S07_Guia_Profesor.md · C.15 #21 · A.8 · C.3 bloque 33–53 · material §7
Lámina 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20:42–20:49, mímica: sigue rotando y corrige 1:1 la pronunciación de 읽어요, 들어요 y 써요. Trampa: 운동해요 y 자요 van sin 을/를; si alguien dice 운동을 해요, también es correcto: dale el punto. A los 16 min, “Transmitir mensaje”: “MINUTO LIBRE: 방에 뭐가 있어요? · 오늘 뭐 해요? (sin cuaderno)”. 20:49–20:53: escucha una sala sin intervenir; si alguien responde 아니요, acepta 아니요 + otra acción.
Fuente: S07_Guia_Profesor.md · C.15 #22 · C.3 (tarjeta de mímica) · reutiliza B1_Minuto_Libre.md (fila S7)
Lámina 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20:53–20:54. ES: “Tres cosas que escuché” + la forma correcta, sin nombres; las dices, no las escribes en vivo, y el grupo repite la forma correcta. Candidatos: 책을 있어요 → 책이 있어요 · 듣어요 → 들어요 · 마시요 → 마셔요 · 안 있어요 → 없어요 · 커피을 → 커피를.
Fuente: S07_Guia_Profesor.md · C.15 #23 · C.3 bloque 53–58 · C.6
Lámina 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20:54. Deja 2 segundos de silencio (de aquí se recorta el clip B1_S07_frases_clave.mp3). KO: 따라 하세요. Cada frase 2 veces, despacio, con todos los micrófonos abiertos. Este coro nunca se recorta.
Fuente: S07_Guia_Profesor.md · C.15 #24 · A.5 · C.3 bloque 53–58 · reutiliza B1_Frases_Clave.md (fila S7)
Lámina 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20:55. ES: “La tercera nos abre la clase 8: 김치를 좋아해요 = me gusta el kimchi. ¿Ven el 를? Es la misma etiqueta de hoy. Si no te gusta: 안 좋아해요. No la expliquen todavía: úsenla.” KO a 2 alumnos: (nombre), 김치를 좋아해요? → 네, 좋아해요. / 아니요, 안 좋아해요. Si sale 김치가 좋아해요, da el modelo 김치를 좋아해요 sin abrir el tema.
Fuente: S07_Guia_Profesor.md · C.15 #25 · C.3 bloque 53–58 · material §3.5 · reutiliza B1_Tarjeta_Gustos.md
Lámina 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20:56. ES: “Tarea grande de la semana: tu guion para Yo en coreano, 8 a 10 frases: quién eres, tu familia, dónde vives, tu día y tu pieza. Los gustos, si quieres, con la tarjeta; si no, los armamos en la clase 8. Tipeado en 한글, me lo mandas y te lo devuelvo corregido antes de la clase 8.” Solo 3 frases de ejemplo, para que nadie copie un modelo entero. Plazo y canal: [propuesta: 48 h después de la clase 7; confirmar con Kiran].
Fuente: S07_Guia_Profesor.md · C.15 #26 · C.3 (guion) · material §9.3 · diseño F.1
Lámina 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ES: “El examen escrito en línea dura 30 minutos y lo rindes antes de la clase 8. Tu repaso es la hoja 7–8: hazla antes del examen.” Di la ventana de tu sección (el mar 8 de diciembre es feriado en Chile: Jay confirma si se mantiene la clase 8 del martes; si cambia, usa la fecha nueva). El link lo publicas en el grupo cuando Jay lo confirme: [PLACEHOLDER: link del formulario — lo confirma Jay]. No prometas nada fuera de lo confirmado.
Fuente: S07_Guia_Profesor.md · C.15 #27 · C.3 (examen) · C.13 · material §9.4
Lámina 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ES: “Y ahora, el sorteo del orden de la clase 8.” Baraja la lista una vez en el barajador de listas (otra pestaña, un clic, 15 s), toma captura y publícala con el mensaje post-clase. Aviso de qué pasa si alguien no puede presentar el día 8: [regla del certificado: pendiente de decisión de Jay]. Si el barajador no carga, sortea apenas termine la clase.
Fuente: S07_Guia_Profesor.md · C.15 #28 · C.2 · C.3 (sorteo) · C.12b
Lámina 28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20–30 s: “Todo está en la sección 9 de tu material.” Recuerda que la hoja 7–8 es el repaso del examen y que el Lector guarda las estrellas en el mismo aparato de siempre (consejo: decir la palabra en voz alta antes de mirar las opciones).
Fuente: S07_Guia_Profesor.md · C.15 #29 · A.13–A.14 · material §9
Lámina 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20:58. KO: 감사합니다! 화이팅! Los alumnos responden 안녕히 계세요! y tú, 안녕히 가세요! (convención de la S2). Termina la grabación a las 20:58.
Fuente: S07_Guia_Profesor.md · C.15 #30 · C.3 (despedida)
Lámina 30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PORTADA">
    <p:bg>
      <p:bgPr>
        <a:solidFill>
          <a:srgbClr val="0034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600200" y="7132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</a:rPr>
              <a:t>ACADEMIA SEÚL</a:t>
            </a:r>
            <a:endParaRPr lang="en-US" sz="14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E8B84B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6" name="Text 1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C3DA"/>
                </a:solidFill>
              </a:rPr>
              <a:t>Básico 1 (A1.1) · Semana 7 · Kiran (기란) · Academia Seúl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ONTENI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rgbClr val="003478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pic>
        <p:nvPicPr>
          <p:cNvPr id="3" name="Image 0" descr="C:/Users/Chingu/Desktop/ACADEMIASEULWEB/public/email/sello-azu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400" y="411480"/>
            <a:ext cx="502920" cy="502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DA0"/>
                </a:solidFill>
              </a:rPr>
              <a:t>Básico 1 (A1.1) · Semana 7 · Kiran (기란) · Academia Seúl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_CIERRE">
    <p:bg>
      <p:bgPr>
        <a:solidFill>
          <a:srgbClr val="423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Chingu/Desktop/ACADEMIASEULWEB/public/email/sell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02920"/>
            <a:ext cx="914400" cy="9144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marL="0" indent="0">
              <a:buNone/>
            </a:pPr>
            <a:endParaRPr lang="en-US" sz="2200" dirty="0"/>
          </a:p>
        </p:txBody>
      </p:sp>
      <p:sp>
        <p:nvSpPr>
          <p:cNvPr id="5" name="Text 0"/>
          <p:cNvSpPr txBox="1"/>
          <p:nvPr/>
        </p:nvSpPr>
        <p:spPr>
          <a:xfrm>
            <a:off x="731520" y="626364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D7F7"/>
                </a:solidFill>
              </a:rPr>
              <a:t>Básico 1 (A1.1) · Semana 7 · Kiran (기란) · Academia Seúl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0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0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0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0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0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0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0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9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_ko"/>
          <p:cNvSpPr txBox="1"/>
          <p:nvPr/>
        </p:nvSpPr>
        <p:spPr>
          <a:xfrm>
            <a:off x="640080" y="169164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marL="0" indent="0" eaLnBrk="1">
              <a:buNone/>
            </a:pPr>
            <a:r>
              <a:rPr lang="ko-KR" altLang="en-US" sz="6600" b="1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방에 침대가 있어요</a:t>
            </a:r>
            <a:endParaRPr lang="en-US" sz="6600" dirty="0"/>
          </a:p>
        </p:txBody>
      </p:sp>
      <p:sp>
        <p:nvSpPr>
          <p:cNvPr id="3" name="Text 1"/>
          <p:cNvSpPr>
            <a:spLocks noGrp="1"/>
          </p:cNvSpPr>
          <p:nvPr>
            <p:ph type="title" idx="102" hasCustomPrompt="1"/>
          </p:nvPr>
        </p:nvSpPr>
        <p:spPr>
          <a:xfrm>
            <a:off x="640080" y="3063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1">
              <a:buNone/>
            </a:pPr>
            <a:r>
              <a:rPr lang="en-US" sz="4400" b="1" dirty="0">
                <a:solidFill>
                  <a:srgbClr val="FFFFFF"/>
                </a:solidFill>
              </a:rPr>
              <a:t>Semana 7 · Mi pieza y mis verbos</a:t>
            </a: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3" hasCustomPrompt="1"/>
          </p:nvPr>
        </p:nvSpPr>
        <p:spPr>
          <a:xfrm>
            <a:off x="640080" y="416052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200" dirty="0">
                <a:solidFill>
                  <a:srgbClr val="E8B84B"/>
                </a:solidFill>
              </a:rPr>
              <a:t>Básico 1 (A1.1) · Lecciones 7 y 8 del libro</a:t>
            </a:r>
            <a:endParaRPr lang="en-US" sz="2200" dirty="0"/>
          </a:p>
          <a:p>
            <a:pPr marL="0" indent="0" eaLnBrk="1">
              <a:buNone/>
            </a:pPr>
            <a:r>
              <a:rPr lang="ko-KR" altLang="en-US" sz="2200" dirty="0">
                <a:solidFill>
                  <a:srgbClr val="E8B8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Kiran (기란</a:t>
            </a:r>
            <a:r>
              <a:rPr lang="en-US" sz="2200" dirty="0">
                <a:solidFill>
                  <a:srgbClr val="E8B84B"/>
                </a:solidFill>
              </a:rPr>
              <a:t>)</a:t>
            </a:r>
            <a:endParaRPr lang="en-US" sz="2200" dirty="0"/>
          </a:p>
          <a:p>
            <a:pPr marL="0" indent="0" eaLnBrk="1">
              <a:buNone/>
            </a:pPr>
            <a:r>
              <a:rPr lang="en-US" sz="2200" dirty="0">
                <a:solidFill>
                  <a:srgbClr val="E8B84B"/>
                </a:solidFill>
              </a:rPr>
              <a:t>Martes 1 / jueves 3 de diciembre · 20:00 (hora de Chile)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Quiz 6</a:t>
            </a:r>
            <a:r>
              <a:rPr lang="en-US" sz="1500" b="1" i="1" dirty="0">
                <a:solidFill>
                  <a:srgbClr val="8A8DA0"/>
                </a:solidFill>
              </a:rPr>
              <a:t>   Quiz 6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Escribe solo la respuesta, en 한글 </a:t>
            </a:r>
            <a:r>
              <a:rPr lang="en-US" sz="1800" i="1" dirty="0">
                <a:solidFill>
                  <a:srgbClr val="4236F6"/>
                </a:solidFill>
              </a:rPr>
              <a:t>· 3 minutos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가다 </a:t>
            </a:r>
            <a:r>
              <a:rPr lang="en-US" sz="2400" dirty="0">
                <a:solidFill>
                  <a:srgbClr val="14142B"/>
                </a:solidFill>
              </a:rPr>
              <a:t>→ presente: ______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먹다 </a:t>
            </a:r>
            <a:r>
              <a:rPr lang="en-US" sz="2400" dirty="0">
                <a:solidFill>
                  <a:srgbClr val="14142B"/>
                </a:solidFill>
              </a:rPr>
              <a:t>→ presente: ______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공부하다 </a:t>
            </a:r>
            <a:r>
              <a:rPr lang="en-US" sz="2400" dirty="0">
                <a:solidFill>
                  <a:srgbClr val="14142B"/>
                </a:solidFill>
              </a:rPr>
              <a:t>→ presente: ______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4) 학교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</a:t>
            </a:r>
            <a:r>
              <a:rPr lang="en-US" sz="2400" dirty="0">
                <a:solidFill>
                  <a:srgbClr val="14142B"/>
                </a:solidFill>
              </a:rPr>
              <a:t>. (¿qué partícula?)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5) Escucha a Kiran (2 veces) y responde en español: ¿qué hace María todos los días?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Clave del quiz 6</a:t>
            </a:r>
            <a:r>
              <a:rPr lang="en-US" sz="1500" b="1" i="1" dirty="0">
                <a:solidFill>
                  <a:srgbClr val="8A8DA0"/>
                </a:solidFill>
              </a:rPr>
              <a:t>   Quiz 6 answer key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Corrección en 1 minuto · 1 punto por ítem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0677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67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489898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가다</a:t>
            </a:r>
            <a:endParaRPr lang="en-US" sz="2400" dirty="0"/>
          </a:p>
        </p:txBody>
      </p:sp>
      <p:sp>
        <p:nvSpPr>
          <p:cNvPr id="7" name="rev_0_caja"/>
          <p:cNvSpPr/>
          <p:nvPr/>
        </p:nvSpPr>
        <p:spPr>
          <a:xfrm>
            <a:off x="6316309" y="2002536"/>
            <a:ext cx="532400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0_txt"/>
          <p:cNvSpPr txBox="1"/>
          <p:nvPr/>
        </p:nvSpPr>
        <p:spPr>
          <a:xfrm>
            <a:off x="6407749" y="2002536"/>
            <a:ext cx="514112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973629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736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32811"/>
            <a:ext cx="489898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먹다</a:t>
            </a:r>
            <a:endParaRPr lang="en-US" sz="2400" dirty="0"/>
          </a:p>
        </p:txBody>
      </p:sp>
      <p:sp>
        <p:nvSpPr>
          <p:cNvPr id="12" name="rev_1_caja"/>
          <p:cNvSpPr/>
          <p:nvPr/>
        </p:nvSpPr>
        <p:spPr>
          <a:xfrm>
            <a:off x="6316309" y="2869387"/>
            <a:ext cx="532400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_txt"/>
          <p:cNvSpPr txBox="1"/>
          <p:nvPr/>
        </p:nvSpPr>
        <p:spPr>
          <a:xfrm>
            <a:off x="6407749" y="2869387"/>
            <a:ext cx="514112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먹어요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699662"/>
            <a:ext cx="489898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공부하다</a:t>
            </a:r>
            <a:endParaRPr lang="en-US" sz="2400" dirty="0"/>
          </a:p>
        </p:txBody>
      </p:sp>
      <p:sp>
        <p:nvSpPr>
          <p:cNvPr id="17" name="rev_2_caja"/>
          <p:cNvSpPr/>
          <p:nvPr/>
        </p:nvSpPr>
        <p:spPr>
          <a:xfrm>
            <a:off x="6316309" y="3736238"/>
            <a:ext cx="532400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2_txt"/>
          <p:cNvSpPr txBox="1"/>
          <p:nvPr/>
        </p:nvSpPr>
        <p:spPr>
          <a:xfrm>
            <a:off x="6407749" y="3736238"/>
            <a:ext cx="514112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공부해요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707331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7073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566514"/>
            <a:ext cx="489898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22" name="rev_3_caja"/>
          <p:cNvSpPr/>
          <p:nvPr/>
        </p:nvSpPr>
        <p:spPr>
          <a:xfrm>
            <a:off x="6316309" y="4603090"/>
            <a:ext cx="532400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3_txt"/>
          <p:cNvSpPr txBox="1"/>
          <p:nvPr/>
        </p:nvSpPr>
        <p:spPr>
          <a:xfrm>
            <a:off x="6407749" y="4603090"/>
            <a:ext cx="514112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</a:t>
            </a:r>
            <a:r>
              <a:rPr lang="en-US" sz="2200" b="1" dirty="0">
                <a:solidFill>
                  <a:srgbClr val="FFFFFF"/>
                </a:solidFill>
              </a:rPr>
              <a:t>→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학교에 가요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557418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5741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433365"/>
            <a:ext cx="489898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2300" dirty="0">
                <a:solidFill>
                  <a:srgbClr val="14142B"/>
                </a:solidFill>
              </a:rPr>
              <a:t>¿Qué hace María todos los días?</a:t>
            </a:r>
            <a:endParaRPr lang="en-US" sz="2300" dirty="0"/>
          </a:p>
        </p:txBody>
      </p:sp>
      <p:sp>
        <p:nvSpPr>
          <p:cNvPr id="27" name="rev_4_caja"/>
          <p:cNvSpPr/>
          <p:nvPr/>
        </p:nvSpPr>
        <p:spPr>
          <a:xfrm>
            <a:off x="6316309" y="5469941"/>
            <a:ext cx="532400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4_txt"/>
          <p:cNvSpPr txBox="1"/>
          <p:nvPr/>
        </p:nvSpPr>
        <p:spPr>
          <a:xfrm>
            <a:off x="6407749" y="5469941"/>
            <a:ext cx="514112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 a la empresa: 매일 회사에 가요</a:t>
            </a:r>
            <a:r>
              <a:rPr lang="en-US" sz="1900" b="1" dirty="0">
                <a:solidFill>
                  <a:srgbClr val="FFFFFF"/>
                </a:solidFill>
              </a:rPr>
              <a:t>. (</a:t>
            </a: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</a:t>
            </a:r>
            <a:r>
              <a:rPr lang="en-US" sz="1900" b="1" dirty="0">
                <a:solidFill>
                  <a:srgbClr val="FFFFFF"/>
                </a:solidFill>
              </a:rPr>
              <a:t>= hoy: </a:t>
            </a:r>
            <a:r>
              <a:rPr lang="ko-KR" alt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운동해요</a:t>
            </a:r>
            <a:r>
              <a:rPr lang="en-US" sz="1900" b="1" dirty="0">
                <a:solidFill>
                  <a:srgbClr val="FFFFFF"/>
                </a:solidFill>
              </a:rPr>
              <a:t>)</a:t>
            </a:r>
            <a:endParaRPr lang="en-US" sz="19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Hoy vas a poder decir…</a:t>
            </a:r>
            <a:r>
              <a:rPr lang="en-US" sz="1500" b="1" i="1" dirty="0">
                <a:solidFill>
                  <a:srgbClr val="8A8DA0"/>
                </a:solidFill>
              </a:rPr>
              <a:t>   Today you will be able to say…</a:t>
            </a:r>
            <a:endParaRPr lang="en-US" sz="3000" dirty="0"/>
          </a:p>
        </p:txBody>
      </p:sp>
      <p:graphicFrame>
        <p:nvGraphicFramePr>
          <p:cNvPr id="5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873361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55458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58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Coreano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Español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방에 침대가 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텔레비전은 없어요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En mi pieza hay una cama. Televisor, no hay.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방에 뭐가 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? —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컴퓨터가 있어요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¿Qué hay en tu pieza? — Hay un computador.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책을 읽어요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 /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음악을 들어요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Leo un libro. / Escucho música.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저는 매일 그림을 그려요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Yo dibujo todos los días.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김치를 좋아해요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 / </a:t>
                      </a:r>
                      <a:r>
                        <a:rPr lang="ko-KR" altLang="en-US" sz="16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 좋아해요</a:t>
                      </a: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600" dirty="0">
                          <a:solidFill>
                            <a:srgbClr val="14142B"/>
                          </a:solidFill>
                        </a:rPr>
                        <a:t>Me gusta el kimchi. / No me gusta.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La pieza de Kiran</a:t>
            </a:r>
            <a:r>
              <a:rPr lang="en-US" sz="1500" b="1" i="1" dirty="0">
                <a:solidFill>
                  <a:srgbClr val="8A8DA0"/>
                </a:solidFill>
              </a:rPr>
              <a:t>   Kiran's room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566928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/>
          <a:lstStyle/>
          <a:p>
            <a:pPr marL="0" indent="0" eaLnBrk="0">
              <a:buNone/>
            </a:pPr>
            <a:endParaRPr lang="en-US" dirty="0"/>
          </a:p>
        </p:txBody>
      </p:sp>
      <p:pic>
        <p:nvPicPr>
          <p:cNvPr id="4" name="imagen" descr="C:\Users\Chingu\AppData\Local\Temp\claude\C--Users-Chingu-Desktop-ACADEMIASEULWEB\d4111e1b-5523-44ea-97b2-b1a1d9545b9e\scratchpad\decks\cache\img_8ba59155696d89a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756" y="1325880"/>
            <a:ext cx="4203441" cy="4846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  </a:t>
            </a:r>
            <a:r>
              <a:rPr lang="en-US" sz="3000" b="1" dirty="0">
                <a:solidFill>
                  <a:srgbClr val="003478"/>
                </a:solidFill>
              </a:rPr>
              <a:t>Hay · no hay</a:t>
            </a:r>
            <a:r>
              <a:rPr lang="en-US" sz="1500" b="1" i="1" dirty="0">
                <a:solidFill>
                  <a:srgbClr val="8A8DA0"/>
                </a:solidFill>
              </a:rPr>
              <a:t>   There is · there isn't</a:t>
            </a:r>
            <a:endParaRPr lang="en-US" sz="3000" dirty="0"/>
          </a:p>
        </p:txBody>
      </p:sp>
      <p:sp>
        <p:nvSpPr>
          <p:cNvPr id="3" name="card_0"/>
          <p:cNvSpPr/>
          <p:nvPr/>
        </p:nvSpPr>
        <p:spPr>
          <a:xfrm>
            <a:off x="548640" y="1325880"/>
            <a:ext cx="5431536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962302"/>
            <a:ext cx="5431536" cy="1492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54603"/>
            <a:ext cx="5431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[이써요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3728923"/>
            <a:ext cx="5285232" cy="1912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hay</a:t>
            </a:r>
            <a:endParaRPr lang="en-US" sz="1600" dirty="0"/>
          </a:p>
        </p:txBody>
      </p:sp>
      <p:sp>
        <p:nvSpPr>
          <p:cNvPr id="7" name="card_1"/>
          <p:cNvSpPr/>
          <p:nvPr/>
        </p:nvSpPr>
        <p:spPr>
          <a:xfrm>
            <a:off x="6208776" y="1325880"/>
            <a:ext cx="5431536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208776" y="1962302"/>
            <a:ext cx="5431536" cy="149230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5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endParaRPr lang="en-US" sz="5400" dirty="0"/>
          </a:p>
        </p:txBody>
      </p:sp>
      <p:sp>
        <p:nvSpPr>
          <p:cNvPr id="9" name="Text 7"/>
          <p:cNvSpPr txBox="1"/>
          <p:nvPr/>
        </p:nvSpPr>
        <p:spPr>
          <a:xfrm>
            <a:off x="6208776" y="3454603"/>
            <a:ext cx="5431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[업써요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281928" y="3728923"/>
            <a:ext cx="5285232" cy="1912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no hay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¿Hay o no hay?</a:t>
            </a:r>
            <a:r>
              <a:rPr lang="en-US" sz="1500" b="1" i="1" dirty="0">
                <a:solidFill>
                  <a:srgbClr val="8A8DA0"/>
                </a:solidFill>
              </a:rPr>
              <a:t>   Is there or isn't there?</a:t>
            </a:r>
            <a:endParaRPr lang="en-US" sz="3000" dirty="0"/>
          </a:p>
        </p:txBody>
      </p:sp>
      <p:pic>
        <p:nvPicPr>
          <p:cNvPr id="3" name="imagen" descr="C:\Users\Chingu\AppData\Local\Temp\claude\C--Users-Chingu-Desktop-ACADEMIASEULWEB\d4111e1b-5523-44ea-97b2-b1a1d9545b9e\scratchpad\decks\cache\img_e2e16e221377aa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508760"/>
            <a:ext cx="3886200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25880"/>
            <a:ext cx="6931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Kiran señala; responde en coro con la frase completa</a:t>
            </a:r>
            <a:endParaRPr lang="en-US" sz="1800" dirty="0"/>
          </a:p>
        </p:txBody>
      </p:sp>
      <p:sp>
        <p:nvSpPr>
          <p:cNvPr id="5" name="num_0"/>
          <p:cNvSpPr/>
          <p:nvPr/>
        </p:nvSpPr>
        <p:spPr>
          <a:xfrm>
            <a:off x="548640" y="210677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21067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965960"/>
            <a:ext cx="273551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침대</a:t>
            </a:r>
            <a:endParaRPr lang="en-US" sz="2400" dirty="0"/>
          </a:p>
        </p:txBody>
      </p:sp>
      <p:sp>
        <p:nvSpPr>
          <p:cNvPr id="8" name="rev_5_caja"/>
          <p:cNvSpPr/>
          <p:nvPr/>
        </p:nvSpPr>
        <p:spPr>
          <a:xfrm>
            <a:off x="4152839" y="2002536"/>
            <a:ext cx="332695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9" name="rev_5_txt"/>
          <p:cNvSpPr txBox="1"/>
          <p:nvPr/>
        </p:nvSpPr>
        <p:spPr>
          <a:xfrm>
            <a:off x="4244279" y="2002536"/>
            <a:ext cx="314407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침대가 있어요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0" name="num_1"/>
          <p:cNvSpPr/>
          <p:nvPr/>
        </p:nvSpPr>
        <p:spPr>
          <a:xfrm>
            <a:off x="548640" y="2973629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9736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832811"/>
            <a:ext cx="273551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</a:t>
            </a:r>
            <a:endParaRPr lang="en-US" sz="2400" dirty="0"/>
          </a:p>
        </p:txBody>
      </p:sp>
      <p:sp>
        <p:nvSpPr>
          <p:cNvPr id="13" name="rev_6_caja"/>
          <p:cNvSpPr/>
          <p:nvPr/>
        </p:nvSpPr>
        <p:spPr>
          <a:xfrm>
            <a:off x="4152839" y="2869387"/>
            <a:ext cx="332695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4" name="rev_6_txt"/>
          <p:cNvSpPr txBox="1"/>
          <p:nvPr/>
        </p:nvSpPr>
        <p:spPr>
          <a:xfrm>
            <a:off x="4244279" y="2869387"/>
            <a:ext cx="314407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컴퓨터가 있어요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15" name="num_2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188720" y="3699662"/>
            <a:ext cx="273551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</a:t>
            </a:r>
            <a:endParaRPr lang="en-US" sz="2400" dirty="0"/>
          </a:p>
        </p:txBody>
      </p:sp>
      <p:sp>
        <p:nvSpPr>
          <p:cNvPr id="18" name="rev_7_caja"/>
          <p:cNvSpPr/>
          <p:nvPr/>
        </p:nvSpPr>
        <p:spPr>
          <a:xfrm>
            <a:off x="4152839" y="3736238"/>
            <a:ext cx="332695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9" name="rev_7_txt"/>
          <p:cNvSpPr txBox="1"/>
          <p:nvPr/>
        </p:nvSpPr>
        <p:spPr>
          <a:xfrm>
            <a:off x="4244279" y="3736238"/>
            <a:ext cx="314407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거울이 있어요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0" name="num_3"/>
          <p:cNvSpPr/>
          <p:nvPr/>
        </p:nvSpPr>
        <p:spPr>
          <a:xfrm>
            <a:off x="548640" y="4707331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7073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188720" y="4566514"/>
            <a:ext cx="273551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텔레비전</a:t>
            </a:r>
            <a:endParaRPr lang="en-US" sz="2400" dirty="0"/>
          </a:p>
        </p:txBody>
      </p:sp>
      <p:sp>
        <p:nvSpPr>
          <p:cNvPr id="23" name="rev_8_caja"/>
          <p:cNvSpPr/>
          <p:nvPr/>
        </p:nvSpPr>
        <p:spPr>
          <a:xfrm>
            <a:off x="4152839" y="4603090"/>
            <a:ext cx="332695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4" name="rev_8_txt"/>
          <p:cNvSpPr txBox="1"/>
          <p:nvPr/>
        </p:nvSpPr>
        <p:spPr>
          <a:xfrm>
            <a:off x="4244279" y="4603090"/>
            <a:ext cx="314407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텔레비전이 없어요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num_4"/>
          <p:cNvSpPr/>
          <p:nvPr/>
        </p:nvSpPr>
        <p:spPr>
          <a:xfrm>
            <a:off x="548640" y="557418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55741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188720" y="5433365"/>
            <a:ext cx="2735519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창문</a:t>
            </a:r>
            <a:endParaRPr lang="en-US" sz="2400" dirty="0"/>
          </a:p>
        </p:txBody>
      </p:sp>
      <p:sp>
        <p:nvSpPr>
          <p:cNvPr id="28" name="rev_9_caja"/>
          <p:cNvSpPr/>
          <p:nvPr/>
        </p:nvSpPr>
        <p:spPr>
          <a:xfrm>
            <a:off x="4152839" y="5469941"/>
            <a:ext cx="3326953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9" name="rev_9_txt"/>
          <p:cNvSpPr txBox="1"/>
          <p:nvPr/>
        </p:nvSpPr>
        <p:spPr>
          <a:xfrm>
            <a:off x="4244279" y="5469941"/>
            <a:ext cx="3144073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창문이 있어요</a:t>
            </a:r>
            <a:r>
              <a:rPr lang="en-US" sz="2200" b="1" dirty="0">
                <a:solidFill>
                  <a:srgbClr val="FFFFFF"/>
                </a:solidFill>
              </a:rPr>
              <a:t>.</a:t>
            </a:r>
            <a:endParaRPr lang="en-US" sz="22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9" grpId="0" animBg="1"/>
      <p:bldP spid="24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Hay / no hay: la fórmula</a:t>
            </a:r>
            <a:r>
              <a:rPr lang="en-US" sz="1500" b="1" i="1" dirty="0">
                <a:solidFill>
                  <a:srgbClr val="8A8DA0"/>
                </a:solidFill>
              </a:rPr>
              <a:t>   There is / there isn't: the formula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694944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LUGAR에 </a:t>
            </a:r>
            <a:r>
              <a:rPr lang="en-US" sz="2200" dirty="0">
                <a:solidFill>
                  <a:srgbClr val="14142B"/>
                </a:solidFill>
              </a:rPr>
              <a:t>+ COSA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2200" dirty="0">
                <a:solidFill>
                  <a:srgbClr val="14142B"/>
                </a:solidFill>
              </a:rPr>
              <a:t>/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2200" dirty="0">
                <a:solidFill>
                  <a:srgbClr val="14142B"/>
                </a:solidFill>
              </a:rPr>
              <a:t>+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 </a:t>
            </a:r>
            <a:r>
              <a:rPr lang="en-US" sz="2200" dirty="0">
                <a:solidFill>
                  <a:srgbClr val="14142B"/>
                </a:solidFill>
              </a:rPr>
              <a:t>/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방에 침대가 있어요</a:t>
            </a:r>
            <a:r>
              <a:rPr lang="en-US" sz="2200" dirty="0">
                <a:solidFill>
                  <a:srgbClr val="14142B"/>
                </a:solidFill>
              </a:rPr>
              <a:t>. = En la pieza hay una cama.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방에 텔레비전이 없어요</a:t>
            </a:r>
            <a:r>
              <a:rPr lang="en-US" sz="2200" dirty="0">
                <a:solidFill>
                  <a:srgbClr val="14142B"/>
                </a:solidFill>
              </a:rPr>
              <a:t>. = En la pieza no hay televisor.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 cosa que hay lleva 이</a:t>
            </a:r>
            <a:r>
              <a:rPr lang="en-US" sz="2200" dirty="0">
                <a:solidFill>
                  <a:srgbClr val="14142B"/>
                </a:solidFill>
              </a:rPr>
              <a:t>/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2200" dirty="0">
                <a:solidFill>
                  <a:srgbClr val="14142B"/>
                </a:solidFill>
              </a:rPr>
              <a:t>: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sz="2200" dirty="0">
                <a:solidFill>
                  <a:srgbClr val="14142B"/>
                </a:solidFill>
              </a:rPr>
              <a:t>después de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받침</a:t>
            </a:r>
            <a:r>
              <a:rPr lang="en-US" sz="2200" dirty="0">
                <a:solidFill>
                  <a:srgbClr val="14142B"/>
                </a:solidFill>
              </a:rPr>
              <a:t>,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2200" dirty="0">
                <a:solidFill>
                  <a:srgbClr val="14142B"/>
                </a:solidFill>
              </a:rPr>
              <a:t>después de vocal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“No hay” = 없어요 </a:t>
            </a:r>
            <a:r>
              <a:rPr lang="en-US" sz="2200" dirty="0">
                <a:solidFill>
                  <a:srgbClr val="14142B"/>
                </a:solidFill>
              </a:rPr>
              <a:t>(nunca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있어요</a:t>
            </a:r>
            <a:r>
              <a:rPr lang="en-US" sz="2200" dirty="0">
                <a:solidFill>
                  <a:srgbClr val="14142B"/>
                </a:solidFill>
              </a:rPr>
              <a:t>)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 está claro de quién es, no se dice “mi”: 방에</a:t>
            </a:r>
            <a:r>
              <a:rPr lang="en-US" sz="2200" dirty="0">
                <a:solidFill>
                  <a:srgbClr val="14142B"/>
                </a:solidFill>
              </a:rPr>
              <a:t>… = en (mi) pieza</a:t>
            </a:r>
            <a:endParaRPr lang="en-US" sz="2200" dirty="0"/>
          </a:p>
        </p:txBody>
      </p:sp>
      <p:sp>
        <p:nvSpPr>
          <p:cNvPr id="4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5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“Está” y “hay”</a:t>
            </a:r>
            <a:r>
              <a:rPr lang="en-US" sz="1500" b="1" i="1" dirty="0">
                <a:solidFill>
                  <a:srgbClr val="8A8DA0"/>
                </a:solidFill>
              </a:rPr>
              <a:t>   “Is” and “there is”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Mismas piezas, otro orden (como en español)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Semana 5 · “está”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33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책이 책상 위에 있어요</a:t>
            </a:r>
            <a:r>
              <a:rPr lang="en-US" sz="3300" b="1" dirty="0">
                <a:solidFill>
                  <a:srgbClr val="4236F6"/>
                </a:solidFill>
              </a:rPr>
              <a:t>.</a:t>
            </a:r>
            <a:endParaRPr lang="en-US" sz="33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El libro está encima del escritorio.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Empiezas por la cosa: dices dónde está.</a:t>
            </a:r>
            <a:endParaRPr lang="en-US" sz="2000" dirty="0"/>
          </a:p>
        </p:txBody>
      </p:sp>
      <p:sp>
        <p:nvSpPr>
          <p:cNvPr id="8" name="col_1"/>
          <p:cNvSpPr/>
          <p:nvPr/>
        </p:nvSpPr>
        <p:spPr>
          <a:xfrm>
            <a:off x="6254496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83096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Semana 7 · “hay”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83096" y="26517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33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책상 위에 책이 있어요</a:t>
            </a:r>
            <a:r>
              <a:rPr lang="en-US" sz="3300" b="1" dirty="0">
                <a:solidFill>
                  <a:srgbClr val="4236F6"/>
                </a:solidFill>
              </a:rPr>
              <a:t>.</a:t>
            </a:r>
            <a:endParaRPr lang="en-US" sz="3300" dirty="0"/>
          </a:p>
        </p:txBody>
      </p:sp>
      <p:sp>
        <p:nvSpPr>
          <p:cNvPr id="11" name="lista"/>
          <p:cNvSpPr txBox="1"/>
          <p:nvPr/>
        </p:nvSpPr>
        <p:spPr>
          <a:xfrm>
            <a:off x="6437376" y="3657600"/>
            <a:ext cx="5020056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Encima del escritorio hay un libro.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Empiezas por el lugar: cuentas qué hay.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온돌  </a:t>
            </a:r>
            <a:r>
              <a:rPr lang="en-US" sz="3000" b="1" dirty="0">
                <a:solidFill>
                  <a:srgbClr val="003478"/>
                </a:solidFill>
              </a:rPr>
              <a:t>El piso tibio</a:t>
            </a:r>
            <a:r>
              <a:rPr lang="en-US" sz="1500" b="1" i="1" dirty="0">
                <a:solidFill>
                  <a:srgbClr val="8A8DA0"/>
                </a:solidFill>
              </a:rPr>
              <a:t>   The warm floor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Calefacción bajo el piso · en Corea se entra a la casa sin zapatos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2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Ayer · 온돌 </a:t>
            </a:r>
            <a:r>
              <a:rPr lang="en-US" sz="2000" b="1" dirty="0">
                <a:solidFill>
                  <a:srgbClr val="003478"/>
                </a:solidFill>
              </a:rPr>
              <a:t>y </a:t>
            </a:r>
            <a:r>
              <a:rPr lang="ko-KR" altLang="en-US" sz="2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</a:t>
            </a:r>
            <a:endParaRPr lang="en-US" sz="2000" dirty="0"/>
          </a:p>
        </p:txBody>
      </p:sp>
      <p:pic>
        <p:nvPicPr>
          <p:cNvPr id="6" name="col_img_0" descr="C:\Users\Chingu\AppData\Local\Temp\claude\C--Users-Chingu-Desktop-ACADEMIASEULWEB\d4111e1b-5523-44ea-97b2-b1a1d9545b9e\scratchpad\decks\cache\img_c3fc131e15c296f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072" y="2651760"/>
            <a:ext cx="2536952" cy="11531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8963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할머니 집에</a:t>
            </a:r>
            <a:endParaRPr lang="en-US" sz="2800" dirty="0"/>
          </a:p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침대가 없어요</a:t>
            </a:r>
            <a:r>
              <a:rPr lang="en-US" sz="2800" b="1" dirty="0">
                <a:solidFill>
                  <a:srgbClr val="4236F6"/>
                </a:solidFill>
              </a:rPr>
              <a:t>.</a:t>
            </a:r>
            <a:endParaRPr lang="en-US" sz="2800" dirty="0"/>
          </a:p>
        </p:txBody>
      </p:sp>
      <p:sp>
        <p:nvSpPr>
          <p:cNvPr id="8" name="lista"/>
          <p:cNvSpPr txBox="1"/>
          <p:nvPr/>
        </p:nvSpPr>
        <p:spPr>
          <a:xfrm>
            <a:off x="731520" y="4902200"/>
            <a:ext cx="5020056" cy="11328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En la casa de mi abuela no hay cama.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Hay quien duerme en un 요</a:t>
            </a:r>
            <a:r>
              <a:rPr lang="en-US" sz="2000" dirty="0">
                <a:solidFill>
                  <a:srgbClr val="14142B"/>
                </a:solidFill>
              </a:rPr>
              <a:t>: colchón delgado que se extiende en el suelo.</a:t>
            </a:r>
            <a:endParaRPr lang="en-US" sz="2000" dirty="0"/>
          </a:p>
        </p:txBody>
      </p:sp>
      <p:sp>
        <p:nvSpPr>
          <p:cNvPr id="9" name="col_1"/>
          <p:cNvSpPr/>
          <p:nvPr/>
        </p:nvSpPr>
        <p:spPr>
          <a:xfrm>
            <a:off x="6254496" y="1874520"/>
            <a:ext cx="5385816" cy="4297680"/>
          </a:xfrm>
          <a:prstGeom prst="roundRect">
            <a:avLst>
              <a:gd name="adj" fmla="val 3191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83096" y="205740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Hoy</a:t>
            </a:r>
            <a:endParaRPr lang="en-US" sz="2000" dirty="0"/>
          </a:p>
        </p:txBody>
      </p:sp>
      <p:pic>
        <p:nvPicPr>
          <p:cNvPr id="11" name="col_img_1" descr="C:\Users\Chingu\AppData\Local\Temp\claude\C--Users-Chingu-Desktop-ACADEMIASEULWEB\d4111e1b-5523-44ea-97b2-b1a1d9545b9e\scratchpad\decks\cache\img_d894a4729b680b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8928" y="2651760"/>
            <a:ext cx="2536952" cy="11531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83096" y="3896360"/>
            <a:ext cx="49286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집에 침대가 있어요</a:t>
            </a:r>
            <a:r>
              <a:rPr lang="en-US" sz="3000" b="1" dirty="0">
                <a:solidFill>
                  <a:srgbClr val="4236F6"/>
                </a:solidFill>
              </a:rPr>
              <a:t>.</a:t>
            </a:r>
            <a:endParaRPr lang="en-US" sz="3000" dirty="0"/>
          </a:p>
        </p:txBody>
      </p:sp>
      <p:sp>
        <p:nvSpPr>
          <p:cNvPr id="13" name="lista"/>
          <p:cNvSpPr txBox="1"/>
          <p:nvPr/>
        </p:nvSpPr>
        <p:spPr>
          <a:xfrm>
            <a:off x="6437376" y="4902200"/>
            <a:ext cx="5020056" cy="11328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En mi casa hay cama.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Hoy la mayoría duerme en cama; el calor viene de tubos de agua caliente.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3000" b="1" dirty="0">
                <a:solidFill>
                  <a:srgbClr val="003478"/>
                </a:solidFill>
              </a:rPr>
              <a:t>/</a:t>
            </a:r>
            <a:r>
              <a:rPr lang="ko-KR" altLang="en-US" sz="3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sz="3000" b="1" dirty="0">
                <a:solidFill>
                  <a:srgbClr val="003478"/>
                </a:solidFill>
              </a:rPr>
              <a:t>· la etiqueta del objeto</a:t>
            </a:r>
            <a:r>
              <a:rPr lang="ko-KR" altLang="en-US" sz="1500" b="1" i="1" dirty="0">
                <a:solidFill>
                  <a:srgbClr val="8A8DA0"/>
                </a:solidFill>
              </a:rPr>
              <a:t>   을/를 · the object tag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En español el objeto no lleva marca; en coreano, sí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책을 읽어요</a:t>
            </a:r>
            <a:r>
              <a:rPr lang="en-US" sz="2200" dirty="0">
                <a:solidFill>
                  <a:srgbClr val="14142B"/>
                </a:solidFill>
              </a:rPr>
              <a:t>. — Leo un libro.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음악을 들어요</a:t>
            </a:r>
            <a:r>
              <a:rPr lang="en-US" sz="2200" dirty="0">
                <a:solidFill>
                  <a:srgbClr val="14142B"/>
                </a:solidFill>
              </a:rPr>
              <a:t>. — Escucho música.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그림을 그려요</a:t>
            </a:r>
            <a:r>
              <a:rPr lang="en-US" sz="2200" dirty="0">
                <a:solidFill>
                  <a:srgbClr val="14142B"/>
                </a:solidFill>
              </a:rPr>
              <a:t>. — Dibujo.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커피를 마셔요</a:t>
            </a:r>
            <a:r>
              <a:rPr lang="en-US" sz="2200" dirty="0">
                <a:solidFill>
                  <a:srgbClr val="14142B"/>
                </a:solidFill>
              </a:rPr>
              <a:t>. — Tomo café.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2200" dirty="0">
                <a:solidFill>
                  <a:srgbClr val="14142B"/>
                </a:solidFill>
              </a:rPr>
              <a:t>/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sz="2200" dirty="0">
                <a:solidFill>
                  <a:srgbClr val="14142B"/>
                </a:solidFill>
              </a:rPr>
              <a:t>se pega a la cosa que recibe la acción: lo que lees, escuchas, bebes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 hablar, 커피 마셔요 </a:t>
            </a:r>
            <a:r>
              <a:rPr lang="en-US" sz="2200" dirty="0">
                <a:solidFill>
                  <a:srgbClr val="14142B"/>
                </a:solidFill>
              </a:rPr>
              <a:t>está bien. Al escribir, con etiqueta: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커피를 마셔요</a:t>
            </a:r>
            <a:r>
              <a:rPr lang="en-US" sz="2200" dirty="0">
                <a:solidFill>
                  <a:srgbClr val="14142B"/>
                </a:solidFill>
              </a:rPr>
              <a:t>.</a:t>
            </a:r>
            <a:endParaRPr lang="en-US" sz="22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6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9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9000" b="1" dirty="0">
                <a:solidFill>
                  <a:srgbClr val="4236F6"/>
                </a:solidFill>
              </a:rPr>
              <a:t>/</a:t>
            </a:r>
            <a:r>
              <a:rPr lang="ko-KR" altLang="en-US" sz="9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endParaRPr lang="en-US" sz="9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¿Qué hago?</a:t>
            </a:r>
            <a:r>
              <a:rPr lang="en-US" sz="1500" b="1" i="1" dirty="0">
                <a:solidFill>
                  <a:srgbClr val="8A8DA0"/>
                </a:solidFill>
              </a:rPr>
              <a:t>   What am I doing?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Adivina y repite</a:t>
            </a:r>
            <a:endParaRPr lang="en-US" sz="1800" dirty="0"/>
          </a:p>
        </p:txBody>
      </p:sp>
      <p:sp>
        <p:nvSpPr>
          <p:cNvPr id="4" name="card_0"/>
          <p:cNvSpPr/>
          <p:nvPr/>
        </p:nvSpPr>
        <p:spPr>
          <a:xfrm>
            <a:off x="548640" y="1874520"/>
            <a:ext cx="3544824" cy="4297680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5" name="dibujo_0" descr="C:\Users\Chingu\AppData\Local\Temp\claude\C--Users-Chingu-Desktop-ACADEMIASEULWEB\d4111e1b-5523-44ea-97b2-b1a1d9545b9e\scratchpad\decks\cache\img_1b36426dcaf1178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9609" y="1984248"/>
            <a:ext cx="2062886" cy="20628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065422"/>
            <a:ext cx="35448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책을 읽어요</a:t>
            </a:r>
            <a:endParaRPr lang="en-US" sz="3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924958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책을 </a:t>
            </a:r>
            <a:r>
              <a:rPr lang="en-US" sz="1300" dirty="0">
                <a:solidFill>
                  <a:srgbClr val="8A8DA0"/>
                </a:solidFill>
              </a:rPr>
              <a:t>[</a:t>
            </a: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채글</a:t>
            </a:r>
            <a:r>
              <a:rPr lang="en-US" sz="1300" dirty="0">
                <a:solidFill>
                  <a:srgbClr val="8A8DA0"/>
                </a:solidFill>
              </a:rPr>
              <a:t>] · </a:t>
            </a: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읽어요 </a:t>
            </a:r>
            <a:r>
              <a:rPr lang="en-US" sz="1300" dirty="0">
                <a:solidFill>
                  <a:srgbClr val="8A8DA0"/>
                </a:solidFill>
              </a:rPr>
              <a:t>[</a:t>
            </a: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일거요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5199278"/>
            <a:ext cx="3398520" cy="899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Leo un libro</a:t>
            </a:r>
            <a:endParaRPr lang="en-US" sz="1600" dirty="0"/>
          </a:p>
        </p:txBody>
      </p:sp>
      <p:pic>
        <p:nvPicPr>
          <p:cNvPr id="9" name="Media 0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691128" y="1947672"/>
            <a:ext cx="310896" cy="310896"/>
          </a:xfrm>
          <a:prstGeom prst="rect">
            <a:avLst/>
          </a:prstGeom>
        </p:spPr>
      </p:pic>
      <p:sp>
        <p:nvSpPr>
          <p:cNvPr id="10" name="card_1"/>
          <p:cNvSpPr/>
          <p:nvPr/>
        </p:nvSpPr>
        <p:spPr>
          <a:xfrm>
            <a:off x="4322064" y="1874520"/>
            <a:ext cx="3544824" cy="4297680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1" name="dibujo_1" descr="C:\Users\Chingu\AppData\Local\Temp\claude\C--Users-Chingu-Desktop-ACADEMIASEULWEB\d4111e1b-5523-44ea-97b2-b1a1d9545b9e\scratchpad\decks\cache\img_6f48d03778d4d64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3033" y="1984248"/>
            <a:ext cx="2062886" cy="206288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322064" y="4065422"/>
            <a:ext cx="35448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음악을 들어요</a:t>
            </a:r>
            <a:endParaRPr lang="en-US" sz="3700" dirty="0"/>
          </a:p>
        </p:txBody>
      </p:sp>
      <p:sp>
        <p:nvSpPr>
          <p:cNvPr id="13" name="Text 8"/>
          <p:cNvSpPr txBox="1"/>
          <p:nvPr/>
        </p:nvSpPr>
        <p:spPr>
          <a:xfrm>
            <a:off x="4322064" y="4924958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음악을 </a:t>
            </a:r>
            <a:r>
              <a:rPr lang="en-US" sz="1300" dirty="0">
                <a:solidFill>
                  <a:srgbClr val="8A8DA0"/>
                </a:solidFill>
              </a:rPr>
              <a:t>[</a:t>
            </a: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으마글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4395216" y="5199278"/>
            <a:ext cx="3398520" cy="899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Escucho música</a:t>
            </a:r>
            <a:endParaRPr lang="en-US" sz="1600" dirty="0"/>
          </a:p>
        </p:txBody>
      </p:sp>
      <p:sp>
        <p:nvSpPr>
          <p:cNvPr id="15" name="card_2"/>
          <p:cNvSpPr/>
          <p:nvPr/>
        </p:nvSpPr>
        <p:spPr>
          <a:xfrm>
            <a:off x="8095488" y="1874520"/>
            <a:ext cx="3544824" cy="4297680"/>
          </a:xfrm>
          <a:prstGeom prst="roundRect">
            <a:avLst>
              <a:gd name="adj" fmla="val 3869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  <a:effectLst>
            <a:outerShdw blurRad="76200" dist="25400" dir="5400000" algn="bl" rotWithShape="0">
              <a:srgbClr val="14142B">
                <a:alpha val="12000"/>
              </a:srgbClr>
            </a:outerShdw>
          </a:effectLst>
        </p:spPr>
      </p:sp>
      <p:pic>
        <p:nvPicPr>
          <p:cNvPr id="16" name="dibujo_2" descr="C:\Users\Chingu\AppData\Local\Temp\claude\C--Users-Chingu-Desktop-ACADEMIASEULWEB\d4111e1b-5523-44ea-97b2-b1a1d9545b9e\scratchpad\decks\cache\img_871dd5ceeaf42c3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36457" y="1984248"/>
            <a:ext cx="2062886" cy="206288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95488" y="4065422"/>
            <a:ext cx="35448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3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그림을 그려요</a:t>
            </a:r>
            <a:endParaRPr lang="en-US" sz="3700" dirty="0"/>
          </a:p>
        </p:txBody>
      </p:sp>
      <p:sp>
        <p:nvSpPr>
          <p:cNvPr id="18" name="Text 12"/>
          <p:cNvSpPr txBox="1"/>
          <p:nvPr/>
        </p:nvSpPr>
        <p:spPr>
          <a:xfrm>
            <a:off x="8095488" y="4924958"/>
            <a:ext cx="3544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그림을 </a:t>
            </a:r>
            <a:r>
              <a:rPr lang="en-US" sz="1300" dirty="0">
                <a:solidFill>
                  <a:srgbClr val="8A8DA0"/>
                </a:solidFill>
              </a:rPr>
              <a:t>[</a:t>
            </a:r>
            <a:r>
              <a:rPr lang="ko-KR" altLang="en-US" sz="1300" dirty="0">
                <a:solidFill>
                  <a:srgbClr val="8A8D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그리믈</a:t>
            </a:r>
            <a:r>
              <a:rPr lang="en-US" sz="1300" dirty="0">
                <a:solidFill>
                  <a:srgbClr val="8A8DA0"/>
                </a:solidFill>
              </a:rPr>
              <a:t>]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8168640" y="5199278"/>
            <a:ext cx="3398520" cy="899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en-US" sz="1600" dirty="0">
                <a:solidFill>
                  <a:srgbClr val="5C5F6B"/>
                </a:solidFill>
              </a:rPr>
              <a:t>Dibujo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3000" b="1" dirty="0">
                <a:solidFill>
                  <a:srgbClr val="4236F6"/>
                </a:solidFill>
              </a:rPr>
              <a:t>/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3000" b="1" dirty="0">
                <a:solidFill>
                  <a:srgbClr val="4236F6"/>
                </a:solidFill>
              </a:rPr>
              <a:t>/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 </a:t>
            </a:r>
            <a:r>
              <a:rPr lang="en-US" sz="3000" b="1" dirty="0">
                <a:solidFill>
                  <a:srgbClr val="003478"/>
                </a:solidFill>
              </a:rPr>
              <a:t>Las 2 preguntas</a:t>
            </a:r>
            <a:r>
              <a:rPr lang="en-US" sz="1500" b="1" i="1" dirty="0">
                <a:solidFill>
                  <a:srgbClr val="8A8DA0"/>
                </a:solidFill>
              </a:rPr>
              <a:t>   The 2 questions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¿이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1800" i="1" dirty="0">
                <a:solidFill>
                  <a:srgbClr val="4236F6"/>
                </a:solidFill>
              </a:rPr>
              <a:t>o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lang="en-US" sz="1800" i="1" dirty="0">
                <a:solidFill>
                  <a:srgbClr val="4236F6"/>
                </a:solidFill>
              </a:rPr>
              <a:t>?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① ¿Qué verbo es?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 </a:t>
            </a:r>
            <a:r>
              <a:rPr lang="en-US" sz="2800" b="1" dirty="0">
                <a:solidFill>
                  <a:srgbClr val="4236F6"/>
                </a:solidFill>
              </a:rPr>
              <a:t>·</a:t>
            </a:r>
            <a:endParaRPr lang="en-US" sz="2800" dirty="0"/>
          </a:p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 </a:t>
            </a:r>
            <a:r>
              <a:rPr lang="en-US" sz="2800" b="1" dirty="0">
                <a:solidFill>
                  <a:srgbClr val="4236F6"/>
                </a:solidFill>
              </a:rPr>
              <a:t>→ 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2800" b="1" dirty="0">
                <a:solidFill>
                  <a:srgbClr val="4236F6"/>
                </a:solidFill>
              </a:rPr>
              <a:t>/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endParaRPr lang="en-US" sz="28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¿Es 있어요 </a:t>
            </a:r>
            <a:r>
              <a:rPr lang="en-US" sz="1800" dirty="0">
                <a:solidFill>
                  <a:srgbClr val="14142B"/>
                </a:solidFill>
              </a:rPr>
              <a:t>o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r>
              <a:rPr lang="en-US" sz="1800" dirty="0">
                <a:solidFill>
                  <a:srgbClr val="14142B"/>
                </a:solidFill>
              </a:rPr>
              <a:t>? →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1800" dirty="0">
                <a:solidFill>
                  <a:srgbClr val="14142B"/>
                </a:solidFill>
              </a:rPr>
              <a:t>/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1800" dirty="0">
                <a:solidFill>
                  <a:srgbClr val="14142B"/>
                </a:solidFill>
              </a:rPr>
              <a:t>: es “lo que hay”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¿Es una acción que le haces a algo (leer, beber, escuchar)? → 을</a:t>
            </a:r>
            <a:r>
              <a:rPr lang="en-US" sz="1800" dirty="0">
                <a:solidFill>
                  <a:srgbClr val="14142B"/>
                </a:solidFill>
              </a:rPr>
              <a:t>/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endParaRPr lang="en-US" sz="1800" dirty="0"/>
          </a:p>
        </p:txBody>
      </p:sp>
      <p:sp>
        <p:nvSpPr>
          <p:cNvPr id="8" name="col_1"/>
          <p:cNvSpPr/>
          <p:nvPr/>
        </p:nvSpPr>
        <p:spPr>
          <a:xfrm>
            <a:off x="4352544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20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¿Termina en 받침</a:t>
            </a:r>
            <a:r>
              <a:rPr lang="en-US" sz="2000" b="1" dirty="0">
                <a:solidFill>
                  <a:srgbClr val="003478"/>
                </a:solidFill>
              </a:rPr>
              <a:t>?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sz="2800" b="1" dirty="0">
                <a:solidFill>
                  <a:srgbClr val="4236F6"/>
                </a:solidFill>
              </a:rPr>
              <a:t>· 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</a:t>
            </a:r>
            <a:r>
              <a:rPr lang="en-US" sz="2800" b="1" dirty="0">
                <a:solidFill>
                  <a:srgbClr val="4236F6"/>
                </a:solidFill>
              </a:rPr>
              <a:t>· 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endParaRPr lang="en-US" sz="2800" dirty="0"/>
          </a:p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 가 </a:t>
            </a:r>
            <a:r>
              <a:rPr lang="en-US" sz="2800" b="1" dirty="0">
                <a:solidFill>
                  <a:srgbClr val="4236F6"/>
                </a:solidFill>
              </a:rPr>
              <a:t>· 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sz="2800" b="1" dirty="0">
                <a:solidFill>
                  <a:srgbClr val="4236F6"/>
                </a:solidFill>
              </a:rPr>
              <a:t>· 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endParaRPr lang="en-US" sz="2800" dirty="0"/>
          </a:p>
        </p:txBody>
      </p:sp>
      <p:sp>
        <p:nvSpPr>
          <p:cNvPr id="11" name="lista"/>
          <p:cNvSpPr txBox="1"/>
          <p:nvPr/>
        </p:nvSpPr>
        <p:spPr>
          <a:xfrm>
            <a:off x="4535424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 받침 </a:t>
            </a:r>
            <a:r>
              <a:rPr lang="en-US" sz="1800" dirty="0">
                <a:solidFill>
                  <a:srgbClr val="14142B"/>
                </a:solidFill>
              </a:rPr>
              <a:t>→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sz="1800" dirty="0">
                <a:solidFill>
                  <a:srgbClr val="14142B"/>
                </a:solidFill>
              </a:rPr>
              <a:t>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</a:t>
            </a:r>
            <a:r>
              <a:rPr lang="en-US" sz="1800" dirty="0">
                <a:solidFill>
                  <a:srgbClr val="14142B"/>
                </a:solidFill>
              </a:rPr>
              <a:t>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 받침 </a:t>
            </a:r>
            <a:r>
              <a:rPr lang="en-US" sz="1800" dirty="0">
                <a:solidFill>
                  <a:srgbClr val="14142B"/>
                </a:solidFill>
              </a:rPr>
              <a:t>(vocal) →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1800" dirty="0">
                <a:solidFill>
                  <a:srgbClr val="14142B"/>
                </a:solidFill>
              </a:rPr>
              <a:t>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sz="1800" dirty="0">
                <a:solidFill>
                  <a:srgbClr val="14142B"/>
                </a:solidFill>
              </a:rPr>
              <a:t>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 받침</a:t>
            </a:r>
            <a:r>
              <a:rPr lang="en-US" sz="1800" dirty="0">
                <a:solidFill>
                  <a:srgbClr val="14142B"/>
                </a:solidFill>
              </a:rPr>
              <a:t>, la partícula empieza con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ㅇ</a:t>
            </a:r>
            <a:r>
              <a:rPr lang="en-US" sz="1800" dirty="0">
                <a:solidFill>
                  <a:srgbClr val="14142B"/>
                </a:solidFill>
              </a:rPr>
              <a:t>: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책을 </a:t>
            </a:r>
            <a:r>
              <a:rPr lang="en-US" sz="1800" dirty="0">
                <a:solidFill>
                  <a:srgbClr val="14142B"/>
                </a:solidFill>
              </a:rPr>
              <a:t>[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채글</a:t>
            </a:r>
            <a:r>
              <a:rPr lang="en-US" sz="1800" dirty="0">
                <a:solidFill>
                  <a:srgbClr val="14142B"/>
                </a:solidFill>
              </a:rPr>
              <a:t>]</a:t>
            </a:r>
            <a:endParaRPr lang="en-US" sz="1800" dirty="0"/>
          </a:p>
        </p:txBody>
      </p:sp>
      <p:sp>
        <p:nvSpPr>
          <p:cNvPr id="12" name="col_2"/>
          <p:cNvSpPr/>
          <p:nvPr/>
        </p:nvSpPr>
        <p:spPr>
          <a:xfrm>
            <a:off x="8156448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Las 3 parejas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2800" b="1" dirty="0">
                <a:solidFill>
                  <a:srgbClr val="4236F6"/>
                </a:solidFill>
              </a:rPr>
              <a:t>/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2800" b="1" dirty="0">
                <a:solidFill>
                  <a:srgbClr val="4236F6"/>
                </a:solidFill>
              </a:rPr>
              <a:t>·</a:t>
            </a:r>
            <a:endParaRPr lang="en-US" sz="2800" dirty="0"/>
          </a:p>
          <a:p>
            <a:pPr marL="0" indent="0" eaLnBrk="1">
              <a:buNone/>
            </a:pP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  <a:r>
              <a:rPr lang="en-US" sz="2800" b="1" dirty="0">
                <a:solidFill>
                  <a:srgbClr val="4236F6"/>
                </a:solidFill>
              </a:rPr>
              <a:t>/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sz="2800" b="1" dirty="0">
                <a:solidFill>
                  <a:srgbClr val="4236F6"/>
                </a:solidFill>
              </a:rPr>
              <a:t>· 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2800" b="1" dirty="0">
                <a:solidFill>
                  <a:srgbClr val="4236F6"/>
                </a:solidFill>
              </a:rPr>
              <a:t>/</a:t>
            </a:r>
            <a:r>
              <a:rPr lang="ko-KR" altLang="en-US" sz="28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endParaRPr lang="en-US" sz="2800" dirty="0"/>
          </a:p>
        </p:txBody>
      </p:sp>
      <p:sp>
        <p:nvSpPr>
          <p:cNvPr id="15" name="lista"/>
          <p:cNvSpPr txBox="1"/>
          <p:nvPr/>
        </p:nvSpPr>
        <p:spPr>
          <a:xfrm>
            <a:off x="8339328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1800" dirty="0">
                <a:solidFill>
                  <a:srgbClr val="14142B"/>
                </a:solidFill>
              </a:rPr>
              <a:t>/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sz="1800" dirty="0">
                <a:solidFill>
                  <a:srgbClr val="14142B"/>
                </a:solidFill>
              </a:rPr>
              <a:t>: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책이 </a:t>
            </a:r>
            <a:r>
              <a:rPr lang="en-US" sz="1800" dirty="0">
                <a:solidFill>
                  <a:srgbClr val="14142B"/>
                </a:solidFill>
              </a:rPr>
              <a:t>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침대가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  <a:r>
              <a:rPr lang="en-US" sz="1800" dirty="0">
                <a:solidFill>
                  <a:srgbClr val="14142B"/>
                </a:solidFill>
              </a:rPr>
              <a:t>/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</a:t>
            </a:r>
            <a:r>
              <a:rPr lang="en-US" sz="1800" dirty="0">
                <a:solidFill>
                  <a:srgbClr val="14142B"/>
                </a:solidFill>
              </a:rPr>
              <a:t>: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텔레비전은 </a:t>
            </a:r>
            <a:r>
              <a:rPr lang="en-US" sz="1800" dirty="0">
                <a:solidFill>
                  <a:srgbClr val="14142B"/>
                </a:solidFill>
              </a:rPr>
              <a:t>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1800" dirty="0">
                <a:solidFill>
                  <a:srgbClr val="14142B"/>
                </a:solidFill>
              </a:rPr>
              <a:t>/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lang="en-US" sz="1800" dirty="0">
                <a:solidFill>
                  <a:srgbClr val="14142B"/>
                </a:solidFill>
              </a:rPr>
              <a:t>: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책을 </a:t>
            </a:r>
            <a:r>
              <a:rPr lang="en-US" sz="1800" dirty="0">
                <a:solidFill>
                  <a:srgbClr val="14142B"/>
                </a:solidFill>
              </a:rPr>
              <a:t>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커피를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음악을 </a:t>
            </a:r>
            <a:r>
              <a:rPr lang="en-US" sz="1800" dirty="0">
                <a:solidFill>
                  <a:srgbClr val="14142B"/>
                </a:solidFill>
              </a:rPr>
              <a:t>[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으마글</a:t>
            </a:r>
            <a:r>
              <a:rPr lang="en-US" sz="1800" dirty="0">
                <a:solidFill>
                  <a:srgbClr val="14142B"/>
                </a:solidFill>
              </a:rPr>
              <a:t>] ·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그림을 </a:t>
            </a:r>
            <a:r>
              <a:rPr lang="en-US" sz="1800" dirty="0">
                <a:solidFill>
                  <a:srgbClr val="14142B"/>
                </a:solidFill>
              </a:rPr>
              <a:t>[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그리믈</a:t>
            </a:r>
            <a:r>
              <a:rPr lang="en-US" sz="1800" dirty="0">
                <a:solidFill>
                  <a:srgbClr val="14142B"/>
                </a:solidFill>
              </a:rPr>
              <a:t>]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Vocales que se juntan</a:t>
            </a:r>
            <a:r>
              <a:rPr lang="en-US" sz="1500" b="1" i="1" dirty="0">
                <a:solidFill>
                  <a:srgbClr val="8A8DA0"/>
                </a:solidFill>
              </a:rPr>
              <a:t>   Vowels that merge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 받침 </a:t>
            </a:r>
            <a:r>
              <a:rPr lang="en-US" sz="1800" i="1" dirty="0">
                <a:solidFill>
                  <a:srgbClr val="4236F6"/>
                </a:solidFill>
              </a:rPr>
              <a:t>no hay nada que juntar: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읽어요 </a:t>
            </a:r>
            <a:r>
              <a:rPr lang="en-US" sz="1800" i="1" dirty="0">
                <a:solidFill>
                  <a:srgbClr val="4236F6"/>
                </a:solidFill>
              </a:rPr>
              <a:t>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먹어요 </a:t>
            </a:r>
            <a:r>
              <a:rPr lang="en-US" sz="1800" i="1" dirty="0">
                <a:solidFill>
                  <a:srgbClr val="4236F6"/>
                </a:solidFill>
              </a:rPr>
              <a:t>· ¿Cómo queda el presente? Como en español “vi-o” → “vio”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03454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마시다 </a:t>
            </a:r>
            <a:r>
              <a:rPr lang="en-US" sz="2400" dirty="0">
                <a:solidFill>
                  <a:srgbClr val="14142B"/>
                </a:solidFill>
              </a:rPr>
              <a:t>(beber):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마시 </a:t>
            </a:r>
            <a:r>
              <a:rPr lang="en-US" sz="2400" dirty="0">
                <a:solidFill>
                  <a:srgbClr val="14142B"/>
                </a:solidFill>
              </a:rPr>
              <a:t>+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어요</a:t>
            </a:r>
            <a:endParaRPr lang="en-US" sz="2400" dirty="0"/>
          </a:p>
        </p:txBody>
      </p:sp>
      <p:sp>
        <p:nvSpPr>
          <p:cNvPr id="7" name="rev_10_caja"/>
          <p:cNvSpPr/>
          <p:nvPr/>
        </p:nvSpPr>
        <p:spPr>
          <a:xfrm>
            <a:off x="6702552" y="2002536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10_txt"/>
          <p:cNvSpPr txBox="1"/>
          <p:nvPr/>
        </p:nvSpPr>
        <p:spPr>
          <a:xfrm>
            <a:off x="6793992" y="2002536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마셔요 </a:t>
            </a:r>
            <a:r>
              <a:rPr lang="en-US" sz="2200" b="1" dirty="0">
                <a:solidFill>
                  <a:srgbClr val="FFFFFF"/>
                </a:solidFill>
              </a:rPr>
              <a:t>(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 </a:t>
            </a:r>
            <a:r>
              <a:rPr lang="en-US" sz="2200" b="1" dirty="0">
                <a:solidFill>
                  <a:srgbClr val="FFFFFF"/>
                </a:solidFill>
              </a:rPr>
              <a:t>+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ㅓ </a:t>
            </a:r>
            <a:r>
              <a:rPr lang="en-US" sz="2200" b="1" dirty="0">
                <a:solidFill>
                  <a:srgbClr val="FFFFFF"/>
                </a:solidFill>
              </a:rPr>
              <a:t>=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ㅕ</a:t>
            </a:r>
            <a:r>
              <a:rPr lang="en-US" sz="2200" b="1" dirty="0">
                <a:solidFill>
                  <a:srgbClr val="FFFFFF"/>
                </a:solidFill>
              </a:rPr>
              <a:t>)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75691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88336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그리다 </a:t>
            </a:r>
            <a:r>
              <a:rPr lang="en-US" sz="2300" dirty="0">
                <a:solidFill>
                  <a:srgbClr val="14142B"/>
                </a:solidFill>
              </a:rPr>
              <a:t>(dibujar):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 </a:t>
            </a:r>
            <a:r>
              <a:rPr lang="en-US" sz="2300" dirty="0">
                <a:solidFill>
                  <a:srgbClr val="14142B"/>
                </a:solidFill>
              </a:rPr>
              <a:t>+ </a:t>
            </a:r>
            <a:r>
              <a:rPr lang="ko-KR" altLang="en-US" sz="23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어요</a:t>
            </a:r>
            <a:endParaRPr lang="en-US" sz="2300" dirty="0"/>
          </a:p>
        </p:txBody>
      </p:sp>
      <p:sp>
        <p:nvSpPr>
          <p:cNvPr id="12" name="rev_11_caja"/>
          <p:cNvSpPr/>
          <p:nvPr/>
        </p:nvSpPr>
        <p:spPr>
          <a:xfrm>
            <a:off x="6702552" y="2724912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1_txt"/>
          <p:cNvSpPr txBox="1"/>
          <p:nvPr/>
        </p:nvSpPr>
        <p:spPr>
          <a:xfrm>
            <a:off x="6793992" y="2724912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그려요 </a:t>
            </a:r>
            <a:r>
              <a:rPr lang="en-US" sz="2200" b="1" dirty="0">
                <a:solidFill>
                  <a:srgbClr val="FFFFFF"/>
                </a:solidFill>
              </a:rPr>
              <a:t>(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ㅣ </a:t>
            </a:r>
            <a:r>
              <a:rPr lang="en-US" sz="2200" b="1" dirty="0">
                <a:solidFill>
                  <a:srgbClr val="FFFFFF"/>
                </a:solidFill>
              </a:rPr>
              <a:t>+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ㅓ </a:t>
            </a:r>
            <a:r>
              <a:rPr lang="en-US" sz="2200" b="1" dirty="0">
                <a:solidFill>
                  <a:srgbClr val="FFFFFF"/>
                </a:solidFill>
              </a:rPr>
              <a:t>= 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ㅕ</a:t>
            </a:r>
            <a:r>
              <a:rPr lang="en-US" sz="2200" b="1" dirty="0">
                <a:solidFill>
                  <a:srgbClr val="FFFFFF"/>
                </a:solidFill>
              </a:rPr>
              <a:t>)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4792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배우다 </a:t>
            </a:r>
            <a:r>
              <a:rPr lang="en-US" sz="2200" dirty="0">
                <a:solidFill>
                  <a:srgbClr val="14142B"/>
                </a:solidFill>
              </a:rPr>
              <a:t>(aprender):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배우 </a:t>
            </a:r>
            <a:r>
              <a:rPr lang="en-US" sz="2200" dirty="0">
                <a:solidFill>
                  <a:srgbClr val="14142B"/>
                </a:solidFill>
              </a:rPr>
              <a:t>+ </a:t>
            </a:r>
            <a:r>
              <a:rPr lang="ko-KR" altLang="en-US" sz="22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어요</a:t>
            </a:r>
            <a:endParaRPr lang="en-US" sz="2200" dirty="0"/>
          </a:p>
        </p:txBody>
      </p:sp>
      <p:sp>
        <p:nvSpPr>
          <p:cNvPr id="17" name="rev_12_caja"/>
          <p:cNvSpPr/>
          <p:nvPr/>
        </p:nvSpPr>
        <p:spPr>
          <a:xfrm>
            <a:off x="6702552" y="3447288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12_txt"/>
          <p:cNvSpPr txBox="1"/>
          <p:nvPr/>
        </p:nvSpPr>
        <p:spPr>
          <a:xfrm>
            <a:off x="6793992" y="3447288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배워요 </a:t>
            </a:r>
            <a:r>
              <a:rPr lang="en-US" sz="1700" b="1" dirty="0">
                <a:solidFill>
                  <a:srgbClr val="FFFFFF"/>
                </a:solidFill>
              </a:rPr>
              <a:t>(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ㅜ </a:t>
            </a:r>
            <a:r>
              <a:rPr lang="en-US" sz="1700" b="1" dirty="0">
                <a:solidFill>
                  <a:srgbClr val="FFFFFF"/>
                </a:solidFill>
              </a:rPr>
              <a:t>+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ㅓ </a:t>
            </a:r>
            <a:r>
              <a:rPr lang="en-US" sz="1700" b="1" dirty="0">
                <a:solidFill>
                  <a:srgbClr val="FFFFFF"/>
                </a:solidFill>
              </a:rPr>
              <a:t>= </a:t>
            </a:r>
            <a:r>
              <a:rPr lang="ko-KR" alt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ㅝ</a:t>
            </a:r>
            <a:r>
              <a:rPr lang="en-US" sz="1700" b="1" dirty="0">
                <a:solidFill>
                  <a:srgbClr val="FFFFFF"/>
                </a:solidFill>
              </a:rPr>
              <a:t>, como en “cuota”)</a:t>
            </a:r>
            <a:endParaRPr lang="en-US" sz="1700" dirty="0"/>
          </a:p>
        </p:txBody>
      </p:sp>
      <p:sp>
        <p:nvSpPr>
          <p:cNvPr id="19" name="num_3"/>
          <p:cNvSpPr/>
          <p:nvPr/>
        </p:nvSpPr>
        <p:spPr>
          <a:xfrm>
            <a:off x="548640" y="420166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133088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가다 </a:t>
            </a:r>
            <a:r>
              <a:rPr lang="en-US" sz="2400" dirty="0">
                <a:solidFill>
                  <a:srgbClr val="14142B"/>
                </a:solidFill>
              </a:rPr>
              <a:t>(ir):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2400" dirty="0">
                <a:solidFill>
                  <a:srgbClr val="14142B"/>
                </a:solidFill>
              </a:rPr>
              <a:t>+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아요</a:t>
            </a:r>
            <a:endParaRPr lang="en-US" sz="2400" dirty="0"/>
          </a:p>
        </p:txBody>
      </p:sp>
      <p:sp>
        <p:nvSpPr>
          <p:cNvPr id="22" name="rev_13_caja"/>
          <p:cNvSpPr/>
          <p:nvPr/>
        </p:nvSpPr>
        <p:spPr>
          <a:xfrm>
            <a:off x="6702552" y="4169664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13_txt"/>
          <p:cNvSpPr txBox="1"/>
          <p:nvPr/>
        </p:nvSpPr>
        <p:spPr>
          <a:xfrm>
            <a:off x="6793992" y="4169664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 </a:t>
            </a:r>
            <a:r>
              <a:rPr lang="en-US" sz="2200" b="1" dirty="0">
                <a:solidFill>
                  <a:srgbClr val="FFFFFF"/>
                </a:solidFill>
              </a:rPr>
              <a:t>(ya la conoces)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492404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855464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 </a:t>
            </a:r>
            <a:r>
              <a:rPr lang="en-US" sz="2400" dirty="0">
                <a:solidFill>
                  <a:srgbClr val="14142B"/>
                </a:solidFill>
              </a:rPr>
              <a:t>(ver):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 </a:t>
            </a:r>
            <a:r>
              <a:rPr lang="en-US" sz="2400" dirty="0">
                <a:solidFill>
                  <a:srgbClr val="14142B"/>
                </a:solidFill>
              </a:rPr>
              <a:t>+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아요</a:t>
            </a:r>
            <a:endParaRPr lang="en-US" sz="2400" dirty="0"/>
          </a:p>
        </p:txBody>
      </p:sp>
      <p:sp>
        <p:nvSpPr>
          <p:cNvPr id="27" name="rev_14_caja"/>
          <p:cNvSpPr/>
          <p:nvPr/>
        </p:nvSpPr>
        <p:spPr>
          <a:xfrm>
            <a:off x="6702552" y="4892040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14_txt"/>
          <p:cNvSpPr txBox="1"/>
          <p:nvPr/>
        </p:nvSpPr>
        <p:spPr>
          <a:xfrm>
            <a:off x="6793992" y="4892040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봐요 </a:t>
            </a:r>
            <a:r>
              <a:rPr lang="en-US" sz="2200" b="1" dirty="0">
                <a:solidFill>
                  <a:srgbClr val="FFFFFF"/>
                </a:solidFill>
              </a:rPr>
              <a:t>(ya la conoces)</a:t>
            </a:r>
            <a:endParaRPr lang="en-US" sz="2200" dirty="0"/>
          </a:p>
        </p:txBody>
      </p:sp>
      <p:sp>
        <p:nvSpPr>
          <p:cNvPr id="29" name="num_5"/>
          <p:cNvSpPr/>
          <p:nvPr/>
        </p:nvSpPr>
        <p:spPr>
          <a:xfrm>
            <a:off x="548640" y="564642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577840"/>
            <a:ext cx="52852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오다 </a:t>
            </a:r>
            <a:r>
              <a:rPr lang="en-US" sz="2400" dirty="0">
                <a:solidFill>
                  <a:srgbClr val="14142B"/>
                </a:solidFill>
              </a:rPr>
              <a:t>(venir):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 </a:t>
            </a:r>
            <a:r>
              <a:rPr lang="en-US" sz="2400" dirty="0">
                <a:solidFill>
                  <a:srgbClr val="14142B"/>
                </a:solidFill>
              </a:rPr>
              <a:t>+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아요</a:t>
            </a:r>
            <a:endParaRPr lang="en-US" sz="2400" dirty="0"/>
          </a:p>
        </p:txBody>
      </p:sp>
      <p:sp>
        <p:nvSpPr>
          <p:cNvPr id="32" name="rev_15_caja"/>
          <p:cNvSpPr/>
          <p:nvPr/>
        </p:nvSpPr>
        <p:spPr>
          <a:xfrm>
            <a:off x="6702552" y="5614416"/>
            <a:ext cx="4937760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3" name="rev_15_txt"/>
          <p:cNvSpPr txBox="1"/>
          <p:nvPr/>
        </p:nvSpPr>
        <p:spPr>
          <a:xfrm>
            <a:off x="6793992" y="5614416"/>
            <a:ext cx="47548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와요 </a:t>
            </a:r>
            <a:r>
              <a:rPr lang="en-US" sz="2200" b="1" dirty="0">
                <a:solidFill>
                  <a:srgbClr val="FFFFFF"/>
                </a:solidFill>
              </a:rPr>
              <a:t>(ya la conoces)</a:t>
            </a:r>
            <a:endParaRPr lang="en-US" sz="2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  <p:bldP spid="3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써요 </a:t>
            </a:r>
            <a:r>
              <a:rPr lang="en-US" sz="3000" b="1" dirty="0">
                <a:solidFill>
                  <a:srgbClr val="4236F6"/>
                </a:solidFill>
              </a:rPr>
              <a:t>·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들어요  </a:t>
            </a:r>
            <a:r>
              <a:rPr lang="en-US" sz="3000" b="1" dirty="0">
                <a:solidFill>
                  <a:srgbClr val="003478"/>
                </a:solidFill>
              </a:rPr>
              <a:t>Formas fijas</a:t>
            </a:r>
            <a:r>
              <a:rPr lang="en-US" sz="1500" b="1" i="1" dirty="0">
                <a:solidFill>
                  <a:srgbClr val="8A8DA0"/>
                </a:solidFill>
              </a:rPr>
              <a:t>   Fixed forms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Se aprenden de memoria, como en español “oír → oigo”</a:t>
            </a:r>
            <a:endParaRPr lang="en-US" sz="1800" dirty="0"/>
          </a:p>
        </p:txBody>
      </p:sp>
      <p:sp>
        <p:nvSpPr>
          <p:cNvPr id="4" name="col_0"/>
          <p:cNvSpPr/>
          <p:nvPr/>
        </p:nvSpPr>
        <p:spPr>
          <a:xfrm>
            <a:off x="548640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Escribir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쓰다 </a:t>
            </a:r>
            <a:r>
              <a:rPr lang="en-US" sz="4100" b="1" dirty="0">
                <a:solidFill>
                  <a:srgbClr val="4236F6"/>
                </a:solidFill>
              </a:rPr>
              <a:t>→ </a:t>
            </a:r>
            <a:r>
              <a:rPr lang="ko-KR" altLang="en-US" sz="41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써요</a:t>
            </a:r>
            <a:endParaRPr lang="en-US" sz="4100" dirty="0"/>
          </a:p>
        </p:txBody>
      </p:sp>
      <p:sp>
        <p:nvSpPr>
          <p:cNvPr id="7" name="lista"/>
          <p:cNvSpPr txBox="1"/>
          <p:nvPr/>
        </p:nvSpPr>
        <p:spPr>
          <a:xfrm>
            <a:off x="731520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 ㅡ </a:t>
            </a:r>
            <a:r>
              <a:rPr lang="en-US" sz="1800" dirty="0">
                <a:solidFill>
                  <a:srgbClr val="14142B"/>
                </a:solidFill>
              </a:rPr>
              <a:t>se cae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Nunca 쓰어요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ㅆ </a:t>
            </a:r>
            <a:r>
              <a:rPr lang="en-US" sz="1800" dirty="0">
                <a:solidFill>
                  <a:srgbClr val="14142B"/>
                </a:solidFill>
              </a:rPr>
              <a:t>tensa, sin aire: el papel no se mueve</a:t>
            </a:r>
            <a:endParaRPr lang="en-US" sz="1800" dirty="0"/>
          </a:p>
        </p:txBody>
      </p:sp>
      <p:sp>
        <p:nvSpPr>
          <p:cNvPr id="8" name="col_1"/>
          <p:cNvSpPr/>
          <p:nvPr/>
        </p:nvSpPr>
        <p:spPr>
          <a:xfrm>
            <a:off x="4352544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FFFFF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Escuchar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3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듣다 </a:t>
            </a:r>
            <a:r>
              <a:rPr lang="en-US" sz="3400" b="1" dirty="0">
                <a:solidFill>
                  <a:srgbClr val="4236F6"/>
                </a:solidFill>
              </a:rPr>
              <a:t>→ </a:t>
            </a:r>
            <a:r>
              <a:rPr lang="ko-KR" altLang="en-US" sz="3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들어요</a:t>
            </a:r>
            <a:endParaRPr lang="en-US" sz="3400" dirty="0"/>
          </a:p>
        </p:txBody>
      </p:sp>
      <p:sp>
        <p:nvSpPr>
          <p:cNvPr id="11" name="lista"/>
          <p:cNvSpPr txBox="1"/>
          <p:nvPr/>
        </p:nvSpPr>
        <p:spPr>
          <a:xfrm>
            <a:off x="4535424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 ㄷ </a:t>
            </a:r>
            <a:r>
              <a:rPr lang="en-US" sz="1800" dirty="0">
                <a:solidFill>
                  <a:srgbClr val="14142B"/>
                </a:solidFill>
              </a:rPr>
              <a:t>se vuelve </a:t>
            </a: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ㄹ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Nunca 듣어요</a:t>
            </a:r>
            <a:endParaRPr lang="en-US" sz="1800" dirty="0"/>
          </a:p>
        </p:txBody>
      </p:sp>
      <p:sp>
        <p:nvSpPr>
          <p:cNvPr id="12" name="col_2"/>
          <p:cNvSpPr/>
          <p:nvPr/>
        </p:nvSpPr>
        <p:spPr>
          <a:xfrm>
            <a:off x="8156448" y="1874520"/>
            <a:ext cx="3483864" cy="4297680"/>
          </a:xfrm>
          <a:prstGeom prst="roundRect">
            <a:avLst>
              <a:gd name="adj" fmla="val 3937"/>
            </a:avLst>
          </a:prstGeom>
          <a:solidFill>
            <a:srgbClr val="F1F0FE"/>
          </a:solidFill>
          <a:ln w="12700">
            <a:solidFill>
              <a:srgbClr val="D9D7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05740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2000" b="1" dirty="0">
                <a:solidFill>
                  <a:srgbClr val="003478"/>
                </a:solidFill>
              </a:rPr>
              <a:t>¡Ojo! Descansar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265176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3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쉬다 </a:t>
            </a:r>
            <a:r>
              <a:rPr lang="en-US" sz="3400" b="1" dirty="0">
                <a:solidFill>
                  <a:srgbClr val="4236F6"/>
                </a:solidFill>
              </a:rPr>
              <a:t>→ </a:t>
            </a:r>
            <a:r>
              <a:rPr lang="ko-KR" altLang="en-US" sz="34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쉬어요</a:t>
            </a:r>
            <a:endParaRPr lang="en-US" sz="3400" dirty="0"/>
          </a:p>
        </p:txBody>
      </p:sp>
      <p:sp>
        <p:nvSpPr>
          <p:cNvPr id="15" name="lista"/>
          <p:cNvSpPr txBox="1"/>
          <p:nvPr/>
        </p:nvSpPr>
        <p:spPr>
          <a:xfrm>
            <a:off x="8339328" y="3657600"/>
            <a:ext cx="3118104" cy="23774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Esa ㅟ </a:t>
            </a:r>
            <a:r>
              <a:rPr lang="en-US" sz="1800" dirty="0">
                <a:solidFill>
                  <a:srgbClr val="14142B"/>
                </a:solidFill>
              </a:rPr>
              <a:t>no se junta</a:t>
            </a:r>
            <a:endParaRPr lang="en-US" sz="1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1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Nunca 쉬여요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Rueda de conjugación (1/2)</a:t>
            </a:r>
            <a:r>
              <a:rPr lang="en-US" sz="1500" b="1" i="1" dirty="0">
                <a:solidFill>
                  <a:srgbClr val="8A8DA0"/>
                </a:solidFill>
              </a:rPr>
              <a:t>   Conjugation wheel (1/2)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Diccionario → presente · Primero todos en coro; después, uno por uno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03454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가다</a:t>
            </a:r>
            <a:endParaRPr lang="en-US" sz="2400" dirty="0"/>
          </a:p>
        </p:txBody>
      </p:sp>
      <p:sp>
        <p:nvSpPr>
          <p:cNvPr id="7" name="rev_16_caja"/>
          <p:cNvSpPr/>
          <p:nvPr/>
        </p:nvSpPr>
        <p:spPr>
          <a:xfrm>
            <a:off x="7498080" y="200253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16_txt"/>
          <p:cNvSpPr txBox="1"/>
          <p:nvPr/>
        </p:nvSpPr>
        <p:spPr>
          <a:xfrm>
            <a:off x="7589520" y="200253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가요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75691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88336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마시다</a:t>
            </a:r>
            <a:endParaRPr lang="en-US" sz="2400" dirty="0"/>
          </a:p>
        </p:txBody>
      </p:sp>
      <p:sp>
        <p:nvSpPr>
          <p:cNvPr id="12" name="rev_17_caja"/>
          <p:cNvSpPr/>
          <p:nvPr/>
        </p:nvSpPr>
        <p:spPr>
          <a:xfrm>
            <a:off x="7498080" y="2724912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17_txt"/>
          <p:cNvSpPr txBox="1"/>
          <p:nvPr/>
        </p:nvSpPr>
        <p:spPr>
          <a:xfrm>
            <a:off x="7589520" y="2724912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마셔요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4792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그리다</a:t>
            </a:r>
            <a:endParaRPr lang="en-US" sz="2400" dirty="0"/>
          </a:p>
        </p:txBody>
      </p:sp>
      <p:sp>
        <p:nvSpPr>
          <p:cNvPr id="17" name="rev_18_caja"/>
          <p:cNvSpPr/>
          <p:nvPr/>
        </p:nvSpPr>
        <p:spPr>
          <a:xfrm>
            <a:off x="7498080" y="3447288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18_txt"/>
          <p:cNvSpPr txBox="1"/>
          <p:nvPr/>
        </p:nvSpPr>
        <p:spPr>
          <a:xfrm>
            <a:off x="7589520" y="3447288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그려요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20166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133088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읽다</a:t>
            </a:r>
            <a:endParaRPr lang="en-US" sz="2400" dirty="0"/>
          </a:p>
        </p:txBody>
      </p:sp>
      <p:sp>
        <p:nvSpPr>
          <p:cNvPr id="22" name="rev_19_caja"/>
          <p:cNvSpPr/>
          <p:nvPr/>
        </p:nvSpPr>
        <p:spPr>
          <a:xfrm>
            <a:off x="7498080" y="4169664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19_txt"/>
          <p:cNvSpPr txBox="1"/>
          <p:nvPr/>
        </p:nvSpPr>
        <p:spPr>
          <a:xfrm>
            <a:off x="7589520" y="4169664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읽어요 </a:t>
            </a:r>
            <a:r>
              <a:rPr lang="en-US" sz="2200" b="1" dirty="0">
                <a:solidFill>
                  <a:srgbClr val="FFFFFF"/>
                </a:solidFill>
              </a:rPr>
              <a:t>[</a:t>
            </a: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일거요</a:t>
            </a:r>
            <a:r>
              <a:rPr lang="en-US" sz="2200" b="1" dirty="0">
                <a:solidFill>
                  <a:srgbClr val="FFFFFF"/>
                </a:solidFill>
              </a:rPr>
              <a:t>]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492404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855464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</a:t>
            </a:r>
            <a:endParaRPr lang="en-US" sz="2400" dirty="0"/>
          </a:p>
        </p:txBody>
      </p:sp>
      <p:sp>
        <p:nvSpPr>
          <p:cNvPr id="27" name="rev_20_caja"/>
          <p:cNvSpPr/>
          <p:nvPr/>
        </p:nvSpPr>
        <p:spPr>
          <a:xfrm>
            <a:off x="7498080" y="4892040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20_txt"/>
          <p:cNvSpPr txBox="1"/>
          <p:nvPr/>
        </p:nvSpPr>
        <p:spPr>
          <a:xfrm>
            <a:off x="7589520" y="4892040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봐요</a:t>
            </a:r>
            <a:endParaRPr lang="en-US" sz="2200" dirty="0"/>
          </a:p>
        </p:txBody>
      </p:sp>
      <p:sp>
        <p:nvSpPr>
          <p:cNvPr id="29" name="num_5"/>
          <p:cNvSpPr/>
          <p:nvPr/>
        </p:nvSpPr>
        <p:spPr>
          <a:xfrm>
            <a:off x="548640" y="564642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57784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배우다</a:t>
            </a:r>
            <a:endParaRPr lang="en-US" sz="2400" dirty="0"/>
          </a:p>
        </p:txBody>
      </p:sp>
      <p:sp>
        <p:nvSpPr>
          <p:cNvPr id="32" name="rev_21_caja"/>
          <p:cNvSpPr/>
          <p:nvPr/>
        </p:nvSpPr>
        <p:spPr>
          <a:xfrm>
            <a:off x="7498080" y="561441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3" name="rev_21_txt"/>
          <p:cNvSpPr txBox="1"/>
          <p:nvPr/>
        </p:nvSpPr>
        <p:spPr>
          <a:xfrm>
            <a:off x="7589520" y="561441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배워요</a:t>
            </a:r>
            <a:endParaRPr lang="en-US" sz="2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  <p:bldP spid="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Rueda de conjugación (2/2)</a:t>
            </a:r>
            <a:r>
              <a:rPr lang="en-US" sz="1500" b="1" i="1" dirty="0">
                <a:solidFill>
                  <a:srgbClr val="8A8DA0"/>
                </a:solidFill>
              </a:rPr>
              <a:t>   Conjugation wheel (2/2)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Diccionario → presente · Primero todos en coro; después, uno por uno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03454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345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쓰다</a:t>
            </a:r>
            <a:endParaRPr lang="en-US" sz="2400" dirty="0"/>
          </a:p>
        </p:txBody>
      </p:sp>
      <p:sp>
        <p:nvSpPr>
          <p:cNvPr id="7" name="rev_22_caja"/>
          <p:cNvSpPr/>
          <p:nvPr/>
        </p:nvSpPr>
        <p:spPr>
          <a:xfrm>
            <a:off x="7498080" y="200253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22_txt"/>
          <p:cNvSpPr txBox="1"/>
          <p:nvPr/>
        </p:nvSpPr>
        <p:spPr>
          <a:xfrm>
            <a:off x="7589520" y="200253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써요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75691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569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688336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먹다</a:t>
            </a:r>
            <a:endParaRPr lang="en-US" sz="2400" dirty="0"/>
          </a:p>
        </p:txBody>
      </p:sp>
      <p:sp>
        <p:nvSpPr>
          <p:cNvPr id="12" name="rev_23_caja"/>
          <p:cNvSpPr/>
          <p:nvPr/>
        </p:nvSpPr>
        <p:spPr>
          <a:xfrm>
            <a:off x="7498080" y="2724912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23_txt"/>
          <p:cNvSpPr txBox="1"/>
          <p:nvPr/>
        </p:nvSpPr>
        <p:spPr>
          <a:xfrm>
            <a:off x="7589520" y="2724912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먹어요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47929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4792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410712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듣다</a:t>
            </a:r>
            <a:endParaRPr lang="en-US" sz="2400" dirty="0"/>
          </a:p>
        </p:txBody>
      </p:sp>
      <p:sp>
        <p:nvSpPr>
          <p:cNvPr id="17" name="rev_24_caja"/>
          <p:cNvSpPr/>
          <p:nvPr/>
        </p:nvSpPr>
        <p:spPr>
          <a:xfrm>
            <a:off x="7498080" y="3447288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24_txt"/>
          <p:cNvSpPr txBox="1"/>
          <p:nvPr/>
        </p:nvSpPr>
        <p:spPr>
          <a:xfrm>
            <a:off x="7589520" y="3447288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들어요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20166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2016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133088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공부하다</a:t>
            </a:r>
            <a:endParaRPr lang="en-US" sz="2400" dirty="0"/>
          </a:p>
        </p:txBody>
      </p:sp>
      <p:sp>
        <p:nvSpPr>
          <p:cNvPr id="22" name="rev_25_caja"/>
          <p:cNvSpPr/>
          <p:nvPr/>
        </p:nvSpPr>
        <p:spPr>
          <a:xfrm>
            <a:off x="7498080" y="4169664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25_txt"/>
          <p:cNvSpPr txBox="1"/>
          <p:nvPr/>
        </p:nvSpPr>
        <p:spPr>
          <a:xfrm>
            <a:off x="7589520" y="4169664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공부해요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4924044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9240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4855464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쉬다 </a:t>
            </a:r>
            <a:r>
              <a:rPr lang="en-US" sz="2400" dirty="0">
                <a:solidFill>
                  <a:srgbClr val="14142B"/>
                </a:solidFill>
              </a:rPr>
              <a:t>(¡trampa!)</a:t>
            </a:r>
            <a:endParaRPr lang="en-US" sz="2400" dirty="0"/>
          </a:p>
        </p:txBody>
      </p:sp>
      <p:sp>
        <p:nvSpPr>
          <p:cNvPr id="27" name="rev_26_caja"/>
          <p:cNvSpPr/>
          <p:nvPr/>
        </p:nvSpPr>
        <p:spPr>
          <a:xfrm>
            <a:off x="7498080" y="4892040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26_txt"/>
          <p:cNvSpPr txBox="1"/>
          <p:nvPr/>
        </p:nvSpPr>
        <p:spPr>
          <a:xfrm>
            <a:off x="7589520" y="4892040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쉬어요 </a:t>
            </a:r>
            <a:r>
              <a:rPr lang="en-US" sz="2100" b="1" dirty="0">
                <a:solidFill>
                  <a:srgbClr val="FFFFFF"/>
                </a:solidFill>
              </a:rPr>
              <a:t>(la </a:t>
            </a:r>
            <a:r>
              <a:rPr lang="ko-KR" alt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ㅟ </a:t>
            </a:r>
            <a:r>
              <a:rPr lang="en-US" sz="2100" b="1" dirty="0">
                <a:solidFill>
                  <a:srgbClr val="FFFFFF"/>
                </a:solidFill>
              </a:rPr>
              <a:t>no se junta)</a:t>
            </a:r>
            <a:endParaRPr lang="en-US" sz="2100" dirty="0"/>
          </a:p>
        </p:txBody>
      </p:sp>
      <p:sp>
        <p:nvSpPr>
          <p:cNvPr id="29" name="num_5"/>
          <p:cNvSpPr/>
          <p:nvPr/>
        </p:nvSpPr>
        <p:spPr>
          <a:xfrm>
            <a:off x="548640" y="564642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56464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5577840"/>
            <a:ext cx="6080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오다</a:t>
            </a:r>
            <a:endParaRPr lang="en-US" sz="2400" dirty="0"/>
          </a:p>
        </p:txBody>
      </p:sp>
      <p:sp>
        <p:nvSpPr>
          <p:cNvPr id="32" name="rev_27_caja"/>
          <p:cNvSpPr/>
          <p:nvPr/>
        </p:nvSpPr>
        <p:spPr>
          <a:xfrm>
            <a:off x="7498080" y="5614416"/>
            <a:ext cx="4142232" cy="521208"/>
          </a:xfrm>
          <a:prstGeom prst="roundRect">
            <a:avLst>
              <a:gd name="adj" fmla="val 2105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33" name="rev_27_txt"/>
          <p:cNvSpPr txBox="1"/>
          <p:nvPr/>
        </p:nvSpPr>
        <p:spPr>
          <a:xfrm>
            <a:off x="7589520" y="5614416"/>
            <a:ext cx="39593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와요</a:t>
            </a:r>
            <a:endParaRPr lang="en-US" sz="22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  <p:bldP spid="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Dictado de partículas (1/2)</a:t>
            </a:r>
            <a:r>
              <a:rPr lang="en-US" sz="1500" b="1" i="1" dirty="0">
                <a:solidFill>
                  <a:srgbClr val="8A8DA0"/>
                </a:solidFill>
              </a:rPr>
              <a:t>   Particle dictation (1/2)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Escucha a Kiran y escribe en el chat solo la partícula: 이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1800" i="1" dirty="0">
                <a:solidFill>
                  <a:srgbClr val="4236F6"/>
                </a:solidFill>
              </a:rPr>
              <a:t>o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0677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67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방에 침대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7" name="rev_28_caja"/>
          <p:cNvSpPr/>
          <p:nvPr/>
        </p:nvSpPr>
        <p:spPr>
          <a:xfrm>
            <a:off x="7498080" y="2002536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28_txt"/>
          <p:cNvSpPr txBox="1"/>
          <p:nvPr/>
        </p:nvSpPr>
        <p:spPr>
          <a:xfrm>
            <a:off x="7589520" y="2002536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973629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736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32811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12" name="rev_29_caja"/>
          <p:cNvSpPr/>
          <p:nvPr/>
        </p:nvSpPr>
        <p:spPr>
          <a:xfrm>
            <a:off x="7498080" y="2869387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29_txt"/>
          <p:cNvSpPr txBox="1"/>
          <p:nvPr/>
        </p:nvSpPr>
        <p:spPr>
          <a:xfrm>
            <a:off x="7589520" y="2869387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699662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마셔요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17" name="rev_30_caja"/>
          <p:cNvSpPr/>
          <p:nvPr/>
        </p:nvSpPr>
        <p:spPr>
          <a:xfrm>
            <a:off x="7498080" y="3736238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30_txt"/>
          <p:cNvSpPr txBox="1"/>
          <p:nvPr/>
        </p:nvSpPr>
        <p:spPr>
          <a:xfrm>
            <a:off x="7589520" y="3736238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707331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7073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566514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방에 창문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22" name="rev_31_caja"/>
          <p:cNvSpPr/>
          <p:nvPr/>
        </p:nvSpPr>
        <p:spPr>
          <a:xfrm>
            <a:off x="7498080" y="4603090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31_txt"/>
          <p:cNvSpPr txBox="1"/>
          <p:nvPr/>
        </p:nvSpPr>
        <p:spPr>
          <a:xfrm>
            <a:off x="7589520" y="4603090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557418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5741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433365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27" name="rev_32_caja"/>
          <p:cNvSpPr/>
          <p:nvPr/>
        </p:nvSpPr>
        <p:spPr>
          <a:xfrm>
            <a:off x="7498080" y="5469941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32_txt"/>
          <p:cNvSpPr txBox="1"/>
          <p:nvPr/>
        </p:nvSpPr>
        <p:spPr>
          <a:xfrm>
            <a:off x="7589520" y="5469941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endParaRPr lang="en-US" sz="2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Dictado de partículas (2/2)</a:t>
            </a:r>
            <a:r>
              <a:rPr lang="en-US" sz="1500" b="1" i="1" dirty="0">
                <a:solidFill>
                  <a:srgbClr val="8A8DA0"/>
                </a:solidFill>
              </a:rPr>
              <a:t>   Particle dictation (2/2)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Escucha a Kiran y escribe en el chat solo la partícula: 이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1800" i="1" dirty="0">
                <a:solidFill>
                  <a:srgbClr val="4236F6"/>
                </a:solidFill>
              </a:rPr>
              <a:t>o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106778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1067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6) 방에 텔레비전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7" name="rev_33_caja"/>
          <p:cNvSpPr/>
          <p:nvPr/>
        </p:nvSpPr>
        <p:spPr>
          <a:xfrm>
            <a:off x="7498080" y="2002536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33_txt"/>
          <p:cNvSpPr txBox="1"/>
          <p:nvPr/>
        </p:nvSpPr>
        <p:spPr>
          <a:xfrm>
            <a:off x="7589520" y="2002536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2973629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7362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832811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7) 그림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그려요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12" name="rev_34_caja"/>
          <p:cNvSpPr/>
          <p:nvPr/>
        </p:nvSpPr>
        <p:spPr>
          <a:xfrm>
            <a:off x="7498080" y="2869387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34_txt"/>
          <p:cNvSpPr txBox="1"/>
          <p:nvPr/>
        </p:nvSpPr>
        <p:spPr>
          <a:xfrm>
            <a:off x="7589520" y="2869387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699662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8) 한국어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배워요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17" name="rev_35_caja"/>
          <p:cNvSpPr/>
          <p:nvPr/>
        </p:nvSpPr>
        <p:spPr>
          <a:xfrm>
            <a:off x="7498080" y="3736238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35_txt"/>
          <p:cNvSpPr txBox="1"/>
          <p:nvPr/>
        </p:nvSpPr>
        <p:spPr>
          <a:xfrm>
            <a:off x="7589520" y="3736238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endParaRPr lang="en-US" sz="2200" dirty="0"/>
          </a:p>
        </p:txBody>
      </p:sp>
      <p:sp>
        <p:nvSpPr>
          <p:cNvPr id="19" name="num_3"/>
          <p:cNvSpPr/>
          <p:nvPr/>
        </p:nvSpPr>
        <p:spPr>
          <a:xfrm>
            <a:off x="548640" y="4707331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7073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4566514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9) 책상 위에 컴퓨터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22" name="rev_36_caja"/>
          <p:cNvSpPr/>
          <p:nvPr/>
        </p:nvSpPr>
        <p:spPr>
          <a:xfrm>
            <a:off x="7498080" y="4603090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3" name="rev_36_txt"/>
          <p:cNvSpPr txBox="1"/>
          <p:nvPr/>
        </p:nvSpPr>
        <p:spPr>
          <a:xfrm>
            <a:off x="7589520" y="4603090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endParaRPr lang="en-US" sz="2200" dirty="0"/>
          </a:p>
        </p:txBody>
      </p:sp>
      <p:sp>
        <p:nvSpPr>
          <p:cNvPr id="24" name="num_4"/>
          <p:cNvSpPr/>
          <p:nvPr/>
        </p:nvSpPr>
        <p:spPr>
          <a:xfrm>
            <a:off x="548640" y="557418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557418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188720" y="5433365"/>
            <a:ext cx="6080760" cy="7388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10) 이름</a:t>
            </a:r>
            <a:r>
              <a:rPr lang="en-US" sz="2400" dirty="0">
                <a:solidFill>
                  <a:srgbClr val="14142B"/>
                </a:solidFill>
              </a:rPr>
              <a:t>___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써요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27" name="rev_37_caja"/>
          <p:cNvSpPr/>
          <p:nvPr/>
        </p:nvSpPr>
        <p:spPr>
          <a:xfrm>
            <a:off x="7498080" y="5469941"/>
            <a:ext cx="4142232" cy="665683"/>
          </a:xfrm>
          <a:prstGeom prst="roundRect">
            <a:avLst>
              <a:gd name="adj" fmla="val 16484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28" name="rev_37_txt"/>
          <p:cNvSpPr txBox="1"/>
          <p:nvPr/>
        </p:nvSpPr>
        <p:spPr>
          <a:xfrm>
            <a:off x="7589520" y="5469941"/>
            <a:ext cx="3959352" cy="6656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endParaRPr lang="en-US" sz="2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  <p:bldP spid="23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Clave del dictado (1/2)</a:t>
            </a:r>
            <a:r>
              <a:rPr lang="en-US" sz="1500" b="1" i="1" dirty="0">
                <a:solidFill>
                  <a:srgbClr val="8A8DA0"/>
                </a:solidFill>
              </a:rPr>
              <a:t>   Dictation key (1/2)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La partícula va en azul</a:t>
            </a:r>
            <a:endParaRPr lang="en-US" sz="1800" dirty="0"/>
          </a:p>
        </p:txBody>
      </p:sp>
      <p:graphicFrame>
        <p:nvGraphicFramePr>
          <p:cNvPr id="21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63677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Frase completa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¿Por qué?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방에 침대가 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있어요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침대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termina en vocal 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책을 읽어요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acción · 책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termina en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받침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커피를 마셔요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acción · 커피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termina en vocal 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방에 창문이 없어요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없어요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창문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termina en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받침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음악을 들어요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acción · 음악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termina en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받침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Clave del dictado (2/2)</a:t>
            </a:r>
            <a:r>
              <a:rPr lang="en-US" sz="1500" b="1" i="1" dirty="0">
                <a:solidFill>
                  <a:srgbClr val="8A8DA0"/>
                </a:solidFill>
              </a:rPr>
              <a:t>   Dictation key (2/2)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La partícula va en azul</a:t>
            </a:r>
            <a:endParaRPr lang="en-US" sz="1800" dirty="0"/>
          </a:p>
        </p:txBody>
      </p:sp>
      <p:graphicFrame>
        <p:nvGraphicFramePr>
          <p:cNvPr id="22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773795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3697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7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Frase completa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¿Por qué?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방에 텔레비전이 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있어요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텔레비전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termina en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받침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그림을 그려요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acción · 그림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termina en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받침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한국어를 배워요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acción · 한국어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termina en vocal 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책상 위에 컴퓨터가 있어요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있어요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·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컴퓨터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termina en vocal 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이름을 써요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.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acción · 이름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termina en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받침 </a:t>
                      </a: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→ </a:t>
                      </a: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  <a:r>
              <a:rPr lang="en-US" sz="2200" b="1" dirty="0">
                <a:solidFill>
                  <a:srgbClr val="4236F6"/>
                </a:solidFill>
              </a:rPr>
              <a:t>/</a:t>
            </a: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sz="2200" b="1" dirty="0">
                <a:solidFill>
                  <a:srgbClr val="4236F6"/>
                </a:solidFill>
              </a:rPr>
              <a:t>· </a:t>
            </a: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2200" b="1" dirty="0">
                <a:solidFill>
                  <a:srgbClr val="4236F6"/>
                </a:solidFill>
              </a:rPr>
              <a:t>/</a:t>
            </a:r>
            <a:r>
              <a:rPr lang="ko-KR" altLang="en-US" sz="22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 </a:t>
            </a:r>
            <a:r>
              <a:rPr lang="ko-KR" altLang="en-US" sz="22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 reconocer: 은</a:t>
            </a:r>
            <a:r>
              <a:rPr lang="en-US" sz="2200" b="1" dirty="0">
                <a:solidFill>
                  <a:srgbClr val="003478"/>
                </a:solidFill>
              </a:rPr>
              <a:t>/</a:t>
            </a:r>
            <a:r>
              <a:rPr lang="ko-KR" altLang="en-US" sz="22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r>
              <a:rPr lang="en-US" sz="2200" b="1" dirty="0">
                <a:solidFill>
                  <a:srgbClr val="003478"/>
                </a:solidFill>
              </a:rPr>
              <a:t>y </a:t>
            </a:r>
            <a:r>
              <a:rPr lang="ko-KR" altLang="en-US" sz="22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2200" b="1" dirty="0">
                <a:solidFill>
                  <a:srgbClr val="003478"/>
                </a:solidFill>
              </a:rPr>
              <a:t>/</a:t>
            </a:r>
            <a:r>
              <a:rPr lang="ko-KR" altLang="en-US" sz="2200" b="1" dirty="0">
                <a:solidFill>
                  <a:srgbClr val="0034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ko-KR" altLang="en-US" sz="1500" b="1" i="1" dirty="0">
                <a:solidFill>
                  <a:srgbClr val="8A8DA0"/>
                </a:solidFill>
              </a:rPr>
              <a:t>   To recognize: 은/는 and 이/가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Solo reconocer · para hablar, con 있어요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 </a:t>
            </a:r>
            <a:r>
              <a:rPr lang="en-US" sz="1800" i="1" dirty="0">
                <a:solidFill>
                  <a:srgbClr val="4236F6"/>
                </a:solidFill>
              </a:rPr>
              <a:t>usa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1800" i="1" dirty="0">
                <a:solidFill>
                  <a:srgbClr val="4236F6"/>
                </a:solidFill>
              </a:rPr>
              <a:t>/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1800" i="1" dirty="0">
                <a:solidFill>
                  <a:srgbClr val="4236F6"/>
                </a:solidFill>
              </a:rPr>
              <a:t>· Escribe en el chat 1, 2 o 3: (1) “hablando de…” · (2) “aparece algo que hay” · (3) “y eso, en cambio…”</a:t>
            </a:r>
            <a:endParaRPr lang="en-US" sz="1800" dirty="0"/>
          </a:p>
        </p:txBody>
      </p:sp>
      <p:sp>
        <p:nvSpPr>
          <p:cNvPr id="4" name="num_0"/>
          <p:cNvSpPr/>
          <p:nvPr/>
        </p:nvSpPr>
        <p:spPr>
          <a:xfrm>
            <a:off x="548640" y="2574950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5749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369210"/>
            <a:ext cx="5285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학생이에요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7" name="rev_38_caja"/>
          <p:cNvSpPr/>
          <p:nvPr/>
        </p:nvSpPr>
        <p:spPr>
          <a:xfrm>
            <a:off x="6702552" y="2405786"/>
            <a:ext cx="4937760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8" name="rev_38_txt"/>
          <p:cNvSpPr txBox="1"/>
          <p:nvPr/>
        </p:nvSpPr>
        <p:spPr>
          <a:xfrm>
            <a:off x="6793992" y="2405786"/>
            <a:ext cx="4754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b="1" dirty="0">
                <a:solidFill>
                  <a:srgbClr val="FFFFFF"/>
                </a:solidFill>
              </a:rPr>
              <a:t>1 · “hablando de mí…”: presenta el tema</a:t>
            </a:r>
            <a:endParaRPr lang="en-US" sz="2200" dirty="0"/>
          </a:p>
        </p:txBody>
      </p:sp>
      <p:sp>
        <p:nvSpPr>
          <p:cNvPr id="9" name="num_1"/>
          <p:cNvSpPr/>
          <p:nvPr/>
        </p:nvSpPr>
        <p:spPr>
          <a:xfrm>
            <a:off x="548640" y="3571646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5716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365906"/>
            <a:ext cx="5285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방에 책이 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12" name="rev_39_caja"/>
          <p:cNvSpPr/>
          <p:nvPr/>
        </p:nvSpPr>
        <p:spPr>
          <a:xfrm>
            <a:off x="6702552" y="3402482"/>
            <a:ext cx="4937760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3" name="rev_39_txt"/>
          <p:cNvSpPr txBox="1"/>
          <p:nvPr/>
        </p:nvSpPr>
        <p:spPr>
          <a:xfrm>
            <a:off x="6793992" y="3402482"/>
            <a:ext cx="4754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b="1" dirty="0">
                <a:solidFill>
                  <a:srgbClr val="FFFFFF"/>
                </a:solidFill>
              </a:rPr>
              <a:t>2 · aparece algo que hay</a:t>
            </a:r>
            <a:endParaRPr lang="en-US" sz="2200" dirty="0"/>
          </a:p>
        </p:txBody>
      </p:sp>
      <p:sp>
        <p:nvSpPr>
          <p:cNvPr id="14" name="num_2"/>
          <p:cNvSpPr/>
          <p:nvPr/>
        </p:nvSpPr>
        <p:spPr>
          <a:xfrm>
            <a:off x="548640" y="4568342"/>
            <a:ext cx="457200" cy="457200"/>
          </a:xfrm>
          <a:prstGeom prst="ellipse">
            <a:avLst/>
          </a:prstGeom>
          <a:solidFill>
            <a:srgbClr val="003478"/>
          </a:solidFill>
          <a:ln w="12700">
            <a:solidFill>
              <a:srgbClr val="00347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4568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4362602"/>
            <a:ext cx="5285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텔레비전은 없어요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</p:txBody>
      </p:sp>
      <p:sp>
        <p:nvSpPr>
          <p:cNvPr id="17" name="rev_40_caja"/>
          <p:cNvSpPr/>
          <p:nvPr/>
        </p:nvSpPr>
        <p:spPr>
          <a:xfrm>
            <a:off x="6702552" y="4399178"/>
            <a:ext cx="4937760" cy="795528"/>
          </a:xfrm>
          <a:prstGeom prst="roundRect">
            <a:avLst>
              <a:gd name="adj" fmla="val 13793"/>
            </a:avLst>
          </a:prstGeom>
          <a:solidFill>
            <a:srgbClr val="4236F6"/>
          </a:solidFill>
          <a:ln w="12700">
            <a:solidFill>
              <a:srgbClr val="4236F6"/>
            </a:solidFill>
            <a:prstDash val="solid"/>
          </a:ln>
        </p:spPr>
      </p:sp>
      <p:sp>
        <p:nvSpPr>
          <p:cNvPr id="18" name="rev_40_txt"/>
          <p:cNvSpPr txBox="1"/>
          <p:nvPr/>
        </p:nvSpPr>
        <p:spPr>
          <a:xfrm>
            <a:off x="6793992" y="4399178"/>
            <a:ext cx="47548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en-US" sz="2200" b="1" dirty="0">
                <a:solidFill>
                  <a:srgbClr val="FFFFFF"/>
                </a:solidFill>
              </a:rPr>
              <a:t>3 · “y el televisor, en cambio, no”: contraste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3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Salas · 19 minutos</a:t>
            </a:r>
            <a:r>
              <a:rPr lang="en-US" sz="1500" b="1" i="1" dirty="0">
                <a:solidFill>
                  <a:srgbClr val="8A8DA0"/>
                </a:solidFill>
              </a:rPr>
              <a:t>   Breakout rooms · 19 minutes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694944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1) Tour de tu pieza · 9 min (3 min cada uno)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2) Mímica · 7 min: uno actúa; los otros dicen la frase completa (1 punto por partícula)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3) Minuto libre · 3 min, sin cuaderno</a:t>
            </a:r>
            <a:endParaRPr lang="en-US" sz="22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14142B"/>
                </a:solidFill>
              </a:rPr>
              <a:t>Salas de 3 · se cierran solas a los 19 min · todos de vuelta a las 20:53</a:t>
            </a:r>
            <a:endParaRPr lang="en-US" sz="2200" dirty="0"/>
          </a:p>
        </p:txBody>
      </p:sp>
      <p:sp>
        <p:nvSpPr>
          <p:cNvPr id="4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5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Tarjeta del tour</a:t>
            </a:r>
            <a:r>
              <a:rPr lang="en-US" sz="1500" b="1" i="1" dirty="0">
                <a:solidFill>
                  <a:srgbClr val="8A8DA0"/>
                </a:solidFill>
              </a:rPr>
              <a:t>   Room tour card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4 frases · los demás te preguntan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방에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2400" dirty="0">
                <a:solidFill>
                  <a:srgbClr val="14142B"/>
                </a:solidFill>
              </a:rPr>
              <a:t>/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 위에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</a:t>
            </a:r>
            <a:r>
              <a:rPr lang="en-US" sz="2400" dirty="0">
                <a:solidFill>
                  <a:srgbClr val="14142B"/>
                </a:solidFill>
              </a:rPr>
              <a:t>/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있어요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___이</a:t>
            </a:r>
            <a:r>
              <a:rPr lang="en-US" sz="2400" dirty="0">
                <a:solidFill>
                  <a:srgbClr val="14142B"/>
                </a:solidFill>
              </a:rPr>
              <a:t>/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없어요</a:t>
            </a:r>
            <a:r>
              <a:rPr lang="en-US" sz="2400" dirty="0">
                <a:solidFill>
                  <a:srgbClr val="14142B"/>
                </a:solidFill>
              </a:rPr>
              <a:t>. (o 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</a:t>
            </a:r>
            <a:r>
              <a:rPr lang="en-US" sz="2400" dirty="0">
                <a:solidFill>
                  <a:srgbClr val="14142B"/>
                </a:solidFill>
              </a:rPr>
              <a:t>/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없어요</a:t>
            </a:r>
            <a:r>
              <a:rPr lang="en-US" sz="2400" dirty="0">
                <a:solidFill>
                  <a:srgbClr val="14142B"/>
                </a:solidFill>
              </a:rPr>
              <a:t>.)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매일 </a:t>
            </a:r>
            <a:r>
              <a:rPr lang="en-US" sz="2400" dirty="0">
                <a:solidFill>
                  <a:srgbClr val="14142B"/>
                </a:solidFill>
              </a:rPr>
              <a:t>___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</a:t>
            </a:r>
            <a:r>
              <a:rPr lang="en-US" sz="2400" dirty="0">
                <a:solidFill>
                  <a:srgbClr val="14142B"/>
                </a:solidFill>
              </a:rPr>
              <a:t>/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sz="2400" dirty="0">
                <a:solidFill>
                  <a:srgbClr val="14142B"/>
                </a:solidFill>
              </a:rPr>
              <a:t>___.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Preguntan: ___이</a:t>
            </a:r>
            <a:r>
              <a:rPr lang="en-US" sz="2400" dirty="0">
                <a:solidFill>
                  <a:srgbClr val="14142B"/>
                </a:solidFill>
              </a:rPr>
              <a:t>/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있어요</a:t>
            </a:r>
            <a:r>
              <a:rPr lang="en-US" sz="2400" dirty="0">
                <a:solidFill>
                  <a:srgbClr val="14142B"/>
                </a:solidFill>
              </a:rPr>
              <a:t>? →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있어요</a:t>
            </a:r>
            <a:r>
              <a:rPr lang="en-US" sz="2400" dirty="0">
                <a:solidFill>
                  <a:srgbClr val="14142B"/>
                </a:solidFill>
              </a:rPr>
              <a:t>. /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아니요</a:t>
            </a:r>
            <a:r>
              <a:rPr lang="en-US" sz="2400" dirty="0">
                <a:solidFill>
                  <a:srgbClr val="14142B"/>
                </a:solidFill>
              </a:rPr>
              <a:t>,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없어요</a:t>
            </a:r>
            <a:r>
              <a:rPr lang="en-US" sz="2400" dirty="0">
                <a:solidFill>
                  <a:srgbClr val="14142B"/>
                </a:solidFill>
              </a:rPr>
              <a:t>.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4142B"/>
                </a:solidFill>
              </a:rPr>
              <a:t>Cámara, foto, dibujo o la pieza de tus sueños: no tienes que mostrar tu casa</a:t>
            </a:r>
            <a:endParaRPr lang="en-US" sz="24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Mímica + minuto libre</a:t>
            </a:r>
            <a:r>
              <a:rPr lang="en-US" sz="1500" b="1" i="1" dirty="0">
                <a:solidFill>
                  <a:srgbClr val="8A8DA0"/>
                </a:solidFill>
              </a:rPr>
              <a:t>   Charades + free minute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694944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Mímica: 책을 읽어요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음악을 들어요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그림을 그려요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한국어를 배워요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이름을 써요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커피를 마셔요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빵을 먹어요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텔레비전을 봐요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운동해요 </a:t>
            </a:r>
            <a:r>
              <a:rPr lang="en-US" sz="2400" dirty="0">
                <a:solidFill>
                  <a:srgbClr val="14142B"/>
                </a:solidFill>
              </a:rPr>
              <a:t>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자요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Ojo: 2 tarjetas no llevan 을</a:t>
            </a:r>
            <a:r>
              <a:rPr lang="en-US" sz="2400" dirty="0">
                <a:solidFill>
                  <a:srgbClr val="14142B"/>
                </a:solidFill>
              </a:rPr>
              <a:t>/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</a:t>
            </a:r>
            <a:r>
              <a:rPr lang="en-US" sz="2400" dirty="0">
                <a:solidFill>
                  <a:srgbClr val="14142B"/>
                </a:solidFill>
              </a:rPr>
              <a:t>. ¿Cuáles?</a:t>
            </a:r>
            <a:endParaRPr lang="en-US" sz="24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Minuto libre (3 min, sin cuaderno): 방에 뭐가 있어요</a:t>
            </a:r>
            <a:r>
              <a:rPr lang="en-US" sz="2400" dirty="0">
                <a:solidFill>
                  <a:srgbClr val="14142B"/>
                </a:solidFill>
              </a:rPr>
              <a:t>? · </a:t>
            </a:r>
            <a:r>
              <a:rPr lang="ko-KR" altLang="en-US" sz="24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뭐 해요</a:t>
            </a:r>
            <a:r>
              <a:rPr lang="en-US" sz="2400" dirty="0">
                <a:solidFill>
                  <a:srgbClr val="14142B"/>
                </a:solidFill>
              </a:rPr>
              <a:t>?</a:t>
            </a:r>
            <a:endParaRPr lang="en-US" sz="2400" dirty="0"/>
          </a:p>
        </p:txBody>
      </p:sp>
      <p:sp>
        <p:nvSpPr>
          <p:cNvPr id="4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5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Errores del día</a:t>
            </a:r>
            <a:r>
              <a:rPr lang="en-US" sz="1500" b="1" i="1" dirty="0">
                <a:solidFill>
                  <a:srgbClr val="8A8DA0"/>
                </a:solidFill>
              </a:rPr>
              <a:t>   Mistakes of the day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694944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142B"/>
                </a:solidFill>
              </a:rPr>
              <a:t>✗ ______________ → ✓ ______________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142B"/>
                </a:solidFill>
              </a:rPr>
              <a:t>✗ ______________ → ✓ ______________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142B"/>
                </a:solidFill>
              </a:rPr>
              <a:t>✗ ______________ → ✓ ______________</a:t>
            </a:r>
            <a:endParaRPr lang="en-US" sz="2800" dirty="0"/>
          </a:p>
        </p:txBody>
      </p:sp>
      <p:sp>
        <p:nvSpPr>
          <p:cNvPr id="4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5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문장  </a:t>
            </a:r>
            <a:r>
              <a:rPr lang="en-US" sz="3000" b="1" dirty="0">
                <a:solidFill>
                  <a:srgbClr val="003478"/>
                </a:solidFill>
              </a:rPr>
              <a:t>3 frases clave</a:t>
            </a:r>
            <a:r>
              <a:rPr lang="en-US" sz="1500" b="1" i="1" dirty="0">
                <a:solidFill>
                  <a:srgbClr val="8A8DA0"/>
                </a:solidFill>
              </a:rPr>
              <a:t>   3 key sentences</a:t>
            </a:r>
            <a:endParaRPr lang="en-US" sz="3000" dirty="0"/>
          </a:p>
        </p:txBody>
      </p:sp>
      <p:sp>
        <p:nvSpPr>
          <p:cNvPr id="3" name="lista"/>
          <p:cNvSpPr txBox="1"/>
          <p:nvPr/>
        </p:nvSpPr>
        <p:spPr>
          <a:xfrm>
            <a:off x="548640" y="1325880"/>
            <a:ext cx="6949440" cy="484632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방에 침대가 있어요</a:t>
            </a:r>
            <a:r>
              <a:rPr lang="en-US" sz="2800" dirty="0">
                <a:solidFill>
                  <a:srgbClr val="14142B"/>
                </a:solidFill>
              </a:rPr>
              <a:t>. — En la pieza hay una cama.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책을 읽어요</a:t>
            </a:r>
            <a:r>
              <a:rPr lang="en-US" sz="2800" dirty="0">
                <a:solidFill>
                  <a:srgbClr val="14142B"/>
                </a:solidFill>
              </a:rPr>
              <a:t>. — Leo un libro.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8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김치를 좋아해요</a:t>
            </a:r>
            <a:r>
              <a:rPr lang="en-US" sz="2800" dirty="0">
                <a:solidFill>
                  <a:srgbClr val="14142B"/>
                </a:solidFill>
              </a:rPr>
              <a:t>. — Me gusta el kimchi.</a:t>
            </a:r>
            <a:endParaRPr lang="en-US" sz="2800" dirty="0"/>
          </a:p>
        </p:txBody>
      </p:sp>
      <p:sp>
        <p:nvSpPr>
          <p:cNvPr id="4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sp>
        <p:nvSpPr>
          <p:cNvPr id="5" name="ko_grande"/>
          <p:cNvSpPr txBox="1"/>
          <p:nvPr/>
        </p:nvSpPr>
        <p:spPr>
          <a:xfrm>
            <a:off x="8092440" y="1874520"/>
            <a:ext cx="3429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 eaLnBrk="1">
              <a:buNone/>
            </a:pPr>
            <a:r>
              <a:rPr lang="ko-KR" altLang="en-US" sz="7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</a:t>
            </a:r>
            <a:endParaRPr lang="en-US" sz="7700" dirty="0"/>
          </a:p>
          <a:p>
            <a:pPr marL="0" indent="0" algn="ctr" eaLnBrk="1">
              <a:buNone/>
            </a:pPr>
            <a:r>
              <a:rPr lang="ko-KR" altLang="en-US" sz="77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</a:t>
            </a:r>
            <a:endParaRPr lang="en-US" sz="7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좋아해요 </a:t>
            </a:r>
            <a:r>
              <a:rPr lang="en-US" sz="3000" b="1" dirty="0">
                <a:solidFill>
                  <a:srgbClr val="4236F6"/>
                </a:solidFill>
              </a:rPr>
              <a:t>/ </a:t>
            </a:r>
            <a:r>
              <a:rPr lang="ko-KR" altLang="en-US" sz="3000" b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좋아해요  </a:t>
            </a:r>
            <a:r>
              <a:rPr lang="en-US" sz="3000" b="1" dirty="0">
                <a:solidFill>
                  <a:srgbClr val="003478"/>
                </a:solidFill>
              </a:rPr>
              <a:t>Tarjeta de gustos</a:t>
            </a:r>
            <a:r>
              <a:rPr lang="en-US" sz="1500" b="1" i="1" dirty="0">
                <a:solidFill>
                  <a:srgbClr val="8A8DA0"/>
                </a:solidFill>
              </a:rPr>
              <a:t>   Likes card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eaLnBrk="1">
              <a:buNone/>
            </a:pP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좋아해요 </a:t>
            </a:r>
            <a:r>
              <a:rPr lang="en-US" sz="1800" i="1" dirty="0">
                <a:solidFill>
                  <a:srgbClr val="4236F6"/>
                </a:solidFill>
              </a:rPr>
              <a:t>[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조아해요</a:t>
            </a:r>
            <a:r>
              <a:rPr lang="en-US" sz="1800" i="1" dirty="0">
                <a:solidFill>
                  <a:srgbClr val="4236F6"/>
                </a:solidFill>
              </a:rPr>
              <a:t>] (me gusta) /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좋아해요 </a:t>
            </a:r>
            <a:r>
              <a:rPr lang="en-US" sz="1800" i="1" dirty="0">
                <a:solidFill>
                  <a:srgbClr val="4236F6"/>
                </a:solidFill>
              </a:rPr>
              <a:t>(no me gusta) 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정말 </a:t>
            </a:r>
            <a:r>
              <a:rPr lang="en-US" sz="1800" i="1" dirty="0">
                <a:solidFill>
                  <a:srgbClr val="4236F6"/>
                </a:solidFill>
              </a:rPr>
              <a:t>(me encanta) · </a:t>
            </a:r>
            <a:r>
              <a:rPr lang="ko-KR" altLang="en-US" sz="1800" i="1" dirty="0">
                <a:solidFill>
                  <a:srgbClr val="4236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조금 </a:t>
            </a:r>
            <a:r>
              <a:rPr lang="en-US" sz="1800" i="1" dirty="0">
                <a:solidFill>
                  <a:srgbClr val="4236F6"/>
                </a:solidFill>
              </a:rPr>
              <a:t>(un poco)</a:t>
            </a:r>
            <a:endParaRPr lang="en-US" sz="1800" dirty="0"/>
          </a:p>
        </p:txBody>
      </p:sp>
      <p:graphicFrame>
        <p:nvGraphicFramePr>
          <p:cNvPr id="29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668799"/>
              </p:ext>
            </p:extLst>
          </p:nvPr>
        </p:nvGraphicFramePr>
        <p:xfrm>
          <a:off x="548640" y="1874520"/>
          <a:ext cx="11091672" cy="914400"/>
        </p:xfrm>
        <a:graphic>
          <a:graphicData uri="http://schemas.openxmlformats.org/drawingml/2006/table">
            <a:tbl>
              <a:tblPr/>
              <a:tblGrid>
                <a:gridCol w="27729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29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___을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/</a:t>
                      </a: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Español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___을</a:t>
                      </a: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/</a:t>
                      </a: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</a:rPr>
                        <a:t>Español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4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김치를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el kimchi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드라마를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las series, los K-dramas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라면을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el ramyeon (fideos instantáneos)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영화를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las películas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불고기를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el bulgogi (carne marinada)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노래를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las canciones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커피를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el café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운동을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el deporte, el ejercicio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케이팝을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el K-pop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ko-KR" altLang="en-US" sz="1800" dirty="0">
                          <a:solidFill>
                            <a:srgbClr val="1414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한국 음식을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1">
                        <a:buNone/>
                      </a:pPr>
                      <a:r>
                        <a:rPr lang="en-US" sz="1800" dirty="0">
                          <a:solidFill>
                            <a:srgbClr val="14142B"/>
                          </a:solidFill>
                        </a:rPr>
                        <a:t>la comida coreana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7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Tu guion final</a:t>
            </a:r>
            <a:r>
              <a:rPr lang="en-US" sz="1500" b="1" i="1" dirty="0">
                <a:solidFill>
                  <a:srgbClr val="8A8DA0"/>
                </a:solidFill>
              </a:rPr>
              <a:t>   Your final script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“Yo en coreano” · clase 8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a 10 frases, tipeadas en 한글 </a:t>
            </a:r>
            <a:r>
              <a:rPr lang="en-US" sz="2000" dirty="0">
                <a:solidFill>
                  <a:srgbClr val="14142B"/>
                </a:solidFill>
              </a:rPr>
              <a:t>(sin contar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안녕하세요 </a:t>
            </a:r>
            <a:r>
              <a:rPr lang="en-US" sz="2000" dirty="0">
                <a:solidFill>
                  <a:srgbClr val="14142B"/>
                </a:solidFill>
              </a:rPr>
              <a:t>ni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r>
              <a:rPr lang="en-US" sz="2000" dirty="0">
                <a:solidFill>
                  <a:srgbClr val="14142B"/>
                </a:solidFill>
              </a:rPr>
              <a:t>)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Quién eres · tu familia · dónde vives · tu día · tu pieza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Gustos (opcional): 1 o 2 frases con la tarjeta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Ejemplo: 우리 가족은 네 명이에요</a:t>
            </a:r>
            <a:r>
              <a:rPr lang="en-US" sz="2000" dirty="0">
                <a:solidFill>
                  <a:srgbClr val="14142B"/>
                </a:solidFill>
              </a:rPr>
              <a:t>. ·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저는 매일 학교에 가요</a:t>
            </a:r>
            <a:r>
              <a:rPr lang="en-US" sz="2000" dirty="0">
                <a:solidFill>
                  <a:srgbClr val="14142B"/>
                </a:solidFill>
              </a:rPr>
              <a:t>. ·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방에 침대가 있어요</a:t>
            </a:r>
            <a:r>
              <a:rPr lang="en-US" sz="2000" dirty="0">
                <a:solidFill>
                  <a:srgbClr val="14142B"/>
                </a:solidFill>
              </a:rPr>
              <a:t>.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A Kiran, 48 h después de tu clase 7: mar → jue 3 dic · jue → sáb 5 dic, 20:00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Vuelve corregido antes de la clase 8</a:t>
            </a:r>
            <a:endParaRPr lang="en-US" sz="20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Examen escrito en línea</a:t>
            </a:r>
            <a:r>
              <a:rPr lang="en-US" sz="1500" b="1" i="1" dirty="0">
                <a:solidFill>
                  <a:srgbClr val="8A8DA0"/>
                </a:solidFill>
              </a:rPr>
              <a:t>   Online written exam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Lo rindes antes de tu clase 8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minutos, en línea · 50 puntos · todo en 한글</a:t>
            </a:r>
            <a:r>
              <a:rPr lang="en-US" sz="2000" dirty="0">
                <a:solidFill>
                  <a:srgbClr val="14142B"/>
                </a:solidFill>
              </a:rPr>
              <a:t>, sin letras latinas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Dictado 10 · vocabulario 15 · partículas y conjugación 15 · 6 frases sobre ti 10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Sección martes: abre dom 6 dic, 20:00 → cierra mar 8 dic, 20:00 [por confirmar]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Sección jueves: abre mar 8 dic, 20:00 → cierra jue 10 dic, 20:00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Link: lo publica Kiran en el grupo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Tu repaso: la hoja 7–8, antes del examen · audífonos para el dictado</a:t>
            </a:r>
            <a:endParaRPr lang="en-US" sz="20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Sorteo</a:t>
            </a:r>
            <a:r>
              <a:rPr lang="en-US" sz="1500" b="1" i="1" dirty="0">
                <a:solidFill>
                  <a:srgbClr val="8A8DA0"/>
                </a:solidFill>
              </a:rPr>
              <a:t>   Draw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Orden de la clase 8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142B"/>
                </a:solidFill>
              </a:rPr>
              <a:t>Orden de presentaciones de la clase 8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142B"/>
                </a:solidFill>
              </a:rPr>
              <a:t>Están todos los inscritos, también quien falte hoy</a:t>
            </a:r>
            <a:endParaRPr lang="en-US" sz="28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800" dirty="0">
                <a:solidFill>
                  <a:srgbClr val="14142B"/>
                </a:solidFill>
              </a:rPr>
              <a:t>La lista se publica en el grupo después de la clase</a:t>
            </a:r>
            <a:endParaRPr lang="en-US" sz="28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1">
              <a:buNone/>
            </a:pPr>
            <a:r>
              <a:rPr lang="en-US" sz="3000" b="1" dirty="0">
                <a:solidFill>
                  <a:srgbClr val="003478"/>
                </a:solidFill>
              </a:rPr>
              <a:t>Tarea de la semana</a:t>
            </a:r>
            <a:r>
              <a:rPr lang="en-US" sz="1500" b="1" i="1" dirty="0">
                <a:solidFill>
                  <a:srgbClr val="8A8DA0"/>
                </a:solidFill>
              </a:rPr>
              <a:t>   Homework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eaLnBrk="1">
              <a:buNone/>
            </a:pPr>
            <a:r>
              <a:rPr lang="en-US" sz="1800" i="1" dirty="0">
                <a:solidFill>
                  <a:srgbClr val="4236F6"/>
                </a:solidFill>
              </a:rPr>
              <a:t>≈ 30 minutos + el examen · todo antes de tu clase 8</a:t>
            </a:r>
            <a:endParaRPr lang="en-US" sz="1800" dirty="0"/>
          </a:p>
        </p:txBody>
      </p:sp>
      <p:sp>
        <p:nvSpPr>
          <p:cNvPr id="4" name="lista"/>
          <p:cNvSpPr txBox="1"/>
          <p:nvPr/>
        </p:nvSpPr>
        <p:spPr>
          <a:xfrm>
            <a:off x="548640" y="1965960"/>
            <a:ext cx="6949440" cy="4206240"/>
          </a:xfrm>
          <a:prstGeom prst="rect">
            <a:avLst/>
          </a:prstGeom>
          <a:noFill/>
          <a:ln/>
        </p:spPr>
        <p:txBody>
          <a:bodyPr wrap="square" lIns="50800" tIns="25400" rIns="50800" bIns="50800" rtlCol="0" anchor="t">
            <a:normAutofit/>
          </a:bodyPr>
          <a:lstStyle/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1) Hoja de las lecciones 7–8 + quiz de 15 preguntas (10 min): antes del examen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2) Lector → Practicar → Palabras, 3 rondas seguidas, y Pictogramas, 3 rondas (8 min)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Manda la captura de Progreso al grupo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Guion “Yo en coreano” (12 min): 8–10 frases en 한글</a:t>
            </a:r>
            <a:r>
              <a:rPr lang="en-US" sz="2000" dirty="0">
                <a:solidFill>
                  <a:srgbClr val="14142B"/>
                </a:solidFill>
              </a:rPr>
              <a:t>, a Kiran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4142B"/>
                </a:solidFill>
              </a:rPr>
              <a:t>4) Examen escrito en línea (30 min), dentro de tu ventana</a:t>
            </a:r>
            <a:endParaRPr lang="en-US" sz="2000" dirty="0"/>
          </a:p>
          <a:p>
            <a:pPr marL="228600" indent="-228600" eaLnBrk="1">
              <a:spcAft>
                <a:spcPts val="800"/>
              </a:spcAft>
              <a:buSzPct val="100000"/>
              <a:buChar char="•"/>
            </a:pP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Extra: Dubu, barrio 6 Estación de Seúl (6-2 김치 </a:t>
            </a:r>
            <a:r>
              <a:rPr lang="en-US" sz="2000" dirty="0">
                <a:solidFill>
                  <a:srgbClr val="14142B"/>
                </a:solidFill>
              </a:rPr>
              <a:t>· 6-3 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밤</a:t>
            </a:r>
            <a:r>
              <a:rPr lang="en-US" sz="2000" dirty="0">
                <a:solidFill>
                  <a:srgbClr val="14142B"/>
                </a:solidFill>
              </a:rPr>
              <a:t>/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밥</a:t>
            </a:r>
            <a:r>
              <a:rPr lang="en-US" sz="2000" dirty="0">
                <a:solidFill>
                  <a:srgbClr val="14142B"/>
                </a:solidFill>
              </a:rPr>
              <a:t>/</a:t>
            </a:r>
            <a:r>
              <a:rPr lang="ko-KR" altLang="en-US" sz="2000" dirty="0">
                <a:solidFill>
                  <a:srgbClr val="1414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</a:t>
            </a:r>
            <a:r>
              <a:rPr lang="en-US" sz="2000" dirty="0">
                <a:solidFill>
                  <a:srgbClr val="14142B"/>
                </a:solidFill>
              </a:rPr>
              <a:t>)</a:t>
            </a:r>
            <a:endParaRPr lang="en-US" sz="2000" dirty="0"/>
          </a:p>
        </p:txBody>
      </p:sp>
      <p:sp>
        <p:nvSpPr>
          <p:cNvPr id="5" name="panel"/>
          <p:cNvSpPr/>
          <p:nvPr/>
        </p:nvSpPr>
        <p:spPr>
          <a:xfrm>
            <a:off x="8001000" y="1417320"/>
            <a:ext cx="3611880" cy="4480560"/>
          </a:xfrm>
          <a:prstGeom prst="roundRect">
            <a:avLst>
              <a:gd name="adj" fmla="val 6329"/>
            </a:avLst>
          </a:prstGeom>
          <a:solidFill>
            <a:srgbClr val="F1F0FE"/>
          </a:solidFill>
          <a:ln w="12700">
            <a:solidFill>
              <a:srgbClr val="F1F0FE"/>
            </a:solidFill>
            <a:prstDash val="solid"/>
          </a:ln>
        </p:spPr>
      </p:sp>
      <p:pic>
        <p:nvPicPr>
          <p:cNvPr id="6" name="sello" descr="C:/Users/Chingu/Desktop/ACADEMIASEULWEB/public/email/sello-azu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2926080"/>
            <a:ext cx="1508760" cy="1508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wrap="square">
            <a:normAutofit/>
          </a:bodyPr>
          <a:lstStyle>
            <a:lvl1pPr>
              <a:defRPr sz="1000">
                <a:solidFill>
                  <a:srgbClr val="8A8DA0"/>
                </a:solidFill>
              </a:defRPr>
            </a:lvl1pPr>
          </a:lstStyle>
          <a:p>
            <a:pPr algn="r" eaLnBrk="1"/>
            <a:fld id="{F7021451-1387-4CA6-816F-3879F97B5CBC}" type="slidenum">
              <a:rPr lang="en-US" b="0"/>
              <a:pPr algn="r" eaLnBrk="1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69164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1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 </a:t>
            </a:r>
            <a:r>
              <a:rPr lang="en-US" sz="3000" b="1" dirty="0">
                <a:solidFill>
                  <a:srgbClr val="FFFFFF"/>
                </a:solidFill>
              </a:rPr>
              <a:t>· </a:t>
            </a:r>
            <a:r>
              <a:rPr lang="ko-KR" alt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화이팅</a:t>
            </a:r>
            <a:r>
              <a:rPr lang="en-US" sz="3000" b="1" dirty="0">
                <a:solidFill>
                  <a:srgbClr val="FFFFFF"/>
                </a:solidFill>
              </a:rPr>
              <a:t>!  Gracias · ¡ánimo!</a:t>
            </a:r>
            <a:endParaRPr lang="en-US" sz="40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1463040" y="2971800"/>
            <a:ext cx="9262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 eaLnBrk="1">
              <a:buNone/>
            </a:pP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Alumnos: 안녕히 계세요</a:t>
            </a:r>
            <a:r>
              <a:rPr lang="en-US" sz="2200" dirty="0">
                <a:solidFill>
                  <a:srgbClr val="FFFFFF"/>
                </a:solidFill>
              </a:rPr>
              <a:t>! · Kiran: </a:t>
            </a:r>
            <a:r>
              <a:rPr lang="ko-KR" altLang="en-US" sz="2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안녕히 가세요</a:t>
            </a:r>
            <a:r>
              <a:rPr lang="en-US" sz="2200" dirty="0">
                <a:solidFill>
                  <a:srgbClr val="FFFFFF"/>
                </a:solidFill>
              </a:rPr>
              <a:t>!</a:t>
            </a:r>
            <a:endParaRPr lang="en-US" sz="2200" dirty="0"/>
          </a:p>
          <a:p>
            <a:pPr marL="0" indent="0" algn="ctr" eaLnBrk="1">
              <a:buNone/>
            </a:pPr>
            <a:r>
              <a:rPr lang="en-US" sz="2200" dirty="0">
                <a:solidFill>
                  <a:srgbClr val="FFFFFF"/>
                </a:solidFill>
              </a:rPr>
              <a:t>Nos vemos en la clase 8: mar 8 [por confirmar] / jue 10 dic, 20:00 (hora de Chile)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a Seul">
  <a:themeElements>
    <a:clrScheme name="Academia Seul">
      <a:dk1>
        <a:srgbClr val="14142B"/>
      </a:dk1>
      <a:lt1>
        <a:srgbClr val="FFFFFF"/>
      </a:lt1>
      <a:dk2>
        <a:srgbClr val="003478"/>
      </a:dk2>
      <a:lt2>
        <a:srgbClr val="F1F0FE"/>
      </a:lt2>
      <a:accent1>
        <a:srgbClr val="4236F6"/>
      </a:accent1>
      <a:accent2>
        <a:srgbClr val="E8B84B"/>
      </a:accent2>
      <a:accent3>
        <a:srgbClr val="003478"/>
      </a:accent3>
      <a:accent4>
        <a:srgbClr val="8A83FF"/>
      </a:accent4>
      <a:accent5>
        <a:srgbClr val="5C5F6B"/>
      </a:accent5>
      <a:accent6>
        <a:srgbClr val="B8962E"/>
      </a:accent6>
      <a:hlink>
        <a:srgbClr val="4236F6"/>
      </a:hlink>
      <a:folHlink>
        <a:srgbClr val="003478"/>
      </a:folHlink>
    </a:clrScheme>
    <a:fontScheme name="Academia Seu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6212</Words>
  <Application>Microsoft Office PowerPoint</Application>
  <PresentationFormat>Widescreen</PresentationFormat>
  <Paragraphs>478</Paragraphs>
  <Slides>33</Slides>
  <Notes>33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Malgun Gothic</vt:lpstr>
      <vt:lpstr>Arial</vt:lpstr>
      <vt:lpstr>Academia Seul</vt:lpstr>
      <vt:lpstr>Semana 7 · Mi pieza y mis verbos</vt:lpstr>
      <vt:lpstr>Quiz 6   Quiz 6</vt:lpstr>
      <vt:lpstr>Clave del quiz 6   Quiz 6 answer key</vt:lpstr>
      <vt:lpstr>Hoy vas a poder decir…   Today you will be able to say…</vt:lpstr>
      <vt:lpstr>La pieza de Kiran   Kiran's room</vt:lpstr>
      <vt:lpstr>있어요 · 없어요  Hay · no hay   There is · there isn't</vt:lpstr>
      <vt:lpstr>¿Hay o no hay?   Is there or isn't there?</vt:lpstr>
      <vt:lpstr>Hay / no hay: la fórmula   There is / there isn't: the formula</vt:lpstr>
      <vt:lpstr>“Está” y “hay”   “Is” and “there is”</vt:lpstr>
      <vt:lpstr>온돌  El piso tibio   The warm floor</vt:lpstr>
      <vt:lpstr>을/를 · la etiqueta del objeto   을/를 · the object tag</vt:lpstr>
      <vt:lpstr>¿Qué hago?   What am I doing?</vt:lpstr>
      <vt:lpstr>이/가 · 을/를  Las 2 preguntas   The 2 questions</vt:lpstr>
      <vt:lpstr>Vocales que se juntan   Vowels that merge</vt:lpstr>
      <vt:lpstr>써요 · 들어요  Formas fijas   Fixed forms</vt:lpstr>
      <vt:lpstr>Rueda de conjugación (1/2)   Conjugation wheel (1/2)</vt:lpstr>
      <vt:lpstr>Rueda de conjugación (2/2)   Conjugation wheel (2/2)</vt:lpstr>
      <vt:lpstr>Dictado de partículas (1/2)   Particle dictation (1/2)</vt:lpstr>
      <vt:lpstr>Dictado de partículas (2/2)   Particle dictation (2/2)</vt:lpstr>
      <vt:lpstr>Clave del dictado (1/2)   Dictation key (1/2)</vt:lpstr>
      <vt:lpstr>Clave del dictado (2/2)   Dictation key (2/2)</vt:lpstr>
      <vt:lpstr>은/는 · 이/가  Para reconocer: 은/는 y 이/가   To recognize: 은/는 and 이/가</vt:lpstr>
      <vt:lpstr>Salas · 19 minutos   Breakout rooms · 19 minutes</vt:lpstr>
      <vt:lpstr>Tarjeta del tour   Room tour card</vt:lpstr>
      <vt:lpstr>Mímica + minuto libre   Charades + free minute</vt:lpstr>
      <vt:lpstr>Errores del día   Mistakes of the day</vt:lpstr>
      <vt:lpstr>오늘의 문장  3 frases clave   3 key sentences</vt:lpstr>
      <vt:lpstr>좋아해요 / 안 좋아해요  Tarjeta de gustos   Likes card</vt:lpstr>
      <vt:lpstr>Tu guion final   Your final script</vt:lpstr>
      <vt:lpstr>Examen escrito en línea   Online written exam</vt:lpstr>
      <vt:lpstr>Sorteo   Draw</vt:lpstr>
      <vt:lpstr>Tarea de la semana   Homework</vt:lpstr>
      <vt:lpstr>감사합니다 · 화이팅!  Gracias · ¡ánimo!</vt:lpstr>
    </vt:vector>
  </TitlesOfParts>
  <Company>Academia Seúl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Básico 1 (A1.1) · Semana 7 · 방에 침대가 있어요 · Mi pieza y mis verbos</dc:title>
  <dc:subject>PptxGenJS Presentation</dc:subject>
  <dc:creator>Academia Seúl</dc:creator>
  <cp:lastModifiedBy>Jae Hee Kim</cp:lastModifiedBy>
  <cp:revision>2</cp:revision>
  <dcterms:created xsi:type="dcterms:W3CDTF">2026-10-16T10:02:32Z</dcterms:created>
  <dcterms:modified xsi:type="dcterms:W3CDTF">2026-10-16T10:03:34Z</dcterms:modified>
</cp:coreProperties>
</file>