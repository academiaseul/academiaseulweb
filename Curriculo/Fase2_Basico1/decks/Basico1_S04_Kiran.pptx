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4" id="{195217CF-FF05-DF61-6167-B8D3AA112C73}">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281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20:00–20:01. Graba desde el minuto 0 (Basico1-Martes_S04_2026-11-10 / Basico1-Jueves_S04_2026-11-12) y comparte la pantalla. Saluda: «안녕하세요!» «¡Bienvenidos a la semana 4: estamos en la mitad del curso!»
Fuente: S04 C.15 L1 · B 20:00 · C.2 · C.3 Bloque 0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20:01–20:05. «Quiz 3, como siempre: las cinco respuestas en un solo mensaje privado para mí, así: 1) ___ 2) ___ 3) ___ 4) ___ 5) ___. Escríbanlas, pero no aprieten Enter hasta que yo cuente.» Mientras escriben, carga las salas que armaste el día anterior (lector rápido + lector lento, según quizzes 1–2). «하나, 둘, 셋!» → envían (si el privado no funciona, a «Todos»). «하나, 둘, 셋 son números de hoy: ya los están usando.»
Imagen: incluida (dibujo de la casa).
Fuente: S04 C.15 L2 · C.14 Quiz 3 · C.3 Bloque 0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 después del envío; corrige en voz en 30 s. «잘했어요!» Si hay un error repetido, una frase: «빵 termina en 받침, por eso 빵이 아니에요.» El puntaje (1 por ítem, total 5) lo anotas después de clase desde el chat guardado: sirve para armar las salas de la S5.
Fuente: S04 C.15 L3 · C.14 Quiz 3 · C.3 Bloque 0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30 segundos. Lee las 5 frases sin explicarlas ni traducirlas (sin traducción en pantalla): «En 50 minutos van a poder decir todo esto. Por ahora, solo escuchen.»
Fuente: S04 C.15 L4 · §0 · C.3 paso 1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20:05–20:08 (con L6). «¿Alguien vio 응답하라 1988, Reply 1988? Les presento a 덕선 y a su familia.» Hablando como 덕선, con la mano en el pecho: «안녕하세요! 저는 덕선이에요. 우리 가족은 다섯 명이에요.» Señalando a cada uno, despacio: «우리 아빠예요. · 우리 엄마예요. · 우리 언니예요. · 우리 남동생이에요.» y «따라 하세요» → coro con cada uno. Si nadie conoce Reply 1988 o la imagen no carga, usa LB1 (familia Simpson).
Imagen: incluida (dibujo de la casa).
Fuente: S04 C.15 L5 · C.3 paso 2 · C.12b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Señalando a la mamá: «누구예요?» (→ «엄마예요!»); sigue con los demás en otro orden y el clic muestra la respuesta. «¿Qué significa 누구예요?» (→ ¿quién es?) «Exacto: 누구 es 'quién'. Y como 누구 termina en vocal, le sigue 예요.» Esta lámina vuelve a las 20:16–20:18 para la cadena: señalas, nombras a un alumno y responde como 덕선 («우리 언니예요.»), con 3 o 4 alumnos.
Imagen: incluida (dibujo de la casa).
Fuente: S04 C.15 L6 · C.3 pasos 2 y 7 · Base: Sesion_04b_Personas_Familia.pptx §4B.6 (sin romanización)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20:08–20:09:30. «¿Qué palabra se repite en todas las frases de 덕선? 우리. 우리 es 'nosotros, nuestro'. Pero 덕선 no comparte a su mamá con nosotros, ¿cierto? Con la familia, la casa y el país se dice 우리 donde en español decimos 'mi'.» Matiz en una línea: «우리 no quiere decir que tu mamá sea de todos: es la forma normal y cálida de hablar de lo tuyo que compartes con los tuyos. Con tus cosas personales, como tu celular, se usa otra palabra que veremos más adelante.» Nunca digas «decir mi mamá suena egoísta». Anécdota opcional (no es vocabulario): una mujer casada dice 우리 남편.
Fuente: S04 C.15 L7 · C.3 paso 3 · C.4 §1 · Base: Sesion_04b §4B.4 (corregir «우리 나라» → 우리나라)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20:09:30–20:11:30 (con 8b). «따라 하세요.» Una vez cada palabra y en coro: 가족 · 엄마 · 아빠 · 할머니 · 할아버지 · 언니 · 누나 · 오빠 · 형 · 동생 · 친구. Corrige en el momento solo tres cosas: 오빠/아빠 (tensas: «sin aire, la garganta apretada»), 형 («un soplo, no jota») y 언니 («boca abierta y relajada, no onni»). 할아버지 suena [하라버지]: se imita entera.
Imagen: incluida (dibujo de la casa).
Fuente: S04 C.15 L8 (partida en 8a/8b por el límite de 8 tarjetas) · C.3 paso 4 · A.1 · C.6 · Base: Sesion_04b §4B.5
Lámina 8a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동생 no tiene género y sirve para todos; 남동생 y 여동생, solo si quieren precisar. 친구 se presenta sin 우리: 친구예요. 강아지 y 고양이 son para la mascota de la foto (명 es solo para personas). Cuida la ㅇ final de 동생 (la n de «tengo», con la lengua atrás).
Fuente: S04 C.15 L8 · A.1 · C.5
Lámina 8b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20:11:30–20:13. «En español, 'hermano mayor' es igual para todo el mundo. En coreano, la palabra depende de quién habla.» Comprobación con 덕선: «덕선 es mujer: ¿cómo le dice a su hermana mayor, 보라?» (→ 언니) · «Y 노을, el hermano menor, ¿cómo le dice a 덕선?» (→ 누나) · «¿Y 보라 a 덕선?» (→ 동생). «Por eso escuchan tanto 오빠 y 언니 en los K-dramas: también se usan con amigos mayores cercanos.» Después pasa a la L11 y vuelve a la L10 para la práctica.
Fuente: S04 C.15 L9 · C.3 paso 5 · C.4 §2 · Base: Sesion_04b §4B.5
Lámina 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20:14–20:15:30. Por nombre y rápido: «Sofía: 다니엘 habla de su hermana mayor.» (→ 누나!) «잘했어요!» Los 6 ítems y 2 personalizados: «¿Y tú, tienes un hermano mayor? ¿Cómo le dices?» Si un hombre dice 오빠 o 언니: «¿Quién habla? Tú. ¿Eres hombre? → 형 / 누나». Si alguien pregunta según su identidad: la regla sigue a quien habla (la forma con la que se identifica), o puede presentar por el nombre.
Fuente: S04 C.15 L10 · C.14 ¿Quién lo dice? · C.3 paso 7 · C.4 §2 · C.5
Lámina 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20:13–20:14 (en el plan va antes de la L10). «Para señalar a alguien en la foto: con amigos o gente de tu edad, 이 사람. Con mayores, 이분, que es más respetuoso. ¿Y tu mamá? Ni una ni otra: la señalas y dices 우리 엄마예요! Decir 'esta persona' de tu propia mamá frente a la profe suena distante.» Con las 3 fotos: «이 사람은 카밀라예요. 친구예요. · 이분은 우리 할머니예요. · 우리 엄마예요!» Revisión nativa pendiente (D.1): también vas a oír 할머니세요 y 누구세요; en A1 se acepta 예요.
Imagen: incluida (dibujo de la casa).
Fuente: S04 C.15 L11 · C.3 paso 6 · C.4 §4 · A campo 7
Lámina 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20:15:30–20:16:30. «Escriban las 6 con 이에요 o 예요 y esperen la cuenta.» «하나, 둘, 셋!» → envían al chat. Pregunta de corrección: «¿termina en 받침?» (no des la respuesta). Errores típicos: 동생예요 / 형예요 (olvida el 받침 ㅇ) y 할아버지이에요 / 누구이에요 (sobrecorrige). La ㅇ final de 동생이에요 se queda en su sílaba, igual que en 빵이에요 de la S3.
Fuente: S04 C.15 L12 · C.14 이에요/예요 · C.3 paso 7 · C.5 · C.6
Lámina 12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20:18–20:19. «El coreano tiene dos maneras de contar. Hoy vemos entera la primera, la sino-coreana: la de los números que se leen, como los teléfonos y, en Básico 2, el dinero y las fechas.» «따라 하세요»: 일 a 십, dos veces, contando con los dedos. Corrige los finales: 일/칠/팔 con l, 삼 con los labios cerrados, 십 sin «i» final, 육 sin «u» final. «El cero del teléfono es 공; en matemáticas se dice 영, pero hoy nos basta 공.» Dato opcional (10 s): 사 suena igual que la palabra sino-coreana para «muerte»; por eso en algunos ascensores el piso 4 aparece como F.
Fuente: S04 C.15 L13 · C.3 paso 8 · C.6 · Base: Clase_Numeros_Fechas_Hora.pptx lámina 05 (sin 천, 만, 억, precios, buses ni pisos)
Lámina 13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20:19–20:21. «Los números se arman como LEGO. 십 es 10. 십일: 10 y 1, 11. 이십: dos dieces, 20. 이십칠: 2 × 10 + 7.» Por turnos: 15, 20, 31, 99, 100. Comprobación: «¿40?» (→ 사십) · «¿100?» (→ 백; no se dice 일백, ni 일십 para el 10). Diseño: la fila del 16 va en un recuadro azul. «El 16 es el rebelde: se escribe 십육 y suena [심뉵]. No expliquen la regla, imítenlo.» «따라 하세요. 십육. 다시 한번.»
Fuente: S04 C.15 L14 · C.3 paso 9 · C.4 §6 · Base: lámina 05 de números
Lámina 14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20:25–20:29. «Elijan 9 números de la lámina y dibujen un cartón de 3 × 3 en el cuaderno. 30 segundos.» Canta cada número dos veces, con pausa, en este orden: 십육 · 이십 · 칠 · 오십칠 · 백 · 삼십일 · 육십 · 십일 · 구십오 · 사십이 · 팔십팔 · 이십사. Ronda 2 (1 min): tres alumnos cantan uno de estos: 삼 · 십 · 십오 · 삼십팔 · 오십 · 육십구 · 칠십삼 · 팔십일. Si no hay 빙고 tras los 12, canta 2 de la ronda 2 hasta el primero. No uses el 27 ni el 84: van en el Quiz 4.
Fuente: S04 C.15 L15 · C.14 Bingo · C.3 paso 12 · C.12b
Lámina 15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20:21–20:22. «Los teléfonos se dicen dígito por dígito, no 'noventa y ocho, setenta y seis' como en español. Se hace una pausa entre grupos.» Modela los dos ejemplos. Vuelve a esta lámina para el dictado (20:29–20:30), en cifras en el chat: «구, 사이일일, 오오육이» → 9 4211 5562: «¡Es el WhatsApp de la academia!» Si hay tiempo: 공일공, 칠삼공구, 이사육팔 → 010-7309-2468. Si preguntan por el «에» que a veces se oye entre grupos: es 의 pronunciado [에]; no se enseña ni se exige.
Fuente: S04 C.15 L16 · C.3 pasos 10 y 13 · C.14 Dictado · C.4 §8 · Base: lámina 05 de números
Lámina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20:22–20:24 (después, 1 min de colchón). «Para contar personas se usa la otra manera, la nativa. Hoy solo del 1 al 5 y solo con 명. Ojo: delante de 명, cuatro de los números se acortan.» Contando a la familia de 덕선 con el dedo: «한 명, 두 명, 세 명, 네 명, 다섯 명. 우리 가족은 다섯 명이에요.» Coro: 하나 → 한 명 · 둘 → 두 명 · 셋 → 세 명 · 넷 → 네 명 · 다섯 → 다섯 명. Errores típicos: 사 명, 넷 명, 하나 명. A quien tenga más de 5 en casa, a pedido y sin evaluar: 여섯 명, 일곱 명, 여덟 명.
Fuente: S04 C.15 L17 · C.3 paso 11 · C.4 §6–7 · C.5 · Base: lámina 06 de números (sin 스물, sin nativos 6–100, sin otros contadores)
Lámina 17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20:30–20:31. Señalas un grupo: «몇 명이에요?» (solo reconocimiento: no se explica 몇). Cinco grupos, cinco alumnos distintos, por nombre; el clic muestra la respuesta. Si vas atrasada, esta lámina se salta y el «몇 명이에요?» pasa a las salas.
Imagen: incluida (dibujo de la casa).
Fuente: S04 C.15 L18 · C.14 ¿Cuántos son? · C.3 paso 14 · C.12
Lámina 18</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20:31–20:33. Demo de 4 líneas con un voluntario seguro: alumno «우리 가족은 네 명이에요.» → tú «누구예요?» → «우리 엄마예요!» → tú, señalando a otra persona, «누구예요?» → «이분은 우리 할아버지예요.» «Así. Después cambian. Dentro de la sala no van a ver este chat: abran su hoja ahora.» Pega la consigna en el chat y activa «Compartir pantalla: todos». 7 salas (6 pares + 1 trío), 19 min con cierre automático a las 20:52 y cuenta regresiva de 60 s; mensajes a las 20:43 («Ronda 2: 전화번호가 뭐예요?») y 20:48 (minuto libre).
Fuente: S04 C.15 L19 · C.3 Demo + consigna · C.7.2 · B 20:31–20:53 · Material del alumno §7
Lámina 19</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20:48–20:51. Mensaje a todas las salas: «Minuto libre: 누구예요? · 이게 뭐예요? — ¡sin cuaderno!» En cada sala (~2,5 min): escucha 30 s, corrige una sola cosa en coreano («다시 한번: 오빠») y hazle una pregunta a quien todavía no respondió, señalando un grupo de la foto que no sea la familia completa: «몇 명이에요?» o «누구예요?». A las 20:51: «Cerramos en 1 minuto. 잘했어요!» Anota los errores para el cierre.
Fuente: S04 C.15 L20 · B 20:48–20:53 · C.3 Salas · C.9
Lámina 20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(20:53–20:55): errores del día, 2–3 de tu lista y en positivo («Muchos dijeron 동생예요; con 받침 es 동생이에요. Todos: 동생이에요.»). 20:55–20:56: «Primero yo sola, ustedes en silencio; después ustedes.» Dices cada frase sola, despacio y sin ruido de fondo (de aquí sale el clip B1_S04_frases_clave.mp3) y el grupo repite. Dos vueltas. Letra grande.
Fuente: S04 C.15 L21 · §0 · C.3 Cierre
Lámina 21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20:56–20:58, 1,5 min. Las 3 partes de la tarea; la tarjeta de lectura de control («estas 5 palabras las leen al inicio del audio, antes de presentar a su familia»); y qué reciben de mitad de curso: la guía de estudio en el grupo y tu comentario de 3 líneas por privado. Diles el día acordado [propuesta: domingo 15 de noviembre; confirmar con Kiran]; si Jay eligió la salida (b): «si me mandan el audio antes del sábado 14 a las 20:00, lo incluyo en su comentario». «La clase 5 abre con el Quiz 4: números y familia.» En el Lector, la romanización bajo los números se tapa con el dedo.
Fuente: S04 C.15 L22 · A campos 13, 14 y 17 · C.3 Cierre · C.13 · Material del alumno §9
Lámina 22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 los alumnos: «감사합니다! 안녕히 계세요!» → tú: «안녕히 가세요! 화이팅!» Termina la reunión a las 20:58 en punto: a las 21:00 empieza otra clase en la misma cuenta.
Fuente: S04 C.15 L23 · C.3 Cierre
Lámina 23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C.11-B (2 min) o si el grupo no conoce Reply 1988 (con las mismas frases: 우리 아빠예요…). Adivinanzas: «우리 동생은 매기예요. 우리 오빠는 바트예요. 저는 누구예요?» (→ 리사예요!) · «우리 동생은 리사예요. 저는 누구예요?» (→ 바트예요!) · «우리 언니는 리사예요. 저는 누구예요?» (→ 매기예요!). Después, dos alumnos inventan una adivinanza con una familia famosa.
Imagen pendiente: Dejar la lámina sin imagen: la familia Simpson tiene derechos (Disney / 20th Television), no existen imágenes con licencia libre y la tabla con los nombres en 한글 basta, porque todos la conocen. No dibujarla, ni pegar capturas, fan art o fotos de prensa en el deck.
Fuente: S04 C.15 LB1 · C.11-B · C.12b
Lámina LB1</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quien no trajo foto o no quiere mostrarla: esta lámina, un dibujo de palitos con nombres hecho en 1 minuto o la foto de 덕선 (L5). Nunca le pidas explicación. Si la familia es un tema delicado para alguien (un duelo, una separación, una adopción), vale cualquier grupo (amigos, mascota, famosos), no preguntes por quién falta ni corrijas el número de personas; si algo pasa en la sala, cambia de tema con 이게 뭐예요?
Imagen: incluida (dibujo de la casa).
Fuente: S04 C.15 LB2 · C.12b
Lámina LB2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C.11-A (3 min), si sobra tiempo en la sala principal; también sirve de extensión en pares para salas que terminan antes. Es un juego de grupo muy conocido en Corea (en fiestas, paseos de la universidad y en el recreo). El orden es la lista de participantes de Zoom. «El récord del grupo del martes fue ___: ¡supérenlo!» (anótalo y úsalo el jueves).
Fuente: S04 C.15 LB3 · C.11-A · C.10
Lámina LB3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1 (A1.1) · Semana 4 · Kiran (기란)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1 (A1.1) · Semana 4 · Kiran (기란)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1 (A1.1) · Semana 4 · Kiran (기란)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audio" Target="../media/media4.mp3"/><Relationship Id="rId13" Type="http://schemas.microsoft.com/office/2007/relationships/media" Target="../media/media7.mp3"/><Relationship Id="rId18" Type="http://schemas.openxmlformats.org/officeDocument/2006/relationships/notesSlide" Target="../notesSlides/notesSlide8.xml"/><Relationship Id="rId26" Type="http://schemas.openxmlformats.org/officeDocument/2006/relationships/image" Target="../media/image13.png"/><Relationship Id="rId3" Type="http://schemas.microsoft.com/office/2007/relationships/media" Target="../media/media2.mp3"/><Relationship Id="rId21" Type="http://schemas.openxmlformats.org/officeDocument/2006/relationships/image" Target="../media/image8.png"/><Relationship Id="rId7" Type="http://schemas.microsoft.com/office/2007/relationships/media" Target="../media/media4.mp3"/><Relationship Id="rId12" Type="http://schemas.openxmlformats.org/officeDocument/2006/relationships/audio" Target="../media/media6.mp3"/><Relationship Id="rId17" Type="http://schemas.openxmlformats.org/officeDocument/2006/relationships/slideLayout" Target="../slideLayouts/slideLayout3.xml"/><Relationship Id="rId25" Type="http://schemas.openxmlformats.org/officeDocument/2006/relationships/image" Target="../media/image12.png"/><Relationship Id="rId2" Type="http://schemas.openxmlformats.org/officeDocument/2006/relationships/audio" Target="../media/media1.mp3"/><Relationship Id="rId16" Type="http://schemas.openxmlformats.org/officeDocument/2006/relationships/audio" Target="../media/media8.mp3"/><Relationship Id="rId20" Type="http://schemas.openxmlformats.org/officeDocument/2006/relationships/image" Target="../media/image7.png"/><Relationship Id="rId1" Type="http://schemas.microsoft.com/office/2007/relationships/media" Target="../media/media1.mp3"/><Relationship Id="rId6" Type="http://schemas.openxmlformats.org/officeDocument/2006/relationships/audio" Target="../media/media3.mp3"/><Relationship Id="rId11" Type="http://schemas.microsoft.com/office/2007/relationships/media" Target="../media/media6.mp3"/><Relationship Id="rId24" Type="http://schemas.openxmlformats.org/officeDocument/2006/relationships/image" Target="../media/image11.png"/><Relationship Id="rId5" Type="http://schemas.microsoft.com/office/2007/relationships/media" Target="../media/media3.mp3"/><Relationship Id="rId15" Type="http://schemas.microsoft.com/office/2007/relationships/media" Target="../media/media8.mp3"/><Relationship Id="rId23" Type="http://schemas.openxmlformats.org/officeDocument/2006/relationships/image" Target="../media/image10.png"/><Relationship Id="rId10" Type="http://schemas.openxmlformats.org/officeDocument/2006/relationships/audio" Target="../media/media5.mp3"/><Relationship Id="rId19" Type="http://schemas.openxmlformats.org/officeDocument/2006/relationships/image" Target="../media/image6.png"/><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audio" Target="../media/media7.mp3"/><Relationship Id="rId22" Type="http://schemas.openxmlformats.org/officeDocument/2006/relationships/image" Target="../media/image9.png"/><Relationship Id="rId27"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audio" Target="../media/media12.mp3"/><Relationship Id="rId13" Type="http://schemas.microsoft.com/office/2007/relationships/media" Target="../media/media15.mp3"/><Relationship Id="rId18" Type="http://schemas.openxmlformats.org/officeDocument/2006/relationships/image" Target="../media/image7.png"/><Relationship Id="rId3" Type="http://schemas.microsoft.com/office/2007/relationships/media" Target="../media/media10.mp3"/><Relationship Id="rId21" Type="http://schemas.openxmlformats.org/officeDocument/2006/relationships/image" Target="../media/image18.png"/><Relationship Id="rId7" Type="http://schemas.microsoft.com/office/2007/relationships/media" Target="../media/media12.mp3"/><Relationship Id="rId12" Type="http://schemas.openxmlformats.org/officeDocument/2006/relationships/audio" Target="../media/media14.mp3"/><Relationship Id="rId17" Type="http://schemas.openxmlformats.org/officeDocument/2006/relationships/image" Target="../media/image15.png"/><Relationship Id="rId2" Type="http://schemas.openxmlformats.org/officeDocument/2006/relationships/audio" Target="../media/media9.mp3"/><Relationship Id="rId16" Type="http://schemas.openxmlformats.org/officeDocument/2006/relationships/notesSlide" Target="../notesSlides/notesSlide9.xml"/><Relationship Id="rId20" Type="http://schemas.openxmlformats.org/officeDocument/2006/relationships/image" Target="../media/image17.png"/><Relationship Id="rId1" Type="http://schemas.microsoft.com/office/2007/relationships/media" Target="../media/media9.mp3"/><Relationship Id="rId6" Type="http://schemas.openxmlformats.org/officeDocument/2006/relationships/audio" Target="../media/media11.mp3"/><Relationship Id="rId11" Type="http://schemas.microsoft.com/office/2007/relationships/media" Target="../media/media14.mp3"/><Relationship Id="rId24" Type="http://schemas.openxmlformats.org/officeDocument/2006/relationships/image" Target="../media/image21.png"/><Relationship Id="rId5" Type="http://schemas.microsoft.com/office/2007/relationships/media" Target="../media/media11.mp3"/><Relationship Id="rId15" Type="http://schemas.openxmlformats.org/officeDocument/2006/relationships/slideLayout" Target="../slideLayouts/slideLayout3.xml"/><Relationship Id="rId23" Type="http://schemas.openxmlformats.org/officeDocument/2006/relationships/image" Target="../media/image20.png"/><Relationship Id="rId10" Type="http://schemas.openxmlformats.org/officeDocument/2006/relationships/audio" Target="../media/media13.mp3"/><Relationship Id="rId19" Type="http://schemas.openxmlformats.org/officeDocument/2006/relationships/image" Target="../media/image16.png"/><Relationship Id="rId4" Type="http://schemas.openxmlformats.org/officeDocument/2006/relationships/audio" Target="../media/media10.mp3"/><Relationship Id="rId9" Type="http://schemas.microsoft.com/office/2007/relationships/media" Target="../media/media13.mp3"/><Relationship Id="rId14" Type="http://schemas.openxmlformats.org/officeDocument/2006/relationships/audio" Target="../media/media15.mp3"/><Relationship Id="rId22"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우리 엄마예요</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Semana 4 · Mi familia</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Básico 1 (A1.1) · Lección 4 del libro · Kiran (기란</a:t>
            </a:r>
            <a:r>
              <a:rPr lang="en-US" sz="2200" dirty="0">
                <a:solidFill>
                  <a:srgbClr val="E8B84B"/>
                </a:solidFill>
              </a:rPr>
              <a:t>) · mar 10 / jue 12 nov</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Quiz 3</a:t>
            </a:r>
            <a:r>
              <a:rPr lang="en-US" sz="1500" b="1" i="1" dirty="0">
                <a:solidFill>
                  <a:srgbClr val="8A8DA0"/>
                </a:solidFill>
              </a:rPr>
              <a:t>   Quiz 3</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Un solo mensaje privado a Kiran: 1) … 5) … Espera: 하나</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둘</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셋 </a:t>
            </a:r>
            <a:r>
              <a:rPr lang="en-US" sz="1800" i="1" dirty="0">
                <a:solidFill>
                  <a:srgbClr val="4236F6"/>
                </a:solidFill>
              </a:rPr>
              <a:t>→ Enter</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1 · (flecha ①) ___ 컵이에요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2 · (flecha ②) ___ 뭐예요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3 · 빵</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아니에요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4 · 우유</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아니에요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5 · Escribe en 한글</a:t>
            </a:r>
            <a:r>
              <a:rPr lang="en-US" sz="2400" dirty="0">
                <a:solidFill>
                  <a:srgbClr val="14142B"/>
                </a:solidFill>
              </a:rPr>
              <a:t>: lápiz</a:t>
            </a:r>
            <a:endParaRPr lang="en-US" sz="24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de00d0c2c8ab954e.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Quiz 3 · respuestas</a:t>
            </a:r>
            <a:r>
              <a:rPr lang="en-US" sz="1500" b="1" i="1" dirty="0">
                <a:solidFill>
                  <a:srgbClr val="8A8DA0"/>
                </a:solidFill>
              </a:rPr>
              <a:t>   Quiz 3 · answers</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Revisa tus 5 respuestas.</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5285232" cy="738835"/>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___ 컵이에요</a:t>
            </a:r>
            <a:r>
              <a:rPr lang="en-US" sz="2300" dirty="0">
                <a:solidFill>
                  <a:srgbClr val="14142B"/>
                </a:solidFill>
              </a:rPr>
              <a:t>? (la taza del alumno)</a:t>
            </a:r>
            <a:endParaRPr lang="en-US" sz="2300" dirty="0"/>
          </a:p>
        </p:txBody>
      </p:sp>
      <p:sp>
        <p:nvSpPr>
          <p:cNvPr id="7" name="rev_0_caja"/>
          <p:cNvSpPr/>
          <p:nvPr/>
        </p:nvSpPr>
        <p:spPr>
          <a:xfrm>
            <a:off x="6702552" y="2002536"/>
            <a:ext cx="4937760" cy="665683"/>
          </a:xfrm>
          <a:prstGeom prst="roundRect">
            <a:avLst>
              <a:gd name="adj" fmla="val 16484"/>
            </a:avLst>
          </a:prstGeom>
          <a:solidFill>
            <a:srgbClr val="4236F6"/>
          </a:solidFill>
          <a:ln w="12700">
            <a:solidFill>
              <a:srgbClr val="4236F6"/>
            </a:solidFill>
            <a:prstDash val="solid"/>
          </a:ln>
        </p:spPr>
      </p:sp>
      <p:sp>
        <p:nvSpPr>
          <p:cNvPr id="8" name="rev_0_txt"/>
          <p:cNvSpPr txBox="1"/>
          <p:nvPr/>
        </p:nvSpPr>
        <p:spPr>
          <a:xfrm>
            <a:off x="6793992" y="2002536"/>
            <a:ext cx="4754880" cy="665683"/>
          </a:xfrm>
          <a:prstGeom prst="rect">
            <a:avLst/>
          </a:prstGeom>
          <a:noFill/>
          <a:ln/>
        </p:spPr>
        <p:txBody>
          <a:bodyPr wrap="square" lIns="0" tIns="0" rIns="0" bIns="0" rtlCol="0" anchor="ctr">
            <a:normAutofit/>
          </a:bodyPr>
          <a:lstStyle/>
          <a:p>
            <a:pPr marL="0" indent="0" algn="ctr" eaLnBrk="1">
              <a:buNone/>
            </a:pPr>
            <a:r>
              <a:rPr lang="ko-KR" altLang="en-US" sz="2100" b="1" dirty="0">
                <a:solidFill>
                  <a:srgbClr val="FFFFFF"/>
                </a:solidFill>
                <a:latin typeface="Malgun Gothic" pitchFamily="34" charset="0"/>
                <a:ea typeface="Malgun Gothic" pitchFamily="34" charset="-122"/>
                <a:cs typeface="Malgun Gothic" pitchFamily="34" charset="-120"/>
              </a:rPr>
              <a:t>그거 </a:t>
            </a:r>
            <a:r>
              <a:rPr lang="en-US" sz="2100" b="1" dirty="0">
                <a:solidFill>
                  <a:srgbClr val="FFFFFF"/>
                </a:solidFill>
              </a:rPr>
              <a:t>(cerca de quien escucha)</a:t>
            </a:r>
            <a:endParaRPr lang="en-US" sz="21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5285232" cy="738835"/>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___ 뭐예요</a:t>
            </a:r>
            <a:r>
              <a:rPr lang="en-US" sz="2300" dirty="0">
                <a:solidFill>
                  <a:srgbClr val="14142B"/>
                </a:solidFill>
              </a:rPr>
              <a:t>? (el reloj de la pared)</a:t>
            </a:r>
            <a:endParaRPr lang="en-US" sz="2300" dirty="0"/>
          </a:p>
        </p:txBody>
      </p:sp>
      <p:sp>
        <p:nvSpPr>
          <p:cNvPr id="12" name="rev_1_caja"/>
          <p:cNvSpPr/>
          <p:nvPr/>
        </p:nvSpPr>
        <p:spPr>
          <a:xfrm>
            <a:off x="6702552" y="2869387"/>
            <a:ext cx="4937760" cy="665683"/>
          </a:xfrm>
          <a:prstGeom prst="roundRect">
            <a:avLst>
              <a:gd name="adj" fmla="val 16484"/>
            </a:avLst>
          </a:prstGeom>
          <a:solidFill>
            <a:srgbClr val="4236F6"/>
          </a:solidFill>
          <a:ln w="12700">
            <a:solidFill>
              <a:srgbClr val="4236F6"/>
            </a:solidFill>
            <a:prstDash val="solid"/>
          </a:ln>
        </p:spPr>
      </p:sp>
      <p:sp>
        <p:nvSpPr>
          <p:cNvPr id="13" name="rev_1_txt"/>
          <p:cNvSpPr txBox="1"/>
          <p:nvPr/>
        </p:nvSpPr>
        <p:spPr>
          <a:xfrm>
            <a:off x="6793992" y="2869387"/>
            <a:ext cx="4754880" cy="665683"/>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FFFFFF"/>
                </a:solidFill>
                <a:latin typeface="Malgun Gothic" pitchFamily="34" charset="0"/>
                <a:ea typeface="Malgun Gothic" pitchFamily="34" charset="-122"/>
                <a:cs typeface="Malgun Gothic" pitchFamily="34" charset="-120"/>
              </a:rPr>
              <a:t>저게 </a:t>
            </a:r>
            <a:r>
              <a:rPr lang="en-US" sz="1600" b="1" dirty="0">
                <a:solidFill>
                  <a:srgbClr val="FFFFFF"/>
                </a:solidFill>
              </a:rPr>
              <a:t>(se acepta </a:t>
            </a:r>
            <a:r>
              <a:rPr lang="ko-KR" altLang="en-US" sz="1600" b="1" dirty="0">
                <a:solidFill>
                  <a:srgbClr val="FFFFFF"/>
                </a:solidFill>
                <a:latin typeface="Malgun Gothic" pitchFamily="34" charset="0"/>
                <a:ea typeface="Malgun Gothic" pitchFamily="34" charset="-122"/>
                <a:cs typeface="Malgun Gothic" pitchFamily="34" charset="-120"/>
              </a:rPr>
              <a:t>저거</a:t>
            </a:r>
            <a:r>
              <a:rPr lang="en-US" sz="1600" b="1" dirty="0">
                <a:solidFill>
                  <a:srgbClr val="FFFFFF"/>
                </a:solidFill>
              </a:rPr>
              <a:t>: lejos de los dos)</a:t>
            </a:r>
            <a:endParaRPr lang="en-US" sz="16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빵</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아니에요</a:t>
            </a:r>
            <a:r>
              <a:rPr lang="en-US" sz="2400" dirty="0">
                <a:solidFill>
                  <a:srgbClr val="14142B"/>
                </a:solidFill>
              </a:rPr>
              <a:t>.</a:t>
            </a:r>
            <a:endParaRPr lang="en-US" sz="2400" dirty="0"/>
          </a:p>
        </p:txBody>
      </p:sp>
      <p:sp>
        <p:nvSpPr>
          <p:cNvPr id="17" name="rev_2_caja"/>
          <p:cNvSpPr/>
          <p:nvPr/>
        </p:nvSpPr>
        <p:spPr>
          <a:xfrm>
            <a:off x="6702552" y="3736238"/>
            <a:ext cx="4937760" cy="665683"/>
          </a:xfrm>
          <a:prstGeom prst="roundRect">
            <a:avLst>
              <a:gd name="adj" fmla="val 16484"/>
            </a:avLst>
          </a:prstGeom>
          <a:solidFill>
            <a:srgbClr val="4236F6"/>
          </a:solidFill>
          <a:ln w="12700">
            <a:solidFill>
              <a:srgbClr val="4236F6"/>
            </a:solidFill>
            <a:prstDash val="solid"/>
          </a:ln>
        </p:spPr>
      </p:sp>
      <p:sp>
        <p:nvSpPr>
          <p:cNvPr id="18" name="rev_2_txt"/>
          <p:cNvSpPr txBox="1"/>
          <p:nvPr/>
        </p:nvSpPr>
        <p:spPr>
          <a:xfrm>
            <a:off x="6793992" y="3736238"/>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이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빵 </a:t>
            </a:r>
            <a:r>
              <a:rPr lang="en-US" sz="2200" b="1" dirty="0">
                <a:solidFill>
                  <a:srgbClr val="FFFFFF"/>
                </a:solidFill>
              </a:rPr>
              <a:t>tiene </a:t>
            </a:r>
            <a:r>
              <a:rPr lang="ko-KR" altLang="en-US" sz="2200" b="1" dirty="0">
                <a:solidFill>
                  <a:srgbClr val="FFFFFF"/>
                </a:solidFill>
                <a:latin typeface="Malgun Gothic" pitchFamily="34" charset="0"/>
                <a:ea typeface="Malgun Gothic" pitchFamily="34" charset="-122"/>
                <a:cs typeface="Malgun Gothic" pitchFamily="34" charset="-120"/>
              </a:rPr>
              <a:t>받침</a:t>
            </a:r>
            <a:r>
              <a:rPr lang="en-US" sz="2200" b="1" dirty="0">
                <a:solidFill>
                  <a:srgbClr val="FFFFFF"/>
                </a:solidFill>
              </a:rPr>
              <a:t>)</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우유</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아니에요</a:t>
            </a:r>
            <a:r>
              <a:rPr lang="en-US" sz="2400" dirty="0">
                <a:solidFill>
                  <a:srgbClr val="14142B"/>
                </a:solidFill>
              </a:rPr>
              <a:t>.</a:t>
            </a:r>
            <a:endParaRPr lang="en-US" sz="2400" dirty="0"/>
          </a:p>
        </p:txBody>
      </p:sp>
      <p:sp>
        <p:nvSpPr>
          <p:cNvPr id="22" name="rev_3_caja"/>
          <p:cNvSpPr/>
          <p:nvPr/>
        </p:nvSpPr>
        <p:spPr>
          <a:xfrm>
            <a:off x="6702552" y="4603090"/>
            <a:ext cx="4937760" cy="665683"/>
          </a:xfrm>
          <a:prstGeom prst="roundRect">
            <a:avLst>
              <a:gd name="adj" fmla="val 16484"/>
            </a:avLst>
          </a:prstGeom>
          <a:solidFill>
            <a:srgbClr val="4236F6"/>
          </a:solidFill>
          <a:ln w="12700">
            <a:solidFill>
              <a:srgbClr val="4236F6"/>
            </a:solidFill>
            <a:prstDash val="solid"/>
          </a:ln>
        </p:spPr>
      </p:sp>
      <p:sp>
        <p:nvSpPr>
          <p:cNvPr id="23" name="rev_3_txt"/>
          <p:cNvSpPr txBox="1"/>
          <p:nvPr/>
        </p:nvSpPr>
        <p:spPr>
          <a:xfrm>
            <a:off x="6793992" y="4603090"/>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가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우유 </a:t>
            </a:r>
            <a:r>
              <a:rPr lang="en-US" sz="2200" b="1" dirty="0">
                <a:solidFill>
                  <a:srgbClr val="FFFFFF"/>
                </a:solidFill>
              </a:rPr>
              <a:t>termina en vocal)</a:t>
            </a:r>
            <a:endParaRPr lang="en-US" sz="22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Escribe en 한글</a:t>
            </a:r>
            <a:r>
              <a:rPr lang="en-US" sz="2400" dirty="0">
                <a:solidFill>
                  <a:srgbClr val="14142B"/>
                </a:solidFill>
              </a:rPr>
              <a:t>: lápiz</a:t>
            </a:r>
            <a:endParaRPr lang="en-US" sz="2400" dirty="0"/>
          </a:p>
        </p:txBody>
      </p:sp>
      <p:sp>
        <p:nvSpPr>
          <p:cNvPr id="27" name="rev_4_caja"/>
          <p:cNvSpPr/>
          <p:nvPr/>
        </p:nvSpPr>
        <p:spPr>
          <a:xfrm>
            <a:off x="6702552" y="5469941"/>
            <a:ext cx="4937760" cy="665683"/>
          </a:xfrm>
          <a:prstGeom prst="roundRect">
            <a:avLst>
              <a:gd name="adj" fmla="val 16484"/>
            </a:avLst>
          </a:prstGeom>
          <a:solidFill>
            <a:srgbClr val="4236F6"/>
          </a:solidFill>
          <a:ln w="12700">
            <a:solidFill>
              <a:srgbClr val="4236F6"/>
            </a:solidFill>
            <a:prstDash val="solid"/>
          </a:ln>
        </p:spPr>
      </p:sp>
      <p:sp>
        <p:nvSpPr>
          <p:cNvPr id="28" name="rev_4_txt"/>
          <p:cNvSpPr txBox="1"/>
          <p:nvPr/>
        </p:nvSpPr>
        <p:spPr>
          <a:xfrm>
            <a:off x="6793992" y="5469941"/>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연필</a:t>
            </a:r>
            <a:endParaRPr lang="en-US" sz="22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Hoy vas a poder decir…</a:t>
            </a:r>
            <a:r>
              <a:rPr lang="en-US" sz="1500" b="1" i="1" dirty="0">
                <a:solidFill>
                  <a:srgbClr val="8A8DA0"/>
                </a:solidFill>
              </a:rPr>
              <a:t>   Today you will be able to say…</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우리 가족은 네 명이에요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누구예요</a:t>
            </a:r>
            <a:r>
              <a:rPr lang="en-US" sz="2400" dirty="0">
                <a:solidFill>
                  <a:srgbClr val="14142B"/>
                </a:solidFill>
              </a:rPr>
              <a:t>? — </a:t>
            </a:r>
            <a:r>
              <a:rPr lang="ko-KR" altLang="en-US" sz="2400" dirty="0">
                <a:solidFill>
                  <a:srgbClr val="14142B"/>
                </a:solidFill>
                <a:latin typeface="Malgun Gothic" pitchFamily="34" charset="0"/>
                <a:ea typeface="Malgun Gothic" pitchFamily="34" charset="-122"/>
                <a:cs typeface="Malgun Gothic" pitchFamily="34" charset="-120"/>
              </a:rPr>
              <a:t>우리 언니예요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우리 엄마예요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이분은 우리 할머니예요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전화번호는 구</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일이삼사</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오육칠팔이에요</a:t>
            </a:r>
            <a:r>
              <a:rPr lang="en-US" sz="2400" dirty="0">
                <a:solidFill>
                  <a:srgbClr val="14142B"/>
                </a:solidFill>
              </a:rPr>
              <a:t>.</a:t>
            </a:r>
            <a:endParaRPr lang="en-US" sz="24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저는 덕선이에요  </a:t>
            </a:r>
            <a:r>
              <a:rPr lang="ko-KR" altLang="en-US" sz="3000" b="1" dirty="0">
                <a:solidFill>
                  <a:srgbClr val="003478"/>
                </a:solidFill>
                <a:latin typeface="Malgun Gothic" pitchFamily="34" charset="0"/>
                <a:ea typeface="Malgun Gothic" pitchFamily="34" charset="-122"/>
                <a:cs typeface="Malgun Gothic" pitchFamily="34" charset="-120"/>
              </a:rPr>
              <a:t>Soy 덕선</a:t>
            </a:r>
            <a:r>
              <a:rPr lang="en-US" sz="1500" b="1" i="1" dirty="0">
                <a:solidFill>
                  <a:srgbClr val="8A8DA0"/>
                </a:solidFill>
              </a:rPr>
              <a:t>   I'm Deok-seon</a:t>
            </a:r>
            <a:endParaRPr lang="en-US" sz="3000" dirty="0"/>
          </a:p>
        </p:txBody>
      </p:sp>
      <p:pic>
        <p:nvPicPr>
          <p:cNvPr id="3" name="imagen" descr="C:\Users\Chingu\AppData\Local\Temp\claude\C--Users-Chingu-Desktop-ACADEMIASEULWEB\d4111e1b-5523-44ea-97b2-b1a1d9545b9e\scratchpad\decks\cache\img_d33e2db89b71c50a.png"/>
          <p:cNvPicPr>
            <a:picLocks noChangeAspect="1"/>
          </p:cNvPicPr>
          <p:nvPr/>
        </p:nvPicPr>
        <p:blipFill>
          <a:blip r:embed="rId3"/>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우리 가족은</a:t>
            </a:r>
            <a:endParaRPr lang="en-US" sz="5700" dirty="0"/>
          </a:p>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다섯 명이에요</a:t>
            </a:r>
            <a:r>
              <a:rPr lang="en-US" sz="5700" b="1" dirty="0">
                <a:solidFill>
                  <a:srgbClr val="4236F6"/>
                </a:solidFill>
              </a:rPr>
              <a:t>.</a:t>
            </a:r>
            <a:endParaRPr lang="en-US" sz="57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En mi familia somos cinco.</a:t>
            </a:r>
            <a:endParaRPr lang="en-US" sz="2400" dirty="0"/>
          </a:p>
        </p:txBody>
      </p:sp>
      <p:sp>
        <p:nvSpPr>
          <p:cNvPr id="7" name="lista"/>
          <p:cNvSpPr txBox="1"/>
          <p:nvPr/>
        </p:nvSpPr>
        <p:spPr>
          <a:xfrm>
            <a:off x="548640" y="4937760"/>
            <a:ext cx="693115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아빠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엄마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언니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덕선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남동생</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누구예요</a:t>
            </a:r>
            <a:r>
              <a:rPr lang="en-US" sz="3000" b="1" dirty="0">
                <a:solidFill>
                  <a:srgbClr val="4236F6"/>
                </a:solidFill>
              </a:rPr>
              <a:t>?  </a:t>
            </a:r>
            <a:r>
              <a:rPr lang="en-US" sz="3000" b="1" dirty="0">
                <a:solidFill>
                  <a:srgbClr val="003478"/>
                </a:solidFill>
              </a:rPr>
              <a:t>¿Quién es?</a:t>
            </a:r>
            <a:r>
              <a:rPr lang="en-US" sz="1500" b="1" i="1" dirty="0">
                <a:solidFill>
                  <a:srgbClr val="8A8DA0"/>
                </a:solidFill>
              </a:rPr>
              <a:t>   Who is it?</a:t>
            </a:r>
            <a:endParaRPr lang="en-US" sz="3000" dirty="0"/>
          </a:p>
        </p:txBody>
      </p:sp>
      <p:pic>
        <p:nvPicPr>
          <p:cNvPr id="3" name="imagen" descr="C:\Users\Chingu\AppData\Local\Temp\claude\C--Users-Chingu-Desktop-ACADEMIASEULWEB\d4111e1b-5523-44ea-97b2-b1a1d9545b9e\scratchpad\decks\cache\img_e838933691b201b3.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Kiran señala: 누구예요</a:t>
            </a:r>
            <a:r>
              <a:rPr lang="en-US" sz="1800" i="1" dirty="0">
                <a:solidFill>
                  <a:srgbClr val="4236F6"/>
                </a:solidFill>
              </a:rPr>
              <a:t>?</a:t>
            </a:r>
            <a:endParaRPr lang="en-US" sz="1800" dirty="0"/>
          </a:p>
        </p:txBody>
      </p:sp>
      <p:sp>
        <p:nvSpPr>
          <p:cNvPr id="5"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6"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7" name="Text 4"/>
          <p:cNvSpPr txBox="1"/>
          <p:nvPr/>
        </p:nvSpPr>
        <p:spPr>
          <a:xfrm>
            <a:off x="1188720" y="1965960"/>
            <a:ext cx="2735519"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(el papá) 누구예요</a:t>
            </a:r>
            <a:r>
              <a:rPr lang="en-US" sz="2400" dirty="0">
                <a:solidFill>
                  <a:srgbClr val="14142B"/>
                </a:solidFill>
              </a:rPr>
              <a:t>?</a:t>
            </a:r>
            <a:endParaRPr lang="en-US" sz="2400" dirty="0"/>
          </a:p>
        </p:txBody>
      </p:sp>
      <p:sp>
        <p:nvSpPr>
          <p:cNvPr id="8" name="rev_5_caja"/>
          <p:cNvSpPr/>
          <p:nvPr/>
        </p:nvSpPr>
        <p:spPr>
          <a:xfrm>
            <a:off x="4152839" y="2002536"/>
            <a:ext cx="3326953" cy="795528"/>
          </a:xfrm>
          <a:prstGeom prst="roundRect">
            <a:avLst>
              <a:gd name="adj" fmla="val 13793"/>
            </a:avLst>
          </a:prstGeom>
          <a:solidFill>
            <a:srgbClr val="4236F6"/>
          </a:solidFill>
          <a:ln w="12700">
            <a:solidFill>
              <a:srgbClr val="4236F6"/>
            </a:solidFill>
            <a:prstDash val="solid"/>
          </a:ln>
        </p:spPr>
      </p:sp>
      <p:sp>
        <p:nvSpPr>
          <p:cNvPr id="9" name="rev_5_txt"/>
          <p:cNvSpPr txBox="1"/>
          <p:nvPr/>
        </p:nvSpPr>
        <p:spPr>
          <a:xfrm>
            <a:off x="4244279" y="2002536"/>
            <a:ext cx="3144073"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우리 아빠예요</a:t>
            </a:r>
            <a:r>
              <a:rPr lang="en-US" sz="2200" b="1" dirty="0">
                <a:solidFill>
                  <a:srgbClr val="FFFFFF"/>
                </a:solidFill>
              </a:rPr>
              <a:t>.</a:t>
            </a:r>
            <a:endParaRPr lang="en-US" sz="2200" dirty="0"/>
          </a:p>
        </p:txBody>
      </p:sp>
      <p:sp>
        <p:nvSpPr>
          <p:cNvPr id="10"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1"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2" name="Text 9"/>
          <p:cNvSpPr txBox="1"/>
          <p:nvPr/>
        </p:nvSpPr>
        <p:spPr>
          <a:xfrm>
            <a:off x="1188720" y="2962656"/>
            <a:ext cx="2735519"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(la mamá) 누구예요</a:t>
            </a:r>
            <a:r>
              <a:rPr lang="en-US" sz="2400" dirty="0">
                <a:solidFill>
                  <a:srgbClr val="14142B"/>
                </a:solidFill>
              </a:rPr>
              <a:t>?</a:t>
            </a:r>
            <a:endParaRPr lang="en-US" sz="2400" dirty="0"/>
          </a:p>
        </p:txBody>
      </p:sp>
      <p:sp>
        <p:nvSpPr>
          <p:cNvPr id="13" name="rev_6_caja"/>
          <p:cNvSpPr/>
          <p:nvPr/>
        </p:nvSpPr>
        <p:spPr>
          <a:xfrm>
            <a:off x="4152839" y="2999232"/>
            <a:ext cx="3326953" cy="795528"/>
          </a:xfrm>
          <a:prstGeom prst="roundRect">
            <a:avLst>
              <a:gd name="adj" fmla="val 13793"/>
            </a:avLst>
          </a:prstGeom>
          <a:solidFill>
            <a:srgbClr val="4236F6"/>
          </a:solidFill>
          <a:ln w="12700">
            <a:solidFill>
              <a:srgbClr val="4236F6"/>
            </a:solidFill>
            <a:prstDash val="solid"/>
          </a:ln>
        </p:spPr>
      </p:sp>
      <p:sp>
        <p:nvSpPr>
          <p:cNvPr id="14" name="rev_6_txt"/>
          <p:cNvSpPr txBox="1"/>
          <p:nvPr/>
        </p:nvSpPr>
        <p:spPr>
          <a:xfrm>
            <a:off x="4244279" y="2999232"/>
            <a:ext cx="3144073"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우리 엄마예요</a:t>
            </a:r>
            <a:r>
              <a:rPr lang="en-US" sz="2200" b="1" dirty="0">
                <a:solidFill>
                  <a:srgbClr val="FFFFFF"/>
                </a:solidFill>
              </a:rPr>
              <a:t>.</a:t>
            </a:r>
            <a:endParaRPr lang="en-US" sz="2200" dirty="0"/>
          </a:p>
        </p:txBody>
      </p:sp>
      <p:sp>
        <p:nvSpPr>
          <p:cNvPr id="15"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6"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7" name="Text 14"/>
          <p:cNvSpPr txBox="1"/>
          <p:nvPr/>
        </p:nvSpPr>
        <p:spPr>
          <a:xfrm>
            <a:off x="1188720" y="3959352"/>
            <a:ext cx="2735519"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(la hermana mayor) 누구예요</a:t>
            </a:r>
            <a:r>
              <a:rPr lang="en-US" sz="2400" dirty="0">
                <a:solidFill>
                  <a:srgbClr val="14142B"/>
                </a:solidFill>
              </a:rPr>
              <a:t>?</a:t>
            </a:r>
            <a:endParaRPr lang="en-US" sz="2400" dirty="0"/>
          </a:p>
        </p:txBody>
      </p:sp>
      <p:sp>
        <p:nvSpPr>
          <p:cNvPr id="18" name="rev_7_caja"/>
          <p:cNvSpPr/>
          <p:nvPr/>
        </p:nvSpPr>
        <p:spPr>
          <a:xfrm>
            <a:off x="4152839" y="3995928"/>
            <a:ext cx="3326953" cy="795528"/>
          </a:xfrm>
          <a:prstGeom prst="roundRect">
            <a:avLst>
              <a:gd name="adj" fmla="val 13793"/>
            </a:avLst>
          </a:prstGeom>
          <a:solidFill>
            <a:srgbClr val="4236F6"/>
          </a:solidFill>
          <a:ln w="12700">
            <a:solidFill>
              <a:srgbClr val="4236F6"/>
            </a:solidFill>
            <a:prstDash val="solid"/>
          </a:ln>
        </p:spPr>
      </p:sp>
      <p:sp>
        <p:nvSpPr>
          <p:cNvPr id="19" name="rev_7_txt"/>
          <p:cNvSpPr txBox="1"/>
          <p:nvPr/>
        </p:nvSpPr>
        <p:spPr>
          <a:xfrm>
            <a:off x="4244279" y="3995928"/>
            <a:ext cx="3144073"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우리 언니예요</a:t>
            </a:r>
            <a:r>
              <a:rPr lang="en-US" sz="2200" b="1" dirty="0">
                <a:solidFill>
                  <a:srgbClr val="FFFFFF"/>
                </a:solidFill>
              </a:rPr>
              <a:t>.</a:t>
            </a:r>
            <a:endParaRPr lang="en-US" sz="2200" dirty="0"/>
          </a:p>
        </p:txBody>
      </p:sp>
      <p:sp>
        <p:nvSpPr>
          <p:cNvPr id="20"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1"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2" name="Text 19"/>
          <p:cNvSpPr txBox="1"/>
          <p:nvPr/>
        </p:nvSpPr>
        <p:spPr>
          <a:xfrm>
            <a:off x="1188720" y="4956048"/>
            <a:ext cx="2735519"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(el hermano menor) 누구예요</a:t>
            </a:r>
            <a:r>
              <a:rPr lang="en-US" sz="2400" dirty="0">
                <a:solidFill>
                  <a:srgbClr val="14142B"/>
                </a:solidFill>
              </a:rPr>
              <a:t>?</a:t>
            </a:r>
            <a:endParaRPr lang="en-US" sz="2400" dirty="0"/>
          </a:p>
        </p:txBody>
      </p:sp>
      <p:sp>
        <p:nvSpPr>
          <p:cNvPr id="23" name="rev_8_caja"/>
          <p:cNvSpPr/>
          <p:nvPr/>
        </p:nvSpPr>
        <p:spPr>
          <a:xfrm>
            <a:off x="4152839" y="4992624"/>
            <a:ext cx="3326953" cy="795528"/>
          </a:xfrm>
          <a:prstGeom prst="roundRect">
            <a:avLst>
              <a:gd name="adj" fmla="val 13793"/>
            </a:avLst>
          </a:prstGeom>
          <a:solidFill>
            <a:srgbClr val="4236F6"/>
          </a:solidFill>
          <a:ln w="12700">
            <a:solidFill>
              <a:srgbClr val="4236F6"/>
            </a:solidFill>
            <a:prstDash val="solid"/>
          </a:ln>
        </p:spPr>
      </p:sp>
      <p:sp>
        <p:nvSpPr>
          <p:cNvPr id="24" name="rev_8_txt"/>
          <p:cNvSpPr txBox="1"/>
          <p:nvPr/>
        </p:nvSpPr>
        <p:spPr>
          <a:xfrm>
            <a:off x="4244279" y="4992624"/>
            <a:ext cx="3144073"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우리 남동생이에요</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9"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«Mi» se dice 우리</a:t>
            </a:r>
            <a:r>
              <a:rPr lang="ko-KR" altLang="en-US" sz="1500" b="1" i="1" dirty="0">
                <a:solidFill>
                  <a:srgbClr val="8A8DA0"/>
                </a:solidFill>
              </a:rPr>
              <a:t>   Saying 'my': 우리</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Hasta un hijo único dice 우리 엄마</a:t>
            </a:r>
            <a:r>
              <a:rPr lang="en-US" sz="1800" i="1" dirty="0">
                <a:solidFill>
                  <a:srgbClr val="4236F6"/>
                </a:solidFill>
              </a:rPr>
              <a:t>.</a:t>
            </a:r>
            <a:endParaRPr lang="en-US" sz="1800" dirty="0"/>
          </a:p>
        </p:txBody>
      </p:sp>
      <p:graphicFrame>
        <p:nvGraphicFramePr>
          <p:cNvPr id="8" name="tabla"/>
          <p:cNvGraphicFramePr>
            <a:graphicFrameLocks noGrp="1"/>
          </p:cNvGraphicFramePr>
          <p:nvPr>
            <p:extLst>
              <p:ext uri="{D42A27DB-BD31-4B8C-83A1-F6EECF244321}">
                <p14:modId xmlns:p14="http://schemas.microsoft.com/office/powerpoint/2010/main" val="3299665851"/>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Se escribe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우리 엄마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mi mamá</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separado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우리 가족</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mi familia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separado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우리 집</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mi casa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separado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우리나라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mi país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junto: es una sola palabra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우리 가족  </a:t>
            </a:r>
            <a:r>
              <a:rPr lang="en-US" sz="3000" b="1" dirty="0">
                <a:solidFill>
                  <a:srgbClr val="003478"/>
                </a:solidFill>
              </a:rPr>
              <a:t>Mi familia (1)</a:t>
            </a:r>
            <a:r>
              <a:rPr lang="en-US" sz="1500" b="1" i="1" dirty="0">
                <a:solidFill>
                  <a:srgbClr val="8A8DA0"/>
                </a:solidFill>
              </a:rPr>
              <a:t>   My family (1)</a:t>
            </a:r>
            <a:endParaRPr lang="en-US" sz="3000" dirty="0"/>
          </a:p>
        </p:txBody>
      </p:sp>
      <p:sp>
        <p:nvSpPr>
          <p:cNvPr id="3" name="card_0"/>
          <p:cNvSpPr/>
          <p:nvPr/>
        </p:nvSpPr>
        <p:spPr>
          <a:xfrm>
            <a:off x="548640"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 name="dibujo_0" descr="C:\Users\Chingu\AppData\Local\Temp\claude\C--Users-Chingu-Desktop-ACADEMIASEULWEB\d4111e1b-5523-44ea-97b2-b1a1d9545b9e\scratchpad\decks\cache\img_a4e6c000af07e0ea.png"/>
          <p:cNvPicPr>
            <a:picLocks noChangeAspect="1"/>
          </p:cNvPicPr>
          <p:nvPr/>
        </p:nvPicPr>
        <p:blipFill>
          <a:blip r:embed="rId19"/>
          <a:stretch>
            <a:fillRect/>
          </a:stretch>
        </p:blipFill>
        <p:spPr>
          <a:xfrm>
            <a:off x="1295248" y="1435608"/>
            <a:ext cx="1108253" cy="1108253"/>
          </a:xfrm>
          <a:prstGeom prst="rect">
            <a:avLst/>
          </a:prstGeom>
        </p:spPr>
      </p:pic>
      <p:sp>
        <p:nvSpPr>
          <p:cNvPr id="5" name="Text 2"/>
          <p:cNvSpPr txBox="1"/>
          <p:nvPr/>
        </p:nvSpPr>
        <p:spPr>
          <a:xfrm>
            <a:off x="548640"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할아버지</a:t>
            </a:r>
            <a:endParaRPr lang="en-US" sz="2900" dirty="0"/>
          </a:p>
        </p:txBody>
      </p:sp>
      <p:sp>
        <p:nvSpPr>
          <p:cNvPr id="6" name="Text 3"/>
          <p:cNvSpPr txBox="1"/>
          <p:nvPr/>
        </p:nvSpPr>
        <p:spPr>
          <a:xfrm>
            <a:off x="548640" y="3023921"/>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[하라버지</a:t>
            </a:r>
            <a:r>
              <a:rPr lang="en-US" sz="1300" dirty="0">
                <a:solidFill>
                  <a:srgbClr val="8A8DA0"/>
                </a:solidFill>
              </a:rPr>
              <a:t>]</a:t>
            </a:r>
            <a:endParaRPr lang="en-US" sz="1300" dirty="0"/>
          </a:p>
        </p:txBody>
      </p:sp>
      <p:sp>
        <p:nvSpPr>
          <p:cNvPr id="7" name="Text 4"/>
          <p:cNvSpPr txBox="1"/>
          <p:nvPr/>
        </p:nvSpPr>
        <p:spPr>
          <a:xfrm>
            <a:off x="621792" y="329824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abuelo</a:t>
            </a:r>
            <a:endParaRPr lang="en-US" sz="1600" dirty="0"/>
          </a:p>
        </p:txBody>
      </p:sp>
      <p:pic>
        <p:nvPicPr>
          <p:cNvPr id="1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2747772" y="1399032"/>
            <a:ext cx="310896" cy="310896"/>
          </a:xfrm>
          <a:prstGeom prst="rect">
            <a:avLst/>
          </a:prstGeom>
        </p:spPr>
      </p:pic>
      <p:sp>
        <p:nvSpPr>
          <p:cNvPr id="9" name="card_1"/>
          <p:cNvSpPr/>
          <p:nvPr/>
        </p:nvSpPr>
        <p:spPr>
          <a:xfrm>
            <a:off x="3378708"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img_8f05726f2a73842b.png"/>
          <p:cNvPicPr>
            <a:picLocks noChangeAspect="1"/>
          </p:cNvPicPr>
          <p:nvPr/>
        </p:nvPicPr>
        <p:blipFill>
          <a:blip r:embed="rId21"/>
          <a:stretch>
            <a:fillRect/>
          </a:stretch>
        </p:blipFill>
        <p:spPr>
          <a:xfrm>
            <a:off x="4125316" y="1435608"/>
            <a:ext cx="1108253" cy="1108253"/>
          </a:xfrm>
          <a:prstGeom prst="rect">
            <a:avLst/>
          </a:prstGeom>
        </p:spPr>
      </p:pic>
      <p:sp>
        <p:nvSpPr>
          <p:cNvPr id="11" name="Text 6"/>
          <p:cNvSpPr txBox="1"/>
          <p:nvPr/>
        </p:nvSpPr>
        <p:spPr>
          <a:xfrm>
            <a:off x="3378708"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할머니</a:t>
            </a:r>
            <a:endParaRPr lang="en-US" sz="2900" dirty="0"/>
          </a:p>
        </p:txBody>
      </p:sp>
      <p:sp>
        <p:nvSpPr>
          <p:cNvPr id="12" name="Text 7"/>
          <p:cNvSpPr txBox="1"/>
          <p:nvPr/>
        </p:nvSpPr>
        <p:spPr>
          <a:xfrm>
            <a:off x="3451860"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abuela</a:t>
            </a:r>
            <a:endParaRPr lang="en-US" sz="16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5577840" y="1399032"/>
            <a:ext cx="310896" cy="310896"/>
          </a:xfrm>
          <a:prstGeom prst="rect">
            <a:avLst/>
          </a:prstGeom>
        </p:spPr>
      </p:pic>
      <p:sp>
        <p:nvSpPr>
          <p:cNvPr id="14" name="card_2"/>
          <p:cNvSpPr/>
          <p:nvPr/>
        </p:nvSpPr>
        <p:spPr>
          <a:xfrm>
            <a:off x="6208776"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5" name="dibujo_2" descr="C:\Users\Chingu\AppData\Local\Temp\claude\C--Users-Chingu-Desktop-ACADEMIASEULWEB\d4111e1b-5523-44ea-97b2-b1a1d9545b9e\scratchpad\decks\cache\img_7d27bab07ebf524e.png"/>
          <p:cNvPicPr>
            <a:picLocks noChangeAspect="1"/>
          </p:cNvPicPr>
          <p:nvPr/>
        </p:nvPicPr>
        <p:blipFill>
          <a:blip r:embed="rId22"/>
          <a:stretch>
            <a:fillRect/>
          </a:stretch>
        </p:blipFill>
        <p:spPr>
          <a:xfrm>
            <a:off x="6955384" y="1435608"/>
            <a:ext cx="1108253" cy="1108253"/>
          </a:xfrm>
          <a:prstGeom prst="rect">
            <a:avLst/>
          </a:prstGeom>
        </p:spPr>
      </p:pic>
      <p:sp>
        <p:nvSpPr>
          <p:cNvPr id="16" name="Text 9"/>
          <p:cNvSpPr txBox="1"/>
          <p:nvPr/>
        </p:nvSpPr>
        <p:spPr>
          <a:xfrm>
            <a:off x="6208776"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아빠</a:t>
            </a:r>
            <a:endParaRPr lang="en-US" sz="2900" dirty="0"/>
          </a:p>
        </p:txBody>
      </p:sp>
      <p:sp>
        <p:nvSpPr>
          <p:cNvPr id="17" name="Text 10"/>
          <p:cNvSpPr txBox="1"/>
          <p:nvPr/>
        </p:nvSpPr>
        <p:spPr>
          <a:xfrm>
            <a:off x="6281928"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papá</a:t>
            </a:r>
            <a:endParaRPr lang="en-US" sz="1600" dirty="0"/>
          </a:p>
        </p:txBody>
      </p:sp>
      <p:pic>
        <p:nvPicPr>
          <p:cNvPr id="18"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407908" y="1399032"/>
            <a:ext cx="310896" cy="310896"/>
          </a:xfrm>
          <a:prstGeom prst="rect">
            <a:avLst/>
          </a:prstGeom>
        </p:spPr>
      </p:pic>
      <p:sp>
        <p:nvSpPr>
          <p:cNvPr id="19" name="card_3"/>
          <p:cNvSpPr/>
          <p:nvPr/>
        </p:nvSpPr>
        <p:spPr>
          <a:xfrm>
            <a:off x="9038844"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0" name="dibujo_3" descr="C:\Users\Chingu\AppData\Local\Temp\claude\C--Users-Chingu-Desktop-ACADEMIASEULWEB\d4111e1b-5523-44ea-97b2-b1a1d9545b9e\scratchpad\decks\cache\img_c9d26573d037ab8e.png"/>
          <p:cNvPicPr>
            <a:picLocks noChangeAspect="1"/>
          </p:cNvPicPr>
          <p:nvPr/>
        </p:nvPicPr>
        <p:blipFill>
          <a:blip r:embed="rId23"/>
          <a:stretch>
            <a:fillRect/>
          </a:stretch>
        </p:blipFill>
        <p:spPr>
          <a:xfrm>
            <a:off x="9785452" y="1435608"/>
            <a:ext cx="1108253" cy="1108253"/>
          </a:xfrm>
          <a:prstGeom prst="rect">
            <a:avLst/>
          </a:prstGeom>
        </p:spPr>
      </p:pic>
      <p:sp>
        <p:nvSpPr>
          <p:cNvPr id="21" name="Text 12"/>
          <p:cNvSpPr txBox="1"/>
          <p:nvPr/>
        </p:nvSpPr>
        <p:spPr>
          <a:xfrm>
            <a:off x="9038844"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엄마</a:t>
            </a:r>
            <a:endParaRPr lang="en-US" sz="2900" dirty="0"/>
          </a:p>
        </p:txBody>
      </p:sp>
      <p:sp>
        <p:nvSpPr>
          <p:cNvPr id="22" name="Text 13"/>
          <p:cNvSpPr txBox="1"/>
          <p:nvPr/>
        </p:nvSpPr>
        <p:spPr>
          <a:xfrm>
            <a:off x="9111996"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mamá</a:t>
            </a:r>
            <a:endParaRPr lang="en-US" sz="1600" dirty="0"/>
          </a:p>
        </p:txBody>
      </p:sp>
      <p:pic>
        <p:nvPicPr>
          <p:cNvPr id="23"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11237976" y="1399032"/>
            <a:ext cx="310896" cy="310896"/>
          </a:xfrm>
          <a:prstGeom prst="rect">
            <a:avLst/>
          </a:prstGeom>
        </p:spPr>
      </p:pic>
      <p:sp>
        <p:nvSpPr>
          <p:cNvPr id="24" name="card_4"/>
          <p:cNvSpPr/>
          <p:nvPr/>
        </p:nvSpPr>
        <p:spPr>
          <a:xfrm>
            <a:off x="548640"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5" name="dibujo_4" descr="C:\Users\Chingu\AppData\Local\Temp\claude\C--Users-Chingu-Desktop-ACADEMIASEULWEB\d4111e1b-5523-44ea-97b2-b1a1d9545b9e\scratchpad\decks\cache\img_da76aea3eb8fbe3c.png"/>
          <p:cNvPicPr>
            <a:picLocks noChangeAspect="1"/>
          </p:cNvPicPr>
          <p:nvPr/>
        </p:nvPicPr>
        <p:blipFill>
          <a:blip r:embed="rId24"/>
          <a:stretch>
            <a:fillRect/>
          </a:stretch>
        </p:blipFill>
        <p:spPr>
          <a:xfrm>
            <a:off x="1295248" y="3973068"/>
            <a:ext cx="1108253" cy="1108253"/>
          </a:xfrm>
          <a:prstGeom prst="rect">
            <a:avLst/>
          </a:prstGeom>
        </p:spPr>
      </p:pic>
      <p:sp>
        <p:nvSpPr>
          <p:cNvPr id="26" name="Text 15"/>
          <p:cNvSpPr txBox="1"/>
          <p:nvPr/>
        </p:nvSpPr>
        <p:spPr>
          <a:xfrm>
            <a:off x="548640"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오빠</a:t>
            </a:r>
            <a:endParaRPr lang="en-US" sz="2900" dirty="0"/>
          </a:p>
        </p:txBody>
      </p:sp>
      <p:sp>
        <p:nvSpPr>
          <p:cNvPr id="27" name="Text 16"/>
          <p:cNvSpPr txBox="1"/>
          <p:nvPr/>
        </p:nvSpPr>
        <p:spPr>
          <a:xfrm>
            <a:off x="621792"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hermano mayor (lo dice una mujer)</a:t>
            </a:r>
            <a:endParaRPr lang="en-US" sz="1600" dirty="0"/>
          </a:p>
        </p:txBody>
      </p:sp>
      <p:pic>
        <p:nvPicPr>
          <p:cNvPr id="33"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2747772" y="3936492"/>
            <a:ext cx="310896" cy="310896"/>
          </a:xfrm>
          <a:prstGeom prst="rect">
            <a:avLst/>
          </a:prstGeom>
        </p:spPr>
      </p:pic>
      <p:sp>
        <p:nvSpPr>
          <p:cNvPr id="29" name="card_5"/>
          <p:cNvSpPr/>
          <p:nvPr/>
        </p:nvSpPr>
        <p:spPr>
          <a:xfrm>
            <a:off x="3378708"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0" name="dibujo_5" descr="C:\Users\Chingu\AppData\Local\Temp\claude\C--Users-Chingu-Desktop-ACADEMIASEULWEB\d4111e1b-5523-44ea-97b2-b1a1d9545b9e\scratchpad\decks\cache\img_f093f3ebe6f6fb0b.png"/>
          <p:cNvPicPr>
            <a:picLocks noChangeAspect="1"/>
          </p:cNvPicPr>
          <p:nvPr/>
        </p:nvPicPr>
        <p:blipFill>
          <a:blip r:embed="rId25"/>
          <a:stretch>
            <a:fillRect/>
          </a:stretch>
        </p:blipFill>
        <p:spPr>
          <a:xfrm>
            <a:off x="4125316" y="3973068"/>
            <a:ext cx="1108253" cy="1108253"/>
          </a:xfrm>
          <a:prstGeom prst="rect">
            <a:avLst/>
          </a:prstGeom>
        </p:spPr>
      </p:pic>
      <p:sp>
        <p:nvSpPr>
          <p:cNvPr id="31" name="Text 18"/>
          <p:cNvSpPr txBox="1"/>
          <p:nvPr/>
        </p:nvSpPr>
        <p:spPr>
          <a:xfrm>
            <a:off x="3378708"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형</a:t>
            </a:r>
            <a:endParaRPr lang="en-US" sz="2900" dirty="0"/>
          </a:p>
        </p:txBody>
      </p:sp>
      <p:sp>
        <p:nvSpPr>
          <p:cNvPr id="32" name="Text 19"/>
          <p:cNvSpPr txBox="1"/>
          <p:nvPr/>
        </p:nvSpPr>
        <p:spPr>
          <a:xfrm>
            <a:off x="3451860"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hermano mayor (lo dice un hombre)</a:t>
            </a:r>
            <a:endParaRPr lang="en-US" sz="1600" dirty="0"/>
          </a:p>
        </p:txBody>
      </p:sp>
      <p:pic>
        <p:nvPicPr>
          <p:cNvPr id="38"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20"/>
          <a:stretch>
            <a:fillRect/>
          </a:stretch>
        </p:blipFill>
        <p:spPr>
          <a:xfrm>
            <a:off x="5577840" y="3936492"/>
            <a:ext cx="310896" cy="310896"/>
          </a:xfrm>
          <a:prstGeom prst="rect">
            <a:avLst/>
          </a:prstGeom>
        </p:spPr>
      </p:pic>
      <p:sp>
        <p:nvSpPr>
          <p:cNvPr id="34" name="card_6"/>
          <p:cNvSpPr/>
          <p:nvPr/>
        </p:nvSpPr>
        <p:spPr>
          <a:xfrm>
            <a:off x="6208776"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5" name="dibujo_6" descr="C:\Users\Chingu\AppData\Local\Temp\claude\C--Users-Chingu-Desktop-ACADEMIASEULWEB\d4111e1b-5523-44ea-97b2-b1a1d9545b9e\scratchpad\decks\cache\img_caa58d17113bbb00.png"/>
          <p:cNvPicPr>
            <a:picLocks noChangeAspect="1"/>
          </p:cNvPicPr>
          <p:nvPr/>
        </p:nvPicPr>
        <p:blipFill>
          <a:blip r:embed="rId26"/>
          <a:stretch>
            <a:fillRect/>
          </a:stretch>
        </p:blipFill>
        <p:spPr>
          <a:xfrm>
            <a:off x="6955384" y="3973068"/>
            <a:ext cx="1108253" cy="1108253"/>
          </a:xfrm>
          <a:prstGeom prst="rect">
            <a:avLst/>
          </a:prstGeom>
        </p:spPr>
      </p:pic>
      <p:sp>
        <p:nvSpPr>
          <p:cNvPr id="36" name="Text 21"/>
          <p:cNvSpPr txBox="1"/>
          <p:nvPr/>
        </p:nvSpPr>
        <p:spPr>
          <a:xfrm>
            <a:off x="6208776"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언니</a:t>
            </a:r>
            <a:endParaRPr lang="en-US" sz="2900" dirty="0"/>
          </a:p>
        </p:txBody>
      </p:sp>
      <p:sp>
        <p:nvSpPr>
          <p:cNvPr id="37" name="Text 22"/>
          <p:cNvSpPr txBox="1"/>
          <p:nvPr/>
        </p:nvSpPr>
        <p:spPr>
          <a:xfrm>
            <a:off x="6281928"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hermana mayor (lo dice una mujer)</a:t>
            </a:r>
            <a:endParaRPr lang="en-US" sz="1600" dirty="0"/>
          </a:p>
        </p:txBody>
      </p:sp>
      <p:pic>
        <p:nvPicPr>
          <p:cNvPr id="28"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20"/>
          <a:stretch>
            <a:fillRect/>
          </a:stretch>
        </p:blipFill>
        <p:spPr>
          <a:xfrm>
            <a:off x="8407908" y="3936492"/>
            <a:ext cx="310896" cy="310896"/>
          </a:xfrm>
          <a:prstGeom prst="rect">
            <a:avLst/>
          </a:prstGeom>
        </p:spPr>
      </p:pic>
      <p:sp>
        <p:nvSpPr>
          <p:cNvPr id="39" name="card_7"/>
          <p:cNvSpPr/>
          <p:nvPr/>
        </p:nvSpPr>
        <p:spPr>
          <a:xfrm>
            <a:off x="9038844"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dibujo_7" descr="C:\Users\Chingu\AppData\Local\Temp\claude\C--Users-Chingu-Desktop-ACADEMIASEULWEB\d4111e1b-5523-44ea-97b2-b1a1d9545b9e\scratchpad\decks\cache\img_6fc4ecdfadb75b13.png"/>
          <p:cNvPicPr>
            <a:picLocks noChangeAspect="1"/>
          </p:cNvPicPr>
          <p:nvPr/>
        </p:nvPicPr>
        <p:blipFill>
          <a:blip r:embed="rId27"/>
          <a:stretch>
            <a:fillRect/>
          </a:stretch>
        </p:blipFill>
        <p:spPr>
          <a:xfrm>
            <a:off x="9785452" y="3973068"/>
            <a:ext cx="1108253" cy="1108253"/>
          </a:xfrm>
          <a:prstGeom prst="rect">
            <a:avLst/>
          </a:prstGeom>
        </p:spPr>
      </p:pic>
      <p:sp>
        <p:nvSpPr>
          <p:cNvPr id="41" name="Text 24"/>
          <p:cNvSpPr txBox="1"/>
          <p:nvPr/>
        </p:nvSpPr>
        <p:spPr>
          <a:xfrm>
            <a:off x="9038844"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누나</a:t>
            </a:r>
            <a:endParaRPr lang="en-US" sz="2900" dirty="0"/>
          </a:p>
        </p:txBody>
      </p:sp>
      <p:sp>
        <p:nvSpPr>
          <p:cNvPr id="42" name="Text 25"/>
          <p:cNvSpPr txBox="1"/>
          <p:nvPr/>
        </p:nvSpPr>
        <p:spPr>
          <a:xfrm>
            <a:off x="9111996"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hermana mayor (lo dice un hombre)</a:t>
            </a:r>
            <a:endParaRPr lang="en-US" sz="1600" dirty="0"/>
          </a:p>
        </p:txBody>
      </p:sp>
      <p:pic>
        <p:nvPicPr>
          <p:cNvPr id="43" name="Media 7">
            <a:hlinkClick r:id="" action="ppaction://media"/>
          </p:cNvPr>
          <p:cNvPicPr>
            <a:picLocks noChangeAspect="1"/>
          </p:cNvPicPr>
          <p:nvPr>
            <a:audioFile r:link="rId16"/>
            <p:extLst>
              <p:ext uri="{DAA4B4D4-6D71-4841-9C94-3DE7FCFB9230}">
                <p14:media xmlns:p14="http://schemas.microsoft.com/office/powerpoint/2010/main" r:embed="rId15"/>
              </p:ext>
            </p:extLst>
          </p:nvPr>
        </p:nvPicPr>
        <p:blipFill>
          <a:blip r:embed="rId20"/>
          <a:stretch>
            <a:fillRect/>
          </a:stretch>
        </p:blipFill>
        <p:spPr>
          <a:xfrm>
            <a:off x="11237976" y="3936492"/>
            <a:ext cx="310896" cy="310896"/>
          </a:xfrm>
          <a:prstGeom prst="rect">
            <a:avLst/>
          </a:prstGeom>
        </p:spPr>
      </p:pic>
      <p:sp>
        <p:nvSpPr>
          <p:cNvPr id="4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우리 가족  </a:t>
            </a:r>
            <a:r>
              <a:rPr lang="en-US" sz="3000" b="1" dirty="0">
                <a:solidFill>
                  <a:srgbClr val="003478"/>
                </a:solidFill>
              </a:rPr>
              <a:t>Mi familia (2)</a:t>
            </a:r>
            <a:r>
              <a:rPr lang="en-US" sz="1500" b="1" i="1" dirty="0">
                <a:solidFill>
                  <a:srgbClr val="8A8DA0"/>
                </a:solidFill>
              </a:rPr>
              <a:t>   My family (2)</a:t>
            </a:r>
            <a:endParaRPr lang="en-US" sz="3000" dirty="0"/>
          </a:p>
        </p:txBody>
      </p:sp>
      <p:sp>
        <p:nvSpPr>
          <p:cNvPr id="3" name="card_0"/>
          <p:cNvSpPr/>
          <p:nvPr/>
        </p:nvSpPr>
        <p:spPr>
          <a:xfrm>
            <a:off x="548640"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 name="dibujo_0" descr="C:\Users\Chingu\AppData\Local\Temp\claude\C--Users-Chingu-Desktop-ACADEMIASEULWEB\d4111e1b-5523-44ea-97b2-b1a1d9545b9e\scratchpad\decks\cache\eab080eca1b1.png"/>
          <p:cNvPicPr>
            <a:picLocks noChangeAspect="1"/>
          </p:cNvPicPr>
          <p:nvPr/>
        </p:nvPicPr>
        <p:blipFill>
          <a:blip r:embed="rId17"/>
          <a:stretch>
            <a:fillRect/>
          </a:stretch>
        </p:blipFill>
        <p:spPr>
          <a:xfrm>
            <a:off x="1295248" y="1435608"/>
            <a:ext cx="1108253" cy="1108253"/>
          </a:xfrm>
          <a:prstGeom prst="rect">
            <a:avLst/>
          </a:prstGeom>
        </p:spPr>
      </p:pic>
      <p:sp>
        <p:nvSpPr>
          <p:cNvPr id="5" name="Text 2"/>
          <p:cNvSpPr txBox="1"/>
          <p:nvPr/>
        </p:nvSpPr>
        <p:spPr>
          <a:xfrm>
            <a:off x="548640"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가족</a:t>
            </a:r>
            <a:endParaRPr lang="en-US" sz="2900" dirty="0"/>
          </a:p>
        </p:txBody>
      </p:sp>
      <p:sp>
        <p:nvSpPr>
          <p:cNvPr id="6" name="Text 3"/>
          <p:cNvSpPr txBox="1"/>
          <p:nvPr/>
        </p:nvSpPr>
        <p:spPr>
          <a:xfrm>
            <a:off x="621792"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familia</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2747772" y="1399032"/>
            <a:ext cx="310896" cy="310896"/>
          </a:xfrm>
          <a:prstGeom prst="rect">
            <a:avLst/>
          </a:prstGeom>
        </p:spPr>
      </p:pic>
      <p:sp>
        <p:nvSpPr>
          <p:cNvPr id="8" name="card_1"/>
          <p:cNvSpPr/>
          <p:nvPr/>
        </p:nvSpPr>
        <p:spPr>
          <a:xfrm>
            <a:off x="3378708"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9" name="dibujo_1" descr="C:\Users\Chingu\AppData\Local\Temp\claude\C--Users-Chingu-Desktop-ACADEMIASEULWEB\d4111e1b-5523-44ea-97b2-b1a1d9545b9e\scratchpad\decks\cache\eb8f99ec839d.png"/>
          <p:cNvPicPr>
            <a:picLocks noChangeAspect="1"/>
          </p:cNvPicPr>
          <p:nvPr/>
        </p:nvPicPr>
        <p:blipFill>
          <a:blip r:embed="rId19"/>
          <a:stretch>
            <a:fillRect/>
          </a:stretch>
        </p:blipFill>
        <p:spPr>
          <a:xfrm>
            <a:off x="4125316" y="1435608"/>
            <a:ext cx="1108253" cy="1108253"/>
          </a:xfrm>
          <a:prstGeom prst="rect">
            <a:avLst/>
          </a:prstGeom>
        </p:spPr>
      </p:pic>
      <p:sp>
        <p:nvSpPr>
          <p:cNvPr id="10" name="Text 5"/>
          <p:cNvSpPr txBox="1"/>
          <p:nvPr/>
        </p:nvSpPr>
        <p:spPr>
          <a:xfrm>
            <a:off x="3378708"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동생</a:t>
            </a:r>
            <a:endParaRPr lang="en-US" sz="2900" dirty="0"/>
          </a:p>
        </p:txBody>
      </p:sp>
      <p:sp>
        <p:nvSpPr>
          <p:cNvPr id="11" name="Text 6"/>
          <p:cNvSpPr txBox="1"/>
          <p:nvPr/>
        </p:nvSpPr>
        <p:spPr>
          <a:xfrm>
            <a:off x="3451860"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hermano o hermana menor</a:t>
            </a:r>
            <a:endParaRPr lang="en-US" sz="1600" dirty="0"/>
          </a:p>
        </p:txBody>
      </p:sp>
      <p:pic>
        <p:nvPicPr>
          <p:cNvPr id="17"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5577840" y="1399032"/>
            <a:ext cx="310896" cy="310896"/>
          </a:xfrm>
          <a:prstGeom prst="rect">
            <a:avLst/>
          </a:prstGeom>
        </p:spPr>
      </p:pic>
      <p:sp>
        <p:nvSpPr>
          <p:cNvPr id="13" name="card_2"/>
          <p:cNvSpPr/>
          <p:nvPr/>
        </p:nvSpPr>
        <p:spPr>
          <a:xfrm>
            <a:off x="6208776"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4" name="dibujo_2" descr="C:\Users\Chingu\AppData\Local\Temp\claude\C--Users-Chingu-Desktop-ACADEMIASEULWEB\d4111e1b-5523-44ea-97b2-b1a1d9545b9e\scratchpad\decks\cache\eb82a8eb8f99ec839d.png"/>
          <p:cNvPicPr>
            <a:picLocks noChangeAspect="1"/>
          </p:cNvPicPr>
          <p:nvPr/>
        </p:nvPicPr>
        <p:blipFill>
          <a:blip r:embed="rId20"/>
          <a:stretch>
            <a:fillRect/>
          </a:stretch>
        </p:blipFill>
        <p:spPr>
          <a:xfrm>
            <a:off x="6955384" y="1435608"/>
            <a:ext cx="1108253" cy="1108253"/>
          </a:xfrm>
          <a:prstGeom prst="rect">
            <a:avLst/>
          </a:prstGeom>
        </p:spPr>
      </p:pic>
      <p:sp>
        <p:nvSpPr>
          <p:cNvPr id="15" name="Text 8"/>
          <p:cNvSpPr txBox="1"/>
          <p:nvPr/>
        </p:nvSpPr>
        <p:spPr>
          <a:xfrm>
            <a:off x="6208776"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남동생</a:t>
            </a:r>
            <a:endParaRPr lang="en-US" sz="2900" dirty="0"/>
          </a:p>
        </p:txBody>
      </p:sp>
      <p:sp>
        <p:nvSpPr>
          <p:cNvPr id="16" name="Text 9"/>
          <p:cNvSpPr txBox="1"/>
          <p:nvPr/>
        </p:nvSpPr>
        <p:spPr>
          <a:xfrm>
            <a:off x="6281928"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hermano menor</a:t>
            </a:r>
            <a:endParaRPr lang="en-US" sz="1600" dirty="0"/>
          </a:p>
        </p:txBody>
      </p:sp>
      <p:pic>
        <p:nvPicPr>
          <p:cNvPr id="12"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8407908" y="1399032"/>
            <a:ext cx="310896" cy="310896"/>
          </a:xfrm>
          <a:prstGeom prst="rect">
            <a:avLst/>
          </a:prstGeom>
        </p:spPr>
      </p:pic>
      <p:sp>
        <p:nvSpPr>
          <p:cNvPr id="18" name="card_3"/>
          <p:cNvSpPr/>
          <p:nvPr/>
        </p:nvSpPr>
        <p:spPr>
          <a:xfrm>
            <a:off x="9038844"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dibujo_3" descr="C:\Users\Chingu\AppData\Local\Temp\claude\C--Users-Chingu-Desktop-ACADEMIASEULWEB\d4111e1b-5523-44ea-97b2-b1a1d9545b9e\scratchpad\decks\cache\ec97aceb8f99ec839d.png"/>
          <p:cNvPicPr>
            <a:picLocks noChangeAspect="1"/>
          </p:cNvPicPr>
          <p:nvPr/>
        </p:nvPicPr>
        <p:blipFill>
          <a:blip r:embed="rId21"/>
          <a:stretch>
            <a:fillRect/>
          </a:stretch>
        </p:blipFill>
        <p:spPr>
          <a:xfrm>
            <a:off x="9785452" y="1435608"/>
            <a:ext cx="1108253" cy="1108253"/>
          </a:xfrm>
          <a:prstGeom prst="rect">
            <a:avLst/>
          </a:prstGeom>
        </p:spPr>
      </p:pic>
      <p:sp>
        <p:nvSpPr>
          <p:cNvPr id="20" name="Text 11"/>
          <p:cNvSpPr txBox="1"/>
          <p:nvPr/>
        </p:nvSpPr>
        <p:spPr>
          <a:xfrm>
            <a:off x="9038844"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여동생</a:t>
            </a:r>
            <a:endParaRPr lang="en-US" sz="2900" dirty="0"/>
          </a:p>
        </p:txBody>
      </p:sp>
      <p:sp>
        <p:nvSpPr>
          <p:cNvPr id="21" name="Text 12"/>
          <p:cNvSpPr txBox="1"/>
          <p:nvPr/>
        </p:nvSpPr>
        <p:spPr>
          <a:xfrm>
            <a:off x="9111996" y="302392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hermana menor</a:t>
            </a:r>
            <a:endParaRPr lang="en-US" sz="1600" dirty="0"/>
          </a:p>
        </p:txBody>
      </p:sp>
      <p:pic>
        <p:nvPicPr>
          <p:cNvPr id="22"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11237976" y="1399032"/>
            <a:ext cx="310896" cy="310896"/>
          </a:xfrm>
          <a:prstGeom prst="rect">
            <a:avLst/>
          </a:prstGeom>
        </p:spPr>
      </p:pic>
      <p:sp>
        <p:nvSpPr>
          <p:cNvPr id="23" name="card_4"/>
          <p:cNvSpPr/>
          <p:nvPr/>
        </p:nvSpPr>
        <p:spPr>
          <a:xfrm>
            <a:off x="1963674"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4" name="dibujo_4" descr="C:\Users\Chingu\AppData\Local\Temp\claude\C--Users-Chingu-Desktop-ACADEMIASEULWEB\d4111e1b-5523-44ea-97b2-b1a1d9545b9e\scratchpad\decks\cache\ecb99ceab5ac.png"/>
          <p:cNvPicPr>
            <a:picLocks noChangeAspect="1"/>
          </p:cNvPicPr>
          <p:nvPr/>
        </p:nvPicPr>
        <p:blipFill>
          <a:blip r:embed="rId22"/>
          <a:stretch>
            <a:fillRect/>
          </a:stretch>
        </p:blipFill>
        <p:spPr>
          <a:xfrm>
            <a:off x="2710282" y="3973068"/>
            <a:ext cx="1108253" cy="1108253"/>
          </a:xfrm>
          <a:prstGeom prst="rect">
            <a:avLst/>
          </a:prstGeom>
        </p:spPr>
      </p:pic>
      <p:sp>
        <p:nvSpPr>
          <p:cNvPr id="25" name="Text 14"/>
          <p:cNvSpPr txBox="1"/>
          <p:nvPr/>
        </p:nvSpPr>
        <p:spPr>
          <a:xfrm>
            <a:off x="1963674"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친구</a:t>
            </a:r>
            <a:endParaRPr lang="en-US" sz="2900" dirty="0"/>
          </a:p>
        </p:txBody>
      </p:sp>
      <p:sp>
        <p:nvSpPr>
          <p:cNvPr id="26" name="Text 15"/>
          <p:cNvSpPr txBox="1"/>
          <p:nvPr/>
        </p:nvSpPr>
        <p:spPr>
          <a:xfrm>
            <a:off x="2036826"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amigo, amiga</a:t>
            </a:r>
            <a:endParaRPr lang="en-US" sz="1600" dirty="0"/>
          </a:p>
        </p:txBody>
      </p:sp>
      <p:pic>
        <p:nvPicPr>
          <p:cNvPr id="27"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8"/>
          <a:stretch>
            <a:fillRect/>
          </a:stretch>
        </p:blipFill>
        <p:spPr>
          <a:xfrm>
            <a:off x="4162806" y="3936492"/>
            <a:ext cx="310896" cy="310896"/>
          </a:xfrm>
          <a:prstGeom prst="rect">
            <a:avLst/>
          </a:prstGeom>
        </p:spPr>
      </p:pic>
      <p:sp>
        <p:nvSpPr>
          <p:cNvPr id="28" name="card_5"/>
          <p:cNvSpPr/>
          <p:nvPr/>
        </p:nvSpPr>
        <p:spPr>
          <a:xfrm>
            <a:off x="4793742"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9" name="dibujo_5" descr="C:\Users\Chingu\AppData\Local\Temp\claude\C--Users-Chingu-Desktop-ACADEMIASEULWEB\d4111e1b-5523-44ea-97b2-b1a1d9545b9e\scratchpad\decks\cache\eab095ec9584eca780.png"/>
          <p:cNvPicPr>
            <a:picLocks noChangeAspect="1"/>
          </p:cNvPicPr>
          <p:nvPr/>
        </p:nvPicPr>
        <p:blipFill>
          <a:blip r:embed="rId23"/>
          <a:stretch>
            <a:fillRect/>
          </a:stretch>
        </p:blipFill>
        <p:spPr>
          <a:xfrm>
            <a:off x="5540350" y="3973068"/>
            <a:ext cx="1108253" cy="1108253"/>
          </a:xfrm>
          <a:prstGeom prst="rect">
            <a:avLst/>
          </a:prstGeom>
        </p:spPr>
      </p:pic>
      <p:sp>
        <p:nvSpPr>
          <p:cNvPr id="30" name="Text 17"/>
          <p:cNvSpPr txBox="1"/>
          <p:nvPr/>
        </p:nvSpPr>
        <p:spPr>
          <a:xfrm>
            <a:off x="4793742"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강아지</a:t>
            </a:r>
            <a:endParaRPr lang="en-US" sz="2900" dirty="0"/>
          </a:p>
        </p:txBody>
      </p:sp>
      <p:sp>
        <p:nvSpPr>
          <p:cNvPr id="31" name="Text 18"/>
          <p:cNvSpPr txBox="1"/>
          <p:nvPr/>
        </p:nvSpPr>
        <p:spPr>
          <a:xfrm>
            <a:off x="4866894"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perro, perrito</a:t>
            </a:r>
            <a:endParaRPr lang="en-US" sz="1600" dirty="0"/>
          </a:p>
        </p:txBody>
      </p:sp>
      <p:pic>
        <p:nvPicPr>
          <p:cNvPr id="32"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8"/>
          <a:stretch>
            <a:fillRect/>
          </a:stretch>
        </p:blipFill>
        <p:spPr>
          <a:xfrm>
            <a:off x="6992874" y="3936492"/>
            <a:ext cx="310896" cy="310896"/>
          </a:xfrm>
          <a:prstGeom prst="rect">
            <a:avLst/>
          </a:prstGeom>
        </p:spPr>
      </p:pic>
      <p:sp>
        <p:nvSpPr>
          <p:cNvPr id="33" name="card_6"/>
          <p:cNvSpPr/>
          <p:nvPr/>
        </p:nvSpPr>
        <p:spPr>
          <a:xfrm>
            <a:off x="7623810"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4" name="dibujo_6" descr="C:\Users\Chingu\AppData\Local\Temp\claude\C--Users-Chingu-Desktop-ACADEMIASEULWEB\d4111e1b-5523-44ea-97b2-b1a1d9545b9e\scratchpad\decks\cache\eab3a0ec9691ec9db4.png"/>
          <p:cNvPicPr>
            <a:picLocks noChangeAspect="1"/>
          </p:cNvPicPr>
          <p:nvPr/>
        </p:nvPicPr>
        <p:blipFill>
          <a:blip r:embed="rId24"/>
          <a:stretch>
            <a:fillRect/>
          </a:stretch>
        </p:blipFill>
        <p:spPr>
          <a:xfrm>
            <a:off x="8370418" y="3973068"/>
            <a:ext cx="1108253" cy="1108253"/>
          </a:xfrm>
          <a:prstGeom prst="rect">
            <a:avLst/>
          </a:prstGeom>
        </p:spPr>
      </p:pic>
      <p:sp>
        <p:nvSpPr>
          <p:cNvPr id="35" name="Text 20"/>
          <p:cNvSpPr txBox="1"/>
          <p:nvPr/>
        </p:nvSpPr>
        <p:spPr>
          <a:xfrm>
            <a:off x="7623810"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고양이</a:t>
            </a:r>
            <a:endParaRPr lang="en-US" sz="2900" dirty="0"/>
          </a:p>
        </p:txBody>
      </p:sp>
      <p:sp>
        <p:nvSpPr>
          <p:cNvPr id="36" name="Text 21"/>
          <p:cNvSpPr txBox="1"/>
          <p:nvPr/>
        </p:nvSpPr>
        <p:spPr>
          <a:xfrm>
            <a:off x="7696962" y="5561381"/>
            <a:ext cx="2455164" cy="5376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gato</a:t>
            </a:r>
            <a:endParaRPr lang="en-US" sz="1600" dirty="0"/>
          </a:p>
        </p:txBody>
      </p:sp>
      <p:pic>
        <p:nvPicPr>
          <p:cNvPr id="37"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18"/>
          <a:stretch>
            <a:fillRect/>
          </a:stretch>
        </p:blipFill>
        <p:spPr>
          <a:xfrm>
            <a:off x="9822942" y="3936492"/>
            <a:ext cx="310896" cy="310896"/>
          </a:xfrm>
          <a:prstGeom prst="rect">
            <a:avLst/>
          </a:prstGeom>
        </p:spPr>
      </p:pic>
      <p:sp>
        <p:nvSpPr>
          <p:cNvPr id="3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¿Quién lo dice?</a:t>
            </a:r>
            <a:r>
              <a:rPr lang="en-US" sz="1500" b="1" i="1" dirty="0">
                <a:solidFill>
                  <a:srgbClr val="8A8DA0"/>
                </a:solidFill>
              </a:rPr>
              <a:t>   Who says it?</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Primero: ¿quién habla? Después: ¿la persona es mayor?</a:t>
            </a:r>
            <a:endParaRPr lang="en-US" sz="1800" dirty="0"/>
          </a:p>
        </p:txBody>
      </p:sp>
      <p:graphicFrame>
        <p:nvGraphicFramePr>
          <p:cNvPr id="11" name="tabla"/>
          <p:cNvGraphicFramePr>
            <a:graphicFrameLocks noGrp="1"/>
          </p:cNvGraphicFramePr>
          <p:nvPr>
            <p:extLst>
              <p:ext uri="{D42A27DB-BD31-4B8C-83A1-F6EECF244321}">
                <p14:modId xmlns:p14="http://schemas.microsoft.com/office/powerpoint/2010/main" val="157555826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Lo dice una mujer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Lo dice un hombre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hermano mayor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오빠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형</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hermana mayor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언니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누나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hermano o hermana menor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동생</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동생</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¿Quién lo dice? · práctica</a:t>
            </a:r>
            <a:r>
              <a:rPr lang="en-US" sz="1500" b="1" i="1" dirty="0">
                <a:solidFill>
                  <a:srgbClr val="8A8DA0"/>
                </a:solidFill>
              </a:rPr>
              <a:t>   Who says it? · practice</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¿Qué palabra usa? 오빠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형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언니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누나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동생</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마리아 </a:t>
            </a:r>
            <a:r>
              <a:rPr lang="en-US" sz="2300" dirty="0">
                <a:solidFill>
                  <a:srgbClr val="14142B"/>
                </a:solidFill>
              </a:rPr>
              <a:t>habla de su hermano mayor</a:t>
            </a:r>
            <a:endParaRPr lang="en-US" sz="2300" dirty="0"/>
          </a:p>
        </p:txBody>
      </p:sp>
      <p:sp>
        <p:nvSpPr>
          <p:cNvPr id="7" name="rev_9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9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오빠</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다니엘 </a:t>
            </a:r>
            <a:r>
              <a:rPr lang="en-US" sz="2300" dirty="0">
                <a:solidFill>
                  <a:srgbClr val="14142B"/>
                </a:solidFill>
              </a:rPr>
              <a:t>habla de su hermano mayor</a:t>
            </a:r>
            <a:endParaRPr lang="en-US" sz="2300" dirty="0"/>
          </a:p>
        </p:txBody>
      </p:sp>
      <p:sp>
        <p:nvSpPr>
          <p:cNvPr id="12" name="rev_10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10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형</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마리아 </a:t>
            </a:r>
            <a:r>
              <a:rPr lang="en-US" sz="2300" dirty="0">
                <a:solidFill>
                  <a:srgbClr val="14142B"/>
                </a:solidFill>
              </a:rPr>
              <a:t>habla de su hermana mayor</a:t>
            </a:r>
            <a:endParaRPr lang="en-US" sz="2300" dirty="0"/>
          </a:p>
        </p:txBody>
      </p:sp>
      <p:sp>
        <p:nvSpPr>
          <p:cNvPr id="17" name="rev_11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11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언니</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다니엘 </a:t>
            </a:r>
            <a:r>
              <a:rPr lang="en-US" sz="2300" dirty="0">
                <a:solidFill>
                  <a:srgbClr val="14142B"/>
                </a:solidFill>
              </a:rPr>
              <a:t>habla de su hermana mayor</a:t>
            </a:r>
            <a:endParaRPr lang="en-US" sz="2300" dirty="0"/>
          </a:p>
        </p:txBody>
      </p:sp>
      <p:sp>
        <p:nvSpPr>
          <p:cNvPr id="22" name="rev_12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12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누나</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다니엘 </a:t>
            </a:r>
            <a:r>
              <a:rPr lang="en-US" sz="2300" dirty="0">
                <a:solidFill>
                  <a:srgbClr val="14142B"/>
                </a:solidFill>
              </a:rPr>
              <a:t>habla de su hermana menor</a:t>
            </a:r>
            <a:endParaRPr lang="en-US" sz="2300" dirty="0"/>
          </a:p>
        </p:txBody>
      </p:sp>
      <p:sp>
        <p:nvSpPr>
          <p:cNvPr id="27" name="rev_13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13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동생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여동생</a:t>
            </a:r>
            <a:r>
              <a:rPr lang="en-US" sz="2200" b="1" dirty="0">
                <a:solidFill>
                  <a:srgbClr val="FFFFFF"/>
                </a:solidFill>
              </a:rPr>
              <a:t>)</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마리아 </a:t>
            </a:r>
            <a:r>
              <a:rPr lang="en-US" sz="2300" dirty="0">
                <a:solidFill>
                  <a:srgbClr val="14142B"/>
                </a:solidFill>
              </a:rPr>
              <a:t>habla de su hermano menor</a:t>
            </a:r>
            <a:endParaRPr lang="en-US" sz="2300" dirty="0"/>
          </a:p>
        </p:txBody>
      </p:sp>
      <p:sp>
        <p:nvSpPr>
          <p:cNvPr id="32" name="rev_14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14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동생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남동생</a:t>
            </a:r>
            <a:r>
              <a:rPr lang="en-US" sz="2200" b="1" dirty="0">
                <a:solidFill>
                  <a:srgbClr val="FFFFFF"/>
                </a:solidFill>
              </a:rPr>
              <a:t>)</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이 사람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이분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우리 엄마예요</a:t>
            </a:r>
            <a:r>
              <a:rPr lang="en-US" sz="2200" b="1" dirty="0">
                <a:solidFill>
                  <a:srgbClr val="4236F6"/>
                </a:solidFill>
              </a:rPr>
              <a:t>!  </a:t>
            </a:r>
            <a:r>
              <a:rPr lang="en-US" sz="2200" b="1" dirty="0">
                <a:solidFill>
                  <a:srgbClr val="003478"/>
                </a:solidFill>
              </a:rPr>
              <a:t>¿Cómo presento a alguien?</a:t>
            </a:r>
            <a:endParaRPr lang="en-US" sz="3000" dirty="0"/>
          </a:p>
        </p:txBody>
      </p:sp>
      <p:sp>
        <p:nvSpPr>
          <p:cNvPr id="3" name="col_0"/>
          <p:cNvSpPr/>
          <p:nvPr/>
        </p:nvSpPr>
        <p:spPr>
          <a:xfrm>
            <a:off x="548640" y="1325880"/>
            <a:ext cx="3483864" cy="4846320"/>
          </a:xfrm>
          <a:prstGeom prst="roundRect">
            <a:avLst>
              <a:gd name="adj" fmla="val 3937"/>
            </a:avLst>
          </a:prstGeom>
          <a:solidFill>
            <a:srgbClr val="F1F0FE"/>
          </a:solidFill>
          <a:ln w="12700">
            <a:solidFill>
              <a:srgbClr val="D9D7F7"/>
            </a:solidFill>
            <a:prstDash val="solid"/>
          </a:ln>
        </p:spPr>
      </p:sp>
      <p:sp>
        <p:nvSpPr>
          <p:cNvPr id="4" name="Text 2"/>
          <p:cNvSpPr txBox="1"/>
          <p:nvPr/>
        </p:nvSpPr>
        <p:spPr>
          <a:xfrm>
            <a:off x="777240"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Una amiga joven</a:t>
            </a:r>
            <a:endParaRPr lang="en-US" sz="2000" dirty="0"/>
          </a:p>
        </p:txBody>
      </p:sp>
      <p:pic>
        <p:nvPicPr>
          <p:cNvPr id="5" name="col_img_0" descr="C:\Users\Chingu\AppData\Local\Temp\claude\C--Users-Chingu-Desktop-ACADEMIASEULWEB\d4111e1b-5523-44ea-97b2-b1a1d9545b9e\scratchpad\decks\cache\img_a5a5c25bcd47a0b3.png"/>
          <p:cNvPicPr>
            <a:picLocks noChangeAspect="1"/>
          </p:cNvPicPr>
          <p:nvPr/>
        </p:nvPicPr>
        <p:blipFill>
          <a:blip r:embed="rId3"/>
          <a:stretch>
            <a:fillRect/>
          </a:stretch>
        </p:blipFill>
        <p:spPr>
          <a:xfrm>
            <a:off x="777240" y="2103120"/>
            <a:ext cx="3026664" cy="1375756"/>
          </a:xfrm>
          <a:prstGeom prst="rect">
            <a:avLst/>
          </a:prstGeom>
        </p:spPr>
      </p:pic>
      <p:sp>
        <p:nvSpPr>
          <p:cNvPr id="6" name="Text 3"/>
          <p:cNvSpPr txBox="1"/>
          <p:nvPr/>
        </p:nvSpPr>
        <p:spPr>
          <a:xfrm>
            <a:off x="777240" y="357031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이 사람</a:t>
            </a:r>
            <a:endParaRPr lang="en-US" sz="5400" dirty="0"/>
          </a:p>
        </p:txBody>
      </p:sp>
      <p:sp>
        <p:nvSpPr>
          <p:cNvPr id="7" name="lista"/>
          <p:cNvSpPr txBox="1"/>
          <p:nvPr/>
        </p:nvSpPr>
        <p:spPr>
          <a:xfrm>
            <a:off x="731520" y="4576156"/>
            <a:ext cx="3118104" cy="145888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이 사람은 카밀라예요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친구예요</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Amigos, gente de tu edad</a:t>
            </a:r>
            <a:endParaRPr lang="en-US" sz="1800" dirty="0"/>
          </a:p>
        </p:txBody>
      </p:sp>
      <p:sp>
        <p:nvSpPr>
          <p:cNvPr id="8" name="col_1"/>
          <p:cNvSpPr/>
          <p:nvPr/>
        </p:nvSpPr>
        <p:spPr>
          <a:xfrm>
            <a:off x="4352544" y="1325880"/>
            <a:ext cx="3483864" cy="4846320"/>
          </a:xfrm>
          <a:prstGeom prst="roundRect">
            <a:avLst>
              <a:gd name="adj" fmla="val 3937"/>
            </a:avLst>
          </a:prstGeom>
          <a:solidFill>
            <a:srgbClr val="FFFFFF"/>
          </a:solidFill>
          <a:ln w="12700">
            <a:solidFill>
              <a:srgbClr val="D9D7F7"/>
            </a:solidFill>
            <a:prstDash val="solid"/>
          </a:ln>
        </p:spPr>
      </p:sp>
      <p:sp>
        <p:nvSpPr>
          <p:cNvPr id="9" name="Text 6"/>
          <p:cNvSpPr txBox="1"/>
          <p:nvPr/>
        </p:nvSpPr>
        <p:spPr>
          <a:xfrm>
            <a:off x="4581144"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Una abuela</a:t>
            </a:r>
            <a:endParaRPr lang="en-US" sz="2000" dirty="0"/>
          </a:p>
        </p:txBody>
      </p:sp>
      <p:pic>
        <p:nvPicPr>
          <p:cNvPr id="10" name="col_img_1" descr="C:\Users\Chingu\AppData\Local\Temp\claude\C--Users-Chingu-Desktop-ACADEMIASEULWEB\d4111e1b-5523-44ea-97b2-b1a1d9545b9e\scratchpad\decks\cache\img_f51f6e2663ead31b.png"/>
          <p:cNvPicPr>
            <a:picLocks noChangeAspect="1"/>
          </p:cNvPicPr>
          <p:nvPr/>
        </p:nvPicPr>
        <p:blipFill>
          <a:blip r:embed="rId4"/>
          <a:stretch>
            <a:fillRect/>
          </a:stretch>
        </p:blipFill>
        <p:spPr>
          <a:xfrm>
            <a:off x="4581144" y="2103120"/>
            <a:ext cx="3026664" cy="1375756"/>
          </a:xfrm>
          <a:prstGeom prst="rect">
            <a:avLst/>
          </a:prstGeom>
        </p:spPr>
      </p:pic>
      <p:sp>
        <p:nvSpPr>
          <p:cNvPr id="11" name="Text 7"/>
          <p:cNvSpPr txBox="1"/>
          <p:nvPr/>
        </p:nvSpPr>
        <p:spPr>
          <a:xfrm>
            <a:off x="4581144" y="357031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이분</a:t>
            </a:r>
            <a:endParaRPr lang="en-US" sz="5400" dirty="0"/>
          </a:p>
        </p:txBody>
      </p:sp>
      <p:sp>
        <p:nvSpPr>
          <p:cNvPr id="12" name="lista"/>
          <p:cNvSpPr txBox="1"/>
          <p:nvPr/>
        </p:nvSpPr>
        <p:spPr>
          <a:xfrm>
            <a:off x="4535424" y="4576156"/>
            <a:ext cx="3118104" cy="145888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이분은 우리 할머니예요</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Con respeto: mayores</a:t>
            </a:r>
            <a:endParaRPr lang="en-US" sz="1800" dirty="0"/>
          </a:p>
        </p:txBody>
      </p:sp>
      <p:sp>
        <p:nvSpPr>
          <p:cNvPr id="13" name="col_2"/>
          <p:cNvSpPr/>
          <p:nvPr/>
        </p:nvSpPr>
        <p:spPr>
          <a:xfrm>
            <a:off x="8156448" y="1325880"/>
            <a:ext cx="3483864" cy="4846320"/>
          </a:xfrm>
          <a:prstGeom prst="roundRect">
            <a:avLst>
              <a:gd name="adj" fmla="val 3937"/>
            </a:avLst>
          </a:prstGeom>
          <a:solidFill>
            <a:srgbClr val="F1F0FE"/>
          </a:solidFill>
          <a:ln w="12700">
            <a:solidFill>
              <a:srgbClr val="D9D7F7"/>
            </a:solidFill>
            <a:prstDash val="solid"/>
          </a:ln>
        </p:spPr>
      </p:sp>
      <p:sp>
        <p:nvSpPr>
          <p:cNvPr id="14" name="Text 10"/>
          <p:cNvSpPr txBox="1"/>
          <p:nvPr/>
        </p:nvSpPr>
        <p:spPr>
          <a:xfrm>
            <a:off x="8385048"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Tu mamá</a:t>
            </a:r>
            <a:endParaRPr lang="en-US" sz="2000" dirty="0"/>
          </a:p>
        </p:txBody>
      </p:sp>
      <p:pic>
        <p:nvPicPr>
          <p:cNvPr id="15" name="col_img_2" descr="C:\Users\Chingu\AppData\Local\Temp\claude\C--Users-Chingu-Desktop-ACADEMIASEULWEB\d4111e1b-5523-44ea-97b2-b1a1d9545b9e\scratchpad\decks\cache\img_6cbb93cf86f87a3e.png"/>
          <p:cNvPicPr>
            <a:picLocks noChangeAspect="1"/>
          </p:cNvPicPr>
          <p:nvPr/>
        </p:nvPicPr>
        <p:blipFill>
          <a:blip r:embed="rId5"/>
          <a:stretch>
            <a:fillRect/>
          </a:stretch>
        </p:blipFill>
        <p:spPr>
          <a:xfrm>
            <a:off x="8385048" y="2103120"/>
            <a:ext cx="3026664" cy="1375756"/>
          </a:xfrm>
          <a:prstGeom prst="rect">
            <a:avLst/>
          </a:prstGeom>
        </p:spPr>
      </p:pic>
      <p:sp>
        <p:nvSpPr>
          <p:cNvPr id="16" name="Text 11"/>
          <p:cNvSpPr txBox="1"/>
          <p:nvPr/>
        </p:nvSpPr>
        <p:spPr>
          <a:xfrm>
            <a:off x="8385048" y="3570316"/>
            <a:ext cx="3026664" cy="914400"/>
          </a:xfrm>
          <a:prstGeom prst="rect">
            <a:avLst/>
          </a:prstGeom>
          <a:noFill/>
          <a:ln/>
        </p:spPr>
        <p:txBody>
          <a:bodyPr wrap="square" lIns="0" tIns="0" rIns="0" bIns="0" rtlCol="0" anchor="ctr">
            <a:normAutofit/>
          </a:bodyPr>
          <a:lstStyle/>
          <a:p>
            <a:pPr marL="0" indent="0" eaLnBrk="1">
              <a:buNone/>
            </a:pPr>
            <a:r>
              <a:rPr lang="ko-KR" altLang="en-US" sz="3100" b="1" dirty="0">
                <a:solidFill>
                  <a:srgbClr val="4236F6"/>
                </a:solidFill>
                <a:latin typeface="Malgun Gothic" pitchFamily="34" charset="0"/>
                <a:ea typeface="Malgun Gothic" pitchFamily="34" charset="-122"/>
                <a:cs typeface="Malgun Gothic" pitchFamily="34" charset="-120"/>
              </a:rPr>
              <a:t>우리 엄마예요</a:t>
            </a:r>
            <a:r>
              <a:rPr lang="en-US" sz="3100" b="1" dirty="0">
                <a:solidFill>
                  <a:srgbClr val="4236F6"/>
                </a:solidFill>
              </a:rPr>
              <a:t>!</a:t>
            </a:r>
            <a:endParaRPr lang="en-US" sz="3100" dirty="0"/>
          </a:p>
        </p:txBody>
      </p:sp>
      <p:sp>
        <p:nvSpPr>
          <p:cNvPr id="17" name="lista"/>
          <p:cNvSpPr txBox="1"/>
          <p:nvPr/>
        </p:nvSpPr>
        <p:spPr>
          <a:xfrm>
            <a:off x="8339328" y="4576156"/>
            <a:ext cx="3118104" cy="145888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Señalas la foto y lo dices</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Ni 이 사람 </a:t>
            </a:r>
            <a:r>
              <a:rPr lang="en-US" sz="1800" dirty="0">
                <a:solidFill>
                  <a:srgbClr val="14142B"/>
                </a:solidFill>
              </a:rPr>
              <a:t>ni </a:t>
            </a:r>
            <a:r>
              <a:rPr lang="ko-KR" altLang="en-US" sz="1800" dirty="0">
                <a:solidFill>
                  <a:srgbClr val="14142B"/>
                </a:solidFill>
                <a:latin typeface="Malgun Gothic" pitchFamily="34" charset="0"/>
                <a:ea typeface="Malgun Gothic" pitchFamily="34" charset="-122"/>
                <a:cs typeface="Malgun Gothic" pitchFamily="34" charset="-120"/>
              </a:rPr>
              <a:t>이분</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이에요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예요  </a:t>
            </a:r>
            <a:r>
              <a:rPr lang="ko-KR" altLang="en-US" sz="2600" b="1" dirty="0">
                <a:solidFill>
                  <a:srgbClr val="003478"/>
                </a:solidFill>
                <a:latin typeface="Malgun Gothic" pitchFamily="34" charset="0"/>
                <a:ea typeface="Malgun Gothic" pitchFamily="34" charset="-122"/>
                <a:cs typeface="Malgun Gothic" pitchFamily="34" charset="-120"/>
              </a:rPr>
              <a:t>¿Termina en 받침</a:t>
            </a:r>
            <a:r>
              <a:rPr lang="en-US" sz="2600" b="1" dirty="0">
                <a:solidFill>
                  <a:srgbClr val="003478"/>
                </a:solidFill>
              </a:rPr>
              <a:t>?</a:t>
            </a:r>
            <a:r>
              <a:rPr lang="en-US" sz="1500" b="1" i="1" dirty="0">
                <a:solidFill>
                  <a:srgbClr val="8A8DA0"/>
                </a:solidFill>
              </a:rPr>
              <a:t>   Does it end in a final consonant?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¿받침</a:t>
            </a:r>
            <a:r>
              <a:rPr lang="en-US" sz="1800" i="1" dirty="0">
                <a:solidFill>
                  <a:srgbClr val="4236F6"/>
                </a:solidFill>
              </a:rPr>
              <a:t>? → </a:t>
            </a:r>
            <a:r>
              <a:rPr lang="ko-KR" altLang="en-US" sz="1800" i="1" dirty="0">
                <a:solidFill>
                  <a:srgbClr val="4236F6"/>
                </a:solidFill>
                <a:latin typeface="Malgun Gothic" pitchFamily="34" charset="0"/>
                <a:ea typeface="Malgun Gothic" pitchFamily="34" charset="-122"/>
                <a:cs typeface="Malgun Gothic" pitchFamily="34" charset="-120"/>
              </a:rPr>
              <a:t>이에요 </a:t>
            </a:r>
            <a:r>
              <a:rPr lang="en-US" sz="1800" i="1" dirty="0">
                <a:solidFill>
                  <a:srgbClr val="4236F6"/>
                </a:solidFill>
              </a:rPr>
              <a:t>· ¿vocal? → </a:t>
            </a:r>
            <a:r>
              <a:rPr lang="ko-KR" altLang="en-US" sz="1800" i="1" dirty="0">
                <a:solidFill>
                  <a:srgbClr val="4236F6"/>
                </a:solidFill>
                <a:latin typeface="Malgun Gothic" pitchFamily="34" charset="0"/>
                <a:ea typeface="Malgun Gothic" pitchFamily="34" charset="-122"/>
                <a:cs typeface="Malgun Gothic" pitchFamily="34" charset="-120"/>
              </a:rPr>
              <a:t>예요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가족이에요 </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가조기에요</a:t>
            </a:r>
            <a:r>
              <a:rPr lang="en-US" sz="1800" i="1" dirty="0">
                <a:solidFill>
                  <a:srgbClr val="4236F6"/>
                </a:solidFill>
              </a:rPr>
              <a:t>] · Escribe las 6 en el chat con </a:t>
            </a:r>
            <a:r>
              <a:rPr lang="ko-KR" altLang="en-US" sz="1800" i="1" dirty="0">
                <a:solidFill>
                  <a:srgbClr val="4236F6"/>
                </a:solidFill>
                <a:latin typeface="Malgun Gothic" pitchFamily="34" charset="0"/>
                <a:ea typeface="Malgun Gothic" pitchFamily="34" charset="-122"/>
                <a:cs typeface="Malgun Gothic" pitchFamily="34" charset="-120"/>
              </a:rPr>
              <a:t>이에요 </a:t>
            </a:r>
            <a:r>
              <a:rPr lang="en-US" sz="1800" i="1" dirty="0">
                <a:solidFill>
                  <a:srgbClr val="4236F6"/>
                </a:solidFill>
              </a:rPr>
              <a:t>o </a:t>
            </a:r>
            <a:r>
              <a:rPr lang="ko-KR" altLang="en-US" sz="1800" i="1" dirty="0">
                <a:solidFill>
                  <a:srgbClr val="4236F6"/>
                </a:solidFill>
                <a:latin typeface="Malgun Gothic" pitchFamily="34" charset="0"/>
                <a:ea typeface="Malgun Gothic" pitchFamily="34" charset="-122"/>
                <a:cs typeface="Malgun Gothic" pitchFamily="34" charset="-120"/>
              </a:rPr>
              <a:t>예요 </a:t>
            </a:r>
            <a:r>
              <a:rPr lang="en-US" sz="1800" i="1" dirty="0">
                <a:solidFill>
                  <a:srgbClr val="4236F6"/>
                </a:solidFill>
              </a:rPr>
              <a:t>y espera: </a:t>
            </a:r>
            <a:r>
              <a:rPr lang="ko-KR" altLang="en-US" sz="1800" i="1" dirty="0">
                <a:solidFill>
                  <a:srgbClr val="4236F6"/>
                </a:solidFill>
                <a:latin typeface="Malgun Gothic" pitchFamily="34" charset="0"/>
                <a:ea typeface="Malgun Gothic" pitchFamily="34" charset="-122"/>
                <a:cs typeface="Malgun Gothic" pitchFamily="34" charset="-120"/>
              </a:rPr>
              <a:t>하나</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둘</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셋</a:t>
            </a:r>
            <a:r>
              <a:rPr lang="en-US" sz="1800" i="1" dirty="0">
                <a:solidFill>
                  <a:srgbClr val="4236F6"/>
                </a:solidFill>
              </a:rPr>
              <a:t>!</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동생</a:t>
            </a:r>
            <a:endParaRPr lang="en-US" sz="2400" dirty="0"/>
          </a:p>
        </p:txBody>
      </p:sp>
      <p:sp>
        <p:nvSpPr>
          <p:cNvPr id="7" name="rev_15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15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동생이에요</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할아버지</a:t>
            </a:r>
            <a:endParaRPr lang="en-US" sz="2400" dirty="0"/>
          </a:p>
        </p:txBody>
      </p:sp>
      <p:sp>
        <p:nvSpPr>
          <p:cNvPr id="12" name="rev_16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16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할아버지예요</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형</a:t>
            </a:r>
            <a:endParaRPr lang="en-US" sz="2400" dirty="0"/>
          </a:p>
        </p:txBody>
      </p:sp>
      <p:sp>
        <p:nvSpPr>
          <p:cNvPr id="17" name="rev_17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17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형이에요</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언니</a:t>
            </a:r>
            <a:endParaRPr lang="en-US" sz="2400" dirty="0"/>
          </a:p>
        </p:txBody>
      </p:sp>
      <p:sp>
        <p:nvSpPr>
          <p:cNvPr id="22" name="rev_18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18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언니예요</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가족</a:t>
            </a:r>
            <a:endParaRPr lang="en-US" sz="2400" dirty="0"/>
          </a:p>
        </p:txBody>
      </p:sp>
      <p:sp>
        <p:nvSpPr>
          <p:cNvPr id="27" name="rev_19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19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가족이에요 </a:t>
            </a:r>
            <a:r>
              <a:rPr lang="en-US" sz="2200" b="1" dirty="0">
                <a:solidFill>
                  <a:srgbClr val="FFFFFF"/>
                </a:solidFill>
              </a:rPr>
              <a:t>[</a:t>
            </a:r>
            <a:r>
              <a:rPr lang="ko-KR" altLang="en-US" sz="2200" b="1" dirty="0">
                <a:solidFill>
                  <a:srgbClr val="FFFFFF"/>
                </a:solidFill>
                <a:latin typeface="Malgun Gothic" pitchFamily="34" charset="0"/>
                <a:ea typeface="Malgun Gothic" pitchFamily="34" charset="-122"/>
                <a:cs typeface="Malgun Gothic" pitchFamily="34" charset="-120"/>
              </a:rPr>
              <a:t>가조기에요</a:t>
            </a:r>
            <a:r>
              <a:rPr lang="en-US" sz="2200" b="1" dirty="0">
                <a:solidFill>
                  <a:srgbClr val="FFFFFF"/>
                </a:solidFill>
              </a:rPr>
              <a:t>]</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친구</a:t>
            </a:r>
            <a:endParaRPr lang="en-US" sz="2400" dirty="0"/>
          </a:p>
        </p:txBody>
      </p:sp>
      <p:sp>
        <p:nvSpPr>
          <p:cNvPr id="32" name="rev_20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20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친구예요</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숫자 </a:t>
            </a:r>
            <a:r>
              <a:rPr lang="en-US" sz="3000" b="1" dirty="0">
                <a:solidFill>
                  <a:srgbClr val="4236F6"/>
                </a:solidFill>
              </a:rPr>
              <a:t>1  </a:t>
            </a:r>
            <a:r>
              <a:rPr lang="en-US" sz="3000" b="1" dirty="0">
                <a:solidFill>
                  <a:srgbClr val="003478"/>
                </a:solidFill>
              </a:rPr>
              <a:t>Números 1 · del 0 al 10</a:t>
            </a:r>
            <a:r>
              <a:rPr lang="en-US" sz="1500" b="1" i="1" dirty="0">
                <a:solidFill>
                  <a:srgbClr val="8A8DA0"/>
                </a:solidFill>
              </a:rPr>
              <a:t>   Numbers 1 · 0 to 10</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Sino-coreano = se lee (teléfonos) · el 0 del teléfono es 공</a:t>
            </a:r>
            <a:endParaRPr lang="en-US" sz="1800" dirty="0"/>
          </a:p>
        </p:txBody>
      </p:sp>
      <p:sp>
        <p:nvSpPr>
          <p:cNvPr id="4" name="tile_0"/>
          <p:cNvSpPr/>
          <p:nvPr/>
        </p:nvSpPr>
        <p:spPr>
          <a:xfrm>
            <a:off x="548640" y="1874520"/>
            <a:ext cx="1388582" cy="2034540"/>
          </a:xfrm>
          <a:prstGeom prst="roundRect">
            <a:avLst>
              <a:gd name="adj" fmla="val 9878"/>
            </a:avLst>
          </a:prstGeom>
          <a:solidFill>
            <a:srgbClr val="F1F0FE"/>
          </a:solidFill>
          <a:ln w="12700">
            <a:solidFill>
              <a:srgbClr val="D9D7F7"/>
            </a:solidFill>
            <a:prstDash val="solid"/>
          </a:ln>
        </p:spPr>
      </p:sp>
      <p:sp>
        <p:nvSpPr>
          <p:cNvPr id="5" name="Text 3"/>
          <p:cNvSpPr txBox="1"/>
          <p:nvPr/>
        </p:nvSpPr>
        <p:spPr>
          <a:xfrm>
            <a:off x="548640"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공</a:t>
            </a:r>
            <a:endParaRPr lang="en-US" sz="7600" dirty="0"/>
          </a:p>
        </p:txBody>
      </p:sp>
      <p:sp>
        <p:nvSpPr>
          <p:cNvPr id="6" name="Text 4"/>
          <p:cNvSpPr txBox="1"/>
          <p:nvPr/>
        </p:nvSpPr>
        <p:spPr>
          <a:xfrm>
            <a:off x="594360"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0</a:t>
            </a:r>
            <a:endParaRPr lang="en-US" sz="1700" dirty="0"/>
          </a:p>
        </p:txBody>
      </p:sp>
      <p:sp>
        <p:nvSpPr>
          <p:cNvPr id="7" name="tile_1"/>
          <p:cNvSpPr/>
          <p:nvPr/>
        </p:nvSpPr>
        <p:spPr>
          <a:xfrm>
            <a:off x="2165822" y="1874520"/>
            <a:ext cx="1388582" cy="2034540"/>
          </a:xfrm>
          <a:prstGeom prst="roundRect">
            <a:avLst>
              <a:gd name="adj" fmla="val 9878"/>
            </a:avLst>
          </a:prstGeom>
          <a:solidFill>
            <a:srgbClr val="F1F0FE"/>
          </a:solidFill>
          <a:ln w="12700">
            <a:solidFill>
              <a:srgbClr val="D9D7F7"/>
            </a:solidFill>
            <a:prstDash val="solid"/>
          </a:ln>
        </p:spPr>
      </p:sp>
      <p:sp>
        <p:nvSpPr>
          <p:cNvPr id="8" name="Text 6"/>
          <p:cNvSpPr txBox="1"/>
          <p:nvPr/>
        </p:nvSpPr>
        <p:spPr>
          <a:xfrm>
            <a:off x="2165822"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일</a:t>
            </a:r>
            <a:endParaRPr lang="en-US" sz="7600" dirty="0"/>
          </a:p>
        </p:txBody>
      </p:sp>
      <p:sp>
        <p:nvSpPr>
          <p:cNvPr id="9" name="Text 7"/>
          <p:cNvSpPr txBox="1"/>
          <p:nvPr/>
        </p:nvSpPr>
        <p:spPr>
          <a:xfrm>
            <a:off x="2211542"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a:t>
            </a:r>
            <a:endParaRPr lang="en-US" sz="1700" dirty="0"/>
          </a:p>
        </p:txBody>
      </p:sp>
      <p:sp>
        <p:nvSpPr>
          <p:cNvPr id="10" name="tile_2"/>
          <p:cNvSpPr/>
          <p:nvPr/>
        </p:nvSpPr>
        <p:spPr>
          <a:xfrm>
            <a:off x="3783003" y="1874520"/>
            <a:ext cx="1388582" cy="2034540"/>
          </a:xfrm>
          <a:prstGeom prst="roundRect">
            <a:avLst>
              <a:gd name="adj" fmla="val 9878"/>
            </a:avLst>
          </a:prstGeom>
          <a:solidFill>
            <a:srgbClr val="F1F0FE"/>
          </a:solidFill>
          <a:ln w="12700">
            <a:solidFill>
              <a:srgbClr val="D9D7F7"/>
            </a:solidFill>
            <a:prstDash val="solid"/>
          </a:ln>
        </p:spPr>
      </p:sp>
      <p:sp>
        <p:nvSpPr>
          <p:cNvPr id="11" name="Text 9"/>
          <p:cNvSpPr txBox="1"/>
          <p:nvPr/>
        </p:nvSpPr>
        <p:spPr>
          <a:xfrm>
            <a:off x="3783003"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이</a:t>
            </a:r>
            <a:endParaRPr lang="en-US" sz="7600" dirty="0"/>
          </a:p>
        </p:txBody>
      </p:sp>
      <p:sp>
        <p:nvSpPr>
          <p:cNvPr id="12" name="Text 10"/>
          <p:cNvSpPr txBox="1"/>
          <p:nvPr/>
        </p:nvSpPr>
        <p:spPr>
          <a:xfrm>
            <a:off x="3828723"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2</a:t>
            </a:r>
            <a:endParaRPr lang="en-US" sz="1700" dirty="0"/>
          </a:p>
        </p:txBody>
      </p:sp>
      <p:sp>
        <p:nvSpPr>
          <p:cNvPr id="13" name="tile_3"/>
          <p:cNvSpPr/>
          <p:nvPr/>
        </p:nvSpPr>
        <p:spPr>
          <a:xfrm>
            <a:off x="5400185" y="1874520"/>
            <a:ext cx="1388582" cy="2034540"/>
          </a:xfrm>
          <a:prstGeom prst="roundRect">
            <a:avLst>
              <a:gd name="adj" fmla="val 9878"/>
            </a:avLst>
          </a:prstGeom>
          <a:solidFill>
            <a:srgbClr val="F1F0FE"/>
          </a:solidFill>
          <a:ln w="12700">
            <a:solidFill>
              <a:srgbClr val="D9D7F7"/>
            </a:solidFill>
            <a:prstDash val="solid"/>
          </a:ln>
        </p:spPr>
      </p:sp>
      <p:sp>
        <p:nvSpPr>
          <p:cNvPr id="14" name="Text 12"/>
          <p:cNvSpPr txBox="1"/>
          <p:nvPr/>
        </p:nvSpPr>
        <p:spPr>
          <a:xfrm>
            <a:off x="5400185"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삼</a:t>
            </a:r>
            <a:endParaRPr lang="en-US" sz="7600" dirty="0"/>
          </a:p>
        </p:txBody>
      </p:sp>
      <p:sp>
        <p:nvSpPr>
          <p:cNvPr id="15" name="Text 13"/>
          <p:cNvSpPr txBox="1"/>
          <p:nvPr/>
        </p:nvSpPr>
        <p:spPr>
          <a:xfrm>
            <a:off x="5445905"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3</a:t>
            </a:r>
            <a:endParaRPr lang="en-US" sz="1700" dirty="0"/>
          </a:p>
        </p:txBody>
      </p:sp>
      <p:sp>
        <p:nvSpPr>
          <p:cNvPr id="16" name="tile_4"/>
          <p:cNvSpPr/>
          <p:nvPr/>
        </p:nvSpPr>
        <p:spPr>
          <a:xfrm>
            <a:off x="7017367" y="1874520"/>
            <a:ext cx="1388582" cy="2034540"/>
          </a:xfrm>
          <a:prstGeom prst="roundRect">
            <a:avLst>
              <a:gd name="adj" fmla="val 9878"/>
            </a:avLst>
          </a:prstGeom>
          <a:solidFill>
            <a:srgbClr val="F1F0FE"/>
          </a:solidFill>
          <a:ln w="12700">
            <a:solidFill>
              <a:srgbClr val="D9D7F7"/>
            </a:solidFill>
            <a:prstDash val="solid"/>
          </a:ln>
        </p:spPr>
      </p:sp>
      <p:sp>
        <p:nvSpPr>
          <p:cNvPr id="17" name="Text 15"/>
          <p:cNvSpPr txBox="1"/>
          <p:nvPr/>
        </p:nvSpPr>
        <p:spPr>
          <a:xfrm>
            <a:off x="7017367"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사</a:t>
            </a:r>
            <a:endParaRPr lang="en-US" sz="7600" dirty="0"/>
          </a:p>
        </p:txBody>
      </p:sp>
      <p:sp>
        <p:nvSpPr>
          <p:cNvPr id="18" name="Text 16"/>
          <p:cNvSpPr txBox="1"/>
          <p:nvPr/>
        </p:nvSpPr>
        <p:spPr>
          <a:xfrm>
            <a:off x="7063087"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4</a:t>
            </a:r>
            <a:endParaRPr lang="en-US" sz="1700" dirty="0"/>
          </a:p>
        </p:txBody>
      </p:sp>
      <p:sp>
        <p:nvSpPr>
          <p:cNvPr id="19" name="tile_5"/>
          <p:cNvSpPr/>
          <p:nvPr/>
        </p:nvSpPr>
        <p:spPr>
          <a:xfrm>
            <a:off x="8634549" y="1874520"/>
            <a:ext cx="1388582" cy="2034540"/>
          </a:xfrm>
          <a:prstGeom prst="roundRect">
            <a:avLst>
              <a:gd name="adj" fmla="val 9878"/>
            </a:avLst>
          </a:prstGeom>
          <a:solidFill>
            <a:srgbClr val="F1F0FE"/>
          </a:solidFill>
          <a:ln w="12700">
            <a:solidFill>
              <a:srgbClr val="D9D7F7"/>
            </a:solidFill>
            <a:prstDash val="solid"/>
          </a:ln>
        </p:spPr>
      </p:sp>
      <p:sp>
        <p:nvSpPr>
          <p:cNvPr id="20" name="Text 18"/>
          <p:cNvSpPr txBox="1"/>
          <p:nvPr/>
        </p:nvSpPr>
        <p:spPr>
          <a:xfrm>
            <a:off x="8634549"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오</a:t>
            </a:r>
            <a:endParaRPr lang="en-US" sz="7600" dirty="0"/>
          </a:p>
        </p:txBody>
      </p:sp>
      <p:sp>
        <p:nvSpPr>
          <p:cNvPr id="21" name="Text 19"/>
          <p:cNvSpPr txBox="1"/>
          <p:nvPr/>
        </p:nvSpPr>
        <p:spPr>
          <a:xfrm>
            <a:off x="8680269"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5</a:t>
            </a:r>
            <a:endParaRPr lang="en-US" sz="1700" dirty="0"/>
          </a:p>
        </p:txBody>
      </p:sp>
      <p:sp>
        <p:nvSpPr>
          <p:cNvPr id="22" name="tile_6"/>
          <p:cNvSpPr/>
          <p:nvPr/>
        </p:nvSpPr>
        <p:spPr>
          <a:xfrm>
            <a:off x="10251730" y="1874520"/>
            <a:ext cx="1388582" cy="2034540"/>
          </a:xfrm>
          <a:prstGeom prst="roundRect">
            <a:avLst>
              <a:gd name="adj" fmla="val 9878"/>
            </a:avLst>
          </a:prstGeom>
          <a:solidFill>
            <a:srgbClr val="F1F0FE"/>
          </a:solidFill>
          <a:ln w="12700">
            <a:solidFill>
              <a:srgbClr val="D9D7F7"/>
            </a:solidFill>
            <a:prstDash val="solid"/>
          </a:ln>
        </p:spPr>
      </p:sp>
      <p:sp>
        <p:nvSpPr>
          <p:cNvPr id="23" name="Text 21"/>
          <p:cNvSpPr txBox="1"/>
          <p:nvPr/>
        </p:nvSpPr>
        <p:spPr>
          <a:xfrm>
            <a:off x="10251730"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육</a:t>
            </a:r>
            <a:endParaRPr lang="en-US" sz="7600" dirty="0"/>
          </a:p>
        </p:txBody>
      </p:sp>
      <p:sp>
        <p:nvSpPr>
          <p:cNvPr id="24" name="Text 22"/>
          <p:cNvSpPr txBox="1"/>
          <p:nvPr/>
        </p:nvSpPr>
        <p:spPr>
          <a:xfrm>
            <a:off x="10297450" y="317662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6</a:t>
            </a:r>
            <a:endParaRPr lang="en-US" sz="1700" dirty="0"/>
          </a:p>
        </p:txBody>
      </p:sp>
      <p:sp>
        <p:nvSpPr>
          <p:cNvPr id="25" name="tile_7"/>
          <p:cNvSpPr/>
          <p:nvPr/>
        </p:nvSpPr>
        <p:spPr>
          <a:xfrm>
            <a:off x="2165822" y="4137660"/>
            <a:ext cx="1388582" cy="2034540"/>
          </a:xfrm>
          <a:prstGeom prst="roundRect">
            <a:avLst>
              <a:gd name="adj" fmla="val 9878"/>
            </a:avLst>
          </a:prstGeom>
          <a:solidFill>
            <a:srgbClr val="F1F0FE"/>
          </a:solidFill>
          <a:ln w="12700">
            <a:solidFill>
              <a:srgbClr val="D9D7F7"/>
            </a:solidFill>
            <a:prstDash val="solid"/>
          </a:ln>
        </p:spPr>
      </p:sp>
      <p:sp>
        <p:nvSpPr>
          <p:cNvPr id="26" name="Text 24"/>
          <p:cNvSpPr txBox="1"/>
          <p:nvPr/>
        </p:nvSpPr>
        <p:spPr>
          <a:xfrm>
            <a:off x="2165822"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칠</a:t>
            </a:r>
            <a:endParaRPr lang="en-US" sz="7600" dirty="0"/>
          </a:p>
        </p:txBody>
      </p:sp>
      <p:sp>
        <p:nvSpPr>
          <p:cNvPr id="27" name="Text 25"/>
          <p:cNvSpPr txBox="1"/>
          <p:nvPr/>
        </p:nvSpPr>
        <p:spPr>
          <a:xfrm>
            <a:off x="2211542" y="543976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7</a:t>
            </a:r>
            <a:endParaRPr lang="en-US" sz="1700" dirty="0"/>
          </a:p>
        </p:txBody>
      </p:sp>
      <p:sp>
        <p:nvSpPr>
          <p:cNvPr id="28" name="tile_8"/>
          <p:cNvSpPr/>
          <p:nvPr/>
        </p:nvSpPr>
        <p:spPr>
          <a:xfrm>
            <a:off x="3783003" y="4137660"/>
            <a:ext cx="1388582" cy="2034540"/>
          </a:xfrm>
          <a:prstGeom prst="roundRect">
            <a:avLst>
              <a:gd name="adj" fmla="val 9878"/>
            </a:avLst>
          </a:prstGeom>
          <a:solidFill>
            <a:srgbClr val="F1F0FE"/>
          </a:solidFill>
          <a:ln w="12700">
            <a:solidFill>
              <a:srgbClr val="D9D7F7"/>
            </a:solidFill>
            <a:prstDash val="solid"/>
          </a:ln>
        </p:spPr>
      </p:sp>
      <p:sp>
        <p:nvSpPr>
          <p:cNvPr id="29" name="Text 27"/>
          <p:cNvSpPr txBox="1"/>
          <p:nvPr/>
        </p:nvSpPr>
        <p:spPr>
          <a:xfrm>
            <a:off x="3783003"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팔</a:t>
            </a:r>
            <a:endParaRPr lang="en-US" sz="7600" dirty="0"/>
          </a:p>
        </p:txBody>
      </p:sp>
      <p:sp>
        <p:nvSpPr>
          <p:cNvPr id="30" name="Text 28"/>
          <p:cNvSpPr txBox="1"/>
          <p:nvPr/>
        </p:nvSpPr>
        <p:spPr>
          <a:xfrm>
            <a:off x="3828723" y="543976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8</a:t>
            </a:r>
            <a:endParaRPr lang="en-US" sz="1700" dirty="0"/>
          </a:p>
        </p:txBody>
      </p:sp>
      <p:sp>
        <p:nvSpPr>
          <p:cNvPr id="31" name="tile_9"/>
          <p:cNvSpPr/>
          <p:nvPr/>
        </p:nvSpPr>
        <p:spPr>
          <a:xfrm>
            <a:off x="5400185" y="4137660"/>
            <a:ext cx="1388582" cy="2034540"/>
          </a:xfrm>
          <a:prstGeom prst="roundRect">
            <a:avLst>
              <a:gd name="adj" fmla="val 9878"/>
            </a:avLst>
          </a:prstGeom>
          <a:solidFill>
            <a:srgbClr val="F1F0FE"/>
          </a:solidFill>
          <a:ln w="12700">
            <a:solidFill>
              <a:srgbClr val="D9D7F7"/>
            </a:solidFill>
            <a:prstDash val="solid"/>
          </a:ln>
        </p:spPr>
      </p:sp>
      <p:sp>
        <p:nvSpPr>
          <p:cNvPr id="32" name="Text 30"/>
          <p:cNvSpPr txBox="1"/>
          <p:nvPr/>
        </p:nvSpPr>
        <p:spPr>
          <a:xfrm>
            <a:off x="5400185"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구</a:t>
            </a:r>
            <a:endParaRPr lang="en-US" sz="7600" dirty="0"/>
          </a:p>
        </p:txBody>
      </p:sp>
      <p:sp>
        <p:nvSpPr>
          <p:cNvPr id="33" name="Text 31"/>
          <p:cNvSpPr txBox="1"/>
          <p:nvPr/>
        </p:nvSpPr>
        <p:spPr>
          <a:xfrm>
            <a:off x="5445905" y="543976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9</a:t>
            </a:r>
            <a:endParaRPr lang="en-US" sz="1700" dirty="0"/>
          </a:p>
        </p:txBody>
      </p:sp>
      <p:sp>
        <p:nvSpPr>
          <p:cNvPr id="34" name="tile_10"/>
          <p:cNvSpPr/>
          <p:nvPr/>
        </p:nvSpPr>
        <p:spPr>
          <a:xfrm>
            <a:off x="7017367" y="4137660"/>
            <a:ext cx="1388582" cy="2034540"/>
          </a:xfrm>
          <a:prstGeom prst="roundRect">
            <a:avLst>
              <a:gd name="adj" fmla="val 9878"/>
            </a:avLst>
          </a:prstGeom>
          <a:solidFill>
            <a:srgbClr val="F1F0FE"/>
          </a:solidFill>
          <a:ln w="12700">
            <a:solidFill>
              <a:srgbClr val="D9D7F7"/>
            </a:solidFill>
            <a:prstDash val="solid"/>
          </a:ln>
        </p:spPr>
      </p:sp>
      <p:sp>
        <p:nvSpPr>
          <p:cNvPr id="35" name="Text 33"/>
          <p:cNvSpPr txBox="1"/>
          <p:nvPr/>
        </p:nvSpPr>
        <p:spPr>
          <a:xfrm>
            <a:off x="7017367"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십</a:t>
            </a:r>
            <a:endParaRPr lang="en-US" sz="7600" dirty="0"/>
          </a:p>
        </p:txBody>
      </p:sp>
      <p:sp>
        <p:nvSpPr>
          <p:cNvPr id="36" name="Text 34"/>
          <p:cNvSpPr txBox="1"/>
          <p:nvPr/>
        </p:nvSpPr>
        <p:spPr>
          <a:xfrm>
            <a:off x="7063087" y="543976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10</a:t>
            </a:r>
            <a:endParaRPr lang="en-US" sz="1700" dirty="0"/>
          </a:p>
        </p:txBody>
      </p:sp>
      <p:sp>
        <p:nvSpPr>
          <p:cNvPr id="37" name="tile_11"/>
          <p:cNvSpPr/>
          <p:nvPr/>
        </p:nvSpPr>
        <p:spPr>
          <a:xfrm>
            <a:off x="8634549" y="4137660"/>
            <a:ext cx="1388582" cy="2034540"/>
          </a:xfrm>
          <a:prstGeom prst="roundRect">
            <a:avLst>
              <a:gd name="adj" fmla="val 9878"/>
            </a:avLst>
          </a:prstGeom>
          <a:solidFill>
            <a:srgbClr val="F1F0FE"/>
          </a:solidFill>
          <a:ln w="12700">
            <a:solidFill>
              <a:srgbClr val="D9D7F7"/>
            </a:solidFill>
            <a:prstDash val="solid"/>
          </a:ln>
        </p:spPr>
      </p:sp>
      <p:sp>
        <p:nvSpPr>
          <p:cNvPr id="38" name="Text 36"/>
          <p:cNvSpPr txBox="1"/>
          <p:nvPr/>
        </p:nvSpPr>
        <p:spPr>
          <a:xfrm>
            <a:off x="8634549"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백</a:t>
            </a:r>
            <a:endParaRPr lang="en-US" sz="7600" dirty="0"/>
          </a:p>
        </p:txBody>
      </p:sp>
      <p:sp>
        <p:nvSpPr>
          <p:cNvPr id="39" name="Text 37"/>
          <p:cNvSpPr txBox="1"/>
          <p:nvPr/>
        </p:nvSpPr>
        <p:spPr>
          <a:xfrm>
            <a:off x="8680269" y="5439766"/>
            <a:ext cx="1297142"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100</a:t>
            </a:r>
            <a:endParaRPr lang="en-US" sz="1700" dirty="0"/>
          </a:p>
        </p:txBody>
      </p:sp>
      <p:sp>
        <p:nvSpPr>
          <p:cNvPr id="4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숫자 </a:t>
            </a:r>
            <a:r>
              <a:rPr lang="en-US" sz="3000" b="1" dirty="0">
                <a:solidFill>
                  <a:srgbClr val="4236F6"/>
                </a:solidFill>
              </a:rPr>
              <a:t>2  </a:t>
            </a:r>
            <a:r>
              <a:rPr lang="en-US" sz="3000" b="1" dirty="0">
                <a:solidFill>
                  <a:srgbClr val="003478"/>
                </a:solidFill>
              </a:rPr>
              <a:t>Números 2 · El LEGO</a:t>
            </a:r>
            <a:r>
              <a:rPr lang="en-US" sz="1500" b="1" i="1" dirty="0">
                <a:solidFill>
                  <a:srgbClr val="8A8DA0"/>
                </a:solidFill>
              </a:rPr>
              <a:t>   Numbers 2 · Building blocks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10 = 십 </a:t>
            </a:r>
            <a:r>
              <a:rPr lang="en-US" sz="1800" i="1" dirty="0">
                <a:solidFill>
                  <a:srgbClr val="4236F6"/>
                </a:solidFill>
              </a:rPr>
              <a:t>(no </a:t>
            </a:r>
            <a:r>
              <a:rPr lang="ko-KR" altLang="en-US" sz="1800" i="1" dirty="0">
                <a:solidFill>
                  <a:srgbClr val="4236F6"/>
                </a:solidFill>
                <a:latin typeface="Malgun Gothic" pitchFamily="34" charset="0"/>
                <a:ea typeface="Malgun Gothic" pitchFamily="34" charset="-122"/>
                <a:cs typeface="Malgun Gothic" pitchFamily="34" charset="-120"/>
              </a:rPr>
              <a:t>일십</a:t>
            </a:r>
            <a:r>
              <a:rPr lang="en-US" sz="1800" i="1" dirty="0">
                <a:solidFill>
                  <a:srgbClr val="4236F6"/>
                </a:solidFill>
              </a:rPr>
              <a:t>) · 100 = </a:t>
            </a:r>
            <a:r>
              <a:rPr lang="ko-KR" altLang="en-US" sz="1800" i="1" dirty="0">
                <a:solidFill>
                  <a:srgbClr val="4236F6"/>
                </a:solidFill>
                <a:latin typeface="Malgun Gothic" pitchFamily="34" charset="0"/>
                <a:ea typeface="Malgun Gothic" pitchFamily="34" charset="-122"/>
                <a:cs typeface="Malgun Gothic" pitchFamily="34" charset="-120"/>
              </a:rPr>
              <a:t>백 </a:t>
            </a:r>
            <a:r>
              <a:rPr lang="en-US" sz="1800" i="1" dirty="0">
                <a:solidFill>
                  <a:srgbClr val="4236F6"/>
                </a:solidFill>
              </a:rPr>
              <a:t>(no </a:t>
            </a:r>
            <a:r>
              <a:rPr lang="ko-KR" altLang="en-US" sz="1800" i="1" dirty="0">
                <a:solidFill>
                  <a:srgbClr val="4236F6"/>
                </a:solidFill>
                <a:latin typeface="Malgun Gothic" pitchFamily="34" charset="0"/>
                <a:ea typeface="Malgun Gothic" pitchFamily="34" charset="-122"/>
                <a:cs typeface="Malgun Gothic" pitchFamily="34" charset="-120"/>
              </a:rPr>
              <a:t>일백</a:t>
            </a:r>
            <a:r>
              <a:rPr lang="en-US" sz="1800" i="1" dirty="0">
                <a:solidFill>
                  <a:srgbClr val="4236F6"/>
                </a:solidFill>
              </a:rPr>
              <a:t>)</a:t>
            </a:r>
            <a:endParaRPr lang="en-US" sz="1800" dirty="0"/>
          </a:p>
        </p:txBody>
      </p:sp>
      <p:graphicFrame>
        <p:nvGraphicFramePr>
          <p:cNvPr id="16" name="tabla"/>
          <p:cNvGraphicFramePr>
            <a:graphicFrameLocks noGrp="1"/>
          </p:cNvGraphicFramePr>
          <p:nvPr>
            <p:extLst>
              <p:ext uri="{D42A27DB-BD31-4B8C-83A1-F6EECF244321}">
                <p14:modId xmlns:p14="http://schemas.microsoft.com/office/powerpoint/2010/main" val="2457690411"/>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477520">
                <a:tc>
                  <a:txBody>
                    <a:bodyPr/>
                    <a:lstStyle/>
                    <a:p>
                      <a:pPr marL="0" indent="0" eaLnBrk="1">
                        <a:buNone/>
                      </a:pPr>
                      <a:r>
                        <a:rPr lang="en-US" sz="1600" b="1" dirty="0">
                          <a:solidFill>
                            <a:srgbClr val="FFFFFF"/>
                          </a:solidFill>
                        </a:rPr>
                        <a:t>Número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Se arma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En 한글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477520">
                <a:tc>
                  <a:txBody>
                    <a:bodyPr/>
                    <a:lstStyle/>
                    <a:p>
                      <a:pPr marL="0" indent="0" eaLnBrk="1">
                        <a:buNone/>
                      </a:pPr>
                      <a:r>
                        <a:rPr lang="en-US" sz="1600" dirty="0">
                          <a:solidFill>
                            <a:srgbClr val="14142B"/>
                          </a:solidFill>
                        </a:rPr>
                        <a:t>11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10 + 1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십일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477520">
                <a:tc>
                  <a:txBody>
                    <a:bodyPr/>
                    <a:lstStyle/>
                    <a:p>
                      <a:pPr marL="0" indent="0" eaLnBrk="1">
                        <a:buNone/>
                      </a:pPr>
                      <a:r>
                        <a:rPr lang="en-US" sz="1600" dirty="0">
                          <a:solidFill>
                            <a:srgbClr val="14142B"/>
                          </a:solidFill>
                        </a:rPr>
                        <a:t>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10 + 5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십오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520">
                <a:tc>
                  <a:txBody>
                    <a:bodyPr/>
                    <a:lstStyle/>
                    <a:p>
                      <a:pPr marL="0" indent="0" eaLnBrk="1">
                        <a:buNone/>
                      </a:pPr>
                      <a:r>
                        <a:rPr lang="en-US" sz="1600" dirty="0">
                          <a:solidFill>
                            <a:srgbClr val="14142B"/>
                          </a:solidFill>
                        </a:rPr>
                        <a:t>20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2 × 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이십</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477520">
                <a:tc>
                  <a:txBody>
                    <a:bodyPr/>
                    <a:lstStyle/>
                    <a:p>
                      <a:pPr marL="0" indent="0" eaLnBrk="1">
                        <a:buNone/>
                      </a:pPr>
                      <a:r>
                        <a:rPr lang="en-US" sz="1600" dirty="0">
                          <a:solidFill>
                            <a:srgbClr val="14142B"/>
                          </a:solidFill>
                        </a:rPr>
                        <a:t>27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2 × 10 + 7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이십칠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7520">
                <a:tc>
                  <a:txBody>
                    <a:bodyPr/>
                    <a:lstStyle/>
                    <a:p>
                      <a:pPr marL="0" indent="0" eaLnBrk="1">
                        <a:buNone/>
                      </a:pPr>
                      <a:r>
                        <a:rPr lang="en-US" sz="1600" dirty="0">
                          <a:solidFill>
                            <a:srgbClr val="14142B"/>
                          </a:solidFill>
                        </a:rPr>
                        <a:t>31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3 × 10 + 1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삼십일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477520">
                <a:tc>
                  <a:txBody>
                    <a:bodyPr/>
                    <a:lstStyle/>
                    <a:p>
                      <a:pPr marL="0" indent="0" eaLnBrk="1">
                        <a:buNone/>
                      </a:pPr>
                      <a:r>
                        <a:rPr lang="en-US" sz="1600" dirty="0">
                          <a:solidFill>
                            <a:srgbClr val="14142B"/>
                          </a:solidFill>
                        </a:rPr>
                        <a:t>99</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9 × 10 + 9</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구십구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7520">
                <a:tc>
                  <a:txBody>
                    <a:bodyPr/>
                    <a:lstStyle/>
                    <a:p>
                      <a:pPr marL="0" indent="0" eaLnBrk="1">
                        <a:buNone/>
                      </a:pPr>
                      <a:r>
                        <a:rPr lang="en-US" sz="1600" dirty="0">
                          <a:solidFill>
                            <a:srgbClr val="14142B"/>
                          </a:solidFill>
                        </a:rPr>
                        <a:t>100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백</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477520">
                <a:tc>
                  <a:txBody>
                    <a:bodyPr/>
                    <a:lstStyle/>
                    <a:p>
                      <a:pPr marL="0" indent="0" eaLnBrk="1">
                        <a:buNone/>
                      </a:pPr>
                      <a:r>
                        <a:rPr lang="en-US" sz="1600" dirty="0">
                          <a:solidFill>
                            <a:srgbClr val="14142B"/>
                          </a:solidFill>
                        </a:rPr>
                        <a:t>16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el rebelde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십육 </a:t>
                      </a:r>
                      <a:r>
                        <a:rPr lang="en-US" sz="1600" dirty="0">
                          <a:solidFill>
                            <a:srgbClr val="14142B"/>
                          </a:solidFill>
                        </a:rPr>
                        <a:t>[</a:t>
                      </a:r>
                      <a:r>
                        <a:rPr lang="ko-KR" altLang="en-US" sz="1600" dirty="0">
                          <a:solidFill>
                            <a:srgbClr val="14142B"/>
                          </a:solidFill>
                          <a:latin typeface="Malgun Gothic" pitchFamily="34" charset="0"/>
                          <a:ea typeface="Malgun Gothic" pitchFamily="34" charset="-122"/>
                          <a:cs typeface="Malgun Gothic" pitchFamily="34" charset="-120"/>
                        </a:rPr>
                        <a:t>심뉵</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빙고</a:t>
            </a:r>
            <a:r>
              <a:rPr lang="en-US" sz="3000" b="1" dirty="0">
                <a:solidFill>
                  <a:srgbClr val="4236F6"/>
                </a:solidFill>
              </a:rPr>
              <a:t>!  </a:t>
            </a:r>
            <a:r>
              <a:rPr lang="en-US" sz="3000" b="1" dirty="0">
                <a:solidFill>
                  <a:srgbClr val="003478"/>
                </a:solidFill>
              </a:rPr>
              <a:t>¡Bingo!</a:t>
            </a:r>
            <a:r>
              <a:rPr lang="en-US" sz="1500" b="1" i="1" dirty="0">
                <a:solidFill>
                  <a:srgbClr val="8A8DA0"/>
                </a:solidFill>
              </a:rPr>
              <a:t>   Bingo!</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Elige 9 y dibuja tu cartón de 3 × 3 · línea completa → 빙고</a:t>
            </a:r>
            <a:r>
              <a:rPr lang="en-US" sz="1800" i="1" dirty="0">
                <a:solidFill>
                  <a:srgbClr val="4236F6"/>
                </a:solidFill>
              </a:rPr>
              <a:t>! y lees tu línea en coreano</a:t>
            </a:r>
            <a:endParaRPr lang="en-US" sz="1800" dirty="0"/>
          </a:p>
        </p:txBody>
      </p:sp>
      <p:graphicFrame>
        <p:nvGraphicFramePr>
          <p:cNvPr id="17" name="tabla"/>
          <p:cNvGraphicFramePr>
            <a:graphicFrameLocks noGrp="1"/>
          </p:cNvGraphicFramePr>
          <p:nvPr>
            <p:extLst>
              <p:ext uri="{D42A27DB-BD31-4B8C-83A1-F6EECF244321}">
                <p14:modId xmlns:p14="http://schemas.microsoft.com/office/powerpoint/2010/main" val="83953531"/>
              </p:ext>
            </p:extLst>
          </p:nvPr>
        </p:nvGraphicFramePr>
        <p:xfrm>
          <a:off x="548640" y="1874520"/>
          <a:ext cx="11091672" cy="914400"/>
        </p:xfrm>
        <a:graphic>
          <a:graphicData uri="http://schemas.openxmlformats.org/drawingml/2006/table">
            <a:tbl>
              <a:tblPr/>
              <a:tblGrid>
                <a:gridCol w="2218334">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2218334">
                  <a:extLst>
                    <a:ext uri="{9D8B030D-6E8A-4147-A177-3AD203B41FA5}">
                      <a16:colId xmlns:a16="http://schemas.microsoft.com/office/drawing/2014/main" val="20002"/>
                    </a:ext>
                  </a:extLst>
                </a:gridCol>
                <a:gridCol w="2218334">
                  <a:extLst>
                    <a:ext uri="{9D8B030D-6E8A-4147-A177-3AD203B41FA5}">
                      <a16:colId xmlns:a16="http://schemas.microsoft.com/office/drawing/2014/main" val="20003"/>
                    </a:ext>
                  </a:extLst>
                </a:gridCol>
                <a:gridCol w="2218334">
                  <a:extLst>
                    <a:ext uri="{9D8B030D-6E8A-4147-A177-3AD203B41FA5}">
                      <a16:colId xmlns:a16="http://schemas.microsoft.com/office/drawing/2014/main" val="20004"/>
                    </a:ext>
                  </a:extLst>
                </a:gridCol>
              </a:tblGrid>
              <a:tr h="566928">
                <a:tc>
                  <a:txBody>
                    <a:bodyPr/>
                    <a:lstStyle/>
                    <a:p>
                      <a:pPr marL="0" indent="0" eaLnBrk="1">
                        <a:buNone/>
                      </a:pPr>
                      <a:r>
                        <a:rPr lang="en-US" sz="1600" dirty="0">
                          <a:solidFill>
                            <a:srgbClr val="14142B"/>
                          </a:solidFill>
                        </a:rPr>
                        <a:t>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11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0"/>
                  </a:ext>
                </a:extLst>
              </a:tr>
              <a:tr h="566928">
                <a:tc>
                  <a:txBody>
                    <a:bodyPr/>
                    <a:lstStyle/>
                    <a:p>
                      <a:pPr marL="0" indent="0" eaLnBrk="1">
                        <a:buNone/>
                      </a:pPr>
                      <a:r>
                        <a:rPr lang="en-US" sz="1600" dirty="0">
                          <a:solidFill>
                            <a:srgbClr val="14142B"/>
                          </a:solidFill>
                        </a:rPr>
                        <a:t>16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20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24</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31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38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eaLnBrk="1">
                        <a:buNone/>
                      </a:pPr>
                      <a:r>
                        <a:rPr lang="en-US" sz="1600" dirty="0">
                          <a:solidFill>
                            <a:srgbClr val="14142B"/>
                          </a:solidFill>
                        </a:rPr>
                        <a:t>42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50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57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60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69</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2"/>
                  </a:ext>
                </a:extLst>
              </a:tr>
              <a:tr h="566928">
                <a:tc>
                  <a:txBody>
                    <a:bodyPr/>
                    <a:lstStyle/>
                    <a:p>
                      <a:pPr marL="0" indent="0" eaLnBrk="1">
                        <a:buNone/>
                      </a:pPr>
                      <a:r>
                        <a:rPr lang="en-US" sz="1600" dirty="0">
                          <a:solidFill>
                            <a:srgbClr val="14142B"/>
                          </a:solidFill>
                        </a:rPr>
                        <a:t>73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81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88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95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100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전화번호가 뭐예요</a:t>
            </a:r>
            <a:r>
              <a:rPr lang="en-US" sz="2600" b="1" dirty="0">
                <a:solidFill>
                  <a:srgbClr val="4236F6"/>
                </a:solidFill>
              </a:rPr>
              <a:t>?  </a:t>
            </a:r>
            <a:r>
              <a:rPr lang="en-US" sz="2600" b="1" dirty="0">
                <a:solidFill>
                  <a:srgbClr val="003478"/>
                </a:solidFill>
              </a:rPr>
              <a:t>¿Cuál es tu número de teléfono?</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9 1234 5678 → 구</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일이삼사</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오육칠팔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010-1234-5678 → 공일공</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일이삼사</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오육칠팔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Dígito por dígito, con una pausa entre grupos · 0 = 공</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전화번호가 뭐예요</a:t>
            </a:r>
            <a:r>
              <a:rPr lang="en-US" sz="2200" dirty="0">
                <a:solidFill>
                  <a:srgbClr val="14142B"/>
                </a:solidFill>
              </a:rPr>
              <a:t>? es una frase hecha: se usa entera</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Termina en 팔 </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받침</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오육칠팔이에요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Termina en 이 </a:t>
            </a:r>
            <a:r>
              <a:rPr lang="en-US" sz="2200" dirty="0">
                <a:solidFill>
                  <a:srgbClr val="14142B"/>
                </a:solidFill>
              </a:rPr>
              <a:t>(vocal) → …</a:t>
            </a:r>
            <a:r>
              <a:rPr lang="ko-KR" altLang="en-US" sz="2200" dirty="0">
                <a:solidFill>
                  <a:srgbClr val="14142B"/>
                </a:solidFill>
                <a:latin typeface="Malgun Gothic" pitchFamily="34" charset="0"/>
                <a:ea typeface="Malgun Gothic" pitchFamily="34" charset="-122"/>
                <a:cs typeface="Malgun Gothic" pitchFamily="34" charset="-120"/>
              </a:rPr>
              <a:t>이예요</a:t>
            </a:r>
            <a:endParaRPr lang="en-US" sz="22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600" b="1" dirty="0">
                <a:solidFill>
                  <a:srgbClr val="4236F6"/>
                </a:solidFill>
                <a:latin typeface="Malgun Gothic" pitchFamily="34" charset="0"/>
                <a:ea typeface="Malgun Gothic" pitchFamily="34" charset="-122"/>
                <a:cs typeface="Malgun Gothic" pitchFamily="34" charset="-120"/>
              </a:rPr>
              <a:t>전화번호가</a:t>
            </a:r>
            <a:endParaRPr lang="en-US" sz="4600" dirty="0"/>
          </a:p>
          <a:p>
            <a:pPr marL="0" indent="0" algn="ctr" eaLnBrk="1">
              <a:buNone/>
            </a:pPr>
            <a:r>
              <a:rPr lang="ko-KR" altLang="en-US" sz="4600" b="1" dirty="0">
                <a:solidFill>
                  <a:srgbClr val="4236F6"/>
                </a:solidFill>
                <a:latin typeface="Malgun Gothic" pitchFamily="34" charset="0"/>
                <a:ea typeface="Malgun Gothic" pitchFamily="34" charset="-122"/>
                <a:cs typeface="Malgun Gothic" pitchFamily="34" charset="-120"/>
              </a:rPr>
              <a:t>뭐예요</a:t>
            </a:r>
            <a:r>
              <a:rPr lang="en-US" sz="4600" b="1" dirty="0">
                <a:solidFill>
                  <a:srgbClr val="4236F6"/>
                </a:solidFill>
              </a:rPr>
              <a:t>?</a:t>
            </a:r>
            <a:endParaRPr lang="en-US" sz="4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명  </a:t>
            </a:r>
            <a:r>
              <a:rPr lang="en-US" sz="3000" b="1" dirty="0">
                <a:solidFill>
                  <a:srgbClr val="003478"/>
                </a:solidFill>
              </a:rPr>
              <a:t>Contar personas</a:t>
            </a:r>
            <a:r>
              <a:rPr lang="en-US" sz="1500" b="1" i="1" dirty="0">
                <a:solidFill>
                  <a:srgbClr val="8A8DA0"/>
                </a:solidFill>
              </a:rPr>
              <a:t>   Counting people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우리 가족은 네 명이에요</a:t>
            </a:r>
            <a:r>
              <a:rPr lang="en-US" sz="1800" i="1" dirty="0">
                <a:solidFill>
                  <a:srgbClr val="4236F6"/>
                </a:solidFill>
              </a:rPr>
              <a:t>. · Nativo = se cuenta (hoy: personas)</a:t>
            </a:r>
            <a:endParaRPr lang="en-US" sz="1800" dirty="0"/>
          </a:p>
        </p:txBody>
      </p:sp>
      <p:graphicFrame>
        <p:nvGraphicFramePr>
          <p:cNvPr id="19" name="tabla"/>
          <p:cNvGraphicFramePr>
            <a:graphicFrameLocks noGrp="1"/>
          </p:cNvGraphicFramePr>
          <p:nvPr>
            <p:extLst>
              <p:ext uri="{D42A27DB-BD31-4B8C-83A1-F6EECF244321}">
                <p14:modId xmlns:p14="http://schemas.microsoft.com/office/powerpoint/2010/main" val="802731274"/>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en-US" sz="1800" b="1" dirty="0">
                          <a:solidFill>
                            <a:srgbClr val="FFFFFF"/>
                          </a:solidFill>
                        </a:rPr>
                        <a:t>Número nativo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Con 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하나 </a:t>
                      </a:r>
                      <a:r>
                        <a:rPr lang="en-US" sz="1800" dirty="0">
                          <a:solidFill>
                            <a:srgbClr val="14142B"/>
                          </a:solidFill>
                        </a:rPr>
                        <a:t>(1)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한 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둘 </a:t>
                      </a:r>
                      <a:r>
                        <a:rPr lang="en-US" sz="1800" dirty="0">
                          <a:solidFill>
                            <a:srgbClr val="14142B"/>
                          </a:solidFill>
                        </a:rPr>
                        <a:t>(2)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두 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셋 </a:t>
                      </a:r>
                      <a:r>
                        <a:rPr lang="en-US" sz="1800" dirty="0">
                          <a:solidFill>
                            <a:srgbClr val="14142B"/>
                          </a:solidFill>
                        </a:rPr>
                        <a:t>(3)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세 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넷 </a:t>
                      </a:r>
                      <a:r>
                        <a:rPr lang="en-US" sz="1800" dirty="0">
                          <a:solidFill>
                            <a:srgbClr val="14142B"/>
                          </a:solidFill>
                        </a:rPr>
                        <a:t>(4)</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네 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다섯 </a:t>
                      </a:r>
                      <a:r>
                        <a:rPr lang="en-US" sz="1800" dirty="0">
                          <a:solidFill>
                            <a:srgbClr val="14142B"/>
                          </a:solidFill>
                        </a:rPr>
                        <a:t>(5)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다섯 명 </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다선 명</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en-US" sz="1800" dirty="0">
                          <a:solidFill>
                            <a:srgbClr val="14142B"/>
                          </a:solidFill>
                        </a:rPr>
                        <a:t>¿Y el perro?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우리 강아지예요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명 </a:t>
                      </a:r>
                      <a:r>
                        <a:rPr lang="en-US" sz="1800" dirty="0">
                          <a:solidFill>
                            <a:srgbClr val="14142B"/>
                          </a:solidFill>
                        </a:rPr>
                        <a:t>es solo para personas)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몇 명이에요</a:t>
            </a:r>
            <a:r>
              <a:rPr lang="en-US" sz="3000" b="1" dirty="0">
                <a:solidFill>
                  <a:srgbClr val="4236F6"/>
                </a:solidFill>
              </a:rPr>
              <a:t>?  </a:t>
            </a:r>
            <a:r>
              <a:rPr lang="en-US" sz="3000" b="1" dirty="0">
                <a:solidFill>
                  <a:srgbClr val="003478"/>
                </a:solidFill>
              </a:rPr>
              <a:t>¿Cuántos son?</a:t>
            </a:r>
            <a:r>
              <a:rPr lang="en-US" sz="1500" b="1" i="1" dirty="0">
                <a:solidFill>
                  <a:srgbClr val="8A8DA0"/>
                </a:solidFill>
              </a:rPr>
              <a:t>   How many people?</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Kiran señala un grupo: 몇 명이에요</a:t>
            </a:r>
            <a:r>
              <a:rPr lang="en-US" sz="1800" i="1" dirty="0">
                <a:solidFill>
                  <a:srgbClr val="4236F6"/>
                </a:solidFill>
              </a:rPr>
              <a:t>?</a:t>
            </a:r>
            <a:endParaRPr lang="en-US" sz="1800" dirty="0"/>
          </a:p>
        </p:txBody>
      </p:sp>
      <p:sp>
        <p:nvSpPr>
          <p:cNvPr id="4" name="card_0"/>
          <p:cNvSpPr/>
          <p:nvPr/>
        </p:nvSpPr>
        <p:spPr>
          <a:xfrm>
            <a:off x="548640"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60ecc31f161aa14d.png"/>
          <p:cNvPicPr>
            <a:picLocks noChangeAspect="1"/>
          </p:cNvPicPr>
          <p:nvPr/>
        </p:nvPicPr>
        <p:blipFill>
          <a:blip r:embed="rId3"/>
          <a:stretch>
            <a:fillRect/>
          </a:stretch>
        </p:blipFill>
        <p:spPr>
          <a:xfrm>
            <a:off x="658368" y="2388413"/>
            <a:ext cx="1852574" cy="1852574"/>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4617720"/>
            <a:ext cx="1889150" cy="777240"/>
          </a:xfrm>
          <a:prstGeom prst="rect">
            <a:avLst/>
          </a:prstGeom>
          <a:noFill/>
          <a:ln/>
        </p:spPr>
        <p:txBody>
          <a:bodyPr wrap="square" lIns="0" tIns="0" rIns="0" bIns="0" rtlCol="0" anchor="ctr">
            <a:normAutofit/>
          </a:bodyPr>
          <a:lstStyle/>
          <a:p>
            <a:pPr marL="0" indent="0" algn="ctr" eaLnBrk="1">
              <a:buNone/>
            </a:pPr>
            <a:r>
              <a:rPr lang="en-US" sz="2200" dirty="0">
                <a:solidFill>
                  <a:srgbClr val="14142B"/>
                </a:solidFill>
              </a:rPr>
              <a:t>Grupo ①</a:t>
            </a:r>
            <a:endParaRPr lang="en-US" sz="2200" dirty="0"/>
          </a:p>
        </p:txBody>
      </p:sp>
      <p:sp>
        <p:nvSpPr>
          <p:cNvPr id="9" name="rev_21_caja"/>
          <p:cNvSpPr/>
          <p:nvPr/>
        </p:nvSpPr>
        <p:spPr>
          <a:xfrm>
            <a:off x="658368" y="5440680"/>
            <a:ext cx="1852574" cy="640080"/>
          </a:xfrm>
          <a:prstGeom prst="roundRect">
            <a:avLst>
              <a:gd name="adj" fmla="val 17143"/>
            </a:avLst>
          </a:prstGeom>
          <a:solidFill>
            <a:srgbClr val="4236F6"/>
          </a:solidFill>
          <a:ln w="12700">
            <a:solidFill>
              <a:srgbClr val="4236F6"/>
            </a:solidFill>
            <a:prstDash val="solid"/>
          </a:ln>
        </p:spPr>
      </p:sp>
      <p:sp>
        <p:nvSpPr>
          <p:cNvPr id="10" name="rev_21_txt"/>
          <p:cNvSpPr txBox="1"/>
          <p:nvPr/>
        </p:nvSpPr>
        <p:spPr>
          <a:xfrm>
            <a:off x="685800" y="5440680"/>
            <a:ext cx="1797710" cy="640080"/>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세 명이에요</a:t>
            </a:r>
            <a:r>
              <a:rPr lang="en-US" sz="1800" b="1" dirty="0">
                <a:solidFill>
                  <a:srgbClr val="FFFFFF"/>
                </a:solidFill>
              </a:rPr>
              <a:t>.</a:t>
            </a:r>
            <a:endParaRPr lang="en-US" sz="1800" dirty="0"/>
          </a:p>
        </p:txBody>
      </p:sp>
      <p:sp>
        <p:nvSpPr>
          <p:cNvPr id="11" name="card_1"/>
          <p:cNvSpPr/>
          <p:nvPr/>
        </p:nvSpPr>
        <p:spPr>
          <a:xfrm>
            <a:off x="2803550"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86dcb615e9ab2ea7.png"/>
          <p:cNvPicPr>
            <a:picLocks noChangeAspect="1"/>
          </p:cNvPicPr>
          <p:nvPr/>
        </p:nvPicPr>
        <p:blipFill>
          <a:blip r:embed="rId4"/>
          <a:stretch>
            <a:fillRect/>
          </a:stretch>
        </p:blipFill>
        <p:spPr>
          <a:xfrm>
            <a:off x="2913278" y="2388413"/>
            <a:ext cx="1852574" cy="1852574"/>
          </a:xfrm>
          <a:prstGeom prst="rect">
            <a:avLst/>
          </a:prstGeom>
        </p:spPr>
      </p:pic>
      <p:sp>
        <p:nvSpPr>
          <p:cNvPr id="13" name="num_1"/>
          <p:cNvSpPr/>
          <p:nvPr/>
        </p:nvSpPr>
        <p:spPr>
          <a:xfrm>
            <a:off x="2894990"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289499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2894990" y="4617720"/>
            <a:ext cx="1889150" cy="777240"/>
          </a:xfrm>
          <a:prstGeom prst="rect">
            <a:avLst/>
          </a:prstGeom>
          <a:noFill/>
          <a:ln/>
        </p:spPr>
        <p:txBody>
          <a:bodyPr wrap="square" lIns="0" tIns="0" rIns="0" bIns="0" rtlCol="0" anchor="ctr">
            <a:normAutofit/>
          </a:bodyPr>
          <a:lstStyle/>
          <a:p>
            <a:pPr marL="0" indent="0" algn="ctr" eaLnBrk="1">
              <a:buNone/>
            </a:pPr>
            <a:r>
              <a:rPr lang="en-US" sz="2200" dirty="0">
                <a:solidFill>
                  <a:srgbClr val="14142B"/>
                </a:solidFill>
              </a:rPr>
              <a:t>Grupo ②</a:t>
            </a:r>
            <a:endParaRPr lang="en-US" sz="2200" dirty="0"/>
          </a:p>
        </p:txBody>
      </p:sp>
      <p:sp>
        <p:nvSpPr>
          <p:cNvPr id="16" name="rev_22_caja"/>
          <p:cNvSpPr/>
          <p:nvPr/>
        </p:nvSpPr>
        <p:spPr>
          <a:xfrm>
            <a:off x="2913278" y="5440680"/>
            <a:ext cx="1852574" cy="640080"/>
          </a:xfrm>
          <a:prstGeom prst="roundRect">
            <a:avLst>
              <a:gd name="adj" fmla="val 17143"/>
            </a:avLst>
          </a:prstGeom>
          <a:solidFill>
            <a:srgbClr val="4236F6"/>
          </a:solidFill>
          <a:ln w="12700">
            <a:solidFill>
              <a:srgbClr val="4236F6"/>
            </a:solidFill>
            <a:prstDash val="solid"/>
          </a:ln>
        </p:spPr>
      </p:sp>
      <p:sp>
        <p:nvSpPr>
          <p:cNvPr id="17" name="rev_22_txt"/>
          <p:cNvSpPr txBox="1"/>
          <p:nvPr/>
        </p:nvSpPr>
        <p:spPr>
          <a:xfrm>
            <a:off x="2940710" y="5440680"/>
            <a:ext cx="1797710" cy="640080"/>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다섯 명이에요</a:t>
            </a:r>
            <a:r>
              <a:rPr lang="en-US" sz="1800" b="1" dirty="0">
                <a:solidFill>
                  <a:srgbClr val="FFFFFF"/>
                </a:solidFill>
              </a:rPr>
              <a:t>.</a:t>
            </a:r>
            <a:endParaRPr lang="en-US" sz="1800" dirty="0"/>
          </a:p>
        </p:txBody>
      </p:sp>
      <p:sp>
        <p:nvSpPr>
          <p:cNvPr id="18" name="card_2"/>
          <p:cNvSpPr/>
          <p:nvPr/>
        </p:nvSpPr>
        <p:spPr>
          <a:xfrm>
            <a:off x="5058461"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5961c88dc95bc989.png"/>
          <p:cNvPicPr>
            <a:picLocks noChangeAspect="1"/>
          </p:cNvPicPr>
          <p:nvPr/>
        </p:nvPicPr>
        <p:blipFill>
          <a:blip r:embed="rId5"/>
          <a:stretch>
            <a:fillRect/>
          </a:stretch>
        </p:blipFill>
        <p:spPr>
          <a:xfrm>
            <a:off x="5168189" y="2388413"/>
            <a:ext cx="1852574" cy="1852574"/>
          </a:xfrm>
          <a:prstGeom prst="rect">
            <a:avLst/>
          </a:prstGeom>
        </p:spPr>
      </p:pic>
      <p:sp>
        <p:nvSpPr>
          <p:cNvPr id="20" name="num_2"/>
          <p:cNvSpPr/>
          <p:nvPr/>
        </p:nvSpPr>
        <p:spPr>
          <a:xfrm>
            <a:off x="5149901"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5149901"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5149901" y="4617720"/>
            <a:ext cx="1889150" cy="777240"/>
          </a:xfrm>
          <a:prstGeom prst="rect">
            <a:avLst/>
          </a:prstGeom>
          <a:noFill/>
          <a:ln/>
        </p:spPr>
        <p:txBody>
          <a:bodyPr wrap="square" lIns="0" tIns="0" rIns="0" bIns="0" rtlCol="0" anchor="ctr">
            <a:normAutofit/>
          </a:bodyPr>
          <a:lstStyle/>
          <a:p>
            <a:pPr marL="0" indent="0" algn="ctr" eaLnBrk="1">
              <a:buNone/>
            </a:pPr>
            <a:r>
              <a:rPr lang="en-US" sz="2200" dirty="0">
                <a:solidFill>
                  <a:srgbClr val="14142B"/>
                </a:solidFill>
              </a:rPr>
              <a:t>Grupo ③</a:t>
            </a:r>
            <a:endParaRPr lang="en-US" sz="2200" dirty="0"/>
          </a:p>
        </p:txBody>
      </p:sp>
      <p:sp>
        <p:nvSpPr>
          <p:cNvPr id="23" name="rev_23_caja"/>
          <p:cNvSpPr/>
          <p:nvPr/>
        </p:nvSpPr>
        <p:spPr>
          <a:xfrm>
            <a:off x="5168189" y="5440680"/>
            <a:ext cx="1852574" cy="640080"/>
          </a:xfrm>
          <a:prstGeom prst="roundRect">
            <a:avLst>
              <a:gd name="adj" fmla="val 17143"/>
            </a:avLst>
          </a:prstGeom>
          <a:solidFill>
            <a:srgbClr val="4236F6"/>
          </a:solidFill>
          <a:ln w="12700">
            <a:solidFill>
              <a:srgbClr val="4236F6"/>
            </a:solidFill>
            <a:prstDash val="solid"/>
          </a:ln>
        </p:spPr>
      </p:sp>
      <p:sp>
        <p:nvSpPr>
          <p:cNvPr id="24" name="rev_23_txt"/>
          <p:cNvSpPr txBox="1"/>
          <p:nvPr/>
        </p:nvSpPr>
        <p:spPr>
          <a:xfrm>
            <a:off x="5195621" y="5440680"/>
            <a:ext cx="1797710" cy="640080"/>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한 명이에요</a:t>
            </a:r>
            <a:r>
              <a:rPr lang="en-US" sz="1800" b="1" dirty="0">
                <a:solidFill>
                  <a:srgbClr val="FFFFFF"/>
                </a:solidFill>
              </a:rPr>
              <a:t>.</a:t>
            </a:r>
            <a:endParaRPr lang="en-US" sz="1800" dirty="0"/>
          </a:p>
        </p:txBody>
      </p:sp>
      <p:sp>
        <p:nvSpPr>
          <p:cNvPr id="25" name="card_3"/>
          <p:cNvSpPr/>
          <p:nvPr/>
        </p:nvSpPr>
        <p:spPr>
          <a:xfrm>
            <a:off x="7313371"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bbc8dc660af6514e.png"/>
          <p:cNvPicPr>
            <a:picLocks noChangeAspect="1"/>
          </p:cNvPicPr>
          <p:nvPr/>
        </p:nvPicPr>
        <p:blipFill>
          <a:blip r:embed="rId6"/>
          <a:stretch>
            <a:fillRect/>
          </a:stretch>
        </p:blipFill>
        <p:spPr>
          <a:xfrm>
            <a:off x="7423099" y="2388413"/>
            <a:ext cx="1852574" cy="1852574"/>
          </a:xfrm>
          <a:prstGeom prst="rect">
            <a:avLst/>
          </a:prstGeom>
        </p:spPr>
      </p:pic>
      <p:sp>
        <p:nvSpPr>
          <p:cNvPr id="27" name="num_3"/>
          <p:cNvSpPr/>
          <p:nvPr/>
        </p:nvSpPr>
        <p:spPr>
          <a:xfrm>
            <a:off x="7404811" y="205740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7404811"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7404811" y="4617720"/>
            <a:ext cx="1889150" cy="777240"/>
          </a:xfrm>
          <a:prstGeom prst="rect">
            <a:avLst/>
          </a:prstGeom>
          <a:noFill/>
          <a:ln/>
        </p:spPr>
        <p:txBody>
          <a:bodyPr wrap="square" lIns="0" tIns="0" rIns="0" bIns="0" rtlCol="0" anchor="ctr">
            <a:normAutofit/>
          </a:bodyPr>
          <a:lstStyle/>
          <a:p>
            <a:pPr marL="0" indent="0" algn="ctr" eaLnBrk="1">
              <a:buNone/>
            </a:pPr>
            <a:r>
              <a:rPr lang="en-US" sz="2200" dirty="0">
                <a:solidFill>
                  <a:srgbClr val="14142B"/>
                </a:solidFill>
              </a:rPr>
              <a:t>Grupo ④</a:t>
            </a:r>
            <a:endParaRPr lang="en-US" sz="2200" dirty="0"/>
          </a:p>
        </p:txBody>
      </p:sp>
      <p:sp>
        <p:nvSpPr>
          <p:cNvPr id="30" name="rev_24_caja"/>
          <p:cNvSpPr/>
          <p:nvPr/>
        </p:nvSpPr>
        <p:spPr>
          <a:xfrm>
            <a:off x="7423099" y="5440680"/>
            <a:ext cx="1852574" cy="640080"/>
          </a:xfrm>
          <a:prstGeom prst="roundRect">
            <a:avLst>
              <a:gd name="adj" fmla="val 17143"/>
            </a:avLst>
          </a:prstGeom>
          <a:solidFill>
            <a:srgbClr val="4236F6"/>
          </a:solidFill>
          <a:ln w="12700">
            <a:solidFill>
              <a:srgbClr val="4236F6"/>
            </a:solidFill>
            <a:prstDash val="solid"/>
          </a:ln>
        </p:spPr>
      </p:sp>
      <p:sp>
        <p:nvSpPr>
          <p:cNvPr id="31" name="rev_24_txt"/>
          <p:cNvSpPr txBox="1"/>
          <p:nvPr/>
        </p:nvSpPr>
        <p:spPr>
          <a:xfrm>
            <a:off x="7450531" y="5440680"/>
            <a:ext cx="1797710" cy="640080"/>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네 명이에요</a:t>
            </a:r>
            <a:r>
              <a:rPr lang="en-US" sz="1800" b="1" dirty="0">
                <a:solidFill>
                  <a:srgbClr val="FFFFFF"/>
                </a:solidFill>
              </a:rPr>
              <a:t>.</a:t>
            </a:r>
            <a:endParaRPr lang="en-US" sz="1800" dirty="0"/>
          </a:p>
        </p:txBody>
      </p:sp>
      <p:sp>
        <p:nvSpPr>
          <p:cNvPr id="32" name="card_4"/>
          <p:cNvSpPr/>
          <p:nvPr/>
        </p:nvSpPr>
        <p:spPr>
          <a:xfrm>
            <a:off x="9568282"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e0056a526fde56c4.png"/>
          <p:cNvPicPr>
            <a:picLocks noChangeAspect="1"/>
          </p:cNvPicPr>
          <p:nvPr/>
        </p:nvPicPr>
        <p:blipFill>
          <a:blip r:embed="rId7"/>
          <a:stretch>
            <a:fillRect/>
          </a:stretch>
        </p:blipFill>
        <p:spPr>
          <a:xfrm>
            <a:off x="9678010" y="2388413"/>
            <a:ext cx="1852574" cy="1852574"/>
          </a:xfrm>
          <a:prstGeom prst="rect">
            <a:avLst/>
          </a:prstGeom>
        </p:spPr>
      </p:pic>
      <p:sp>
        <p:nvSpPr>
          <p:cNvPr id="34" name="num_4"/>
          <p:cNvSpPr/>
          <p:nvPr/>
        </p:nvSpPr>
        <p:spPr>
          <a:xfrm>
            <a:off x="9659722" y="205740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9659722"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9659722" y="4617720"/>
            <a:ext cx="1889150" cy="777240"/>
          </a:xfrm>
          <a:prstGeom prst="rect">
            <a:avLst/>
          </a:prstGeom>
          <a:noFill/>
          <a:ln/>
        </p:spPr>
        <p:txBody>
          <a:bodyPr wrap="square" lIns="0" tIns="0" rIns="0" bIns="0" rtlCol="0" anchor="ctr">
            <a:normAutofit/>
          </a:bodyPr>
          <a:lstStyle/>
          <a:p>
            <a:pPr marL="0" indent="0" algn="ctr" eaLnBrk="1">
              <a:buNone/>
            </a:pPr>
            <a:r>
              <a:rPr lang="en-US" sz="2200" dirty="0">
                <a:solidFill>
                  <a:srgbClr val="14142B"/>
                </a:solidFill>
              </a:rPr>
              <a:t>Grupo ⑤</a:t>
            </a:r>
            <a:endParaRPr lang="en-US" sz="2200" dirty="0"/>
          </a:p>
        </p:txBody>
      </p:sp>
      <p:sp>
        <p:nvSpPr>
          <p:cNvPr id="37" name="rev_25_caja"/>
          <p:cNvSpPr/>
          <p:nvPr/>
        </p:nvSpPr>
        <p:spPr>
          <a:xfrm>
            <a:off x="9678010" y="5440680"/>
            <a:ext cx="1852574" cy="640080"/>
          </a:xfrm>
          <a:prstGeom prst="roundRect">
            <a:avLst>
              <a:gd name="adj" fmla="val 17143"/>
            </a:avLst>
          </a:prstGeom>
          <a:solidFill>
            <a:srgbClr val="4236F6"/>
          </a:solidFill>
          <a:ln w="12700">
            <a:solidFill>
              <a:srgbClr val="4236F6"/>
            </a:solidFill>
            <a:prstDash val="solid"/>
          </a:ln>
        </p:spPr>
      </p:sp>
      <p:sp>
        <p:nvSpPr>
          <p:cNvPr id="38" name="rev_25_txt"/>
          <p:cNvSpPr txBox="1"/>
          <p:nvPr/>
        </p:nvSpPr>
        <p:spPr>
          <a:xfrm>
            <a:off x="9705442" y="5440680"/>
            <a:ext cx="1797710" cy="640080"/>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두 명이에요</a:t>
            </a:r>
            <a:r>
              <a:rPr lang="en-US" sz="1800" b="1" dirty="0">
                <a:solidFill>
                  <a:srgbClr val="FFFFFF"/>
                </a:solidFill>
              </a:rPr>
              <a:t>.</a:t>
            </a:r>
            <a:endParaRPr lang="en-US" sz="1800" dirty="0"/>
          </a:p>
        </p:txBody>
      </p:sp>
      <p:sp>
        <p:nvSpPr>
          <p:cNvPr id="3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Salas · 20 minutos</a:t>
            </a:r>
            <a:r>
              <a:rPr lang="en-US" sz="1500" b="1" i="1" dirty="0">
                <a:solidFill>
                  <a:srgbClr val="8A8DA0"/>
                </a:solidFill>
              </a:rPr>
              <a:t>   Breakout rooms · 20 minutes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Esta consigna está en tu hoja: «En clase: el álbum en vivo» · ¿No sabes una palabra? Di el nombre: ___이에요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예요</a:t>
            </a:r>
            <a:r>
              <a:rPr lang="en-US" sz="1800" i="1" dirty="0">
                <a:solidFill>
                  <a:srgbClr val="4236F6"/>
                </a:solidFill>
              </a:rPr>
              <a:t>.</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1 · Álbum (9 min)</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우리 가족은</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___ 명이에요</a:t>
            </a:r>
            <a:r>
              <a:rPr lang="en-US" sz="2800" b="1" dirty="0">
                <a:solidFill>
                  <a:srgbClr val="4236F6"/>
                </a:solidFill>
              </a:rPr>
              <a:t>.</a:t>
            </a:r>
            <a:endParaRPr lang="en-US" sz="28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600" dirty="0">
                <a:solidFill>
                  <a:srgbClr val="14142B"/>
                </a:solidFill>
              </a:rPr>
              <a:t>Muestra tu foto o comparte pantalla</a:t>
            </a:r>
            <a:endParaRPr lang="en-US" sz="1600" dirty="0"/>
          </a:p>
          <a:p>
            <a:pPr marL="228600" indent="-228600" eaLnBrk="1">
              <a:spcAft>
                <a:spcPts val="800"/>
              </a:spcAft>
              <a:buSzPct val="100000"/>
              <a:buChar char="•"/>
            </a:pPr>
            <a:r>
              <a:rPr lang="ko-KR" altLang="en-US" sz="1600" dirty="0">
                <a:solidFill>
                  <a:srgbClr val="14142B"/>
                </a:solidFill>
                <a:latin typeface="Malgun Gothic" pitchFamily="34" charset="0"/>
                <a:ea typeface="Malgun Gothic" pitchFamily="34" charset="-122"/>
                <a:cs typeface="Malgun Gothic" pitchFamily="34" charset="-120"/>
              </a:rPr>
              <a:t>Presenta a 3 personas: 우리 엄마예요</a:t>
            </a:r>
            <a:r>
              <a:rPr lang="en-US" sz="1600" dirty="0">
                <a:solidFill>
                  <a:srgbClr val="14142B"/>
                </a:solidFill>
              </a:rPr>
              <a:t>! · </a:t>
            </a:r>
            <a:r>
              <a:rPr lang="ko-KR" altLang="en-US" sz="1600" dirty="0">
                <a:solidFill>
                  <a:srgbClr val="14142B"/>
                </a:solidFill>
                <a:latin typeface="Malgun Gothic" pitchFamily="34" charset="0"/>
                <a:ea typeface="Malgun Gothic" pitchFamily="34" charset="-122"/>
                <a:cs typeface="Malgun Gothic" pitchFamily="34" charset="-120"/>
              </a:rPr>
              <a:t>이분은</a:t>
            </a:r>
            <a:r>
              <a:rPr lang="en-US" sz="1600" dirty="0">
                <a:solidFill>
                  <a:srgbClr val="14142B"/>
                </a:solidFill>
              </a:rPr>
              <a:t>… · </a:t>
            </a:r>
            <a:r>
              <a:rPr lang="ko-KR" altLang="en-US" sz="1600" dirty="0">
                <a:solidFill>
                  <a:srgbClr val="14142B"/>
                </a:solidFill>
                <a:latin typeface="Malgun Gothic" pitchFamily="34" charset="0"/>
                <a:ea typeface="Malgun Gothic" pitchFamily="34" charset="-122"/>
                <a:cs typeface="Malgun Gothic" pitchFamily="34" charset="-120"/>
              </a:rPr>
              <a:t>이 사람은</a:t>
            </a:r>
            <a:r>
              <a:rPr lang="en-US" sz="1600" dirty="0">
                <a:solidFill>
                  <a:srgbClr val="14142B"/>
                </a:solidFill>
              </a:rPr>
              <a:t>…</a:t>
            </a:r>
            <a:endParaRPr lang="en-US" sz="1600" dirty="0"/>
          </a:p>
          <a:p>
            <a:pPr marL="228600" indent="-228600" eaLnBrk="1">
              <a:spcAft>
                <a:spcPts val="800"/>
              </a:spcAft>
              <a:buSzPct val="100000"/>
              <a:buChar char="•"/>
            </a:pPr>
            <a:r>
              <a:rPr lang="ko-KR" altLang="en-US" sz="1600" dirty="0">
                <a:solidFill>
                  <a:srgbClr val="14142B"/>
                </a:solidFill>
                <a:latin typeface="Malgun Gothic" pitchFamily="34" charset="0"/>
                <a:ea typeface="Malgun Gothic" pitchFamily="34" charset="-122"/>
                <a:cs typeface="Malgun Gothic" pitchFamily="34" charset="-120"/>
              </a:rPr>
              <a:t>Tu compañero señala y pregunta: 누구예요</a:t>
            </a:r>
            <a:r>
              <a:rPr lang="en-US" sz="1600" dirty="0">
                <a:solidFill>
                  <a:srgbClr val="14142B"/>
                </a:solidFill>
              </a:rPr>
              <a:t>?</a:t>
            </a:r>
            <a:endParaRPr lang="en-US" sz="1600" dirty="0"/>
          </a:p>
          <a:p>
            <a:pPr marL="228600" indent="-228600" eaLnBrk="1">
              <a:spcAft>
                <a:spcPts val="800"/>
              </a:spcAft>
              <a:buSzPct val="100000"/>
              <a:buChar char="•"/>
            </a:pPr>
            <a:r>
              <a:rPr lang="en-US" sz="1600" dirty="0">
                <a:solidFill>
                  <a:srgbClr val="14142B"/>
                </a:solidFill>
              </a:rPr>
              <a:t>Después cambian</a:t>
            </a:r>
            <a:endParaRPr lang="en-US" sz="16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2 · Teléfonos (5 min)</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전화번호가</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뭐예요</a:t>
            </a:r>
            <a:r>
              <a:rPr lang="en-US" sz="2800" b="1" dirty="0">
                <a:solidFill>
                  <a:srgbClr val="4236F6"/>
                </a:solidFill>
              </a:rPr>
              <a:t>?</a:t>
            </a:r>
            <a:endParaRPr lang="en-US" sz="28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Dicta un número inventado, dígito por dígito (공 </a:t>
            </a:r>
            <a:r>
              <a:rPr lang="en-US" sz="1800" dirty="0">
                <a:solidFill>
                  <a:srgbClr val="14142B"/>
                </a:solidFill>
              </a:rPr>
              <a:t>= 0)</a:t>
            </a:r>
            <a:endParaRPr lang="en-US" sz="1800" dirty="0"/>
          </a:p>
          <a:p>
            <a:pPr marL="228600" indent="-228600" eaLnBrk="1">
              <a:spcAft>
                <a:spcPts val="800"/>
              </a:spcAft>
              <a:buSzPct val="100000"/>
              <a:buChar char="•"/>
            </a:pPr>
            <a:r>
              <a:rPr lang="en-US" sz="1800" dirty="0">
                <a:solidFill>
                  <a:srgbClr val="14142B"/>
                </a:solidFill>
              </a:rPr>
              <a:t>Tu compañero lo escribe y te lo lee de vuelta</a:t>
            </a:r>
            <a:endParaRPr lang="en-US" sz="1800" dirty="0"/>
          </a:p>
          <a:p>
            <a:pPr marL="228600" indent="-228600" eaLnBrk="1">
              <a:spcAft>
                <a:spcPts val="800"/>
              </a:spcAft>
              <a:buSzPct val="100000"/>
              <a:buChar char="•"/>
            </a:pPr>
            <a:r>
              <a:rPr lang="en-US" sz="1800" dirty="0">
                <a:solidFill>
                  <a:srgbClr val="14142B"/>
                </a:solidFill>
              </a:rPr>
              <a:t>3 números cada uno: el 3.º, sin escribirlo antes</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3 · Minuto libre (3 min)</a:t>
            </a:r>
            <a:endParaRPr lang="en-US" sz="2000" dirty="0"/>
          </a:p>
        </p:txBody>
      </p:sp>
      <p:sp>
        <p:nvSpPr>
          <p:cNvPr id="14" name="Text 12"/>
          <p:cNvSpPr txBox="1"/>
          <p:nvPr/>
        </p:nvSpPr>
        <p:spPr>
          <a:xfrm>
            <a:off x="8385048"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누구예요</a:t>
            </a:r>
            <a:r>
              <a:rPr lang="en-US" sz="2800" b="1" dirty="0">
                <a:solidFill>
                  <a:srgbClr val="4236F6"/>
                </a:solidFill>
              </a:rPr>
              <a:t>? ·</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이게 뭐예요</a:t>
            </a:r>
            <a:r>
              <a:rPr lang="en-US" sz="2800" b="1" dirty="0">
                <a:solidFill>
                  <a:srgbClr val="4236F6"/>
                </a:solidFill>
              </a:rPr>
              <a:t>?</a:t>
            </a:r>
            <a:endParaRPr lang="en-US" sz="2800" dirty="0"/>
          </a:p>
        </p:txBody>
      </p:sp>
      <p:sp>
        <p:nvSpPr>
          <p:cNvPr id="15" name="lista"/>
          <p:cNvSpPr txBox="1"/>
          <p:nvPr/>
        </p:nvSpPr>
        <p:spPr>
          <a:xfrm>
            <a:off x="8339328"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Sin cuaderno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누구예요</a:t>
            </a:r>
            <a:r>
              <a:rPr lang="en-US" sz="1800" dirty="0">
                <a:solidFill>
                  <a:srgbClr val="14142B"/>
                </a:solidFill>
              </a:rPr>
              <a:t>?: alguien de la foto que no se presentó</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이게 뭐예요</a:t>
            </a:r>
            <a:r>
              <a:rPr lang="en-US" sz="1800" dirty="0">
                <a:solidFill>
                  <a:srgbClr val="14142B"/>
                </a:solidFill>
              </a:rPr>
              <a:t>?: algo que tengas cerca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Minuto libre</a:t>
            </a:r>
            <a:r>
              <a:rPr lang="en-US" sz="1500" b="1" i="1" dirty="0">
                <a:solidFill>
                  <a:srgbClr val="8A8DA0"/>
                </a:solidFill>
              </a:rPr>
              <a:t>   Free minute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3 minutos · sin cuaderno</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누구예요</a:t>
            </a:r>
            <a:r>
              <a:rPr lang="en-US" sz="2400" dirty="0">
                <a:solidFill>
                  <a:srgbClr val="14142B"/>
                </a:solidFill>
              </a:rPr>
              <a:t>? → alguien de la foto que no se presentó</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이게 뭐예요</a:t>
            </a:r>
            <a:r>
              <a:rPr lang="en-US" sz="2400" dirty="0">
                <a:solidFill>
                  <a:srgbClr val="14142B"/>
                </a:solidFill>
              </a:rPr>
              <a:t>? → algo que tengas cerca</a:t>
            </a:r>
            <a:endParaRPr lang="en-US" sz="2400" dirty="0"/>
          </a:p>
          <a:p>
            <a:pPr marL="228600" indent="-228600" eaLnBrk="1">
              <a:spcAft>
                <a:spcPts val="800"/>
              </a:spcAft>
              <a:buSzPct val="100000"/>
              <a:buChar char="•"/>
            </a:pPr>
            <a:r>
              <a:rPr lang="en-US" sz="2400" dirty="0">
                <a:solidFill>
                  <a:srgbClr val="14142B"/>
                </a:solidFill>
              </a:rPr>
              <a:t>Responde sin mirar tus apuntes</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Kiran puede entrar y preguntar: 몇 명이에요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 두 명이에요</a:t>
            </a:r>
            <a:r>
              <a:rPr lang="en-US" sz="2400" dirty="0">
                <a:solidFill>
                  <a:srgbClr val="14142B"/>
                </a:solidFill>
              </a:rPr>
              <a:t>! · </a:t>
            </a:r>
            <a:r>
              <a:rPr lang="ko-KR" altLang="en-US" sz="2400" dirty="0">
                <a:solidFill>
                  <a:srgbClr val="14142B"/>
                </a:solidFill>
                <a:latin typeface="Malgun Gothic" pitchFamily="34" charset="0"/>
                <a:ea typeface="Malgun Gothic" pitchFamily="34" charset="-122"/>
                <a:cs typeface="Malgun Gothic" pitchFamily="34" charset="-120"/>
              </a:rPr>
              <a:t>세 명이에요</a:t>
            </a:r>
            <a:r>
              <a:rPr lang="en-US" sz="2400" dirty="0">
                <a:solidFill>
                  <a:srgbClr val="14142B"/>
                </a:solidFill>
              </a:rPr>
              <a:t>!</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3 frases clave</a:t>
            </a:r>
            <a:r>
              <a:rPr lang="en-US" sz="1500" b="1" i="1" dirty="0">
                <a:solidFill>
                  <a:srgbClr val="8A8DA0"/>
                </a:solidFill>
              </a:rPr>
              <a:t>   The 3 key phrases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¿Quién es? / Es mi mamá. / En mi familia somos cuatro.</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누구예요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우리 엄마예요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우리 가족은 네 명이에요</a:t>
            </a:r>
            <a:r>
              <a:rPr lang="en-US" sz="2800" dirty="0">
                <a:solidFill>
                  <a:srgbClr val="14142B"/>
                </a:solidFill>
              </a:rPr>
              <a:t>.</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Tarea + mitad de curso</a:t>
            </a:r>
            <a:r>
              <a:rPr lang="en-US" sz="1500" b="1" i="1" dirty="0">
                <a:solidFill>
                  <a:srgbClr val="8A8DA0"/>
                </a:solidFill>
              </a:rPr>
              <a:t>   Homework + mid-course check</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Entrega antes de la clase 5: mar 17 / jue 19 nov, 20:00 (hora de Chile)</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1) Lector: Aprender 7 + Números, 3 rondas «sino-coreanos» + captura de Progreso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2) Flashcards de familia + 6 frases: 우리 </a:t>
            </a:r>
            <a:r>
              <a:rPr lang="en-US" sz="2000" dirty="0">
                <a:solidFill>
                  <a:srgbClr val="14142B"/>
                </a:solidFill>
              </a:rPr>
              <a:t>___</a:t>
            </a:r>
            <a:r>
              <a:rPr lang="ko-KR" altLang="en-US" sz="2000" dirty="0">
                <a:solidFill>
                  <a:srgbClr val="14142B"/>
                </a:solidFill>
                <a:latin typeface="Malgun Gothic" pitchFamily="34" charset="0"/>
                <a:ea typeface="Malgun Gothic" pitchFamily="34" charset="-122"/>
                <a:cs typeface="Malgun Gothic" pitchFamily="34" charset="-120"/>
              </a:rPr>
              <a:t>은</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는 </a:t>
            </a:r>
            <a:r>
              <a:rPr lang="en-US" sz="2000" dirty="0">
                <a:solidFill>
                  <a:srgbClr val="14142B"/>
                </a:solidFill>
              </a:rPr>
              <a:t>___</a:t>
            </a:r>
            <a:r>
              <a:rPr lang="ko-KR" altLang="en-US" sz="2000" dirty="0">
                <a:solidFill>
                  <a:srgbClr val="14142B"/>
                </a:solidFill>
                <a:latin typeface="Malgun Gothic" pitchFamily="34" charset="0"/>
                <a:ea typeface="Malgun Gothic" pitchFamily="34" charset="-122"/>
                <a:cs typeface="Malgun Gothic" pitchFamily="34" charset="-120"/>
              </a:rPr>
              <a:t>이에요</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예요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3) Audio de 40 s: lee las 5 palabras y presenta a 3 personas de tu foto, sin leer</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Lectura de control: 한국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선생님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휴대폰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책상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할아버지</a:t>
            </a:r>
            <a:endParaRPr lang="en-US" sz="2000" dirty="0"/>
          </a:p>
          <a:p>
            <a:pPr marL="228600" indent="-228600" eaLnBrk="1">
              <a:spcAft>
                <a:spcPts val="800"/>
              </a:spcAft>
              <a:buSzPct val="100000"/>
              <a:buChar char="•"/>
            </a:pPr>
            <a:r>
              <a:rPr lang="en-US" sz="2000" dirty="0">
                <a:solidFill>
                  <a:srgbClr val="14142B"/>
                </a:solidFill>
              </a:rPr>
              <a:t>Mitad de curso: recibes la guía de estudio y un comentario de Kiran</a:t>
            </a:r>
            <a:endParaRPr lang="en-US" sz="2000" dirty="0"/>
          </a:p>
          <a:p>
            <a:pPr marL="228600" indent="-228600" eaLnBrk="1">
              <a:spcAft>
                <a:spcPts val="800"/>
              </a:spcAft>
              <a:buSzPct val="100000"/>
              <a:buChar char="•"/>
            </a:pPr>
            <a:r>
              <a:rPr lang="en-US" sz="2000" dirty="0">
                <a:solidFill>
                  <a:srgbClr val="14142B"/>
                </a:solidFill>
              </a:rPr>
              <a:t>Extra: Dubu, barrio 6 · Prepara la clase 5: tu ciudad y 3 lugares cerca de tu casa</a:t>
            </a:r>
            <a:endParaRPr lang="en-US" sz="20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¡Gracias!</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안녕히 계세요</a:t>
            </a:r>
            <a:r>
              <a:rPr lang="en-US" sz="2200" dirty="0">
                <a:solidFill>
                  <a:srgbClr val="FFFFFF"/>
                </a:solidFill>
              </a:rPr>
              <a:t>!</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화이팅</a:t>
            </a:r>
            <a:r>
              <a:rPr lang="en-US" sz="2200" dirty="0">
                <a:solidFill>
                  <a:srgbClr val="FFFFFF"/>
                </a:solidFill>
              </a:rPr>
              <a:t>!</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Respaldo: la familia Simpson</a:t>
            </a:r>
            <a:r>
              <a:rPr lang="en-US" sz="1500" b="1" i="1" dirty="0">
                <a:solidFill>
                  <a:srgbClr val="8A8DA0"/>
                </a:solidFill>
              </a:rPr>
              <a:t>   Backup: the Simpson family</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¿Quién soy?</a:t>
            </a:r>
            <a:endParaRPr lang="en-US" sz="1800" dirty="0"/>
          </a:p>
        </p:txBody>
      </p:sp>
      <p:graphicFrame>
        <p:nvGraphicFramePr>
          <p:cNvPr id="26" name="tabla"/>
          <p:cNvGraphicFramePr>
            <a:graphicFrameLocks noGrp="1"/>
          </p:cNvGraphicFramePr>
          <p:nvPr>
            <p:extLst>
              <p:ext uri="{D42A27DB-BD31-4B8C-83A1-F6EECF244321}">
                <p14:modId xmlns:p14="http://schemas.microsoft.com/office/powerpoint/2010/main" val="3617821242"/>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한글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Quién 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호머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Homero, el papá</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마지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Marge, la mamá</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바트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Bart, el hermano mayor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리사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Lisa, la hermana del medio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매기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Maggie, la hermana menor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할아버지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el abuelo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Respaldo: una familia dibujada</a:t>
            </a:r>
            <a:r>
              <a:rPr lang="en-US" sz="1500" b="1" i="1" dirty="0">
                <a:solidFill>
                  <a:srgbClr val="8A8DA0"/>
                </a:solidFill>
              </a:rPr>
              <a:t>   Backup: a drawn family</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Para quien no trajo foto</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우리 가족은 네 명이에요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우리 엄마예요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우리 아빠예요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이 사람은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예요</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이에요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친구예요</a:t>
            </a:r>
            <a:r>
              <a:rPr lang="en-US" sz="2800" dirty="0">
                <a:solidFill>
                  <a:srgbClr val="14142B"/>
                </a:solidFill>
              </a:rPr>
              <a:t>.</a:t>
            </a:r>
            <a:endParaRPr lang="en-US" sz="28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946fdc4b879d62f5.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삼육구 게임  </a:t>
            </a:r>
            <a:r>
              <a:rPr lang="en-US" sz="2600" b="1" dirty="0">
                <a:solidFill>
                  <a:srgbClr val="003478"/>
                </a:solidFill>
              </a:rPr>
              <a:t>Respaldo: el juego 3-6-9</a:t>
            </a:r>
            <a:r>
              <a:rPr lang="en-US" sz="1500" b="1" i="1" dirty="0">
                <a:solidFill>
                  <a:srgbClr val="8A8DA0"/>
                </a:solidFill>
              </a:rPr>
              <a:t>   Backup: the 3-6-9 game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Récord del grupo: ___</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Contamos por turnos en sino-coreano: 일</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이</a:t>
            </a:r>
            <a:r>
              <a:rPr lang="en-US" sz="2400" dirty="0">
                <a:solidFill>
                  <a:srgbClr val="14142B"/>
                </a:solidFill>
              </a:rPr>
              <a:t>, …</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Si el número tiene 3, 6 o 9 (삼</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육</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구</a:t>
            </a:r>
            <a:r>
              <a:rPr lang="en-US" sz="2400" dirty="0">
                <a:solidFill>
                  <a:srgbClr val="14142B"/>
                </a:solidFill>
              </a:rPr>
              <a:t>), no lo dices: aplaudes (33 = dos aplausos)</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Si te equivocas, empezamos de nuevo desde 일</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삼육구</a:t>
            </a:r>
            <a:endParaRPr lang="en-US" sz="7700" dirty="0"/>
          </a:p>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게임</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5162</Words>
  <Application>Microsoft Office PowerPoint</Application>
  <PresentationFormat>Widescreen</PresentationFormat>
  <Paragraphs>438</Paragraphs>
  <Slides>27</Slides>
  <Notes>27</Notes>
  <HiddenSlides>0</HiddenSlides>
  <MMClips>15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Malgun Gothic</vt:lpstr>
      <vt:lpstr>Arial</vt:lpstr>
      <vt:lpstr>Academia Seul</vt:lpstr>
      <vt:lpstr>Semana 4 · Mi familia</vt:lpstr>
      <vt:lpstr>Quiz 3   Quiz 3</vt:lpstr>
      <vt:lpstr>Quiz 3 · respuestas   Quiz 3 · answers</vt:lpstr>
      <vt:lpstr>Hoy vas a poder decir…   Today you will be able to say…</vt:lpstr>
      <vt:lpstr>저는 덕선이에요  Soy 덕선   I'm Deok-seon</vt:lpstr>
      <vt:lpstr>누구예요?  ¿Quién es?   Who is it?</vt:lpstr>
      <vt:lpstr>«Mi» se dice 우리   Saying 'my': 우리</vt:lpstr>
      <vt:lpstr>우리 가족  Mi familia (1)   My family (1)</vt:lpstr>
      <vt:lpstr>우리 가족  Mi familia (2)   My family (2)</vt:lpstr>
      <vt:lpstr>¿Quién lo dice?   Who says it?</vt:lpstr>
      <vt:lpstr>¿Quién lo dice? · práctica   Who says it? · practice</vt:lpstr>
      <vt:lpstr>이 사람 · 이분 · 우리 엄마예요!  ¿Cómo presento a alguien?</vt:lpstr>
      <vt:lpstr>이에요 / 예요  ¿Termina en 받침?   Does it end in a final consonant?</vt:lpstr>
      <vt:lpstr>숫자 1  Números 1 · del 0 al 10   Numbers 1 · 0 to 10</vt:lpstr>
      <vt:lpstr>숫자 2  Números 2 · El LEGO   Numbers 2 · Building blocks</vt:lpstr>
      <vt:lpstr>빙고!  ¡Bingo!   Bingo!</vt:lpstr>
      <vt:lpstr>전화번호가 뭐예요?  ¿Cuál es tu número de teléfono?</vt:lpstr>
      <vt:lpstr>명  Contar personas   Counting people</vt:lpstr>
      <vt:lpstr>몇 명이에요?  ¿Cuántos son?   How many people?</vt:lpstr>
      <vt:lpstr>Salas · 20 minutos   Breakout rooms · 20 minutes</vt:lpstr>
      <vt:lpstr>Minuto libre   Free minute</vt:lpstr>
      <vt:lpstr>Las 3 frases clave   The 3 key phrases</vt:lpstr>
      <vt:lpstr>Tarea + mitad de curso   Homework + mid-course check</vt:lpstr>
      <vt:lpstr>감사합니다!  ¡Gracias!</vt:lpstr>
      <vt:lpstr>Respaldo: la familia Simpson   Backup: the Simpson family</vt:lpstr>
      <vt:lpstr>Respaldo: una familia dibujada   Backup: a drawn family</vt:lpstr>
      <vt:lpstr>삼육구 게임  Respaldo: el juego 3-6-9   Backup: the 3-6-9 game</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1 (A1.1) · Semana 4 · 우리 엄마예요 · Mi familia (mitad del curso)</dc:title>
  <dc:subject>PptxGenJS Presentation</dc:subject>
  <dc:creator>Academia Seúl</dc:creator>
  <cp:lastModifiedBy>Jae Hee Kim</cp:lastModifiedBy>
  <cp:revision>2</cp:revision>
  <dcterms:created xsi:type="dcterms:W3CDTF">2026-10-16T10:02:30Z</dcterms:created>
  <dcterms:modified xsi:type="dcterms:W3CDTF">2026-10-16T10:03:17Z</dcterms:modified>
</cp:coreProperties>
</file>