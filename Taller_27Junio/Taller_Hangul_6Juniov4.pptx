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8"/>
  </p:notesMasterIdLst>
  <p:sldIdLst>
    <p:sldId id="256" r:id="rId2"/>
    <p:sldId id="257" r:id="rId3"/>
    <p:sldId id="287" r:id="rId4"/>
    <p:sldId id="291" r:id="rId5"/>
    <p:sldId id="288" r:id="rId6"/>
    <p:sldId id="289" r:id="rId7"/>
    <p:sldId id="292" r:id="rId8"/>
    <p:sldId id="290" r:id="rId9"/>
    <p:sldId id="293" r:id="rId10"/>
    <p:sldId id="258" r:id="rId11"/>
    <p:sldId id="285" r:id="rId12"/>
    <p:sldId id="260" r:id="rId13"/>
    <p:sldId id="280" r:id="rId14"/>
    <p:sldId id="377" r:id="rId15"/>
    <p:sldId id="378" r:id="rId16"/>
    <p:sldId id="281" r:id="rId17"/>
    <p:sldId id="282" r:id="rId18"/>
    <p:sldId id="379" r:id="rId19"/>
    <p:sldId id="261" r:id="rId20"/>
    <p:sldId id="375" r:id="rId21"/>
    <p:sldId id="380" r:id="rId22"/>
    <p:sldId id="381" r:id="rId23"/>
    <p:sldId id="263" r:id="rId24"/>
    <p:sldId id="382" r:id="rId25"/>
    <p:sldId id="264" r:id="rId26"/>
    <p:sldId id="265" r:id="rId27"/>
    <p:sldId id="383" r:id="rId28"/>
    <p:sldId id="384" r:id="rId29"/>
    <p:sldId id="385" r:id="rId30"/>
    <p:sldId id="386" r:id="rId31"/>
    <p:sldId id="387" r:id="rId32"/>
    <p:sldId id="388" r:id="rId33"/>
    <p:sldId id="389" r:id="rId34"/>
    <p:sldId id="390" r:id="rId35"/>
    <p:sldId id="391" r:id="rId36"/>
    <p:sldId id="266" r:id="rId37"/>
    <p:sldId id="376" r:id="rId38"/>
    <p:sldId id="314" r:id="rId39"/>
    <p:sldId id="392" r:id="rId40"/>
    <p:sldId id="283" r:id="rId41"/>
    <p:sldId id="397" r:id="rId42"/>
    <p:sldId id="393" r:id="rId43"/>
    <p:sldId id="394" r:id="rId44"/>
    <p:sldId id="395"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96" r:id="rId63"/>
    <p:sldId id="268" r:id="rId64"/>
    <p:sldId id="269" r:id="rId65"/>
    <p:sldId id="270" r:id="rId66"/>
    <p:sldId id="284" r:id="rId67"/>
    <p:sldId id="320" r:id="rId68"/>
    <p:sldId id="271" r:id="rId69"/>
    <p:sldId id="272" r:id="rId70"/>
    <p:sldId id="273" r:id="rId71"/>
    <p:sldId id="275" r:id="rId72"/>
    <p:sldId id="276" r:id="rId73"/>
    <p:sldId id="277" r:id="rId74"/>
    <p:sldId id="278" r:id="rId75"/>
    <p:sldId id="286" r:id="rId76"/>
    <p:sldId id="279" r:id="rId77"/>
    <p:sldId id="500" r:id="rId83"/>
    <p:sldId id="501" r:id="rId84"/>
    <p:sldId id="502" r:id="rId85"/>
    <p:sldId id="503" r:id="rId8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97"/>
    <p:restoredTop sz="94610"/>
  </p:normalViewPr>
  <p:slideViewPr>
    <p:cSldViewPr snapToGrid="0" snapToObjects="1">
      <p:cViewPr varScale="1">
        <p:scale>
          <a:sx n="83" d="100"/>
          <a:sy n="83" d="100"/>
        </p:scale>
        <p:origin x="658" y="77"/>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318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4.xml.rels><?xml version="1.0" encoding="UTF-8"?><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5.xml.rels><?xml version="1.0" encoding="UTF-8"?><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6.xml.rels><?xml version="1.0" encoding="UTF-8"?><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7.xml.rels><?xml version="1.0" encoding="UTF-8"?><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8.xml.rels><?xml version="1.0" encoding="UTF-8"?><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9.xml.rels><?xml version="1.0" encoding="UTF-8"?><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0.xml.rels><?xml version="1.0" encoding="UTF-8"?><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3.xml.rels><?xml version="1.0" encoding="UTF-8"?><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4.xml.rels><?xml version="1.0" encoding="UTF-8"?><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5.xml.rels><?xml version="1.0" encoding="UTF-8"?><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6.xml.rels><?xml version="1.0" encoding="UTF-8"?><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7.xml.rels><?xml version="1.0" encoding="UTF-8"?><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8.xml.rels><?xml version="1.0" encoding="UTF-8"?><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9.xml.rels><?xml version="1.0" encoding="UTF-8"?><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0.xml.rels><?xml version="1.0" encoding="UTF-8"?><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Hangeul – El alfabeto único de Corea, de la Fundación Corea (KF) (한국국제교류재단). 2010.</a:t>
            </a:r>
          </a:p>
          <a:p>
            <a:endParaRPr lang="es-ES" dirty="0"/>
          </a:p>
          <a:p>
            <a:r>
              <a:rPr lang="es-ES" dirty="0"/>
              <a:t>Introducción</a:t>
            </a:r>
          </a:p>
          <a:p>
            <a:endParaRPr lang="es-ES" dirty="0"/>
          </a:p>
          <a:p>
            <a:r>
              <a:rPr lang="es-ES" dirty="0"/>
              <a:t>La escritura es una invención crucial de la civilización, un logro que permite acumular y transmitir conocimiento, y preservar la experiencia humana de una manera incuestionablemente duradera. Sin embargo, según los registros existentes, la mayoría de las lenguas del mundo son actualmente escritas utilizando una de las tres grandes invenciones de la escritura: los alfabetos, los silabarios o los sistemas logográficos. Entre ellos, Hangeul, el sistema de escritura indígena de Corea, es uno de ellos. Promulgado en 1446, Hangeul es una invención ingeniosa que utiliza elementos orientados hacia la ciencia para facilitar el aprendizaje y el uso.</a:t>
            </a:r>
          </a:p>
          <a:p>
            <a:endParaRPr lang="es-ES" dirty="0"/>
          </a:p>
          <a:p>
            <a:r>
              <a:rPr lang="es-ES" dirty="0"/>
              <a:t>Corea fue tradicionalmente una de las civilizaciones orientales que utilizaban caracteres chinos para escribir, pero el rey Sejong el Grande inventó el alfabeto específicamente para el idioma coreano. Aunque ahora está universalmente reconocido como uno de los mejores sistemas de escritura jamás concebidos por los estudiosos del mundo, a lo largo de la historia Hangeul enfrentó desprecio, tratado durante siglos como “escritura de mujeres” y otros nombres despectivos. A pesar de ello, Hangeul resistió.</a:t>
            </a:r>
          </a:p>
          <a:p>
            <a:endParaRPr lang="es-ES" dirty="0"/>
          </a:p>
          <a:p>
            <a:r>
              <a:rPr lang="es-ES" dirty="0"/>
              <a:t>Ya sea o no, en última instancia, el mejor de todos los sistemas de escritura concebibles para Corea, Hangeul debe ser indiscutiblemente clasificado entre los mayores logros del humanismo. Este libro examina el sistema de escritura hangeul y su impacto en la sociedad coreana. Comenzaremos observando los antecedentes históricos y la génesis del sistema de escritura, examinando la estructura del alfabeto y explorando las teorías lingüísticas y filosóficas que lo sustentan. A continuación, abordaremos el impacto que Hangeul tuvo en la escritura y la alfabetización, así como el papel clave que desempeñó en la creación del propio sistema de escritura. Después, examinaremos las contribuciones posteriores del alfabeto en los siglos siguientes y estudiaremos su impacto en la sociedad coreana. Por último, observaremos cómo Hangeul ha ayudado a promover el uso de la tecnología de la información en Corea y veremos las numerosas formas en que el sistema de escritura de Hangeul ha ayudado a la sociedad coreana y, en última instancia, ha diferenciado la vida coreana.</a:t>
            </a:r>
          </a:p>
          <a:p>
            <a:endParaRPr lang="es-ES" dirty="0"/>
          </a:p>
          <a:p>
            <a:r>
              <a:rPr lang="es-ES" dirty="0"/>
              <a:t>“Porque el habla de este país es diferente de la del chino, los caracteres chinos no se corresponden con ella. Por lo tanto, incluso si la gente desea comunicarse, muchos de ellos no pueden expresar lo que sienten. Entristecido por esto, he creado 28 letras nuevas, con la intención de que todos puedan aprenderlas fácilmente y utilizarlas cómodamente en su vida diaria.”</a:t>
            </a:r>
          </a:p>
          <a:p>
            <a:r>
              <a:rPr lang="es-ES" dirty="0"/>
              <a:t>— Del Hunminjeongeum (“Sonidos Correctos para la Instrucción del Pueblo”), 1446.</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286123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355156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797551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99842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43169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C7279-6828-E016-E4F8-FF237C34F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0CE29A-376C-7616-0CC2-A3A5C7F603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32D7-6881-28AB-7835-69C4AEC5B3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9B5523-AB0D-4B98-AFB3-67F967AED8A5}"/>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2013695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5433548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03F1F-EC18-74A4-5FCE-CBE3E0E50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3C6BE8-B5BA-4D2B-5A39-D2914B7BD9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01BE31-7A51-9C76-D78F-BEA99444C5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8EF95D-AE7A-8419-08C7-98B3D53D80E3}"/>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976493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330778614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8352248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1.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3.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5.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16.xml.rels><?xml version="1.0" encoding="UTF-8"?><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7.xml.rels><?xml version="1.0" encoding="UTF-8"?><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9.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0.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1.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22.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7.png"/></Relationships>
</file>

<file path=ppt/slides/_rels/slide23.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4.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9.png"/></Relationships>
</file>

<file path=ppt/slides/_rels/slide25.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6.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5.png"/></Relationships>
</file>

<file path=ppt/slides/_rels/slide28.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0.png"/></Relationships>
</file>

<file path=ppt/slides/_rels/slide29.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1.png"/></Relationships>
</file>

<file path=ppt/slides/_rels/slide30.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1.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2.png"/></Relationships>
</file>

<file path=ppt/slides/_rels/slide32.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3.png"/></Relationships>
</file>

<file path=ppt/slides/_rels/slide33.xml.rels><?xml version="1.0" encoding="UTF-8"?><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4.png"/></Relationships>
</file>

<file path=ppt/slides/_rels/slide34.xml.rels><?xml version="1.0" encoding="UTF-8"?><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25.png"/></Relationships>
</file>

<file path=ppt/slides/_rels/slide35.xml.rels><?xml version="1.0" encoding="UTF-8"?><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6.png"/><Relationship Id="rId4" Type="http://schemas.openxmlformats.org/officeDocument/2006/relationships/image" Target="../media/image15.png"/></Relationships>
</file>

<file path=ppt/slides/_rels/slide36.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7.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8.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9.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40.xml.rels><?xml version="1.0" encoding="UTF-8"?><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41.xml.rels><?xml version="1.0" encoding="UTF-8"?><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2.xml.rels><?xml version="1.0" encoding="UTF-8"?><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3.xml.rels><?xml version="1.0" encoding="UTF-8"?><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4.xml.rels><?xml version="1.0" encoding="UTF-8"?><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5.xml.rels><?xml version="1.0" encoding="UTF-8"?><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6.xml.rels><?xml version="1.0" encoding="UTF-8"?><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7.xml.rels><?xml version="1.0" encoding="UTF-8"?><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8.xml.rels><?xml version="1.0" encoding="UTF-8"?><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49.xml.rels><?xml version="1.0" encoding="UTF-8"?><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0.xml.rels><?xml version="1.0" encoding="UTF-8"?><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1.xml.rels><?xml version="1.0" encoding="UTF-8"?><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2.xml.rels><?xml version="1.0" encoding="UTF-8"?><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3.xml.rels><?xml version="1.0" encoding="UTF-8"?><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4.xml.rels><?xml version="1.0" encoding="UTF-8"?><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5.xml.rels><?xml version="1.0" encoding="UTF-8"?><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6.xml.rels><?xml version="1.0" encoding="UTF-8"?><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7.xml.rels><?xml version="1.0" encoding="UTF-8"?><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8.xml.rels><?xml version="1.0" encoding="UTF-8"?><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59.xml.rels><?xml version="1.0" encoding="UTF-8"?><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0.xml.rels><?xml version="1.0" encoding="UTF-8"?><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1.xml.rels><?xml version="1.0" encoding="UTF-8"?><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2.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63.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4.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5.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6.xml.rels><?xml version="1.0" encoding="UTF-8"?><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7.xml.rels><?xml version="1.0" encoding="UTF-8"?><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8.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9.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0.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1.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3.xml.rels><?xml version="1.0" encoding="UTF-8"?><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5.xml.rels><?xml version="1.0" encoding="UTF-8"?><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6.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8.png"/></Relationships>
</file>

<file path=ppt/slides/_rels/slide7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9.png"/></Relationships>
</file>

<file path=ppt/slides/_rels/slide7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0.png"/></Relationships>
</file>

<file path=ppt/slides/_rels/slide8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532120" y="274320"/>
            <a:ext cx="1097280" cy="1097280"/>
          </a:xfrm>
          <a:prstGeom prst="rect">
            <a:avLst/>
          </a:prstGeom>
        </p:spPr>
      </p:pic>
      <p:sp>
        <p:nvSpPr>
          <p:cNvPr id="3" name="Text 0"/>
          <p:cNvSpPr/>
          <p:nvPr/>
        </p:nvSpPr>
        <p:spPr>
          <a:xfrm>
            <a:off x="0" y="1508760"/>
            <a:ext cx="12161520" cy="365760"/>
          </a:xfrm>
          <a:prstGeom prst="rect">
            <a:avLst/>
          </a:prstGeom>
          <a:noFill/>
          <a:ln/>
        </p:spPr>
        <p:txBody>
          <a:bodyPr wrap="square" rtlCol="0" anchor="ctr"/>
          <a:lstStyle/>
          <a:p>
            <a:pPr marL="0" indent="0" algn="ctr">
              <a:buNone/>
            </a:pPr>
            <a:r>
              <a:rPr lang="en-US" sz="1400" kern="0" spc="1200" dirty="0">
                <a:solidFill>
                  <a:srgbClr val="FFFFFF"/>
                </a:solidFill>
                <a:latin typeface="Calibri" pitchFamily="34" charset="0"/>
                <a:ea typeface="Calibri" pitchFamily="34" charset="-122"/>
                <a:cs typeface="Calibri" pitchFamily="34" charset="-120"/>
              </a:rPr>
              <a:t>TALLER GRATUITO</a:t>
            </a:r>
            <a:endParaRPr lang="en-US" sz="1400" dirty="0"/>
          </a:p>
        </p:txBody>
      </p:sp>
      <p:sp>
        <p:nvSpPr>
          <p:cNvPr id="4" name="Text 1"/>
          <p:cNvSpPr/>
          <p:nvPr/>
        </p:nvSpPr>
        <p:spPr>
          <a:xfrm>
            <a:off x="0" y="2011680"/>
            <a:ext cx="12161520" cy="1371600"/>
          </a:xfrm>
          <a:prstGeom prst="rect">
            <a:avLst/>
          </a:prstGeom>
          <a:noFill/>
          <a:ln/>
        </p:spPr>
        <p:txBody>
          <a:bodyPr wrap="square" rtlCol="0" anchor="ctr"/>
          <a:lstStyle/>
          <a:p>
            <a:pPr marL="0" indent="0" algn="ctr">
              <a:buNone/>
            </a:pPr>
            <a:r>
              <a:rPr lang="en-US" sz="11000" b="1" dirty="0">
                <a:solidFill>
                  <a:srgbClr val="FFFFFF"/>
                </a:solidFill>
                <a:latin typeface="Malgun Gothic" pitchFamily="34" charset="0"/>
                <a:ea typeface="Malgun Gothic" pitchFamily="34" charset="-122"/>
                <a:cs typeface="Malgun Gothic" pitchFamily="34" charset="-120"/>
              </a:rPr>
              <a:t>한글</a:t>
            </a:r>
            <a:endParaRPr lang="en-US" sz="11000" dirty="0"/>
          </a:p>
        </p:txBody>
      </p:sp>
      <p:sp>
        <p:nvSpPr>
          <p:cNvPr id="5" name="Text 2"/>
          <p:cNvSpPr/>
          <p:nvPr/>
        </p:nvSpPr>
        <p:spPr>
          <a:xfrm>
            <a:off x="0" y="3749040"/>
            <a:ext cx="12161520" cy="640080"/>
          </a:xfrm>
          <a:prstGeom prst="rect">
            <a:avLst/>
          </a:prstGeom>
          <a:noFill/>
          <a:ln/>
        </p:spPr>
        <p:txBody>
          <a:bodyPr wrap="square"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Aprende a leer Hangul en 1 hora</a:t>
            </a:r>
            <a:endParaRPr lang="en-US" sz="2800" dirty="0"/>
          </a:p>
        </p:txBody>
      </p:sp>
      <p:sp>
        <p:nvSpPr>
          <p:cNvPr id="6" name="Text 3"/>
          <p:cNvSpPr/>
          <p:nvPr/>
        </p:nvSpPr>
        <p:spPr>
          <a:xfrm>
            <a:off x="0" y="4526280"/>
            <a:ext cx="12161520" cy="45720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Sábado 6 de junio · 20:00 hora Chile</a:t>
            </a:r>
            <a:endParaRPr lang="en-US" sz="1600" dirty="0"/>
          </a:p>
        </p:txBody>
      </p:sp>
      <p:pic>
        <p:nvPicPr>
          <p:cNvPr id="7" name="Image 1" descr="/sessions/sleepy-zen-cray/mnt/outputs/deck_assets/sello_linea_v1_05.png"/>
          <p:cNvPicPr>
            <a:picLocks noChangeAspect="1"/>
          </p:cNvPicPr>
          <p:nvPr/>
        </p:nvPicPr>
        <p:blipFill>
          <a:blip r:embed="rId4"/>
          <a:stretch>
            <a:fillRect/>
          </a:stretch>
        </p:blipFill>
        <p:spPr>
          <a:xfrm>
            <a:off x="10972800" y="5852160"/>
            <a:ext cx="822960" cy="822960"/>
          </a:xfrm>
          <a:prstGeom prst="rect">
            <a:avLst/>
          </a:prstGeom>
        </p:spPr>
      </p:pic>
      <p:sp>
        <p:nvSpPr>
          <p:cNvPr id="8" name="Text 4"/>
          <p:cNvSpPr/>
          <p:nvPr/>
        </p:nvSpPr>
        <p:spPr>
          <a:xfrm>
            <a:off x="0" y="6263640"/>
            <a:ext cx="12161520" cy="274320"/>
          </a:xfrm>
          <a:prstGeom prst="rect">
            <a:avLst/>
          </a:prstGeom>
          <a:noFill/>
          <a:ln/>
        </p:spPr>
        <p:txBody>
          <a:bodyPr wrap="square" rtlCol="0" anchor="ctr"/>
          <a:lstStyle/>
          <a:p>
            <a:pPr marL="0" indent="0" algn="ctr">
              <a:buNone/>
            </a:pPr>
            <a:r>
              <a:rPr lang="en-US" sz="1100" kern="0" spc="400" dirty="0" err="1">
                <a:solidFill>
                  <a:srgbClr val="FFFFFF"/>
                </a:solidFill>
                <a:latin typeface="Calibri" pitchFamily="34" charset="0"/>
                <a:ea typeface="Calibri" pitchFamily="34" charset="-122"/>
                <a:cs typeface="Calibri" pitchFamily="34" charset="-120"/>
              </a:rPr>
              <a:t>Profesor</a:t>
            </a:r>
            <a:r>
              <a:rPr lang="en-US" sz="1100" kern="0" spc="400" dirty="0">
                <a:solidFill>
                  <a:srgbClr val="FFFFFF"/>
                </a:solidFill>
                <a:latin typeface="Calibri" pitchFamily="34" charset="0"/>
                <a:ea typeface="Calibri" pitchFamily="34" charset="-122"/>
                <a:cs typeface="Calibri" pitchFamily="34" charset="-120"/>
              </a:rPr>
              <a:t xml:space="preserve"> · Jay Kim · 김재희  ·  Academia Seúl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BIENVENIDA</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¡Hola hola chingus! 안녕하세요~</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Bienvenidos al primer taller oficial de Academia Seúl.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En los próximos 60 minutos vamos a hacer algo concreto: que cuando salgas del Zoom, puedas LEER las letras coreanas y ESCRIBIR tu nombre en Hangul.</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Una promesa: si alguno NO puede leer su nombre al final, me escribís por DM y te hago una sesión 1:1 gratuita. Tienen mi palabra.</a:t>
            </a:r>
            <a:endParaRPr lang="en-US" sz="1600" dirty="0"/>
          </a:p>
          <a:p>
            <a:pPr marL="0" indent="0">
              <a:lnSpc>
                <a:spcPct val="140000"/>
              </a:lnSpc>
              <a:buNone/>
            </a:pPr>
            <a:endParaRPr lang="en-US" sz="1600" dirty="0"/>
          </a:p>
          <a:p>
            <a:pPr marL="0" indent="0">
              <a:lnSpc>
                <a:spcPct val="140000"/>
              </a:lnSpc>
              <a:buNone/>
            </a:pPr>
            <a:r>
              <a:rPr lang="en-US" sz="1600" dirty="0">
                <a:solidFill>
                  <a:srgbClr val="1A1A2E"/>
                </a:solidFill>
                <a:latin typeface="Calibri" pitchFamily="34" charset="0"/>
                <a:ea typeface="Calibri" pitchFamily="34" charset="-122"/>
                <a:cs typeface="Calibri" pitchFamily="34" charset="-120"/>
              </a:rPr>
              <a:t>Mientras tanto, en el chat: ¿desde qué país se conectan? ¿Es la primera vez que ven Hangul, o ya lo intentaron antes?</a:t>
            </a:r>
            <a:endParaRPr lang="en-US" sz="1600" dirty="0"/>
          </a:p>
        </p:txBody>
      </p:sp>
      <p:pic>
        <p:nvPicPr>
          <p:cNvPr id="5" name="Image 0" descr="/sessions/sleepy-zen-cray/mnt/outputs/deck_assets/sello_relleno_v1_01.png"/>
          <p:cNvPicPr>
            <a:picLocks noChangeAspect="1"/>
          </p:cNvPicPr>
          <p:nvPr/>
        </p:nvPicPr>
        <p:blipFill>
          <a:blip r:embed="rId3"/>
          <a:stretch>
            <a:fillRect/>
          </a:stretch>
        </p:blipFill>
        <p:spPr>
          <a:xfrm>
            <a:off x="11247120" y="274320"/>
            <a:ext cx="502920" cy="502920"/>
          </a:xfrm>
          <a:prstGeom prst="rect">
            <a:avLst/>
          </a:prstGeom>
        </p:spPr>
      </p:pic>
      <p:pic>
        <p:nvPicPr>
          <p:cNvPr id="6"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02  ·  TALLER</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INTRODUCCIÓN</a:t>
            </a:r>
            <a:endParaRPr lang="en-US" sz="900" dirty="0"/>
          </a:p>
        </p:txBody>
      </p:sp>
      <p:sp>
        <p:nvSpPr>
          <p:cNvPr id="3" name="Text 1"/>
          <p:cNvSpPr/>
          <p:nvPr/>
        </p:nvSpPr>
        <p:spPr>
          <a:xfrm>
            <a:off x="548640" y="822960"/>
            <a:ext cx="10515600" cy="822960"/>
          </a:xfrm>
          <a:prstGeom prst="rect">
            <a:avLst/>
          </a:prstGeom>
          <a:noFill/>
          <a:ln/>
        </p:spPr>
        <p:txBody>
          <a:bodyPr wrap="square" rtlCol="0" anchor="ctr"/>
          <a:lstStyle/>
          <a:p>
            <a:pPr marL="0" indent="0">
              <a:buNone/>
            </a:pPr>
            <a:r>
              <a:rPr lang="en-US" sz="3200" b="1" dirty="0">
                <a:solidFill>
                  <a:srgbClr val="1A1A2E"/>
                </a:solidFill>
                <a:latin typeface="Calibri" pitchFamily="34" charset="0"/>
                <a:ea typeface="Calibri" pitchFamily="34" charset="-122"/>
                <a:cs typeface="Calibri" pitchFamily="34" charset="-120"/>
              </a:rPr>
              <a:t>Hangeul, el alfabeto único de Corea</a:t>
            </a:r>
            <a:endParaRPr lang="en-US" sz="3200" dirty="0"/>
          </a:p>
        </p:txBody>
      </p:sp>
      <p:sp>
        <p:nvSpPr>
          <p:cNvPr id="4" name="Text 2"/>
          <p:cNvSpPr/>
          <p:nvPr/>
        </p:nvSpPr>
        <p:spPr>
          <a:xfrm>
            <a:off x="548640" y="2011680"/>
            <a:ext cx="10972800" cy="4114800"/>
          </a:xfrm>
          <a:prstGeom prst="rect">
            <a:avLst/>
          </a:prstGeom>
          <a:noFill/>
          <a:ln/>
        </p:spPr>
        <p:txBody>
          <a:bodyPr wrap="square" rtlCol="0" anchor="t"/>
          <a:lstStyle/>
          <a:p>
            <a:pPr marL="0" indent="0">
              <a:lnSpc>
                <a:spcPct val="130000"/>
              </a:lnSpc>
              <a:spcAft>
                <a:spcPts val="600"/>
              </a:spcAft>
              <a:buNone/>
            </a:pPr>
            <a:r>
              <a:rPr lang="es-ES" sz="1500" dirty="0">
                <a:solidFill>
                  <a:srgbClr val="1A1A2E"/>
                </a:solidFill>
                <a:latin typeface="Calibri" pitchFamily="34" charset="0"/>
                <a:ea typeface="Calibri" pitchFamily="34" charset="-122"/>
                <a:cs typeface="Calibri" pitchFamily="34" charset="-120"/>
              </a:rPr>
              <a:t>La escritura es una de las grandes invenciones de la humanidad: permite acumular conocimiento y preservar la experiencia humana. Casi todas las lenguas del mundo se escriben con alfabetos, silabarios o sistemas logográficos — y el Hangeul, la escritura propia de Corea, es uno de ellos.</a:t>
            </a:r>
          </a:p>
          <a:p>
            <a:pPr marL="0" indent="0">
              <a:lnSpc>
                <a:spcPct val="130000"/>
              </a:lnSpc>
              <a:spcAft>
                <a:spcPts val="800"/>
              </a:spcAft>
              <a:buNone/>
            </a:pPr>
            <a:r>
              <a:rPr lang="es-ES" sz="1500" dirty="0">
                <a:solidFill>
                  <a:srgbClr val="1A1A2E"/>
                </a:solidFill>
                <a:latin typeface="Calibri" pitchFamily="34" charset="0"/>
                <a:ea typeface="Calibri" pitchFamily="34" charset="-122"/>
                <a:cs typeface="Calibri" pitchFamily="34" charset="-120"/>
              </a:rPr>
              <a:t>Corea usó por siglos los caracteres chinos, hasta que el rey Sejong el Grande creó un alfabeto pensado exclusivamente para el idioma coreano. Promulgado en 1446, hoy es reconocido como uno de los mejores sistemas de escritura jamás concebidos.</a:t>
            </a:r>
          </a:p>
          <a:p>
            <a:pPr marL="0" indent="0">
              <a:lnSpc>
                <a:spcPct val="130000"/>
              </a:lnSpc>
              <a:spcAft>
                <a:spcPts val="300"/>
              </a:spcAft>
              <a:buNone/>
            </a:pPr>
            <a:r>
              <a:rPr lang="es-ES" sz="1500" i="1" dirty="0">
                <a:solidFill>
                  <a:srgbClr val="3D2EE8"/>
                </a:solidFill>
                <a:latin typeface="Calibri" pitchFamily="34" charset="0"/>
                <a:ea typeface="Calibri" pitchFamily="34" charset="-122"/>
                <a:cs typeface="Calibri" pitchFamily="34" charset="-120"/>
              </a:rPr>
              <a:t>“Como el habla de este país es distinta de la de China, los caracteres chinos no se corresponden con ella. Por eso, aunque la gente desee comunicarse, muchos no logran expresar lo que sienten. Apenado por ello, he creado 28 letras nuevas, para que todos puedan aprenderlas con facilidad y usarlas cómodamente cada día.”</a:t>
            </a:r>
          </a:p>
          <a:p>
            <a:pPr marL="0" indent="0">
              <a:lnSpc>
                <a:spcPct val="130000"/>
              </a:lnSpc>
              <a:spcAft>
                <a:spcPts val="300"/>
              </a:spcAft>
              <a:buNone/>
            </a:pPr>
            <a:r>
              <a:rPr lang="es-ES" sz="1100" b="1" dirty="0">
                <a:solidFill>
                  <a:srgbClr val="6B6B7C"/>
                </a:solidFill>
                <a:latin typeface="Calibri" pitchFamily="34" charset="0"/>
                <a:ea typeface="Calibri" pitchFamily="34" charset="-122"/>
                <a:cs typeface="Calibri" pitchFamily="34" charset="-120"/>
              </a:rPr>
              <a:t>— Del Hunminjeongeum (“Sonidos correctos para la instrucción del pueblo”), 1446.</a:t>
            </a:r>
          </a:p>
          <a:p>
            <a:pPr marL="0" indent="0">
              <a:lnSpc>
                <a:spcPct val="130000"/>
              </a:lnSpc>
              <a:buNone/>
            </a:pPr>
            <a:r>
              <a:rPr lang="es-ES" sz="1000" dirty="0">
                <a:solidFill>
                  <a:srgbClr val="9A92A8"/>
                </a:solidFill>
                <a:latin typeface="Calibri" pitchFamily="34" charset="0"/>
                <a:ea typeface="Calibri" pitchFamily="34" charset="-122"/>
                <a:cs typeface="Calibri" pitchFamily="34" charset="-120"/>
              </a:rPr>
              <a:t>Fuente: Hangeul — El alfabeto único de Corea, Fundación Corea (KF / 한국국제교류재단), 2010.</a:t>
            </a:r>
          </a:p>
        </p:txBody>
      </p:sp>
      <p:pic>
        <p:nvPicPr>
          <p:cNvPr id="5" name="Image 0" descr="/sessions/sleepy-zen-cray/mnt/outputs/deck_assets/sello_relleno_v1_01.png"/>
          <p:cNvPicPr>
            <a:picLocks noChangeAspect="1"/>
          </p:cNvPicPr>
          <p:nvPr/>
        </p:nvPicPr>
        <p:blipFill>
          <a:blip r:embed="rId3"/>
          <a:stretch>
            <a:fillRect/>
          </a:stretch>
        </p:blipFill>
        <p:spPr>
          <a:xfrm>
            <a:off x="11247120" y="274320"/>
            <a:ext cx="502920" cy="502920"/>
          </a:xfrm>
          <a:prstGeom prst="rect">
            <a:avLst/>
          </a:prstGeom>
        </p:spPr>
      </p:pic>
      <p:pic>
        <p:nvPicPr>
          <p:cNvPr id="6"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7" name="Text 3"/>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8" name="Text 4"/>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INTRO  ·  FUENTE: KF 2010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BB68E-6C38-B981-F5D8-6757336BAA6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9A9B2E-FF20-25FF-7C96-2ECA2C971846}"/>
              </a:ext>
            </a:extLst>
          </p:cNvPr>
          <p:cNvPicPr>
            <a:picLocks noChangeAspect="1"/>
          </p:cNvPicPr>
          <p:nvPr/>
        </p:nvPicPr>
        <p:blipFill>
          <a:blip r:embed="rId2"/>
          <a:stretch>
            <a:fillRect/>
          </a:stretch>
        </p:blipFill>
        <p:spPr>
          <a:xfrm>
            <a:off x="2737304" y="441557"/>
            <a:ext cx="5289097" cy="5974886"/>
          </a:xfrm>
          <a:prstGeom prst="rect">
            <a:avLst/>
          </a:prstGeom>
        </p:spPr>
      </p:pic>
    </p:spTree>
    <p:extLst>
      <p:ext uri="{BB962C8B-B14F-4D97-AF65-F5344CB8AC3E}">
        <p14:creationId xmlns:p14="http://schemas.microsoft.com/office/powerpoint/2010/main" val="2663060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2B6EB2-0F6B-AEFC-7D9D-AE5E6BF926F9}"/>
              </a:ext>
            </a:extLst>
          </p:cNvPr>
          <p:cNvPicPr>
            <a:picLocks noChangeAspect="1"/>
          </p:cNvPicPr>
          <p:nvPr/>
        </p:nvPicPr>
        <p:blipFill>
          <a:blip r:embed="rId2"/>
          <a:stretch>
            <a:fillRect/>
          </a:stretch>
        </p:blipFill>
        <p:spPr>
          <a:xfrm>
            <a:off x="358736" y="215585"/>
            <a:ext cx="11474527" cy="6642415"/>
          </a:xfrm>
          <a:prstGeom prst="rect">
            <a:avLst/>
          </a:prstGeom>
        </p:spPr>
      </p:pic>
    </p:spTree>
    <p:extLst>
      <p:ext uri="{BB962C8B-B14F-4D97-AF65-F5344CB8AC3E}">
        <p14:creationId xmlns:p14="http://schemas.microsoft.com/office/powerpoint/2010/main" val="3686263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CCAF6E-0E61-585B-6F01-709691F4C8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171C2EE-C052-5BC9-DE1C-47039BDCBB4B}"/>
              </a:ext>
            </a:extLst>
          </p:cNvPr>
          <p:cNvPicPr>
            <a:picLocks noChangeAspect="1"/>
          </p:cNvPicPr>
          <p:nvPr/>
        </p:nvPicPr>
        <p:blipFill>
          <a:blip r:embed="rId2"/>
          <a:stretch>
            <a:fillRect/>
          </a:stretch>
        </p:blipFill>
        <p:spPr>
          <a:xfrm>
            <a:off x="1968000" y="0"/>
            <a:ext cx="8256000" cy="6858000"/>
          </a:xfrm>
          <a:prstGeom prst="rect">
            <a:avLst/>
          </a:prstGeom>
        </p:spPr>
      </p:pic>
    </p:spTree>
    <p:extLst>
      <p:ext uri="{BB962C8B-B14F-4D97-AF65-F5344CB8AC3E}">
        <p14:creationId xmlns:p14="http://schemas.microsoft.com/office/powerpoint/2010/main" val="150984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1E3513-9ED8-9C42-F700-97C1ECE437A2}"/>
              </a:ext>
            </a:extLst>
          </p:cNvPr>
          <p:cNvPicPr>
            <a:picLocks noChangeAspect="1"/>
          </p:cNvPicPr>
          <p:nvPr/>
        </p:nvPicPr>
        <p:blipFill>
          <a:blip r:embed="rId2"/>
          <a:stretch>
            <a:fillRect/>
          </a:stretch>
        </p:blipFill>
        <p:spPr>
          <a:xfrm>
            <a:off x="268126" y="0"/>
            <a:ext cx="11655748" cy="6858000"/>
          </a:xfrm>
          <a:prstGeom prst="rect">
            <a:avLst/>
          </a:prstGeom>
        </p:spPr>
      </p:pic>
    </p:spTree>
    <p:extLst>
      <p:ext uri="{BB962C8B-B14F-4D97-AF65-F5344CB8AC3E}">
        <p14:creationId xmlns:p14="http://schemas.microsoft.com/office/powerpoint/2010/main" val="1520600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BDFF2-4950-82F5-D12E-72D5A74B1F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0077B31-F9C5-D52B-9EA6-DAAFFE02DEC7}"/>
              </a:ext>
            </a:extLst>
          </p:cNvPr>
          <p:cNvPicPr>
            <a:picLocks noChangeAspect="1"/>
          </p:cNvPicPr>
          <p:nvPr/>
        </p:nvPicPr>
        <p:blipFill>
          <a:blip r:embed="rId2"/>
          <a:stretch>
            <a:fillRect/>
          </a:stretch>
        </p:blipFill>
        <p:spPr>
          <a:xfrm>
            <a:off x="2390706" y="509711"/>
            <a:ext cx="7410588" cy="6015779"/>
          </a:xfrm>
          <a:prstGeom prst="rect">
            <a:avLst/>
          </a:prstGeom>
        </p:spPr>
      </p:pic>
    </p:spTree>
    <p:extLst>
      <p:ext uri="{BB962C8B-B14F-4D97-AF65-F5344CB8AC3E}">
        <p14:creationId xmlns:p14="http://schemas.microsoft.com/office/powerpoint/2010/main" val="2075150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56FA546-0792-6569-6620-ABA7EB07BCED}"/>
              </a:ext>
            </a:extLst>
          </p:cNvPr>
          <p:cNvPicPr>
            <a:picLocks noChangeAspect="1"/>
          </p:cNvPicPr>
          <p:nvPr/>
        </p:nvPicPr>
        <p:blipFill>
          <a:blip r:embed="rId2"/>
          <a:stretch>
            <a:fillRect/>
          </a:stretch>
        </p:blipFill>
        <p:spPr>
          <a:xfrm>
            <a:off x="2325820" y="77317"/>
            <a:ext cx="7150689" cy="6503592"/>
          </a:xfrm>
          <a:prstGeom prst="rect">
            <a:avLst/>
          </a:prstGeom>
        </p:spPr>
      </p:pic>
    </p:spTree>
    <p:extLst>
      <p:ext uri="{BB962C8B-B14F-4D97-AF65-F5344CB8AC3E}">
        <p14:creationId xmlns:p14="http://schemas.microsoft.com/office/powerpoint/2010/main" val="1263896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OBJETIVOS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vas a saber en 60 minutos</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모음</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Las 6 vocales básicas</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자음</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7 consonantes más usadas</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음절</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Cómo armar sílabas</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이름</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Tu nombre en Hangul</a:t>
            </a:r>
            <a:endParaRPr lang="en-US" sz="1200" dirty="0"/>
          </a:p>
        </p:txBody>
      </p:sp>
      <p:sp>
        <p:nvSpPr>
          <p:cNvPr id="16" name="Shape 14"/>
          <p:cNvSpPr/>
          <p:nvPr/>
        </p:nvSpPr>
        <p:spPr>
          <a:xfrm>
            <a:off x="548640" y="3246120"/>
            <a:ext cx="2743200" cy="1280160"/>
          </a:xfrm>
          <a:prstGeom prst="roundRect">
            <a:avLst>
              <a:gd name="adj" fmla="val 7143"/>
            </a:avLst>
          </a:prstGeom>
          <a:solidFill>
            <a:srgbClr val="E8E5F8"/>
          </a:solidFill>
          <a:ln w="12700">
            <a:solidFill>
              <a:srgbClr val="E8E5F8"/>
            </a:solidFill>
            <a:prstDash val="solid"/>
          </a:ln>
        </p:spPr>
      </p:sp>
      <p:sp>
        <p:nvSpPr>
          <p:cNvPr id="17" name="Text 15"/>
          <p:cNvSpPr/>
          <p:nvPr/>
        </p:nvSpPr>
        <p:spPr>
          <a:xfrm>
            <a:off x="548640"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단어</a:t>
            </a:r>
            <a:endParaRPr lang="en-US" sz="2200" dirty="0"/>
          </a:p>
        </p:txBody>
      </p:sp>
      <p:sp>
        <p:nvSpPr>
          <p:cNvPr id="18" name="Text 16"/>
          <p:cNvSpPr/>
          <p:nvPr/>
        </p:nvSpPr>
        <p:spPr>
          <a:xfrm>
            <a:off x="548640"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Palabras reales</a:t>
            </a:r>
            <a:endParaRPr lang="en-US" sz="1200" dirty="0"/>
          </a:p>
        </p:txBody>
      </p:sp>
      <p:sp>
        <p:nvSpPr>
          <p:cNvPr id="19" name="Shape 17"/>
          <p:cNvSpPr/>
          <p:nvPr/>
        </p:nvSpPr>
        <p:spPr>
          <a:xfrm>
            <a:off x="3410712" y="3246120"/>
            <a:ext cx="2743200" cy="1280160"/>
          </a:xfrm>
          <a:prstGeom prst="roundRect">
            <a:avLst>
              <a:gd name="adj" fmla="val 7143"/>
            </a:avLst>
          </a:prstGeom>
          <a:solidFill>
            <a:srgbClr val="FFE2E2"/>
          </a:solidFill>
          <a:ln w="12700">
            <a:solidFill>
              <a:srgbClr val="FFE2E2"/>
            </a:solidFill>
            <a:prstDash val="solid"/>
          </a:ln>
        </p:spPr>
      </p:sp>
      <p:sp>
        <p:nvSpPr>
          <p:cNvPr id="20" name="Text 18"/>
          <p:cNvSpPr/>
          <p:nvPr/>
        </p:nvSpPr>
        <p:spPr>
          <a:xfrm>
            <a:off x="3410712" y="338328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 K-pop</a:t>
            </a:r>
            <a:endParaRPr lang="en-US" sz="2200" dirty="0"/>
          </a:p>
        </p:txBody>
      </p:sp>
      <p:sp>
        <p:nvSpPr>
          <p:cNvPr id="21" name="Text 19"/>
          <p:cNvSpPr/>
          <p:nvPr/>
        </p:nvSpPr>
        <p:spPr>
          <a:xfrm>
            <a:off x="3410712" y="395935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Reconocer letras de K-dramas</a:t>
            </a:r>
            <a:endParaRPr lang="en-US" sz="1200" dirty="0"/>
          </a:p>
        </p:txBody>
      </p:sp>
      <p:pic>
        <p:nvPicPr>
          <p:cNvPr id="22"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3"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03  ·  TALLER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§1.1 · CONTEXTO</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Hangul en el mapa de alfabetos del mundo</a:t>
            </a:r>
            <a:endParaRPr lang="en-US" sz="3400" dirty="0"/>
          </a:p>
        </p:txBody>
      </p:sp>
      <p:sp>
        <p:nvSpPr>
          <p:cNvPr id="4" name="Text 2"/>
          <p:cNvSpPr/>
          <p:nvPr/>
        </p:nvSpPr>
        <p:spPr>
          <a:xfrm>
            <a:off x="365760" y="1600200"/>
            <a:ext cx="11430000" cy="365760"/>
          </a:xfrm>
          <a:prstGeom prst="rect">
            <a:avLst/>
          </a:prstGeom>
          <a:noFill/>
          <a:ln/>
        </p:spPr>
        <p:txBody>
          <a:bodyPr wrap="square" rtlCol="0" anchor="ctr"/>
          <a:lstStyle/>
          <a:p>
            <a:pPr marL="0" indent="0" algn="ctr">
              <a:buNone/>
            </a:pPr>
            <a:r>
              <a:rPr lang="en-US" sz="1800" i="1" dirty="0">
                <a:solidFill>
                  <a:srgbClr val="4A5568"/>
                </a:solidFill>
                <a:latin typeface="Georgia" pitchFamily="34" charset="0"/>
                <a:ea typeface="Georgia" pitchFamily="34" charset="-122"/>
                <a:cs typeface="Georgia" pitchFamily="34" charset="-120"/>
              </a:rPr>
              <a:t>Coreano NO es chino · es un ALFABETO como el nuestro</a:t>
            </a:r>
            <a:endParaRPr lang="en-US" sz="1800" dirty="0"/>
          </a:p>
        </p:txBody>
      </p:sp>
      <p:sp>
        <p:nvSpPr>
          <p:cNvPr id="5" name="Shape 3"/>
          <p:cNvSpPr/>
          <p:nvPr/>
        </p:nvSpPr>
        <p:spPr>
          <a:xfrm>
            <a:off x="411480" y="2103120"/>
            <a:ext cx="3703320" cy="1371600"/>
          </a:xfrm>
          <a:prstGeom prst="roundRect">
            <a:avLst>
              <a:gd name="adj" fmla="val 6667"/>
            </a:avLst>
          </a:prstGeom>
          <a:solidFill>
            <a:srgbClr val="FFFFFF"/>
          </a:solidFill>
          <a:ln w="12700">
            <a:solidFill>
              <a:srgbClr val="E2E8F0"/>
            </a:solidFill>
            <a:prstDash val="solid"/>
          </a:ln>
        </p:spPr>
      </p:sp>
      <p:sp>
        <p:nvSpPr>
          <p:cNvPr id="6" name="Text 4"/>
          <p:cNvSpPr/>
          <p:nvPr/>
        </p:nvSpPr>
        <p:spPr>
          <a:xfrm>
            <a:off x="548640" y="2240280"/>
            <a:ext cx="3429000"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Trebuchet MS" pitchFamily="34" charset="0"/>
                <a:ea typeface="Trebuchet MS" pitchFamily="34" charset="-122"/>
                <a:cs typeface="Trebuchet MS" pitchFamily="34" charset="-120"/>
              </a:rPr>
              <a:t>ABC</a:t>
            </a:r>
            <a:endParaRPr lang="en-US" sz="3200" dirty="0"/>
          </a:p>
        </p:txBody>
      </p:sp>
      <p:sp>
        <p:nvSpPr>
          <p:cNvPr id="7" name="Text 5"/>
          <p:cNvSpPr/>
          <p:nvPr/>
        </p:nvSpPr>
        <p:spPr>
          <a:xfrm>
            <a:off x="548640"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Latin / Roman</a:t>
            </a:r>
            <a:endParaRPr lang="en-US" sz="1300" dirty="0"/>
          </a:p>
        </p:txBody>
      </p:sp>
      <p:sp>
        <p:nvSpPr>
          <p:cNvPr id="8" name="Text 6"/>
          <p:cNvSpPr/>
          <p:nvPr/>
        </p:nvSpPr>
        <p:spPr>
          <a:xfrm>
            <a:off x="548640"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Occidente · LATAM</a:t>
            </a:r>
            <a:endParaRPr lang="en-US" sz="1100" dirty="0"/>
          </a:p>
        </p:txBody>
      </p:sp>
      <p:sp>
        <p:nvSpPr>
          <p:cNvPr id="9" name="Shape 7"/>
          <p:cNvSpPr/>
          <p:nvPr/>
        </p:nvSpPr>
        <p:spPr>
          <a:xfrm>
            <a:off x="4224528" y="2103120"/>
            <a:ext cx="3703320" cy="1371600"/>
          </a:xfrm>
          <a:prstGeom prst="roundRect">
            <a:avLst>
              <a:gd name="adj" fmla="val 6667"/>
            </a:avLst>
          </a:prstGeom>
          <a:solidFill>
            <a:srgbClr val="FFFFFF"/>
          </a:solidFill>
          <a:ln w="12700">
            <a:solidFill>
              <a:srgbClr val="E2E8F0"/>
            </a:solidFill>
            <a:prstDash val="solid"/>
          </a:ln>
        </p:spPr>
      </p:sp>
      <p:sp>
        <p:nvSpPr>
          <p:cNvPr id="10" name="Text 8"/>
          <p:cNvSpPr/>
          <p:nvPr/>
        </p:nvSpPr>
        <p:spPr>
          <a:xfrm>
            <a:off x="4361688" y="2240280"/>
            <a:ext cx="3429000"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Trebuchet MS" pitchFamily="34" charset="0"/>
                <a:ea typeface="Trebuchet MS" pitchFamily="34" charset="-122"/>
                <a:cs typeface="Trebuchet MS" pitchFamily="34" charset="-120"/>
              </a:rPr>
              <a:t>Кириллица</a:t>
            </a:r>
            <a:endParaRPr lang="en-US" sz="3200" dirty="0"/>
          </a:p>
        </p:txBody>
      </p:sp>
      <p:sp>
        <p:nvSpPr>
          <p:cNvPr id="11" name="Text 9"/>
          <p:cNvSpPr/>
          <p:nvPr/>
        </p:nvSpPr>
        <p:spPr>
          <a:xfrm>
            <a:off x="4361688"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Cirílico</a:t>
            </a:r>
            <a:endParaRPr lang="en-US" sz="1300" dirty="0"/>
          </a:p>
        </p:txBody>
      </p:sp>
      <p:sp>
        <p:nvSpPr>
          <p:cNvPr id="12" name="Text 10"/>
          <p:cNvSpPr/>
          <p:nvPr/>
        </p:nvSpPr>
        <p:spPr>
          <a:xfrm>
            <a:off x="4361688"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Rusia · Ucrania</a:t>
            </a:r>
            <a:endParaRPr lang="en-US" sz="1100" dirty="0"/>
          </a:p>
        </p:txBody>
      </p:sp>
      <p:sp>
        <p:nvSpPr>
          <p:cNvPr id="13" name="Shape 11"/>
          <p:cNvSpPr/>
          <p:nvPr/>
        </p:nvSpPr>
        <p:spPr>
          <a:xfrm>
            <a:off x="8037576" y="2103120"/>
            <a:ext cx="3703320" cy="1371600"/>
          </a:xfrm>
          <a:prstGeom prst="roundRect">
            <a:avLst>
              <a:gd name="adj" fmla="val 6667"/>
            </a:avLst>
          </a:prstGeom>
          <a:solidFill>
            <a:srgbClr val="FFFFFF"/>
          </a:solidFill>
          <a:ln w="12700">
            <a:solidFill>
              <a:srgbClr val="E2E8F0"/>
            </a:solidFill>
            <a:prstDash val="solid"/>
          </a:ln>
        </p:spPr>
      </p:sp>
      <p:sp>
        <p:nvSpPr>
          <p:cNvPr id="14" name="Text 12"/>
          <p:cNvSpPr/>
          <p:nvPr/>
        </p:nvSpPr>
        <p:spPr>
          <a:xfrm>
            <a:off x="8174736" y="2240280"/>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देवनागरी</a:t>
            </a:r>
            <a:endParaRPr lang="en-US" sz="3200" dirty="0"/>
          </a:p>
        </p:txBody>
      </p:sp>
      <p:sp>
        <p:nvSpPr>
          <p:cNvPr id="15" name="Text 13"/>
          <p:cNvSpPr/>
          <p:nvPr/>
        </p:nvSpPr>
        <p:spPr>
          <a:xfrm>
            <a:off x="8174736" y="2926080"/>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Devanagari</a:t>
            </a:r>
            <a:endParaRPr lang="en-US" sz="1300" dirty="0"/>
          </a:p>
        </p:txBody>
      </p:sp>
      <p:sp>
        <p:nvSpPr>
          <p:cNvPr id="16" name="Text 14"/>
          <p:cNvSpPr/>
          <p:nvPr/>
        </p:nvSpPr>
        <p:spPr>
          <a:xfrm>
            <a:off x="8174736" y="3154680"/>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India · Nepal</a:t>
            </a:r>
            <a:endParaRPr lang="en-US" sz="1100" dirty="0"/>
          </a:p>
        </p:txBody>
      </p:sp>
      <p:sp>
        <p:nvSpPr>
          <p:cNvPr id="17" name="Shape 15"/>
          <p:cNvSpPr/>
          <p:nvPr/>
        </p:nvSpPr>
        <p:spPr>
          <a:xfrm>
            <a:off x="411480" y="3584448"/>
            <a:ext cx="3703320" cy="1371600"/>
          </a:xfrm>
          <a:prstGeom prst="roundRect">
            <a:avLst>
              <a:gd name="adj" fmla="val 6667"/>
            </a:avLst>
          </a:prstGeom>
          <a:solidFill>
            <a:srgbClr val="FFFFFF"/>
          </a:solidFill>
          <a:ln w="12700">
            <a:solidFill>
              <a:srgbClr val="E2E8F0"/>
            </a:solidFill>
            <a:prstDash val="solid"/>
          </a:ln>
        </p:spPr>
      </p:sp>
      <p:sp>
        <p:nvSpPr>
          <p:cNvPr id="18" name="Text 16"/>
          <p:cNvSpPr/>
          <p:nvPr/>
        </p:nvSpPr>
        <p:spPr>
          <a:xfrm>
            <a:off x="548640" y="3721608"/>
            <a:ext cx="3429000" cy="685800"/>
          </a:xfrm>
          <a:prstGeom prst="rect">
            <a:avLst/>
          </a:prstGeom>
          <a:noFill/>
          <a:ln/>
        </p:spPr>
        <p:txBody>
          <a:bodyPr wrap="square" lIns="0" tIns="0" rIns="0" bIns="0" rtlCol="0" anchor="ctr"/>
          <a:lstStyle/>
          <a:p>
            <a:pPr marL="0" indent="0" algn="ctr">
              <a:buNone/>
            </a:pPr>
            <a:r>
              <a:rPr lang="en-US" sz="3200" b="1" dirty="0">
                <a:solidFill>
                  <a:srgbClr val="2EA86B"/>
                </a:solidFill>
                <a:latin typeface="Trebuchet MS" pitchFamily="34" charset="0"/>
                <a:ea typeface="Trebuchet MS" pitchFamily="34" charset="-122"/>
                <a:cs typeface="Trebuchet MS" pitchFamily="34" charset="-120"/>
              </a:rPr>
              <a:t>ตัวอักษรไทย</a:t>
            </a:r>
            <a:endParaRPr lang="en-US" sz="3200" dirty="0"/>
          </a:p>
        </p:txBody>
      </p:sp>
      <p:sp>
        <p:nvSpPr>
          <p:cNvPr id="19" name="Text 17"/>
          <p:cNvSpPr/>
          <p:nvPr/>
        </p:nvSpPr>
        <p:spPr>
          <a:xfrm>
            <a:off x="548640"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Tailandés</a:t>
            </a:r>
            <a:endParaRPr lang="en-US" sz="1300" dirty="0"/>
          </a:p>
        </p:txBody>
      </p:sp>
      <p:sp>
        <p:nvSpPr>
          <p:cNvPr id="20" name="Text 18"/>
          <p:cNvSpPr/>
          <p:nvPr/>
        </p:nvSpPr>
        <p:spPr>
          <a:xfrm>
            <a:off x="548640"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Tailandia</a:t>
            </a:r>
            <a:endParaRPr lang="en-US" sz="1100" dirty="0"/>
          </a:p>
        </p:txBody>
      </p:sp>
      <p:sp>
        <p:nvSpPr>
          <p:cNvPr id="21" name="Shape 19"/>
          <p:cNvSpPr/>
          <p:nvPr/>
        </p:nvSpPr>
        <p:spPr>
          <a:xfrm>
            <a:off x="4224528" y="3584448"/>
            <a:ext cx="3703320" cy="1371600"/>
          </a:xfrm>
          <a:prstGeom prst="roundRect">
            <a:avLst>
              <a:gd name="adj" fmla="val 6667"/>
            </a:avLst>
          </a:prstGeom>
          <a:solidFill>
            <a:srgbClr val="FFFFFF"/>
          </a:solidFill>
          <a:ln w="12700">
            <a:solidFill>
              <a:srgbClr val="E2E8F0"/>
            </a:solidFill>
            <a:prstDash val="solid"/>
          </a:ln>
        </p:spPr>
      </p:sp>
      <p:sp>
        <p:nvSpPr>
          <p:cNvPr id="22" name="Text 20"/>
          <p:cNvSpPr/>
          <p:nvPr/>
        </p:nvSpPr>
        <p:spPr>
          <a:xfrm>
            <a:off x="4361688" y="3721608"/>
            <a:ext cx="3429000" cy="685800"/>
          </a:xfrm>
          <a:prstGeom prst="rect">
            <a:avLst/>
          </a:prstGeom>
          <a:noFill/>
          <a:ln/>
        </p:spPr>
        <p:txBody>
          <a:bodyPr wrap="square" lIns="0" tIns="0" rIns="0" bIns="0" rtlCol="0" anchor="ctr"/>
          <a:lstStyle/>
          <a:p>
            <a:pPr marL="0" indent="0" algn="ctr">
              <a:buNone/>
            </a:pPr>
            <a:r>
              <a:rPr lang="en-US" sz="3200" b="1" dirty="0">
                <a:solidFill>
                  <a:srgbClr val="F2C73A"/>
                </a:solidFill>
                <a:latin typeface="Trebuchet MS" pitchFamily="34" charset="0"/>
                <a:ea typeface="Trebuchet MS" pitchFamily="34" charset="-122"/>
                <a:cs typeface="Trebuchet MS" pitchFamily="34" charset="-120"/>
              </a:rPr>
              <a:t>αλφάβητο</a:t>
            </a:r>
            <a:endParaRPr lang="en-US" sz="3200" dirty="0"/>
          </a:p>
        </p:txBody>
      </p:sp>
      <p:sp>
        <p:nvSpPr>
          <p:cNvPr id="23" name="Text 21"/>
          <p:cNvSpPr/>
          <p:nvPr/>
        </p:nvSpPr>
        <p:spPr>
          <a:xfrm>
            <a:off x="4361688" y="4407408"/>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Griego</a:t>
            </a:r>
            <a:endParaRPr lang="en-US" sz="1300" dirty="0"/>
          </a:p>
        </p:txBody>
      </p:sp>
      <p:sp>
        <p:nvSpPr>
          <p:cNvPr id="24" name="Text 22"/>
          <p:cNvSpPr/>
          <p:nvPr/>
        </p:nvSpPr>
        <p:spPr>
          <a:xfrm>
            <a:off x="4361688" y="4636008"/>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Grecia</a:t>
            </a:r>
            <a:endParaRPr lang="en-US" sz="1100" dirty="0"/>
          </a:p>
        </p:txBody>
      </p:sp>
      <p:sp>
        <p:nvSpPr>
          <p:cNvPr id="25" name="Shape 23"/>
          <p:cNvSpPr/>
          <p:nvPr/>
        </p:nvSpPr>
        <p:spPr>
          <a:xfrm>
            <a:off x="8037576" y="3584448"/>
            <a:ext cx="3703320" cy="1371600"/>
          </a:xfrm>
          <a:prstGeom prst="roundRect">
            <a:avLst>
              <a:gd name="adj" fmla="val 6667"/>
            </a:avLst>
          </a:prstGeom>
          <a:solidFill>
            <a:srgbClr val="2A1FB8"/>
          </a:solidFill>
          <a:ln w="38100">
            <a:solidFill>
              <a:srgbClr val="2A1FB8"/>
            </a:solidFill>
            <a:prstDash val="solid"/>
          </a:ln>
        </p:spPr>
      </p:sp>
      <p:sp>
        <p:nvSpPr>
          <p:cNvPr id="26" name="Text 24"/>
          <p:cNvSpPr/>
          <p:nvPr/>
        </p:nvSpPr>
        <p:spPr>
          <a:xfrm>
            <a:off x="8174736" y="3721608"/>
            <a:ext cx="34290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한글</a:t>
            </a:r>
            <a:endParaRPr lang="en-US" sz="3200" dirty="0"/>
          </a:p>
        </p:txBody>
      </p:sp>
      <p:sp>
        <p:nvSpPr>
          <p:cNvPr id="27" name="Text 25"/>
          <p:cNvSpPr/>
          <p:nvPr/>
        </p:nvSpPr>
        <p:spPr>
          <a:xfrm>
            <a:off x="8174736" y="4407408"/>
            <a:ext cx="342900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Hangul</a:t>
            </a:r>
            <a:endParaRPr lang="en-US" sz="1300" dirty="0"/>
          </a:p>
        </p:txBody>
      </p:sp>
      <p:sp>
        <p:nvSpPr>
          <p:cNvPr id="28" name="Text 26"/>
          <p:cNvSpPr/>
          <p:nvPr/>
        </p:nvSpPr>
        <p:spPr>
          <a:xfrm>
            <a:off x="8174736" y="4636008"/>
            <a:ext cx="3429000" cy="27432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Corea · TÚ en 60 min</a:t>
            </a:r>
            <a:endParaRPr lang="en-US" sz="1100" dirty="0"/>
          </a:p>
        </p:txBody>
      </p:sp>
      <p:sp>
        <p:nvSpPr>
          <p:cNvPr id="29" name="Shape 27"/>
          <p:cNvSpPr/>
          <p:nvPr/>
        </p:nvSpPr>
        <p:spPr>
          <a:xfrm>
            <a:off x="411480" y="5065776"/>
            <a:ext cx="3703320" cy="1371600"/>
          </a:xfrm>
          <a:prstGeom prst="roundRect">
            <a:avLst>
              <a:gd name="adj" fmla="val 6667"/>
            </a:avLst>
          </a:prstGeom>
          <a:solidFill>
            <a:srgbClr val="FFFFFF"/>
          </a:solidFill>
          <a:ln w="12700">
            <a:solidFill>
              <a:srgbClr val="E2E8F0"/>
            </a:solidFill>
            <a:prstDash val="solid"/>
          </a:ln>
        </p:spPr>
      </p:sp>
      <p:sp>
        <p:nvSpPr>
          <p:cNvPr id="30" name="Text 28"/>
          <p:cNvSpPr/>
          <p:nvPr/>
        </p:nvSpPr>
        <p:spPr>
          <a:xfrm>
            <a:off x="548640" y="5202936"/>
            <a:ext cx="3429000" cy="685800"/>
          </a:xfrm>
          <a:prstGeom prst="rect">
            <a:avLst/>
          </a:prstGeom>
          <a:noFill/>
          <a:ln/>
        </p:spPr>
        <p:txBody>
          <a:bodyPr wrap="square" lIns="0" tIns="0" rIns="0" bIns="0" rtlCol="0" anchor="ctr"/>
          <a:lstStyle/>
          <a:p>
            <a:pPr marL="0" indent="0" algn="ctr">
              <a:buNone/>
            </a:pPr>
            <a:r>
              <a:rPr lang="en-US" sz="3200" b="1" dirty="0">
                <a:solidFill>
                  <a:srgbClr val="4A5568"/>
                </a:solidFill>
                <a:latin typeface="Trebuchet MS" pitchFamily="34" charset="0"/>
                <a:ea typeface="Trebuchet MS" pitchFamily="34" charset="-122"/>
                <a:cs typeface="Trebuchet MS" pitchFamily="34" charset="-120"/>
              </a:rPr>
              <a:t>漢字</a:t>
            </a:r>
            <a:endParaRPr lang="en-US" sz="3200" dirty="0"/>
          </a:p>
        </p:txBody>
      </p:sp>
      <p:sp>
        <p:nvSpPr>
          <p:cNvPr id="31" name="Text 29"/>
          <p:cNvSpPr/>
          <p:nvPr/>
        </p:nvSpPr>
        <p:spPr>
          <a:xfrm>
            <a:off x="548640"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Caracteres Han</a:t>
            </a:r>
            <a:endParaRPr lang="en-US" sz="1300" dirty="0"/>
          </a:p>
        </p:txBody>
      </p:sp>
      <p:sp>
        <p:nvSpPr>
          <p:cNvPr id="32" name="Text 30"/>
          <p:cNvSpPr/>
          <p:nvPr/>
        </p:nvSpPr>
        <p:spPr>
          <a:xfrm>
            <a:off x="548640"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China · Japón</a:t>
            </a:r>
            <a:endParaRPr lang="en-US" sz="1100" dirty="0"/>
          </a:p>
        </p:txBody>
      </p:sp>
      <p:sp>
        <p:nvSpPr>
          <p:cNvPr id="33" name="Shape 31"/>
          <p:cNvSpPr/>
          <p:nvPr/>
        </p:nvSpPr>
        <p:spPr>
          <a:xfrm>
            <a:off x="4224528" y="5065776"/>
            <a:ext cx="3703320" cy="1371600"/>
          </a:xfrm>
          <a:prstGeom prst="roundRect">
            <a:avLst>
              <a:gd name="adj" fmla="val 6667"/>
            </a:avLst>
          </a:prstGeom>
          <a:solidFill>
            <a:srgbClr val="FFFFFF"/>
          </a:solidFill>
          <a:ln w="12700">
            <a:solidFill>
              <a:srgbClr val="E2E8F0"/>
            </a:solidFill>
            <a:prstDash val="solid"/>
          </a:ln>
        </p:spPr>
      </p:sp>
      <p:sp>
        <p:nvSpPr>
          <p:cNvPr id="34" name="Text 32"/>
          <p:cNvSpPr/>
          <p:nvPr/>
        </p:nvSpPr>
        <p:spPr>
          <a:xfrm>
            <a:off x="4361688" y="5202936"/>
            <a:ext cx="3429000" cy="685800"/>
          </a:xfrm>
          <a:prstGeom prst="rect">
            <a:avLst/>
          </a:prstGeom>
          <a:noFill/>
          <a:ln/>
        </p:spPr>
        <p:txBody>
          <a:bodyPr wrap="square" lIns="0" tIns="0" rIns="0" bIns="0" rtlCol="0" anchor="ctr"/>
          <a:lstStyle/>
          <a:p>
            <a:pPr marL="0" indent="0" algn="ctr">
              <a:buNone/>
            </a:pPr>
            <a:r>
              <a:rPr lang="en-US" sz="3200" b="1" dirty="0">
                <a:solidFill>
                  <a:srgbClr val="FFC8C8"/>
                </a:solidFill>
                <a:latin typeface="Trebuchet MS" pitchFamily="34" charset="0"/>
                <a:ea typeface="Trebuchet MS" pitchFamily="34" charset="-122"/>
                <a:cs typeface="Trebuchet MS" pitchFamily="34" charset="-120"/>
              </a:rPr>
              <a:t>ひらがな</a:t>
            </a:r>
            <a:endParaRPr lang="en-US" sz="3200" dirty="0"/>
          </a:p>
        </p:txBody>
      </p:sp>
      <p:sp>
        <p:nvSpPr>
          <p:cNvPr id="35" name="Text 33"/>
          <p:cNvSpPr/>
          <p:nvPr/>
        </p:nvSpPr>
        <p:spPr>
          <a:xfrm>
            <a:off x="4361688"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Hiragana</a:t>
            </a:r>
            <a:endParaRPr lang="en-US" sz="1300" dirty="0"/>
          </a:p>
        </p:txBody>
      </p:sp>
      <p:sp>
        <p:nvSpPr>
          <p:cNvPr id="36" name="Text 34"/>
          <p:cNvSpPr/>
          <p:nvPr/>
        </p:nvSpPr>
        <p:spPr>
          <a:xfrm>
            <a:off x="4361688"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Japón</a:t>
            </a:r>
            <a:endParaRPr lang="en-US" sz="1100" dirty="0"/>
          </a:p>
        </p:txBody>
      </p:sp>
      <p:sp>
        <p:nvSpPr>
          <p:cNvPr id="37" name="Shape 35"/>
          <p:cNvSpPr/>
          <p:nvPr/>
        </p:nvSpPr>
        <p:spPr>
          <a:xfrm>
            <a:off x="8037576" y="5065776"/>
            <a:ext cx="3703320" cy="1371600"/>
          </a:xfrm>
          <a:prstGeom prst="roundRect">
            <a:avLst>
              <a:gd name="adj" fmla="val 6667"/>
            </a:avLst>
          </a:prstGeom>
          <a:solidFill>
            <a:srgbClr val="FFFFFF"/>
          </a:solidFill>
          <a:ln w="12700">
            <a:solidFill>
              <a:srgbClr val="E2E8F0"/>
            </a:solidFill>
            <a:prstDash val="solid"/>
          </a:ln>
        </p:spPr>
      </p:sp>
      <p:sp>
        <p:nvSpPr>
          <p:cNvPr id="38" name="Text 36"/>
          <p:cNvSpPr/>
          <p:nvPr/>
        </p:nvSpPr>
        <p:spPr>
          <a:xfrm>
            <a:off x="8174736" y="5202936"/>
            <a:ext cx="3429000"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Trebuchet MS" pitchFamily="34" charset="0"/>
                <a:ea typeface="Trebuchet MS" pitchFamily="34" charset="-122"/>
                <a:cs typeface="Trebuchet MS" pitchFamily="34" charset="-120"/>
              </a:rPr>
              <a:t>العَرَبِيَّة</a:t>
            </a:r>
            <a:endParaRPr lang="en-US" sz="3200" dirty="0"/>
          </a:p>
        </p:txBody>
      </p:sp>
      <p:sp>
        <p:nvSpPr>
          <p:cNvPr id="39" name="Text 37"/>
          <p:cNvSpPr/>
          <p:nvPr/>
        </p:nvSpPr>
        <p:spPr>
          <a:xfrm>
            <a:off x="8174736" y="5888736"/>
            <a:ext cx="3429000" cy="274320"/>
          </a:xfrm>
          <a:prstGeom prst="rect">
            <a:avLst/>
          </a:prstGeom>
          <a:noFill/>
          <a:ln/>
        </p:spPr>
        <p:txBody>
          <a:bodyPr wrap="square" lIns="0" tIns="0" rIns="0" bIns="0" rtlCol="0" anchor="ctr"/>
          <a:lstStyle/>
          <a:p>
            <a:pPr marL="0" indent="0" algn="ctr">
              <a:buNone/>
            </a:pPr>
            <a:r>
              <a:rPr lang="en-US" sz="1300" b="1" dirty="0">
                <a:solidFill>
                  <a:srgbClr val="0F172A"/>
                </a:solidFill>
                <a:latin typeface="Trebuchet MS" pitchFamily="34" charset="0"/>
                <a:ea typeface="Trebuchet MS" pitchFamily="34" charset="-122"/>
                <a:cs typeface="Trebuchet MS" pitchFamily="34" charset="-120"/>
              </a:rPr>
              <a:t>Árabe</a:t>
            </a:r>
            <a:endParaRPr lang="en-US" sz="1300" dirty="0"/>
          </a:p>
        </p:txBody>
      </p:sp>
      <p:sp>
        <p:nvSpPr>
          <p:cNvPr id="40" name="Text 38"/>
          <p:cNvSpPr/>
          <p:nvPr/>
        </p:nvSpPr>
        <p:spPr>
          <a:xfrm>
            <a:off x="8174736" y="6117336"/>
            <a:ext cx="3429000" cy="274320"/>
          </a:xfrm>
          <a:prstGeom prst="rect">
            <a:avLst/>
          </a:prstGeom>
          <a:noFill/>
          <a:ln/>
        </p:spPr>
        <p:txBody>
          <a:bodyPr wrap="square" lIns="0" tIns="0" rIns="0" bIns="0" rtlCol="0" anchor="ctr"/>
          <a:lstStyle/>
          <a:p>
            <a:pPr marL="0" indent="0" algn="ctr">
              <a:buNone/>
            </a:pPr>
            <a:r>
              <a:rPr lang="en-US" sz="1100" i="1" dirty="0">
                <a:solidFill>
                  <a:srgbClr val="4A5568"/>
                </a:solidFill>
                <a:latin typeface="Calibri" pitchFamily="34" charset="0"/>
                <a:ea typeface="Calibri" pitchFamily="34" charset="-122"/>
                <a:cs typeface="Calibri" pitchFamily="34" charset="-120"/>
              </a:rPr>
              <a:t>Mundo árabe</a:t>
            </a:r>
            <a:endParaRPr lang="en-US" sz="1100" dirty="0"/>
          </a:p>
        </p:txBody>
      </p:sp>
      <p:sp>
        <p:nvSpPr>
          <p:cNvPr id="41" name="Text 39"/>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12-13.</a:t>
            </a:r>
            <a:endParaRPr lang="en-US" sz="900" dirty="0"/>
          </a:p>
        </p:txBody>
      </p:sp>
      <p:sp>
        <p:nvSpPr>
          <p:cNvPr id="42" name="Text 40"/>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43" name="Text 41"/>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04B  ·  TALLER</a:t>
            </a:r>
            <a:endParaRPr lang="en-US" sz="1000" dirty="0"/>
          </a:p>
        </p:txBody>
      </p:sp>
    </p:spTree>
    <p:extLst>
      <p:ext uri="{BB962C8B-B14F-4D97-AF65-F5344CB8AC3E}">
        <p14:creationId xmlns:p14="http://schemas.microsoft.com/office/powerpoint/2010/main" val="10977147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§2 · HISTORIA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promesa del Rey Sejong</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1443, el Rey Sejong el Grande inventó 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Antes de él, en Corea solo escribían con caracteres chinos — pero eran tan complicados que SOLO los nobles podían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Sejong dijo: NO. Yo quiero que TODOS — campesinos, mujeres, niños — puedan leer.</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Entonces creó un alfabeto tan lógico que en sus palabras: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"Un hombre sabio lo aprende en una mañana; uno tonto en 10 días."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Nosotros lo vamos a aprender en 60 minutos.</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1443</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Rey Sejong el Grande</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Patrimonio UNESCO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05  ·  TALLER</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§2.1 · CREDIBILIDAD</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Lo que dicen los lingüistas del mundo</a:t>
            </a:r>
            <a:endParaRPr lang="en-US" sz="3400" dirty="0"/>
          </a:p>
        </p:txBody>
      </p:sp>
      <p:sp>
        <p:nvSpPr>
          <p:cNvPr id="4" name="Shape 2"/>
          <p:cNvSpPr/>
          <p:nvPr/>
        </p:nvSpPr>
        <p:spPr>
          <a:xfrm>
            <a:off x="365760" y="1691640"/>
            <a:ext cx="5669280" cy="2011680"/>
          </a:xfrm>
          <a:prstGeom prst="roundRect">
            <a:avLst>
              <a:gd name="adj" fmla="val 4545"/>
            </a:avLst>
          </a:prstGeom>
          <a:solidFill>
            <a:srgbClr val="F8F9FC"/>
          </a:solidFill>
          <a:ln w="12700">
            <a:solidFill>
              <a:srgbClr val="E2E8F0"/>
            </a:solidFill>
            <a:prstDash val="solid"/>
          </a:ln>
        </p:spPr>
      </p:sp>
      <p:sp>
        <p:nvSpPr>
          <p:cNvPr id="5" name="Text 3"/>
          <p:cNvSpPr/>
          <p:nvPr/>
        </p:nvSpPr>
        <p:spPr>
          <a:xfrm>
            <a:off x="50292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6" name="Text 4"/>
          <p:cNvSpPr/>
          <p:nvPr/>
        </p:nvSpPr>
        <p:spPr>
          <a:xfrm>
            <a:off x="114300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de todos los sistemas de escritura concebibles para el Coreano. Hangul debe rankearse incondicionalmente como uno de los grandes logros intelectuales de la humanidad."</a:t>
            </a:r>
            <a:endParaRPr lang="en-US" sz="1300" dirty="0"/>
          </a:p>
        </p:txBody>
      </p:sp>
      <p:sp>
        <p:nvSpPr>
          <p:cNvPr id="7" name="Text 5"/>
          <p:cNvSpPr/>
          <p:nvPr/>
        </p:nvSpPr>
        <p:spPr>
          <a:xfrm>
            <a:off x="114300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Geoffrey Sampson</a:t>
            </a:r>
            <a:endParaRPr lang="en-US" sz="1200" dirty="0"/>
          </a:p>
        </p:txBody>
      </p:sp>
      <p:sp>
        <p:nvSpPr>
          <p:cNvPr id="8" name="Text 6"/>
          <p:cNvSpPr/>
          <p:nvPr/>
        </p:nvSpPr>
        <p:spPr>
          <a:xfrm>
            <a:off x="114300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Lingüista, Universidad de Sussex</a:t>
            </a:r>
            <a:endParaRPr lang="en-US" sz="1100" dirty="0"/>
          </a:p>
        </p:txBody>
      </p:sp>
      <p:sp>
        <p:nvSpPr>
          <p:cNvPr id="9" name="Shape 7"/>
          <p:cNvSpPr/>
          <p:nvPr/>
        </p:nvSpPr>
        <p:spPr>
          <a:xfrm>
            <a:off x="6126480" y="1691640"/>
            <a:ext cx="5669280" cy="2011680"/>
          </a:xfrm>
          <a:prstGeom prst="roundRect">
            <a:avLst>
              <a:gd name="adj" fmla="val 4545"/>
            </a:avLst>
          </a:prstGeom>
          <a:solidFill>
            <a:srgbClr val="F8F9FC"/>
          </a:solidFill>
          <a:ln w="12700">
            <a:solidFill>
              <a:srgbClr val="E2E8F0"/>
            </a:solidFill>
            <a:prstDash val="solid"/>
          </a:ln>
        </p:spPr>
      </p:sp>
      <p:sp>
        <p:nvSpPr>
          <p:cNvPr id="10" name="Text 8"/>
          <p:cNvSpPr/>
          <p:nvPr/>
        </p:nvSpPr>
        <p:spPr>
          <a:xfrm>
            <a:off x="6263640" y="182880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1" name="Text 9"/>
          <p:cNvSpPr/>
          <p:nvPr/>
        </p:nvSpPr>
        <p:spPr>
          <a:xfrm>
            <a:off x="6903720" y="182880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"El mejor sistema de escritura del mundo, diseñado sobre principios filosóficos tradicionales y teorías científicas."</a:t>
            </a:r>
            <a:endParaRPr lang="en-US" sz="1300" dirty="0"/>
          </a:p>
        </p:txBody>
      </p:sp>
      <p:sp>
        <p:nvSpPr>
          <p:cNvPr id="12" name="Text 10"/>
          <p:cNvSpPr/>
          <p:nvPr/>
        </p:nvSpPr>
        <p:spPr>
          <a:xfrm>
            <a:off x="6903720" y="306324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Werner Sasse</a:t>
            </a:r>
            <a:endParaRPr lang="en-US" sz="1200" dirty="0"/>
          </a:p>
        </p:txBody>
      </p:sp>
      <p:sp>
        <p:nvSpPr>
          <p:cNvPr id="13" name="Text 11"/>
          <p:cNvSpPr/>
          <p:nvPr/>
        </p:nvSpPr>
        <p:spPr>
          <a:xfrm>
            <a:off x="6903720" y="333756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Ex-profesor, Universidad de Hamburgo</a:t>
            </a:r>
            <a:endParaRPr lang="en-US" sz="1100" dirty="0"/>
          </a:p>
        </p:txBody>
      </p:sp>
      <p:sp>
        <p:nvSpPr>
          <p:cNvPr id="14" name="Shape 12"/>
          <p:cNvSpPr/>
          <p:nvPr/>
        </p:nvSpPr>
        <p:spPr>
          <a:xfrm>
            <a:off x="365760" y="3886200"/>
            <a:ext cx="5669280" cy="2011680"/>
          </a:xfrm>
          <a:prstGeom prst="roundRect">
            <a:avLst>
              <a:gd name="adj" fmla="val 4545"/>
            </a:avLst>
          </a:prstGeom>
          <a:solidFill>
            <a:srgbClr val="F8F9FC"/>
          </a:solidFill>
          <a:ln w="12700">
            <a:solidFill>
              <a:srgbClr val="E2E8F0"/>
            </a:solidFill>
            <a:prstDash val="solid"/>
          </a:ln>
        </p:spPr>
      </p:sp>
      <p:sp>
        <p:nvSpPr>
          <p:cNvPr id="15" name="Text 13"/>
          <p:cNvSpPr/>
          <p:nvPr/>
        </p:nvSpPr>
        <p:spPr>
          <a:xfrm>
            <a:off x="50292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16" name="Text 14"/>
          <p:cNvSpPr/>
          <p:nvPr/>
        </p:nvSpPr>
        <p:spPr>
          <a:xfrm>
            <a:off x="114300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"Hangul es el sistema de escritura fonético más avanzado del mundo · un escalón por encima del alfabeto romano."</a:t>
            </a:r>
            <a:endParaRPr lang="en-US" sz="1300" dirty="0"/>
          </a:p>
        </p:txBody>
      </p:sp>
      <p:sp>
        <p:nvSpPr>
          <p:cNvPr id="17" name="Text 15"/>
          <p:cNvSpPr/>
          <p:nvPr/>
        </p:nvSpPr>
        <p:spPr>
          <a:xfrm>
            <a:off x="114300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Umeda Hiroyuki</a:t>
            </a:r>
            <a:endParaRPr lang="en-US" sz="1200" dirty="0"/>
          </a:p>
        </p:txBody>
      </p:sp>
      <p:sp>
        <p:nvSpPr>
          <p:cNvPr id="18" name="Text 16"/>
          <p:cNvSpPr/>
          <p:nvPr/>
        </p:nvSpPr>
        <p:spPr>
          <a:xfrm>
            <a:off x="114300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Presidente, Universidad Reitaku</a:t>
            </a:r>
            <a:endParaRPr lang="en-US" sz="1100" dirty="0"/>
          </a:p>
        </p:txBody>
      </p:sp>
      <p:sp>
        <p:nvSpPr>
          <p:cNvPr id="19" name="Shape 17"/>
          <p:cNvSpPr/>
          <p:nvPr/>
        </p:nvSpPr>
        <p:spPr>
          <a:xfrm>
            <a:off x="6126480" y="3886200"/>
            <a:ext cx="5669280" cy="2011680"/>
          </a:xfrm>
          <a:prstGeom prst="roundRect">
            <a:avLst>
              <a:gd name="adj" fmla="val 4545"/>
            </a:avLst>
          </a:prstGeom>
          <a:solidFill>
            <a:srgbClr val="F8F9FC"/>
          </a:solidFill>
          <a:ln w="12700">
            <a:solidFill>
              <a:srgbClr val="E2E8F0"/>
            </a:solidFill>
            <a:prstDash val="solid"/>
          </a:ln>
        </p:spPr>
      </p:sp>
      <p:sp>
        <p:nvSpPr>
          <p:cNvPr id="20" name="Text 18"/>
          <p:cNvSpPr/>
          <p:nvPr/>
        </p:nvSpPr>
        <p:spPr>
          <a:xfrm>
            <a:off x="6263640" y="4023360"/>
            <a:ext cx="548640" cy="548640"/>
          </a:xfrm>
          <a:prstGeom prst="rect">
            <a:avLst/>
          </a:prstGeom>
          <a:noFill/>
          <a:ln/>
        </p:spPr>
        <p:txBody>
          <a:bodyPr wrap="square" lIns="0" tIns="0" rIns="0" bIns="0" rtlCol="0" anchor="ctr"/>
          <a:lstStyle/>
          <a:p>
            <a:pPr marL="0" indent="0" algn="ctr">
              <a:buNone/>
            </a:pPr>
            <a:r>
              <a:rPr lang="en-US" sz="3400" dirty="0">
                <a:solidFill>
                  <a:srgbClr val="000000"/>
                </a:solidFill>
              </a:rPr>
              <a:t>🇺🇸</a:t>
            </a:r>
            <a:endParaRPr lang="en-US" sz="3400" dirty="0"/>
          </a:p>
        </p:txBody>
      </p:sp>
      <p:sp>
        <p:nvSpPr>
          <p:cNvPr id="21" name="Text 19"/>
          <p:cNvSpPr/>
          <p:nvPr/>
        </p:nvSpPr>
        <p:spPr>
          <a:xfrm>
            <a:off x="6903720" y="4023360"/>
            <a:ext cx="4754880" cy="1188720"/>
          </a:xfrm>
          <a:prstGeom prst="rect">
            <a:avLst/>
          </a:prstGeom>
          <a:noFill/>
          <a:ln/>
        </p:spPr>
        <p:txBody>
          <a:bodyPr wrap="square" lIns="0" tIns="0" rIns="0" bIns="0" rtlCol="0" anchor="t"/>
          <a:lstStyle/>
          <a:p>
            <a:pPr marL="0" indent="0">
              <a:buNone/>
            </a:pPr>
            <a:r>
              <a:rPr lang="en-US" sz="1300" i="1" dirty="0">
                <a:solidFill>
                  <a:srgbClr val="0F172A"/>
                </a:solidFill>
                <a:latin typeface="Georgia" pitchFamily="34" charset="0"/>
                <a:ea typeface="Georgia" pitchFamily="34" charset="-122"/>
                <a:cs typeface="Georgia" pitchFamily="34" charset="-120"/>
              </a:rPr>
              <a:t>"Este es el alfabeto más simple y el mejor conjunto de caracteres del mundo."</a:t>
            </a:r>
            <a:endParaRPr lang="en-US" sz="1300" dirty="0"/>
          </a:p>
        </p:txBody>
      </p:sp>
      <p:sp>
        <p:nvSpPr>
          <p:cNvPr id="22" name="Text 20"/>
          <p:cNvSpPr/>
          <p:nvPr/>
        </p:nvSpPr>
        <p:spPr>
          <a:xfrm>
            <a:off x="6903720" y="5257800"/>
            <a:ext cx="4754880" cy="27432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Pearl Buck</a:t>
            </a:r>
            <a:endParaRPr lang="en-US" sz="1200" dirty="0"/>
          </a:p>
        </p:txBody>
      </p:sp>
      <p:sp>
        <p:nvSpPr>
          <p:cNvPr id="23" name="Text 21"/>
          <p:cNvSpPr/>
          <p:nvPr/>
        </p:nvSpPr>
        <p:spPr>
          <a:xfrm>
            <a:off x="6903720" y="5532120"/>
            <a:ext cx="4754880" cy="27432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Premio Nobel · autora de The Good Earth</a:t>
            </a:r>
            <a:endParaRPr lang="en-US" sz="1100" dirty="0"/>
          </a:p>
        </p:txBody>
      </p:sp>
      <p:sp>
        <p:nvSpPr>
          <p:cNvPr id="24" name="Text 22"/>
          <p:cNvSpPr/>
          <p:nvPr/>
        </p:nvSpPr>
        <p:spPr>
          <a:xfrm>
            <a:off x="365760" y="5852160"/>
            <a:ext cx="11430000" cy="365760"/>
          </a:xfrm>
          <a:prstGeom prst="rect">
            <a:avLst/>
          </a:prstGeom>
          <a:noFill/>
          <a:ln/>
        </p:spPr>
        <p:txBody>
          <a:bodyPr wrap="square" lIns="0" tIns="0" rIns="0" bIns="0" rtlCol="0" anchor="ctr"/>
          <a:lstStyle/>
          <a:p>
            <a:pPr marL="0" indent="0" algn="ctr">
              <a:buNone/>
            </a:pPr>
            <a:r>
              <a:rPr lang="en-US" sz="3000" b="1" dirty="0">
                <a:solidFill>
                  <a:srgbClr val="4036ED"/>
                </a:solidFill>
                <a:latin typeface="Malgun Gothic" pitchFamily="34" charset="0"/>
                <a:ea typeface="Malgun Gothic" pitchFamily="34" charset="-122"/>
                <a:cs typeface="Malgun Gothic" pitchFamily="34" charset="-120"/>
              </a:rPr>
              <a:t>한글</a:t>
            </a:r>
            <a:r>
              <a:rPr lang="en-US" sz="1600" i="1" dirty="0">
                <a:solidFill>
                  <a:srgbClr val="4A5568"/>
                </a:solidFill>
                <a:latin typeface="Calibri" pitchFamily="34" charset="0"/>
                <a:ea typeface="Calibri" pitchFamily="34" charset="-122"/>
                <a:cs typeface="Calibri" pitchFamily="34" charset="-120"/>
              </a:rPr>
              <a:t xml:space="preserve">  ·  Patrimonio intelectual de la humanidad</a:t>
            </a:r>
            <a:endParaRPr lang="en-US" sz="3000" dirty="0"/>
          </a:p>
        </p:txBody>
      </p:sp>
      <p:sp>
        <p:nvSpPr>
          <p:cNvPr id="25" name="Text 2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21.</a:t>
            </a:r>
            <a:endParaRPr lang="en-US" sz="900" dirty="0"/>
          </a:p>
        </p:txBody>
      </p:sp>
      <p:sp>
        <p:nvSpPr>
          <p:cNvPr id="26" name="Text 2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7" name="Text 2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05B  ·  TALLER</a:t>
            </a:r>
            <a:endParaRPr lang="en-US" sz="1000" dirty="0"/>
          </a:p>
        </p:txBody>
      </p:sp>
    </p:spTree>
    <p:extLst>
      <p:ext uri="{BB962C8B-B14F-4D97-AF65-F5344CB8AC3E}">
        <p14:creationId xmlns:p14="http://schemas.microsoft.com/office/powerpoint/2010/main" val="2846886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El principio de la naturaleza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Por qué para entender la escritura primero hay que entender el mundo.</a:t>
            </a:r>
            <a:endParaRPr lang="en-US" sz="1400" dirty="0"/>
          </a:p>
        </p:txBody>
      </p:sp>
      <p:sp>
        <p:nvSpPr>
          <p:cNvPr id="5" name="Text 3"/>
          <p:cNvSpPr/>
          <p:nvPr/>
        </p:nvSpPr>
        <p:spPr>
          <a:xfrm>
            <a:off x="640080" y="2468880"/>
            <a:ext cx="5486400" cy="3840480"/>
          </a:xfrm>
          <a:prstGeom prst="rect">
            <a:avLst/>
          </a:prstGeom>
          <a:noFill/>
          <a:ln/>
        </p:spPr>
        <p:txBody>
          <a:bodyPr wrap="square" lIns="0" tIns="0" rIns="0" bIns="0" rtlCol="0" anchor="t"/>
          <a:lstStyle/>
          <a:p>
            <a:pPr marL="0" indent="0">
              <a:spcAft>
                <a:spcPts val="800"/>
              </a:spcAft>
              <a:buNone/>
            </a:pPr>
            <a:r>
              <a:rPr lang="en-US" sz="1600" b="1" dirty="0">
                <a:solidFill>
                  <a:srgbClr val="4036ED"/>
                </a:solidFill>
              </a:rPr>
              <a:t>El principio fundamental
</a:t>
            </a:r>
            <a:endParaRPr lang="en-US" sz="1600" dirty="0"/>
          </a:p>
          <a:p>
            <a:pPr marL="0" indent="0">
              <a:buNone/>
            </a:pPr>
            <a:r>
              <a:rPr lang="en-US" sz="1300" i="1" dirty="0">
                <a:solidFill>
                  <a:srgbClr val="1E1E2A"/>
                </a:solidFill>
              </a:rPr>
              <a:t xml:space="preserve">«El principio de las letras es el mismo principio del habla. El habla es sonido humano. El humano forma parte de la naturaleza. Por lo tanto, </a:t>
            </a:r>
            <a:r>
              <a:rPr lang="en-US" sz="1300" b="1" i="1" dirty="0">
                <a:solidFill>
                  <a:srgbClr val="FE6768"/>
                </a:solidFill>
              </a:rPr>
              <a:t>para entender el principio de las letras basta con entender el principio de la naturaleza</a:t>
            </a:r>
            <a:r>
              <a:rPr lang="en-US" sz="1300" i="1" dirty="0">
                <a:solidFill>
                  <a:srgbClr val="1E1E2A"/>
                </a:solidFill>
              </a:rPr>
              <a:t>».</a:t>
            </a:r>
            <a:endParaRPr lang="en-US" sz="1600" dirty="0"/>
          </a:p>
          <a:p>
            <a:pPr marL="0" indent="0">
              <a:buNone/>
            </a:pPr>
            <a:r>
              <a:rPr lang="en-US" sz="1200" i="1" dirty="0">
                <a:solidFill>
                  <a:srgbClr val="4A4A55"/>
                </a:solidFill>
              </a:rPr>
              <a:t>Si los tres círculos son uno dentro del otro, sus principios también lo son.</a:t>
            </a:r>
            <a:endParaRPr lang="en-US" sz="1600" dirty="0"/>
          </a:p>
        </p:txBody>
      </p:sp>
      <p:pic>
        <p:nvPicPr>
          <p:cNvPr id="6" name="Image 0" descr="preencoded.png"/>
          <p:cNvPicPr>
            <a:picLocks noChangeAspect="1"/>
          </p:cNvPicPr>
          <p:nvPr/>
        </p:nvPicPr>
        <p:blipFill>
          <a:blip r:embed="rId3"/>
          <a:stretch>
            <a:fillRect/>
          </a:stretch>
        </p:blipFill>
        <p:spPr>
          <a:xfrm>
            <a:off x="6949440" y="2286000"/>
            <a:ext cx="4114800" cy="4114800"/>
          </a:xfrm>
          <a:prstGeom prst="rect">
            <a:avLst/>
          </a:prstGeom>
        </p:spPr>
      </p:pic>
      <p:pic>
        <p:nvPicPr>
          <p:cNvPr id="7"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8" name="Text 4"/>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9" name="Text 5"/>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05</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§1.4 · EL PRIMER PRINCIPIO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Día y Noche · 낮과 밤</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regla de los opuestos en pareja — la chispa pedagógica del Hangul.</a:t>
            </a:r>
            <a:endParaRPr lang="en-US" sz="1400" dirty="0"/>
          </a:p>
        </p:txBody>
      </p:sp>
      <p:sp>
        <p:nvSpPr>
          <p:cNvPr id="5" name="Shape 3"/>
          <p:cNvSpPr/>
          <p:nvPr/>
        </p:nvSpPr>
        <p:spPr>
          <a:xfrm>
            <a:off x="640080" y="2468880"/>
            <a:ext cx="5440680" cy="3657600"/>
          </a:xfrm>
          <a:prstGeom prst="roundRect">
            <a:avLst>
              <a:gd name="adj" fmla="val 6250"/>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2903220" y="2697480"/>
            <a:ext cx="914400" cy="914400"/>
          </a:xfrm>
          <a:prstGeom prst="rect">
            <a:avLst/>
          </a:prstGeom>
        </p:spPr>
      </p:pic>
      <p:sp>
        <p:nvSpPr>
          <p:cNvPr id="7" name="Text 4"/>
          <p:cNvSpPr/>
          <p:nvPr/>
        </p:nvSpPr>
        <p:spPr>
          <a:xfrm>
            <a:off x="6400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낮</a:t>
            </a:r>
            <a:endParaRPr lang="en-US" sz="8000" dirty="0"/>
          </a:p>
        </p:txBody>
      </p:sp>
      <p:sp>
        <p:nvSpPr>
          <p:cNvPr id="8" name="Text 5"/>
          <p:cNvSpPr/>
          <p:nvPr/>
        </p:nvSpPr>
        <p:spPr>
          <a:xfrm>
            <a:off x="6400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FFC8C8"/>
                </a:solidFill>
                <a:latin typeface="Calibri" pitchFamily="34" charset="0"/>
                <a:ea typeface="Calibri" pitchFamily="34" charset="-122"/>
                <a:cs typeface="Calibri" pitchFamily="34" charset="-120"/>
              </a:rPr>
              <a:t>DÍA</a:t>
            </a:r>
            <a:endParaRPr lang="en-US" sz="1600" dirty="0"/>
          </a:p>
        </p:txBody>
      </p:sp>
      <p:sp>
        <p:nvSpPr>
          <p:cNvPr id="9" name="Text 6"/>
          <p:cNvSpPr/>
          <p:nvPr/>
        </p:nvSpPr>
        <p:spPr>
          <a:xfrm>
            <a:off x="6400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Brillante · Alto · Cálido</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retrae hacia adentro</a:t>
            </a:r>
            <a:endParaRPr lang="en-US" sz="1200" dirty="0"/>
          </a:p>
        </p:txBody>
      </p:sp>
      <p:sp>
        <p:nvSpPr>
          <p:cNvPr id="10" name="Shape 7"/>
          <p:cNvSpPr/>
          <p:nvPr/>
        </p:nvSpPr>
        <p:spPr>
          <a:xfrm>
            <a:off x="6126480" y="2468880"/>
            <a:ext cx="5440680" cy="3657600"/>
          </a:xfrm>
          <a:prstGeom prst="roundRect">
            <a:avLst>
              <a:gd name="adj" fmla="val 6250"/>
            </a:avLst>
          </a:prstGeom>
          <a:solidFill>
            <a:srgbClr val="4036ED"/>
          </a:solidFill>
          <a:ln w="12700">
            <a:solidFill>
              <a:srgbClr val="4036ED"/>
            </a:solidFill>
            <a:prstDash val="solid"/>
          </a:ln>
        </p:spPr>
      </p:sp>
      <p:pic>
        <p:nvPicPr>
          <p:cNvPr id="11" name="Image 1" descr="preencoded.png"/>
          <p:cNvPicPr>
            <a:picLocks noChangeAspect="1"/>
          </p:cNvPicPr>
          <p:nvPr/>
        </p:nvPicPr>
        <p:blipFill>
          <a:blip r:embed="rId4"/>
          <a:stretch>
            <a:fillRect/>
          </a:stretch>
        </p:blipFill>
        <p:spPr>
          <a:xfrm>
            <a:off x="8389620" y="2697480"/>
            <a:ext cx="914400" cy="914400"/>
          </a:xfrm>
          <a:prstGeom prst="rect">
            <a:avLst/>
          </a:prstGeom>
        </p:spPr>
      </p:pic>
      <p:sp>
        <p:nvSpPr>
          <p:cNvPr id="12" name="Text 8"/>
          <p:cNvSpPr/>
          <p:nvPr/>
        </p:nvSpPr>
        <p:spPr>
          <a:xfrm>
            <a:off x="6126480" y="3703320"/>
            <a:ext cx="5440680" cy="1005840"/>
          </a:xfrm>
          <a:prstGeom prst="rect">
            <a:avLst/>
          </a:prstGeom>
          <a:noFill/>
          <a:ln/>
        </p:spPr>
        <p:txBody>
          <a:bodyPr wrap="square" lIns="0" tIns="0" rIns="0" bIns="0" rtlCol="0" anchor="ctr"/>
          <a:lstStyle/>
          <a:p>
            <a:pPr marL="0" indent="0" algn="ctr">
              <a:buNone/>
            </a:pPr>
            <a:r>
              <a:rPr lang="en-US" sz="8000" b="1" dirty="0">
                <a:solidFill>
                  <a:srgbClr val="F6F6F6"/>
                </a:solidFill>
                <a:latin typeface="Malgun Gothic" pitchFamily="34" charset="0"/>
                <a:ea typeface="Malgun Gothic" pitchFamily="34" charset="-122"/>
                <a:cs typeface="Malgun Gothic" pitchFamily="34" charset="-120"/>
              </a:rPr>
              <a:t>밤</a:t>
            </a:r>
            <a:endParaRPr lang="en-US" sz="8000" dirty="0"/>
          </a:p>
        </p:txBody>
      </p:sp>
      <p:sp>
        <p:nvSpPr>
          <p:cNvPr id="13" name="Text 9"/>
          <p:cNvSpPr/>
          <p:nvPr/>
        </p:nvSpPr>
        <p:spPr>
          <a:xfrm>
            <a:off x="6126480" y="4709160"/>
            <a:ext cx="5440680" cy="365760"/>
          </a:xfrm>
          <a:prstGeom prst="rect">
            <a:avLst/>
          </a:prstGeom>
          <a:noFill/>
          <a:ln/>
        </p:spPr>
        <p:txBody>
          <a:bodyPr wrap="square" lIns="0" tIns="0" rIns="0" bIns="0" rtlCol="0" anchor="ctr"/>
          <a:lstStyle/>
          <a:p>
            <a:pPr marL="0" indent="0" algn="ctr">
              <a:buNone/>
            </a:pPr>
            <a:r>
              <a:rPr lang="en-US" sz="1600" b="1" kern="0" spc="800" dirty="0">
                <a:solidFill>
                  <a:srgbClr val="A79BFF"/>
                </a:solidFill>
                <a:latin typeface="Calibri" pitchFamily="34" charset="0"/>
                <a:ea typeface="Calibri" pitchFamily="34" charset="-122"/>
                <a:cs typeface="Calibri" pitchFamily="34" charset="-120"/>
              </a:rPr>
              <a:t>NOCHE</a:t>
            </a:r>
            <a:endParaRPr lang="en-US" sz="1600" dirty="0"/>
          </a:p>
        </p:txBody>
      </p:sp>
      <p:sp>
        <p:nvSpPr>
          <p:cNvPr id="14" name="Text 10"/>
          <p:cNvSpPr/>
          <p:nvPr/>
        </p:nvSpPr>
        <p:spPr>
          <a:xfrm>
            <a:off x="6126480" y="5166360"/>
            <a:ext cx="5440680" cy="777240"/>
          </a:xfrm>
          <a:prstGeom prst="rect">
            <a:avLst/>
          </a:prstGeom>
          <a:noFill/>
          <a:ln/>
        </p:spPr>
        <p:txBody>
          <a:bodyPr wrap="square" lIns="0" tIns="0" rIns="0" bIns="0" rtlCol="0" anchor="ctr"/>
          <a:lstStyle/>
          <a:p>
            <a:pPr marL="0" indent="0" algn="ctr">
              <a:buNone/>
            </a:pPr>
            <a:r>
              <a:rPr lang="en-US" sz="1200" i="1" dirty="0">
                <a:solidFill>
                  <a:srgbClr val="F6F6F6"/>
                </a:solidFill>
                <a:latin typeface="Calibri" pitchFamily="34" charset="0"/>
                <a:ea typeface="Calibri" pitchFamily="34" charset="-122"/>
                <a:cs typeface="Calibri" pitchFamily="34" charset="-120"/>
              </a:rPr>
              <a:t>Oscura · Baja · Fresca</a:t>
            </a:r>
            <a:endParaRPr lang="en-US" sz="1200" dirty="0"/>
          </a:p>
          <a:p>
            <a:pPr marL="0" indent="0" algn="ctr">
              <a:buNone/>
            </a:pPr>
            <a:r>
              <a:rPr lang="en-US" sz="1200" i="1" dirty="0">
                <a:solidFill>
                  <a:srgbClr val="F6F6F6"/>
                </a:solidFill>
                <a:latin typeface="Calibri" pitchFamily="34" charset="0"/>
                <a:ea typeface="Calibri" pitchFamily="34" charset="-122"/>
                <a:cs typeface="Calibri" pitchFamily="34" charset="-120"/>
              </a:rPr>
              <a:t>La lengua se queda en posición central</a:t>
            </a:r>
            <a:endParaRPr lang="en-US" sz="1200" dirty="0"/>
          </a:p>
        </p:txBody>
      </p:sp>
      <p:sp>
        <p:nvSpPr>
          <p:cNvPr id="15" name="Text 11"/>
          <p:cNvSpPr/>
          <p:nvPr/>
        </p:nvSpPr>
        <p:spPr>
          <a:xfrm>
            <a:off x="5943600" y="3931920"/>
            <a:ext cx="365760" cy="640080"/>
          </a:xfrm>
          <a:prstGeom prst="rect">
            <a:avLst/>
          </a:prstGeom>
          <a:noFill/>
          <a:ln/>
        </p:spPr>
        <p:txBody>
          <a:bodyPr wrap="square" lIns="0" tIns="0" rIns="0" bIns="0" rtlCol="0" anchor="ctr"/>
          <a:lstStyle/>
          <a:p>
            <a:pPr marL="0" indent="0" algn="ctr">
              <a:buNone/>
            </a:pPr>
            <a:r>
              <a:rPr lang="en-US" sz="3000" b="1" dirty="0">
                <a:solidFill>
                  <a:srgbClr val="1E1E2A"/>
                </a:solidFill>
              </a:rPr>
              <a:t>↔</a:t>
            </a:r>
            <a:endParaRPr lang="en-US" sz="3000" dirty="0"/>
          </a:p>
        </p:txBody>
      </p:sp>
      <p:pic>
        <p:nvPicPr>
          <p:cNvPr id="16"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7" name="Text 1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8" name="Text 1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06</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§3.1 · ANATOMÍA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Cómo cada consonante DIBUJA tu boca</a:t>
            </a:r>
            <a:endParaRPr lang="en-US" sz="3400" dirty="0"/>
          </a:p>
        </p:txBody>
      </p:sp>
      <p:sp>
        <p:nvSpPr>
          <p:cNvPr id="4" name="Shape 2"/>
          <p:cNvSpPr/>
          <p:nvPr/>
        </p:nvSpPr>
        <p:spPr>
          <a:xfrm>
            <a:off x="312268" y="1554480"/>
            <a:ext cx="2240280" cy="3840480"/>
          </a:xfrm>
          <a:prstGeom prst="roundRect">
            <a:avLst>
              <a:gd name="adj" fmla="val 4082"/>
            </a:avLst>
          </a:prstGeom>
          <a:solidFill>
            <a:srgbClr val="F8F9FC"/>
          </a:solidFill>
          <a:ln w="12700">
            <a:solidFill>
              <a:srgbClr val="E2E8F0"/>
            </a:solidFill>
            <a:prstDash val="solid"/>
          </a:ln>
        </p:spPr>
      </p:sp>
      <p:sp>
        <p:nvSpPr>
          <p:cNvPr id="5" name="Shape 3"/>
          <p:cNvSpPr/>
          <p:nvPr/>
        </p:nvSpPr>
        <p:spPr>
          <a:xfrm>
            <a:off x="312268" y="1554480"/>
            <a:ext cx="2240280" cy="457200"/>
          </a:xfrm>
          <a:prstGeom prst="rect">
            <a:avLst/>
          </a:prstGeom>
          <a:solidFill>
            <a:srgbClr val="4036ED"/>
          </a:solidFill>
          <a:ln/>
        </p:spPr>
      </p:sp>
      <p:sp>
        <p:nvSpPr>
          <p:cNvPr id="6" name="Text 4"/>
          <p:cNvSpPr/>
          <p:nvPr/>
        </p:nvSpPr>
        <p:spPr>
          <a:xfrm>
            <a:off x="31226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Velar</a:t>
            </a:r>
            <a:endParaRPr lang="en-US" sz="1400" dirty="0"/>
          </a:p>
        </p:txBody>
      </p:sp>
      <p:sp>
        <p:nvSpPr>
          <p:cNvPr id="7" name="Text 5"/>
          <p:cNvSpPr/>
          <p:nvPr/>
        </p:nvSpPr>
        <p:spPr>
          <a:xfrm>
            <a:off x="31226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ㄱ</a:t>
            </a:r>
            <a:endParaRPr lang="en-US" sz="9600" dirty="0"/>
          </a:p>
        </p:txBody>
      </p:sp>
      <p:sp>
        <p:nvSpPr>
          <p:cNvPr id="8" name="Text 6"/>
          <p:cNvSpPr/>
          <p:nvPr/>
        </p:nvSpPr>
        <p:spPr>
          <a:xfrm>
            <a:off x="312268" y="3337560"/>
            <a:ext cx="2240280" cy="365760"/>
          </a:xfrm>
          <a:prstGeom prst="rect">
            <a:avLst/>
          </a:prstGeom>
          <a:noFill/>
          <a:ln/>
        </p:spPr>
        <p:txBody>
          <a:bodyPr wrap="square" lIns="0" tIns="0" rIns="0" bIns="0" rtlCol="0" anchor="ctr"/>
          <a:lstStyle/>
          <a:p>
            <a:pPr marL="0" indent="0" algn="ctr">
              <a:buNone/>
            </a:pPr>
            <a:r>
              <a:rPr lang="en-US" sz="1800" b="1" i="1" dirty="0">
                <a:solidFill>
                  <a:srgbClr val="4036ED"/>
                </a:solidFill>
                <a:latin typeface="Calibri" pitchFamily="34" charset="0"/>
                <a:ea typeface="Calibri" pitchFamily="34" charset="-122"/>
                <a:cs typeface="Calibri" pitchFamily="34" charset="-120"/>
              </a:rPr>
              <a:t>/g, k/</a:t>
            </a:r>
            <a:endParaRPr lang="en-US" sz="1800" dirty="0"/>
          </a:p>
        </p:txBody>
      </p:sp>
      <p:sp>
        <p:nvSpPr>
          <p:cNvPr id="9" name="Text 7"/>
          <p:cNvSpPr/>
          <p:nvPr/>
        </p:nvSpPr>
        <p:spPr>
          <a:xfrm>
            <a:off x="44942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Lengua atrás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cerca de la úvula</a:t>
            </a:r>
            <a:endParaRPr lang="en-US" sz="1200" dirty="0"/>
          </a:p>
        </p:txBody>
      </p:sp>
      <p:sp>
        <p:nvSpPr>
          <p:cNvPr id="10" name="Shape 8"/>
          <p:cNvSpPr/>
          <p:nvPr/>
        </p:nvSpPr>
        <p:spPr>
          <a:xfrm>
            <a:off x="2643988" y="1554480"/>
            <a:ext cx="2240280" cy="3840480"/>
          </a:xfrm>
          <a:prstGeom prst="roundRect">
            <a:avLst>
              <a:gd name="adj" fmla="val 4082"/>
            </a:avLst>
          </a:prstGeom>
          <a:solidFill>
            <a:srgbClr val="F8F9FC"/>
          </a:solidFill>
          <a:ln w="12700">
            <a:solidFill>
              <a:srgbClr val="E2E8F0"/>
            </a:solidFill>
            <a:prstDash val="solid"/>
          </a:ln>
        </p:spPr>
      </p:sp>
      <p:sp>
        <p:nvSpPr>
          <p:cNvPr id="11" name="Shape 9"/>
          <p:cNvSpPr/>
          <p:nvPr/>
        </p:nvSpPr>
        <p:spPr>
          <a:xfrm>
            <a:off x="2643988" y="1554480"/>
            <a:ext cx="2240280" cy="457200"/>
          </a:xfrm>
          <a:prstGeom prst="rect">
            <a:avLst/>
          </a:prstGeom>
          <a:solidFill>
            <a:srgbClr val="A79BFF"/>
          </a:solidFill>
          <a:ln/>
        </p:spPr>
      </p:sp>
      <p:sp>
        <p:nvSpPr>
          <p:cNvPr id="12" name="Text 10"/>
          <p:cNvSpPr/>
          <p:nvPr/>
        </p:nvSpPr>
        <p:spPr>
          <a:xfrm>
            <a:off x="264398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Alveolar</a:t>
            </a:r>
            <a:endParaRPr lang="en-US" sz="1400" dirty="0"/>
          </a:p>
        </p:txBody>
      </p:sp>
      <p:sp>
        <p:nvSpPr>
          <p:cNvPr id="13" name="Text 11"/>
          <p:cNvSpPr/>
          <p:nvPr/>
        </p:nvSpPr>
        <p:spPr>
          <a:xfrm>
            <a:off x="264398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ㄴ</a:t>
            </a:r>
            <a:endParaRPr lang="en-US" sz="9600" dirty="0"/>
          </a:p>
        </p:txBody>
      </p:sp>
      <p:sp>
        <p:nvSpPr>
          <p:cNvPr id="14" name="Text 12"/>
          <p:cNvSpPr/>
          <p:nvPr/>
        </p:nvSpPr>
        <p:spPr>
          <a:xfrm>
            <a:off x="2643988" y="3337560"/>
            <a:ext cx="2240280" cy="365760"/>
          </a:xfrm>
          <a:prstGeom prst="rect">
            <a:avLst/>
          </a:prstGeom>
          <a:noFill/>
          <a:ln/>
        </p:spPr>
        <p:txBody>
          <a:bodyPr wrap="square" lIns="0" tIns="0" rIns="0" bIns="0" rtlCol="0" anchor="ctr"/>
          <a:lstStyle/>
          <a:p>
            <a:pPr marL="0" indent="0" algn="ctr">
              <a:buNone/>
            </a:pPr>
            <a:r>
              <a:rPr lang="en-US" sz="1800" b="1" i="1" dirty="0">
                <a:solidFill>
                  <a:srgbClr val="A79BFF"/>
                </a:solidFill>
                <a:latin typeface="Calibri" pitchFamily="34" charset="0"/>
                <a:ea typeface="Calibri" pitchFamily="34" charset="-122"/>
                <a:cs typeface="Calibri" pitchFamily="34" charset="-120"/>
              </a:rPr>
              <a:t>/n/</a:t>
            </a:r>
            <a:endParaRPr lang="en-US" sz="1800" dirty="0"/>
          </a:p>
        </p:txBody>
      </p:sp>
      <p:sp>
        <p:nvSpPr>
          <p:cNvPr id="15" name="Text 13"/>
          <p:cNvSpPr/>
          <p:nvPr/>
        </p:nvSpPr>
        <p:spPr>
          <a:xfrm>
            <a:off x="278114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Punta de la lengua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contra encías</a:t>
            </a:r>
            <a:endParaRPr lang="en-US" sz="1200" dirty="0"/>
          </a:p>
        </p:txBody>
      </p:sp>
      <p:sp>
        <p:nvSpPr>
          <p:cNvPr id="16" name="Shape 14"/>
          <p:cNvSpPr/>
          <p:nvPr/>
        </p:nvSpPr>
        <p:spPr>
          <a:xfrm>
            <a:off x="4975708" y="1554480"/>
            <a:ext cx="2240280" cy="3840480"/>
          </a:xfrm>
          <a:prstGeom prst="roundRect">
            <a:avLst>
              <a:gd name="adj" fmla="val 4082"/>
            </a:avLst>
          </a:prstGeom>
          <a:solidFill>
            <a:srgbClr val="F8F9FC"/>
          </a:solidFill>
          <a:ln w="12700">
            <a:solidFill>
              <a:srgbClr val="E2E8F0"/>
            </a:solidFill>
            <a:prstDash val="solid"/>
          </a:ln>
        </p:spPr>
      </p:sp>
      <p:sp>
        <p:nvSpPr>
          <p:cNvPr id="17" name="Shape 15"/>
          <p:cNvSpPr/>
          <p:nvPr/>
        </p:nvSpPr>
        <p:spPr>
          <a:xfrm>
            <a:off x="4975708" y="1554480"/>
            <a:ext cx="2240280" cy="457200"/>
          </a:xfrm>
          <a:prstGeom prst="rect">
            <a:avLst/>
          </a:prstGeom>
          <a:solidFill>
            <a:srgbClr val="FE6768"/>
          </a:solidFill>
          <a:ln/>
        </p:spPr>
      </p:sp>
      <p:sp>
        <p:nvSpPr>
          <p:cNvPr id="18" name="Text 16"/>
          <p:cNvSpPr/>
          <p:nvPr/>
        </p:nvSpPr>
        <p:spPr>
          <a:xfrm>
            <a:off x="497570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Bilabial</a:t>
            </a:r>
            <a:endParaRPr lang="en-US" sz="1400" dirty="0"/>
          </a:p>
        </p:txBody>
      </p:sp>
      <p:sp>
        <p:nvSpPr>
          <p:cNvPr id="19" name="Text 17"/>
          <p:cNvSpPr/>
          <p:nvPr/>
        </p:nvSpPr>
        <p:spPr>
          <a:xfrm>
            <a:off x="497570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ㅁ</a:t>
            </a:r>
            <a:endParaRPr lang="en-US" sz="9600" dirty="0"/>
          </a:p>
        </p:txBody>
      </p:sp>
      <p:sp>
        <p:nvSpPr>
          <p:cNvPr id="20" name="Text 18"/>
          <p:cNvSpPr/>
          <p:nvPr/>
        </p:nvSpPr>
        <p:spPr>
          <a:xfrm>
            <a:off x="4975708" y="3337560"/>
            <a:ext cx="2240280" cy="365760"/>
          </a:xfrm>
          <a:prstGeom prst="rect">
            <a:avLst/>
          </a:prstGeom>
          <a:noFill/>
          <a:ln/>
        </p:spPr>
        <p:txBody>
          <a:bodyPr wrap="square" lIns="0" tIns="0" rIns="0" bIns="0" rtlCol="0" anchor="ctr"/>
          <a:lstStyle/>
          <a:p>
            <a:pPr marL="0" indent="0" algn="ctr">
              <a:buNone/>
            </a:pPr>
            <a:r>
              <a:rPr lang="en-US" sz="1800" b="1" i="1" dirty="0">
                <a:solidFill>
                  <a:srgbClr val="FE6768"/>
                </a:solidFill>
                <a:latin typeface="Calibri" pitchFamily="34" charset="0"/>
                <a:ea typeface="Calibri" pitchFamily="34" charset="-122"/>
                <a:cs typeface="Calibri" pitchFamily="34" charset="-120"/>
              </a:rPr>
              <a:t>/m/</a:t>
            </a:r>
            <a:endParaRPr lang="en-US" sz="1800" dirty="0"/>
          </a:p>
        </p:txBody>
      </p:sp>
      <p:sp>
        <p:nvSpPr>
          <p:cNvPr id="21" name="Text 19"/>
          <p:cNvSpPr/>
          <p:nvPr/>
        </p:nvSpPr>
        <p:spPr>
          <a:xfrm>
            <a:off x="511286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Labios cerrados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juntos</a:t>
            </a:r>
            <a:endParaRPr lang="en-US" sz="1200" dirty="0"/>
          </a:p>
        </p:txBody>
      </p:sp>
      <p:sp>
        <p:nvSpPr>
          <p:cNvPr id="22" name="Shape 20"/>
          <p:cNvSpPr/>
          <p:nvPr/>
        </p:nvSpPr>
        <p:spPr>
          <a:xfrm>
            <a:off x="7307428" y="1554480"/>
            <a:ext cx="2240280" cy="3840480"/>
          </a:xfrm>
          <a:prstGeom prst="roundRect">
            <a:avLst>
              <a:gd name="adj" fmla="val 4082"/>
            </a:avLst>
          </a:prstGeom>
          <a:solidFill>
            <a:srgbClr val="F8F9FC"/>
          </a:solidFill>
          <a:ln w="12700">
            <a:solidFill>
              <a:srgbClr val="E2E8F0"/>
            </a:solidFill>
            <a:prstDash val="solid"/>
          </a:ln>
        </p:spPr>
      </p:sp>
      <p:sp>
        <p:nvSpPr>
          <p:cNvPr id="23" name="Shape 21"/>
          <p:cNvSpPr/>
          <p:nvPr/>
        </p:nvSpPr>
        <p:spPr>
          <a:xfrm>
            <a:off x="7307428" y="1554480"/>
            <a:ext cx="2240280" cy="457200"/>
          </a:xfrm>
          <a:prstGeom prst="rect">
            <a:avLst/>
          </a:prstGeom>
          <a:solidFill>
            <a:srgbClr val="2EA86B"/>
          </a:solidFill>
          <a:ln/>
        </p:spPr>
      </p:sp>
      <p:sp>
        <p:nvSpPr>
          <p:cNvPr id="24" name="Text 22"/>
          <p:cNvSpPr/>
          <p:nvPr/>
        </p:nvSpPr>
        <p:spPr>
          <a:xfrm>
            <a:off x="730742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Dental</a:t>
            </a:r>
            <a:endParaRPr lang="en-US" sz="1400" dirty="0"/>
          </a:p>
        </p:txBody>
      </p:sp>
      <p:sp>
        <p:nvSpPr>
          <p:cNvPr id="25" name="Text 23"/>
          <p:cNvSpPr/>
          <p:nvPr/>
        </p:nvSpPr>
        <p:spPr>
          <a:xfrm>
            <a:off x="730742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ㅅ</a:t>
            </a:r>
            <a:endParaRPr lang="en-US" sz="9600" dirty="0"/>
          </a:p>
        </p:txBody>
      </p:sp>
      <p:sp>
        <p:nvSpPr>
          <p:cNvPr id="26" name="Text 24"/>
          <p:cNvSpPr/>
          <p:nvPr/>
        </p:nvSpPr>
        <p:spPr>
          <a:xfrm>
            <a:off x="7307428" y="3337560"/>
            <a:ext cx="2240280" cy="365760"/>
          </a:xfrm>
          <a:prstGeom prst="rect">
            <a:avLst/>
          </a:prstGeom>
          <a:noFill/>
          <a:ln/>
        </p:spPr>
        <p:txBody>
          <a:bodyPr wrap="square" lIns="0" tIns="0" rIns="0" bIns="0" rtlCol="0" anchor="ctr"/>
          <a:lstStyle/>
          <a:p>
            <a:pPr marL="0" indent="0" algn="ctr">
              <a:buNone/>
            </a:pPr>
            <a:r>
              <a:rPr lang="en-US" sz="1800" b="1" i="1" dirty="0">
                <a:solidFill>
                  <a:srgbClr val="2EA86B"/>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744458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Dientes filosos</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(superior)</a:t>
            </a:r>
            <a:endParaRPr lang="en-US" sz="1200" dirty="0"/>
          </a:p>
        </p:txBody>
      </p:sp>
      <p:sp>
        <p:nvSpPr>
          <p:cNvPr id="28" name="Shape 26"/>
          <p:cNvSpPr/>
          <p:nvPr/>
        </p:nvSpPr>
        <p:spPr>
          <a:xfrm>
            <a:off x="9639148" y="1554480"/>
            <a:ext cx="2240280" cy="3840480"/>
          </a:xfrm>
          <a:prstGeom prst="roundRect">
            <a:avLst>
              <a:gd name="adj" fmla="val 4082"/>
            </a:avLst>
          </a:prstGeom>
          <a:solidFill>
            <a:srgbClr val="F8F9FC"/>
          </a:solidFill>
          <a:ln w="12700">
            <a:solidFill>
              <a:srgbClr val="E2E8F0"/>
            </a:solidFill>
            <a:prstDash val="solid"/>
          </a:ln>
        </p:spPr>
      </p:sp>
      <p:sp>
        <p:nvSpPr>
          <p:cNvPr id="29" name="Shape 27"/>
          <p:cNvSpPr/>
          <p:nvPr/>
        </p:nvSpPr>
        <p:spPr>
          <a:xfrm>
            <a:off x="9639148" y="1554480"/>
            <a:ext cx="2240280" cy="457200"/>
          </a:xfrm>
          <a:prstGeom prst="rect">
            <a:avLst/>
          </a:prstGeom>
          <a:solidFill>
            <a:srgbClr val="F2C73A"/>
          </a:solidFill>
          <a:ln/>
        </p:spPr>
      </p:sp>
      <p:sp>
        <p:nvSpPr>
          <p:cNvPr id="30" name="Text 28"/>
          <p:cNvSpPr/>
          <p:nvPr/>
        </p:nvSpPr>
        <p:spPr>
          <a:xfrm>
            <a:off x="9639148" y="1554480"/>
            <a:ext cx="224028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Glotal</a:t>
            </a:r>
            <a:endParaRPr lang="en-US" sz="1400" dirty="0"/>
          </a:p>
        </p:txBody>
      </p:sp>
      <p:sp>
        <p:nvSpPr>
          <p:cNvPr id="31" name="Text 29"/>
          <p:cNvSpPr/>
          <p:nvPr/>
        </p:nvSpPr>
        <p:spPr>
          <a:xfrm>
            <a:off x="9639148" y="2194560"/>
            <a:ext cx="2240280" cy="1097280"/>
          </a:xfrm>
          <a:prstGeom prst="rect">
            <a:avLst/>
          </a:prstGeom>
          <a:noFill/>
          <a:ln/>
        </p:spPr>
        <p:txBody>
          <a:bodyPr wrap="square" lIns="0" tIns="0" rIns="0" bIns="0" rtlCol="0" anchor="ctr"/>
          <a:lstStyle/>
          <a:p>
            <a:pPr marL="0" indent="0" algn="ctr">
              <a:buNone/>
            </a:pPr>
            <a:r>
              <a:rPr lang="en-US" sz="9600" b="1" dirty="0">
                <a:solidFill>
                  <a:srgbClr val="0F172A"/>
                </a:solidFill>
                <a:latin typeface="Malgun Gothic" pitchFamily="34" charset="0"/>
                <a:ea typeface="Malgun Gothic" pitchFamily="34" charset="-122"/>
                <a:cs typeface="Malgun Gothic" pitchFamily="34" charset="-120"/>
              </a:rPr>
              <a:t>ㅇ</a:t>
            </a:r>
            <a:endParaRPr lang="en-US" sz="9600" dirty="0"/>
          </a:p>
        </p:txBody>
      </p:sp>
      <p:sp>
        <p:nvSpPr>
          <p:cNvPr id="32" name="Text 30"/>
          <p:cNvSpPr/>
          <p:nvPr/>
        </p:nvSpPr>
        <p:spPr>
          <a:xfrm>
            <a:off x="9639148" y="3337560"/>
            <a:ext cx="2240280" cy="365760"/>
          </a:xfrm>
          <a:prstGeom prst="rect">
            <a:avLst/>
          </a:prstGeom>
          <a:noFill/>
          <a:ln/>
        </p:spPr>
        <p:txBody>
          <a:bodyPr wrap="square" lIns="0" tIns="0" rIns="0" bIns="0" rtlCol="0" anchor="ctr"/>
          <a:lstStyle/>
          <a:p>
            <a:pPr marL="0" indent="0" algn="ctr">
              <a:buNone/>
            </a:pPr>
            <a:r>
              <a:rPr lang="en-US" sz="1800" b="1" i="1" dirty="0">
                <a:solidFill>
                  <a:srgbClr val="F2C73A"/>
                </a:solidFill>
                <a:latin typeface="Calibri" pitchFamily="34" charset="0"/>
                <a:ea typeface="Calibri" pitchFamily="34" charset="-122"/>
                <a:cs typeface="Calibri" pitchFamily="34" charset="-120"/>
              </a:rPr>
              <a:t>/ng/</a:t>
            </a:r>
            <a:endParaRPr lang="en-US" sz="1800" dirty="0"/>
          </a:p>
        </p:txBody>
      </p:sp>
      <p:sp>
        <p:nvSpPr>
          <p:cNvPr id="33" name="Text 31"/>
          <p:cNvSpPr/>
          <p:nvPr/>
        </p:nvSpPr>
        <p:spPr>
          <a:xfrm>
            <a:off x="9776308" y="3840480"/>
            <a:ext cx="1965960" cy="1371600"/>
          </a:xfrm>
          <a:prstGeom prst="rect">
            <a:avLst/>
          </a:prstGeom>
          <a:noFill/>
          <a:ln/>
        </p:spPr>
        <p:txBody>
          <a:bodyPr wrap="square" lIns="0" tIns="0" rIns="0" bIns="0" rtlCol="0" anchor="t"/>
          <a:lstStyle/>
          <a:p>
            <a:pPr marL="0" indent="0" algn="ctr">
              <a:buNone/>
            </a:pPr>
            <a:r>
              <a:rPr lang="en-US" sz="1200" dirty="0">
                <a:solidFill>
                  <a:srgbClr val="4A5568"/>
                </a:solidFill>
                <a:latin typeface="Calibri" pitchFamily="34" charset="0"/>
                <a:ea typeface="Calibri" pitchFamily="34" charset="-122"/>
                <a:cs typeface="Calibri" pitchFamily="34" charset="-120"/>
              </a:rPr>
              <a:t>Garganta</a:t>
            </a:r>
            <a:endParaRPr lang="en-US" sz="1200" dirty="0"/>
          </a:p>
          <a:p>
            <a:pPr marL="0" indent="0" algn="ctr">
              <a:buNone/>
            </a:pPr>
            <a:r>
              <a:rPr lang="en-US" sz="1200" dirty="0">
                <a:solidFill>
                  <a:srgbClr val="4A5568"/>
                </a:solidFill>
                <a:latin typeface="Calibri" pitchFamily="34" charset="0"/>
                <a:ea typeface="Calibri" pitchFamily="34" charset="-122"/>
                <a:cs typeface="Calibri" pitchFamily="34" charset="-120"/>
              </a:rPr>
              <a:t>redonda</a:t>
            </a:r>
            <a:endParaRPr lang="en-US" sz="1200" dirty="0"/>
          </a:p>
        </p:txBody>
      </p:sp>
      <p:sp>
        <p:nvSpPr>
          <p:cNvPr id="34" name="Shape 32"/>
          <p:cNvSpPr/>
          <p:nvPr/>
        </p:nvSpPr>
        <p:spPr>
          <a:xfrm>
            <a:off x="365760" y="5532120"/>
            <a:ext cx="11430000" cy="502920"/>
          </a:xfrm>
          <a:prstGeom prst="roundRect">
            <a:avLst>
              <a:gd name="adj" fmla="val 14545"/>
            </a:avLst>
          </a:prstGeom>
          <a:solidFill>
            <a:srgbClr val="EFEBFF"/>
          </a:solidFill>
          <a:ln/>
        </p:spPr>
      </p:sp>
      <p:sp>
        <p:nvSpPr>
          <p:cNvPr id="35" name="Text 33"/>
          <p:cNvSpPr/>
          <p:nvPr/>
        </p:nvSpPr>
        <p:spPr>
          <a:xfrm>
            <a:off x="457200" y="5532120"/>
            <a:ext cx="11247120" cy="502920"/>
          </a:xfrm>
          <a:prstGeom prst="rect">
            <a:avLst/>
          </a:prstGeom>
          <a:noFill/>
          <a:ln/>
        </p:spPr>
        <p:txBody>
          <a:bodyPr wrap="square" lIns="0" tIns="0" rIns="0" bIns="0" rtlCol="0" anchor="ctr"/>
          <a:lstStyle/>
          <a:p>
            <a:pPr marL="0" indent="0" algn="ctr">
              <a:buNone/>
            </a:pPr>
            <a:r>
              <a:rPr lang="en-US" sz="1400" b="1" i="1" dirty="0">
                <a:solidFill>
                  <a:srgbClr val="2A1FB8"/>
                </a:solidFill>
                <a:latin typeface="Georgia" pitchFamily="34" charset="0"/>
                <a:ea typeface="Georgia" pitchFamily="34" charset="-122"/>
                <a:cs typeface="Georgia" pitchFamily="34" charset="-120"/>
              </a:rPr>
              <a:t>🧠  Cada letra es un mapa anatómico de la posición de tu boca · por eso Hangul es el alfabeto más científico del mundo</a:t>
            </a:r>
            <a:endParaRPr lang="en-US" sz="1400" dirty="0"/>
          </a:p>
        </p:txBody>
      </p:sp>
      <p:sp>
        <p:nvSpPr>
          <p:cNvPr id="36" name="Text 34"/>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16.</a:t>
            </a:r>
            <a:endParaRPr lang="en-US" sz="900" dirty="0"/>
          </a:p>
        </p:txBody>
      </p:sp>
      <p:sp>
        <p:nvSpPr>
          <p:cNvPr id="37" name="Text 35"/>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38" name="Text 36"/>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06B  ·  TALLER</a:t>
            </a:r>
            <a:endParaRPr lang="en-US" sz="1000" dirty="0"/>
          </a:p>
        </p:txBody>
      </p:sp>
    </p:spTree>
    <p:extLst>
      <p:ext uri="{BB962C8B-B14F-4D97-AF65-F5344CB8AC3E}">
        <p14:creationId xmlns:p14="http://schemas.microsoft.com/office/powerpoint/2010/main" val="30069076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§4.0 · FILOSOFÍA</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Las 3 vocales originales · 天 地 人</a:t>
            </a:r>
            <a:endParaRPr lang="en-US" sz="3400" dirty="0"/>
          </a:p>
        </p:txBody>
      </p:sp>
      <p:sp>
        <p:nvSpPr>
          <p:cNvPr id="4" name="Shape 2"/>
          <p:cNvSpPr/>
          <p:nvPr/>
        </p:nvSpPr>
        <p:spPr>
          <a:xfrm>
            <a:off x="457200" y="1691640"/>
            <a:ext cx="3703320" cy="3474720"/>
          </a:xfrm>
          <a:prstGeom prst="roundRect">
            <a:avLst>
              <a:gd name="adj" fmla="val 3158"/>
            </a:avLst>
          </a:prstGeom>
          <a:solidFill>
            <a:srgbClr val="F8F9FC"/>
          </a:solidFill>
          <a:ln w="12700">
            <a:solidFill>
              <a:srgbClr val="E2E8F0"/>
            </a:solidFill>
            <a:prstDash val="solid"/>
          </a:ln>
        </p:spPr>
      </p:sp>
      <p:sp>
        <p:nvSpPr>
          <p:cNvPr id="5" name="Shape 3"/>
          <p:cNvSpPr/>
          <p:nvPr/>
        </p:nvSpPr>
        <p:spPr>
          <a:xfrm>
            <a:off x="457200" y="1691640"/>
            <a:ext cx="3703320" cy="502920"/>
          </a:xfrm>
          <a:prstGeom prst="rect">
            <a:avLst/>
          </a:prstGeom>
          <a:solidFill>
            <a:srgbClr val="F2C73A"/>
          </a:solidFill>
          <a:ln/>
        </p:spPr>
      </p:sp>
      <p:sp>
        <p:nvSpPr>
          <p:cNvPr id="6" name="Text 4"/>
          <p:cNvSpPr/>
          <p:nvPr/>
        </p:nvSpPr>
        <p:spPr>
          <a:xfrm>
            <a:off x="45720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Heaven · 天</a:t>
            </a:r>
            <a:endParaRPr lang="en-US" sz="1600" dirty="0"/>
          </a:p>
        </p:txBody>
      </p:sp>
      <p:sp>
        <p:nvSpPr>
          <p:cNvPr id="7" name="Text 5"/>
          <p:cNvSpPr/>
          <p:nvPr/>
        </p:nvSpPr>
        <p:spPr>
          <a:xfrm>
            <a:off x="45720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a:t>
            </a:r>
            <a:endParaRPr lang="en-US" sz="13000" dirty="0"/>
          </a:p>
        </p:txBody>
      </p:sp>
      <p:sp>
        <p:nvSpPr>
          <p:cNvPr id="8" name="Text 6"/>
          <p:cNvSpPr/>
          <p:nvPr/>
        </p:nvSpPr>
        <p:spPr>
          <a:xfrm>
            <a:off x="457200" y="3794760"/>
            <a:ext cx="3703320" cy="320040"/>
          </a:xfrm>
          <a:prstGeom prst="rect">
            <a:avLst/>
          </a:prstGeom>
          <a:noFill/>
          <a:ln/>
        </p:spPr>
        <p:txBody>
          <a:bodyPr wrap="square" lIns="0" tIns="0" rIns="0" bIns="0" rtlCol="0" anchor="ctr"/>
          <a:lstStyle/>
          <a:p>
            <a:pPr marL="0" indent="0" algn="ctr">
              <a:buNone/>
            </a:pPr>
            <a:r>
              <a:rPr lang="en-US" sz="1400" b="1" i="1" dirty="0">
                <a:solidFill>
                  <a:srgbClr val="F2C73A"/>
                </a:solidFill>
                <a:latin typeface="Calibri" pitchFamily="34" charset="0"/>
                <a:ea typeface="Calibri" pitchFamily="34" charset="-122"/>
                <a:cs typeface="Calibri" pitchFamily="34" charset="-120"/>
              </a:rPr>
              <a:t>(forma original)</a:t>
            </a:r>
            <a:endParaRPr lang="en-US" sz="1400" dirty="0"/>
          </a:p>
        </p:txBody>
      </p:sp>
      <p:sp>
        <p:nvSpPr>
          <p:cNvPr id="9" name="Text 7"/>
          <p:cNvSpPr/>
          <p:nvPr/>
        </p:nvSpPr>
        <p:spPr>
          <a:xfrm>
            <a:off x="64008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Cielo (luz, sol)</a:t>
            </a:r>
            <a:endParaRPr lang="en-US" sz="1500" dirty="0"/>
          </a:p>
        </p:txBody>
      </p:sp>
      <p:sp>
        <p:nvSpPr>
          <p:cNvPr id="10" name="Text 8"/>
          <p:cNvSpPr/>
          <p:nvPr/>
        </p:nvSpPr>
        <p:spPr>
          <a:xfrm>
            <a:off x="64008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El punto · representa</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el SOL en el cielo</a:t>
            </a:r>
            <a:endParaRPr lang="en-US" sz="1200" dirty="0"/>
          </a:p>
        </p:txBody>
      </p:sp>
      <p:sp>
        <p:nvSpPr>
          <p:cNvPr id="11" name="Shape 9"/>
          <p:cNvSpPr/>
          <p:nvPr/>
        </p:nvSpPr>
        <p:spPr>
          <a:xfrm>
            <a:off x="4297680" y="1691640"/>
            <a:ext cx="3703320" cy="3474720"/>
          </a:xfrm>
          <a:prstGeom prst="roundRect">
            <a:avLst>
              <a:gd name="adj" fmla="val 3158"/>
            </a:avLst>
          </a:prstGeom>
          <a:solidFill>
            <a:srgbClr val="F8F9FC"/>
          </a:solidFill>
          <a:ln w="12700">
            <a:solidFill>
              <a:srgbClr val="E2E8F0"/>
            </a:solidFill>
            <a:prstDash val="solid"/>
          </a:ln>
        </p:spPr>
      </p:sp>
      <p:sp>
        <p:nvSpPr>
          <p:cNvPr id="12" name="Shape 10"/>
          <p:cNvSpPr/>
          <p:nvPr/>
        </p:nvSpPr>
        <p:spPr>
          <a:xfrm>
            <a:off x="4297680" y="1691640"/>
            <a:ext cx="3703320" cy="502920"/>
          </a:xfrm>
          <a:prstGeom prst="rect">
            <a:avLst/>
          </a:prstGeom>
          <a:solidFill>
            <a:srgbClr val="8B5A2B"/>
          </a:solidFill>
          <a:ln/>
        </p:spPr>
      </p:sp>
      <p:sp>
        <p:nvSpPr>
          <p:cNvPr id="13" name="Text 11"/>
          <p:cNvSpPr/>
          <p:nvPr/>
        </p:nvSpPr>
        <p:spPr>
          <a:xfrm>
            <a:off x="429768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Earth · 地</a:t>
            </a:r>
            <a:endParaRPr lang="en-US" sz="1600" dirty="0"/>
          </a:p>
        </p:txBody>
      </p:sp>
      <p:sp>
        <p:nvSpPr>
          <p:cNvPr id="14" name="Text 12"/>
          <p:cNvSpPr/>
          <p:nvPr/>
        </p:nvSpPr>
        <p:spPr>
          <a:xfrm>
            <a:off x="429768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ㅡ</a:t>
            </a:r>
            <a:endParaRPr lang="en-US" sz="13000" dirty="0"/>
          </a:p>
        </p:txBody>
      </p:sp>
      <p:sp>
        <p:nvSpPr>
          <p:cNvPr id="15" name="Text 13"/>
          <p:cNvSpPr/>
          <p:nvPr/>
        </p:nvSpPr>
        <p:spPr>
          <a:xfrm>
            <a:off x="4297680" y="3794760"/>
            <a:ext cx="3703320" cy="320040"/>
          </a:xfrm>
          <a:prstGeom prst="rect">
            <a:avLst/>
          </a:prstGeom>
          <a:noFill/>
          <a:ln/>
        </p:spPr>
        <p:txBody>
          <a:bodyPr wrap="square" lIns="0" tIns="0" rIns="0" bIns="0" rtlCol="0" anchor="ctr"/>
          <a:lstStyle/>
          <a:p>
            <a:pPr marL="0" indent="0" algn="ctr">
              <a:buNone/>
            </a:pPr>
            <a:r>
              <a:rPr lang="en-US" sz="1400" b="1" i="1" dirty="0">
                <a:solidFill>
                  <a:srgbClr val="8B5A2B"/>
                </a:solidFill>
                <a:latin typeface="Calibri" pitchFamily="34" charset="0"/>
                <a:ea typeface="Calibri" pitchFamily="34" charset="-122"/>
                <a:cs typeface="Calibri" pitchFamily="34" charset="-120"/>
              </a:rPr>
              <a:t>/ eu /</a:t>
            </a:r>
            <a:endParaRPr lang="en-US" sz="1400" dirty="0"/>
          </a:p>
        </p:txBody>
      </p:sp>
      <p:sp>
        <p:nvSpPr>
          <p:cNvPr id="16" name="Text 14"/>
          <p:cNvSpPr/>
          <p:nvPr/>
        </p:nvSpPr>
        <p:spPr>
          <a:xfrm>
            <a:off x="448056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Tierra plana</a:t>
            </a:r>
            <a:endParaRPr lang="en-US" sz="1500" dirty="0"/>
          </a:p>
        </p:txBody>
      </p:sp>
      <p:sp>
        <p:nvSpPr>
          <p:cNvPr id="17" name="Text 15"/>
          <p:cNvSpPr/>
          <p:nvPr/>
        </p:nvSpPr>
        <p:spPr>
          <a:xfrm>
            <a:off x="448056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horizontal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la TIERRA</a:t>
            </a:r>
            <a:endParaRPr lang="en-US" sz="1200" dirty="0"/>
          </a:p>
        </p:txBody>
      </p:sp>
      <p:sp>
        <p:nvSpPr>
          <p:cNvPr id="18" name="Shape 16"/>
          <p:cNvSpPr/>
          <p:nvPr/>
        </p:nvSpPr>
        <p:spPr>
          <a:xfrm>
            <a:off x="8138160" y="1691640"/>
            <a:ext cx="3703320" cy="3474720"/>
          </a:xfrm>
          <a:prstGeom prst="roundRect">
            <a:avLst>
              <a:gd name="adj" fmla="val 3158"/>
            </a:avLst>
          </a:prstGeom>
          <a:solidFill>
            <a:srgbClr val="F8F9FC"/>
          </a:solidFill>
          <a:ln w="12700">
            <a:solidFill>
              <a:srgbClr val="E2E8F0"/>
            </a:solidFill>
            <a:prstDash val="solid"/>
          </a:ln>
        </p:spPr>
      </p:sp>
      <p:sp>
        <p:nvSpPr>
          <p:cNvPr id="19" name="Shape 17"/>
          <p:cNvSpPr/>
          <p:nvPr/>
        </p:nvSpPr>
        <p:spPr>
          <a:xfrm>
            <a:off x="8138160" y="1691640"/>
            <a:ext cx="3703320" cy="502920"/>
          </a:xfrm>
          <a:prstGeom prst="rect">
            <a:avLst/>
          </a:prstGeom>
          <a:solidFill>
            <a:srgbClr val="A79BFF"/>
          </a:solidFill>
          <a:ln/>
        </p:spPr>
      </p:sp>
      <p:sp>
        <p:nvSpPr>
          <p:cNvPr id="20" name="Text 18"/>
          <p:cNvSpPr/>
          <p:nvPr/>
        </p:nvSpPr>
        <p:spPr>
          <a:xfrm>
            <a:off x="8138160" y="1691640"/>
            <a:ext cx="3703320" cy="502920"/>
          </a:xfrm>
          <a:prstGeom prst="rect">
            <a:avLst/>
          </a:prstGeom>
          <a:noFill/>
          <a:ln/>
        </p:spPr>
        <p:txBody>
          <a:bodyPr wrap="square" lIns="0" tIns="0" rIns="0" bIns="0" rtlCol="0" anchor="ctr"/>
          <a:lstStyle/>
          <a:p>
            <a:pPr marL="0" indent="0" algn="ctr">
              <a:buNone/>
            </a:pPr>
            <a:r>
              <a:rPr lang="en-US" sz="1600" b="1" kern="0" spc="600" dirty="0">
                <a:solidFill>
                  <a:srgbClr val="FFFFFF"/>
                </a:solidFill>
                <a:latin typeface="Trebuchet MS" pitchFamily="34" charset="0"/>
                <a:ea typeface="Trebuchet MS" pitchFamily="34" charset="-122"/>
                <a:cs typeface="Trebuchet MS" pitchFamily="34" charset="-120"/>
              </a:rPr>
              <a:t>Humanity · 人</a:t>
            </a:r>
            <a:endParaRPr lang="en-US" sz="1600" dirty="0"/>
          </a:p>
        </p:txBody>
      </p:sp>
      <p:sp>
        <p:nvSpPr>
          <p:cNvPr id="21" name="Text 19"/>
          <p:cNvSpPr/>
          <p:nvPr/>
        </p:nvSpPr>
        <p:spPr>
          <a:xfrm>
            <a:off x="8138160" y="2377440"/>
            <a:ext cx="3703320" cy="1371600"/>
          </a:xfrm>
          <a:prstGeom prst="rect">
            <a:avLst/>
          </a:prstGeom>
          <a:noFill/>
          <a:ln/>
        </p:spPr>
        <p:txBody>
          <a:bodyPr wrap="square" lIns="0" tIns="0" rIns="0" bIns="0" rtlCol="0" anchor="ctr"/>
          <a:lstStyle/>
          <a:p>
            <a:pPr marL="0" indent="0" algn="ctr">
              <a:buNone/>
            </a:pPr>
            <a:r>
              <a:rPr lang="en-US" sz="13000" b="1" dirty="0">
                <a:solidFill>
                  <a:srgbClr val="0F172A"/>
                </a:solidFill>
                <a:latin typeface="Malgun Gothic" pitchFamily="34" charset="0"/>
                <a:ea typeface="Malgun Gothic" pitchFamily="34" charset="-122"/>
                <a:cs typeface="Malgun Gothic" pitchFamily="34" charset="-120"/>
              </a:rPr>
              <a:t>ㅣ</a:t>
            </a:r>
            <a:endParaRPr lang="en-US" sz="13000" dirty="0"/>
          </a:p>
        </p:txBody>
      </p:sp>
      <p:sp>
        <p:nvSpPr>
          <p:cNvPr id="22" name="Text 20"/>
          <p:cNvSpPr/>
          <p:nvPr/>
        </p:nvSpPr>
        <p:spPr>
          <a:xfrm>
            <a:off x="8138160" y="3794760"/>
            <a:ext cx="3703320" cy="320040"/>
          </a:xfrm>
          <a:prstGeom prst="rect">
            <a:avLst/>
          </a:prstGeom>
          <a:noFill/>
          <a:ln/>
        </p:spPr>
        <p:txBody>
          <a:bodyPr wrap="square" lIns="0" tIns="0" rIns="0" bIns="0" rtlCol="0" anchor="ctr"/>
          <a:lstStyle/>
          <a:p>
            <a:pPr marL="0" indent="0" algn="ctr">
              <a:buNone/>
            </a:pPr>
            <a:r>
              <a:rPr lang="en-US" sz="1400" b="1" i="1" dirty="0">
                <a:solidFill>
                  <a:srgbClr val="A79BFF"/>
                </a:solidFill>
                <a:latin typeface="Calibri" pitchFamily="34" charset="0"/>
                <a:ea typeface="Calibri" pitchFamily="34" charset="-122"/>
                <a:cs typeface="Calibri" pitchFamily="34" charset="-120"/>
              </a:rPr>
              <a:t>/ i /</a:t>
            </a:r>
            <a:endParaRPr lang="en-US" sz="1400" dirty="0"/>
          </a:p>
        </p:txBody>
      </p:sp>
      <p:sp>
        <p:nvSpPr>
          <p:cNvPr id="23" name="Text 21"/>
          <p:cNvSpPr/>
          <p:nvPr/>
        </p:nvSpPr>
        <p:spPr>
          <a:xfrm>
            <a:off x="8321040" y="4160520"/>
            <a:ext cx="3337560" cy="365760"/>
          </a:xfrm>
          <a:prstGeom prst="rect">
            <a:avLst/>
          </a:prstGeom>
          <a:noFill/>
          <a:ln/>
        </p:spPr>
        <p:txBody>
          <a:bodyPr wrap="square" lIns="0" tIns="0" rIns="0" bIns="0" rtlCol="0" anchor="ctr"/>
          <a:lstStyle/>
          <a:p>
            <a:pPr marL="0" indent="0" algn="ctr">
              <a:buNone/>
            </a:pPr>
            <a:r>
              <a:rPr lang="en-US" sz="1500" b="1" dirty="0">
                <a:solidFill>
                  <a:srgbClr val="0F172A"/>
                </a:solidFill>
                <a:latin typeface="Trebuchet MS" pitchFamily="34" charset="0"/>
                <a:ea typeface="Trebuchet MS" pitchFamily="34" charset="-122"/>
                <a:cs typeface="Trebuchet MS" pitchFamily="34" charset="-120"/>
              </a:rPr>
              <a:t>Ser humano de pie</a:t>
            </a:r>
            <a:endParaRPr lang="en-US" sz="1500" dirty="0"/>
          </a:p>
        </p:txBody>
      </p:sp>
      <p:sp>
        <p:nvSpPr>
          <p:cNvPr id="24" name="Text 22"/>
          <p:cNvSpPr/>
          <p:nvPr/>
        </p:nvSpPr>
        <p:spPr>
          <a:xfrm>
            <a:off x="8321040" y="4526280"/>
            <a:ext cx="3337560" cy="548640"/>
          </a:xfrm>
          <a:prstGeom prst="rect">
            <a:avLst/>
          </a:prstGeom>
          <a:noFill/>
          <a:ln/>
        </p:spPr>
        <p:txBody>
          <a:bodyPr wrap="square" lIns="0" tIns="0" rIns="0" bIns="0" rtlCol="0" anchor="t"/>
          <a:lstStyle/>
          <a:p>
            <a:pPr marL="0" indent="0" algn="ctr">
              <a:buNone/>
            </a:pPr>
            <a:r>
              <a:rPr lang="en-US" sz="1200" i="1" dirty="0">
                <a:solidFill>
                  <a:srgbClr val="4A5568"/>
                </a:solidFill>
                <a:latin typeface="Calibri" pitchFamily="34" charset="0"/>
                <a:ea typeface="Calibri" pitchFamily="34" charset="-122"/>
                <a:cs typeface="Calibri" pitchFamily="34" charset="-120"/>
              </a:rPr>
              <a:t>Línea vertical ·</a:t>
            </a:r>
            <a:endParaRPr lang="en-US" sz="1200" dirty="0"/>
          </a:p>
          <a:p>
            <a:pPr marL="0" indent="0" algn="ctr">
              <a:buNone/>
            </a:pPr>
            <a:r>
              <a:rPr lang="en-US" sz="1200" i="1" dirty="0">
                <a:solidFill>
                  <a:srgbClr val="4A5568"/>
                </a:solidFill>
                <a:latin typeface="Calibri" pitchFamily="34" charset="0"/>
                <a:ea typeface="Calibri" pitchFamily="34" charset="-122"/>
                <a:cs typeface="Calibri" pitchFamily="34" charset="-120"/>
              </a:rPr>
              <a:t>representa a la PERSONA</a:t>
            </a:r>
            <a:endParaRPr lang="en-US" sz="1200" dirty="0"/>
          </a:p>
        </p:txBody>
      </p:sp>
      <p:sp>
        <p:nvSpPr>
          <p:cNvPr id="25" name="Shape 23"/>
          <p:cNvSpPr/>
          <p:nvPr/>
        </p:nvSpPr>
        <p:spPr>
          <a:xfrm>
            <a:off x="457200" y="5440680"/>
            <a:ext cx="11247120" cy="868680"/>
          </a:xfrm>
          <a:prstGeom prst="roundRect">
            <a:avLst>
              <a:gd name="adj" fmla="val 10526"/>
            </a:avLst>
          </a:prstGeom>
          <a:solidFill>
            <a:srgbClr val="2A1FB8"/>
          </a:solidFill>
          <a:ln/>
        </p:spPr>
      </p:sp>
      <p:sp>
        <p:nvSpPr>
          <p:cNvPr id="26" name="Text 24"/>
          <p:cNvSpPr/>
          <p:nvPr/>
        </p:nvSpPr>
        <p:spPr>
          <a:xfrm>
            <a:off x="640080" y="5440680"/>
            <a:ext cx="10881360" cy="868680"/>
          </a:xfrm>
          <a:prstGeom prst="rect">
            <a:avLst/>
          </a:prstGeom>
          <a:noFill/>
          <a:ln/>
        </p:spPr>
        <p:txBody>
          <a:bodyPr wrap="square" lIns="0" tIns="0" rIns="0" bIns="0" rtlCol="0" anchor="ctr"/>
          <a:lstStyle/>
          <a:p>
            <a:pPr marL="0" indent="0" algn="ctr">
              <a:buNone/>
            </a:pPr>
            <a:r>
              <a:rPr lang="en-US" sz="1800" dirty="0">
                <a:solidFill>
                  <a:srgbClr val="EFEBFF"/>
                </a:solidFill>
                <a:latin typeface="Calibri" pitchFamily="34" charset="0"/>
                <a:ea typeface="Calibri" pitchFamily="34" charset="-122"/>
                <a:cs typeface="Calibri" pitchFamily="34" charset="-120"/>
              </a:rPr>
              <a:t xml:space="preserve">Combina </a:t>
            </a:r>
            <a:r>
              <a:rPr lang="en-US" sz="2400" b="1" dirty="0">
                <a:solidFill>
                  <a:srgbClr val="FFFFFF"/>
                </a:solidFill>
                <a:latin typeface="Malgun Gothic" pitchFamily="34" charset="0"/>
                <a:ea typeface="Malgun Gothic" pitchFamily="34" charset="-122"/>
                <a:cs typeface="Malgun Gothic" pitchFamily="34" charset="-120"/>
              </a:rPr>
              <a:t>• + ㅡ + ㅣ</a:t>
            </a:r>
            <a:r>
              <a:rPr lang="en-US" sz="1800" dirty="0">
                <a:solidFill>
                  <a:srgbClr val="EFEBFF"/>
                </a:solidFill>
                <a:latin typeface="Calibri" pitchFamily="34" charset="0"/>
                <a:ea typeface="Calibri" pitchFamily="34" charset="-122"/>
                <a:cs typeface="Calibri" pitchFamily="34" charset="-120"/>
              </a:rPr>
              <a:t xml:space="preserve"> de todas las formas posibles y obtienes </a:t>
            </a:r>
            <a:r>
              <a:rPr lang="en-US" sz="2400" b="1" dirty="0">
                <a:solidFill>
                  <a:srgbClr val="FFC8C8"/>
                </a:solidFill>
                <a:latin typeface="Calibri" pitchFamily="34" charset="0"/>
                <a:ea typeface="Calibri" pitchFamily="34" charset="-122"/>
                <a:cs typeface="Calibri" pitchFamily="34" charset="-120"/>
              </a:rPr>
              <a:t>21 vocales</a:t>
            </a:r>
            <a:r>
              <a:rPr lang="en-US" sz="1800" dirty="0">
                <a:solidFill>
                  <a:srgbClr val="EFEBFF"/>
                </a:solidFill>
                <a:latin typeface="Calibri" pitchFamily="34" charset="0"/>
                <a:ea typeface="Calibri" pitchFamily="34" charset="-122"/>
                <a:cs typeface="Calibri" pitchFamily="34" charset="-120"/>
              </a:rPr>
              <a:t xml:space="preserve"> del coreano moderno</a:t>
            </a:r>
            <a:endParaRPr lang="en-US" sz="1800" dirty="0"/>
          </a:p>
        </p:txBody>
      </p:sp>
      <p:sp>
        <p:nvSpPr>
          <p:cNvPr id="27" name="Text 25"/>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17.</a:t>
            </a:r>
            <a:endParaRPr lang="en-US" sz="900" dirty="0"/>
          </a:p>
        </p:txBody>
      </p:sp>
      <p:sp>
        <p:nvSpPr>
          <p:cNvPr id="28" name="Text 26"/>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29" name="Text 27"/>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07B  ·  TALLER</a:t>
            </a:r>
            <a:endParaRPr lang="en-US" sz="1000" dirty="0"/>
          </a:p>
        </p:txBody>
      </p:sp>
    </p:spTree>
    <p:extLst>
      <p:ext uri="{BB962C8B-B14F-4D97-AF65-F5344CB8AC3E}">
        <p14:creationId xmlns:p14="http://schemas.microsoft.com/office/powerpoint/2010/main" val="17830055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tres vocales primordiales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Un punto, una raya horizontal, una raya vertical. Eso es todo lo que hace falta.</a:t>
            </a:r>
            <a:endParaRPr lang="en-US" sz="1400" dirty="0"/>
          </a:p>
        </p:txBody>
      </p:sp>
      <p:sp>
        <p:nvSpPr>
          <p:cNvPr id="5" name="Shape 3"/>
          <p:cNvSpPr/>
          <p:nvPr/>
        </p:nvSpPr>
        <p:spPr>
          <a:xfrm>
            <a:off x="540868" y="2468880"/>
            <a:ext cx="3520440" cy="3840480"/>
          </a:xfrm>
          <a:prstGeom prst="roundRect">
            <a:avLst>
              <a:gd name="adj" fmla="val 5195"/>
            </a:avLst>
          </a:prstGeom>
          <a:solidFill>
            <a:srgbClr val="FE6768"/>
          </a:solidFill>
          <a:ln w="12700">
            <a:solidFill>
              <a:srgbClr val="FE6768"/>
            </a:solidFill>
            <a:prstDash val="solid"/>
          </a:ln>
        </p:spPr>
      </p:sp>
      <p:sp>
        <p:nvSpPr>
          <p:cNvPr id="6" name="Text 4"/>
          <p:cNvSpPr/>
          <p:nvPr/>
        </p:nvSpPr>
        <p:spPr>
          <a:xfrm>
            <a:off x="54086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a:t>
            </a:r>
            <a:endParaRPr lang="en-US" sz="11000" dirty="0"/>
          </a:p>
        </p:txBody>
      </p:sp>
      <p:sp>
        <p:nvSpPr>
          <p:cNvPr id="7" name="Text 5"/>
          <p:cNvSpPr/>
          <p:nvPr/>
        </p:nvSpPr>
        <p:spPr>
          <a:xfrm>
            <a:off x="540868" y="4297680"/>
            <a:ext cx="3520440" cy="320040"/>
          </a:xfrm>
          <a:prstGeom prst="rect">
            <a:avLst/>
          </a:prstGeom>
          <a:noFill/>
          <a:ln/>
        </p:spPr>
        <p:txBody>
          <a:bodyPr wrap="square" lIns="0" tIns="0" rIns="0" bIns="0" rtlCol="0" anchor="ctr"/>
          <a:lstStyle/>
          <a:p>
            <a:pPr marL="0" indent="0" algn="ctr">
              <a:buNone/>
            </a:pPr>
            <a:r>
              <a:rPr lang="en-US" sz="1200" i="1" dirty="0">
                <a:solidFill>
                  <a:srgbClr val="FFE0E0"/>
                </a:solidFill>
                <a:latin typeface="Calibri" pitchFamily="34" charset="0"/>
                <a:ea typeface="Calibri" pitchFamily="34" charset="-122"/>
                <a:cs typeface="Calibri" pitchFamily="34" charset="-120"/>
              </a:rPr>
              <a:t>punto</a:t>
            </a:r>
            <a:endParaRPr lang="en-US" sz="1200" dirty="0"/>
          </a:p>
        </p:txBody>
      </p:sp>
      <p:sp>
        <p:nvSpPr>
          <p:cNvPr id="8" name="Text 6"/>
          <p:cNvSpPr/>
          <p:nvPr/>
        </p:nvSpPr>
        <p:spPr>
          <a:xfrm>
            <a:off x="54086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하늘 · CIELO</a:t>
            </a:r>
            <a:endParaRPr lang="en-US" sz="1400" dirty="0"/>
          </a:p>
        </p:txBody>
      </p:sp>
      <p:sp>
        <p:nvSpPr>
          <p:cNvPr id="9" name="Text 7"/>
          <p:cNvSpPr/>
          <p:nvPr/>
        </p:nvSpPr>
        <p:spPr>
          <a:xfrm>
            <a:off x="54086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FFE0E0"/>
                </a:solidFill>
                <a:latin typeface="Calibri" pitchFamily="34" charset="0"/>
                <a:ea typeface="Calibri" pitchFamily="34" charset="-122"/>
                <a:cs typeface="Calibri" pitchFamily="34" charset="-120"/>
              </a:rPr>
              <a:t>DÍA</a:t>
            </a:r>
            <a:endParaRPr lang="en-US" sz="1100" dirty="0"/>
          </a:p>
        </p:txBody>
      </p:sp>
      <p:sp>
        <p:nvSpPr>
          <p:cNvPr id="10" name="Text 8"/>
          <p:cNvSpPr/>
          <p:nvPr/>
        </p:nvSpPr>
        <p:spPr>
          <a:xfrm>
            <a:off x="54086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[a]</a:t>
            </a:r>
            <a:endParaRPr lang="en-US" sz="2200" dirty="0"/>
          </a:p>
        </p:txBody>
      </p:sp>
      <p:sp>
        <p:nvSpPr>
          <p:cNvPr id="11" name="Shape 9"/>
          <p:cNvSpPr/>
          <p:nvPr/>
        </p:nvSpPr>
        <p:spPr>
          <a:xfrm>
            <a:off x="4335628" y="2468880"/>
            <a:ext cx="3520440" cy="3840480"/>
          </a:xfrm>
          <a:prstGeom prst="roundRect">
            <a:avLst>
              <a:gd name="adj" fmla="val 5195"/>
            </a:avLst>
          </a:prstGeom>
          <a:solidFill>
            <a:srgbClr val="4036ED"/>
          </a:solidFill>
          <a:ln w="12700">
            <a:solidFill>
              <a:srgbClr val="4036ED"/>
            </a:solidFill>
            <a:prstDash val="solid"/>
          </a:ln>
        </p:spPr>
      </p:sp>
      <p:sp>
        <p:nvSpPr>
          <p:cNvPr id="12" name="Text 10"/>
          <p:cNvSpPr/>
          <p:nvPr/>
        </p:nvSpPr>
        <p:spPr>
          <a:xfrm>
            <a:off x="433562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ㅡ</a:t>
            </a:r>
            <a:endParaRPr lang="en-US" sz="11000" dirty="0"/>
          </a:p>
        </p:txBody>
      </p:sp>
      <p:sp>
        <p:nvSpPr>
          <p:cNvPr id="13" name="Text 11"/>
          <p:cNvSpPr/>
          <p:nvPr/>
        </p:nvSpPr>
        <p:spPr>
          <a:xfrm>
            <a:off x="433562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horizontal</a:t>
            </a:r>
            <a:endParaRPr lang="en-US" sz="1200" dirty="0"/>
          </a:p>
        </p:txBody>
      </p:sp>
      <p:sp>
        <p:nvSpPr>
          <p:cNvPr id="14" name="Text 12"/>
          <p:cNvSpPr/>
          <p:nvPr/>
        </p:nvSpPr>
        <p:spPr>
          <a:xfrm>
            <a:off x="433562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땅 · TIERRA</a:t>
            </a:r>
            <a:endParaRPr lang="en-US" sz="1400" dirty="0"/>
          </a:p>
        </p:txBody>
      </p:sp>
      <p:sp>
        <p:nvSpPr>
          <p:cNvPr id="15" name="Text 13"/>
          <p:cNvSpPr/>
          <p:nvPr/>
        </p:nvSpPr>
        <p:spPr>
          <a:xfrm>
            <a:off x="433562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NOCHE</a:t>
            </a:r>
            <a:endParaRPr lang="en-US" sz="1100" dirty="0"/>
          </a:p>
        </p:txBody>
      </p:sp>
      <p:sp>
        <p:nvSpPr>
          <p:cNvPr id="16" name="Text 14"/>
          <p:cNvSpPr/>
          <p:nvPr/>
        </p:nvSpPr>
        <p:spPr>
          <a:xfrm>
            <a:off x="433562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[eu]</a:t>
            </a:r>
            <a:endParaRPr lang="en-US" sz="2200" dirty="0"/>
          </a:p>
        </p:txBody>
      </p:sp>
      <p:sp>
        <p:nvSpPr>
          <p:cNvPr id="17" name="Shape 15"/>
          <p:cNvSpPr/>
          <p:nvPr/>
        </p:nvSpPr>
        <p:spPr>
          <a:xfrm>
            <a:off x="8130388" y="2468880"/>
            <a:ext cx="3520440" cy="3840480"/>
          </a:xfrm>
          <a:prstGeom prst="roundRect">
            <a:avLst>
              <a:gd name="adj" fmla="val 5195"/>
            </a:avLst>
          </a:prstGeom>
          <a:solidFill>
            <a:srgbClr val="A79BFF"/>
          </a:solidFill>
          <a:ln w="12700">
            <a:solidFill>
              <a:srgbClr val="A79BFF"/>
            </a:solidFill>
            <a:prstDash val="solid"/>
          </a:ln>
        </p:spPr>
      </p:sp>
      <p:sp>
        <p:nvSpPr>
          <p:cNvPr id="18" name="Text 16"/>
          <p:cNvSpPr/>
          <p:nvPr/>
        </p:nvSpPr>
        <p:spPr>
          <a:xfrm>
            <a:off x="8130388" y="2697480"/>
            <a:ext cx="3520440" cy="1554480"/>
          </a:xfrm>
          <a:prstGeom prst="rect">
            <a:avLst/>
          </a:prstGeom>
          <a:noFill/>
          <a:ln/>
        </p:spPr>
        <p:txBody>
          <a:bodyPr wrap="square" lIns="0" tIns="0" rIns="0" bIns="0" rtlCol="0" anchor="ctr"/>
          <a:lstStyle/>
          <a:p>
            <a:pPr marL="0" indent="0" algn="ctr">
              <a:buNone/>
            </a:pPr>
            <a:r>
              <a:rPr lang="en-US" sz="11000" b="1" dirty="0">
                <a:solidFill>
                  <a:srgbClr val="F6F6F6"/>
                </a:solidFill>
                <a:latin typeface="Malgun Gothic" pitchFamily="34" charset="0"/>
                <a:ea typeface="Malgun Gothic" pitchFamily="34" charset="-122"/>
                <a:cs typeface="Malgun Gothic" pitchFamily="34" charset="-120"/>
              </a:rPr>
              <a:t>ㅣ</a:t>
            </a:r>
            <a:endParaRPr lang="en-US" sz="11000" dirty="0"/>
          </a:p>
        </p:txBody>
      </p:sp>
      <p:sp>
        <p:nvSpPr>
          <p:cNvPr id="19" name="Text 17"/>
          <p:cNvSpPr/>
          <p:nvPr/>
        </p:nvSpPr>
        <p:spPr>
          <a:xfrm>
            <a:off x="8130388" y="4297680"/>
            <a:ext cx="3520440" cy="320040"/>
          </a:xfrm>
          <a:prstGeom prst="rect">
            <a:avLst/>
          </a:prstGeom>
          <a:noFill/>
          <a:ln/>
        </p:spPr>
        <p:txBody>
          <a:bodyPr wrap="square" lIns="0" tIns="0" rIns="0" bIns="0" rtlCol="0" anchor="ctr"/>
          <a:lstStyle/>
          <a:p>
            <a:pPr marL="0" indent="0" algn="ctr">
              <a:buNone/>
            </a:pPr>
            <a:r>
              <a:rPr lang="en-US" sz="1200" i="1" dirty="0">
                <a:solidFill>
                  <a:srgbClr val="EDE8FF"/>
                </a:solidFill>
                <a:latin typeface="Calibri" pitchFamily="34" charset="0"/>
                <a:ea typeface="Calibri" pitchFamily="34" charset="-122"/>
                <a:cs typeface="Calibri" pitchFamily="34" charset="-120"/>
              </a:rPr>
              <a:t>línea vertical</a:t>
            </a:r>
            <a:endParaRPr lang="en-US" sz="1200" dirty="0"/>
          </a:p>
        </p:txBody>
      </p:sp>
      <p:sp>
        <p:nvSpPr>
          <p:cNvPr id="20" name="Text 18"/>
          <p:cNvSpPr/>
          <p:nvPr/>
        </p:nvSpPr>
        <p:spPr>
          <a:xfrm>
            <a:off x="8130388" y="4754880"/>
            <a:ext cx="3520440" cy="365760"/>
          </a:xfrm>
          <a:prstGeom prst="rect">
            <a:avLst/>
          </a:prstGeom>
          <a:noFill/>
          <a:ln/>
        </p:spPr>
        <p:txBody>
          <a:bodyPr wrap="square" lIns="0" tIns="0" rIns="0" bIns="0" rtlCol="0" anchor="ctr"/>
          <a:lstStyle/>
          <a:p>
            <a:pPr marL="0" indent="0" algn="ctr">
              <a:buNone/>
            </a:pPr>
            <a:r>
              <a:rPr lang="en-US" sz="1400" b="1" kern="0" spc="400" dirty="0">
                <a:solidFill>
                  <a:srgbClr val="F6F6F6"/>
                </a:solidFill>
                <a:latin typeface="Calibri" pitchFamily="34" charset="0"/>
                <a:ea typeface="Calibri" pitchFamily="34" charset="-122"/>
                <a:cs typeface="Calibri" pitchFamily="34" charset="-120"/>
              </a:rPr>
              <a:t>사람 · HUMANO</a:t>
            </a:r>
            <a:endParaRPr lang="en-US" sz="1400" dirty="0"/>
          </a:p>
        </p:txBody>
      </p:sp>
      <p:sp>
        <p:nvSpPr>
          <p:cNvPr id="21" name="Text 19"/>
          <p:cNvSpPr/>
          <p:nvPr/>
        </p:nvSpPr>
        <p:spPr>
          <a:xfrm>
            <a:off x="8130388" y="5166360"/>
            <a:ext cx="3520440" cy="320040"/>
          </a:xfrm>
          <a:prstGeom prst="rect">
            <a:avLst/>
          </a:prstGeom>
          <a:noFill/>
          <a:ln/>
        </p:spPr>
        <p:txBody>
          <a:bodyPr wrap="square" lIns="0" tIns="0" rIns="0" bIns="0" rtlCol="0" anchor="ctr"/>
          <a:lstStyle/>
          <a:p>
            <a:pPr marL="0" indent="0" algn="ctr">
              <a:buNone/>
            </a:pPr>
            <a:r>
              <a:rPr lang="en-US" sz="1100" b="1" kern="0" spc="600" dirty="0">
                <a:solidFill>
                  <a:srgbClr val="EDE8FF"/>
                </a:solidFill>
                <a:latin typeface="Calibri" pitchFamily="34" charset="0"/>
                <a:ea typeface="Calibri" pitchFamily="34" charset="-122"/>
                <a:cs typeface="Calibri" pitchFamily="34" charset="-120"/>
              </a:rPr>
              <a:t>EQUILIBRIO</a:t>
            </a:r>
            <a:endParaRPr lang="en-US" sz="1100" dirty="0"/>
          </a:p>
        </p:txBody>
      </p:sp>
      <p:sp>
        <p:nvSpPr>
          <p:cNvPr id="22" name="Text 20"/>
          <p:cNvSpPr/>
          <p:nvPr/>
        </p:nvSpPr>
        <p:spPr>
          <a:xfrm>
            <a:off x="8130388" y="5669280"/>
            <a:ext cx="3520440" cy="457200"/>
          </a:xfrm>
          <a:prstGeom prst="rect">
            <a:avLst/>
          </a:prstGeom>
          <a:noFill/>
          <a:ln/>
        </p:spPr>
        <p:txBody>
          <a:bodyPr wrap="square" lIns="0" tIns="0" rIns="0" bIns="0" rtlCol="0" anchor="ctr"/>
          <a:lstStyle/>
          <a:p>
            <a:pPr marL="0" indent="0" algn="ctr">
              <a:buNone/>
            </a:pPr>
            <a:r>
              <a:rPr lang="en-US" sz="2200" i="1" dirty="0">
                <a:solidFill>
                  <a:srgbClr val="F6F6F6"/>
                </a:solidFill>
                <a:latin typeface="Calibri" pitchFamily="34" charset="0"/>
                <a:ea typeface="Calibri" pitchFamily="34" charset="-122"/>
                <a:cs typeface="Calibri" pitchFamily="34" charset="-120"/>
              </a:rPr>
              <a:t>[i]</a:t>
            </a:r>
            <a:endParaRPr lang="en-US" sz="2200" dirty="0"/>
          </a:p>
        </p:txBody>
      </p:sp>
      <p:pic>
        <p:nvPicPr>
          <p:cNvPr id="23"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24"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§3 · CIENCIA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El alfabeto más científico del mundo</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Lo más cool del Hangul: cada letra ES un dibujo de tu boca cuando la pronunciás.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ㄱ se pronuncia 'g'. La lengua toca el paladar. Mirá la forma.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ㄴ se pronuncia 'n'. La lengua arriba detrás de los dientes, en 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ㅁ se pronuncia 'm'. Los labios se cierran formando un cuadrado.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Por eso Hangul es el alfabeto MÁS científico del mundo.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UNESCO lo declaró Patrimonio de la Humanidad.</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과학</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gwahak</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(ciencia)</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06  ·  TALLER</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1455D518-77A6-A1BE-2B95-1BD9E6987842}"/>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285832F8-5FC4-447D-1626-E4682FB6855C}"/>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0D04E0B0-2CA4-1727-558D-AE8FB44361CA}"/>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381FD0A2-5632-1171-23AF-89443324A51B}"/>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9DA34BBA-E8A7-4D1D-9BB1-53A0AEA0818F}"/>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955BB0F-41BE-8931-FC76-47FB8A102486}"/>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81F1044B-62FD-6123-94DE-86849A19D7CC}"/>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282E4182-4506-5CE1-A2F0-F8B1B18F0505}"/>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AFDF2672-DB2A-D509-B98F-C83821661144}"/>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DD13332D-5DCE-F5F4-8768-82569388C6C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AE58DE7B-815D-74EE-0C23-A419B64E5ECC}"/>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CBEE7B1C-7D7B-3414-9733-D4808E233439}"/>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63E25B7A-BC91-9C55-6B0E-CBDF47BE5742}"/>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A51E950A-89DF-4EF0-EA9F-884A64A33E42}"/>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5729D592-F4F2-2A9B-DA8F-2874DE2EEE5F}"/>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71F38DA4-38CB-B7E3-2679-333659FB1811}"/>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39346EFD-0541-E8E6-3EEE-D9609B52BF7A}"/>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7662A925-7DF2-4B8B-FBFC-8E5B69A8F5CD}"/>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CC5A11F4-78F6-6750-1F51-CFF054E10D68}"/>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652F02BC-83C3-4F0A-6F09-397A760520C6}"/>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970C11E5-CBC1-97D7-527C-D631680E67A9}"/>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spTree>
    <p:extLst>
      <p:ext uri="{BB962C8B-B14F-4D97-AF65-F5344CB8AC3E}">
        <p14:creationId xmlns:p14="http://schemas.microsoft.com/office/powerpoint/2010/main" val="1148775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APERTURA DE LABIOS · 입술 벌림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ㅏ y ㅓ — Cuando el humano se suma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(cielo/tierra) al lado del humano ㅣ — afuera = día, adentro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ㅣ + · → ㅏ</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ㅏ</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afuera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ㅣ → ㅓ</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ㅓ</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adentro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ㅏ</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[a] de "casa"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ㅏ</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xml:space="preserve">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말</a:t>
            </a:r>
            <a:r>
              <a:rPr lang="en-US" sz="1300" i="1" dirty="0">
                <a:solidFill>
                  <a:srgbClr val="4A4A55"/>
                </a:solidFill>
              </a:rPr>
              <a:t xml:space="preserve">   caballo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§4.1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ㅏ · La 'A' de mamá</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es una línea vertical con un puntito a la derecha.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pronuncia 'a' — igualito que la 'a' de 'mamá' en español. Súper fácil.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ㅏ. ㅏ. Repitan conmigo: ㅏ.</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el puntito te dice por DÓNDE sale el aire. A la derecha = sonido normal abierto.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아빠 → appa (papá)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사 → sa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ㅏ</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a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Como la 'a' de mamá</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08  ·  TALLER</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§1.10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ㅓ</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algo entre [e] y [o] sin redondear los labios</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ㅓ</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어머니</a:t>
            </a:r>
            <a:r>
              <a:rPr lang="en-US" sz="1300" i="1" dirty="0">
                <a:solidFill>
                  <a:srgbClr val="4A4A55"/>
                </a:solidFill>
              </a:rPr>
              <a:t xml:space="preserve">   madre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xml:space="preserve">   Seúl</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§4.2 · VOCAL</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ㅓ · La difícil para hispanos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 es la vocal MÁS difícil para hispanohablantes. Atención.</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puntito está a la IZQUIERDA. Sonido más cerrado, profundo.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NO se pronuncia 'e'. NO se pronuncia 'o'. Está EN EL MEDIO.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El truco: pongan la boca como si fueran a decir 'A' (abierta), pero saquen el sonido de 'O'.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Practica: ㅏ — ㅓ — ㅏ — ㅓ.</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어디 → eodi (¿dónde?)</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ㅓ</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eo ]</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Boca de 'a' + sonido 'o'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09  ·  TALLER</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§4.3 · VOCALES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4 fáciles · ㅗ ㅜ ㅡ ㅣ</a:t>
            </a:r>
            <a:endParaRPr lang="en-US" sz="2600" dirty="0"/>
          </a:p>
        </p:txBody>
      </p:sp>
      <p:sp>
        <p:nvSpPr>
          <p:cNvPr id="4" name="Shape 2"/>
          <p:cNvSpPr/>
          <p:nvPr/>
        </p:nvSpPr>
        <p:spPr>
          <a:xfrm>
            <a:off x="548640" y="1828800"/>
            <a:ext cx="2743200" cy="1280160"/>
          </a:xfrm>
          <a:prstGeom prst="roundRect">
            <a:avLst>
              <a:gd name="adj" fmla="val 7143"/>
            </a:avLst>
          </a:prstGeom>
          <a:solidFill>
            <a:srgbClr val="E8E5F8"/>
          </a:solidFill>
          <a:ln w="12700">
            <a:solidFill>
              <a:srgbClr val="E8E5F8"/>
            </a:solidFill>
            <a:prstDash val="solid"/>
          </a:ln>
        </p:spPr>
      </p:sp>
      <p:sp>
        <p:nvSpPr>
          <p:cNvPr id="5" name="Text 3"/>
          <p:cNvSpPr/>
          <p:nvPr/>
        </p:nvSpPr>
        <p:spPr>
          <a:xfrm>
            <a:off x="548640"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ㅗ</a:t>
            </a:r>
            <a:endParaRPr lang="en-US" sz="2200" dirty="0"/>
          </a:p>
        </p:txBody>
      </p:sp>
      <p:sp>
        <p:nvSpPr>
          <p:cNvPr id="6" name="Text 4"/>
          <p:cNvSpPr/>
          <p:nvPr/>
        </p:nvSpPr>
        <p:spPr>
          <a:xfrm>
            <a:off x="548640"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o ] como en sol</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오빠 (oppa)</a:t>
            </a:r>
            <a:endParaRPr lang="en-US" sz="1200" dirty="0"/>
          </a:p>
        </p:txBody>
      </p:sp>
      <p:sp>
        <p:nvSpPr>
          <p:cNvPr id="7" name="Shape 5"/>
          <p:cNvSpPr/>
          <p:nvPr/>
        </p:nvSpPr>
        <p:spPr>
          <a:xfrm>
            <a:off x="3410712" y="1828800"/>
            <a:ext cx="2743200" cy="1280160"/>
          </a:xfrm>
          <a:prstGeom prst="roundRect">
            <a:avLst>
              <a:gd name="adj" fmla="val 7143"/>
            </a:avLst>
          </a:prstGeom>
          <a:solidFill>
            <a:srgbClr val="FFE2E2"/>
          </a:solidFill>
          <a:ln w="12700">
            <a:solidFill>
              <a:srgbClr val="FFE2E2"/>
            </a:solidFill>
            <a:prstDash val="solid"/>
          </a:ln>
        </p:spPr>
      </p:sp>
      <p:sp>
        <p:nvSpPr>
          <p:cNvPr id="8" name="Text 6"/>
          <p:cNvSpPr/>
          <p:nvPr/>
        </p:nvSpPr>
        <p:spPr>
          <a:xfrm>
            <a:off x="3410712"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ㅜ</a:t>
            </a:r>
            <a:endParaRPr lang="en-US" sz="2200" dirty="0"/>
          </a:p>
        </p:txBody>
      </p:sp>
      <p:sp>
        <p:nvSpPr>
          <p:cNvPr id="9" name="Text 7"/>
          <p:cNvSpPr/>
          <p:nvPr/>
        </p:nvSpPr>
        <p:spPr>
          <a:xfrm>
            <a:off x="3410712"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u ] como en luna</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우유 (uyu - leche)</a:t>
            </a:r>
            <a:endParaRPr lang="en-US" sz="1200" dirty="0"/>
          </a:p>
        </p:txBody>
      </p:sp>
      <p:sp>
        <p:nvSpPr>
          <p:cNvPr id="10" name="Shape 8"/>
          <p:cNvSpPr/>
          <p:nvPr/>
        </p:nvSpPr>
        <p:spPr>
          <a:xfrm>
            <a:off x="6272784" y="1828800"/>
            <a:ext cx="2743200" cy="1280160"/>
          </a:xfrm>
          <a:prstGeom prst="roundRect">
            <a:avLst>
              <a:gd name="adj" fmla="val 7143"/>
            </a:avLst>
          </a:prstGeom>
          <a:solidFill>
            <a:srgbClr val="E8E5F8"/>
          </a:solidFill>
          <a:ln w="12700">
            <a:solidFill>
              <a:srgbClr val="E8E5F8"/>
            </a:solidFill>
            <a:prstDash val="solid"/>
          </a:ln>
        </p:spPr>
      </p:sp>
      <p:sp>
        <p:nvSpPr>
          <p:cNvPr id="11" name="Text 9"/>
          <p:cNvSpPr/>
          <p:nvPr/>
        </p:nvSpPr>
        <p:spPr>
          <a:xfrm>
            <a:off x="6272784"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ㅡ</a:t>
            </a:r>
            <a:endParaRPr lang="en-US" sz="2200" dirty="0"/>
          </a:p>
        </p:txBody>
      </p:sp>
      <p:sp>
        <p:nvSpPr>
          <p:cNvPr id="12" name="Text 10"/>
          <p:cNvSpPr/>
          <p:nvPr/>
        </p:nvSpPr>
        <p:spPr>
          <a:xfrm>
            <a:off x="6272784"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eu ] labios estirados</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그 (geu - ese)</a:t>
            </a:r>
            <a:endParaRPr lang="en-US" sz="1200" dirty="0"/>
          </a:p>
        </p:txBody>
      </p:sp>
      <p:sp>
        <p:nvSpPr>
          <p:cNvPr id="13" name="Shape 11"/>
          <p:cNvSpPr/>
          <p:nvPr/>
        </p:nvSpPr>
        <p:spPr>
          <a:xfrm>
            <a:off x="9134856" y="1828800"/>
            <a:ext cx="2743200" cy="1280160"/>
          </a:xfrm>
          <a:prstGeom prst="roundRect">
            <a:avLst>
              <a:gd name="adj" fmla="val 7143"/>
            </a:avLst>
          </a:prstGeom>
          <a:solidFill>
            <a:srgbClr val="FFE2E2"/>
          </a:solidFill>
          <a:ln w="12700">
            <a:solidFill>
              <a:srgbClr val="FFE2E2"/>
            </a:solidFill>
            <a:prstDash val="solid"/>
          </a:ln>
        </p:spPr>
      </p:sp>
      <p:sp>
        <p:nvSpPr>
          <p:cNvPr id="14" name="Text 12"/>
          <p:cNvSpPr/>
          <p:nvPr/>
        </p:nvSpPr>
        <p:spPr>
          <a:xfrm>
            <a:off x="9134856" y="1965960"/>
            <a:ext cx="2743200" cy="502920"/>
          </a:xfrm>
          <a:prstGeom prst="rect">
            <a:avLst/>
          </a:prstGeom>
          <a:noFill/>
          <a:ln/>
        </p:spPr>
        <p:txBody>
          <a:bodyPr wrap="square" rtlCol="0" anchor="ctr"/>
          <a:lstStyle/>
          <a:p>
            <a:pPr marL="0" indent="0" algn="ctr">
              <a:buNone/>
            </a:pPr>
            <a:r>
              <a:rPr lang="en-US" sz="2200" b="1" dirty="0">
                <a:solidFill>
                  <a:srgbClr val="1A1A2E"/>
                </a:solidFill>
                <a:latin typeface="Malgun Gothic" pitchFamily="34" charset="0"/>
                <a:ea typeface="Malgun Gothic" pitchFamily="34" charset="-122"/>
                <a:cs typeface="Malgun Gothic" pitchFamily="34" charset="-120"/>
              </a:rPr>
              <a:t>ㅣ</a:t>
            </a:r>
            <a:endParaRPr lang="en-US" sz="2200" dirty="0"/>
          </a:p>
        </p:txBody>
      </p:sp>
      <p:sp>
        <p:nvSpPr>
          <p:cNvPr id="15" name="Text 13"/>
          <p:cNvSpPr/>
          <p:nvPr/>
        </p:nvSpPr>
        <p:spPr>
          <a:xfrm>
            <a:off x="9134856" y="2542032"/>
            <a:ext cx="2743200" cy="50292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 i ] como en sí</a:t>
            </a:r>
            <a:endParaRPr lang="en-US" sz="1200" dirty="0"/>
          </a:p>
          <a:p>
            <a:pPr marL="0" indent="0" algn="ctr">
              <a:buNone/>
            </a:pPr>
            <a:r>
              <a:rPr lang="en-US" sz="1200" dirty="0">
                <a:solidFill>
                  <a:srgbClr val="1A1A2E"/>
                </a:solidFill>
                <a:latin typeface="Calibri" pitchFamily="34" charset="0"/>
                <a:ea typeface="Calibri" pitchFamily="34" charset="-122"/>
                <a:cs typeface="Calibri" pitchFamily="34" charset="-120"/>
              </a:rPr>
              <a:t>이 (i - este)</a:t>
            </a:r>
            <a:endParaRPr lang="en-US" sz="1200" dirty="0"/>
          </a:p>
        </p:txBody>
      </p:sp>
      <p:pic>
        <p:nvPicPr>
          <p:cNvPr id="16"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7"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8" name="Text 14"/>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9" name="Text 15"/>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10  ·  TALLER</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CIERRE DE LABIOS · 입술 오무림</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ㅗ y ㅜ — Cuando cielo y tierra se encuentran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punto (cielo) sobre la línea (tierra) → día.   El punto bajo la línea → noche.</a:t>
            </a:r>
            <a:endParaRPr lang="en-US" sz="1400" dirty="0"/>
          </a:p>
        </p:txBody>
      </p:sp>
      <p:sp>
        <p:nvSpPr>
          <p:cNvPr id="5" name="Shape 3"/>
          <p:cNvSpPr/>
          <p:nvPr/>
        </p:nvSpPr>
        <p:spPr>
          <a:xfrm>
            <a:off x="640080" y="2468880"/>
            <a:ext cx="5440680" cy="3840480"/>
          </a:xfrm>
          <a:prstGeom prst="roundRect">
            <a:avLst>
              <a:gd name="adj" fmla="val 5952"/>
            </a:avLst>
          </a:prstGeom>
          <a:solidFill>
            <a:srgbClr val="FE6768"/>
          </a:solidFill>
          <a:ln w="12700">
            <a:solidFill>
              <a:srgbClr val="FE6768"/>
            </a:solidFill>
            <a:prstDash val="solid"/>
          </a:ln>
        </p:spPr>
      </p:sp>
      <p:sp>
        <p:nvSpPr>
          <p:cNvPr id="6" name="Text 4"/>
          <p:cNvSpPr/>
          <p:nvPr/>
        </p:nvSpPr>
        <p:spPr>
          <a:xfrm>
            <a:off x="6400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 + ㅡ → ㅗ</a:t>
            </a:r>
            <a:endParaRPr lang="en-US" sz="2800" dirty="0"/>
          </a:p>
        </p:txBody>
      </p:sp>
      <p:sp>
        <p:nvSpPr>
          <p:cNvPr id="7" name="Text 5"/>
          <p:cNvSpPr/>
          <p:nvPr/>
        </p:nvSpPr>
        <p:spPr>
          <a:xfrm>
            <a:off x="6400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ㅗ</a:t>
            </a:r>
            <a:endParaRPr lang="en-US" sz="17000" dirty="0"/>
          </a:p>
        </p:txBody>
      </p:sp>
      <p:pic>
        <p:nvPicPr>
          <p:cNvPr id="8" name="Image 0" descr="preencoded.png"/>
          <p:cNvPicPr>
            <a:picLocks noChangeAspect="1"/>
          </p:cNvPicPr>
          <p:nvPr/>
        </p:nvPicPr>
        <p:blipFill>
          <a:blip r:embed="rId3"/>
          <a:stretch>
            <a:fillRect/>
          </a:stretch>
        </p:blipFill>
        <p:spPr>
          <a:xfrm>
            <a:off x="914400" y="5486400"/>
            <a:ext cx="502920" cy="502920"/>
          </a:xfrm>
          <a:prstGeom prst="rect">
            <a:avLst/>
          </a:prstGeom>
        </p:spPr>
      </p:pic>
      <p:sp>
        <p:nvSpPr>
          <p:cNvPr id="9" name="Text 6"/>
          <p:cNvSpPr/>
          <p:nvPr/>
        </p:nvSpPr>
        <p:spPr>
          <a:xfrm>
            <a:off x="15087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낮 · DÍA  ·  punto encima</a:t>
            </a:r>
            <a:endParaRPr lang="en-US" sz="1400" dirty="0"/>
          </a:p>
        </p:txBody>
      </p:sp>
      <p:sp>
        <p:nvSpPr>
          <p:cNvPr id="10" name="Shape 7"/>
          <p:cNvSpPr/>
          <p:nvPr/>
        </p:nvSpPr>
        <p:spPr>
          <a:xfrm>
            <a:off x="6126480" y="2468880"/>
            <a:ext cx="5440680" cy="3840480"/>
          </a:xfrm>
          <a:prstGeom prst="roundRect">
            <a:avLst>
              <a:gd name="adj" fmla="val 5952"/>
            </a:avLst>
          </a:prstGeom>
          <a:solidFill>
            <a:srgbClr val="4036ED"/>
          </a:solidFill>
          <a:ln w="12700">
            <a:solidFill>
              <a:srgbClr val="4036ED"/>
            </a:solidFill>
            <a:prstDash val="solid"/>
          </a:ln>
        </p:spPr>
      </p:sp>
      <p:sp>
        <p:nvSpPr>
          <p:cNvPr id="11" name="Text 8"/>
          <p:cNvSpPr/>
          <p:nvPr/>
        </p:nvSpPr>
        <p:spPr>
          <a:xfrm>
            <a:off x="6126480" y="2651760"/>
            <a:ext cx="5440680" cy="640080"/>
          </a:xfrm>
          <a:prstGeom prst="rect">
            <a:avLst/>
          </a:prstGeom>
          <a:noFill/>
          <a:ln/>
        </p:spPr>
        <p:txBody>
          <a:bodyPr wrap="square" lIns="0" tIns="0" rIns="0" bIns="0" rtlCol="0" anchor="ctr"/>
          <a:lstStyle/>
          <a:p>
            <a:pPr marL="0" indent="0" algn="ctr">
              <a:buNone/>
            </a:pPr>
            <a:r>
              <a:rPr lang="en-US" sz="2800" dirty="0">
                <a:solidFill>
                  <a:srgbClr val="F6F6F6"/>
                </a:solidFill>
                <a:latin typeface="Malgun Gothic" pitchFamily="34" charset="0"/>
                <a:ea typeface="Malgun Gothic" pitchFamily="34" charset="-122"/>
                <a:cs typeface="Malgun Gothic" pitchFamily="34" charset="-120"/>
              </a:rPr>
              <a:t>ㅡ + · → ㅜ</a:t>
            </a:r>
            <a:endParaRPr lang="en-US" sz="2800" dirty="0"/>
          </a:p>
        </p:txBody>
      </p:sp>
      <p:sp>
        <p:nvSpPr>
          <p:cNvPr id="12" name="Text 9"/>
          <p:cNvSpPr/>
          <p:nvPr/>
        </p:nvSpPr>
        <p:spPr>
          <a:xfrm>
            <a:off x="6126480" y="3246120"/>
            <a:ext cx="5440680" cy="2103120"/>
          </a:xfrm>
          <a:prstGeom prst="rect">
            <a:avLst/>
          </a:prstGeom>
          <a:noFill/>
          <a:ln/>
        </p:spPr>
        <p:txBody>
          <a:bodyPr wrap="square" lIns="0" tIns="0" rIns="0" bIns="0" rtlCol="0" anchor="ctr"/>
          <a:lstStyle/>
          <a:p>
            <a:pPr marL="0" indent="0" algn="ctr">
              <a:buNone/>
            </a:pPr>
            <a:r>
              <a:rPr lang="en-US" sz="17000" b="1" dirty="0">
                <a:solidFill>
                  <a:srgbClr val="F6F6F6"/>
                </a:solidFill>
                <a:latin typeface="Malgun Gothic" pitchFamily="34" charset="0"/>
                <a:ea typeface="Malgun Gothic" pitchFamily="34" charset="-122"/>
                <a:cs typeface="Malgun Gothic" pitchFamily="34" charset="-120"/>
              </a:rPr>
              <a:t>ㅜ</a:t>
            </a:r>
            <a:endParaRPr lang="en-US" sz="17000" dirty="0"/>
          </a:p>
        </p:txBody>
      </p:sp>
      <p:pic>
        <p:nvPicPr>
          <p:cNvPr id="13" name="Image 1" descr="preencoded.png"/>
          <p:cNvPicPr>
            <a:picLocks noChangeAspect="1"/>
          </p:cNvPicPr>
          <p:nvPr/>
        </p:nvPicPr>
        <p:blipFill>
          <a:blip r:embed="rId4"/>
          <a:stretch>
            <a:fillRect/>
          </a:stretch>
        </p:blipFill>
        <p:spPr>
          <a:xfrm>
            <a:off x="6400800" y="5486400"/>
            <a:ext cx="502920" cy="502920"/>
          </a:xfrm>
          <a:prstGeom prst="rect">
            <a:avLst/>
          </a:prstGeom>
        </p:spPr>
      </p:pic>
      <p:sp>
        <p:nvSpPr>
          <p:cNvPr id="14" name="Text 10"/>
          <p:cNvSpPr/>
          <p:nvPr/>
        </p:nvSpPr>
        <p:spPr>
          <a:xfrm>
            <a:off x="6995160" y="5532120"/>
            <a:ext cx="4297680" cy="411480"/>
          </a:xfrm>
          <a:prstGeom prst="rect">
            <a:avLst/>
          </a:prstGeom>
          <a:noFill/>
          <a:ln/>
        </p:spPr>
        <p:txBody>
          <a:bodyPr wrap="square" lIns="0" tIns="0" rIns="0" bIns="0" rtlCol="0" anchor="ctr"/>
          <a:lstStyle/>
          <a:p>
            <a:pPr marL="0" indent="0">
              <a:buNone/>
            </a:pPr>
            <a:r>
              <a:rPr lang="en-US" sz="1400" b="1" kern="0" spc="300" dirty="0">
                <a:solidFill>
                  <a:srgbClr val="F6F6F6"/>
                </a:solidFill>
                <a:latin typeface="Calibri" pitchFamily="34" charset="0"/>
                <a:ea typeface="Calibri" pitchFamily="34" charset="-122"/>
                <a:cs typeface="Calibri" pitchFamily="34" charset="-120"/>
              </a:rPr>
              <a:t>밤 · NOCHE  ·  punto debajo</a:t>
            </a:r>
            <a:endParaRPr lang="en-US" sz="1400" dirty="0"/>
          </a:p>
        </p:txBody>
      </p:sp>
      <p:pic>
        <p:nvPicPr>
          <p:cNvPr id="15"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16" name="Text 1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17" name="Text 1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ㅗ</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[o] de "oso"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ㅗ</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오빠</a:t>
            </a:r>
            <a:r>
              <a:rPr lang="en-US" sz="1300" i="1" dirty="0">
                <a:solidFill>
                  <a:srgbClr val="4A4A55"/>
                </a:solidFill>
              </a:rPr>
              <a:t xml:space="preserve">   hermano mayor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xml:space="preserve">   nariz</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§1.9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ㅜ</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[u] de "uno"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ㅜ</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xml:space="preserve">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구두</a:t>
            </a:r>
            <a:r>
              <a:rPr lang="en-US" sz="1300" i="1" dirty="0">
                <a:solidFill>
                  <a:srgbClr val="4A4A55"/>
                </a:solidFill>
              </a:rPr>
              <a:t xml:space="preserve">   zapatos</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Vocales con sonido humano inicial</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Cuando el humano (ㅣ) toma la palabra primero — antes de cada vocal añadimos un breve [i].</a:t>
            </a:r>
            <a:endParaRPr lang="en-US" sz="1400" dirty="0"/>
          </a:p>
        </p:txBody>
      </p:sp>
      <p:sp>
        <p:nvSpPr>
          <p:cNvPr id="5" name="Shape 3"/>
          <p:cNvSpPr/>
          <p:nvPr/>
        </p:nvSpPr>
        <p:spPr>
          <a:xfrm>
            <a:off x="540868" y="2697480"/>
            <a:ext cx="2606040" cy="33832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ㅗ</a:t>
            </a:r>
            <a:endParaRPr lang="en-US" sz="2200" dirty="0"/>
          </a:p>
        </p:txBody>
      </p:sp>
      <p:sp>
        <p:nvSpPr>
          <p:cNvPr id="7" name="Text 5"/>
          <p:cNvSpPr/>
          <p:nvPr/>
        </p:nvSpPr>
        <p:spPr>
          <a:xfrm>
            <a:off x="54086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8" name="Text 6"/>
          <p:cNvSpPr/>
          <p:nvPr/>
        </p:nvSpPr>
        <p:spPr>
          <a:xfrm>
            <a:off x="54086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ㅛ</a:t>
            </a:r>
            <a:endParaRPr lang="en-US" sz="10000" dirty="0"/>
          </a:p>
        </p:txBody>
      </p:sp>
      <p:sp>
        <p:nvSpPr>
          <p:cNvPr id="9" name="Text 7"/>
          <p:cNvSpPr/>
          <p:nvPr/>
        </p:nvSpPr>
        <p:spPr>
          <a:xfrm>
            <a:off x="54086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yo</a:t>
            </a:r>
            <a:endParaRPr lang="en-US" sz="2200" dirty="0"/>
          </a:p>
        </p:txBody>
      </p:sp>
      <p:sp>
        <p:nvSpPr>
          <p:cNvPr id="10" name="Text 8"/>
          <p:cNvSpPr/>
          <p:nvPr/>
        </p:nvSpPr>
        <p:spPr>
          <a:xfrm>
            <a:off x="54086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11" name="Shape 9"/>
          <p:cNvSpPr/>
          <p:nvPr/>
        </p:nvSpPr>
        <p:spPr>
          <a:xfrm>
            <a:off x="3375508" y="2697480"/>
            <a:ext cx="2606040" cy="3383280"/>
          </a:xfrm>
          <a:prstGeom prst="roundRect">
            <a:avLst>
              <a:gd name="adj" fmla="val 6316"/>
            </a:avLst>
          </a:prstGeom>
          <a:solidFill>
            <a:srgbClr val="EDE8FF"/>
          </a:solidFill>
          <a:ln w="19050">
            <a:solidFill>
              <a:srgbClr val="4036ED"/>
            </a:solidFill>
            <a:prstDash val="solid"/>
          </a:ln>
        </p:spPr>
      </p:sp>
      <p:sp>
        <p:nvSpPr>
          <p:cNvPr id="12" name="Text 10"/>
          <p:cNvSpPr/>
          <p:nvPr/>
        </p:nvSpPr>
        <p:spPr>
          <a:xfrm>
            <a:off x="337550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ㅜ</a:t>
            </a:r>
            <a:endParaRPr lang="en-US" sz="2200" dirty="0"/>
          </a:p>
        </p:txBody>
      </p:sp>
      <p:sp>
        <p:nvSpPr>
          <p:cNvPr id="13" name="Text 11"/>
          <p:cNvSpPr/>
          <p:nvPr/>
        </p:nvSpPr>
        <p:spPr>
          <a:xfrm>
            <a:off x="337550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14" name="Text 12"/>
          <p:cNvSpPr/>
          <p:nvPr/>
        </p:nvSpPr>
        <p:spPr>
          <a:xfrm>
            <a:off x="337550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ㅠ</a:t>
            </a:r>
            <a:endParaRPr lang="en-US" sz="10000" dirty="0"/>
          </a:p>
        </p:txBody>
      </p:sp>
      <p:sp>
        <p:nvSpPr>
          <p:cNvPr id="15" name="Text 13"/>
          <p:cNvSpPr/>
          <p:nvPr/>
        </p:nvSpPr>
        <p:spPr>
          <a:xfrm>
            <a:off x="337550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yu</a:t>
            </a:r>
            <a:endParaRPr lang="en-US" sz="2200" dirty="0"/>
          </a:p>
        </p:txBody>
      </p:sp>
      <p:sp>
        <p:nvSpPr>
          <p:cNvPr id="16" name="Text 14"/>
          <p:cNvSpPr/>
          <p:nvPr/>
        </p:nvSpPr>
        <p:spPr>
          <a:xfrm>
            <a:off x="337550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sp>
        <p:nvSpPr>
          <p:cNvPr id="17" name="Shape 15"/>
          <p:cNvSpPr/>
          <p:nvPr/>
        </p:nvSpPr>
        <p:spPr>
          <a:xfrm>
            <a:off x="6210148" y="2697480"/>
            <a:ext cx="2606040" cy="3383280"/>
          </a:xfrm>
          <a:prstGeom prst="roundRect">
            <a:avLst>
              <a:gd name="adj" fmla="val 6316"/>
            </a:avLst>
          </a:prstGeom>
          <a:solidFill>
            <a:srgbClr val="FFE0E0"/>
          </a:solidFill>
          <a:ln w="19050">
            <a:solidFill>
              <a:srgbClr val="FE6768"/>
            </a:solidFill>
            <a:prstDash val="solid"/>
          </a:ln>
        </p:spPr>
      </p:sp>
      <p:sp>
        <p:nvSpPr>
          <p:cNvPr id="18" name="Text 16"/>
          <p:cNvSpPr/>
          <p:nvPr/>
        </p:nvSpPr>
        <p:spPr>
          <a:xfrm>
            <a:off x="6210148" y="2880360"/>
            <a:ext cx="2606040" cy="457200"/>
          </a:xfrm>
          <a:prstGeom prst="rect">
            <a:avLst/>
          </a:prstGeom>
          <a:noFill/>
          <a:ln/>
        </p:spPr>
        <p:txBody>
          <a:bodyPr wrap="square" lIns="0" tIns="0" rIns="0" bIns="0" rtlCol="0" anchor="ctr"/>
          <a:lstStyle/>
          <a:p>
            <a:pPr marL="0" indent="0" algn="ctr">
              <a:buNone/>
            </a:pPr>
            <a:r>
              <a:rPr lang="en-US" sz="2200" dirty="0">
                <a:solidFill>
                  <a:srgbClr val="FE6768"/>
                </a:solidFill>
                <a:latin typeface="Malgun Gothic" pitchFamily="34" charset="0"/>
                <a:ea typeface="Malgun Gothic" pitchFamily="34" charset="-122"/>
                <a:cs typeface="Malgun Gothic" pitchFamily="34" charset="-120"/>
              </a:rPr>
              <a:t>ㅣ + ㅏ</a:t>
            </a:r>
            <a:endParaRPr lang="en-US" sz="2200" dirty="0"/>
          </a:p>
        </p:txBody>
      </p:sp>
      <p:sp>
        <p:nvSpPr>
          <p:cNvPr id="19" name="Text 17"/>
          <p:cNvSpPr/>
          <p:nvPr/>
        </p:nvSpPr>
        <p:spPr>
          <a:xfrm>
            <a:off x="6210148" y="3383280"/>
            <a:ext cx="2606040" cy="365760"/>
          </a:xfrm>
          <a:prstGeom prst="rect">
            <a:avLst/>
          </a:prstGeom>
          <a:noFill/>
          <a:ln/>
        </p:spPr>
        <p:txBody>
          <a:bodyPr wrap="square" lIns="0" tIns="0" rIns="0" bIns="0" rtlCol="0" anchor="ctr"/>
          <a:lstStyle/>
          <a:p>
            <a:pPr marL="0" indent="0" algn="ctr">
              <a:buNone/>
            </a:pPr>
            <a:r>
              <a:rPr lang="en-US" sz="2200" b="1" dirty="0">
                <a:solidFill>
                  <a:srgbClr val="FE6768"/>
                </a:solidFill>
              </a:rPr>
              <a:t>=</a:t>
            </a:r>
            <a:endParaRPr lang="en-US" sz="2200" dirty="0"/>
          </a:p>
        </p:txBody>
      </p:sp>
      <p:sp>
        <p:nvSpPr>
          <p:cNvPr id="20" name="Text 18"/>
          <p:cNvSpPr/>
          <p:nvPr/>
        </p:nvSpPr>
        <p:spPr>
          <a:xfrm>
            <a:off x="6210148" y="3703320"/>
            <a:ext cx="2606040" cy="1554480"/>
          </a:xfrm>
          <a:prstGeom prst="rect">
            <a:avLst/>
          </a:prstGeom>
          <a:noFill/>
          <a:ln/>
        </p:spPr>
        <p:txBody>
          <a:bodyPr wrap="square" lIns="0" tIns="0" rIns="0" bIns="0" rtlCol="0" anchor="ctr"/>
          <a:lstStyle/>
          <a:p>
            <a:pPr marL="0" indent="0" algn="ctr">
              <a:buNone/>
            </a:pPr>
            <a:r>
              <a:rPr lang="en-US" sz="10000" b="1" dirty="0">
                <a:solidFill>
                  <a:srgbClr val="FE6768"/>
                </a:solidFill>
                <a:latin typeface="Malgun Gothic" pitchFamily="34" charset="0"/>
                <a:ea typeface="Malgun Gothic" pitchFamily="34" charset="-122"/>
                <a:cs typeface="Malgun Gothic" pitchFamily="34" charset="-120"/>
              </a:rPr>
              <a:t>ㅑ</a:t>
            </a:r>
            <a:endParaRPr lang="en-US" sz="10000" dirty="0"/>
          </a:p>
        </p:txBody>
      </p:sp>
      <p:sp>
        <p:nvSpPr>
          <p:cNvPr id="21" name="Text 19"/>
          <p:cNvSpPr/>
          <p:nvPr/>
        </p:nvSpPr>
        <p:spPr>
          <a:xfrm>
            <a:off x="621014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ya</a:t>
            </a:r>
            <a:endParaRPr lang="en-US" sz="2200" dirty="0"/>
          </a:p>
        </p:txBody>
      </p:sp>
      <p:sp>
        <p:nvSpPr>
          <p:cNvPr id="22" name="Text 20"/>
          <p:cNvSpPr/>
          <p:nvPr/>
        </p:nvSpPr>
        <p:spPr>
          <a:xfrm>
            <a:off x="621014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FE6768"/>
                </a:solidFill>
                <a:latin typeface="Calibri" pitchFamily="34" charset="0"/>
                <a:ea typeface="Calibri" pitchFamily="34" charset="-122"/>
                <a:cs typeface="Calibri" pitchFamily="34" charset="-120"/>
              </a:rPr>
              <a:t>낮 · DÍA</a:t>
            </a:r>
            <a:endParaRPr lang="en-US" sz="900" dirty="0"/>
          </a:p>
        </p:txBody>
      </p:sp>
      <p:sp>
        <p:nvSpPr>
          <p:cNvPr id="23" name="Shape 21"/>
          <p:cNvSpPr/>
          <p:nvPr/>
        </p:nvSpPr>
        <p:spPr>
          <a:xfrm>
            <a:off x="9044788" y="2697480"/>
            <a:ext cx="2606040" cy="3383280"/>
          </a:xfrm>
          <a:prstGeom prst="roundRect">
            <a:avLst>
              <a:gd name="adj" fmla="val 6316"/>
            </a:avLst>
          </a:prstGeom>
          <a:solidFill>
            <a:srgbClr val="EDE8FF"/>
          </a:solidFill>
          <a:ln w="19050">
            <a:solidFill>
              <a:srgbClr val="4036ED"/>
            </a:solidFill>
            <a:prstDash val="solid"/>
          </a:ln>
        </p:spPr>
      </p:sp>
      <p:sp>
        <p:nvSpPr>
          <p:cNvPr id="24" name="Text 22"/>
          <p:cNvSpPr/>
          <p:nvPr/>
        </p:nvSpPr>
        <p:spPr>
          <a:xfrm>
            <a:off x="9044788" y="2880360"/>
            <a:ext cx="2606040" cy="457200"/>
          </a:xfrm>
          <a:prstGeom prst="rect">
            <a:avLst/>
          </a:prstGeom>
          <a:noFill/>
          <a:ln/>
        </p:spPr>
        <p:txBody>
          <a:bodyPr wrap="square" lIns="0" tIns="0" rIns="0" bIns="0" rtlCol="0" anchor="ctr"/>
          <a:lstStyle/>
          <a:p>
            <a:pPr marL="0" indent="0" algn="ctr">
              <a:buNone/>
            </a:pPr>
            <a:r>
              <a:rPr lang="en-US" sz="2200" dirty="0">
                <a:solidFill>
                  <a:srgbClr val="4036ED"/>
                </a:solidFill>
                <a:latin typeface="Malgun Gothic" pitchFamily="34" charset="0"/>
                <a:ea typeface="Malgun Gothic" pitchFamily="34" charset="-122"/>
                <a:cs typeface="Malgun Gothic" pitchFamily="34" charset="-120"/>
              </a:rPr>
              <a:t>ㅣ + ㅓ</a:t>
            </a:r>
            <a:endParaRPr lang="en-US" sz="2200" dirty="0"/>
          </a:p>
        </p:txBody>
      </p:sp>
      <p:sp>
        <p:nvSpPr>
          <p:cNvPr id="25" name="Text 23"/>
          <p:cNvSpPr/>
          <p:nvPr/>
        </p:nvSpPr>
        <p:spPr>
          <a:xfrm>
            <a:off x="9044788" y="3383280"/>
            <a:ext cx="2606040" cy="365760"/>
          </a:xfrm>
          <a:prstGeom prst="rect">
            <a:avLst/>
          </a:prstGeom>
          <a:noFill/>
          <a:ln/>
        </p:spPr>
        <p:txBody>
          <a:bodyPr wrap="square" lIns="0" tIns="0" rIns="0" bIns="0" rtlCol="0" anchor="ctr"/>
          <a:lstStyle/>
          <a:p>
            <a:pPr marL="0" indent="0" algn="ctr">
              <a:buNone/>
            </a:pPr>
            <a:r>
              <a:rPr lang="en-US" sz="2200" b="1" dirty="0">
                <a:solidFill>
                  <a:srgbClr val="4036ED"/>
                </a:solidFill>
              </a:rPr>
              <a:t>=</a:t>
            </a:r>
            <a:endParaRPr lang="en-US" sz="2200" dirty="0"/>
          </a:p>
        </p:txBody>
      </p:sp>
      <p:sp>
        <p:nvSpPr>
          <p:cNvPr id="26" name="Text 24"/>
          <p:cNvSpPr/>
          <p:nvPr/>
        </p:nvSpPr>
        <p:spPr>
          <a:xfrm>
            <a:off x="9044788" y="3703320"/>
            <a:ext cx="2606040" cy="1554480"/>
          </a:xfrm>
          <a:prstGeom prst="rect">
            <a:avLst/>
          </a:prstGeom>
          <a:noFill/>
          <a:ln/>
        </p:spPr>
        <p:txBody>
          <a:bodyPr wrap="square" lIns="0" tIns="0" rIns="0" bIns="0" rtlCol="0" anchor="ctr"/>
          <a:lstStyle/>
          <a:p>
            <a:pPr marL="0" indent="0" algn="ctr">
              <a:buNone/>
            </a:pPr>
            <a:r>
              <a:rPr lang="en-US" sz="10000" b="1" dirty="0">
                <a:solidFill>
                  <a:srgbClr val="4036ED"/>
                </a:solidFill>
                <a:latin typeface="Malgun Gothic" pitchFamily="34" charset="0"/>
                <a:ea typeface="Malgun Gothic" pitchFamily="34" charset="-122"/>
                <a:cs typeface="Malgun Gothic" pitchFamily="34" charset="-120"/>
              </a:rPr>
              <a:t>ㅕ</a:t>
            </a:r>
            <a:endParaRPr lang="en-US" sz="10000" dirty="0"/>
          </a:p>
        </p:txBody>
      </p:sp>
      <p:sp>
        <p:nvSpPr>
          <p:cNvPr id="27" name="Text 25"/>
          <p:cNvSpPr/>
          <p:nvPr/>
        </p:nvSpPr>
        <p:spPr>
          <a:xfrm>
            <a:off x="9044788" y="5303520"/>
            <a:ext cx="2606040" cy="457200"/>
          </a:xfrm>
          <a:prstGeom prst="rect">
            <a:avLst/>
          </a:prstGeom>
          <a:noFill/>
          <a:ln/>
        </p:spPr>
        <p:txBody>
          <a:bodyPr wrap="square" lIns="0" tIns="0" rIns="0" bIns="0" rtlCol="0" anchor="ctr"/>
          <a:lstStyle/>
          <a:p>
            <a:pPr marL="0" indent="0" algn="ctr">
              <a:buNone/>
            </a:pPr>
            <a:r>
              <a:rPr lang="en-US" sz="2200" b="1" i="1" dirty="0">
                <a:solidFill>
                  <a:srgbClr val="1E1E2A"/>
                </a:solidFill>
                <a:latin typeface="Calibri" pitchFamily="34" charset="0"/>
                <a:ea typeface="Calibri" pitchFamily="34" charset="-122"/>
                <a:cs typeface="Calibri" pitchFamily="34" charset="-120"/>
              </a:rPr>
              <a:t>yeo</a:t>
            </a:r>
            <a:endParaRPr lang="en-US" sz="2200" dirty="0"/>
          </a:p>
        </p:txBody>
      </p:sp>
      <p:sp>
        <p:nvSpPr>
          <p:cNvPr id="28" name="Text 26"/>
          <p:cNvSpPr/>
          <p:nvPr/>
        </p:nvSpPr>
        <p:spPr>
          <a:xfrm>
            <a:off x="9044788" y="5760720"/>
            <a:ext cx="2606040" cy="274320"/>
          </a:xfrm>
          <a:prstGeom prst="rect">
            <a:avLst/>
          </a:prstGeom>
          <a:noFill/>
          <a:ln/>
        </p:spPr>
        <p:txBody>
          <a:bodyPr wrap="square" lIns="0" tIns="0" rIns="0" bIns="0" rtlCol="0" anchor="ctr"/>
          <a:lstStyle/>
          <a:p>
            <a:pPr marL="0" indent="0" algn="ctr">
              <a:buNone/>
            </a:pPr>
            <a:r>
              <a:rPr lang="en-US" sz="900" b="1" kern="0" spc="400" dirty="0">
                <a:solidFill>
                  <a:srgbClr val="4036ED"/>
                </a:solidFill>
                <a:latin typeface="Calibri" pitchFamily="34" charset="0"/>
                <a:ea typeface="Calibri" pitchFamily="34" charset="-122"/>
                <a:cs typeface="Calibri" pitchFamily="34" charset="-120"/>
              </a:rPr>
              <a:t>밤 · NOCHE</a:t>
            </a:r>
            <a:endParaRPr lang="en-US" sz="900" dirty="0"/>
          </a:p>
        </p:txBody>
      </p:sp>
      <p:pic>
        <p:nvPicPr>
          <p:cNvPr id="29"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0" name="Text 27"/>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1" name="Text 28"/>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ㅛ</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[yo] de "yodo"</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ㅛ</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요리</a:t>
            </a:r>
            <a:r>
              <a:rPr lang="en-US" sz="1300" i="1" dirty="0">
                <a:solidFill>
                  <a:srgbClr val="4A4A55"/>
                </a:solidFill>
              </a:rPr>
              <a:t xml:space="preserve">   cocina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교실</a:t>
            </a:r>
            <a:r>
              <a:rPr lang="en-US" sz="1300" i="1" dirty="0">
                <a:solidFill>
                  <a:srgbClr val="4A4A55"/>
                </a:solidFill>
              </a:rPr>
              <a:t xml:space="preserve">   aula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21</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ㅠ</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[yu] de "yuca"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ㅠ</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"yu"</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우유</a:t>
            </a:r>
            <a:r>
              <a:rPr lang="en-US" sz="1300" i="1" dirty="0">
                <a:solidFill>
                  <a:srgbClr val="4A4A55"/>
                </a:solidFill>
              </a:rPr>
              <a:t xml:space="preserve">   leche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유리</a:t>
            </a:r>
            <a:r>
              <a:rPr lang="en-US" sz="1300" i="1" dirty="0">
                <a:solidFill>
                  <a:srgbClr val="4A4A55"/>
                </a:solidFill>
              </a:rPr>
              <a:t xml:space="preserve">   vidrio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ㅑ</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sonido similar a [ya] de "ya"</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낮 · DÍA</a:t>
            </a:r>
            <a:endParaRPr lang="en-US" sz="1100" dirty="0"/>
          </a:p>
        </p:txBody>
      </p:sp>
      <p:sp>
        <p:nvSpPr>
          <p:cNvPr id="7" name="Shape 4"/>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ㅑ</a:t>
            </a:r>
            <a:endParaRPr lang="en-US" sz="24000" dirty="0"/>
          </a:p>
        </p:txBody>
      </p:sp>
      <p:sp>
        <p:nvSpPr>
          <p:cNvPr id="9" name="Shape 6"/>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"ya"</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야구</a:t>
            </a:r>
            <a:r>
              <a:rPr lang="en-US" sz="1300" i="1" dirty="0">
                <a:solidFill>
                  <a:srgbClr val="4A4A55"/>
                </a:solidFill>
              </a:rPr>
              <a:t xml:space="preserve">   béisbol</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이야기</a:t>
            </a:r>
            <a:r>
              <a:rPr lang="en-US" sz="1300" i="1" dirty="0">
                <a:solidFill>
                  <a:srgbClr val="4A4A55"/>
                </a:solidFill>
              </a:rPr>
              <a:t xml:space="preserve">   historia</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23</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§1.12 · VOCAL</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Vocal · ㅕ</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piensa en una "y" seguida de ㅓ</a:t>
            </a:r>
            <a:endParaRPr lang="en-US" sz="1400" dirty="0"/>
          </a:p>
        </p:txBody>
      </p:sp>
      <p:pic>
        <p:nvPicPr>
          <p:cNvPr id="5" name="Image 0" descr="preencoded.png"/>
          <p:cNvPicPr>
            <a:picLocks noChangeAspect="1"/>
          </p:cNvPicPr>
          <p:nvPr/>
        </p:nvPicPr>
        <p:blipFill>
          <a:blip r:embed="rId3"/>
          <a:stretch>
            <a:fillRect/>
          </a:stretch>
        </p:blipFill>
        <p:spPr>
          <a:xfrm>
            <a:off x="11231575" y="822960"/>
            <a:ext cx="502920" cy="502920"/>
          </a:xfrm>
          <a:prstGeom prst="rect">
            <a:avLst/>
          </a:prstGeom>
        </p:spPr>
      </p:pic>
      <p:sp>
        <p:nvSpPr>
          <p:cNvPr id="6" name="Text 3"/>
          <p:cNvSpPr/>
          <p:nvPr/>
        </p:nvSpPr>
        <p:spPr>
          <a:xfrm>
            <a:off x="9768535" y="886968"/>
            <a:ext cx="141732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밤 · NOCHE</a:t>
            </a:r>
            <a:endParaRPr lang="en-US" sz="1100" dirty="0"/>
          </a:p>
        </p:txBody>
      </p:sp>
      <p:sp>
        <p:nvSpPr>
          <p:cNvPr id="7" name="Shape 4"/>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5"/>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ㅕ</a:t>
            </a:r>
            <a:endParaRPr lang="en-US" sz="24000" dirty="0"/>
          </a:p>
        </p:txBody>
      </p:sp>
      <p:sp>
        <p:nvSpPr>
          <p:cNvPr id="9" name="Shape 6"/>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7"/>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8"/>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"yeo"</a:t>
            </a:r>
            <a:endParaRPr lang="en-US" sz="3800" dirty="0"/>
          </a:p>
        </p:txBody>
      </p:sp>
      <p:sp>
        <p:nvSpPr>
          <p:cNvPr id="12" name="Shape 9"/>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0"/>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1" descr="preencoded.png"/>
          <p:cNvPicPr>
            <a:picLocks noChangeAspect="1"/>
          </p:cNvPicPr>
          <p:nvPr/>
        </p:nvPicPr>
        <p:blipFill>
          <a:blip r:embed="rId4"/>
          <a:stretch>
            <a:fillRect/>
          </a:stretch>
        </p:blipFill>
        <p:spPr>
          <a:xfrm>
            <a:off x="6606540" y="4251960"/>
            <a:ext cx="1600200" cy="1600200"/>
          </a:xfrm>
          <a:prstGeom prst="rect">
            <a:avLst/>
          </a:prstGeom>
        </p:spPr>
      </p:pic>
      <p:sp>
        <p:nvSpPr>
          <p:cNvPr id="15" name="Text 11"/>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2"/>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3"/>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4"/>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여자</a:t>
            </a:r>
            <a:r>
              <a:rPr lang="en-US" sz="1300" i="1" dirty="0">
                <a:solidFill>
                  <a:srgbClr val="4A4A55"/>
                </a:solidFill>
              </a:rPr>
              <a:t xml:space="preserve">   mujer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겨울</a:t>
            </a:r>
            <a:r>
              <a:rPr lang="en-US" sz="1300" i="1" dirty="0">
                <a:solidFill>
                  <a:srgbClr val="4A4A55"/>
                </a:solidFill>
              </a:rPr>
              <a:t xml:space="preserve">   invierno</a:t>
            </a:r>
            <a:endParaRPr lang="en-US" sz="2200" dirty="0"/>
          </a:p>
        </p:txBody>
      </p:sp>
      <p:pic>
        <p:nvPicPr>
          <p:cNvPr id="19" name="Image 2" descr="preencoded.png"/>
          <p:cNvPicPr>
            <a:picLocks noChangeAspect="1"/>
          </p:cNvPicPr>
          <p:nvPr/>
        </p:nvPicPr>
        <p:blipFill>
          <a:blip r:embed="rId5"/>
          <a:stretch>
            <a:fillRect/>
          </a:stretch>
        </p:blipFill>
        <p:spPr>
          <a:xfrm>
            <a:off x="11597335" y="182880"/>
            <a:ext cx="292608" cy="292608"/>
          </a:xfrm>
          <a:prstGeom prst="rect">
            <a:avLst/>
          </a:prstGeom>
        </p:spPr>
      </p:pic>
      <p:sp>
        <p:nvSpPr>
          <p:cNvPr id="20" name="Text 1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§1.13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11 vocales fundamentales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Cinco vocales día (낮)  ·  cinco vocales noche (밤)  ·  una vocal de equilibrio.</a:t>
            </a:r>
            <a:endParaRPr lang="en-US" sz="1400" dirty="0"/>
          </a:p>
        </p:txBody>
      </p:sp>
      <p:sp>
        <p:nvSpPr>
          <p:cNvPr id="5" name="Shape 3"/>
          <p:cNvSpPr/>
          <p:nvPr/>
        </p:nvSpPr>
        <p:spPr>
          <a:xfrm>
            <a:off x="640080" y="2468880"/>
            <a:ext cx="4572000" cy="3840480"/>
          </a:xfrm>
          <a:prstGeom prst="roundRect">
            <a:avLst>
              <a:gd name="adj" fmla="val 4762"/>
            </a:avLst>
          </a:prstGeom>
          <a:solidFill>
            <a:srgbClr val="FE6768"/>
          </a:solidFill>
          <a:ln w="12700">
            <a:solidFill>
              <a:srgbClr val="FE6768"/>
            </a:solidFill>
            <a:prstDash val="solid"/>
          </a:ln>
        </p:spPr>
      </p:sp>
      <p:pic>
        <p:nvPicPr>
          <p:cNvPr id="6" name="Image 0" descr="preencoded.png"/>
          <p:cNvPicPr>
            <a:picLocks noChangeAspect="1"/>
          </p:cNvPicPr>
          <p:nvPr/>
        </p:nvPicPr>
        <p:blipFill>
          <a:blip r:embed="rId3"/>
          <a:stretch>
            <a:fillRect/>
          </a:stretch>
        </p:blipFill>
        <p:spPr>
          <a:xfrm>
            <a:off x="914400" y="2606040"/>
            <a:ext cx="502920" cy="502920"/>
          </a:xfrm>
          <a:prstGeom prst="rect">
            <a:avLst/>
          </a:prstGeom>
        </p:spPr>
      </p:pic>
      <p:sp>
        <p:nvSpPr>
          <p:cNvPr id="7" name="Text 4"/>
          <p:cNvSpPr/>
          <p:nvPr/>
        </p:nvSpPr>
        <p:spPr>
          <a:xfrm>
            <a:off x="150876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낮 · DÍA</a:t>
            </a:r>
            <a:endParaRPr lang="en-US" sz="1800" dirty="0"/>
          </a:p>
        </p:txBody>
      </p:sp>
      <p:sp>
        <p:nvSpPr>
          <p:cNvPr id="8" name="Text 5"/>
          <p:cNvSpPr/>
          <p:nvPr/>
        </p:nvSpPr>
        <p:spPr>
          <a:xfrm>
            <a:off x="82296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a:t>
            </a:r>
            <a:endParaRPr lang="en-US" sz="6400" dirty="0"/>
          </a:p>
        </p:txBody>
      </p:sp>
      <p:sp>
        <p:nvSpPr>
          <p:cNvPr id="9" name="Text 6"/>
          <p:cNvSpPr/>
          <p:nvPr/>
        </p:nvSpPr>
        <p:spPr>
          <a:xfrm>
            <a:off x="166420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ㅗ</a:t>
            </a:r>
            <a:endParaRPr lang="en-US" sz="6400" dirty="0"/>
          </a:p>
        </p:txBody>
      </p:sp>
      <p:sp>
        <p:nvSpPr>
          <p:cNvPr id="10" name="Text 7"/>
          <p:cNvSpPr/>
          <p:nvPr/>
        </p:nvSpPr>
        <p:spPr>
          <a:xfrm>
            <a:off x="250545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ㅏ</a:t>
            </a:r>
            <a:endParaRPr lang="en-US" sz="6400" dirty="0"/>
          </a:p>
        </p:txBody>
      </p:sp>
      <p:sp>
        <p:nvSpPr>
          <p:cNvPr id="11" name="Text 8"/>
          <p:cNvSpPr/>
          <p:nvPr/>
        </p:nvSpPr>
        <p:spPr>
          <a:xfrm>
            <a:off x="334670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ㅛ</a:t>
            </a:r>
            <a:endParaRPr lang="en-US" sz="6400" dirty="0"/>
          </a:p>
        </p:txBody>
      </p:sp>
      <p:sp>
        <p:nvSpPr>
          <p:cNvPr id="12" name="Text 9"/>
          <p:cNvSpPr/>
          <p:nvPr/>
        </p:nvSpPr>
        <p:spPr>
          <a:xfrm>
            <a:off x="418795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ㅑ</a:t>
            </a:r>
            <a:endParaRPr lang="en-US" sz="6400" dirty="0"/>
          </a:p>
        </p:txBody>
      </p:sp>
      <p:sp>
        <p:nvSpPr>
          <p:cNvPr id="13" name="Text 10"/>
          <p:cNvSpPr/>
          <p:nvPr/>
        </p:nvSpPr>
        <p:spPr>
          <a:xfrm>
            <a:off x="640080" y="5029200"/>
            <a:ext cx="4572000" cy="365760"/>
          </a:xfrm>
          <a:prstGeom prst="rect">
            <a:avLst/>
          </a:prstGeom>
          <a:noFill/>
          <a:ln/>
        </p:spPr>
        <p:txBody>
          <a:bodyPr wrap="square" lIns="0" tIns="0" rIns="0" bIns="0" rtlCol="0" anchor="ctr"/>
          <a:lstStyle/>
          <a:p>
            <a:pPr marL="0" indent="0" algn="ctr">
              <a:buNone/>
            </a:pPr>
            <a:r>
              <a:rPr lang="en-US" sz="1200" i="1" dirty="0">
                <a:solidFill>
                  <a:srgbClr val="FFC8C8"/>
                </a:solidFill>
                <a:latin typeface="Calibri" pitchFamily="34" charset="0"/>
                <a:ea typeface="Calibri" pitchFamily="34" charset="-122"/>
                <a:cs typeface="Calibri" pitchFamily="34" charset="-120"/>
              </a:rPr>
              <a:t>Lengua hacia adentro</a:t>
            </a:r>
            <a:endParaRPr lang="en-US" sz="1200" dirty="0"/>
          </a:p>
        </p:txBody>
      </p:sp>
      <p:sp>
        <p:nvSpPr>
          <p:cNvPr id="14" name="Text 11"/>
          <p:cNvSpPr/>
          <p:nvPr/>
        </p:nvSpPr>
        <p:spPr>
          <a:xfrm>
            <a:off x="640080" y="5394960"/>
            <a:ext cx="4572000" cy="365760"/>
          </a:xfrm>
          <a:prstGeom prst="rect">
            <a:avLst/>
          </a:prstGeom>
          <a:noFill/>
          <a:ln/>
        </p:spPr>
        <p:txBody>
          <a:bodyPr wrap="square" lIns="0" tIns="0" rIns="0" bIns="0" rtlCol="0" anchor="ctr"/>
          <a:lstStyle/>
          <a:p>
            <a:pPr marL="0" indent="0" algn="ctr">
              <a:buNone/>
            </a:pPr>
            <a:r>
              <a:rPr lang="en-US" sz="1100" i="1" dirty="0">
                <a:solidFill>
                  <a:srgbClr val="FFC8C8"/>
                </a:solidFill>
                <a:latin typeface="Calibri" pitchFamily="34" charset="0"/>
                <a:ea typeface="Calibri" pitchFamily="34" charset="-122"/>
                <a:cs typeface="Calibri" pitchFamily="34" charset="-120"/>
              </a:rPr>
              <a:t>punto (·) brillante</a:t>
            </a:r>
            <a:endParaRPr lang="en-US" sz="1100" dirty="0"/>
          </a:p>
        </p:txBody>
      </p:sp>
      <p:sp>
        <p:nvSpPr>
          <p:cNvPr id="15" name="Shape 12"/>
          <p:cNvSpPr/>
          <p:nvPr/>
        </p:nvSpPr>
        <p:spPr>
          <a:xfrm>
            <a:off x="6995160" y="2468880"/>
            <a:ext cx="4572000" cy="3840480"/>
          </a:xfrm>
          <a:prstGeom prst="roundRect">
            <a:avLst>
              <a:gd name="adj" fmla="val 4762"/>
            </a:avLst>
          </a:prstGeom>
          <a:solidFill>
            <a:srgbClr val="4036ED"/>
          </a:solidFill>
          <a:ln w="12700">
            <a:solidFill>
              <a:srgbClr val="4036ED"/>
            </a:solidFill>
            <a:prstDash val="solid"/>
          </a:ln>
        </p:spPr>
      </p:sp>
      <p:pic>
        <p:nvPicPr>
          <p:cNvPr id="16" name="Image 1" descr="preencoded.png"/>
          <p:cNvPicPr>
            <a:picLocks noChangeAspect="1"/>
          </p:cNvPicPr>
          <p:nvPr/>
        </p:nvPicPr>
        <p:blipFill>
          <a:blip r:embed="rId4"/>
          <a:stretch>
            <a:fillRect/>
          </a:stretch>
        </p:blipFill>
        <p:spPr>
          <a:xfrm>
            <a:off x="7269480" y="2606040"/>
            <a:ext cx="502920" cy="502920"/>
          </a:xfrm>
          <a:prstGeom prst="rect">
            <a:avLst/>
          </a:prstGeom>
        </p:spPr>
      </p:pic>
      <p:sp>
        <p:nvSpPr>
          <p:cNvPr id="17" name="Text 13"/>
          <p:cNvSpPr/>
          <p:nvPr/>
        </p:nvSpPr>
        <p:spPr>
          <a:xfrm>
            <a:off x="7863840" y="2651760"/>
            <a:ext cx="3657600" cy="411480"/>
          </a:xfrm>
          <a:prstGeom prst="rect">
            <a:avLst/>
          </a:prstGeom>
          <a:noFill/>
          <a:ln/>
        </p:spPr>
        <p:txBody>
          <a:bodyPr wrap="square" lIns="0" tIns="0" rIns="0" bIns="0" rtlCol="0" anchor="ctr"/>
          <a:lstStyle/>
          <a:p>
            <a:pPr marL="0" indent="0">
              <a:buNone/>
            </a:pPr>
            <a:r>
              <a:rPr lang="en-US" sz="1800" b="1" kern="0" spc="500" dirty="0">
                <a:solidFill>
                  <a:srgbClr val="F6F6F6"/>
                </a:solidFill>
                <a:latin typeface="Calibri" pitchFamily="34" charset="0"/>
                <a:ea typeface="Calibri" pitchFamily="34" charset="-122"/>
                <a:cs typeface="Calibri" pitchFamily="34" charset="-120"/>
              </a:rPr>
              <a:t>밤 · NOCHE</a:t>
            </a:r>
            <a:endParaRPr lang="en-US" sz="1800" dirty="0"/>
          </a:p>
        </p:txBody>
      </p:sp>
      <p:sp>
        <p:nvSpPr>
          <p:cNvPr id="18" name="Text 14"/>
          <p:cNvSpPr/>
          <p:nvPr/>
        </p:nvSpPr>
        <p:spPr>
          <a:xfrm>
            <a:off x="7178040"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ㅡ</a:t>
            </a:r>
            <a:endParaRPr lang="en-US" sz="6400" dirty="0"/>
          </a:p>
        </p:txBody>
      </p:sp>
      <p:sp>
        <p:nvSpPr>
          <p:cNvPr id="19" name="Text 15"/>
          <p:cNvSpPr/>
          <p:nvPr/>
        </p:nvSpPr>
        <p:spPr>
          <a:xfrm>
            <a:off x="8019288"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ㅜ</a:t>
            </a:r>
            <a:endParaRPr lang="en-US" sz="6400" dirty="0"/>
          </a:p>
        </p:txBody>
      </p:sp>
      <p:sp>
        <p:nvSpPr>
          <p:cNvPr id="20" name="Text 16"/>
          <p:cNvSpPr/>
          <p:nvPr/>
        </p:nvSpPr>
        <p:spPr>
          <a:xfrm>
            <a:off x="8860536"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ㅓ</a:t>
            </a:r>
            <a:endParaRPr lang="en-US" sz="6400" dirty="0"/>
          </a:p>
        </p:txBody>
      </p:sp>
      <p:sp>
        <p:nvSpPr>
          <p:cNvPr id="21" name="Text 17"/>
          <p:cNvSpPr/>
          <p:nvPr/>
        </p:nvSpPr>
        <p:spPr>
          <a:xfrm>
            <a:off x="9701784"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ㅠ</a:t>
            </a:r>
            <a:endParaRPr lang="en-US" sz="6400" dirty="0"/>
          </a:p>
        </p:txBody>
      </p:sp>
      <p:sp>
        <p:nvSpPr>
          <p:cNvPr id="22" name="Text 18"/>
          <p:cNvSpPr/>
          <p:nvPr/>
        </p:nvSpPr>
        <p:spPr>
          <a:xfrm>
            <a:off x="10543032" y="3383280"/>
            <a:ext cx="841248" cy="1463040"/>
          </a:xfrm>
          <a:prstGeom prst="rect">
            <a:avLst/>
          </a:prstGeom>
          <a:noFill/>
          <a:ln/>
        </p:spPr>
        <p:txBody>
          <a:bodyPr wrap="square" lIns="0" tIns="0" rIns="0" bIns="0" rtlCol="0" anchor="ctr"/>
          <a:lstStyle/>
          <a:p>
            <a:pPr marL="0" indent="0" algn="ctr">
              <a:buNone/>
            </a:pPr>
            <a:r>
              <a:rPr lang="en-US" sz="6400" b="1" dirty="0">
                <a:solidFill>
                  <a:srgbClr val="F6F6F6"/>
                </a:solidFill>
                <a:latin typeface="Malgun Gothic" pitchFamily="34" charset="0"/>
                <a:ea typeface="Malgun Gothic" pitchFamily="34" charset="-122"/>
                <a:cs typeface="Malgun Gothic" pitchFamily="34" charset="-120"/>
              </a:rPr>
              <a:t>ㅕ</a:t>
            </a:r>
            <a:endParaRPr lang="en-US" sz="6400" dirty="0"/>
          </a:p>
        </p:txBody>
      </p:sp>
      <p:sp>
        <p:nvSpPr>
          <p:cNvPr id="23" name="Text 19"/>
          <p:cNvSpPr/>
          <p:nvPr/>
        </p:nvSpPr>
        <p:spPr>
          <a:xfrm>
            <a:off x="6995160" y="5029200"/>
            <a:ext cx="4572000" cy="365760"/>
          </a:xfrm>
          <a:prstGeom prst="rect">
            <a:avLst/>
          </a:prstGeom>
          <a:noFill/>
          <a:ln/>
        </p:spPr>
        <p:txBody>
          <a:bodyPr wrap="square" lIns="0" tIns="0" rIns="0" bIns="0" rtlCol="0" anchor="ctr"/>
          <a:lstStyle/>
          <a:p>
            <a:pPr marL="0" indent="0" algn="ctr">
              <a:buNone/>
            </a:pPr>
            <a:r>
              <a:rPr lang="en-US" sz="1200" i="1" dirty="0">
                <a:solidFill>
                  <a:srgbClr val="A79BFF"/>
                </a:solidFill>
                <a:latin typeface="Calibri" pitchFamily="34" charset="0"/>
                <a:ea typeface="Calibri" pitchFamily="34" charset="-122"/>
                <a:cs typeface="Calibri" pitchFamily="34" charset="-120"/>
              </a:rPr>
              <a:t>Lengua en posición central</a:t>
            </a:r>
            <a:endParaRPr lang="en-US" sz="1200" dirty="0"/>
          </a:p>
        </p:txBody>
      </p:sp>
      <p:sp>
        <p:nvSpPr>
          <p:cNvPr id="24" name="Text 20"/>
          <p:cNvSpPr/>
          <p:nvPr/>
        </p:nvSpPr>
        <p:spPr>
          <a:xfrm>
            <a:off x="6995160" y="5394960"/>
            <a:ext cx="4572000" cy="365760"/>
          </a:xfrm>
          <a:prstGeom prst="rect">
            <a:avLst/>
          </a:prstGeom>
          <a:noFill/>
          <a:ln/>
        </p:spPr>
        <p:txBody>
          <a:bodyPr wrap="square" lIns="0" tIns="0" rIns="0" bIns="0" rtlCol="0" anchor="ctr"/>
          <a:lstStyle/>
          <a:p>
            <a:pPr marL="0" indent="0" algn="ctr">
              <a:buNone/>
            </a:pPr>
            <a:r>
              <a:rPr lang="en-US" sz="1100" i="1" dirty="0">
                <a:solidFill>
                  <a:srgbClr val="A79BFF"/>
                </a:solidFill>
                <a:latin typeface="Calibri" pitchFamily="34" charset="0"/>
                <a:ea typeface="Calibri" pitchFamily="34" charset="-122"/>
                <a:cs typeface="Calibri" pitchFamily="34" charset="-120"/>
              </a:rPr>
              <a:t>línea (ㅡ) profunda</a:t>
            </a:r>
            <a:endParaRPr lang="en-US" sz="1100" dirty="0"/>
          </a:p>
        </p:txBody>
      </p:sp>
      <p:sp>
        <p:nvSpPr>
          <p:cNvPr id="25" name="Shape 21"/>
          <p:cNvSpPr/>
          <p:nvPr/>
        </p:nvSpPr>
        <p:spPr>
          <a:xfrm>
            <a:off x="5349240" y="2468880"/>
            <a:ext cx="1508760" cy="3840480"/>
          </a:xfrm>
          <a:prstGeom prst="roundRect">
            <a:avLst>
              <a:gd name="adj" fmla="val 12121"/>
            </a:avLst>
          </a:prstGeom>
          <a:solidFill>
            <a:srgbClr val="A79BFF"/>
          </a:solidFill>
          <a:ln w="12700">
            <a:solidFill>
              <a:srgbClr val="A79BFF"/>
            </a:solidFill>
            <a:prstDash val="solid"/>
          </a:ln>
        </p:spPr>
      </p:sp>
      <p:pic>
        <p:nvPicPr>
          <p:cNvPr id="26" name="Image 2" descr="preencoded.png"/>
          <p:cNvPicPr>
            <a:picLocks noChangeAspect="1"/>
          </p:cNvPicPr>
          <p:nvPr/>
        </p:nvPicPr>
        <p:blipFill>
          <a:blip r:embed="rId5"/>
          <a:stretch>
            <a:fillRect/>
          </a:stretch>
        </p:blipFill>
        <p:spPr>
          <a:xfrm>
            <a:off x="5806440" y="2651760"/>
            <a:ext cx="594360" cy="594360"/>
          </a:xfrm>
          <a:prstGeom prst="rect">
            <a:avLst/>
          </a:prstGeom>
        </p:spPr>
      </p:pic>
      <p:sp>
        <p:nvSpPr>
          <p:cNvPr id="27" name="Text 22"/>
          <p:cNvSpPr/>
          <p:nvPr/>
        </p:nvSpPr>
        <p:spPr>
          <a:xfrm>
            <a:off x="5349240" y="3291840"/>
            <a:ext cx="1508760" cy="2194560"/>
          </a:xfrm>
          <a:prstGeom prst="rect">
            <a:avLst/>
          </a:prstGeom>
          <a:noFill/>
          <a:ln/>
        </p:spPr>
        <p:txBody>
          <a:bodyPr wrap="square" lIns="0" tIns="0" rIns="0" bIns="0" rtlCol="0" anchor="ctr"/>
          <a:lstStyle/>
          <a:p>
            <a:pPr marL="0" indent="0" algn="ctr">
              <a:buNone/>
            </a:pPr>
            <a:r>
              <a:rPr lang="en-US" sz="13000" b="1" dirty="0">
                <a:solidFill>
                  <a:srgbClr val="F6F6F6"/>
                </a:solidFill>
                <a:latin typeface="Malgun Gothic" pitchFamily="34" charset="0"/>
                <a:ea typeface="Malgun Gothic" pitchFamily="34" charset="-122"/>
                <a:cs typeface="Malgun Gothic" pitchFamily="34" charset="-120"/>
              </a:rPr>
              <a:t>ㅣ</a:t>
            </a:r>
            <a:endParaRPr lang="en-US" sz="13000" dirty="0"/>
          </a:p>
        </p:txBody>
      </p:sp>
      <p:sp>
        <p:nvSpPr>
          <p:cNvPr id="28" name="Text 23"/>
          <p:cNvSpPr/>
          <p:nvPr/>
        </p:nvSpPr>
        <p:spPr>
          <a:xfrm>
            <a:off x="5349240" y="5532120"/>
            <a:ext cx="1508760" cy="320040"/>
          </a:xfrm>
          <a:prstGeom prst="rect">
            <a:avLst/>
          </a:prstGeom>
          <a:noFill/>
          <a:ln/>
        </p:spPr>
        <p:txBody>
          <a:bodyPr wrap="square" lIns="0" tIns="0" rIns="0" bIns="0" rtlCol="0" anchor="ctr"/>
          <a:lstStyle/>
          <a:p>
            <a:pPr marL="0" indent="0" algn="ctr">
              <a:buNone/>
            </a:pPr>
            <a:r>
              <a:rPr lang="en-US" sz="900" b="1" kern="0" spc="300" dirty="0">
                <a:solidFill>
                  <a:srgbClr val="F6F6F6"/>
                </a:solidFill>
                <a:latin typeface="Calibri" pitchFamily="34" charset="0"/>
                <a:ea typeface="Calibri" pitchFamily="34" charset="-122"/>
                <a:cs typeface="Calibri" pitchFamily="34" charset="-120"/>
              </a:rPr>
              <a:t>EQUILIBRIO</a:t>
            </a:r>
            <a:endParaRPr lang="en-US" sz="900" dirty="0"/>
          </a:p>
        </p:txBody>
      </p:sp>
      <p:sp>
        <p:nvSpPr>
          <p:cNvPr id="29" name="Text 24"/>
          <p:cNvSpPr/>
          <p:nvPr/>
        </p:nvSpPr>
        <p:spPr>
          <a:xfrm>
            <a:off x="5349240" y="5852160"/>
            <a:ext cx="1508760" cy="274320"/>
          </a:xfrm>
          <a:prstGeom prst="rect">
            <a:avLst/>
          </a:prstGeom>
          <a:noFill/>
          <a:ln/>
        </p:spPr>
        <p:txBody>
          <a:bodyPr wrap="square" lIns="0" tIns="0" rIns="0" bIns="0" rtlCol="0" anchor="ctr"/>
          <a:lstStyle/>
          <a:p>
            <a:pPr marL="0" indent="0" algn="ctr">
              <a:buNone/>
            </a:pPr>
            <a:r>
              <a:rPr lang="en-US" sz="900" i="1" dirty="0">
                <a:solidFill>
                  <a:srgbClr val="F6F6F6"/>
                </a:solidFill>
                <a:latin typeface="Calibri" pitchFamily="34" charset="0"/>
                <a:ea typeface="Calibri" pitchFamily="34" charset="-122"/>
                <a:cs typeface="Calibri" pitchFamily="34" charset="-120"/>
              </a:rPr>
              <a:t>humano · 사람</a:t>
            </a:r>
            <a:endParaRPr lang="en-US" sz="900" dirty="0"/>
          </a:p>
        </p:txBody>
      </p:sp>
      <p:pic>
        <p:nvPicPr>
          <p:cNvPr id="30" name="Image 3" descr="preencoded.png"/>
          <p:cNvPicPr>
            <a:picLocks noChangeAspect="1"/>
          </p:cNvPicPr>
          <p:nvPr/>
        </p:nvPicPr>
        <p:blipFill>
          <a:blip r:embed="rId6"/>
          <a:stretch>
            <a:fillRect/>
          </a:stretch>
        </p:blipFill>
        <p:spPr>
          <a:xfrm>
            <a:off x="11597335" y="182880"/>
            <a:ext cx="292608" cy="292608"/>
          </a:xfrm>
          <a:prstGeom prst="rect">
            <a:avLst/>
          </a:prstGeom>
        </p:spPr>
      </p:pic>
      <p:sp>
        <p:nvSpPr>
          <p:cNvPr id="31" name="Text 25"/>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2" name="Text 26"/>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§4.4 · QUIZ</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Mini-quiz de vocales</a:t>
            </a:r>
            <a:endParaRPr lang="en-US" sz="2600" dirty="0"/>
          </a:p>
        </p:txBody>
      </p:sp>
      <p:sp>
        <p:nvSpPr>
          <p:cNvPr id="4" name="Text 2"/>
          <p:cNvSpPr/>
          <p:nvPr/>
        </p:nvSpPr>
        <p:spPr>
          <a:xfrm>
            <a:off x="548640" y="1554480"/>
            <a:ext cx="10972800" cy="365760"/>
          </a:xfrm>
          <a:prstGeom prst="rect">
            <a:avLst/>
          </a:prstGeom>
          <a:noFill/>
          <a:ln/>
        </p:spPr>
        <p:txBody>
          <a:bodyPr wrap="square" rtlCol="0" anchor="ctr"/>
          <a:lstStyle/>
          <a:p>
            <a:pPr marL="0" indent="0">
              <a:buNone/>
            </a:pPr>
            <a:r>
              <a:rPr lang="en-US" sz="1300" i="1" dirty="0">
                <a:solidFill>
                  <a:srgbClr val="6B6B7C"/>
                </a:solidFill>
                <a:latin typeface="Calibri" pitchFamily="34" charset="0"/>
                <a:ea typeface="Calibri" pitchFamily="34" charset="-122"/>
                <a:cs typeface="Calibri" pitchFamily="34" charset="-120"/>
              </a:rPr>
              <a:t>Yo señalo, escribís la respuesta en el chat</a:t>
            </a:r>
            <a:endParaRPr lang="en-US" sz="1300" dirty="0"/>
          </a:p>
        </p:txBody>
      </p:sp>
      <p:sp>
        <p:nvSpPr>
          <p:cNvPr id="5" name="Shape 3"/>
          <p:cNvSpPr/>
          <p:nvPr/>
        </p:nvSpPr>
        <p:spPr>
          <a:xfrm>
            <a:off x="548640" y="2194560"/>
            <a:ext cx="5486400" cy="1524000"/>
          </a:xfrm>
          <a:prstGeom prst="roundRect">
            <a:avLst>
              <a:gd name="adj" fmla="val 6000"/>
            </a:avLst>
          </a:prstGeom>
          <a:solidFill>
            <a:srgbClr val="3D2EE8"/>
          </a:solidFill>
          <a:ln w="12700">
            <a:solidFill>
              <a:srgbClr val="3D2EE8"/>
            </a:solidFill>
            <a:prstDash val="solid"/>
          </a:ln>
        </p:spPr>
      </p:sp>
      <p:sp>
        <p:nvSpPr>
          <p:cNvPr id="6" name="Text 4"/>
          <p:cNvSpPr/>
          <p:nvPr/>
        </p:nvSpPr>
        <p:spPr>
          <a:xfrm>
            <a:off x="548640"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ㅏ</a:t>
            </a:r>
            <a:endParaRPr lang="en-US" sz="3200" dirty="0"/>
          </a:p>
        </p:txBody>
      </p:sp>
      <p:sp>
        <p:nvSpPr>
          <p:cNvPr id="7" name="Text 5"/>
          <p:cNvSpPr/>
          <p:nvPr/>
        </p:nvSpPr>
        <p:spPr>
          <a:xfrm>
            <a:off x="548640"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a</a:t>
            </a:r>
            <a:endParaRPr lang="en-US" sz="1400" dirty="0"/>
          </a:p>
        </p:txBody>
      </p:sp>
      <p:sp>
        <p:nvSpPr>
          <p:cNvPr id="8" name="Shape 6"/>
          <p:cNvSpPr/>
          <p:nvPr/>
        </p:nvSpPr>
        <p:spPr>
          <a:xfrm>
            <a:off x="6153912" y="2194560"/>
            <a:ext cx="5486400" cy="1524000"/>
          </a:xfrm>
          <a:prstGeom prst="roundRect">
            <a:avLst>
              <a:gd name="adj" fmla="val 6000"/>
            </a:avLst>
          </a:prstGeom>
          <a:solidFill>
            <a:srgbClr val="FF5C5C"/>
          </a:solidFill>
          <a:ln w="12700">
            <a:solidFill>
              <a:srgbClr val="FF5C5C"/>
            </a:solidFill>
            <a:prstDash val="solid"/>
          </a:ln>
        </p:spPr>
      </p:sp>
      <p:sp>
        <p:nvSpPr>
          <p:cNvPr id="9" name="Text 7"/>
          <p:cNvSpPr/>
          <p:nvPr/>
        </p:nvSpPr>
        <p:spPr>
          <a:xfrm>
            <a:off x="6153912" y="2304288"/>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ㅓ</a:t>
            </a:r>
            <a:endParaRPr lang="en-US" sz="3200" dirty="0"/>
          </a:p>
        </p:txBody>
      </p:sp>
      <p:sp>
        <p:nvSpPr>
          <p:cNvPr id="10" name="Text 8"/>
          <p:cNvSpPr/>
          <p:nvPr/>
        </p:nvSpPr>
        <p:spPr>
          <a:xfrm>
            <a:off x="6153912" y="3185160"/>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eo</a:t>
            </a:r>
            <a:endParaRPr lang="en-US" sz="1400" dirty="0"/>
          </a:p>
        </p:txBody>
      </p:sp>
      <p:sp>
        <p:nvSpPr>
          <p:cNvPr id="11" name="Shape 9"/>
          <p:cNvSpPr/>
          <p:nvPr/>
        </p:nvSpPr>
        <p:spPr>
          <a:xfrm>
            <a:off x="548640" y="3837432"/>
            <a:ext cx="5486400" cy="1524000"/>
          </a:xfrm>
          <a:prstGeom prst="roundRect">
            <a:avLst>
              <a:gd name="adj" fmla="val 6000"/>
            </a:avLst>
          </a:prstGeom>
          <a:solidFill>
            <a:srgbClr val="3D2EE8"/>
          </a:solidFill>
          <a:ln w="12700">
            <a:solidFill>
              <a:srgbClr val="3D2EE8"/>
            </a:solidFill>
            <a:prstDash val="solid"/>
          </a:ln>
        </p:spPr>
      </p:sp>
      <p:sp>
        <p:nvSpPr>
          <p:cNvPr id="12" name="Text 10"/>
          <p:cNvSpPr/>
          <p:nvPr/>
        </p:nvSpPr>
        <p:spPr>
          <a:xfrm>
            <a:off x="548640"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ㅗ</a:t>
            </a:r>
            <a:endParaRPr lang="en-US" sz="3200" dirty="0"/>
          </a:p>
        </p:txBody>
      </p:sp>
      <p:sp>
        <p:nvSpPr>
          <p:cNvPr id="13" name="Text 11"/>
          <p:cNvSpPr/>
          <p:nvPr/>
        </p:nvSpPr>
        <p:spPr>
          <a:xfrm>
            <a:off x="548640"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o</a:t>
            </a:r>
            <a:endParaRPr lang="en-US" sz="1400" dirty="0"/>
          </a:p>
        </p:txBody>
      </p:sp>
      <p:sp>
        <p:nvSpPr>
          <p:cNvPr id="14" name="Shape 12"/>
          <p:cNvSpPr/>
          <p:nvPr/>
        </p:nvSpPr>
        <p:spPr>
          <a:xfrm>
            <a:off x="6153912" y="3837432"/>
            <a:ext cx="5486400" cy="1524000"/>
          </a:xfrm>
          <a:prstGeom prst="roundRect">
            <a:avLst>
              <a:gd name="adj" fmla="val 6000"/>
            </a:avLst>
          </a:prstGeom>
          <a:solidFill>
            <a:srgbClr val="FF5C5C"/>
          </a:solidFill>
          <a:ln w="12700">
            <a:solidFill>
              <a:srgbClr val="FF5C5C"/>
            </a:solidFill>
            <a:prstDash val="solid"/>
          </a:ln>
        </p:spPr>
      </p:sp>
      <p:sp>
        <p:nvSpPr>
          <p:cNvPr id="15" name="Text 13"/>
          <p:cNvSpPr/>
          <p:nvPr/>
        </p:nvSpPr>
        <p:spPr>
          <a:xfrm>
            <a:off x="6153912" y="3947160"/>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ㅜ</a:t>
            </a:r>
            <a:endParaRPr lang="en-US" sz="3200" dirty="0"/>
          </a:p>
        </p:txBody>
      </p:sp>
      <p:sp>
        <p:nvSpPr>
          <p:cNvPr id="16" name="Text 14"/>
          <p:cNvSpPr/>
          <p:nvPr/>
        </p:nvSpPr>
        <p:spPr>
          <a:xfrm>
            <a:off x="6153912" y="4828032"/>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u</a:t>
            </a:r>
            <a:endParaRPr lang="en-US" sz="1400" dirty="0"/>
          </a:p>
        </p:txBody>
      </p:sp>
      <p:sp>
        <p:nvSpPr>
          <p:cNvPr id="17" name="Shape 15"/>
          <p:cNvSpPr/>
          <p:nvPr/>
        </p:nvSpPr>
        <p:spPr>
          <a:xfrm>
            <a:off x="548640" y="5480304"/>
            <a:ext cx="5486400" cy="1524000"/>
          </a:xfrm>
          <a:prstGeom prst="roundRect">
            <a:avLst>
              <a:gd name="adj" fmla="val 6000"/>
            </a:avLst>
          </a:prstGeom>
          <a:solidFill>
            <a:srgbClr val="3D2EE8"/>
          </a:solidFill>
          <a:ln w="12700">
            <a:solidFill>
              <a:srgbClr val="3D2EE8"/>
            </a:solidFill>
            <a:prstDash val="solid"/>
          </a:ln>
        </p:spPr>
      </p:sp>
      <p:sp>
        <p:nvSpPr>
          <p:cNvPr id="18" name="Text 16"/>
          <p:cNvSpPr/>
          <p:nvPr/>
        </p:nvSpPr>
        <p:spPr>
          <a:xfrm>
            <a:off x="548640"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ㅡ</a:t>
            </a:r>
            <a:endParaRPr lang="en-US" sz="3200" dirty="0"/>
          </a:p>
        </p:txBody>
      </p:sp>
      <p:sp>
        <p:nvSpPr>
          <p:cNvPr id="19" name="Text 17"/>
          <p:cNvSpPr/>
          <p:nvPr/>
        </p:nvSpPr>
        <p:spPr>
          <a:xfrm>
            <a:off x="548640"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eu</a:t>
            </a:r>
            <a:endParaRPr lang="en-US" sz="1400" dirty="0"/>
          </a:p>
        </p:txBody>
      </p:sp>
      <p:sp>
        <p:nvSpPr>
          <p:cNvPr id="20" name="Shape 18"/>
          <p:cNvSpPr/>
          <p:nvPr/>
        </p:nvSpPr>
        <p:spPr>
          <a:xfrm>
            <a:off x="6153912" y="5480304"/>
            <a:ext cx="5486400" cy="1524000"/>
          </a:xfrm>
          <a:prstGeom prst="roundRect">
            <a:avLst>
              <a:gd name="adj" fmla="val 6000"/>
            </a:avLst>
          </a:prstGeom>
          <a:solidFill>
            <a:srgbClr val="FF5C5C"/>
          </a:solidFill>
          <a:ln w="12700">
            <a:solidFill>
              <a:srgbClr val="FF5C5C"/>
            </a:solidFill>
            <a:prstDash val="solid"/>
          </a:ln>
        </p:spPr>
      </p:sp>
      <p:sp>
        <p:nvSpPr>
          <p:cNvPr id="21" name="Text 19"/>
          <p:cNvSpPr/>
          <p:nvPr/>
        </p:nvSpPr>
        <p:spPr>
          <a:xfrm>
            <a:off x="6153912" y="5590032"/>
            <a:ext cx="5486400" cy="838200"/>
          </a:xfrm>
          <a:prstGeom prst="rect">
            <a:avLst/>
          </a:prstGeom>
          <a:noFill/>
          <a:ln/>
        </p:spPr>
        <p:txBody>
          <a:bodyPr wrap="square" rtlCol="0" anchor="ctr"/>
          <a:lstStyle/>
          <a:p>
            <a:pPr marL="0" indent="0" algn="ctr">
              <a:buNone/>
            </a:pPr>
            <a:r>
              <a:rPr lang="en-US" sz="3200" b="1" dirty="0">
                <a:solidFill>
                  <a:srgbClr val="FFFFFF"/>
                </a:solidFill>
                <a:latin typeface="Malgun Gothic" pitchFamily="34" charset="0"/>
                <a:ea typeface="Malgun Gothic" pitchFamily="34" charset="-122"/>
                <a:cs typeface="Malgun Gothic" pitchFamily="34" charset="-120"/>
              </a:rPr>
              <a:t>ㅣ</a:t>
            </a:r>
            <a:endParaRPr lang="en-US" sz="3200" dirty="0"/>
          </a:p>
        </p:txBody>
      </p:sp>
      <p:sp>
        <p:nvSpPr>
          <p:cNvPr id="22" name="Text 20"/>
          <p:cNvSpPr/>
          <p:nvPr/>
        </p:nvSpPr>
        <p:spPr>
          <a:xfrm>
            <a:off x="6153912" y="6470904"/>
            <a:ext cx="5486400" cy="533400"/>
          </a:xfrm>
          <a:prstGeom prst="rect">
            <a:avLst/>
          </a:prstGeom>
          <a:noFill/>
          <a:ln/>
        </p:spPr>
        <p:txBody>
          <a:bodyPr wrap="square" rtlCol="0" anchor="t"/>
          <a:lstStyle/>
          <a:p>
            <a:pPr marL="0" indent="0" algn="ctr">
              <a:buNone/>
            </a:pPr>
            <a:r>
              <a:rPr lang="en-US" sz="1400" i="1" dirty="0">
                <a:solidFill>
                  <a:srgbClr val="FFFFFF"/>
                </a:solidFill>
                <a:latin typeface="Calibri" pitchFamily="34" charset="0"/>
                <a:ea typeface="Calibri" pitchFamily="34" charset="-122"/>
                <a:cs typeface="Calibri" pitchFamily="34" charset="-120"/>
              </a:rPr>
              <a:t>respuesta: i</a:t>
            </a:r>
            <a:endParaRPr lang="en-US" sz="1400" dirty="0"/>
          </a:p>
        </p:txBody>
      </p:sp>
      <p:pic>
        <p:nvPicPr>
          <p:cNvPr id="23"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4"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5" name="Text 21"/>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6" name="Text 22"/>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11  ·  TALLER</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E340-E3AA-ABCA-43AC-58FF5F6589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39E1C2-B632-D132-1052-E154AB7263CC}"/>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§4.28 · REPASO</a:t>
            </a:r>
            <a:endParaRPr lang="en-US" sz="1100" dirty="0"/>
          </a:p>
        </p:txBody>
      </p:sp>
      <p:sp>
        <p:nvSpPr>
          <p:cNvPr id="3" name="Text 1">
            <a:extLst>
              <a:ext uri="{FF2B5EF4-FFF2-40B4-BE49-F238E27FC236}">
                <a16:creationId xmlns:a16="http://schemas.microsoft.com/office/drawing/2014/main" id="{40524EF0-EFE5-4C72-8F69-DCAD5D17497C}"/>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21 vocales</a:t>
            </a:r>
            <a:endParaRPr lang="en-US" sz="4000" dirty="0"/>
          </a:p>
        </p:txBody>
      </p:sp>
      <p:sp>
        <p:nvSpPr>
          <p:cNvPr id="4" name="Text 2">
            <a:extLst>
              <a:ext uri="{FF2B5EF4-FFF2-40B4-BE49-F238E27FC236}">
                <a16:creationId xmlns:a16="http://schemas.microsoft.com/office/drawing/2014/main" id="{8E9DF5A2-6B2C-44C4-56D9-E12EEF41963B}"/>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Todo lo que aprendiste en el capítulo 1, en una sola página.</a:t>
            </a:r>
            <a:endParaRPr lang="en-US" sz="1400" dirty="0"/>
          </a:p>
        </p:txBody>
      </p:sp>
      <p:sp>
        <p:nvSpPr>
          <p:cNvPr id="5" name="Shape 3">
            <a:extLst>
              <a:ext uri="{FF2B5EF4-FFF2-40B4-BE49-F238E27FC236}">
                <a16:creationId xmlns:a16="http://schemas.microsoft.com/office/drawing/2014/main" id="{8E94598C-A78D-F570-1638-0E2D59404B00}"/>
              </a:ext>
            </a:extLst>
          </p:cNvPr>
          <p:cNvSpPr/>
          <p:nvPr/>
        </p:nvSpPr>
        <p:spPr>
          <a:xfrm>
            <a:off x="685800" y="2441448"/>
            <a:ext cx="10911535" cy="960120"/>
          </a:xfrm>
          <a:prstGeom prst="roundRect">
            <a:avLst>
              <a:gd name="adj" fmla="val 14286"/>
            </a:avLst>
          </a:prstGeom>
          <a:solidFill>
            <a:srgbClr val="FFE0E0"/>
          </a:solidFill>
          <a:ln w="15240">
            <a:solidFill>
              <a:srgbClr val="FE6768"/>
            </a:solidFill>
            <a:prstDash val="solid"/>
          </a:ln>
        </p:spPr>
      </p:sp>
      <p:sp>
        <p:nvSpPr>
          <p:cNvPr id="6" name="Text 4">
            <a:extLst>
              <a:ext uri="{FF2B5EF4-FFF2-40B4-BE49-F238E27FC236}">
                <a16:creationId xmlns:a16="http://schemas.microsoft.com/office/drawing/2014/main" id="{7661767F-9B94-4FAB-6DB3-3334BB9DBF45}"/>
              </a:ext>
            </a:extLst>
          </p:cNvPr>
          <p:cNvSpPr/>
          <p:nvPr/>
        </p:nvSpPr>
        <p:spPr>
          <a:xfrm>
            <a:off x="777240" y="246888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FUNDAMENTALES (11)</a:t>
            </a:r>
            <a:endParaRPr lang="en-US" sz="1100" dirty="0"/>
          </a:p>
        </p:txBody>
      </p:sp>
      <p:sp>
        <p:nvSpPr>
          <p:cNvPr id="7" name="Text 5">
            <a:extLst>
              <a:ext uri="{FF2B5EF4-FFF2-40B4-BE49-F238E27FC236}">
                <a16:creationId xmlns:a16="http://schemas.microsoft.com/office/drawing/2014/main" id="{9C594F2B-0B19-E285-7C78-95F48F515702}"/>
              </a:ext>
            </a:extLst>
          </p:cNvPr>
          <p:cNvSpPr/>
          <p:nvPr/>
        </p:nvSpPr>
        <p:spPr>
          <a:xfrm>
            <a:off x="356616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ㅏ</a:t>
            </a:r>
            <a:endParaRPr lang="en-US" sz="2800" dirty="0"/>
          </a:p>
        </p:txBody>
      </p:sp>
      <p:sp>
        <p:nvSpPr>
          <p:cNvPr id="8" name="Text 6">
            <a:extLst>
              <a:ext uri="{FF2B5EF4-FFF2-40B4-BE49-F238E27FC236}">
                <a16:creationId xmlns:a16="http://schemas.microsoft.com/office/drawing/2014/main" id="{E224941D-677A-1A24-26EB-CA0E2C5577FA}"/>
              </a:ext>
            </a:extLst>
          </p:cNvPr>
          <p:cNvSpPr/>
          <p:nvPr/>
        </p:nvSpPr>
        <p:spPr>
          <a:xfrm>
            <a:off x="4292110"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ㅑ</a:t>
            </a:r>
            <a:endParaRPr lang="en-US" sz="2800" dirty="0"/>
          </a:p>
        </p:txBody>
      </p:sp>
      <p:sp>
        <p:nvSpPr>
          <p:cNvPr id="9" name="Text 7">
            <a:extLst>
              <a:ext uri="{FF2B5EF4-FFF2-40B4-BE49-F238E27FC236}">
                <a16:creationId xmlns:a16="http://schemas.microsoft.com/office/drawing/2014/main" id="{8AD2424B-F40D-B46C-87B5-E9DFD158D66A}"/>
              </a:ext>
            </a:extLst>
          </p:cNvPr>
          <p:cNvSpPr/>
          <p:nvPr/>
        </p:nvSpPr>
        <p:spPr>
          <a:xfrm>
            <a:off x="501806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ㅓ</a:t>
            </a:r>
            <a:endParaRPr lang="en-US" sz="2800" dirty="0"/>
          </a:p>
        </p:txBody>
      </p:sp>
      <p:sp>
        <p:nvSpPr>
          <p:cNvPr id="10" name="Text 8">
            <a:extLst>
              <a:ext uri="{FF2B5EF4-FFF2-40B4-BE49-F238E27FC236}">
                <a16:creationId xmlns:a16="http://schemas.microsoft.com/office/drawing/2014/main" id="{FD957A6C-58D1-B645-F952-B8209F94B9AB}"/>
              </a:ext>
            </a:extLst>
          </p:cNvPr>
          <p:cNvSpPr/>
          <p:nvPr/>
        </p:nvSpPr>
        <p:spPr>
          <a:xfrm>
            <a:off x="5744011"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ㅕ</a:t>
            </a:r>
            <a:endParaRPr lang="en-US" sz="2800" dirty="0"/>
          </a:p>
        </p:txBody>
      </p:sp>
      <p:sp>
        <p:nvSpPr>
          <p:cNvPr id="11" name="Text 9">
            <a:extLst>
              <a:ext uri="{FF2B5EF4-FFF2-40B4-BE49-F238E27FC236}">
                <a16:creationId xmlns:a16="http://schemas.microsoft.com/office/drawing/2014/main" id="{1B579E27-C75C-FB15-823F-50BE4E49B8E3}"/>
              </a:ext>
            </a:extLst>
          </p:cNvPr>
          <p:cNvSpPr/>
          <p:nvPr/>
        </p:nvSpPr>
        <p:spPr>
          <a:xfrm>
            <a:off x="646996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ㅗ</a:t>
            </a:r>
            <a:endParaRPr lang="en-US" sz="2800" dirty="0"/>
          </a:p>
        </p:txBody>
      </p:sp>
      <p:sp>
        <p:nvSpPr>
          <p:cNvPr id="12" name="Text 10">
            <a:extLst>
              <a:ext uri="{FF2B5EF4-FFF2-40B4-BE49-F238E27FC236}">
                <a16:creationId xmlns:a16="http://schemas.microsoft.com/office/drawing/2014/main" id="{B7CF437A-C9A3-35CE-B11C-0971CBF33E77}"/>
              </a:ext>
            </a:extLst>
          </p:cNvPr>
          <p:cNvSpPr/>
          <p:nvPr/>
        </p:nvSpPr>
        <p:spPr>
          <a:xfrm>
            <a:off x="7195912"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ㅛ</a:t>
            </a:r>
            <a:endParaRPr lang="en-US" sz="2800" dirty="0"/>
          </a:p>
        </p:txBody>
      </p:sp>
      <p:sp>
        <p:nvSpPr>
          <p:cNvPr id="13" name="Text 11">
            <a:extLst>
              <a:ext uri="{FF2B5EF4-FFF2-40B4-BE49-F238E27FC236}">
                <a16:creationId xmlns:a16="http://schemas.microsoft.com/office/drawing/2014/main" id="{973AB8C8-BED4-88AC-D149-C526D57F6788}"/>
              </a:ext>
            </a:extLst>
          </p:cNvPr>
          <p:cNvSpPr/>
          <p:nvPr/>
        </p:nvSpPr>
        <p:spPr>
          <a:xfrm>
            <a:off x="792186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ㅜ</a:t>
            </a:r>
            <a:endParaRPr lang="en-US" sz="2800" dirty="0"/>
          </a:p>
        </p:txBody>
      </p:sp>
      <p:sp>
        <p:nvSpPr>
          <p:cNvPr id="14" name="Text 12">
            <a:extLst>
              <a:ext uri="{FF2B5EF4-FFF2-40B4-BE49-F238E27FC236}">
                <a16:creationId xmlns:a16="http://schemas.microsoft.com/office/drawing/2014/main" id="{E51AFA15-84A7-AD91-B76D-52BF89D988DF}"/>
              </a:ext>
            </a:extLst>
          </p:cNvPr>
          <p:cNvSpPr/>
          <p:nvPr/>
        </p:nvSpPr>
        <p:spPr>
          <a:xfrm>
            <a:off x="8647813"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ㅠ</a:t>
            </a:r>
            <a:endParaRPr lang="en-US" sz="2800" dirty="0"/>
          </a:p>
        </p:txBody>
      </p:sp>
      <p:sp>
        <p:nvSpPr>
          <p:cNvPr id="15" name="Text 13">
            <a:extLst>
              <a:ext uri="{FF2B5EF4-FFF2-40B4-BE49-F238E27FC236}">
                <a16:creationId xmlns:a16="http://schemas.microsoft.com/office/drawing/2014/main" id="{87C65A44-1B73-DCE5-5593-0260DE5D451F}"/>
              </a:ext>
            </a:extLst>
          </p:cNvPr>
          <p:cNvSpPr/>
          <p:nvPr/>
        </p:nvSpPr>
        <p:spPr>
          <a:xfrm>
            <a:off x="937376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ㅡ</a:t>
            </a:r>
            <a:endParaRPr lang="en-US" sz="2800" dirty="0"/>
          </a:p>
        </p:txBody>
      </p:sp>
      <p:sp>
        <p:nvSpPr>
          <p:cNvPr id="16" name="Text 14">
            <a:extLst>
              <a:ext uri="{FF2B5EF4-FFF2-40B4-BE49-F238E27FC236}">
                <a16:creationId xmlns:a16="http://schemas.microsoft.com/office/drawing/2014/main" id="{DF2D4520-AD69-32C4-E5C0-506743F19349}"/>
              </a:ext>
            </a:extLst>
          </p:cNvPr>
          <p:cNvSpPr/>
          <p:nvPr/>
        </p:nvSpPr>
        <p:spPr>
          <a:xfrm>
            <a:off x="10099714"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ㅣ</a:t>
            </a:r>
            <a:endParaRPr lang="en-US" sz="2800" dirty="0"/>
          </a:p>
        </p:txBody>
      </p:sp>
      <p:sp>
        <p:nvSpPr>
          <p:cNvPr id="17" name="Text 15">
            <a:extLst>
              <a:ext uri="{FF2B5EF4-FFF2-40B4-BE49-F238E27FC236}">
                <a16:creationId xmlns:a16="http://schemas.microsoft.com/office/drawing/2014/main" id="{5A57DADC-F5FD-7A4C-57B8-FE8858B73E5A}"/>
              </a:ext>
            </a:extLst>
          </p:cNvPr>
          <p:cNvSpPr/>
          <p:nvPr/>
        </p:nvSpPr>
        <p:spPr>
          <a:xfrm>
            <a:off x="10825665" y="2468880"/>
            <a:ext cx="725950"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a:t>
            </a:r>
            <a:endParaRPr lang="en-US" sz="2800" dirty="0"/>
          </a:p>
        </p:txBody>
      </p:sp>
      <p:sp>
        <p:nvSpPr>
          <p:cNvPr id="18" name="Shape 16">
            <a:extLst>
              <a:ext uri="{FF2B5EF4-FFF2-40B4-BE49-F238E27FC236}">
                <a16:creationId xmlns:a16="http://schemas.microsoft.com/office/drawing/2014/main" id="{CE8114AE-7551-4140-53D8-79D8F5A98B8D}"/>
              </a:ext>
            </a:extLst>
          </p:cNvPr>
          <p:cNvSpPr/>
          <p:nvPr/>
        </p:nvSpPr>
        <p:spPr>
          <a:xfrm>
            <a:off x="640080" y="3520440"/>
            <a:ext cx="10911535" cy="960120"/>
          </a:xfrm>
          <a:prstGeom prst="roundRect">
            <a:avLst>
              <a:gd name="adj" fmla="val 14286"/>
            </a:avLst>
          </a:prstGeom>
          <a:solidFill>
            <a:srgbClr val="EDE8FF"/>
          </a:solidFill>
          <a:ln w="15240">
            <a:solidFill>
              <a:srgbClr val="A79BFF"/>
            </a:solidFill>
            <a:prstDash val="solid"/>
          </a:ln>
        </p:spPr>
      </p:sp>
      <p:sp>
        <p:nvSpPr>
          <p:cNvPr id="19" name="Text 17">
            <a:extLst>
              <a:ext uri="{FF2B5EF4-FFF2-40B4-BE49-F238E27FC236}">
                <a16:creationId xmlns:a16="http://schemas.microsoft.com/office/drawing/2014/main" id="{7D4F5629-B71A-C6A1-7C8F-08BB10ED5B1A}"/>
              </a:ext>
            </a:extLst>
          </p:cNvPr>
          <p:cNvSpPr/>
          <p:nvPr/>
        </p:nvSpPr>
        <p:spPr>
          <a:xfrm>
            <a:off x="777240" y="3520440"/>
            <a:ext cx="2926080" cy="960120"/>
          </a:xfrm>
          <a:prstGeom prst="rect">
            <a:avLst/>
          </a:prstGeom>
          <a:noFill/>
          <a:ln/>
        </p:spPr>
        <p:txBody>
          <a:bodyPr wrap="square" lIns="0" tIns="0" rIns="0" bIns="0" rtlCol="0" anchor="ctr"/>
          <a:lstStyle/>
          <a:p>
            <a:pPr marL="0" indent="0">
              <a:buNone/>
            </a:pPr>
            <a:r>
              <a:rPr lang="en-US" sz="1100" b="1" kern="0" spc="300" dirty="0">
                <a:solidFill>
                  <a:srgbClr val="A79BFF"/>
                </a:solidFill>
                <a:latin typeface="Calibri" pitchFamily="34" charset="0"/>
                <a:ea typeface="Calibri" pitchFamily="34" charset="-122"/>
                <a:cs typeface="Calibri" pitchFamily="34" charset="-120"/>
              </a:rPr>
              <a:t>COMBINADAS (10)</a:t>
            </a:r>
            <a:endParaRPr lang="en-US" sz="1100" dirty="0"/>
          </a:p>
        </p:txBody>
      </p:sp>
      <p:sp>
        <p:nvSpPr>
          <p:cNvPr id="20" name="Text 18">
            <a:extLst>
              <a:ext uri="{FF2B5EF4-FFF2-40B4-BE49-F238E27FC236}">
                <a16:creationId xmlns:a16="http://schemas.microsoft.com/office/drawing/2014/main" id="{C7026E9F-A4F1-5FF0-E39E-A4F3F3AB6A7A}"/>
              </a:ext>
            </a:extLst>
          </p:cNvPr>
          <p:cNvSpPr/>
          <p:nvPr/>
        </p:nvSpPr>
        <p:spPr>
          <a:xfrm>
            <a:off x="3566160"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ㅐ</a:t>
            </a:r>
            <a:endParaRPr lang="en-US" sz="2800" dirty="0"/>
          </a:p>
        </p:txBody>
      </p:sp>
      <p:sp>
        <p:nvSpPr>
          <p:cNvPr id="21" name="Text 19">
            <a:extLst>
              <a:ext uri="{FF2B5EF4-FFF2-40B4-BE49-F238E27FC236}">
                <a16:creationId xmlns:a16="http://schemas.microsoft.com/office/drawing/2014/main" id="{768340F7-378C-0F7A-0B03-78FF387BA417}"/>
              </a:ext>
            </a:extLst>
          </p:cNvPr>
          <p:cNvSpPr/>
          <p:nvPr/>
        </p:nvSpPr>
        <p:spPr>
          <a:xfrm>
            <a:off x="470693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ㅒ</a:t>
            </a:r>
            <a:endParaRPr lang="en-US" sz="2800" dirty="0"/>
          </a:p>
        </p:txBody>
      </p:sp>
      <p:sp>
        <p:nvSpPr>
          <p:cNvPr id="22" name="Text 20">
            <a:extLst>
              <a:ext uri="{FF2B5EF4-FFF2-40B4-BE49-F238E27FC236}">
                <a16:creationId xmlns:a16="http://schemas.microsoft.com/office/drawing/2014/main" id="{61C7DA97-8386-564B-DD09-904B5FC15DF6}"/>
              </a:ext>
            </a:extLst>
          </p:cNvPr>
          <p:cNvSpPr/>
          <p:nvPr/>
        </p:nvSpPr>
        <p:spPr>
          <a:xfrm>
            <a:off x="5847719"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ㅔ</a:t>
            </a:r>
            <a:endParaRPr lang="en-US" sz="2800" dirty="0"/>
          </a:p>
        </p:txBody>
      </p:sp>
      <p:sp>
        <p:nvSpPr>
          <p:cNvPr id="23" name="Text 21">
            <a:extLst>
              <a:ext uri="{FF2B5EF4-FFF2-40B4-BE49-F238E27FC236}">
                <a16:creationId xmlns:a16="http://schemas.microsoft.com/office/drawing/2014/main" id="{DD00C788-3D19-7C01-6F83-12AE9A55CA8F}"/>
              </a:ext>
            </a:extLst>
          </p:cNvPr>
          <p:cNvSpPr/>
          <p:nvPr/>
        </p:nvSpPr>
        <p:spPr>
          <a:xfrm>
            <a:off x="6988498"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ㅖ</a:t>
            </a:r>
            <a:endParaRPr lang="en-US" sz="2800" dirty="0"/>
          </a:p>
        </p:txBody>
      </p:sp>
      <p:sp>
        <p:nvSpPr>
          <p:cNvPr id="24" name="Text 22">
            <a:extLst>
              <a:ext uri="{FF2B5EF4-FFF2-40B4-BE49-F238E27FC236}">
                <a16:creationId xmlns:a16="http://schemas.microsoft.com/office/drawing/2014/main" id="{75FEC520-0E96-C1C5-3EB6-821F6BDD2BF2}"/>
              </a:ext>
            </a:extLst>
          </p:cNvPr>
          <p:cNvSpPr/>
          <p:nvPr/>
        </p:nvSpPr>
        <p:spPr>
          <a:xfrm>
            <a:off x="812927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ㅚ</a:t>
            </a:r>
            <a:endParaRPr lang="en-US" sz="2800" dirty="0"/>
          </a:p>
        </p:txBody>
      </p:sp>
      <p:sp>
        <p:nvSpPr>
          <p:cNvPr id="25" name="Text 23">
            <a:extLst>
              <a:ext uri="{FF2B5EF4-FFF2-40B4-BE49-F238E27FC236}">
                <a16:creationId xmlns:a16="http://schemas.microsoft.com/office/drawing/2014/main" id="{FEF11570-E585-F5B0-6603-0E2AD4A7208C}"/>
              </a:ext>
            </a:extLst>
          </p:cNvPr>
          <p:cNvSpPr/>
          <p:nvPr/>
        </p:nvSpPr>
        <p:spPr>
          <a:xfrm>
            <a:off x="9270057"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ㅟ</a:t>
            </a:r>
            <a:endParaRPr lang="en-US" sz="2800" dirty="0"/>
          </a:p>
        </p:txBody>
      </p:sp>
      <p:sp>
        <p:nvSpPr>
          <p:cNvPr id="26" name="Text 24">
            <a:extLst>
              <a:ext uri="{FF2B5EF4-FFF2-40B4-BE49-F238E27FC236}">
                <a16:creationId xmlns:a16="http://schemas.microsoft.com/office/drawing/2014/main" id="{D4A86513-27C3-BD81-CA30-CEF02090E97A}"/>
              </a:ext>
            </a:extLst>
          </p:cNvPr>
          <p:cNvSpPr/>
          <p:nvPr/>
        </p:nvSpPr>
        <p:spPr>
          <a:xfrm>
            <a:off x="10410836" y="3520440"/>
            <a:ext cx="1140779" cy="960120"/>
          </a:xfrm>
          <a:prstGeom prst="rect">
            <a:avLst/>
          </a:prstGeom>
          <a:noFill/>
          <a:ln/>
        </p:spPr>
        <p:txBody>
          <a:bodyPr wrap="square" lIns="0" tIns="0" rIns="0" bIns="0" rtlCol="0" anchor="ctr"/>
          <a:lstStyle/>
          <a:p>
            <a:pPr marL="0" indent="0" algn="ctr">
              <a:buNone/>
            </a:pPr>
            <a:r>
              <a:rPr lang="en-US" sz="2800" b="1" dirty="0">
                <a:solidFill>
                  <a:srgbClr val="A79BFF"/>
                </a:solidFill>
                <a:latin typeface="Malgun Gothic" pitchFamily="34" charset="0"/>
                <a:ea typeface="Malgun Gothic" pitchFamily="34" charset="-122"/>
                <a:cs typeface="Malgun Gothic" pitchFamily="34" charset="-120"/>
              </a:rPr>
              <a:t>ㅢ</a:t>
            </a:r>
            <a:endParaRPr lang="en-US" sz="2800" dirty="0"/>
          </a:p>
        </p:txBody>
      </p:sp>
      <p:sp>
        <p:nvSpPr>
          <p:cNvPr id="27" name="Shape 25">
            <a:extLst>
              <a:ext uri="{FF2B5EF4-FFF2-40B4-BE49-F238E27FC236}">
                <a16:creationId xmlns:a16="http://schemas.microsoft.com/office/drawing/2014/main" id="{305FD977-5E9B-7379-7B10-402AF47B3D5D}"/>
              </a:ext>
            </a:extLst>
          </p:cNvPr>
          <p:cNvSpPr/>
          <p:nvPr/>
        </p:nvSpPr>
        <p:spPr>
          <a:xfrm>
            <a:off x="640080" y="4572000"/>
            <a:ext cx="10911535" cy="960120"/>
          </a:xfrm>
          <a:prstGeom prst="roundRect">
            <a:avLst>
              <a:gd name="adj" fmla="val 14286"/>
            </a:avLst>
          </a:prstGeom>
          <a:solidFill>
            <a:srgbClr val="FFE0E0"/>
          </a:solidFill>
          <a:ln w="15240">
            <a:solidFill>
              <a:srgbClr val="FE6768"/>
            </a:solidFill>
            <a:prstDash val="solid"/>
          </a:ln>
        </p:spPr>
      </p:sp>
      <p:sp>
        <p:nvSpPr>
          <p:cNvPr id="28" name="Text 26">
            <a:extLst>
              <a:ext uri="{FF2B5EF4-FFF2-40B4-BE49-F238E27FC236}">
                <a16:creationId xmlns:a16="http://schemas.microsoft.com/office/drawing/2014/main" id="{B1FA4C90-8971-62B7-B527-BEB5DCD3B4EA}"/>
              </a:ext>
            </a:extLst>
          </p:cNvPr>
          <p:cNvSpPr/>
          <p:nvPr/>
        </p:nvSpPr>
        <p:spPr>
          <a:xfrm>
            <a:off x="777240" y="4572000"/>
            <a:ext cx="2926080" cy="960120"/>
          </a:xfrm>
          <a:prstGeom prst="rect">
            <a:avLst/>
          </a:prstGeom>
          <a:noFill/>
          <a:ln/>
        </p:spPr>
        <p:txBody>
          <a:bodyPr wrap="square" lIns="0" tIns="0" rIns="0" bIns="0" rtlCol="0" anchor="ctr"/>
          <a:lstStyle/>
          <a:p>
            <a:pPr marL="0" indent="0">
              <a:buNone/>
            </a:pPr>
            <a:r>
              <a:rPr lang="en-US" sz="1100" b="1" kern="0" spc="300" dirty="0">
                <a:solidFill>
                  <a:srgbClr val="FE6768"/>
                </a:solidFill>
                <a:latin typeface="Calibri" pitchFamily="34" charset="0"/>
                <a:ea typeface="Calibri" pitchFamily="34" charset="-122"/>
                <a:cs typeface="Calibri" pitchFamily="34" charset="-120"/>
              </a:rPr>
              <a:t>COMPUESTAS (4)</a:t>
            </a:r>
            <a:endParaRPr lang="en-US" sz="1100" dirty="0"/>
          </a:p>
        </p:txBody>
      </p:sp>
      <p:sp>
        <p:nvSpPr>
          <p:cNvPr id="29" name="Text 27">
            <a:extLst>
              <a:ext uri="{FF2B5EF4-FFF2-40B4-BE49-F238E27FC236}">
                <a16:creationId xmlns:a16="http://schemas.microsoft.com/office/drawing/2014/main" id="{218B6D68-C38F-9626-B580-6432A7C0760D}"/>
              </a:ext>
            </a:extLst>
          </p:cNvPr>
          <p:cNvSpPr/>
          <p:nvPr/>
        </p:nvSpPr>
        <p:spPr>
          <a:xfrm>
            <a:off x="3566160"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ㅘ</a:t>
            </a:r>
            <a:endParaRPr lang="en-US" sz="2800" dirty="0"/>
          </a:p>
        </p:txBody>
      </p:sp>
      <p:sp>
        <p:nvSpPr>
          <p:cNvPr id="30" name="Text 28">
            <a:extLst>
              <a:ext uri="{FF2B5EF4-FFF2-40B4-BE49-F238E27FC236}">
                <a16:creationId xmlns:a16="http://schemas.microsoft.com/office/drawing/2014/main" id="{565D7991-7F0E-E459-1343-D4F870C057E7}"/>
              </a:ext>
            </a:extLst>
          </p:cNvPr>
          <p:cNvSpPr/>
          <p:nvPr/>
        </p:nvSpPr>
        <p:spPr>
          <a:xfrm>
            <a:off x="5562524"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ㅝ</a:t>
            </a:r>
            <a:endParaRPr lang="en-US" sz="2800" dirty="0"/>
          </a:p>
        </p:txBody>
      </p:sp>
      <p:sp>
        <p:nvSpPr>
          <p:cNvPr id="31" name="Text 29">
            <a:extLst>
              <a:ext uri="{FF2B5EF4-FFF2-40B4-BE49-F238E27FC236}">
                <a16:creationId xmlns:a16="http://schemas.microsoft.com/office/drawing/2014/main" id="{BE86D63C-EC72-8AFF-1E0E-6AFF0653012F}"/>
              </a:ext>
            </a:extLst>
          </p:cNvPr>
          <p:cNvSpPr/>
          <p:nvPr/>
        </p:nvSpPr>
        <p:spPr>
          <a:xfrm>
            <a:off x="7558888"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ㅙ</a:t>
            </a:r>
            <a:endParaRPr lang="en-US" sz="2800" dirty="0"/>
          </a:p>
        </p:txBody>
      </p:sp>
      <p:sp>
        <p:nvSpPr>
          <p:cNvPr id="32" name="Text 30">
            <a:extLst>
              <a:ext uri="{FF2B5EF4-FFF2-40B4-BE49-F238E27FC236}">
                <a16:creationId xmlns:a16="http://schemas.microsoft.com/office/drawing/2014/main" id="{68EDEA95-5E8E-6CB2-0EB8-7D4832C99F47}"/>
              </a:ext>
            </a:extLst>
          </p:cNvPr>
          <p:cNvSpPr/>
          <p:nvPr/>
        </p:nvSpPr>
        <p:spPr>
          <a:xfrm>
            <a:off x="9555251" y="4572000"/>
            <a:ext cx="1996364" cy="960120"/>
          </a:xfrm>
          <a:prstGeom prst="rect">
            <a:avLst/>
          </a:prstGeom>
          <a:noFill/>
          <a:ln/>
        </p:spPr>
        <p:txBody>
          <a:bodyPr wrap="square" lIns="0" tIns="0" rIns="0" bIns="0" rtlCol="0" anchor="ctr"/>
          <a:lstStyle/>
          <a:p>
            <a:pPr marL="0" indent="0" algn="ctr">
              <a:buNone/>
            </a:pPr>
            <a:r>
              <a:rPr lang="en-US" sz="2800" b="1" dirty="0">
                <a:solidFill>
                  <a:srgbClr val="FE6768"/>
                </a:solidFill>
                <a:latin typeface="Malgun Gothic" pitchFamily="34" charset="0"/>
                <a:ea typeface="Malgun Gothic" pitchFamily="34" charset="-122"/>
                <a:cs typeface="Malgun Gothic" pitchFamily="34" charset="-120"/>
              </a:rPr>
              <a:t>ㅞ</a:t>
            </a:r>
            <a:endParaRPr lang="en-US" sz="2800" dirty="0"/>
          </a:p>
        </p:txBody>
      </p:sp>
      <p:sp>
        <p:nvSpPr>
          <p:cNvPr id="33" name="Text 31">
            <a:extLst>
              <a:ext uri="{FF2B5EF4-FFF2-40B4-BE49-F238E27FC236}">
                <a16:creationId xmlns:a16="http://schemas.microsoft.com/office/drawing/2014/main" id="{4E3669BA-CA64-6300-3372-F4B57C7DDBE2}"/>
              </a:ext>
            </a:extLst>
          </p:cNvPr>
          <p:cNvSpPr/>
          <p:nvPr/>
        </p:nvSpPr>
        <p:spPr>
          <a:xfrm>
            <a:off x="640080" y="5760720"/>
            <a:ext cx="10911535" cy="365760"/>
          </a:xfrm>
          <a:prstGeom prst="rect">
            <a:avLst/>
          </a:prstGeom>
          <a:noFill/>
          <a:ln/>
        </p:spPr>
        <p:txBody>
          <a:bodyPr wrap="square" lIns="0" tIns="0" rIns="0" bIns="0" rtlCol="0" anchor="ctr"/>
          <a:lstStyle/>
          <a:p>
            <a:pPr marL="0" indent="0" algn="ctr">
              <a:buNone/>
            </a:pPr>
            <a:r>
              <a:rPr lang="en-US" sz="1300" b="1" i="1" dirty="0">
                <a:solidFill>
                  <a:srgbClr val="4036ED"/>
                </a:solidFill>
                <a:latin typeface="Calibri" pitchFamily="34" charset="0"/>
                <a:ea typeface="Calibri" pitchFamily="34" charset="-122"/>
                <a:cs typeface="Calibri" pitchFamily="34" charset="-120"/>
              </a:rPr>
              <a:t>Total: 21 vocales coreanas — todas derivadas de · ㅡ ㅣ.</a:t>
            </a:r>
            <a:endParaRPr lang="en-US" sz="1300" dirty="0"/>
          </a:p>
        </p:txBody>
      </p:sp>
      <p:pic>
        <p:nvPicPr>
          <p:cNvPr id="34" name="Image 0" descr="preencoded.png">
            <a:extLst>
              <a:ext uri="{FF2B5EF4-FFF2-40B4-BE49-F238E27FC236}">
                <a16:creationId xmlns:a16="http://schemas.microsoft.com/office/drawing/2014/main" id="{0730F1CD-32E7-D6AA-0DF2-46BBC45E7EA3}"/>
              </a:ext>
            </a:extLst>
          </p:cNvPr>
          <p:cNvPicPr>
            <a:picLocks noChangeAspect="1"/>
          </p:cNvPicPr>
          <p:nvPr/>
        </p:nvPicPr>
        <p:blipFill>
          <a:blip r:embed="rId3"/>
          <a:stretch>
            <a:fillRect/>
          </a:stretch>
        </p:blipFill>
        <p:spPr>
          <a:xfrm>
            <a:off x="11597335" y="182880"/>
            <a:ext cx="292608" cy="292608"/>
          </a:xfrm>
          <a:prstGeom prst="rect">
            <a:avLst/>
          </a:prstGeom>
        </p:spPr>
      </p:pic>
      <p:sp>
        <p:nvSpPr>
          <p:cNvPr id="35" name="Text 32">
            <a:extLst>
              <a:ext uri="{FF2B5EF4-FFF2-40B4-BE49-F238E27FC236}">
                <a16:creationId xmlns:a16="http://schemas.microsoft.com/office/drawing/2014/main" id="{02E1A177-A86E-2CD8-FCE8-615EBCA6527A}"/>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802D41F0-6F2F-5C53-1135-188374C8C26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120</a:t>
            </a:r>
            <a:endParaRPr lang="en-US" sz="800" dirty="0"/>
          </a:p>
        </p:txBody>
      </p:sp>
      <p:sp>
        <p:nvSpPr>
          <p:cNvPr id="37" name="TextBox 36">
            <a:extLst>
              <a:ext uri="{FF2B5EF4-FFF2-40B4-BE49-F238E27FC236}">
                <a16:creationId xmlns:a16="http://schemas.microsoft.com/office/drawing/2014/main" id="{85A63612-1C1A-DACF-10AE-F437740C114A}"/>
              </a:ext>
            </a:extLst>
          </p:cNvPr>
          <p:cNvSpPr txBox="1"/>
          <p:nvPr/>
        </p:nvSpPr>
        <p:spPr>
          <a:xfrm>
            <a:off x="3822803" y="3073660"/>
            <a:ext cx="295274" cy="369332"/>
          </a:xfrm>
          <a:prstGeom prst="rect">
            <a:avLst/>
          </a:prstGeom>
          <a:noFill/>
        </p:spPr>
        <p:txBody>
          <a:bodyPr wrap="none" rtlCol="0">
            <a:spAutoFit/>
          </a:bodyPr>
          <a:lstStyle/>
          <a:p>
            <a:r>
              <a:rPr lang="es-CL" dirty="0"/>
              <a:t>a</a:t>
            </a:r>
          </a:p>
        </p:txBody>
      </p:sp>
      <p:sp>
        <p:nvSpPr>
          <p:cNvPr id="38" name="TextBox 37">
            <a:extLst>
              <a:ext uri="{FF2B5EF4-FFF2-40B4-BE49-F238E27FC236}">
                <a16:creationId xmlns:a16="http://schemas.microsoft.com/office/drawing/2014/main" id="{E0AD0C07-5CFA-E6FD-6D12-90B8AD2019BE}"/>
              </a:ext>
            </a:extLst>
          </p:cNvPr>
          <p:cNvSpPr txBox="1"/>
          <p:nvPr/>
        </p:nvSpPr>
        <p:spPr>
          <a:xfrm>
            <a:off x="4518662" y="3080847"/>
            <a:ext cx="348172" cy="369332"/>
          </a:xfrm>
          <a:prstGeom prst="rect">
            <a:avLst/>
          </a:prstGeom>
          <a:noFill/>
        </p:spPr>
        <p:txBody>
          <a:bodyPr wrap="none" rtlCol="0">
            <a:spAutoFit/>
          </a:bodyPr>
          <a:lstStyle/>
          <a:p>
            <a:r>
              <a:rPr lang="es-CL" dirty="0" err="1"/>
              <a:t>ia</a:t>
            </a:r>
            <a:endParaRPr lang="es-CL" dirty="0"/>
          </a:p>
        </p:txBody>
      </p:sp>
      <p:sp>
        <p:nvSpPr>
          <p:cNvPr id="39" name="TextBox 38">
            <a:extLst>
              <a:ext uri="{FF2B5EF4-FFF2-40B4-BE49-F238E27FC236}">
                <a16:creationId xmlns:a16="http://schemas.microsoft.com/office/drawing/2014/main" id="{BA18A64A-1582-A3ED-9165-AA2805AE497F}"/>
              </a:ext>
            </a:extLst>
          </p:cNvPr>
          <p:cNvSpPr txBox="1"/>
          <p:nvPr/>
        </p:nvSpPr>
        <p:spPr>
          <a:xfrm>
            <a:off x="5206949" y="3057882"/>
            <a:ext cx="421910" cy="369332"/>
          </a:xfrm>
          <a:prstGeom prst="rect">
            <a:avLst/>
          </a:prstGeom>
          <a:noFill/>
        </p:spPr>
        <p:txBody>
          <a:bodyPr wrap="none" rtlCol="0">
            <a:spAutoFit/>
          </a:bodyPr>
          <a:lstStyle/>
          <a:p>
            <a:r>
              <a:rPr lang="es-CL" dirty="0" err="1"/>
              <a:t>eo</a:t>
            </a:r>
            <a:endParaRPr lang="es-CL" dirty="0"/>
          </a:p>
        </p:txBody>
      </p:sp>
      <p:sp>
        <p:nvSpPr>
          <p:cNvPr id="40" name="TextBox 39">
            <a:extLst>
              <a:ext uri="{FF2B5EF4-FFF2-40B4-BE49-F238E27FC236}">
                <a16:creationId xmlns:a16="http://schemas.microsoft.com/office/drawing/2014/main" id="{5926684A-7570-372E-685C-2ADFC7BBBD55}"/>
              </a:ext>
            </a:extLst>
          </p:cNvPr>
          <p:cNvSpPr txBox="1"/>
          <p:nvPr/>
        </p:nvSpPr>
        <p:spPr>
          <a:xfrm>
            <a:off x="5943298" y="3051354"/>
            <a:ext cx="474810" cy="369332"/>
          </a:xfrm>
          <a:prstGeom prst="rect">
            <a:avLst/>
          </a:prstGeom>
          <a:noFill/>
        </p:spPr>
        <p:txBody>
          <a:bodyPr wrap="none" rtlCol="0">
            <a:spAutoFit/>
          </a:bodyPr>
          <a:lstStyle/>
          <a:p>
            <a:r>
              <a:rPr lang="es-CL" dirty="0" err="1"/>
              <a:t>ieo</a:t>
            </a:r>
            <a:endParaRPr lang="es-CL" dirty="0"/>
          </a:p>
        </p:txBody>
      </p:sp>
      <p:sp>
        <p:nvSpPr>
          <p:cNvPr id="41" name="TextBox 40">
            <a:extLst>
              <a:ext uri="{FF2B5EF4-FFF2-40B4-BE49-F238E27FC236}">
                <a16:creationId xmlns:a16="http://schemas.microsoft.com/office/drawing/2014/main" id="{5BE6F6FF-7F19-459E-E9AC-E6AB98A614FE}"/>
              </a:ext>
            </a:extLst>
          </p:cNvPr>
          <p:cNvSpPr txBox="1"/>
          <p:nvPr/>
        </p:nvSpPr>
        <p:spPr>
          <a:xfrm>
            <a:off x="6702764" y="3006327"/>
            <a:ext cx="306494" cy="369332"/>
          </a:xfrm>
          <a:prstGeom prst="rect">
            <a:avLst/>
          </a:prstGeom>
          <a:noFill/>
        </p:spPr>
        <p:txBody>
          <a:bodyPr wrap="none" rtlCol="0">
            <a:spAutoFit/>
          </a:bodyPr>
          <a:lstStyle/>
          <a:p>
            <a:r>
              <a:rPr lang="es-CL" dirty="0"/>
              <a:t>o</a:t>
            </a:r>
          </a:p>
        </p:txBody>
      </p:sp>
      <p:sp>
        <p:nvSpPr>
          <p:cNvPr id="42" name="TextBox 41">
            <a:extLst>
              <a:ext uri="{FF2B5EF4-FFF2-40B4-BE49-F238E27FC236}">
                <a16:creationId xmlns:a16="http://schemas.microsoft.com/office/drawing/2014/main" id="{1F68AC85-4D01-4E95-7D49-27B78BAA005E}"/>
              </a:ext>
            </a:extLst>
          </p:cNvPr>
          <p:cNvSpPr txBox="1"/>
          <p:nvPr/>
        </p:nvSpPr>
        <p:spPr>
          <a:xfrm>
            <a:off x="7354889" y="3015734"/>
            <a:ext cx="407997" cy="369332"/>
          </a:xfrm>
          <a:prstGeom prst="rect">
            <a:avLst/>
          </a:prstGeom>
          <a:noFill/>
        </p:spPr>
        <p:txBody>
          <a:bodyPr wrap="none" rtlCol="0">
            <a:spAutoFit/>
          </a:bodyPr>
          <a:lstStyle/>
          <a:p>
            <a:r>
              <a:rPr lang="es-CL" dirty="0"/>
              <a:t>yo</a:t>
            </a:r>
          </a:p>
        </p:txBody>
      </p:sp>
      <p:sp>
        <p:nvSpPr>
          <p:cNvPr id="43" name="TextBox 42">
            <a:extLst>
              <a:ext uri="{FF2B5EF4-FFF2-40B4-BE49-F238E27FC236}">
                <a16:creationId xmlns:a16="http://schemas.microsoft.com/office/drawing/2014/main" id="{1DEDB9F1-0633-9C27-1558-3D4ECA85DAD1}"/>
              </a:ext>
            </a:extLst>
          </p:cNvPr>
          <p:cNvSpPr txBox="1"/>
          <p:nvPr/>
        </p:nvSpPr>
        <p:spPr>
          <a:xfrm>
            <a:off x="8149073" y="3045059"/>
            <a:ext cx="306494" cy="369332"/>
          </a:xfrm>
          <a:prstGeom prst="rect">
            <a:avLst/>
          </a:prstGeom>
          <a:noFill/>
        </p:spPr>
        <p:txBody>
          <a:bodyPr wrap="none" rtlCol="0">
            <a:spAutoFit/>
          </a:bodyPr>
          <a:lstStyle/>
          <a:p>
            <a:r>
              <a:rPr lang="es-CL" dirty="0"/>
              <a:t>u</a:t>
            </a:r>
          </a:p>
        </p:txBody>
      </p:sp>
      <p:sp>
        <p:nvSpPr>
          <p:cNvPr id="44" name="TextBox 43">
            <a:extLst>
              <a:ext uri="{FF2B5EF4-FFF2-40B4-BE49-F238E27FC236}">
                <a16:creationId xmlns:a16="http://schemas.microsoft.com/office/drawing/2014/main" id="{66A634B9-D451-8554-C919-C804DEEEEA33}"/>
              </a:ext>
            </a:extLst>
          </p:cNvPr>
          <p:cNvSpPr txBox="1"/>
          <p:nvPr/>
        </p:nvSpPr>
        <p:spPr>
          <a:xfrm>
            <a:off x="8840059" y="3036808"/>
            <a:ext cx="359394" cy="369332"/>
          </a:xfrm>
          <a:prstGeom prst="rect">
            <a:avLst/>
          </a:prstGeom>
          <a:noFill/>
        </p:spPr>
        <p:txBody>
          <a:bodyPr wrap="none" rtlCol="0">
            <a:spAutoFit/>
          </a:bodyPr>
          <a:lstStyle/>
          <a:p>
            <a:r>
              <a:rPr lang="es-CL" dirty="0" err="1"/>
              <a:t>iu</a:t>
            </a:r>
            <a:endParaRPr lang="es-CL" dirty="0"/>
          </a:p>
        </p:txBody>
      </p:sp>
      <p:sp>
        <p:nvSpPr>
          <p:cNvPr id="45" name="TextBox 44">
            <a:extLst>
              <a:ext uri="{FF2B5EF4-FFF2-40B4-BE49-F238E27FC236}">
                <a16:creationId xmlns:a16="http://schemas.microsoft.com/office/drawing/2014/main" id="{3062CC77-C878-656F-B25B-A816AA33CAAE}"/>
              </a:ext>
            </a:extLst>
          </p:cNvPr>
          <p:cNvSpPr txBox="1"/>
          <p:nvPr/>
        </p:nvSpPr>
        <p:spPr>
          <a:xfrm>
            <a:off x="9525784" y="3027557"/>
            <a:ext cx="421910" cy="369332"/>
          </a:xfrm>
          <a:prstGeom prst="rect">
            <a:avLst/>
          </a:prstGeom>
          <a:noFill/>
        </p:spPr>
        <p:txBody>
          <a:bodyPr wrap="none" rtlCol="0">
            <a:spAutoFit/>
          </a:bodyPr>
          <a:lstStyle/>
          <a:p>
            <a:r>
              <a:rPr lang="es-CL" dirty="0" err="1"/>
              <a:t>eu</a:t>
            </a:r>
            <a:endParaRPr lang="es-CL" dirty="0"/>
          </a:p>
        </p:txBody>
      </p:sp>
      <p:sp>
        <p:nvSpPr>
          <p:cNvPr id="46" name="TextBox 45">
            <a:extLst>
              <a:ext uri="{FF2B5EF4-FFF2-40B4-BE49-F238E27FC236}">
                <a16:creationId xmlns:a16="http://schemas.microsoft.com/office/drawing/2014/main" id="{73C5050E-4C90-05E6-FFB8-9DAABC10F9A6}"/>
              </a:ext>
            </a:extLst>
          </p:cNvPr>
          <p:cNvSpPr txBox="1"/>
          <p:nvPr/>
        </p:nvSpPr>
        <p:spPr>
          <a:xfrm>
            <a:off x="10343906" y="3059668"/>
            <a:ext cx="237566" cy="369332"/>
          </a:xfrm>
          <a:prstGeom prst="rect">
            <a:avLst/>
          </a:prstGeom>
          <a:noFill/>
        </p:spPr>
        <p:txBody>
          <a:bodyPr wrap="none" rtlCol="0">
            <a:spAutoFit/>
          </a:bodyPr>
          <a:lstStyle/>
          <a:p>
            <a:r>
              <a:rPr lang="es-CL" dirty="0"/>
              <a:t>i</a:t>
            </a:r>
          </a:p>
        </p:txBody>
      </p:sp>
      <p:sp>
        <p:nvSpPr>
          <p:cNvPr id="47" name="TextBox 46">
            <a:extLst>
              <a:ext uri="{FF2B5EF4-FFF2-40B4-BE49-F238E27FC236}">
                <a16:creationId xmlns:a16="http://schemas.microsoft.com/office/drawing/2014/main" id="{2FE1D9A9-5A8D-C17C-3BE3-3998920753ED}"/>
              </a:ext>
            </a:extLst>
          </p:cNvPr>
          <p:cNvSpPr txBox="1"/>
          <p:nvPr/>
        </p:nvSpPr>
        <p:spPr>
          <a:xfrm>
            <a:off x="4017766" y="4086582"/>
            <a:ext cx="300082" cy="369332"/>
          </a:xfrm>
          <a:prstGeom prst="rect">
            <a:avLst/>
          </a:prstGeom>
          <a:noFill/>
        </p:spPr>
        <p:txBody>
          <a:bodyPr wrap="none" rtlCol="0">
            <a:spAutoFit/>
          </a:bodyPr>
          <a:lstStyle/>
          <a:p>
            <a:r>
              <a:rPr lang="es-CL" dirty="0"/>
              <a:t>e</a:t>
            </a:r>
          </a:p>
        </p:txBody>
      </p:sp>
      <p:sp>
        <p:nvSpPr>
          <p:cNvPr id="48" name="TextBox 47">
            <a:extLst>
              <a:ext uri="{FF2B5EF4-FFF2-40B4-BE49-F238E27FC236}">
                <a16:creationId xmlns:a16="http://schemas.microsoft.com/office/drawing/2014/main" id="{48F51F26-D68C-A029-8FDF-AC40D96CD8AE}"/>
              </a:ext>
            </a:extLst>
          </p:cNvPr>
          <p:cNvSpPr txBox="1"/>
          <p:nvPr/>
        </p:nvSpPr>
        <p:spPr>
          <a:xfrm>
            <a:off x="5171426" y="4131302"/>
            <a:ext cx="401457" cy="369332"/>
          </a:xfrm>
          <a:prstGeom prst="rect">
            <a:avLst/>
          </a:prstGeom>
          <a:noFill/>
        </p:spPr>
        <p:txBody>
          <a:bodyPr wrap="none" rtlCol="0">
            <a:spAutoFit/>
          </a:bodyPr>
          <a:lstStyle/>
          <a:p>
            <a:r>
              <a:rPr lang="es-CL" dirty="0"/>
              <a:t>ye</a:t>
            </a:r>
          </a:p>
        </p:txBody>
      </p:sp>
      <p:sp>
        <p:nvSpPr>
          <p:cNvPr id="49" name="TextBox 48">
            <a:extLst>
              <a:ext uri="{FF2B5EF4-FFF2-40B4-BE49-F238E27FC236}">
                <a16:creationId xmlns:a16="http://schemas.microsoft.com/office/drawing/2014/main" id="{8ECC3CAC-C48D-2194-CD6A-F907FDB7FF66}"/>
              </a:ext>
            </a:extLst>
          </p:cNvPr>
          <p:cNvSpPr txBox="1"/>
          <p:nvPr/>
        </p:nvSpPr>
        <p:spPr>
          <a:xfrm>
            <a:off x="7404305" y="4086582"/>
            <a:ext cx="401457" cy="369332"/>
          </a:xfrm>
          <a:prstGeom prst="rect">
            <a:avLst/>
          </a:prstGeom>
          <a:noFill/>
        </p:spPr>
        <p:txBody>
          <a:bodyPr wrap="none" rtlCol="0">
            <a:spAutoFit/>
          </a:bodyPr>
          <a:lstStyle/>
          <a:p>
            <a:r>
              <a:rPr lang="es-CL" dirty="0"/>
              <a:t>ye</a:t>
            </a:r>
          </a:p>
        </p:txBody>
      </p:sp>
      <p:sp>
        <p:nvSpPr>
          <p:cNvPr id="50" name="TextBox 49">
            <a:extLst>
              <a:ext uri="{FF2B5EF4-FFF2-40B4-BE49-F238E27FC236}">
                <a16:creationId xmlns:a16="http://schemas.microsoft.com/office/drawing/2014/main" id="{5244AC1B-DF65-D003-BC79-A69486E8420E}"/>
              </a:ext>
            </a:extLst>
          </p:cNvPr>
          <p:cNvSpPr txBox="1"/>
          <p:nvPr/>
        </p:nvSpPr>
        <p:spPr>
          <a:xfrm>
            <a:off x="6286701" y="4111228"/>
            <a:ext cx="300082" cy="369332"/>
          </a:xfrm>
          <a:prstGeom prst="rect">
            <a:avLst/>
          </a:prstGeom>
          <a:noFill/>
        </p:spPr>
        <p:txBody>
          <a:bodyPr wrap="none" rtlCol="0">
            <a:spAutoFit/>
          </a:bodyPr>
          <a:lstStyle/>
          <a:p>
            <a:r>
              <a:rPr lang="es-CL" dirty="0"/>
              <a:t>e</a:t>
            </a:r>
          </a:p>
        </p:txBody>
      </p:sp>
      <p:sp>
        <p:nvSpPr>
          <p:cNvPr id="51" name="TextBox 50">
            <a:extLst>
              <a:ext uri="{FF2B5EF4-FFF2-40B4-BE49-F238E27FC236}">
                <a16:creationId xmlns:a16="http://schemas.microsoft.com/office/drawing/2014/main" id="{35DE9E7F-24D5-78C7-1416-0972AF0CB299}"/>
              </a:ext>
            </a:extLst>
          </p:cNvPr>
          <p:cNvSpPr txBox="1"/>
          <p:nvPr/>
        </p:nvSpPr>
        <p:spPr>
          <a:xfrm>
            <a:off x="8434852" y="4111228"/>
            <a:ext cx="584904" cy="369332"/>
          </a:xfrm>
          <a:prstGeom prst="rect">
            <a:avLst/>
          </a:prstGeom>
          <a:noFill/>
        </p:spPr>
        <p:txBody>
          <a:bodyPr wrap="none" rtlCol="0">
            <a:spAutoFit/>
          </a:bodyPr>
          <a:lstStyle/>
          <a:p>
            <a:r>
              <a:rPr lang="es-CL" u="sng" dirty="0" err="1"/>
              <a:t>woe</a:t>
            </a:r>
            <a:endParaRPr lang="es-CL" u="sng" dirty="0"/>
          </a:p>
        </p:txBody>
      </p:sp>
      <p:sp>
        <p:nvSpPr>
          <p:cNvPr id="52" name="TextBox 51">
            <a:extLst>
              <a:ext uri="{FF2B5EF4-FFF2-40B4-BE49-F238E27FC236}">
                <a16:creationId xmlns:a16="http://schemas.microsoft.com/office/drawing/2014/main" id="{D136F41B-C9EE-1236-3042-542B51081CA7}"/>
              </a:ext>
            </a:extLst>
          </p:cNvPr>
          <p:cNvSpPr txBox="1"/>
          <p:nvPr/>
        </p:nvSpPr>
        <p:spPr>
          <a:xfrm>
            <a:off x="9593571" y="4139092"/>
            <a:ext cx="524503" cy="369332"/>
          </a:xfrm>
          <a:prstGeom prst="rect">
            <a:avLst/>
          </a:prstGeom>
          <a:noFill/>
        </p:spPr>
        <p:txBody>
          <a:bodyPr wrap="none" rtlCol="0">
            <a:spAutoFit/>
          </a:bodyPr>
          <a:lstStyle/>
          <a:p>
            <a:r>
              <a:rPr lang="es-CL" u="sng" dirty="0" err="1"/>
              <a:t>wui</a:t>
            </a:r>
            <a:endParaRPr lang="es-CL" u="sng" dirty="0"/>
          </a:p>
        </p:txBody>
      </p:sp>
      <p:sp>
        <p:nvSpPr>
          <p:cNvPr id="53" name="TextBox 52">
            <a:extLst>
              <a:ext uri="{FF2B5EF4-FFF2-40B4-BE49-F238E27FC236}">
                <a16:creationId xmlns:a16="http://schemas.microsoft.com/office/drawing/2014/main" id="{25A8704C-858F-3970-BD63-F9CB2486FBFB}"/>
              </a:ext>
            </a:extLst>
          </p:cNvPr>
          <p:cNvSpPr txBox="1"/>
          <p:nvPr/>
        </p:nvSpPr>
        <p:spPr>
          <a:xfrm>
            <a:off x="10758156" y="4086582"/>
            <a:ext cx="474810" cy="369332"/>
          </a:xfrm>
          <a:prstGeom prst="rect">
            <a:avLst/>
          </a:prstGeom>
          <a:noFill/>
        </p:spPr>
        <p:txBody>
          <a:bodyPr wrap="none" rtlCol="0">
            <a:spAutoFit/>
          </a:bodyPr>
          <a:lstStyle/>
          <a:p>
            <a:r>
              <a:rPr lang="es-CL" u="sng" dirty="0" err="1"/>
              <a:t>eui</a:t>
            </a:r>
            <a:endParaRPr lang="es-CL" u="sng" dirty="0"/>
          </a:p>
        </p:txBody>
      </p:sp>
      <p:sp>
        <p:nvSpPr>
          <p:cNvPr id="54" name="TextBox 53">
            <a:extLst>
              <a:ext uri="{FF2B5EF4-FFF2-40B4-BE49-F238E27FC236}">
                <a16:creationId xmlns:a16="http://schemas.microsoft.com/office/drawing/2014/main" id="{0470042E-C6CD-95FA-61A2-150812F5B8B4}"/>
              </a:ext>
            </a:extLst>
          </p:cNvPr>
          <p:cNvSpPr txBox="1"/>
          <p:nvPr/>
        </p:nvSpPr>
        <p:spPr>
          <a:xfrm>
            <a:off x="4317848" y="5182862"/>
            <a:ext cx="580095" cy="369332"/>
          </a:xfrm>
          <a:prstGeom prst="rect">
            <a:avLst/>
          </a:prstGeom>
          <a:noFill/>
        </p:spPr>
        <p:txBody>
          <a:bodyPr wrap="none" rtlCol="0">
            <a:spAutoFit/>
          </a:bodyPr>
          <a:lstStyle/>
          <a:p>
            <a:r>
              <a:rPr lang="es-CL" u="sng" dirty="0" err="1"/>
              <a:t>woa</a:t>
            </a:r>
            <a:endParaRPr lang="es-CL" u="sng" dirty="0"/>
          </a:p>
        </p:txBody>
      </p:sp>
      <p:sp>
        <p:nvSpPr>
          <p:cNvPr id="55" name="TextBox 54">
            <a:extLst>
              <a:ext uri="{FF2B5EF4-FFF2-40B4-BE49-F238E27FC236}">
                <a16:creationId xmlns:a16="http://schemas.microsoft.com/office/drawing/2014/main" id="{090BA9D2-CB21-C3B3-9F5B-04A066FA2CBE}"/>
              </a:ext>
            </a:extLst>
          </p:cNvPr>
          <p:cNvSpPr txBox="1"/>
          <p:nvPr/>
        </p:nvSpPr>
        <p:spPr>
          <a:xfrm>
            <a:off x="6290067" y="5157216"/>
            <a:ext cx="593432" cy="369332"/>
          </a:xfrm>
          <a:prstGeom prst="rect">
            <a:avLst/>
          </a:prstGeom>
          <a:noFill/>
        </p:spPr>
        <p:txBody>
          <a:bodyPr wrap="square" rtlCol="0">
            <a:spAutoFit/>
          </a:bodyPr>
          <a:lstStyle/>
          <a:p>
            <a:r>
              <a:rPr lang="es-CL" u="sng" dirty="0" err="1"/>
              <a:t>wuo</a:t>
            </a:r>
            <a:endParaRPr lang="es-CL" u="sng" dirty="0"/>
          </a:p>
        </p:txBody>
      </p:sp>
      <p:sp>
        <p:nvSpPr>
          <p:cNvPr id="56" name="TextBox 55">
            <a:extLst>
              <a:ext uri="{FF2B5EF4-FFF2-40B4-BE49-F238E27FC236}">
                <a16:creationId xmlns:a16="http://schemas.microsoft.com/office/drawing/2014/main" id="{FC1930EA-9F6E-FCFD-683C-08BFADF27D6E}"/>
              </a:ext>
            </a:extLst>
          </p:cNvPr>
          <p:cNvSpPr txBox="1"/>
          <p:nvPr/>
        </p:nvSpPr>
        <p:spPr>
          <a:xfrm>
            <a:off x="8327409" y="5172333"/>
            <a:ext cx="593432" cy="369332"/>
          </a:xfrm>
          <a:prstGeom prst="rect">
            <a:avLst/>
          </a:prstGeom>
          <a:noFill/>
        </p:spPr>
        <p:txBody>
          <a:bodyPr wrap="square" rtlCol="0">
            <a:spAutoFit/>
          </a:bodyPr>
          <a:lstStyle/>
          <a:p>
            <a:r>
              <a:rPr lang="es-CL" u="sng" dirty="0" err="1"/>
              <a:t>woe</a:t>
            </a:r>
            <a:endParaRPr lang="es-CL" u="sng" dirty="0"/>
          </a:p>
        </p:txBody>
      </p:sp>
      <p:sp>
        <p:nvSpPr>
          <p:cNvPr id="57" name="TextBox 56">
            <a:extLst>
              <a:ext uri="{FF2B5EF4-FFF2-40B4-BE49-F238E27FC236}">
                <a16:creationId xmlns:a16="http://schemas.microsoft.com/office/drawing/2014/main" id="{F2402F50-3314-8989-1801-2DE6B3A0231C}"/>
              </a:ext>
            </a:extLst>
          </p:cNvPr>
          <p:cNvSpPr txBox="1"/>
          <p:nvPr/>
        </p:nvSpPr>
        <p:spPr>
          <a:xfrm>
            <a:off x="10342258" y="5132231"/>
            <a:ext cx="593432" cy="369332"/>
          </a:xfrm>
          <a:prstGeom prst="rect">
            <a:avLst/>
          </a:prstGeom>
          <a:noFill/>
        </p:spPr>
        <p:txBody>
          <a:bodyPr wrap="square" rtlCol="0">
            <a:spAutoFit/>
          </a:bodyPr>
          <a:lstStyle/>
          <a:p>
            <a:r>
              <a:rPr lang="es-CL" u="sng" dirty="0" err="1"/>
              <a:t>wue</a:t>
            </a:r>
            <a:endParaRPr lang="es-CL" u="sng" dirty="0"/>
          </a:p>
        </p:txBody>
      </p:sp>
    </p:spTree>
    <p:extLst>
      <p:ext uri="{BB962C8B-B14F-4D97-AF65-F5344CB8AC3E}">
        <p14:creationId xmlns:p14="http://schemas.microsoft.com/office/powerpoint/2010/main" val="2494776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5" name="Text 3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F564681D-E678-D435-0DC4-4178EEA99542}"/>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79C45D79-8EE8-D8CC-B0A1-6748598BBDE6}"/>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768B7034-1EBC-1641-DBD0-34BD2B24CA82}"/>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6E7E8153-B4FE-2D49-51DF-9AD57CCC1B97}"/>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EFFB2AD0-9901-92BA-50B4-7A7F41698120}"/>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21F414FB-9177-96B4-9D22-09AFD347D26B}"/>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7B42B800-C616-F57B-8527-686A929CCAA7}"/>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4D56D902-1932-F7E8-36FB-C0E1A273FC61}"/>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36D396FB-3013-9A8E-B071-4FF152723978}"/>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9CC4B61-1088-F5E0-A95A-B8B8E0AD1F13}"/>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40427D0-E30F-ABD3-8FA7-FDC98040ACD5}"/>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5B0F7D30-2721-97DF-4A4C-6CA7942A5F43}"/>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3987922C-7396-0119-5C27-F5426DD23B07}"/>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110E09FC-91D7-179F-29D9-F533FF09054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E5BAE4C7-38E4-BE6D-2B99-A332F6644590}"/>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85CCFD9D-45C8-F21A-D786-18D9280BDEB4}"/>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0826C248-7C4E-FCCD-182E-63E1D4973A95}"/>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3D225247-A127-628D-F0C8-0E86C7791BF3}"/>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F48FD68F-6705-D60D-0443-9886E2B6AAAD}"/>
              </a:ext>
            </a:extLst>
          </p:cNvPr>
          <p:cNvSpPr txBox="1"/>
          <p:nvPr/>
        </p:nvSpPr>
        <p:spPr>
          <a:xfrm>
            <a:off x="9435668" y="5945061"/>
            <a:ext cx="239168" cy="369332"/>
          </a:xfrm>
          <a:prstGeom prst="rect">
            <a:avLst/>
          </a:prstGeom>
          <a:noFill/>
        </p:spPr>
        <p:txBody>
          <a:bodyPr wrap="none" rtlCol="0">
            <a:spAutoFit/>
          </a:bodyPr>
          <a:lstStyle/>
          <a:p>
            <a:r>
              <a:rPr lang="es-CL" dirty="0"/>
              <a:t>j</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§2.2</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cinco lugares de articulación</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De la garganta hasta los labios — un mapa de cinco zonas en tu boca.</a:t>
            </a:r>
            <a:endParaRPr lang="en-US" sz="1400" dirty="0"/>
          </a:p>
        </p:txBody>
      </p:sp>
      <p:sp>
        <p:nvSpPr>
          <p:cNvPr id="5" name="Shape 3"/>
          <p:cNvSpPr/>
          <p:nvPr/>
        </p:nvSpPr>
        <p:spPr>
          <a:xfrm>
            <a:off x="220828" y="2606040"/>
            <a:ext cx="2240280" cy="3657600"/>
          </a:xfrm>
          <a:prstGeom prst="roundRect">
            <a:avLst>
              <a:gd name="adj" fmla="val 7347"/>
            </a:avLst>
          </a:prstGeom>
          <a:solidFill>
            <a:srgbClr val="4036ED"/>
          </a:solidFill>
          <a:ln w="12700">
            <a:solidFill>
              <a:srgbClr val="4036ED"/>
            </a:solidFill>
            <a:prstDash val="solid"/>
          </a:ln>
        </p:spPr>
      </p:sp>
      <p:sp>
        <p:nvSpPr>
          <p:cNvPr id="6" name="Text 4"/>
          <p:cNvSpPr/>
          <p:nvPr/>
        </p:nvSpPr>
        <p:spPr>
          <a:xfrm>
            <a:off x="22082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후음</a:t>
            </a:r>
            <a:endParaRPr lang="en-US" sz="5000" dirty="0"/>
          </a:p>
        </p:txBody>
      </p:sp>
      <p:sp>
        <p:nvSpPr>
          <p:cNvPr id="7" name="Text 5"/>
          <p:cNvSpPr/>
          <p:nvPr/>
        </p:nvSpPr>
        <p:spPr>
          <a:xfrm>
            <a:off x="22082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GARGANTA</a:t>
            </a:r>
            <a:endParaRPr lang="en-US" sz="1300" dirty="0"/>
          </a:p>
        </p:txBody>
      </p:sp>
      <p:sp>
        <p:nvSpPr>
          <p:cNvPr id="8" name="Text 6"/>
          <p:cNvSpPr/>
          <p:nvPr/>
        </p:nvSpPr>
        <p:spPr>
          <a:xfrm>
            <a:off x="22082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(glotis)</a:t>
            </a:r>
            <a:endParaRPr lang="en-US" sz="1000" dirty="0"/>
          </a:p>
        </p:txBody>
      </p:sp>
      <p:sp>
        <p:nvSpPr>
          <p:cNvPr id="9" name="Text 7"/>
          <p:cNvSpPr/>
          <p:nvPr/>
        </p:nvSpPr>
        <p:spPr>
          <a:xfrm>
            <a:off x="22082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ㅇ ㅎ</a:t>
            </a:r>
            <a:endParaRPr lang="en-US" sz="2800" dirty="0"/>
          </a:p>
        </p:txBody>
      </p:sp>
      <p:sp>
        <p:nvSpPr>
          <p:cNvPr id="10" name="Shape 8"/>
          <p:cNvSpPr/>
          <p:nvPr/>
        </p:nvSpPr>
        <p:spPr>
          <a:xfrm>
            <a:off x="2598268" y="2606040"/>
            <a:ext cx="2240280" cy="3657600"/>
          </a:xfrm>
          <a:prstGeom prst="roundRect">
            <a:avLst>
              <a:gd name="adj" fmla="val 7347"/>
            </a:avLst>
          </a:prstGeom>
          <a:solidFill>
            <a:srgbClr val="A79BFF"/>
          </a:solidFill>
          <a:ln w="12700">
            <a:solidFill>
              <a:srgbClr val="A79BFF"/>
            </a:solidFill>
            <a:prstDash val="solid"/>
          </a:ln>
        </p:spPr>
      </p:sp>
      <p:sp>
        <p:nvSpPr>
          <p:cNvPr id="11" name="Text 9"/>
          <p:cNvSpPr/>
          <p:nvPr/>
        </p:nvSpPr>
        <p:spPr>
          <a:xfrm>
            <a:off x="259826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아음</a:t>
            </a:r>
            <a:endParaRPr lang="en-US" sz="5000" dirty="0"/>
          </a:p>
        </p:txBody>
      </p:sp>
      <p:sp>
        <p:nvSpPr>
          <p:cNvPr id="12" name="Text 10"/>
          <p:cNvSpPr/>
          <p:nvPr/>
        </p:nvSpPr>
        <p:spPr>
          <a:xfrm>
            <a:off x="259826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PALADAR</a:t>
            </a:r>
            <a:endParaRPr lang="en-US" sz="1300" dirty="0"/>
          </a:p>
        </p:txBody>
      </p:sp>
      <p:sp>
        <p:nvSpPr>
          <p:cNvPr id="13" name="Text 11"/>
          <p:cNvSpPr/>
          <p:nvPr/>
        </p:nvSpPr>
        <p:spPr>
          <a:xfrm>
            <a:off x="259826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(velo)</a:t>
            </a:r>
            <a:endParaRPr lang="en-US" sz="1000" dirty="0"/>
          </a:p>
        </p:txBody>
      </p:sp>
      <p:sp>
        <p:nvSpPr>
          <p:cNvPr id="14" name="Text 12"/>
          <p:cNvSpPr/>
          <p:nvPr/>
        </p:nvSpPr>
        <p:spPr>
          <a:xfrm>
            <a:off x="259826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ㄱ ㅋ ㄲ</a:t>
            </a:r>
            <a:endParaRPr lang="en-US" sz="2800" dirty="0"/>
          </a:p>
        </p:txBody>
      </p:sp>
      <p:sp>
        <p:nvSpPr>
          <p:cNvPr id="15" name="Shape 13"/>
          <p:cNvSpPr/>
          <p:nvPr/>
        </p:nvSpPr>
        <p:spPr>
          <a:xfrm>
            <a:off x="4975708" y="2606040"/>
            <a:ext cx="2240280" cy="3657600"/>
          </a:xfrm>
          <a:prstGeom prst="roundRect">
            <a:avLst>
              <a:gd name="adj" fmla="val 7347"/>
            </a:avLst>
          </a:prstGeom>
          <a:solidFill>
            <a:srgbClr val="A79BFF"/>
          </a:solidFill>
          <a:ln w="12700">
            <a:solidFill>
              <a:srgbClr val="A79BFF"/>
            </a:solidFill>
            <a:prstDash val="solid"/>
          </a:ln>
        </p:spPr>
      </p:sp>
      <p:sp>
        <p:nvSpPr>
          <p:cNvPr id="16" name="Text 14"/>
          <p:cNvSpPr/>
          <p:nvPr/>
        </p:nvSpPr>
        <p:spPr>
          <a:xfrm>
            <a:off x="497570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설음</a:t>
            </a:r>
            <a:endParaRPr lang="en-US" sz="5000" dirty="0"/>
          </a:p>
        </p:txBody>
      </p:sp>
      <p:sp>
        <p:nvSpPr>
          <p:cNvPr id="17" name="Text 15"/>
          <p:cNvSpPr/>
          <p:nvPr/>
        </p:nvSpPr>
        <p:spPr>
          <a:xfrm>
            <a:off x="497570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LENGUA</a:t>
            </a:r>
            <a:endParaRPr lang="en-US" sz="1300" dirty="0"/>
          </a:p>
        </p:txBody>
      </p:sp>
      <p:sp>
        <p:nvSpPr>
          <p:cNvPr id="18" name="Text 16"/>
          <p:cNvSpPr/>
          <p:nvPr/>
        </p:nvSpPr>
        <p:spPr>
          <a:xfrm>
            <a:off x="497570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(alveolo)</a:t>
            </a:r>
            <a:endParaRPr lang="en-US" sz="1000" dirty="0"/>
          </a:p>
        </p:txBody>
      </p:sp>
      <p:sp>
        <p:nvSpPr>
          <p:cNvPr id="19" name="Text 17"/>
          <p:cNvSpPr/>
          <p:nvPr/>
        </p:nvSpPr>
        <p:spPr>
          <a:xfrm>
            <a:off x="497570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ㄴ ㄷ ㅌ ㄸ ㄹ</a:t>
            </a:r>
            <a:endParaRPr lang="en-US" sz="2800" dirty="0"/>
          </a:p>
        </p:txBody>
      </p:sp>
      <p:sp>
        <p:nvSpPr>
          <p:cNvPr id="20" name="Shape 18"/>
          <p:cNvSpPr/>
          <p:nvPr/>
        </p:nvSpPr>
        <p:spPr>
          <a:xfrm>
            <a:off x="7353148" y="2606040"/>
            <a:ext cx="2240280" cy="3657600"/>
          </a:xfrm>
          <a:prstGeom prst="roundRect">
            <a:avLst>
              <a:gd name="adj" fmla="val 7347"/>
            </a:avLst>
          </a:prstGeom>
          <a:solidFill>
            <a:srgbClr val="FE6768"/>
          </a:solidFill>
          <a:ln w="12700">
            <a:solidFill>
              <a:srgbClr val="FE6768"/>
            </a:solidFill>
            <a:prstDash val="solid"/>
          </a:ln>
        </p:spPr>
      </p:sp>
      <p:sp>
        <p:nvSpPr>
          <p:cNvPr id="21" name="Text 19"/>
          <p:cNvSpPr/>
          <p:nvPr/>
        </p:nvSpPr>
        <p:spPr>
          <a:xfrm>
            <a:off x="735314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치음</a:t>
            </a:r>
            <a:endParaRPr lang="en-US" sz="5000" dirty="0"/>
          </a:p>
        </p:txBody>
      </p:sp>
      <p:sp>
        <p:nvSpPr>
          <p:cNvPr id="22" name="Text 20"/>
          <p:cNvSpPr/>
          <p:nvPr/>
        </p:nvSpPr>
        <p:spPr>
          <a:xfrm>
            <a:off x="735314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DIENTES</a:t>
            </a:r>
            <a:endParaRPr lang="en-US" sz="1300" dirty="0"/>
          </a:p>
        </p:txBody>
      </p:sp>
      <p:sp>
        <p:nvSpPr>
          <p:cNvPr id="23" name="Text 21"/>
          <p:cNvSpPr/>
          <p:nvPr/>
        </p:nvSpPr>
        <p:spPr>
          <a:xfrm>
            <a:off x="735314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(sibilantes)</a:t>
            </a:r>
            <a:endParaRPr lang="en-US" sz="1000" dirty="0"/>
          </a:p>
        </p:txBody>
      </p:sp>
      <p:sp>
        <p:nvSpPr>
          <p:cNvPr id="24" name="Text 22"/>
          <p:cNvSpPr/>
          <p:nvPr/>
        </p:nvSpPr>
        <p:spPr>
          <a:xfrm>
            <a:off x="735314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ㅅ ㅈ ㅊ ㅆ ㅉ</a:t>
            </a:r>
            <a:endParaRPr lang="en-US" sz="2800" dirty="0"/>
          </a:p>
        </p:txBody>
      </p:sp>
      <p:sp>
        <p:nvSpPr>
          <p:cNvPr id="25" name="Shape 23"/>
          <p:cNvSpPr/>
          <p:nvPr/>
        </p:nvSpPr>
        <p:spPr>
          <a:xfrm>
            <a:off x="9730588" y="2606040"/>
            <a:ext cx="2240280" cy="3657600"/>
          </a:xfrm>
          <a:prstGeom prst="roundRect">
            <a:avLst>
              <a:gd name="adj" fmla="val 7347"/>
            </a:avLst>
          </a:prstGeom>
          <a:solidFill>
            <a:srgbClr val="FE6768"/>
          </a:solidFill>
          <a:ln w="12700">
            <a:solidFill>
              <a:srgbClr val="FE6768"/>
            </a:solidFill>
            <a:prstDash val="solid"/>
          </a:ln>
        </p:spPr>
      </p:sp>
      <p:sp>
        <p:nvSpPr>
          <p:cNvPr id="26" name="Text 24"/>
          <p:cNvSpPr/>
          <p:nvPr/>
        </p:nvSpPr>
        <p:spPr>
          <a:xfrm>
            <a:off x="9730588" y="2880360"/>
            <a:ext cx="2240280" cy="914400"/>
          </a:xfrm>
          <a:prstGeom prst="rect">
            <a:avLst/>
          </a:prstGeom>
          <a:noFill/>
          <a:ln/>
        </p:spPr>
        <p:txBody>
          <a:bodyPr wrap="square" lIns="0" tIns="0" rIns="0" bIns="0" rtlCol="0" anchor="ctr"/>
          <a:lstStyle/>
          <a:p>
            <a:pPr marL="0" indent="0" algn="ctr">
              <a:buNone/>
            </a:pPr>
            <a:r>
              <a:rPr lang="en-US" sz="5000" b="1" dirty="0">
                <a:solidFill>
                  <a:srgbClr val="F6F6F6"/>
                </a:solidFill>
                <a:latin typeface="Malgun Gothic" pitchFamily="34" charset="0"/>
                <a:ea typeface="Malgun Gothic" pitchFamily="34" charset="-122"/>
                <a:cs typeface="Malgun Gothic" pitchFamily="34" charset="-120"/>
              </a:rPr>
              <a:t>순음</a:t>
            </a:r>
            <a:endParaRPr lang="en-US" sz="5000" dirty="0"/>
          </a:p>
        </p:txBody>
      </p:sp>
      <p:sp>
        <p:nvSpPr>
          <p:cNvPr id="27" name="Text 25"/>
          <p:cNvSpPr/>
          <p:nvPr/>
        </p:nvSpPr>
        <p:spPr>
          <a:xfrm>
            <a:off x="9730588" y="3977640"/>
            <a:ext cx="2240280" cy="365760"/>
          </a:xfrm>
          <a:prstGeom prst="rect">
            <a:avLst/>
          </a:prstGeom>
          <a:noFill/>
          <a:ln/>
        </p:spPr>
        <p:txBody>
          <a:bodyPr wrap="square" lIns="0" tIns="0" rIns="0" bIns="0" rtlCol="0" anchor="ctr"/>
          <a:lstStyle/>
          <a:p>
            <a:pPr marL="0" indent="0" algn="ctr">
              <a:buNone/>
            </a:pPr>
            <a:r>
              <a:rPr lang="en-US" sz="1300" b="1" kern="0" spc="500" dirty="0">
                <a:solidFill>
                  <a:srgbClr val="F6F6F6"/>
                </a:solidFill>
                <a:latin typeface="Calibri" pitchFamily="34" charset="0"/>
                <a:ea typeface="Calibri" pitchFamily="34" charset="-122"/>
                <a:cs typeface="Calibri" pitchFamily="34" charset="-120"/>
              </a:rPr>
              <a:t>LABIOS</a:t>
            </a:r>
            <a:endParaRPr lang="en-US" sz="1300" dirty="0"/>
          </a:p>
        </p:txBody>
      </p:sp>
      <p:sp>
        <p:nvSpPr>
          <p:cNvPr id="28" name="Text 26"/>
          <p:cNvSpPr/>
          <p:nvPr/>
        </p:nvSpPr>
        <p:spPr>
          <a:xfrm>
            <a:off x="9730588" y="4389120"/>
            <a:ext cx="2240280" cy="320040"/>
          </a:xfrm>
          <a:prstGeom prst="rect">
            <a:avLst/>
          </a:prstGeom>
          <a:noFill/>
          <a:ln/>
        </p:spPr>
        <p:txBody>
          <a:bodyPr wrap="square" lIns="0" tIns="0" rIns="0" bIns="0" rtlCol="0" anchor="ctr"/>
          <a:lstStyle/>
          <a:p>
            <a:pPr marL="0" indent="0" algn="ctr">
              <a:buNone/>
            </a:pPr>
            <a:r>
              <a:rPr lang="en-US" sz="1000" i="1" dirty="0">
                <a:solidFill>
                  <a:srgbClr val="F6F6F6"/>
                </a:solidFill>
                <a:latin typeface="Calibri" pitchFamily="34" charset="0"/>
                <a:ea typeface="Calibri" pitchFamily="34" charset="-122"/>
                <a:cs typeface="Calibri" pitchFamily="34" charset="-120"/>
              </a:rPr>
              <a:t>(bilabial)</a:t>
            </a:r>
            <a:endParaRPr lang="en-US" sz="1000" dirty="0"/>
          </a:p>
        </p:txBody>
      </p:sp>
      <p:sp>
        <p:nvSpPr>
          <p:cNvPr id="29" name="Text 27"/>
          <p:cNvSpPr/>
          <p:nvPr/>
        </p:nvSpPr>
        <p:spPr>
          <a:xfrm>
            <a:off x="9730588" y="4937760"/>
            <a:ext cx="2240280" cy="914400"/>
          </a:xfrm>
          <a:prstGeom prst="rect">
            <a:avLst/>
          </a:prstGeom>
          <a:noFill/>
          <a:ln/>
        </p:spPr>
        <p:txBody>
          <a:bodyPr wrap="square" lIns="0" tIns="0" rIns="0" bIns="0" rtlCol="0" anchor="ctr"/>
          <a:lstStyle/>
          <a:p>
            <a:pPr marL="0" indent="0" algn="ctr">
              <a:buNone/>
            </a:pPr>
            <a:r>
              <a:rPr lang="en-US" sz="2800" b="1" dirty="0">
                <a:solidFill>
                  <a:srgbClr val="F6F6F6"/>
                </a:solidFill>
                <a:latin typeface="Malgun Gothic" pitchFamily="34" charset="0"/>
                <a:ea typeface="Malgun Gothic" pitchFamily="34" charset="-122"/>
                <a:cs typeface="Malgun Gothic" pitchFamily="34" charset="-120"/>
              </a:rPr>
              <a:t>ㅁ ㅂ ㅍ ㅃ</a:t>
            </a:r>
            <a:endParaRPr lang="en-US" sz="2800" dirty="0"/>
          </a:p>
        </p:txBody>
      </p:sp>
      <p:sp>
        <p:nvSpPr>
          <p:cNvPr id="30" name="Text 28"/>
          <p:cNvSpPr/>
          <p:nvPr/>
        </p:nvSpPr>
        <p:spPr>
          <a:xfrm>
            <a:off x="914400" y="5989320"/>
            <a:ext cx="10362895" cy="365760"/>
          </a:xfrm>
          <a:prstGeom prst="rect">
            <a:avLst/>
          </a:prstGeom>
          <a:noFill/>
          <a:ln/>
        </p:spPr>
        <p:txBody>
          <a:bodyPr wrap="square" lIns="0" tIns="0" rIns="0" bIns="0" rtlCol="0" anchor="ctr"/>
          <a:lstStyle/>
          <a:p>
            <a:pPr marL="0" indent="0" algn="ctr">
              <a:buNone/>
            </a:pPr>
            <a:r>
              <a:rPr lang="en-US" sz="1100" i="1" dirty="0">
                <a:solidFill>
                  <a:srgbClr val="4036ED"/>
                </a:solidFill>
                <a:latin typeface="Calibri" pitchFamily="34" charset="0"/>
                <a:ea typeface="Calibri" pitchFamily="34" charset="-122"/>
                <a:cs typeface="Calibri" pitchFamily="34" charset="-120"/>
              </a:rPr>
              <a:t>De la profundidad (atrás) a la superficie (adelante) — cada zona tiene su grupo de letras.</a:t>
            </a:r>
            <a:endParaRPr lang="en-US" sz="1100" dirty="0"/>
          </a:p>
        </p:txBody>
      </p:sp>
      <p:pic>
        <p:nvPicPr>
          <p:cNvPr id="31"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2" name="Text 29"/>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3" name="Text 30"/>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34</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§3.2 · DERIVACIÓN</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De 5 consonantes básicas a las 14 modernas</a:t>
            </a:r>
            <a:endParaRPr lang="en-US" sz="3400" dirty="0"/>
          </a:p>
        </p:txBody>
      </p:sp>
      <p:sp>
        <p:nvSpPr>
          <p:cNvPr id="4" name="Text 2"/>
          <p:cNvSpPr/>
          <p:nvPr/>
        </p:nvSpPr>
        <p:spPr>
          <a:xfrm>
            <a:off x="365760" y="1463040"/>
            <a:ext cx="11430000" cy="320040"/>
          </a:xfrm>
          <a:prstGeom prst="rect">
            <a:avLst/>
          </a:prstGeom>
          <a:noFill/>
          <a:ln/>
        </p:spPr>
        <p:txBody>
          <a:bodyPr wrap="square" rtlCol="0" anchor="ctr"/>
          <a:lstStyle/>
          <a:p>
            <a:pPr marL="0" indent="0" algn="ctr">
              <a:buNone/>
            </a:pPr>
            <a:r>
              <a:rPr lang="en-US" sz="1400" b="1" kern="0" spc="600" dirty="0">
                <a:solidFill>
                  <a:srgbClr val="4036ED"/>
                </a:solidFill>
                <a:latin typeface="Trebuchet MS" pitchFamily="34" charset="0"/>
                <a:ea typeface="Trebuchet MS" pitchFamily="34" charset="-122"/>
                <a:cs typeface="Trebuchet MS" pitchFamily="34" charset="-120"/>
              </a:rPr>
              <a:t>5 BÁSICAS · Dibujadas de los órganos de la boca</a:t>
            </a:r>
            <a:endParaRPr lang="en-US" sz="1400" dirty="0"/>
          </a:p>
        </p:txBody>
      </p:sp>
      <p:sp>
        <p:nvSpPr>
          <p:cNvPr id="5" name="Shape 3"/>
          <p:cNvSpPr/>
          <p:nvPr/>
        </p:nvSpPr>
        <p:spPr>
          <a:xfrm>
            <a:off x="1569568" y="1874520"/>
            <a:ext cx="1554480" cy="1554480"/>
          </a:xfrm>
          <a:prstGeom prst="ellipse">
            <a:avLst/>
          </a:prstGeom>
          <a:solidFill>
            <a:srgbClr val="2A1FB8"/>
          </a:solidFill>
          <a:ln/>
        </p:spPr>
      </p:sp>
      <p:sp>
        <p:nvSpPr>
          <p:cNvPr id="6" name="Text 4"/>
          <p:cNvSpPr/>
          <p:nvPr/>
        </p:nvSpPr>
        <p:spPr>
          <a:xfrm>
            <a:off x="156956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ㄱ</a:t>
            </a:r>
            <a:endParaRPr lang="en-US" sz="7200" dirty="0"/>
          </a:p>
        </p:txBody>
      </p:sp>
      <p:sp>
        <p:nvSpPr>
          <p:cNvPr id="7" name="Text 5"/>
          <p:cNvSpPr/>
          <p:nvPr/>
        </p:nvSpPr>
        <p:spPr>
          <a:xfrm>
            <a:off x="156956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/g/</a:t>
            </a:r>
            <a:endParaRPr lang="en-US" sz="1300" dirty="0"/>
          </a:p>
        </p:txBody>
      </p:sp>
      <p:sp>
        <p:nvSpPr>
          <p:cNvPr id="8" name="Shape 6"/>
          <p:cNvSpPr/>
          <p:nvPr/>
        </p:nvSpPr>
        <p:spPr>
          <a:xfrm>
            <a:off x="3444088" y="1874520"/>
            <a:ext cx="1554480" cy="1554480"/>
          </a:xfrm>
          <a:prstGeom prst="ellipse">
            <a:avLst/>
          </a:prstGeom>
          <a:solidFill>
            <a:srgbClr val="2A1FB8"/>
          </a:solidFill>
          <a:ln/>
        </p:spPr>
      </p:sp>
      <p:sp>
        <p:nvSpPr>
          <p:cNvPr id="9" name="Text 7"/>
          <p:cNvSpPr/>
          <p:nvPr/>
        </p:nvSpPr>
        <p:spPr>
          <a:xfrm>
            <a:off x="344408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ㄴ</a:t>
            </a:r>
            <a:endParaRPr lang="en-US" sz="7200" dirty="0"/>
          </a:p>
        </p:txBody>
      </p:sp>
      <p:sp>
        <p:nvSpPr>
          <p:cNvPr id="10" name="Text 8"/>
          <p:cNvSpPr/>
          <p:nvPr/>
        </p:nvSpPr>
        <p:spPr>
          <a:xfrm>
            <a:off x="344408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a:t>
            </a:r>
            <a:endParaRPr lang="en-US" sz="1300" dirty="0"/>
          </a:p>
        </p:txBody>
      </p:sp>
      <p:sp>
        <p:nvSpPr>
          <p:cNvPr id="11" name="Shape 9"/>
          <p:cNvSpPr/>
          <p:nvPr/>
        </p:nvSpPr>
        <p:spPr>
          <a:xfrm>
            <a:off x="5318608" y="1874520"/>
            <a:ext cx="1554480" cy="1554480"/>
          </a:xfrm>
          <a:prstGeom prst="ellipse">
            <a:avLst/>
          </a:prstGeom>
          <a:solidFill>
            <a:srgbClr val="2A1FB8"/>
          </a:solidFill>
          <a:ln/>
        </p:spPr>
      </p:sp>
      <p:sp>
        <p:nvSpPr>
          <p:cNvPr id="12" name="Text 10"/>
          <p:cNvSpPr/>
          <p:nvPr/>
        </p:nvSpPr>
        <p:spPr>
          <a:xfrm>
            <a:off x="531860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ㅁ</a:t>
            </a:r>
            <a:endParaRPr lang="en-US" sz="7200" dirty="0"/>
          </a:p>
        </p:txBody>
      </p:sp>
      <p:sp>
        <p:nvSpPr>
          <p:cNvPr id="13" name="Text 11"/>
          <p:cNvSpPr/>
          <p:nvPr/>
        </p:nvSpPr>
        <p:spPr>
          <a:xfrm>
            <a:off x="531860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/m/</a:t>
            </a:r>
            <a:endParaRPr lang="en-US" sz="1300" dirty="0"/>
          </a:p>
        </p:txBody>
      </p:sp>
      <p:sp>
        <p:nvSpPr>
          <p:cNvPr id="14" name="Shape 12"/>
          <p:cNvSpPr/>
          <p:nvPr/>
        </p:nvSpPr>
        <p:spPr>
          <a:xfrm>
            <a:off x="7193128" y="1874520"/>
            <a:ext cx="1554480" cy="1554480"/>
          </a:xfrm>
          <a:prstGeom prst="ellipse">
            <a:avLst/>
          </a:prstGeom>
          <a:solidFill>
            <a:srgbClr val="2A1FB8"/>
          </a:solidFill>
          <a:ln/>
        </p:spPr>
      </p:sp>
      <p:sp>
        <p:nvSpPr>
          <p:cNvPr id="15" name="Text 13"/>
          <p:cNvSpPr/>
          <p:nvPr/>
        </p:nvSpPr>
        <p:spPr>
          <a:xfrm>
            <a:off x="719312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ㅅ</a:t>
            </a:r>
            <a:endParaRPr lang="en-US" sz="7200" dirty="0"/>
          </a:p>
        </p:txBody>
      </p:sp>
      <p:sp>
        <p:nvSpPr>
          <p:cNvPr id="16" name="Text 14"/>
          <p:cNvSpPr/>
          <p:nvPr/>
        </p:nvSpPr>
        <p:spPr>
          <a:xfrm>
            <a:off x="719312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/s/</a:t>
            </a:r>
            <a:endParaRPr lang="en-US" sz="1300" dirty="0"/>
          </a:p>
        </p:txBody>
      </p:sp>
      <p:sp>
        <p:nvSpPr>
          <p:cNvPr id="17" name="Shape 15"/>
          <p:cNvSpPr/>
          <p:nvPr/>
        </p:nvSpPr>
        <p:spPr>
          <a:xfrm>
            <a:off x="9067648" y="1874520"/>
            <a:ext cx="1554480" cy="1554480"/>
          </a:xfrm>
          <a:prstGeom prst="ellipse">
            <a:avLst/>
          </a:prstGeom>
          <a:solidFill>
            <a:srgbClr val="2A1FB8"/>
          </a:solidFill>
          <a:ln/>
        </p:spPr>
      </p:sp>
      <p:sp>
        <p:nvSpPr>
          <p:cNvPr id="18" name="Text 16"/>
          <p:cNvSpPr/>
          <p:nvPr/>
        </p:nvSpPr>
        <p:spPr>
          <a:xfrm>
            <a:off x="9067648" y="1874520"/>
            <a:ext cx="1554480" cy="1321308"/>
          </a:xfrm>
          <a:prstGeom prst="rect">
            <a:avLst/>
          </a:prstGeom>
          <a:noFill/>
          <a:ln/>
        </p:spPr>
        <p:txBody>
          <a:bodyPr wrap="square" lIns="0" tIns="0" rIns="0" bIns="0" rtlCol="0" anchor="ctr"/>
          <a:lstStyle/>
          <a:p>
            <a:pPr marL="0" indent="0" algn="ctr">
              <a:buNone/>
            </a:pPr>
            <a:r>
              <a:rPr lang="en-US" sz="7200" b="1" dirty="0">
                <a:solidFill>
                  <a:srgbClr val="FFFFFF"/>
                </a:solidFill>
                <a:latin typeface="Malgun Gothic" pitchFamily="34" charset="0"/>
                <a:ea typeface="Malgun Gothic" pitchFamily="34" charset="-122"/>
                <a:cs typeface="Malgun Gothic" pitchFamily="34" charset="-120"/>
              </a:rPr>
              <a:t>ㅇ</a:t>
            </a:r>
            <a:endParaRPr lang="en-US" sz="7200" dirty="0"/>
          </a:p>
        </p:txBody>
      </p:sp>
      <p:sp>
        <p:nvSpPr>
          <p:cNvPr id="19" name="Text 17"/>
          <p:cNvSpPr/>
          <p:nvPr/>
        </p:nvSpPr>
        <p:spPr>
          <a:xfrm>
            <a:off x="9067648" y="3108960"/>
            <a:ext cx="1554480" cy="274320"/>
          </a:xfrm>
          <a:prstGeom prst="rect">
            <a:avLst/>
          </a:prstGeom>
          <a:noFill/>
          <a:ln/>
        </p:spPr>
        <p:txBody>
          <a:bodyPr wrap="square" lIns="0" tIns="0" rIns="0" bIns="0" rtlCol="0" anchor="ctr"/>
          <a:lstStyle/>
          <a:p>
            <a:pPr marL="0" indent="0" algn="ctr">
              <a:buNone/>
            </a:pPr>
            <a:r>
              <a:rPr lang="en-US" sz="1300" b="1" i="1" dirty="0">
                <a:solidFill>
                  <a:srgbClr val="FFC8C8"/>
                </a:solidFill>
                <a:latin typeface="Calibri" pitchFamily="34" charset="0"/>
                <a:ea typeface="Calibri" pitchFamily="34" charset="-122"/>
                <a:cs typeface="Calibri" pitchFamily="34" charset="-120"/>
              </a:rPr>
              <a:t>/ng/</a:t>
            </a:r>
            <a:endParaRPr lang="en-US" sz="1300" dirty="0"/>
          </a:p>
        </p:txBody>
      </p:sp>
      <p:sp>
        <p:nvSpPr>
          <p:cNvPr id="20" name="Text 18"/>
          <p:cNvSpPr/>
          <p:nvPr/>
        </p:nvSpPr>
        <p:spPr>
          <a:xfrm>
            <a:off x="365760" y="3703320"/>
            <a:ext cx="11430000" cy="320040"/>
          </a:xfrm>
          <a:prstGeom prst="rect">
            <a:avLst/>
          </a:prstGeom>
          <a:noFill/>
          <a:ln/>
        </p:spPr>
        <p:txBody>
          <a:bodyPr wrap="square" rtlCol="0" anchor="ctr"/>
          <a:lstStyle/>
          <a:p>
            <a:pPr marL="0" indent="0" algn="ctr">
              <a:buNone/>
            </a:pPr>
            <a:r>
              <a:rPr lang="en-US" sz="1300" b="1" kern="0" spc="800" dirty="0">
                <a:solidFill>
                  <a:srgbClr val="4A5568"/>
                </a:solidFill>
                <a:latin typeface="Trebuchet MS" pitchFamily="34" charset="0"/>
                <a:ea typeface="Trebuchet MS" pitchFamily="34" charset="-122"/>
                <a:cs typeface="Trebuchet MS" pitchFamily="34" charset="-120"/>
              </a:rPr>
              <a:t>+ AÑADIR TRAZOS  +  DUPLICAR</a:t>
            </a:r>
            <a:endParaRPr lang="en-US" sz="1300" dirty="0"/>
          </a:p>
        </p:txBody>
      </p:sp>
      <p:sp>
        <p:nvSpPr>
          <p:cNvPr id="21" name="Shape 19"/>
          <p:cNvSpPr/>
          <p:nvPr/>
        </p:nvSpPr>
        <p:spPr>
          <a:xfrm>
            <a:off x="5760720" y="4023360"/>
            <a:ext cx="640080" cy="411480"/>
          </a:xfrm>
          <a:prstGeom prst="downArrow">
            <a:avLst/>
          </a:prstGeom>
          <a:solidFill>
            <a:srgbClr val="A79BFF"/>
          </a:solidFill>
          <a:ln/>
        </p:spPr>
      </p:sp>
      <p:sp>
        <p:nvSpPr>
          <p:cNvPr id="22" name="Text 20"/>
          <p:cNvSpPr/>
          <p:nvPr/>
        </p:nvSpPr>
        <p:spPr>
          <a:xfrm>
            <a:off x="365760" y="4526280"/>
            <a:ext cx="11430000" cy="320040"/>
          </a:xfrm>
          <a:prstGeom prst="rect">
            <a:avLst/>
          </a:prstGeom>
          <a:noFill/>
          <a:ln/>
        </p:spPr>
        <p:txBody>
          <a:bodyPr wrap="square" rtlCol="0" anchor="ctr"/>
          <a:lstStyle/>
          <a:p>
            <a:pPr marL="0" indent="0" algn="ctr">
              <a:buNone/>
            </a:pPr>
            <a:r>
              <a:rPr lang="en-US" sz="1400" b="1" kern="0" spc="600" dirty="0">
                <a:solidFill>
                  <a:srgbClr val="A79BFF"/>
                </a:solidFill>
                <a:latin typeface="Trebuchet MS" pitchFamily="34" charset="0"/>
                <a:ea typeface="Trebuchet MS" pitchFamily="34" charset="-122"/>
                <a:cs typeface="Trebuchet MS" pitchFamily="34" charset="-120"/>
              </a:rPr>
              <a:t>9 DERIVADAS · Construidas sobre las 5 básicas</a:t>
            </a:r>
            <a:endParaRPr lang="en-US" sz="1400" dirty="0"/>
          </a:p>
        </p:txBody>
      </p:sp>
      <p:sp>
        <p:nvSpPr>
          <p:cNvPr id="23" name="Shape 21"/>
          <p:cNvSpPr/>
          <p:nvPr/>
        </p:nvSpPr>
        <p:spPr>
          <a:xfrm>
            <a:off x="1226668" y="4937760"/>
            <a:ext cx="960120" cy="960120"/>
          </a:xfrm>
          <a:prstGeom prst="ellipse">
            <a:avLst/>
          </a:prstGeom>
          <a:solidFill>
            <a:srgbClr val="EFEBFF"/>
          </a:solidFill>
          <a:ln w="25400">
            <a:solidFill>
              <a:srgbClr val="A79BFF"/>
            </a:solidFill>
            <a:prstDash val="solid"/>
          </a:ln>
        </p:spPr>
      </p:sp>
      <p:sp>
        <p:nvSpPr>
          <p:cNvPr id="24" name="Text 22"/>
          <p:cNvSpPr/>
          <p:nvPr/>
        </p:nvSpPr>
        <p:spPr>
          <a:xfrm>
            <a:off x="12266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ㅋ</a:t>
            </a:r>
            <a:endParaRPr lang="en-US" sz="3800" dirty="0"/>
          </a:p>
        </p:txBody>
      </p:sp>
      <p:sp>
        <p:nvSpPr>
          <p:cNvPr id="25" name="Text 23"/>
          <p:cNvSpPr/>
          <p:nvPr/>
        </p:nvSpPr>
        <p:spPr>
          <a:xfrm>
            <a:off x="12266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ㄱ</a:t>
            </a:r>
            <a:endParaRPr lang="en-US" sz="1100" dirty="0"/>
          </a:p>
        </p:txBody>
      </p:sp>
      <p:sp>
        <p:nvSpPr>
          <p:cNvPr id="26" name="Shape 24"/>
          <p:cNvSpPr/>
          <p:nvPr/>
        </p:nvSpPr>
        <p:spPr>
          <a:xfrm>
            <a:off x="2323948" y="4937760"/>
            <a:ext cx="960120" cy="960120"/>
          </a:xfrm>
          <a:prstGeom prst="ellipse">
            <a:avLst/>
          </a:prstGeom>
          <a:solidFill>
            <a:srgbClr val="EFEBFF"/>
          </a:solidFill>
          <a:ln w="25400">
            <a:solidFill>
              <a:srgbClr val="A79BFF"/>
            </a:solidFill>
            <a:prstDash val="solid"/>
          </a:ln>
        </p:spPr>
      </p:sp>
      <p:sp>
        <p:nvSpPr>
          <p:cNvPr id="27" name="Text 25"/>
          <p:cNvSpPr/>
          <p:nvPr/>
        </p:nvSpPr>
        <p:spPr>
          <a:xfrm>
            <a:off x="23239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ㄷ</a:t>
            </a:r>
            <a:endParaRPr lang="en-US" sz="3800" dirty="0"/>
          </a:p>
        </p:txBody>
      </p:sp>
      <p:sp>
        <p:nvSpPr>
          <p:cNvPr id="28" name="Text 26"/>
          <p:cNvSpPr/>
          <p:nvPr/>
        </p:nvSpPr>
        <p:spPr>
          <a:xfrm>
            <a:off x="23239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29" name="Shape 27"/>
          <p:cNvSpPr/>
          <p:nvPr/>
        </p:nvSpPr>
        <p:spPr>
          <a:xfrm>
            <a:off x="3421228" y="4937760"/>
            <a:ext cx="960120" cy="960120"/>
          </a:xfrm>
          <a:prstGeom prst="ellipse">
            <a:avLst/>
          </a:prstGeom>
          <a:solidFill>
            <a:srgbClr val="EFEBFF"/>
          </a:solidFill>
          <a:ln w="25400">
            <a:solidFill>
              <a:srgbClr val="A79BFF"/>
            </a:solidFill>
            <a:prstDash val="solid"/>
          </a:ln>
        </p:spPr>
      </p:sp>
      <p:sp>
        <p:nvSpPr>
          <p:cNvPr id="30" name="Text 28"/>
          <p:cNvSpPr/>
          <p:nvPr/>
        </p:nvSpPr>
        <p:spPr>
          <a:xfrm>
            <a:off x="34212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ㅌ</a:t>
            </a:r>
            <a:endParaRPr lang="en-US" sz="3800" dirty="0"/>
          </a:p>
        </p:txBody>
      </p:sp>
      <p:sp>
        <p:nvSpPr>
          <p:cNvPr id="31" name="Text 29"/>
          <p:cNvSpPr/>
          <p:nvPr/>
        </p:nvSpPr>
        <p:spPr>
          <a:xfrm>
            <a:off x="34212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ㄷ</a:t>
            </a:r>
            <a:endParaRPr lang="en-US" sz="1100" dirty="0"/>
          </a:p>
        </p:txBody>
      </p:sp>
      <p:sp>
        <p:nvSpPr>
          <p:cNvPr id="32" name="Shape 30"/>
          <p:cNvSpPr/>
          <p:nvPr/>
        </p:nvSpPr>
        <p:spPr>
          <a:xfrm>
            <a:off x="4518508" y="4937760"/>
            <a:ext cx="960120" cy="960120"/>
          </a:xfrm>
          <a:prstGeom prst="ellipse">
            <a:avLst/>
          </a:prstGeom>
          <a:solidFill>
            <a:srgbClr val="EFEBFF"/>
          </a:solidFill>
          <a:ln w="25400">
            <a:solidFill>
              <a:srgbClr val="A79BFF"/>
            </a:solidFill>
            <a:prstDash val="solid"/>
          </a:ln>
        </p:spPr>
      </p:sp>
      <p:sp>
        <p:nvSpPr>
          <p:cNvPr id="33" name="Text 31"/>
          <p:cNvSpPr/>
          <p:nvPr/>
        </p:nvSpPr>
        <p:spPr>
          <a:xfrm>
            <a:off x="45185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ㄹ</a:t>
            </a:r>
            <a:endParaRPr lang="en-US" sz="3800" dirty="0"/>
          </a:p>
        </p:txBody>
      </p:sp>
      <p:sp>
        <p:nvSpPr>
          <p:cNvPr id="34" name="Text 32"/>
          <p:cNvSpPr/>
          <p:nvPr/>
        </p:nvSpPr>
        <p:spPr>
          <a:xfrm>
            <a:off x="45185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ㄴ</a:t>
            </a:r>
            <a:endParaRPr lang="en-US" sz="1100" dirty="0"/>
          </a:p>
        </p:txBody>
      </p:sp>
      <p:sp>
        <p:nvSpPr>
          <p:cNvPr id="35" name="Shape 33"/>
          <p:cNvSpPr/>
          <p:nvPr/>
        </p:nvSpPr>
        <p:spPr>
          <a:xfrm>
            <a:off x="5615788" y="4937760"/>
            <a:ext cx="960120" cy="960120"/>
          </a:xfrm>
          <a:prstGeom prst="ellipse">
            <a:avLst/>
          </a:prstGeom>
          <a:solidFill>
            <a:srgbClr val="EFEBFF"/>
          </a:solidFill>
          <a:ln w="25400">
            <a:solidFill>
              <a:srgbClr val="A79BFF"/>
            </a:solidFill>
            <a:prstDash val="solid"/>
          </a:ln>
        </p:spPr>
      </p:sp>
      <p:sp>
        <p:nvSpPr>
          <p:cNvPr id="36" name="Text 34"/>
          <p:cNvSpPr/>
          <p:nvPr/>
        </p:nvSpPr>
        <p:spPr>
          <a:xfrm>
            <a:off x="561578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ㅂ</a:t>
            </a:r>
            <a:endParaRPr lang="en-US" sz="3800" dirty="0"/>
          </a:p>
        </p:txBody>
      </p:sp>
      <p:sp>
        <p:nvSpPr>
          <p:cNvPr id="37" name="Text 35"/>
          <p:cNvSpPr/>
          <p:nvPr/>
        </p:nvSpPr>
        <p:spPr>
          <a:xfrm>
            <a:off x="561578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ㅁ</a:t>
            </a:r>
            <a:endParaRPr lang="en-US" sz="1100" dirty="0"/>
          </a:p>
        </p:txBody>
      </p:sp>
      <p:sp>
        <p:nvSpPr>
          <p:cNvPr id="38" name="Shape 36"/>
          <p:cNvSpPr/>
          <p:nvPr/>
        </p:nvSpPr>
        <p:spPr>
          <a:xfrm>
            <a:off x="6713068" y="4937760"/>
            <a:ext cx="960120" cy="960120"/>
          </a:xfrm>
          <a:prstGeom prst="ellipse">
            <a:avLst/>
          </a:prstGeom>
          <a:solidFill>
            <a:srgbClr val="EFEBFF"/>
          </a:solidFill>
          <a:ln w="25400">
            <a:solidFill>
              <a:srgbClr val="A79BFF"/>
            </a:solidFill>
            <a:prstDash val="solid"/>
          </a:ln>
        </p:spPr>
      </p:sp>
      <p:sp>
        <p:nvSpPr>
          <p:cNvPr id="39" name="Text 37"/>
          <p:cNvSpPr/>
          <p:nvPr/>
        </p:nvSpPr>
        <p:spPr>
          <a:xfrm>
            <a:off x="671306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ㅍ</a:t>
            </a:r>
            <a:endParaRPr lang="en-US" sz="3800" dirty="0"/>
          </a:p>
        </p:txBody>
      </p:sp>
      <p:sp>
        <p:nvSpPr>
          <p:cNvPr id="40" name="Text 38"/>
          <p:cNvSpPr/>
          <p:nvPr/>
        </p:nvSpPr>
        <p:spPr>
          <a:xfrm>
            <a:off x="671306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ㅂ</a:t>
            </a:r>
            <a:endParaRPr lang="en-US" sz="1100" dirty="0"/>
          </a:p>
        </p:txBody>
      </p:sp>
      <p:sp>
        <p:nvSpPr>
          <p:cNvPr id="41" name="Shape 39"/>
          <p:cNvSpPr/>
          <p:nvPr/>
        </p:nvSpPr>
        <p:spPr>
          <a:xfrm>
            <a:off x="7810348" y="4937760"/>
            <a:ext cx="960120" cy="960120"/>
          </a:xfrm>
          <a:prstGeom prst="ellipse">
            <a:avLst/>
          </a:prstGeom>
          <a:solidFill>
            <a:srgbClr val="EFEBFF"/>
          </a:solidFill>
          <a:ln w="25400">
            <a:solidFill>
              <a:srgbClr val="A79BFF"/>
            </a:solidFill>
            <a:prstDash val="solid"/>
          </a:ln>
        </p:spPr>
      </p:sp>
      <p:sp>
        <p:nvSpPr>
          <p:cNvPr id="42" name="Text 40"/>
          <p:cNvSpPr/>
          <p:nvPr/>
        </p:nvSpPr>
        <p:spPr>
          <a:xfrm>
            <a:off x="781034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ㅈ</a:t>
            </a:r>
            <a:endParaRPr lang="en-US" sz="3800" dirty="0"/>
          </a:p>
        </p:txBody>
      </p:sp>
      <p:sp>
        <p:nvSpPr>
          <p:cNvPr id="43" name="Text 41"/>
          <p:cNvSpPr/>
          <p:nvPr/>
        </p:nvSpPr>
        <p:spPr>
          <a:xfrm>
            <a:off x="781034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ㅅ</a:t>
            </a:r>
            <a:endParaRPr lang="en-US" sz="1100" dirty="0"/>
          </a:p>
        </p:txBody>
      </p:sp>
      <p:sp>
        <p:nvSpPr>
          <p:cNvPr id="44" name="Shape 42"/>
          <p:cNvSpPr/>
          <p:nvPr/>
        </p:nvSpPr>
        <p:spPr>
          <a:xfrm>
            <a:off x="8907628" y="4937760"/>
            <a:ext cx="960120" cy="960120"/>
          </a:xfrm>
          <a:prstGeom prst="ellipse">
            <a:avLst/>
          </a:prstGeom>
          <a:solidFill>
            <a:srgbClr val="EFEBFF"/>
          </a:solidFill>
          <a:ln w="25400">
            <a:solidFill>
              <a:srgbClr val="A79BFF"/>
            </a:solidFill>
            <a:prstDash val="solid"/>
          </a:ln>
        </p:spPr>
      </p:sp>
      <p:sp>
        <p:nvSpPr>
          <p:cNvPr id="45" name="Text 43"/>
          <p:cNvSpPr/>
          <p:nvPr/>
        </p:nvSpPr>
        <p:spPr>
          <a:xfrm>
            <a:off x="890762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ㅊ</a:t>
            </a:r>
            <a:endParaRPr lang="en-US" sz="3800" dirty="0"/>
          </a:p>
        </p:txBody>
      </p:sp>
      <p:sp>
        <p:nvSpPr>
          <p:cNvPr id="46" name="Text 44"/>
          <p:cNvSpPr/>
          <p:nvPr/>
        </p:nvSpPr>
        <p:spPr>
          <a:xfrm>
            <a:off x="890762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ㅈ</a:t>
            </a:r>
            <a:endParaRPr lang="en-US" sz="1100" dirty="0"/>
          </a:p>
        </p:txBody>
      </p:sp>
      <p:sp>
        <p:nvSpPr>
          <p:cNvPr id="47" name="Shape 45"/>
          <p:cNvSpPr/>
          <p:nvPr/>
        </p:nvSpPr>
        <p:spPr>
          <a:xfrm>
            <a:off x="10004908" y="4937760"/>
            <a:ext cx="960120" cy="960120"/>
          </a:xfrm>
          <a:prstGeom prst="ellipse">
            <a:avLst/>
          </a:prstGeom>
          <a:solidFill>
            <a:srgbClr val="EFEBFF"/>
          </a:solidFill>
          <a:ln w="25400">
            <a:solidFill>
              <a:srgbClr val="A79BFF"/>
            </a:solidFill>
            <a:prstDash val="solid"/>
          </a:ln>
        </p:spPr>
      </p:sp>
      <p:sp>
        <p:nvSpPr>
          <p:cNvPr id="48" name="Text 46"/>
          <p:cNvSpPr/>
          <p:nvPr/>
        </p:nvSpPr>
        <p:spPr>
          <a:xfrm>
            <a:off x="10004908" y="4937760"/>
            <a:ext cx="960120" cy="672084"/>
          </a:xfrm>
          <a:prstGeom prst="rect">
            <a:avLst/>
          </a:prstGeom>
          <a:noFill/>
          <a:ln/>
        </p:spPr>
        <p:txBody>
          <a:bodyPr wrap="square" lIns="0" tIns="0" rIns="0" bIns="0" rtlCol="0" anchor="ctr"/>
          <a:lstStyle/>
          <a:p>
            <a:pPr marL="0" indent="0" algn="ctr">
              <a:buNone/>
            </a:pPr>
            <a:r>
              <a:rPr lang="en-US" sz="3800" b="1" dirty="0">
                <a:solidFill>
                  <a:srgbClr val="0F172A"/>
                </a:solidFill>
                <a:latin typeface="Malgun Gothic" pitchFamily="34" charset="0"/>
                <a:ea typeface="Malgun Gothic" pitchFamily="34" charset="-122"/>
                <a:cs typeface="Malgun Gothic" pitchFamily="34" charset="-120"/>
              </a:rPr>
              <a:t>ㅎ</a:t>
            </a:r>
            <a:endParaRPr lang="en-US" sz="3800" dirty="0"/>
          </a:p>
        </p:txBody>
      </p:sp>
      <p:sp>
        <p:nvSpPr>
          <p:cNvPr id="49" name="Text 47"/>
          <p:cNvSpPr/>
          <p:nvPr/>
        </p:nvSpPr>
        <p:spPr>
          <a:xfrm>
            <a:off x="10004908" y="5623560"/>
            <a:ext cx="960120" cy="228600"/>
          </a:xfrm>
          <a:prstGeom prst="rect">
            <a:avLst/>
          </a:prstGeom>
          <a:noFill/>
          <a:ln/>
        </p:spPr>
        <p:txBody>
          <a:bodyPr wrap="square" lIns="0" tIns="0" rIns="0" bIns="0" rtlCol="0" anchor="ctr"/>
          <a:lstStyle/>
          <a:p>
            <a:pPr marL="0" indent="0" algn="ctr">
              <a:buNone/>
            </a:pPr>
            <a:r>
              <a:rPr lang="en-US" sz="1100" dirty="0">
                <a:solidFill>
                  <a:srgbClr val="4A5568"/>
                </a:solidFill>
                <a:latin typeface="Malgun Gothic" pitchFamily="34" charset="0"/>
                <a:ea typeface="Malgun Gothic" pitchFamily="34" charset="-122"/>
                <a:cs typeface="Malgun Gothic" pitchFamily="34" charset="-120"/>
              </a:rPr>
              <a:t>ㅇ</a:t>
            </a:r>
            <a:endParaRPr lang="en-US" sz="1100" dirty="0"/>
          </a:p>
        </p:txBody>
      </p:sp>
      <p:sp>
        <p:nvSpPr>
          <p:cNvPr id="50" name="Shape 48"/>
          <p:cNvSpPr/>
          <p:nvPr/>
        </p:nvSpPr>
        <p:spPr>
          <a:xfrm>
            <a:off x="4937760" y="6080760"/>
            <a:ext cx="2286000" cy="320040"/>
          </a:xfrm>
          <a:prstGeom prst="roundRect">
            <a:avLst>
              <a:gd name="adj" fmla="val 51429"/>
            </a:avLst>
          </a:prstGeom>
          <a:solidFill>
            <a:srgbClr val="2EA86B"/>
          </a:solidFill>
          <a:ln/>
        </p:spPr>
      </p:sp>
      <p:sp>
        <p:nvSpPr>
          <p:cNvPr id="51" name="Text 49"/>
          <p:cNvSpPr/>
          <p:nvPr/>
        </p:nvSpPr>
        <p:spPr>
          <a:xfrm>
            <a:off x="4937760" y="6080760"/>
            <a:ext cx="2286000" cy="320040"/>
          </a:xfrm>
          <a:prstGeom prst="rect">
            <a:avLst/>
          </a:prstGeom>
          <a:noFill/>
          <a:ln/>
        </p:spPr>
        <p:txBody>
          <a:bodyPr wrap="square" lIns="0" tIns="0" rIns="0" bIns="0" rtlCol="0" anchor="ctr"/>
          <a:lstStyle/>
          <a:p>
            <a:pPr marL="0" indent="0" algn="ctr">
              <a:buNone/>
            </a:pPr>
            <a:r>
              <a:rPr lang="en-US" sz="1200" b="1" kern="0" spc="400" dirty="0">
                <a:solidFill>
                  <a:srgbClr val="FFFFFF"/>
                </a:solidFill>
                <a:latin typeface="Trebuchet MS" pitchFamily="34" charset="0"/>
                <a:ea typeface="Trebuchet MS" pitchFamily="34" charset="-122"/>
                <a:cs typeface="Trebuchet MS" pitchFamily="34" charset="-120"/>
              </a:rPr>
              <a:t>TOTAL · 14 letras</a:t>
            </a:r>
            <a:endParaRPr lang="en-US" sz="1200" dirty="0"/>
          </a:p>
        </p:txBody>
      </p:sp>
      <p:sp>
        <p:nvSpPr>
          <p:cNvPr id="52" name="Text 50"/>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24.</a:t>
            </a:r>
            <a:endParaRPr lang="en-US" sz="900" dirty="0"/>
          </a:p>
        </p:txBody>
      </p:sp>
      <p:sp>
        <p:nvSpPr>
          <p:cNvPr id="53" name="Text 51"/>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4" name="Text 52"/>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06C  ·  TALLER</a:t>
            </a:r>
            <a:endParaRPr lang="en-US" sz="1000" dirty="0"/>
          </a:p>
        </p:txBody>
      </p:sp>
    </p:spTree>
    <p:extLst>
      <p:ext uri="{BB962C8B-B14F-4D97-AF65-F5344CB8AC3E}">
        <p14:creationId xmlns:p14="http://schemas.microsoft.com/office/powerpoint/2010/main" val="16007346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del paladar · 아음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parte de atrás de la lengua se levanta y toca el velo del paladar.</a:t>
            </a:r>
            <a:endParaRPr lang="en-US" sz="1400" dirty="0"/>
          </a:p>
        </p:txBody>
      </p:sp>
      <p:sp>
        <p:nvSpPr>
          <p:cNvPr id="5" name="Shape 3"/>
          <p:cNvSpPr/>
          <p:nvPr/>
        </p:nvSpPr>
        <p:spPr>
          <a:xfrm>
            <a:off x="640080" y="2606040"/>
            <a:ext cx="4572000" cy="3657600"/>
          </a:xfrm>
          <a:prstGeom prst="roundRect">
            <a:avLst>
              <a:gd name="adj" fmla="val 6250"/>
            </a:avLst>
          </a:prstGeom>
          <a:solidFill>
            <a:srgbClr val="4036ED"/>
          </a:solidFill>
          <a:ln w="12700">
            <a:solidFill>
              <a:srgbClr val="4036ED"/>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아음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a-eum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PALADAR (VELO)</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lengua se eleva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hacia el cielo de la boca</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4036ED"/>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5" name="Shape 12"/>
          <p:cNvSpPr/>
          <p:nvPr/>
        </p:nvSpPr>
        <p:spPr>
          <a:xfrm>
            <a:off x="7662672" y="2606040"/>
            <a:ext cx="1828800" cy="3657600"/>
          </a:xfrm>
          <a:prstGeom prst="roundRect">
            <a:avLst>
              <a:gd name="adj" fmla="val 7500"/>
            </a:avLst>
          </a:prstGeom>
          <a:solidFill>
            <a:srgbClr val="EDE8FF"/>
          </a:solidFill>
          <a:ln w="19050">
            <a:solidFill>
              <a:srgbClr val="4036ED"/>
            </a:solidFill>
            <a:prstDash val="solid"/>
          </a:ln>
        </p:spPr>
      </p:sp>
      <p:sp>
        <p:nvSpPr>
          <p:cNvPr id="16" name="Text 13"/>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ASPIRADA</a:t>
            </a:r>
            <a:endParaRPr lang="en-US" sz="1000" dirty="0"/>
          </a:p>
        </p:txBody>
      </p:sp>
      <p:sp>
        <p:nvSpPr>
          <p:cNvPr id="17" name="Text 14"/>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거센소리</a:t>
            </a:r>
            <a:endParaRPr lang="en-US" sz="1100" dirty="0"/>
          </a:p>
        </p:txBody>
      </p:sp>
      <p:sp>
        <p:nvSpPr>
          <p:cNvPr id="18" name="Text 15"/>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ㅋ</a:t>
            </a:r>
            <a:endParaRPr lang="en-US" sz="5000" dirty="0"/>
          </a:p>
        </p:txBody>
      </p:sp>
      <p:sp>
        <p:nvSpPr>
          <p:cNvPr id="19" name="Shape 16"/>
          <p:cNvSpPr/>
          <p:nvPr/>
        </p:nvSpPr>
        <p:spPr>
          <a:xfrm>
            <a:off x="9656064" y="2606040"/>
            <a:ext cx="1828800" cy="3657600"/>
          </a:xfrm>
          <a:prstGeom prst="roundRect">
            <a:avLst>
              <a:gd name="adj" fmla="val 7500"/>
            </a:avLst>
          </a:prstGeom>
          <a:solidFill>
            <a:srgbClr val="EDE8FF"/>
          </a:solidFill>
          <a:ln w="19050">
            <a:solidFill>
              <a:srgbClr val="4036ED"/>
            </a:solidFill>
            <a:prstDash val="solid"/>
          </a:ln>
        </p:spPr>
      </p:sp>
      <p:sp>
        <p:nvSpPr>
          <p:cNvPr id="20" name="Text 17"/>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4036ED"/>
                </a:solidFill>
                <a:latin typeface="Calibri" pitchFamily="34" charset="0"/>
                <a:ea typeface="Calibri" pitchFamily="34" charset="-122"/>
                <a:cs typeface="Calibri" pitchFamily="34" charset="-120"/>
              </a:rPr>
              <a:t>DOBLE</a:t>
            </a:r>
            <a:endParaRPr lang="en-US" sz="1000" dirty="0"/>
          </a:p>
        </p:txBody>
      </p:sp>
      <p:sp>
        <p:nvSpPr>
          <p:cNvPr id="21" name="Text 18"/>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4036ED"/>
                </a:solidFill>
                <a:latin typeface="Malgun Gothic" pitchFamily="34" charset="0"/>
                <a:ea typeface="Malgun Gothic" pitchFamily="34" charset="-122"/>
                <a:cs typeface="Malgun Gothic" pitchFamily="34" charset="-120"/>
              </a:rPr>
              <a:t>쌍소리</a:t>
            </a:r>
            <a:endParaRPr lang="en-US" sz="1100" dirty="0"/>
          </a:p>
        </p:txBody>
      </p:sp>
      <p:sp>
        <p:nvSpPr>
          <p:cNvPr id="22" name="Text 19"/>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ㄲ</a:t>
            </a:r>
            <a:endParaRPr lang="en-US" sz="5000" dirty="0"/>
          </a:p>
        </p:txBody>
      </p:sp>
      <p:pic>
        <p:nvPicPr>
          <p:cNvPr id="23"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4" name="Text 20"/>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5" name="Text 21"/>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35</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ㄱ</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"g" suave entre vocales, "k" al inicio de palabra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ㄱ</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"g / 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가족</a:t>
            </a:r>
            <a:r>
              <a:rPr lang="en-US" sz="1300" i="1" dirty="0">
                <a:solidFill>
                  <a:srgbClr val="4A4A55"/>
                </a:solidFill>
              </a:rPr>
              <a:t xml:space="preserve">   familia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고기</a:t>
            </a:r>
            <a:r>
              <a:rPr lang="en-US" sz="1300" i="1" dirty="0">
                <a:solidFill>
                  <a:srgbClr val="4A4A55"/>
                </a:solidFill>
              </a:rPr>
              <a:t xml:space="preserve">   carne</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36</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ㅋ</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aspirada — con un soplo de aire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ㅋ</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커피</a:t>
            </a:r>
            <a:r>
              <a:rPr lang="en-US" sz="1300" i="1" dirty="0">
                <a:solidFill>
                  <a:srgbClr val="4A4A55"/>
                </a:solidFill>
              </a:rPr>
              <a:t xml:space="preserve">   café</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코</a:t>
            </a:r>
            <a:r>
              <a:rPr lang="en-US" sz="1300" i="1" dirty="0">
                <a:solidFill>
                  <a:srgbClr val="4A4A55"/>
                </a:solidFill>
              </a:rPr>
              <a:t xml:space="preserve">   nariz</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§2.3 · CONSONANTES · 아음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ㄲ</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"k" tensa — sin soplo, los músculos apretados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4036ED"/>
                </a:solidFill>
                <a:latin typeface="Calibri" pitchFamily="34" charset="0"/>
                <a:ea typeface="Calibri" pitchFamily="34" charset="-122"/>
                <a:cs typeface="Calibri" pitchFamily="34" charset="-120"/>
              </a:rPr>
              <a:t>아음 · PALADAR (VELO)</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4036ED"/>
          </a:solidFill>
          <a:ln w="12700">
            <a:solidFill>
              <a:srgbClr val="4036ED"/>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ㄲ</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4036ED"/>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4036ED"/>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"kk"</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4036ED"/>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4036ED"/>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4036ED"/>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4036ED"/>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까만</a:t>
            </a:r>
            <a:r>
              <a:rPr lang="en-US" sz="1300" i="1" dirty="0">
                <a:solidFill>
                  <a:srgbClr val="4A4A55"/>
                </a:solidFill>
              </a:rPr>
              <a:t xml:space="preserve">   negro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꽃</a:t>
            </a:r>
            <a:r>
              <a:rPr lang="en-US" sz="1300" i="1" dirty="0">
                <a:solidFill>
                  <a:srgbClr val="4A4A55"/>
                </a:solidFill>
              </a:rPr>
              <a:t xml:space="preserve">   flor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la lengua · 설음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La punta de la lengua toca los alvéolos (detrás de los dientes superiores).</a:t>
            </a:r>
            <a:endParaRPr lang="en-US" sz="1400" dirty="0"/>
          </a:p>
        </p:txBody>
      </p:sp>
      <p:sp>
        <p:nvSpPr>
          <p:cNvPr id="5" name="Shape 3"/>
          <p:cNvSpPr/>
          <p:nvPr/>
        </p:nvSpPr>
        <p:spPr>
          <a:xfrm>
            <a:off x="640080" y="2606040"/>
            <a:ext cx="4572000" cy="3657600"/>
          </a:xfrm>
          <a:prstGeom prst="roundRect">
            <a:avLst>
              <a:gd name="adj" fmla="val 6250"/>
            </a:avLst>
          </a:prstGeom>
          <a:solidFill>
            <a:srgbClr val="A79BFF"/>
          </a:solidFill>
          <a:ln w="12700">
            <a:solidFill>
              <a:srgbClr val="A79BFF"/>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설음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EDE8FF"/>
                </a:solidFill>
                <a:latin typeface="Calibri" pitchFamily="34" charset="0"/>
                <a:ea typeface="Calibri" pitchFamily="34" charset="-122"/>
                <a:cs typeface="Calibri" pitchFamily="34" charset="-120"/>
              </a:rPr>
              <a:t>seol-eum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LENGUA (ALVEOLAR)</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EDE8FF"/>
                </a:solidFill>
                <a:latin typeface="Calibri" pitchFamily="34" charset="0"/>
                <a:ea typeface="Calibri" pitchFamily="34" charset="-122"/>
                <a:cs typeface="Calibri" pitchFamily="34" charset="-120"/>
              </a:rPr>
              <a:t>La punta de la lengua</a:t>
            </a:r>
            <a:endParaRPr lang="en-US" sz="1000" dirty="0"/>
          </a:p>
          <a:p>
            <a:pPr marL="0" indent="0" algn="ctr">
              <a:buNone/>
            </a:pPr>
            <a:r>
              <a:rPr lang="en-US" sz="1000" i="1" dirty="0">
                <a:solidFill>
                  <a:srgbClr val="EDE8FF"/>
                </a:solidFill>
                <a:latin typeface="Calibri" pitchFamily="34" charset="0"/>
                <a:ea typeface="Calibri" pitchFamily="34" charset="-122"/>
                <a:cs typeface="Calibri" pitchFamily="34" charset="-120"/>
              </a:rPr>
              <a:t>toca atrás de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EDE8FF"/>
          </a:solidFill>
          <a:ln w="19050">
            <a:solidFill>
              <a:srgbClr val="A79BFF"/>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ㄴ</a:t>
            </a:r>
            <a:endParaRPr lang="en-US" sz="3800" dirty="0"/>
          </a:p>
        </p:txBody>
      </p:sp>
      <p:sp>
        <p:nvSpPr>
          <p:cNvPr id="15" name="Text 12"/>
          <p:cNvSpPr/>
          <p:nvPr/>
        </p:nvSpPr>
        <p:spPr>
          <a:xfrm>
            <a:off x="5669280" y="445008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ㄷ</a:t>
            </a:r>
            <a:endParaRPr lang="en-US" sz="3800" dirty="0"/>
          </a:p>
        </p:txBody>
      </p:sp>
      <p:sp>
        <p:nvSpPr>
          <p:cNvPr id="16" name="Text 13"/>
          <p:cNvSpPr/>
          <p:nvPr/>
        </p:nvSpPr>
        <p:spPr>
          <a:xfrm>
            <a:off x="5669280" y="5334000"/>
            <a:ext cx="1828800" cy="883920"/>
          </a:xfrm>
          <a:prstGeom prst="rect">
            <a:avLst/>
          </a:prstGeom>
          <a:noFill/>
          <a:ln/>
        </p:spPr>
        <p:txBody>
          <a:bodyPr wrap="square" lIns="0" tIns="0" rIns="0" bIns="0" rtlCol="0" anchor="ctr"/>
          <a:lstStyle/>
          <a:p>
            <a:pPr marL="0" indent="0" algn="ctr">
              <a:buNone/>
            </a:pPr>
            <a:r>
              <a:rPr lang="en-US" sz="3800" b="1" dirty="0">
                <a:solidFill>
                  <a:srgbClr val="A79BFF"/>
                </a:solidFill>
                <a:latin typeface="Malgun Gothic" pitchFamily="34" charset="0"/>
                <a:ea typeface="Malgun Gothic" pitchFamily="34" charset="-122"/>
                <a:cs typeface="Malgun Gothic" pitchFamily="34" charset="-120"/>
              </a:rPr>
              <a:t>ㄹ</a:t>
            </a:r>
            <a:endParaRPr lang="en-US" sz="3800" dirty="0"/>
          </a:p>
        </p:txBody>
      </p:sp>
      <p:sp>
        <p:nvSpPr>
          <p:cNvPr id="17" name="Shape 14"/>
          <p:cNvSpPr/>
          <p:nvPr/>
        </p:nvSpPr>
        <p:spPr>
          <a:xfrm>
            <a:off x="7662672" y="2606040"/>
            <a:ext cx="1828800" cy="3657600"/>
          </a:xfrm>
          <a:prstGeom prst="roundRect">
            <a:avLst>
              <a:gd name="adj" fmla="val 7500"/>
            </a:avLst>
          </a:prstGeom>
          <a:solidFill>
            <a:srgbClr val="EDE8FF"/>
          </a:solidFill>
          <a:ln w="19050">
            <a:solidFill>
              <a:srgbClr val="A79BFF"/>
            </a:solidFill>
            <a:prstDash val="solid"/>
          </a:ln>
        </p:spPr>
      </p:sp>
      <p:sp>
        <p:nvSpPr>
          <p:cNvPr id="18" name="Text 15"/>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ASPIRADA</a:t>
            </a:r>
            <a:endParaRPr lang="en-US" sz="1000" dirty="0"/>
          </a:p>
        </p:txBody>
      </p:sp>
      <p:sp>
        <p:nvSpPr>
          <p:cNvPr id="19" name="Text 16"/>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거센소리</a:t>
            </a:r>
            <a:endParaRPr lang="en-US" sz="1100" dirty="0"/>
          </a:p>
        </p:txBody>
      </p:sp>
      <p:sp>
        <p:nvSpPr>
          <p:cNvPr id="20" name="Text 17"/>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ㅌ</a:t>
            </a:r>
            <a:endParaRPr lang="en-US" sz="5000" dirty="0"/>
          </a:p>
        </p:txBody>
      </p:sp>
      <p:sp>
        <p:nvSpPr>
          <p:cNvPr id="21" name="Shape 18"/>
          <p:cNvSpPr/>
          <p:nvPr/>
        </p:nvSpPr>
        <p:spPr>
          <a:xfrm>
            <a:off x="9656064" y="2606040"/>
            <a:ext cx="1828800" cy="3657600"/>
          </a:xfrm>
          <a:prstGeom prst="roundRect">
            <a:avLst>
              <a:gd name="adj" fmla="val 7500"/>
            </a:avLst>
          </a:prstGeom>
          <a:solidFill>
            <a:srgbClr val="EDE8FF"/>
          </a:solidFill>
          <a:ln w="19050">
            <a:solidFill>
              <a:srgbClr val="A79BFF"/>
            </a:solidFill>
            <a:prstDash val="solid"/>
          </a:ln>
        </p:spPr>
      </p:sp>
      <p:sp>
        <p:nvSpPr>
          <p:cNvPr id="22" name="Text 19"/>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A79BFF"/>
                </a:solidFill>
                <a:latin typeface="Calibri" pitchFamily="34" charset="0"/>
                <a:ea typeface="Calibri" pitchFamily="34" charset="-122"/>
                <a:cs typeface="Calibri" pitchFamily="34" charset="-120"/>
              </a:rPr>
              <a:t>DOBLE</a:t>
            </a:r>
            <a:endParaRPr lang="en-US" sz="1000" dirty="0"/>
          </a:p>
        </p:txBody>
      </p:sp>
      <p:sp>
        <p:nvSpPr>
          <p:cNvPr id="23" name="Text 20"/>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A79BFF"/>
                </a:solidFill>
                <a:latin typeface="Malgun Gothic" pitchFamily="34" charset="0"/>
                <a:ea typeface="Malgun Gothic" pitchFamily="34" charset="-122"/>
                <a:cs typeface="Malgun Gothic" pitchFamily="34" charset="-120"/>
              </a:rPr>
              <a:t>쌍소리</a:t>
            </a:r>
            <a:endParaRPr lang="en-US" sz="1100" dirty="0"/>
          </a:p>
        </p:txBody>
      </p:sp>
      <p:sp>
        <p:nvSpPr>
          <p:cNvPr id="24" name="Text 21"/>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A79BFF"/>
                </a:solidFill>
                <a:latin typeface="Malgun Gothic" pitchFamily="34" charset="0"/>
                <a:ea typeface="Malgun Gothic" pitchFamily="34" charset="-122"/>
                <a:cs typeface="Malgun Gothic" pitchFamily="34" charset="-120"/>
              </a:rPr>
              <a:t>ㄸ</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39</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ㄴ</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"n" como en "no" — la lengua toca los alvéolos</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ㄴ</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"n"</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1 trazo</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나</a:t>
            </a:r>
            <a:r>
              <a:rPr lang="en-US" sz="1300" i="1" dirty="0">
                <a:solidFill>
                  <a:srgbClr val="4A4A55"/>
                </a:solidFill>
              </a:rPr>
              <a:t xml:space="preserve">   yo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누나</a:t>
            </a:r>
            <a:r>
              <a:rPr lang="en-US" sz="1300" i="1" dirty="0">
                <a:solidFill>
                  <a:srgbClr val="4A4A55"/>
                </a:solidFill>
              </a:rPr>
              <a:t xml:space="preserve">   hermana mayor</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ㄷ</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"d" entre vocales, "t"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ㄷ</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"d / 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다리</a:t>
            </a:r>
            <a:r>
              <a:rPr lang="en-US" sz="1300" i="1" dirty="0">
                <a:solidFill>
                  <a:srgbClr val="4A4A55"/>
                </a:solidFill>
              </a:rPr>
              <a:t xml:space="preserve">   pierna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도시</a:t>
            </a:r>
            <a:r>
              <a:rPr lang="en-US" sz="1300" i="1" dirty="0">
                <a:solidFill>
                  <a:srgbClr val="4A4A55"/>
                </a:solidFill>
              </a:rPr>
              <a:t xml:space="preserve">   ciudad</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aspirada — con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ㅌ</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타조</a:t>
            </a:r>
            <a:r>
              <a:rPr lang="en-US" sz="1300" i="1" dirty="0">
                <a:solidFill>
                  <a:srgbClr val="4A4A55"/>
                </a:solidFill>
              </a:rPr>
              <a:t xml:space="preserve">   avestruz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토끼</a:t>
            </a:r>
            <a:r>
              <a:rPr lang="en-US" sz="1300" i="1" dirty="0">
                <a:solidFill>
                  <a:srgbClr val="4A4A55"/>
                </a:solidFill>
              </a:rPr>
              <a:t xml:space="preserve">   conejo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ㄸ</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ㄸ</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"tt"</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딸</a:t>
            </a:r>
            <a:r>
              <a:rPr lang="en-US" sz="1300" i="1" dirty="0">
                <a:solidFill>
                  <a:srgbClr val="4A4A55"/>
                </a:solidFill>
              </a:rPr>
              <a:t xml:space="preserve">   hija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땅</a:t>
            </a:r>
            <a:r>
              <a:rPr lang="en-US" sz="1300" i="1" dirty="0">
                <a:solidFill>
                  <a:srgbClr val="4A4A55"/>
                </a:solidFill>
              </a:rPr>
              <a:t xml:space="preserve">   tierra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§2.4 · CONSONANTES · 설음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ㄹ</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"r" suave entre vocales, "l" al final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A79BFF"/>
                </a:solidFill>
                <a:latin typeface="Calibri" pitchFamily="34" charset="0"/>
                <a:ea typeface="Calibri" pitchFamily="34" charset="-122"/>
                <a:cs typeface="Calibri" pitchFamily="34" charset="-120"/>
              </a:rPr>
              <a:t>설음 · LENGUA (ALVEOLAR)</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A79BFF"/>
          </a:solidFill>
          <a:ln w="12700">
            <a:solidFill>
              <a:srgbClr val="A79BFF"/>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ㄹ</a:t>
            </a:r>
            <a:endParaRPr lang="en-US" sz="24000" dirty="0"/>
          </a:p>
        </p:txBody>
      </p:sp>
      <p:sp>
        <p:nvSpPr>
          <p:cNvPr id="9" name="Shape 7"/>
          <p:cNvSpPr/>
          <p:nvPr/>
        </p:nvSpPr>
        <p:spPr>
          <a:xfrm>
            <a:off x="6126480" y="2606040"/>
            <a:ext cx="5486400" cy="1097280"/>
          </a:xfrm>
          <a:prstGeom prst="roundRect">
            <a:avLst>
              <a:gd name="adj" fmla="val 12500"/>
            </a:avLst>
          </a:prstGeom>
          <a:solidFill>
            <a:srgbClr val="EDE8FF"/>
          </a:solidFill>
          <a:ln w="19050">
            <a:solidFill>
              <a:srgbClr val="A79BFF"/>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A79BFF"/>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"r / l"</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A79BFF"/>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A79BFF"/>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EDE8FF"/>
          </a:solidFill>
          <a:ln w="19050">
            <a:solidFill>
              <a:srgbClr val="A79BFF"/>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A79BFF"/>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라면</a:t>
            </a:r>
            <a:r>
              <a:rPr lang="en-US" sz="1300" i="1" dirty="0">
                <a:solidFill>
                  <a:srgbClr val="4A4A55"/>
                </a:solidFill>
              </a:rPr>
              <a:t xml:space="preserve">   ramen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서울</a:t>
            </a:r>
            <a:r>
              <a:rPr lang="en-US" sz="1300" i="1" dirty="0">
                <a:solidFill>
                  <a:srgbClr val="4A4A55"/>
                </a:solidFill>
              </a:rPr>
              <a:t xml:space="preserve">   Seúl</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labios · 순음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Los dos labios se cierran y se abren para producir el sonido.</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순음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sun-eum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LABIOS (BILABIAL)</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Los dos labios se cierran</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y se abren con el aire</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ㅁ</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ㅂ</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ㅍ</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ㅃ</a:t>
            </a:r>
            <a:endParaRPr lang="en-US" sz="5000" dirty="0"/>
          </a:p>
        </p:txBody>
      </p:sp>
      <p:pic>
        <p:nvPicPr>
          <p:cNvPr id="24"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5" name="Text 21"/>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6" name="Text 22"/>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ㅁ</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"m" como en "mamá" — labios cerrados, voz nasal</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ㅁ</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"m"</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엄마</a:t>
            </a:r>
            <a:r>
              <a:rPr lang="en-US" sz="1300" i="1" dirty="0">
                <a:solidFill>
                  <a:srgbClr val="4A4A55"/>
                </a:solidFill>
              </a:rPr>
              <a:t xml:space="preserve">   mamá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물</a:t>
            </a:r>
            <a:r>
              <a:rPr lang="en-US" sz="1300" i="1" dirty="0">
                <a:solidFill>
                  <a:srgbClr val="4A4A55"/>
                </a:solidFill>
              </a:rPr>
              <a:t xml:space="preserve">   agua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ㅂ</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"b" entre vocales, "p"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ㅂ</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"b / 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바다</a:t>
            </a:r>
            <a:r>
              <a:rPr lang="en-US" sz="1300" i="1" dirty="0">
                <a:solidFill>
                  <a:srgbClr val="4A4A55"/>
                </a:solidFill>
              </a:rPr>
              <a:t xml:space="preserve">   mar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비</a:t>
            </a:r>
            <a:r>
              <a:rPr lang="en-US" sz="1300" i="1" dirty="0">
                <a:solidFill>
                  <a:srgbClr val="4A4A55"/>
                </a:solidFill>
              </a:rPr>
              <a:t xml:space="preserve">   lluvia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ㅍ</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aspirada — con un soplo de aire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ㅍ</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파</a:t>
            </a:r>
            <a:r>
              <a:rPr lang="en-US" sz="1300" i="1" dirty="0">
                <a:solidFill>
                  <a:srgbClr val="4A4A55"/>
                </a:solidFill>
              </a:rPr>
              <a:t xml:space="preserve">   cebollín</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포도</a:t>
            </a:r>
            <a:r>
              <a:rPr lang="en-US" sz="1300" i="1" dirty="0">
                <a:solidFill>
                  <a:srgbClr val="4A4A55"/>
                </a:solidFill>
              </a:rPr>
              <a:t xml:space="preserve">   uva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§2.5 · CONSONANTES · 순음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ㅃ</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"p"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순음 · LABIOS (BILABIAL)</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ㅃ</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"pp"</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8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아빠</a:t>
            </a:r>
            <a:r>
              <a:rPr lang="en-US" sz="1300" i="1" dirty="0">
                <a:solidFill>
                  <a:srgbClr val="4A4A55"/>
                </a:solidFill>
              </a:rPr>
              <a:t xml:space="preserve">   papá</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빵</a:t>
            </a:r>
            <a:r>
              <a:rPr lang="en-US" sz="1300" i="1" dirty="0">
                <a:solidFill>
                  <a:srgbClr val="4A4A55"/>
                </a:solidFill>
              </a:rPr>
              <a:t xml:space="preserve">   pan</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Sonidos de los dientes · 치음</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El aire pasa entre los dientes produciendo un silbido o "ch" suave.</a:t>
            </a:r>
            <a:endParaRPr lang="en-US" sz="1400" dirty="0"/>
          </a:p>
        </p:txBody>
      </p:sp>
      <p:sp>
        <p:nvSpPr>
          <p:cNvPr id="5" name="Shape 3"/>
          <p:cNvSpPr/>
          <p:nvPr/>
        </p:nvSpPr>
        <p:spPr>
          <a:xfrm>
            <a:off x="640080" y="2606040"/>
            <a:ext cx="4572000" cy="3657600"/>
          </a:xfrm>
          <a:prstGeom prst="roundRect">
            <a:avLst>
              <a:gd name="adj" fmla="val 6250"/>
            </a:avLst>
          </a:prstGeom>
          <a:solidFill>
            <a:srgbClr val="FE6768"/>
          </a:solidFill>
          <a:ln w="12700">
            <a:solidFill>
              <a:srgbClr val="FE6768"/>
            </a:solidFill>
            <a:prstDash val="solid"/>
          </a:ln>
        </p:spPr>
      </p:sp>
      <p:sp>
        <p:nvSpPr>
          <p:cNvPr id="6" name="Text 4"/>
          <p:cNvSpPr/>
          <p:nvPr/>
        </p:nvSpPr>
        <p:spPr>
          <a:xfrm>
            <a:off x="640080" y="2697480"/>
            <a:ext cx="4572000" cy="914400"/>
          </a:xfrm>
          <a:prstGeom prst="rect">
            <a:avLst/>
          </a:prstGeom>
          <a:noFill/>
          <a:ln/>
        </p:spPr>
        <p:txBody>
          <a:bodyPr wrap="square" lIns="0" tIns="0" rIns="0" bIns="0" rtlCol="0" anchor="ctr"/>
          <a:lstStyle/>
          <a:p>
            <a:pPr marL="0" indent="0" algn="ctr">
              <a:buNone/>
            </a:pPr>
            <a:r>
              <a:rPr lang="en-US" sz="6000" b="1" dirty="0">
                <a:solidFill>
                  <a:srgbClr val="F6F6F6"/>
                </a:solidFill>
                <a:latin typeface="Malgun Gothic" pitchFamily="34" charset="0"/>
                <a:ea typeface="Malgun Gothic" pitchFamily="34" charset="-122"/>
                <a:cs typeface="Malgun Gothic" pitchFamily="34" charset="-120"/>
              </a:rPr>
              <a:t>치음</a:t>
            </a:r>
            <a:endParaRPr lang="en-US" sz="6000" dirty="0"/>
          </a:p>
        </p:txBody>
      </p:sp>
      <p:sp>
        <p:nvSpPr>
          <p:cNvPr id="7" name="Text 5"/>
          <p:cNvSpPr/>
          <p:nvPr/>
        </p:nvSpPr>
        <p:spPr>
          <a:xfrm>
            <a:off x="640080" y="3611880"/>
            <a:ext cx="4572000" cy="320040"/>
          </a:xfrm>
          <a:prstGeom prst="rect">
            <a:avLst/>
          </a:prstGeom>
          <a:noFill/>
          <a:ln/>
        </p:spPr>
        <p:txBody>
          <a:bodyPr wrap="square" lIns="0" tIns="0" rIns="0" bIns="0" rtlCol="0" anchor="ctr"/>
          <a:lstStyle/>
          <a:p>
            <a:pPr marL="0" indent="0" algn="ctr">
              <a:buNone/>
            </a:pPr>
            <a:r>
              <a:rPr lang="en-US" sz="1400" i="1" dirty="0">
                <a:solidFill>
                  <a:srgbClr val="FFE0E0"/>
                </a:solidFill>
                <a:latin typeface="Calibri" pitchFamily="34" charset="0"/>
                <a:ea typeface="Calibri" pitchFamily="34" charset="-122"/>
                <a:cs typeface="Calibri" pitchFamily="34" charset="-120"/>
              </a:rPr>
              <a:t>chi-eum</a:t>
            </a:r>
            <a:endParaRPr lang="en-US" sz="1400" dirty="0"/>
          </a:p>
        </p:txBody>
      </p:sp>
      <p:pic>
        <p:nvPicPr>
          <p:cNvPr id="8" name="Image 0" descr="preencoded.png"/>
          <p:cNvPicPr>
            <a:picLocks noChangeAspect="1"/>
          </p:cNvPicPr>
          <p:nvPr/>
        </p:nvPicPr>
        <p:blipFill>
          <a:blip r:embed="rId3"/>
          <a:stretch>
            <a:fillRect/>
          </a:stretch>
        </p:blipFill>
        <p:spPr>
          <a:xfrm>
            <a:off x="2148840" y="4023360"/>
            <a:ext cx="1554480" cy="1554480"/>
          </a:xfrm>
          <a:prstGeom prst="rect">
            <a:avLst/>
          </a:prstGeom>
        </p:spPr>
      </p:pic>
      <p:sp>
        <p:nvSpPr>
          <p:cNvPr id="9" name="Text 6"/>
          <p:cNvSpPr/>
          <p:nvPr/>
        </p:nvSpPr>
        <p:spPr>
          <a:xfrm>
            <a:off x="640080" y="5623560"/>
            <a:ext cx="4572000" cy="320040"/>
          </a:xfrm>
          <a:prstGeom prst="rect">
            <a:avLst/>
          </a:prstGeom>
          <a:noFill/>
          <a:ln/>
        </p:spPr>
        <p:txBody>
          <a:bodyPr wrap="square" lIns="0" tIns="0" rIns="0" bIns="0" rtlCol="0" anchor="ctr"/>
          <a:lstStyle/>
          <a:p>
            <a:pPr marL="0" indent="0" algn="ctr">
              <a:buNone/>
            </a:pPr>
            <a:r>
              <a:rPr lang="en-US" sz="1200" b="1" kern="0" spc="500" dirty="0">
                <a:solidFill>
                  <a:srgbClr val="F6F6F6"/>
                </a:solidFill>
                <a:latin typeface="Calibri" pitchFamily="34" charset="0"/>
                <a:ea typeface="Calibri" pitchFamily="34" charset="-122"/>
                <a:cs typeface="Calibri" pitchFamily="34" charset="-120"/>
              </a:rPr>
              <a:t>DIENTES (SIBILANTE)</a:t>
            </a:r>
            <a:endParaRPr lang="en-US" sz="1200" dirty="0"/>
          </a:p>
        </p:txBody>
      </p:sp>
      <p:sp>
        <p:nvSpPr>
          <p:cNvPr id="10" name="Text 7"/>
          <p:cNvSpPr/>
          <p:nvPr/>
        </p:nvSpPr>
        <p:spPr>
          <a:xfrm>
            <a:off x="640080" y="5943600"/>
            <a:ext cx="4572000" cy="365760"/>
          </a:xfrm>
          <a:prstGeom prst="rect">
            <a:avLst/>
          </a:prstGeom>
          <a:noFill/>
          <a:ln/>
        </p:spPr>
        <p:txBody>
          <a:bodyPr wrap="square" lIns="0" tIns="0" rIns="0" bIns="0" rtlCol="0" anchor="ctr"/>
          <a:lstStyle/>
          <a:p>
            <a:pPr marL="0" indent="0" algn="ctr">
              <a:buNone/>
            </a:pPr>
            <a:r>
              <a:rPr lang="en-US" sz="1000" i="1" dirty="0">
                <a:solidFill>
                  <a:srgbClr val="FFE0E0"/>
                </a:solidFill>
                <a:latin typeface="Calibri" pitchFamily="34" charset="0"/>
                <a:ea typeface="Calibri" pitchFamily="34" charset="-122"/>
                <a:cs typeface="Calibri" pitchFamily="34" charset="-120"/>
              </a:rPr>
              <a:t>El aire silba</a:t>
            </a:r>
            <a:endParaRPr lang="en-US" sz="1000" dirty="0"/>
          </a:p>
          <a:p>
            <a:pPr marL="0" indent="0" algn="ctr">
              <a:buNone/>
            </a:pPr>
            <a:r>
              <a:rPr lang="en-US" sz="1000" i="1" dirty="0">
                <a:solidFill>
                  <a:srgbClr val="FFE0E0"/>
                </a:solidFill>
                <a:latin typeface="Calibri" pitchFamily="34" charset="0"/>
                <a:ea typeface="Calibri" pitchFamily="34" charset="-122"/>
                <a:cs typeface="Calibri" pitchFamily="34" charset="-120"/>
              </a:rPr>
              <a:t>entre los dientes</a:t>
            </a:r>
            <a:endParaRPr lang="en-US" sz="1000" dirty="0"/>
          </a:p>
        </p:txBody>
      </p:sp>
      <p:sp>
        <p:nvSpPr>
          <p:cNvPr id="11" name="Shape 8"/>
          <p:cNvSpPr/>
          <p:nvPr/>
        </p:nvSpPr>
        <p:spPr>
          <a:xfrm>
            <a:off x="5669280" y="2606040"/>
            <a:ext cx="1828800" cy="3657600"/>
          </a:xfrm>
          <a:prstGeom prst="roundRect">
            <a:avLst>
              <a:gd name="adj" fmla="val 7500"/>
            </a:avLst>
          </a:prstGeom>
          <a:solidFill>
            <a:srgbClr val="FFE0E0"/>
          </a:solidFill>
          <a:ln w="19050">
            <a:solidFill>
              <a:srgbClr val="FE6768"/>
            </a:solidFill>
            <a:prstDash val="solid"/>
          </a:ln>
        </p:spPr>
      </p:sp>
      <p:sp>
        <p:nvSpPr>
          <p:cNvPr id="12" name="Text 9"/>
          <p:cNvSpPr/>
          <p:nvPr/>
        </p:nvSpPr>
        <p:spPr>
          <a:xfrm>
            <a:off x="5669280"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BÁSICA</a:t>
            </a:r>
            <a:endParaRPr lang="en-US" sz="1000" dirty="0"/>
          </a:p>
        </p:txBody>
      </p:sp>
      <p:sp>
        <p:nvSpPr>
          <p:cNvPr id="13" name="Text 10"/>
          <p:cNvSpPr/>
          <p:nvPr/>
        </p:nvSpPr>
        <p:spPr>
          <a:xfrm>
            <a:off x="5669280"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기본</a:t>
            </a:r>
            <a:endParaRPr lang="en-US" sz="1100" dirty="0"/>
          </a:p>
        </p:txBody>
      </p:sp>
      <p:sp>
        <p:nvSpPr>
          <p:cNvPr id="14" name="Text 11"/>
          <p:cNvSpPr/>
          <p:nvPr/>
        </p:nvSpPr>
        <p:spPr>
          <a:xfrm>
            <a:off x="5669280"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ㅅ</a:t>
            </a:r>
            <a:endParaRPr lang="en-US" sz="5000" dirty="0"/>
          </a:p>
        </p:txBody>
      </p:sp>
      <p:sp>
        <p:nvSpPr>
          <p:cNvPr id="15" name="Text 12"/>
          <p:cNvSpPr/>
          <p:nvPr/>
        </p:nvSpPr>
        <p:spPr>
          <a:xfrm>
            <a:off x="5669280"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ㅈ</a:t>
            </a:r>
            <a:endParaRPr lang="en-US" sz="5000" dirty="0"/>
          </a:p>
        </p:txBody>
      </p:sp>
      <p:sp>
        <p:nvSpPr>
          <p:cNvPr id="16" name="Shape 13"/>
          <p:cNvSpPr/>
          <p:nvPr/>
        </p:nvSpPr>
        <p:spPr>
          <a:xfrm>
            <a:off x="7662672" y="2606040"/>
            <a:ext cx="1828800" cy="3657600"/>
          </a:xfrm>
          <a:prstGeom prst="roundRect">
            <a:avLst>
              <a:gd name="adj" fmla="val 7500"/>
            </a:avLst>
          </a:prstGeom>
          <a:solidFill>
            <a:srgbClr val="FFE0E0"/>
          </a:solidFill>
          <a:ln w="19050">
            <a:solidFill>
              <a:srgbClr val="FE6768"/>
            </a:solidFill>
            <a:prstDash val="solid"/>
          </a:ln>
        </p:spPr>
      </p:sp>
      <p:sp>
        <p:nvSpPr>
          <p:cNvPr id="17" name="Text 14"/>
          <p:cNvSpPr/>
          <p:nvPr/>
        </p:nvSpPr>
        <p:spPr>
          <a:xfrm>
            <a:off x="7662672"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ASPIRADA</a:t>
            </a:r>
            <a:endParaRPr lang="en-US" sz="1000" dirty="0"/>
          </a:p>
        </p:txBody>
      </p:sp>
      <p:sp>
        <p:nvSpPr>
          <p:cNvPr id="18" name="Text 15"/>
          <p:cNvSpPr/>
          <p:nvPr/>
        </p:nvSpPr>
        <p:spPr>
          <a:xfrm>
            <a:off x="7662672"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거센소리</a:t>
            </a:r>
            <a:endParaRPr lang="en-US" sz="1100" dirty="0"/>
          </a:p>
        </p:txBody>
      </p:sp>
      <p:sp>
        <p:nvSpPr>
          <p:cNvPr id="19" name="Text 16"/>
          <p:cNvSpPr/>
          <p:nvPr/>
        </p:nvSpPr>
        <p:spPr>
          <a:xfrm>
            <a:off x="7662672" y="3566160"/>
            <a:ext cx="1828800" cy="265176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ㅊ</a:t>
            </a:r>
            <a:endParaRPr lang="en-US" sz="5000" dirty="0"/>
          </a:p>
        </p:txBody>
      </p:sp>
      <p:sp>
        <p:nvSpPr>
          <p:cNvPr id="20" name="Shape 17"/>
          <p:cNvSpPr/>
          <p:nvPr/>
        </p:nvSpPr>
        <p:spPr>
          <a:xfrm>
            <a:off x="9656064" y="2606040"/>
            <a:ext cx="1828800" cy="3657600"/>
          </a:xfrm>
          <a:prstGeom prst="roundRect">
            <a:avLst>
              <a:gd name="adj" fmla="val 7500"/>
            </a:avLst>
          </a:prstGeom>
          <a:solidFill>
            <a:srgbClr val="FFE0E0"/>
          </a:solidFill>
          <a:ln w="19050">
            <a:solidFill>
              <a:srgbClr val="FE6768"/>
            </a:solidFill>
            <a:prstDash val="solid"/>
          </a:ln>
        </p:spPr>
      </p:sp>
      <p:sp>
        <p:nvSpPr>
          <p:cNvPr id="21" name="Text 18"/>
          <p:cNvSpPr/>
          <p:nvPr/>
        </p:nvSpPr>
        <p:spPr>
          <a:xfrm>
            <a:off x="9656064" y="2788920"/>
            <a:ext cx="1828800" cy="320040"/>
          </a:xfrm>
          <a:prstGeom prst="rect">
            <a:avLst/>
          </a:prstGeom>
          <a:noFill/>
          <a:ln/>
        </p:spPr>
        <p:txBody>
          <a:bodyPr wrap="square" lIns="0" tIns="0" rIns="0" bIns="0" rtlCol="0" anchor="ctr"/>
          <a:lstStyle/>
          <a:p>
            <a:pPr marL="0" indent="0" algn="ctr">
              <a:buNone/>
            </a:pPr>
            <a:r>
              <a:rPr lang="en-US" sz="1000" b="1" kern="0" spc="400" dirty="0">
                <a:solidFill>
                  <a:srgbClr val="FE6768"/>
                </a:solidFill>
                <a:latin typeface="Calibri" pitchFamily="34" charset="0"/>
                <a:ea typeface="Calibri" pitchFamily="34" charset="-122"/>
                <a:cs typeface="Calibri" pitchFamily="34" charset="-120"/>
              </a:rPr>
              <a:t>DOBLE</a:t>
            </a:r>
            <a:endParaRPr lang="en-US" sz="1000" dirty="0"/>
          </a:p>
        </p:txBody>
      </p:sp>
      <p:sp>
        <p:nvSpPr>
          <p:cNvPr id="22" name="Text 19"/>
          <p:cNvSpPr/>
          <p:nvPr/>
        </p:nvSpPr>
        <p:spPr>
          <a:xfrm>
            <a:off x="9656064" y="3108960"/>
            <a:ext cx="1828800" cy="320040"/>
          </a:xfrm>
          <a:prstGeom prst="rect">
            <a:avLst/>
          </a:prstGeom>
          <a:noFill/>
          <a:ln/>
        </p:spPr>
        <p:txBody>
          <a:bodyPr wrap="square" lIns="0" tIns="0" rIns="0" bIns="0" rtlCol="0" anchor="ctr"/>
          <a:lstStyle/>
          <a:p>
            <a:pPr marL="0" indent="0" algn="ctr">
              <a:buNone/>
            </a:pPr>
            <a:r>
              <a:rPr lang="en-US" sz="1100" i="1" dirty="0">
                <a:solidFill>
                  <a:srgbClr val="FE6768"/>
                </a:solidFill>
                <a:latin typeface="Malgun Gothic" pitchFamily="34" charset="0"/>
                <a:ea typeface="Malgun Gothic" pitchFamily="34" charset="-122"/>
                <a:cs typeface="Malgun Gothic" pitchFamily="34" charset="-120"/>
              </a:rPr>
              <a:t>쌍소리</a:t>
            </a:r>
            <a:endParaRPr lang="en-US" sz="1100" dirty="0"/>
          </a:p>
        </p:txBody>
      </p:sp>
      <p:sp>
        <p:nvSpPr>
          <p:cNvPr id="23" name="Text 20"/>
          <p:cNvSpPr/>
          <p:nvPr/>
        </p:nvSpPr>
        <p:spPr>
          <a:xfrm>
            <a:off x="9656064" y="356616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ㅆ</a:t>
            </a:r>
            <a:endParaRPr lang="en-US" sz="5000" dirty="0"/>
          </a:p>
        </p:txBody>
      </p:sp>
      <p:sp>
        <p:nvSpPr>
          <p:cNvPr id="24" name="Text 21"/>
          <p:cNvSpPr/>
          <p:nvPr/>
        </p:nvSpPr>
        <p:spPr>
          <a:xfrm>
            <a:off x="9656064" y="4892040"/>
            <a:ext cx="1828800" cy="132588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ㅉ</a:t>
            </a:r>
            <a:endParaRPr lang="en-US" sz="5000" dirty="0"/>
          </a:p>
        </p:txBody>
      </p:sp>
      <p:pic>
        <p:nvPicPr>
          <p:cNvPr id="25"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6" name="Text 22"/>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7" name="Text 23"/>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ㅅ</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como en "sopa", "sh" antes de ㅣ</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ㅅ</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 / sh"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2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사랑</a:t>
            </a:r>
            <a:r>
              <a:rPr lang="en-US" sz="1300" i="1" dirty="0">
                <a:solidFill>
                  <a:srgbClr val="4A4A55"/>
                </a:solidFill>
              </a:rPr>
              <a:t xml:space="preserve">   amor</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시간</a:t>
            </a:r>
            <a:r>
              <a:rPr lang="en-US" sz="1300" i="1" dirty="0">
                <a:solidFill>
                  <a:srgbClr val="4A4A55"/>
                </a:solidFill>
              </a:rPr>
              <a:t xml:space="preserve">   tiempo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51</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ㅈ</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"y" suave entre vocales, "ch" suave al inicio</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BÁSICA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ㅈ</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 / 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3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집</a:t>
            </a:r>
            <a:r>
              <a:rPr lang="en-US" sz="1300" i="1" dirty="0">
                <a:solidFill>
                  <a:srgbClr val="4A4A55"/>
                </a:solidFill>
              </a:rPr>
              <a:t xml:space="preserve">   casa</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주말</a:t>
            </a:r>
            <a:r>
              <a:rPr lang="en-US" sz="1300" i="1" dirty="0">
                <a:solidFill>
                  <a:srgbClr val="4A4A55"/>
                </a:solidFill>
              </a:rPr>
              <a:t xml:space="preserve">   fin de semana</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52</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ㅊ</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aspirada — con soplo fuerte</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ASPIRADA</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ㅊ</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"ch"</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차</a:t>
            </a:r>
            <a:r>
              <a:rPr lang="en-US" sz="1300" i="1" dirty="0">
                <a:solidFill>
                  <a:srgbClr val="4A4A55"/>
                </a:solidFill>
              </a:rPr>
              <a:t xml:space="preserve">   té / coche</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책</a:t>
            </a:r>
            <a:r>
              <a:rPr lang="en-US" sz="1300" i="1" dirty="0">
                <a:solidFill>
                  <a:srgbClr val="4A4A55"/>
                </a:solidFill>
              </a:rPr>
              <a:t xml:space="preserve">   libro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ㅆ</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"s" tensa — más fuerte y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ㅆ</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"ss"</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4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쌀</a:t>
            </a:r>
            <a:r>
              <a:rPr lang="en-US" sz="1300" i="1" dirty="0">
                <a:solidFill>
                  <a:srgbClr val="4A4A55"/>
                </a:solidFill>
              </a:rPr>
              <a:t xml:space="preserve">   arroz</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싸다</a:t>
            </a:r>
            <a:r>
              <a:rPr lang="en-US" sz="1300" i="1" dirty="0">
                <a:solidFill>
                  <a:srgbClr val="4A4A55"/>
                </a:solidFill>
              </a:rPr>
              <a:t xml:space="preserve">   barato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54</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§2.6 · CONSONANTES · 치음</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Consonante · ㅉ</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"ch" tensa — sin soplo, apretada</a:t>
            </a:r>
            <a:endParaRPr lang="en-US" sz="1400" dirty="0"/>
          </a:p>
        </p:txBody>
      </p:sp>
      <p:sp>
        <p:nvSpPr>
          <p:cNvPr id="5" name="Text 3"/>
          <p:cNvSpPr/>
          <p:nvPr/>
        </p:nvSpPr>
        <p:spPr>
          <a:xfrm>
            <a:off x="8488375" y="914400"/>
            <a:ext cx="3200400" cy="365760"/>
          </a:xfrm>
          <a:prstGeom prst="rect">
            <a:avLst/>
          </a:prstGeom>
          <a:noFill/>
          <a:ln/>
        </p:spPr>
        <p:txBody>
          <a:bodyPr wrap="square" lIns="0" tIns="0" rIns="0" bIns="0" rtlCol="0" anchor="ctr"/>
          <a:lstStyle/>
          <a:p>
            <a:pPr marL="0" indent="0" algn="r">
              <a:buNone/>
            </a:pPr>
            <a:r>
              <a:rPr lang="en-US" sz="1100" b="1" kern="0" spc="300" dirty="0">
                <a:solidFill>
                  <a:srgbClr val="FE6768"/>
                </a:solidFill>
                <a:latin typeface="Calibri" pitchFamily="34" charset="0"/>
                <a:ea typeface="Calibri" pitchFamily="34" charset="-122"/>
                <a:cs typeface="Calibri" pitchFamily="34" charset="-120"/>
              </a:rPr>
              <a:t>치음 · DIENTES (SIBILANTE)</a:t>
            </a:r>
            <a:endParaRPr lang="en-US" sz="1100" dirty="0"/>
          </a:p>
        </p:txBody>
      </p:sp>
      <p:sp>
        <p:nvSpPr>
          <p:cNvPr id="6" name="Text 4"/>
          <p:cNvSpPr/>
          <p:nvPr/>
        </p:nvSpPr>
        <p:spPr>
          <a:xfrm>
            <a:off x="8488375" y="1280160"/>
            <a:ext cx="3200400" cy="274320"/>
          </a:xfrm>
          <a:prstGeom prst="rect">
            <a:avLst/>
          </a:prstGeom>
          <a:noFill/>
          <a:ln/>
        </p:spPr>
        <p:txBody>
          <a:bodyPr wrap="square" lIns="0" tIns="0" rIns="0" bIns="0" rtlCol="0" anchor="ctr"/>
          <a:lstStyle/>
          <a:p>
            <a:pPr marL="0" indent="0" algn="r">
              <a:buNone/>
            </a:pPr>
            <a:r>
              <a:rPr lang="en-US" sz="900" kern="0" spc="400" dirty="0">
                <a:solidFill>
                  <a:srgbClr val="4A4A55"/>
                </a:solidFill>
                <a:latin typeface="Calibri" pitchFamily="34" charset="0"/>
                <a:ea typeface="Calibri" pitchFamily="34" charset="-122"/>
                <a:cs typeface="Calibri" pitchFamily="34" charset="-120"/>
              </a:rPr>
              <a:t>DOBLE</a:t>
            </a:r>
            <a:endParaRPr lang="en-US" sz="900" dirty="0"/>
          </a:p>
        </p:txBody>
      </p:sp>
      <p:sp>
        <p:nvSpPr>
          <p:cNvPr id="7" name="Shape 5"/>
          <p:cNvSpPr/>
          <p:nvPr/>
        </p:nvSpPr>
        <p:spPr>
          <a:xfrm>
            <a:off x="640080" y="2606040"/>
            <a:ext cx="5120640" cy="3657600"/>
          </a:xfrm>
          <a:prstGeom prst="roundRect">
            <a:avLst>
              <a:gd name="adj" fmla="val 7500"/>
            </a:avLst>
          </a:prstGeom>
          <a:solidFill>
            <a:srgbClr val="FE6768"/>
          </a:solidFill>
          <a:ln w="12700">
            <a:solidFill>
              <a:srgbClr val="FE6768"/>
            </a:solidFill>
            <a:prstDash val="solid"/>
          </a:ln>
        </p:spPr>
      </p:sp>
      <p:sp>
        <p:nvSpPr>
          <p:cNvPr id="8" name="Text 6"/>
          <p:cNvSpPr/>
          <p:nvPr/>
        </p:nvSpPr>
        <p:spPr>
          <a:xfrm>
            <a:off x="640080" y="2606040"/>
            <a:ext cx="5120640" cy="3657600"/>
          </a:xfrm>
          <a:prstGeom prst="rect">
            <a:avLst/>
          </a:prstGeom>
          <a:noFill/>
          <a:ln/>
        </p:spPr>
        <p:txBody>
          <a:bodyPr wrap="square" lIns="0" tIns="0" rIns="0" bIns="0" rtlCol="0" anchor="ctr"/>
          <a:lstStyle/>
          <a:p>
            <a:pPr marL="0" indent="0" algn="ctr">
              <a:buNone/>
            </a:pPr>
            <a:r>
              <a:rPr lang="en-US" sz="24000" b="1" dirty="0">
                <a:solidFill>
                  <a:srgbClr val="F6F6F6"/>
                </a:solidFill>
                <a:latin typeface="Malgun Gothic" pitchFamily="34" charset="0"/>
                <a:ea typeface="Malgun Gothic" pitchFamily="34" charset="-122"/>
                <a:cs typeface="Malgun Gothic" pitchFamily="34" charset="-120"/>
              </a:rPr>
              <a:t>ㅉ</a:t>
            </a:r>
            <a:endParaRPr lang="en-US" sz="24000" dirty="0"/>
          </a:p>
        </p:txBody>
      </p:sp>
      <p:sp>
        <p:nvSpPr>
          <p:cNvPr id="9" name="Shape 7"/>
          <p:cNvSpPr/>
          <p:nvPr/>
        </p:nvSpPr>
        <p:spPr>
          <a:xfrm>
            <a:off x="6126480" y="2606040"/>
            <a:ext cx="5486400" cy="1097280"/>
          </a:xfrm>
          <a:prstGeom prst="roundRect">
            <a:avLst>
              <a:gd name="adj" fmla="val 12500"/>
            </a:avLst>
          </a:prstGeom>
          <a:solidFill>
            <a:srgbClr val="FFE0E0"/>
          </a:solidFill>
          <a:ln w="19050">
            <a:solidFill>
              <a:srgbClr val="FE6768"/>
            </a:solidFill>
            <a:prstDash val="solid"/>
          </a:ln>
        </p:spPr>
      </p:sp>
      <p:sp>
        <p:nvSpPr>
          <p:cNvPr id="10" name="Text 8"/>
          <p:cNvSpPr/>
          <p:nvPr/>
        </p:nvSpPr>
        <p:spPr>
          <a:xfrm>
            <a:off x="6309360" y="2697480"/>
            <a:ext cx="5120640" cy="274320"/>
          </a:xfrm>
          <a:prstGeom prst="rect">
            <a:avLst/>
          </a:prstGeom>
          <a:noFill/>
          <a:ln/>
        </p:spPr>
        <p:txBody>
          <a:bodyPr wrap="square" lIns="0" tIns="0" rIns="0" bIns="0" rtlCol="0" anchor="ctr"/>
          <a:lstStyle/>
          <a:p>
            <a:pPr marL="0" indent="0">
              <a:buNone/>
            </a:pPr>
            <a:r>
              <a:rPr lang="en-US" sz="900" b="1" kern="0" spc="400" dirty="0">
                <a:solidFill>
                  <a:srgbClr val="FE6768"/>
                </a:solidFill>
                <a:latin typeface="Calibri" pitchFamily="34" charset="0"/>
                <a:ea typeface="Calibri" pitchFamily="34" charset="-122"/>
                <a:cs typeface="Calibri" pitchFamily="34" charset="-120"/>
              </a:rPr>
              <a:t>PRONUNCIACIÓN</a:t>
            </a:r>
            <a:endParaRPr lang="en-US" sz="900" dirty="0"/>
          </a:p>
        </p:txBody>
      </p:sp>
      <p:sp>
        <p:nvSpPr>
          <p:cNvPr id="11" name="Text 9"/>
          <p:cNvSpPr/>
          <p:nvPr/>
        </p:nvSpPr>
        <p:spPr>
          <a:xfrm>
            <a:off x="6309360" y="2971800"/>
            <a:ext cx="5120640" cy="640080"/>
          </a:xfrm>
          <a:prstGeom prst="rect">
            <a:avLst/>
          </a:prstGeom>
          <a:noFill/>
          <a:ln/>
        </p:spPr>
        <p:txBody>
          <a:bodyPr wrap="square" lIns="0" tIns="0" rIns="0" bIns="0" rtlCol="0" anchor="ctr"/>
          <a:lstStyle/>
          <a:p>
            <a:pPr marL="0" indent="0">
              <a:buNone/>
            </a:pPr>
            <a:r>
              <a:rPr lang="en-US" sz="3800" b="1" i="1" dirty="0">
                <a:solidFill>
                  <a:srgbClr val="1E1E2A"/>
                </a:solidFill>
                <a:latin typeface="Calibri" pitchFamily="34" charset="0"/>
                <a:ea typeface="Calibri" pitchFamily="34" charset="-122"/>
                <a:cs typeface="Calibri" pitchFamily="34" charset="-120"/>
              </a:rPr>
              <a:t>"jj"</a:t>
            </a:r>
            <a:endParaRPr lang="en-US" sz="3800" dirty="0"/>
          </a:p>
        </p:txBody>
      </p:sp>
      <p:sp>
        <p:nvSpPr>
          <p:cNvPr id="12" name="Shape 10"/>
          <p:cNvSpPr/>
          <p:nvPr/>
        </p:nvSpPr>
        <p:spPr>
          <a:xfrm>
            <a:off x="6126480" y="3840480"/>
            <a:ext cx="2560320" cy="2423160"/>
          </a:xfrm>
          <a:prstGeom prst="roundRect">
            <a:avLst>
              <a:gd name="adj" fmla="val 5660"/>
            </a:avLst>
          </a:prstGeom>
          <a:solidFill>
            <a:srgbClr val="F6F6F6"/>
          </a:solidFill>
          <a:ln w="19050">
            <a:solidFill>
              <a:srgbClr val="FE6768"/>
            </a:solidFill>
            <a:prstDash val="solid"/>
          </a:ln>
        </p:spPr>
      </p:sp>
      <p:sp>
        <p:nvSpPr>
          <p:cNvPr id="13" name="Text 11"/>
          <p:cNvSpPr/>
          <p:nvPr/>
        </p:nvSpPr>
        <p:spPr>
          <a:xfrm>
            <a:off x="6126480" y="3931920"/>
            <a:ext cx="2560320" cy="274320"/>
          </a:xfrm>
          <a:prstGeom prst="rect">
            <a:avLst/>
          </a:prstGeom>
          <a:noFill/>
          <a:ln/>
        </p:spPr>
        <p:txBody>
          <a:bodyPr wrap="square" lIns="0" tIns="0" rIns="0" bIns="0" rtlCol="0" anchor="ctr"/>
          <a:lstStyle/>
          <a:p>
            <a:pPr marL="0" indent="0" algn="ctr">
              <a:buNone/>
            </a:pPr>
            <a:r>
              <a:rPr lang="en-US" sz="900" b="1" kern="0" spc="300" dirty="0">
                <a:solidFill>
                  <a:srgbClr val="FE6768"/>
                </a:solidFill>
                <a:latin typeface="Calibri" pitchFamily="34" charset="0"/>
                <a:ea typeface="Calibri" pitchFamily="34" charset="-122"/>
                <a:cs typeface="Calibri" pitchFamily="34" charset="-120"/>
              </a:rPr>
              <a:t>ORDEN DE TRAZO</a:t>
            </a:r>
            <a:endParaRPr lang="en-US" sz="900" dirty="0"/>
          </a:p>
        </p:txBody>
      </p:sp>
      <p:pic>
        <p:nvPicPr>
          <p:cNvPr id="14" name="Image 0" descr="preencoded.png"/>
          <p:cNvPicPr>
            <a:picLocks noChangeAspect="1"/>
          </p:cNvPicPr>
          <p:nvPr/>
        </p:nvPicPr>
        <p:blipFill>
          <a:blip r:embed="rId3"/>
          <a:stretch>
            <a:fillRect/>
          </a:stretch>
        </p:blipFill>
        <p:spPr>
          <a:xfrm>
            <a:off x="6606540" y="4251960"/>
            <a:ext cx="1600200" cy="1600200"/>
          </a:xfrm>
          <a:prstGeom prst="rect">
            <a:avLst/>
          </a:prstGeom>
        </p:spPr>
      </p:pic>
      <p:sp>
        <p:nvSpPr>
          <p:cNvPr id="15" name="Text 12"/>
          <p:cNvSpPr/>
          <p:nvPr/>
        </p:nvSpPr>
        <p:spPr>
          <a:xfrm>
            <a:off x="6126480" y="5897880"/>
            <a:ext cx="2560320" cy="292608"/>
          </a:xfrm>
          <a:prstGeom prst="rect">
            <a:avLst/>
          </a:prstGeom>
          <a:noFill/>
          <a:ln/>
        </p:spPr>
        <p:txBody>
          <a:bodyPr wrap="square" lIns="0" tIns="0" rIns="0" bIns="0" rtlCol="0" anchor="ctr"/>
          <a:lstStyle/>
          <a:p>
            <a:pPr marL="0" indent="0" algn="ctr">
              <a:buNone/>
            </a:pPr>
            <a:r>
              <a:rPr lang="en-US" sz="1200" i="1" dirty="0">
                <a:solidFill>
                  <a:srgbClr val="4A4A55"/>
                </a:solidFill>
                <a:latin typeface="Calibri" pitchFamily="34" charset="0"/>
                <a:ea typeface="Calibri" pitchFamily="34" charset="-122"/>
                <a:cs typeface="Calibri" pitchFamily="34" charset="-120"/>
              </a:rPr>
              <a:t>6 trazos</a:t>
            </a:r>
            <a:endParaRPr lang="en-US" sz="1200" dirty="0"/>
          </a:p>
        </p:txBody>
      </p:sp>
      <p:sp>
        <p:nvSpPr>
          <p:cNvPr id="16" name="Shape 13"/>
          <p:cNvSpPr/>
          <p:nvPr/>
        </p:nvSpPr>
        <p:spPr>
          <a:xfrm>
            <a:off x="8869680" y="3840480"/>
            <a:ext cx="2743200" cy="2423160"/>
          </a:xfrm>
          <a:prstGeom prst="roundRect">
            <a:avLst>
              <a:gd name="adj" fmla="val 5660"/>
            </a:avLst>
          </a:prstGeom>
          <a:solidFill>
            <a:srgbClr val="FFE0E0"/>
          </a:solidFill>
          <a:ln w="19050">
            <a:solidFill>
              <a:srgbClr val="FE6768"/>
            </a:solidFill>
            <a:prstDash val="solid"/>
          </a:ln>
        </p:spPr>
      </p:sp>
      <p:sp>
        <p:nvSpPr>
          <p:cNvPr id="17" name="Text 14"/>
          <p:cNvSpPr/>
          <p:nvPr/>
        </p:nvSpPr>
        <p:spPr>
          <a:xfrm>
            <a:off x="9006840" y="3931920"/>
            <a:ext cx="2468880" cy="274320"/>
          </a:xfrm>
          <a:prstGeom prst="rect">
            <a:avLst/>
          </a:prstGeom>
          <a:noFill/>
          <a:ln/>
        </p:spPr>
        <p:txBody>
          <a:bodyPr wrap="square" lIns="0" tIns="0" rIns="0" bIns="0" rtlCol="0" anchor="ctr"/>
          <a:lstStyle/>
          <a:p>
            <a:pPr marL="0" indent="0">
              <a:buNone/>
            </a:pPr>
            <a:r>
              <a:rPr lang="en-US" sz="900" b="1" kern="0" spc="300" dirty="0">
                <a:solidFill>
                  <a:srgbClr val="FE6768"/>
                </a:solidFill>
                <a:latin typeface="Calibri" pitchFamily="34" charset="0"/>
                <a:ea typeface="Calibri" pitchFamily="34" charset="-122"/>
                <a:cs typeface="Calibri" pitchFamily="34" charset="-120"/>
              </a:rPr>
              <a:t>EJEMPLOS</a:t>
            </a:r>
            <a:endParaRPr lang="en-US" sz="900" dirty="0"/>
          </a:p>
        </p:txBody>
      </p:sp>
      <p:sp>
        <p:nvSpPr>
          <p:cNvPr id="18" name="Text 15"/>
          <p:cNvSpPr/>
          <p:nvPr/>
        </p:nvSpPr>
        <p:spPr>
          <a:xfrm>
            <a:off x="9006840" y="4297680"/>
            <a:ext cx="2468880" cy="1828800"/>
          </a:xfrm>
          <a:prstGeom prst="rect">
            <a:avLst/>
          </a:prstGeom>
          <a:noFill/>
          <a:ln/>
        </p:spPr>
        <p:txBody>
          <a:bodyPr wrap="square" lIns="0" tIns="0" rIns="0" bIns="0" rtlCol="0" anchor="t"/>
          <a:lstStyle/>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짜다</a:t>
            </a:r>
            <a:r>
              <a:rPr lang="en-US" sz="1300" i="1" dirty="0">
                <a:solidFill>
                  <a:srgbClr val="4A4A55"/>
                </a:solidFill>
              </a:rPr>
              <a:t xml:space="preserve">   salado</a:t>
            </a:r>
            <a:endParaRPr lang="en-US" sz="2200" dirty="0"/>
          </a:p>
          <a:p>
            <a:pPr marL="0" indent="0">
              <a:spcAft>
                <a:spcPts val="800"/>
              </a:spcAft>
              <a:buNone/>
            </a:pPr>
            <a:r>
              <a:rPr lang="en-US" sz="2200" b="1" dirty="0">
                <a:solidFill>
                  <a:srgbClr val="1E1E2A"/>
                </a:solidFill>
                <a:latin typeface="Malgun Gothic" pitchFamily="34" charset="0"/>
                <a:ea typeface="Malgun Gothic" pitchFamily="34" charset="-122"/>
                <a:cs typeface="Malgun Gothic" pitchFamily="34" charset="-120"/>
              </a:rPr>
              <a:t>찌개</a:t>
            </a:r>
            <a:r>
              <a:rPr lang="en-US" sz="1300" i="1" dirty="0">
                <a:solidFill>
                  <a:srgbClr val="4A4A55"/>
                </a:solidFill>
              </a:rPr>
              <a:t xml:space="preserve">   guiso</a:t>
            </a:r>
            <a:endParaRPr lang="en-US" sz="2200" dirty="0"/>
          </a:p>
        </p:txBody>
      </p:sp>
      <p:pic>
        <p:nvPicPr>
          <p:cNvPr id="19" name="Image 1" descr="preencoded.png"/>
          <p:cNvPicPr>
            <a:picLocks noChangeAspect="1"/>
          </p:cNvPicPr>
          <p:nvPr/>
        </p:nvPicPr>
        <p:blipFill>
          <a:blip r:embed="rId4"/>
          <a:stretch>
            <a:fillRect/>
          </a:stretch>
        </p:blipFill>
        <p:spPr>
          <a:xfrm>
            <a:off x="11597335" y="182880"/>
            <a:ext cx="292608" cy="292608"/>
          </a:xfrm>
          <a:prstGeom prst="rect">
            <a:avLst/>
          </a:prstGeom>
        </p:spPr>
      </p:pic>
      <p:sp>
        <p:nvSpPr>
          <p:cNvPr id="20" name="Text 16"/>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21" name="Text 17"/>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55</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FDF9D-B5CA-31B7-0F34-FC156646965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479E5BE-023C-1071-932B-7F23F1B82C80}"/>
              </a:ext>
            </a:extLst>
          </p:cNvPr>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§2.8</a:t>
            </a:r>
            <a:endParaRPr lang="en-US" sz="1100" dirty="0"/>
          </a:p>
        </p:txBody>
      </p:sp>
      <p:sp>
        <p:nvSpPr>
          <p:cNvPr id="3" name="Text 1">
            <a:extLst>
              <a:ext uri="{FF2B5EF4-FFF2-40B4-BE49-F238E27FC236}">
                <a16:creationId xmlns:a16="http://schemas.microsoft.com/office/drawing/2014/main" id="{00543D09-A6A9-1A95-6A17-03ADC8E7C3C2}"/>
              </a:ext>
            </a:extLst>
          </p:cNvPr>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Las 19 consonantes</a:t>
            </a:r>
            <a:endParaRPr lang="en-US" sz="4000" dirty="0"/>
          </a:p>
        </p:txBody>
      </p:sp>
      <p:sp>
        <p:nvSpPr>
          <p:cNvPr id="4" name="Text 2">
            <a:extLst>
              <a:ext uri="{FF2B5EF4-FFF2-40B4-BE49-F238E27FC236}">
                <a16:creationId xmlns:a16="http://schemas.microsoft.com/office/drawing/2014/main" id="{CB92F106-896F-2926-6776-A7ABE6C0909C}"/>
              </a:ext>
            </a:extLst>
          </p:cNvPr>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14 básicas / aspiradas  +  5 dobles  =  el sistema completo.</a:t>
            </a:r>
            <a:endParaRPr lang="en-US" sz="1400" dirty="0"/>
          </a:p>
        </p:txBody>
      </p:sp>
      <p:sp>
        <p:nvSpPr>
          <p:cNvPr id="5" name="Shape 3">
            <a:extLst>
              <a:ext uri="{FF2B5EF4-FFF2-40B4-BE49-F238E27FC236}">
                <a16:creationId xmlns:a16="http://schemas.microsoft.com/office/drawing/2014/main" id="{5DE23432-0D9D-8952-A47D-979E57C24427}"/>
              </a:ext>
            </a:extLst>
          </p:cNvPr>
          <p:cNvSpPr/>
          <p:nvPr/>
        </p:nvSpPr>
        <p:spPr>
          <a:xfrm>
            <a:off x="640080" y="2468880"/>
            <a:ext cx="10911535" cy="685800"/>
          </a:xfrm>
          <a:prstGeom prst="roundRect">
            <a:avLst>
              <a:gd name="adj" fmla="val 16000"/>
            </a:avLst>
          </a:prstGeom>
          <a:solidFill>
            <a:srgbClr val="F6F6F6"/>
          </a:solidFill>
          <a:ln w="19050">
            <a:solidFill>
              <a:srgbClr val="4036ED"/>
            </a:solidFill>
            <a:prstDash val="solid"/>
          </a:ln>
        </p:spPr>
      </p:sp>
      <p:sp>
        <p:nvSpPr>
          <p:cNvPr id="6" name="Text 4">
            <a:extLst>
              <a:ext uri="{FF2B5EF4-FFF2-40B4-BE49-F238E27FC236}">
                <a16:creationId xmlns:a16="http://schemas.microsoft.com/office/drawing/2014/main" id="{D15F58D7-B23A-623A-ED7A-E8CA03AE1F44}"/>
              </a:ext>
            </a:extLst>
          </p:cNvPr>
          <p:cNvSpPr/>
          <p:nvPr/>
        </p:nvSpPr>
        <p:spPr>
          <a:xfrm>
            <a:off x="822960" y="246888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아음 · paladar</a:t>
            </a:r>
            <a:endParaRPr lang="en-US" sz="1200" dirty="0"/>
          </a:p>
        </p:txBody>
      </p:sp>
      <p:sp>
        <p:nvSpPr>
          <p:cNvPr id="7" name="Text 5">
            <a:extLst>
              <a:ext uri="{FF2B5EF4-FFF2-40B4-BE49-F238E27FC236}">
                <a16:creationId xmlns:a16="http://schemas.microsoft.com/office/drawing/2014/main" id="{2DB96466-C725-40E5-1DF8-88EC31EBBEF9}"/>
              </a:ext>
            </a:extLst>
          </p:cNvPr>
          <p:cNvSpPr/>
          <p:nvPr/>
        </p:nvSpPr>
        <p:spPr>
          <a:xfrm>
            <a:off x="3566160"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ㄱ</a:t>
            </a:r>
            <a:endParaRPr lang="en-US" sz="3200" dirty="0"/>
          </a:p>
        </p:txBody>
      </p:sp>
      <p:sp>
        <p:nvSpPr>
          <p:cNvPr id="8" name="Text 6">
            <a:extLst>
              <a:ext uri="{FF2B5EF4-FFF2-40B4-BE49-F238E27FC236}">
                <a16:creationId xmlns:a16="http://schemas.microsoft.com/office/drawing/2014/main" id="{E7D429DA-8382-7252-F592-36C0FB34147B}"/>
              </a:ext>
            </a:extLst>
          </p:cNvPr>
          <p:cNvSpPr/>
          <p:nvPr/>
        </p:nvSpPr>
        <p:spPr>
          <a:xfrm>
            <a:off x="6227978"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ㅋ</a:t>
            </a:r>
            <a:endParaRPr lang="en-US" sz="3200" dirty="0"/>
          </a:p>
        </p:txBody>
      </p:sp>
      <p:sp>
        <p:nvSpPr>
          <p:cNvPr id="9" name="Text 7">
            <a:extLst>
              <a:ext uri="{FF2B5EF4-FFF2-40B4-BE49-F238E27FC236}">
                <a16:creationId xmlns:a16="http://schemas.microsoft.com/office/drawing/2014/main" id="{BC23A000-521A-EE73-8FE0-07239CE136C8}"/>
              </a:ext>
            </a:extLst>
          </p:cNvPr>
          <p:cNvSpPr/>
          <p:nvPr/>
        </p:nvSpPr>
        <p:spPr>
          <a:xfrm>
            <a:off x="8889797" y="2468880"/>
            <a:ext cx="266181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ㄲ</a:t>
            </a:r>
            <a:endParaRPr lang="en-US" sz="3200" dirty="0"/>
          </a:p>
        </p:txBody>
      </p:sp>
      <p:sp>
        <p:nvSpPr>
          <p:cNvPr id="10" name="Shape 8">
            <a:extLst>
              <a:ext uri="{FF2B5EF4-FFF2-40B4-BE49-F238E27FC236}">
                <a16:creationId xmlns:a16="http://schemas.microsoft.com/office/drawing/2014/main" id="{96F95897-A0A3-F2A8-D348-0ABE1422FA61}"/>
              </a:ext>
            </a:extLst>
          </p:cNvPr>
          <p:cNvSpPr/>
          <p:nvPr/>
        </p:nvSpPr>
        <p:spPr>
          <a:xfrm>
            <a:off x="685800" y="3246120"/>
            <a:ext cx="10911535" cy="685800"/>
          </a:xfrm>
          <a:prstGeom prst="roundRect">
            <a:avLst>
              <a:gd name="adj" fmla="val 16000"/>
            </a:avLst>
          </a:prstGeom>
          <a:solidFill>
            <a:srgbClr val="F6F6F6"/>
          </a:solidFill>
          <a:ln w="19050">
            <a:solidFill>
              <a:srgbClr val="A79BFF"/>
            </a:solidFill>
            <a:prstDash val="solid"/>
          </a:ln>
        </p:spPr>
      </p:sp>
      <p:sp>
        <p:nvSpPr>
          <p:cNvPr id="11" name="Text 9">
            <a:extLst>
              <a:ext uri="{FF2B5EF4-FFF2-40B4-BE49-F238E27FC236}">
                <a16:creationId xmlns:a16="http://schemas.microsoft.com/office/drawing/2014/main" id="{9C9BB336-2E02-4E02-3830-FAFBCA8082BA}"/>
              </a:ext>
            </a:extLst>
          </p:cNvPr>
          <p:cNvSpPr/>
          <p:nvPr/>
        </p:nvSpPr>
        <p:spPr>
          <a:xfrm>
            <a:off x="822960" y="3246120"/>
            <a:ext cx="2743200" cy="685800"/>
          </a:xfrm>
          <a:prstGeom prst="rect">
            <a:avLst/>
          </a:prstGeom>
          <a:noFill/>
          <a:ln/>
        </p:spPr>
        <p:txBody>
          <a:bodyPr wrap="square" lIns="0" tIns="0" rIns="0" bIns="0" rtlCol="0" anchor="ctr"/>
          <a:lstStyle/>
          <a:p>
            <a:pPr marL="0" indent="0">
              <a:buNone/>
            </a:pPr>
            <a:r>
              <a:rPr lang="en-US" sz="1200" b="1" kern="0" spc="300" dirty="0">
                <a:solidFill>
                  <a:srgbClr val="A79BFF"/>
                </a:solidFill>
                <a:latin typeface="Calibri" pitchFamily="34" charset="0"/>
                <a:ea typeface="Calibri" pitchFamily="34" charset="-122"/>
                <a:cs typeface="Calibri" pitchFamily="34" charset="-120"/>
              </a:rPr>
              <a:t>설음 · lengua</a:t>
            </a:r>
            <a:endParaRPr lang="en-US" sz="1200" dirty="0"/>
          </a:p>
        </p:txBody>
      </p:sp>
      <p:sp>
        <p:nvSpPr>
          <p:cNvPr id="12" name="Text 10">
            <a:extLst>
              <a:ext uri="{FF2B5EF4-FFF2-40B4-BE49-F238E27FC236}">
                <a16:creationId xmlns:a16="http://schemas.microsoft.com/office/drawing/2014/main" id="{B102D015-488E-1B28-83D5-E0FBB8C20DBA}"/>
              </a:ext>
            </a:extLst>
          </p:cNvPr>
          <p:cNvSpPr/>
          <p:nvPr/>
        </p:nvSpPr>
        <p:spPr>
          <a:xfrm>
            <a:off x="3566160"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ㄴ</a:t>
            </a:r>
            <a:endParaRPr lang="en-US" sz="3200" dirty="0"/>
          </a:p>
        </p:txBody>
      </p:sp>
      <p:sp>
        <p:nvSpPr>
          <p:cNvPr id="13" name="Text 11">
            <a:extLst>
              <a:ext uri="{FF2B5EF4-FFF2-40B4-BE49-F238E27FC236}">
                <a16:creationId xmlns:a16="http://schemas.microsoft.com/office/drawing/2014/main" id="{6D4AF492-D56D-2914-F6A6-52F74B2F15BA}"/>
              </a:ext>
            </a:extLst>
          </p:cNvPr>
          <p:cNvSpPr/>
          <p:nvPr/>
        </p:nvSpPr>
        <p:spPr>
          <a:xfrm>
            <a:off x="5163251"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ㄷ</a:t>
            </a:r>
            <a:endParaRPr lang="en-US" sz="3200" dirty="0"/>
          </a:p>
        </p:txBody>
      </p:sp>
      <p:sp>
        <p:nvSpPr>
          <p:cNvPr id="14" name="Text 12">
            <a:extLst>
              <a:ext uri="{FF2B5EF4-FFF2-40B4-BE49-F238E27FC236}">
                <a16:creationId xmlns:a16="http://schemas.microsoft.com/office/drawing/2014/main" id="{4A40C356-45D0-3F2F-67A2-FCB4B8B2E8D3}"/>
              </a:ext>
            </a:extLst>
          </p:cNvPr>
          <p:cNvSpPr/>
          <p:nvPr/>
        </p:nvSpPr>
        <p:spPr>
          <a:xfrm>
            <a:off x="6760342"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ㅌ</a:t>
            </a:r>
            <a:endParaRPr lang="en-US" sz="3200" dirty="0"/>
          </a:p>
        </p:txBody>
      </p:sp>
      <p:sp>
        <p:nvSpPr>
          <p:cNvPr id="15" name="Text 13">
            <a:extLst>
              <a:ext uri="{FF2B5EF4-FFF2-40B4-BE49-F238E27FC236}">
                <a16:creationId xmlns:a16="http://schemas.microsoft.com/office/drawing/2014/main" id="{C2754572-3BEB-FD94-4EBD-15C4411399E5}"/>
              </a:ext>
            </a:extLst>
          </p:cNvPr>
          <p:cNvSpPr/>
          <p:nvPr/>
        </p:nvSpPr>
        <p:spPr>
          <a:xfrm>
            <a:off x="8357433"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ㄸ</a:t>
            </a:r>
            <a:endParaRPr lang="en-US" sz="3200" dirty="0"/>
          </a:p>
        </p:txBody>
      </p:sp>
      <p:sp>
        <p:nvSpPr>
          <p:cNvPr id="16" name="Text 14">
            <a:extLst>
              <a:ext uri="{FF2B5EF4-FFF2-40B4-BE49-F238E27FC236}">
                <a16:creationId xmlns:a16="http://schemas.microsoft.com/office/drawing/2014/main" id="{316A1083-2746-503B-4BA8-9CAB30FC22C4}"/>
              </a:ext>
            </a:extLst>
          </p:cNvPr>
          <p:cNvSpPr/>
          <p:nvPr/>
        </p:nvSpPr>
        <p:spPr>
          <a:xfrm>
            <a:off x="9954524" y="3246120"/>
            <a:ext cx="1597091" cy="685800"/>
          </a:xfrm>
          <a:prstGeom prst="rect">
            <a:avLst/>
          </a:prstGeom>
          <a:noFill/>
          <a:ln/>
        </p:spPr>
        <p:txBody>
          <a:bodyPr wrap="square" lIns="0" tIns="0" rIns="0" bIns="0" rtlCol="0" anchor="ctr"/>
          <a:lstStyle/>
          <a:p>
            <a:pPr marL="0" indent="0" algn="ctr">
              <a:buNone/>
            </a:pPr>
            <a:r>
              <a:rPr lang="en-US" sz="3200" b="1" dirty="0">
                <a:solidFill>
                  <a:srgbClr val="A79BFF"/>
                </a:solidFill>
                <a:latin typeface="Malgun Gothic" pitchFamily="34" charset="0"/>
                <a:ea typeface="Malgun Gothic" pitchFamily="34" charset="-122"/>
                <a:cs typeface="Malgun Gothic" pitchFamily="34" charset="-120"/>
              </a:rPr>
              <a:t>ㄹ</a:t>
            </a:r>
            <a:endParaRPr lang="en-US" sz="3200" dirty="0"/>
          </a:p>
        </p:txBody>
      </p:sp>
      <p:sp>
        <p:nvSpPr>
          <p:cNvPr id="17" name="Shape 15">
            <a:extLst>
              <a:ext uri="{FF2B5EF4-FFF2-40B4-BE49-F238E27FC236}">
                <a16:creationId xmlns:a16="http://schemas.microsoft.com/office/drawing/2014/main" id="{AC7E3D4E-F5FA-F591-0EEA-2A184B9B7C7F}"/>
              </a:ext>
            </a:extLst>
          </p:cNvPr>
          <p:cNvSpPr/>
          <p:nvPr/>
        </p:nvSpPr>
        <p:spPr>
          <a:xfrm>
            <a:off x="626445" y="4023360"/>
            <a:ext cx="10911535" cy="685800"/>
          </a:xfrm>
          <a:prstGeom prst="roundRect">
            <a:avLst>
              <a:gd name="adj" fmla="val 16000"/>
            </a:avLst>
          </a:prstGeom>
          <a:solidFill>
            <a:srgbClr val="F6F6F6"/>
          </a:solidFill>
          <a:ln w="19050">
            <a:solidFill>
              <a:srgbClr val="FE6768"/>
            </a:solidFill>
            <a:prstDash val="solid"/>
          </a:ln>
        </p:spPr>
      </p:sp>
      <p:sp>
        <p:nvSpPr>
          <p:cNvPr id="18" name="Text 16">
            <a:extLst>
              <a:ext uri="{FF2B5EF4-FFF2-40B4-BE49-F238E27FC236}">
                <a16:creationId xmlns:a16="http://schemas.microsoft.com/office/drawing/2014/main" id="{4499E03D-7FFB-6B72-9AB9-5952261CC7FD}"/>
              </a:ext>
            </a:extLst>
          </p:cNvPr>
          <p:cNvSpPr/>
          <p:nvPr/>
        </p:nvSpPr>
        <p:spPr>
          <a:xfrm>
            <a:off x="822960" y="402336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순음 · labios</a:t>
            </a:r>
            <a:endParaRPr lang="en-US" sz="1200" dirty="0"/>
          </a:p>
        </p:txBody>
      </p:sp>
      <p:sp>
        <p:nvSpPr>
          <p:cNvPr id="19" name="Text 17">
            <a:extLst>
              <a:ext uri="{FF2B5EF4-FFF2-40B4-BE49-F238E27FC236}">
                <a16:creationId xmlns:a16="http://schemas.microsoft.com/office/drawing/2014/main" id="{0C30A979-F135-A57C-182D-77AC61488467}"/>
              </a:ext>
            </a:extLst>
          </p:cNvPr>
          <p:cNvSpPr/>
          <p:nvPr/>
        </p:nvSpPr>
        <p:spPr>
          <a:xfrm>
            <a:off x="3566160"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ㅁ</a:t>
            </a:r>
            <a:endParaRPr lang="en-US" sz="3200" dirty="0"/>
          </a:p>
        </p:txBody>
      </p:sp>
      <p:sp>
        <p:nvSpPr>
          <p:cNvPr id="20" name="Text 18">
            <a:extLst>
              <a:ext uri="{FF2B5EF4-FFF2-40B4-BE49-F238E27FC236}">
                <a16:creationId xmlns:a16="http://schemas.microsoft.com/office/drawing/2014/main" id="{023B13F7-0853-5A4A-12A6-73FAC158A7CC}"/>
              </a:ext>
            </a:extLst>
          </p:cNvPr>
          <p:cNvSpPr/>
          <p:nvPr/>
        </p:nvSpPr>
        <p:spPr>
          <a:xfrm>
            <a:off x="5562524"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ㅂ</a:t>
            </a:r>
            <a:endParaRPr lang="en-US" sz="3200" dirty="0"/>
          </a:p>
        </p:txBody>
      </p:sp>
      <p:sp>
        <p:nvSpPr>
          <p:cNvPr id="21" name="Text 19">
            <a:extLst>
              <a:ext uri="{FF2B5EF4-FFF2-40B4-BE49-F238E27FC236}">
                <a16:creationId xmlns:a16="http://schemas.microsoft.com/office/drawing/2014/main" id="{D64A4652-BB14-1EE1-93A9-45F561054444}"/>
              </a:ext>
            </a:extLst>
          </p:cNvPr>
          <p:cNvSpPr/>
          <p:nvPr/>
        </p:nvSpPr>
        <p:spPr>
          <a:xfrm>
            <a:off x="7558888"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ㅍ</a:t>
            </a:r>
            <a:endParaRPr lang="en-US" sz="3200" dirty="0"/>
          </a:p>
        </p:txBody>
      </p:sp>
      <p:sp>
        <p:nvSpPr>
          <p:cNvPr id="22" name="Text 20">
            <a:extLst>
              <a:ext uri="{FF2B5EF4-FFF2-40B4-BE49-F238E27FC236}">
                <a16:creationId xmlns:a16="http://schemas.microsoft.com/office/drawing/2014/main" id="{6FD8EC09-48F5-3D60-A160-895BD2C89A89}"/>
              </a:ext>
            </a:extLst>
          </p:cNvPr>
          <p:cNvSpPr/>
          <p:nvPr/>
        </p:nvSpPr>
        <p:spPr>
          <a:xfrm>
            <a:off x="9555251" y="4023360"/>
            <a:ext cx="1996364"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ㅃ</a:t>
            </a:r>
            <a:endParaRPr lang="en-US" sz="3200" dirty="0"/>
          </a:p>
        </p:txBody>
      </p:sp>
      <p:sp>
        <p:nvSpPr>
          <p:cNvPr id="23" name="Shape 21">
            <a:extLst>
              <a:ext uri="{FF2B5EF4-FFF2-40B4-BE49-F238E27FC236}">
                <a16:creationId xmlns:a16="http://schemas.microsoft.com/office/drawing/2014/main" id="{C1DFE266-A2F2-5C4B-7463-8811B2730CAB}"/>
              </a:ext>
            </a:extLst>
          </p:cNvPr>
          <p:cNvSpPr/>
          <p:nvPr/>
        </p:nvSpPr>
        <p:spPr>
          <a:xfrm>
            <a:off x="640080" y="4800600"/>
            <a:ext cx="10911535" cy="685800"/>
          </a:xfrm>
          <a:prstGeom prst="roundRect">
            <a:avLst>
              <a:gd name="adj" fmla="val 16000"/>
            </a:avLst>
          </a:prstGeom>
          <a:solidFill>
            <a:srgbClr val="F6F6F6"/>
          </a:solidFill>
          <a:ln w="19050">
            <a:solidFill>
              <a:srgbClr val="FE6768"/>
            </a:solidFill>
            <a:prstDash val="solid"/>
          </a:ln>
        </p:spPr>
      </p:sp>
      <p:sp>
        <p:nvSpPr>
          <p:cNvPr id="24" name="Text 22">
            <a:extLst>
              <a:ext uri="{FF2B5EF4-FFF2-40B4-BE49-F238E27FC236}">
                <a16:creationId xmlns:a16="http://schemas.microsoft.com/office/drawing/2014/main" id="{87DD95CD-53A5-CC14-14D1-84DD046C03EE}"/>
              </a:ext>
            </a:extLst>
          </p:cNvPr>
          <p:cNvSpPr/>
          <p:nvPr/>
        </p:nvSpPr>
        <p:spPr>
          <a:xfrm>
            <a:off x="822960" y="4800600"/>
            <a:ext cx="2743200" cy="685800"/>
          </a:xfrm>
          <a:prstGeom prst="rect">
            <a:avLst/>
          </a:prstGeom>
          <a:noFill/>
          <a:ln/>
        </p:spPr>
        <p:txBody>
          <a:bodyPr wrap="square" lIns="0" tIns="0" rIns="0" bIns="0" rtlCol="0" anchor="ctr"/>
          <a:lstStyle/>
          <a:p>
            <a:pPr marL="0" indent="0">
              <a:buNone/>
            </a:pPr>
            <a:r>
              <a:rPr lang="en-US" sz="1200" b="1" kern="0" spc="300" dirty="0">
                <a:solidFill>
                  <a:srgbClr val="FE6768"/>
                </a:solidFill>
                <a:latin typeface="Calibri" pitchFamily="34" charset="0"/>
                <a:ea typeface="Calibri" pitchFamily="34" charset="-122"/>
                <a:cs typeface="Calibri" pitchFamily="34" charset="-120"/>
              </a:rPr>
              <a:t>치음 · dientes</a:t>
            </a:r>
            <a:endParaRPr lang="en-US" sz="1200" dirty="0"/>
          </a:p>
        </p:txBody>
      </p:sp>
      <p:sp>
        <p:nvSpPr>
          <p:cNvPr id="25" name="Text 23">
            <a:extLst>
              <a:ext uri="{FF2B5EF4-FFF2-40B4-BE49-F238E27FC236}">
                <a16:creationId xmlns:a16="http://schemas.microsoft.com/office/drawing/2014/main" id="{01F4816A-D7D2-C203-50DE-2F508DC02B32}"/>
              </a:ext>
            </a:extLst>
          </p:cNvPr>
          <p:cNvSpPr/>
          <p:nvPr/>
        </p:nvSpPr>
        <p:spPr>
          <a:xfrm>
            <a:off x="3566160"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ㅅ</a:t>
            </a:r>
            <a:endParaRPr lang="en-US" sz="3200" dirty="0"/>
          </a:p>
        </p:txBody>
      </p:sp>
      <p:sp>
        <p:nvSpPr>
          <p:cNvPr id="26" name="Text 24">
            <a:extLst>
              <a:ext uri="{FF2B5EF4-FFF2-40B4-BE49-F238E27FC236}">
                <a16:creationId xmlns:a16="http://schemas.microsoft.com/office/drawing/2014/main" id="{048A5BBE-7BC2-8522-263E-0E350E14F25A}"/>
              </a:ext>
            </a:extLst>
          </p:cNvPr>
          <p:cNvSpPr/>
          <p:nvPr/>
        </p:nvSpPr>
        <p:spPr>
          <a:xfrm>
            <a:off x="5163251"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ㅈ</a:t>
            </a:r>
            <a:endParaRPr lang="en-US" sz="3200" dirty="0"/>
          </a:p>
        </p:txBody>
      </p:sp>
      <p:sp>
        <p:nvSpPr>
          <p:cNvPr id="27" name="Text 25">
            <a:extLst>
              <a:ext uri="{FF2B5EF4-FFF2-40B4-BE49-F238E27FC236}">
                <a16:creationId xmlns:a16="http://schemas.microsoft.com/office/drawing/2014/main" id="{62387AA2-E861-9A1A-895E-9B5203020735}"/>
              </a:ext>
            </a:extLst>
          </p:cNvPr>
          <p:cNvSpPr/>
          <p:nvPr/>
        </p:nvSpPr>
        <p:spPr>
          <a:xfrm>
            <a:off x="6760342"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ㅊ</a:t>
            </a:r>
            <a:endParaRPr lang="en-US" sz="3200" dirty="0"/>
          </a:p>
        </p:txBody>
      </p:sp>
      <p:sp>
        <p:nvSpPr>
          <p:cNvPr id="28" name="Text 26">
            <a:extLst>
              <a:ext uri="{FF2B5EF4-FFF2-40B4-BE49-F238E27FC236}">
                <a16:creationId xmlns:a16="http://schemas.microsoft.com/office/drawing/2014/main" id="{8E573605-1503-C7AC-5ABA-19E3995A64BA}"/>
              </a:ext>
            </a:extLst>
          </p:cNvPr>
          <p:cNvSpPr/>
          <p:nvPr/>
        </p:nvSpPr>
        <p:spPr>
          <a:xfrm>
            <a:off x="8357433"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ㅆ</a:t>
            </a:r>
            <a:endParaRPr lang="en-US" sz="3200" dirty="0"/>
          </a:p>
        </p:txBody>
      </p:sp>
      <p:sp>
        <p:nvSpPr>
          <p:cNvPr id="29" name="Text 27">
            <a:extLst>
              <a:ext uri="{FF2B5EF4-FFF2-40B4-BE49-F238E27FC236}">
                <a16:creationId xmlns:a16="http://schemas.microsoft.com/office/drawing/2014/main" id="{B1F506A3-1443-20F8-F65A-4872A399592F}"/>
              </a:ext>
            </a:extLst>
          </p:cNvPr>
          <p:cNvSpPr/>
          <p:nvPr/>
        </p:nvSpPr>
        <p:spPr>
          <a:xfrm>
            <a:off x="9954524" y="4800600"/>
            <a:ext cx="1597091" cy="685800"/>
          </a:xfrm>
          <a:prstGeom prst="rect">
            <a:avLst/>
          </a:prstGeom>
          <a:noFill/>
          <a:ln/>
        </p:spPr>
        <p:txBody>
          <a:bodyPr wrap="square" lIns="0" tIns="0" rIns="0" bIns="0" rtlCol="0" anchor="ctr"/>
          <a:lstStyle/>
          <a:p>
            <a:pPr marL="0" indent="0" algn="ctr">
              <a:buNone/>
            </a:pPr>
            <a:r>
              <a:rPr lang="en-US" sz="3200" b="1" dirty="0">
                <a:solidFill>
                  <a:srgbClr val="FE6768"/>
                </a:solidFill>
                <a:latin typeface="Malgun Gothic" pitchFamily="34" charset="0"/>
                <a:ea typeface="Malgun Gothic" pitchFamily="34" charset="-122"/>
                <a:cs typeface="Malgun Gothic" pitchFamily="34" charset="-120"/>
              </a:rPr>
              <a:t>ㅉ</a:t>
            </a:r>
            <a:endParaRPr lang="en-US" sz="3200" dirty="0"/>
          </a:p>
        </p:txBody>
      </p:sp>
      <p:sp>
        <p:nvSpPr>
          <p:cNvPr id="30" name="Shape 28">
            <a:extLst>
              <a:ext uri="{FF2B5EF4-FFF2-40B4-BE49-F238E27FC236}">
                <a16:creationId xmlns:a16="http://schemas.microsoft.com/office/drawing/2014/main" id="{07265F30-C27A-A3E1-F08B-33130694D64B}"/>
              </a:ext>
            </a:extLst>
          </p:cNvPr>
          <p:cNvSpPr/>
          <p:nvPr/>
        </p:nvSpPr>
        <p:spPr>
          <a:xfrm>
            <a:off x="640080" y="5577840"/>
            <a:ext cx="10911535" cy="685800"/>
          </a:xfrm>
          <a:prstGeom prst="roundRect">
            <a:avLst>
              <a:gd name="adj" fmla="val 16000"/>
            </a:avLst>
          </a:prstGeom>
          <a:solidFill>
            <a:srgbClr val="F6F6F6"/>
          </a:solidFill>
          <a:ln w="19050">
            <a:solidFill>
              <a:srgbClr val="4036ED"/>
            </a:solidFill>
            <a:prstDash val="solid"/>
          </a:ln>
        </p:spPr>
      </p:sp>
      <p:sp>
        <p:nvSpPr>
          <p:cNvPr id="31" name="Text 29">
            <a:extLst>
              <a:ext uri="{FF2B5EF4-FFF2-40B4-BE49-F238E27FC236}">
                <a16:creationId xmlns:a16="http://schemas.microsoft.com/office/drawing/2014/main" id="{F0E8AC61-DB19-632A-24DE-6FC591EFFDFF}"/>
              </a:ext>
            </a:extLst>
          </p:cNvPr>
          <p:cNvSpPr/>
          <p:nvPr/>
        </p:nvSpPr>
        <p:spPr>
          <a:xfrm>
            <a:off x="822960" y="5577840"/>
            <a:ext cx="2743200" cy="685800"/>
          </a:xfrm>
          <a:prstGeom prst="rect">
            <a:avLst/>
          </a:prstGeom>
          <a:noFill/>
          <a:ln/>
        </p:spPr>
        <p:txBody>
          <a:bodyPr wrap="square" lIns="0" tIns="0" rIns="0" bIns="0" rtlCol="0" anchor="ctr"/>
          <a:lstStyle/>
          <a:p>
            <a:pPr marL="0" indent="0">
              <a:buNone/>
            </a:pPr>
            <a:r>
              <a:rPr lang="en-US" sz="1200" b="1" kern="0" spc="300" dirty="0">
                <a:solidFill>
                  <a:srgbClr val="4036ED"/>
                </a:solidFill>
                <a:latin typeface="Calibri" pitchFamily="34" charset="0"/>
                <a:ea typeface="Calibri" pitchFamily="34" charset="-122"/>
                <a:cs typeface="Calibri" pitchFamily="34" charset="-120"/>
              </a:rPr>
              <a:t>후음 · garganta</a:t>
            </a:r>
            <a:endParaRPr lang="en-US" sz="1200" dirty="0"/>
          </a:p>
        </p:txBody>
      </p:sp>
      <p:sp>
        <p:nvSpPr>
          <p:cNvPr id="32" name="Text 30">
            <a:extLst>
              <a:ext uri="{FF2B5EF4-FFF2-40B4-BE49-F238E27FC236}">
                <a16:creationId xmlns:a16="http://schemas.microsoft.com/office/drawing/2014/main" id="{FBBD611D-40D7-E64F-58BE-26A83BB34D29}"/>
              </a:ext>
            </a:extLst>
          </p:cNvPr>
          <p:cNvSpPr/>
          <p:nvPr/>
        </p:nvSpPr>
        <p:spPr>
          <a:xfrm>
            <a:off x="3566160"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ㅇ</a:t>
            </a:r>
            <a:endParaRPr lang="en-US" sz="3200" dirty="0"/>
          </a:p>
        </p:txBody>
      </p:sp>
      <p:sp>
        <p:nvSpPr>
          <p:cNvPr id="33" name="Text 31">
            <a:extLst>
              <a:ext uri="{FF2B5EF4-FFF2-40B4-BE49-F238E27FC236}">
                <a16:creationId xmlns:a16="http://schemas.microsoft.com/office/drawing/2014/main" id="{26D6730B-B2CF-0978-485A-02FDFF7E2F29}"/>
              </a:ext>
            </a:extLst>
          </p:cNvPr>
          <p:cNvSpPr/>
          <p:nvPr/>
        </p:nvSpPr>
        <p:spPr>
          <a:xfrm>
            <a:off x="7558888" y="5577840"/>
            <a:ext cx="3992728" cy="685800"/>
          </a:xfrm>
          <a:prstGeom prst="rect">
            <a:avLst/>
          </a:prstGeom>
          <a:noFill/>
          <a:ln/>
        </p:spPr>
        <p:txBody>
          <a:bodyPr wrap="square" lIns="0" tIns="0" rIns="0" bIns="0" rtlCol="0" anchor="ctr"/>
          <a:lstStyle/>
          <a:p>
            <a:pPr marL="0" indent="0" algn="ctr">
              <a:buNone/>
            </a:pPr>
            <a:r>
              <a:rPr lang="en-US" sz="3200" b="1" dirty="0">
                <a:solidFill>
                  <a:srgbClr val="4036ED"/>
                </a:solidFill>
                <a:latin typeface="Malgun Gothic" pitchFamily="34" charset="0"/>
                <a:ea typeface="Malgun Gothic" pitchFamily="34" charset="-122"/>
                <a:cs typeface="Malgun Gothic" pitchFamily="34" charset="-120"/>
              </a:rPr>
              <a:t>ㅎ</a:t>
            </a:r>
            <a:endParaRPr lang="en-US" sz="3200" dirty="0"/>
          </a:p>
        </p:txBody>
      </p:sp>
      <p:pic>
        <p:nvPicPr>
          <p:cNvPr id="34" name="Image 0" descr="preencoded.png">
            <a:extLst>
              <a:ext uri="{FF2B5EF4-FFF2-40B4-BE49-F238E27FC236}">
                <a16:creationId xmlns:a16="http://schemas.microsoft.com/office/drawing/2014/main" id="{2435E916-ACE4-2F44-18F9-5FD340BBB234}"/>
              </a:ext>
            </a:extLst>
          </p:cNvPr>
          <p:cNvPicPr>
            <a:picLocks noChangeAspect="1"/>
          </p:cNvPicPr>
          <p:nvPr/>
        </p:nvPicPr>
        <p:blipFill>
          <a:blip r:embed="rId3"/>
          <a:stretch>
            <a:fillRect/>
          </a:stretch>
        </p:blipFill>
        <p:spPr>
          <a:xfrm>
            <a:off x="11597335" y="182880"/>
            <a:ext cx="292608" cy="292608"/>
          </a:xfrm>
          <a:prstGeom prst="rect">
            <a:avLst/>
          </a:prstGeom>
        </p:spPr>
      </p:pic>
      <p:sp>
        <p:nvSpPr>
          <p:cNvPr id="35" name="Text 32">
            <a:extLst>
              <a:ext uri="{FF2B5EF4-FFF2-40B4-BE49-F238E27FC236}">
                <a16:creationId xmlns:a16="http://schemas.microsoft.com/office/drawing/2014/main" id="{9F00B1CD-4B71-AF22-B6A2-3A5063C920C3}"/>
              </a:ext>
            </a:extLst>
          </p:cNvPr>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6" name="Text 33">
            <a:extLst>
              <a:ext uri="{FF2B5EF4-FFF2-40B4-BE49-F238E27FC236}">
                <a16:creationId xmlns:a16="http://schemas.microsoft.com/office/drawing/2014/main" id="{6A5E5B29-60E5-7558-4037-C1CD2C7DCFE1}"/>
              </a:ext>
            </a:extLst>
          </p:cNvPr>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59</a:t>
            </a:r>
            <a:endParaRPr lang="en-US" sz="800" dirty="0"/>
          </a:p>
        </p:txBody>
      </p:sp>
      <p:sp>
        <p:nvSpPr>
          <p:cNvPr id="37" name="TextBox 36">
            <a:extLst>
              <a:ext uri="{FF2B5EF4-FFF2-40B4-BE49-F238E27FC236}">
                <a16:creationId xmlns:a16="http://schemas.microsoft.com/office/drawing/2014/main" id="{D483500D-A880-E4D8-BE76-0C030FFF9FF8}"/>
              </a:ext>
            </a:extLst>
          </p:cNvPr>
          <p:cNvSpPr txBox="1"/>
          <p:nvPr/>
        </p:nvSpPr>
        <p:spPr>
          <a:xfrm>
            <a:off x="4759594" y="2826912"/>
            <a:ext cx="293670" cy="369332"/>
          </a:xfrm>
          <a:prstGeom prst="rect">
            <a:avLst/>
          </a:prstGeom>
          <a:noFill/>
        </p:spPr>
        <p:txBody>
          <a:bodyPr wrap="none" rtlCol="0">
            <a:spAutoFit/>
          </a:bodyPr>
          <a:lstStyle/>
          <a:p>
            <a:r>
              <a:rPr lang="es-CL" dirty="0"/>
              <a:t>g</a:t>
            </a:r>
          </a:p>
        </p:txBody>
      </p:sp>
      <p:sp>
        <p:nvSpPr>
          <p:cNvPr id="38" name="TextBox 37">
            <a:extLst>
              <a:ext uri="{FF2B5EF4-FFF2-40B4-BE49-F238E27FC236}">
                <a16:creationId xmlns:a16="http://schemas.microsoft.com/office/drawing/2014/main" id="{2D60BBB3-3F76-4CCE-0367-4976EC2F75E9}"/>
              </a:ext>
            </a:extLst>
          </p:cNvPr>
          <p:cNvSpPr txBox="1"/>
          <p:nvPr/>
        </p:nvSpPr>
        <p:spPr>
          <a:xfrm>
            <a:off x="7421412" y="2835224"/>
            <a:ext cx="713657" cy="369332"/>
          </a:xfrm>
          <a:prstGeom prst="rect">
            <a:avLst/>
          </a:prstGeom>
          <a:noFill/>
        </p:spPr>
        <p:txBody>
          <a:bodyPr wrap="none" rtlCol="0">
            <a:spAutoFit/>
          </a:bodyPr>
          <a:lstStyle/>
          <a:p>
            <a:r>
              <a:rPr lang="es-CL" dirty="0"/>
              <a:t>k(</a:t>
            </a:r>
            <a:r>
              <a:rPr lang="es-CL" dirty="0" err="1"/>
              <a:t>ing</a:t>
            </a:r>
            <a:r>
              <a:rPr lang="es-CL" dirty="0"/>
              <a:t>)</a:t>
            </a:r>
          </a:p>
        </p:txBody>
      </p:sp>
      <p:sp>
        <p:nvSpPr>
          <p:cNvPr id="39" name="TextBox 38">
            <a:extLst>
              <a:ext uri="{FF2B5EF4-FFF2-40B4-BE49-F238E27FC236}">
                <a16:creationId xmlns:a16="http://schemas.microsoft.com/office/drawing/2014/main" id="{D1E14CE3-C09F-3E8E-F3A3-2A17FADCFCA4}"/>
              </a:ext>
            </a:extLst>
          </p:cNvPr>
          <p:cNvSpPr txBox="1"/>
          <p:nvPr/>
        </p:nvSpPr>
        <p:spPr>
          <a:xfrm>
            <a:off x="9808580" y="2876788"/>
            <a:ext cx="944489" cy="369332"/>
          </a:xfrm>
          <a:prstGeom prst="rect">
            <a:avLst/>
          </a:prstGeom>
          <a:noFill/>
        </p:spPr>
        <p:txBody>
          <a:bodyPr wrap="none" rtlCol="0">
            <a:spAutoFit/>
          </a:bodyPr>
          <a:lstStyle/>
          <a:p>
            <a:r>
              <a:rPr lang="es-CL" dirty="0"/>
              <a:t>c/k(</a:t>
            </a:r>
            <a:r>
              <a:rPr lang="es-CL" dirty="0" err="1"/>
              <a:t>esp</a:t>
            </a:r>
            <a:r>
              <a:rPr lang="es-CL" dirty="0"/>
              <a:t>)</a:t>
            </a:r>
          </a:p>
        </p:txBody>
      </p:sp>
      <p:sp>
        <p:nvSpPr>
          <p:cNvPr id="40" name="TextBox 39">
            <a:extLst>
              <a:ext uri="{FF2B5EF4-FFF2-40B4-BE49-F238E27FC236}">
                <a16:creationId xmlns:a16="http://schemas.microsoft.com/office/drawing/2014/main" id="{8275F712-1566-2598-BA39-78768D3D5620}"/>
              </a:ext>
            </a:extLst>
          </p:cNvPr>
          <p:cNvSpPr txBox="1"/>
          <p:nvPr/>
        </p:nvSpPr>
        <p:spPr>
          <a:xfrm>
            <a:off x="4217870" y="3566391"/>
            <a:ext cx="306494" cy="369332"/>
          </a:xfrm>
          <a:prstGeom prst="rect">
            <a:avLst/>
          </a:prstGeom>
          <a:noFill/>
        </p:spPr>
        <p:txBody>
          <a:bodyPr wrap="none" rtlCol="0">
            <a:spAutoFit/>
          </a:bodyPr>
          <a:lstStyle/>
          <a:p>
            <a:r>
              <a:rPr lang="es-CL" dirty="0"/>
              <a:t>n</a:t>
            </a:r>
          </a:p>
        </p:txBody>
      </p:sp>
      <p:sp>
        <p:nvSpPr>
          <p:cNvPr id="41" name="TextBox 40">
            <a:extLst>
              <a:ext uri="{FF2B5EF4-FFF2-40B4-BE49-F238E27FC236}">
                <a16:creationId xmlns:a16="http://schemas.microsoft.com/office/drawing/2014/main" id="{D95DAE77-01A8-D36D-AC51-6FC8512C1C34}"/>
              </a:ext>
            </a:extLst>
          </p:cNvPr>
          <p:cNvSpPr txBox="1"/>
          <p:nvPr/>
        </p:nvSpPr>
        <p:spPr>
          <a:xfrm>
            <a:off x="5808549" y="3604152"/>
            <a:ext cx="306494" cy="369332"/>
          </a:xfrm>
          <a:prstGeom prst="rect">
            <a:avLst/>
          </a:prstGeom>
          <a:noFill/>
        </p:spPr>
        <p:txBody>
          <a:bodyPr wrap="none" rtlCol="0">
            <a:spAutoFit/>
          </a:bodyPr>
          <a:lstStyle/>
          <a:p>
            <a:r>
              <a:rPr lang="es-CL" dirty="0"/>
              <a:t>d</a:t>
            </a:r>
          </a:p>
        </p:txBody>
      </p:sp>
      <p:sp>
        <p:nvSpPr>
          <p:cNvPr id="42" name="TextBox 41">
            <a:extLst>
              <a:ext uri="{FF2B5EF4-FFF2-40B4-BE49-F238E27FC236}">
                <a16:creationId xmlns:a16="http://schemas.microsoft.com/office/drawing/2014/main" id="{06D71A85-DBF0-B3BE-B7D5-400ABAF8E4BA}"/>
              </a:ext>
            </a:extLst>
          </p:cNvPr>
          <p:cNvSpPr txBox="1"/>
          <p:nvPr/>
        </p:nvSpPr>
        <p:spPr>
          <a:xfrm>
            <a:off x="7399228" y="3612464"/>
            <a:ext cx="686406" cy="369332"/>
          </a:xfrm>
          <a:prstGeom prst="rect">
            <a:avLst/>
          </a:prstGeom>
          <a:noFill/>
        </p:spPr>
        <p:txBody>
          <a:bodyPr wrap="none" rtlCol="0">
            <a:spAutoFit/>
          </a:bodyPr>
          <a:lstStyle/>
          <a:p>
            <a:r>
              <a:rPr lang="es-CL" dirty="0"/>
              <a:t>t(</a:t>
            </a:r>
            <a:r>
              <a:rPr lang="es-CL" dirty="0" err="1"/>
              <a:t>ing</a:t>
            </a:r>
            <a:r>
              <a:rPr lang="es-CL" dirty="0"/>
              <a:t>)</a:t>
            </a:r>
          </a:p>
        </p:txBody>
      </p:sp>
      <p:sp>
        <p:nvSpPr>
          <p:cNvPr id="43" name="TextBox 42">
            <a:extLst>
              <a:ext uri="{FF2B5EF4-FFF2-40B4-BE49-F238E27FC236}">
                <a16:creationId xmlns:a16="http://schemas.microsoft.com/office/drawing/2014/main" id="{FBC6CB51-51DB-64CF-7E29-C68758829AF5}"/>
              </a:ext>
            </a:extLst>
          </p:cNvPr>
          <p:cNvSpPr txBox="1"/>
          <p:nvPr/>
        </p:nvSpPr>
        <p:spPr>
          <a:xfrm>
            <a:off x="8825565" y="3590066"/>
            <a:ext cx="729687" cy="369332"/>
          </a:xfrm>
          <a:prstGeom prst="rect">
            <a:avLst/>
          </a:prstGeom>
          <a:noFill/>
        </p:spPr>
        <p:txBody>
          <a:bodyPr wrap="none" rtlCol="0">
            <a:spAutoFit/>
          </a:bodyPr>
          <a:lstStyle/>
          <a:p>
            <a:r>
              <a:rPr lang="es-CL" dirty="0"/>
              <a:t>t(</a:t>
            </a:r>
            <a:r>
              <a:rPr lang="es-CL" dirty="0" err="1"/>
              <a:t>esp</a:t>
            </a:r>
            <a:r>
              <a:rPr lang="es-CL" dirty="0"/>
              <a:t>)</a:t>
            </a:r>
          </a:p>
        </p:txBody>
      </p:sp>
      <p:sp>
        <p:nvSpPr>
          <p:cNvPr id="44" name="TextBox 43">
            <a:extLst>
              <a:ext uri="{FF2B5EF4-FFF2-40B4-BE49-F238E27FC236}">
                <a16:creationId xmlns:a16="http://schemas.microsoft.com/office/drawing/2014/main" id="{F2E21CB5-E613-48E5-27C0-EE8224AFDCFE}"/>
              </a:ext>
            </a:extLst>
          </p:cNvPr>
          <p:cNvSpPr txBox="1"/>
          <p:nvPr/>
        </p:nvSpPr>
        <p:spPr>
          <a:xfrm>
            <a:off x="10620661" y="3629090"/>
            <a:ext cx="264816" cy="369332"/>
          </a:xfrm>
          <a:prstGeom prst="rect">
            <a:avLst/>
          </a:prstGeom>
          <a:noFill/>
        </p:spPr>
        <p:txBody>
          <a:bodyPr wrap="none" rtlCol="0">
            <a:spAutoFit/>
          </a:bodyPr>
          <a:lstStyle/>
          <a:p>
            <a:r>
              <a:rPr lang="es-CL" dirty="0"/>
              <a:t>r</a:t>
            </a:r>
          </a:p>
        </p:txBody>
      </p:sp>
      <p:sp>
        <p:nvSpPr>
          <p:cNvPr id="45" name="TextBox 44">
            <a:extLst>
              <a:ext uri="{FF2B5EF4-FFF2-40B4-BE49-F238E27FC236}">
                <a16:creationId xmlns:a16="http://schemas.microsoft.com/office/drawing/2014/main" id="{A6B65C16-674E-220B-B1D5-0B69E0425BCE}"/>
              </a:ext>
            </a:extLst>
          </p:cNvPr>
          <p:cNvSpPr txBox="1"/>
          <p:nvPr/>
        </p:nvSpPr>
        <p:spPr>
          <a:xfrm>
            <a:off x="4398364" y="4366260"/>
            <a:ext cx="369012" cy="369332"/>
          </a:xfrm>
          <a:prstGeom prst="rect">
            <a:avLst/>
          </a:prstGeom>
          <a:noFill/>
        </p:spPr>
        <p:txBody>
          <a:bodyPr wrap="none" rtlCol="0">
            <a:spAutoFit/>
          </a:bodyPr>
          <a:lstStyle/>
          <a:p>
            <a:r>
              <a:rPr lang="es-CL" dirty="0"/>
              <a:t>m</a:t>
            </a:r>
          </a:p>
        </p:txBody>
      </p:sp>
      <p:sp>
        <p:nvSpPr>
          <p:cNvPr id="46" name="TextBox 45">
            <a:extLst>
              <a:ext uri="{FF2B5EF4-FFF2-40B4-BE49-F238E27FC236}">
                <a16:creationId xmlns:a16="http://schemas.microsoft.com/office/drawing/2014/main" id="{17F589A9-76CE-C0F4-5CC5-A803C31E200D}"/>
              </a:ext>
            </a:extLst>
          </p:cNvPr>
          <p:cNvSpPr txBox="1"/>
          <p:nvPr/>
        </p:nvSpPr>
        <p:spPr>
          <a:xfrm>
            <a:off x="6407459" y="4389704"/>
            <a:ext cx="306494" cy="369332"/>
          </a:xfrm>
          <a:prstGeom prst="rect">
            <a:avLst/>
          </a:prstGeom>
          <a:noFill/>
        </p:spPr>
        <p:txBody>
          <a:bodyPr wrap="none" rtlCol="0">
            <a:spAutoFit/>
          </a:bodyPr>
          <a:lstStyle/>
          <a:p>
            <a:r>
              <a:rPr lang="es-CL" dirty="0"/>
              <a:t>b</a:t>
            </a:r>
          </a:p>
        </p:txBody>
      </p:sp>
      <p:sp>
        <p:nvSpPr>
          <p:cNvPr id="47" name="TextBox 46">
            <a:extLst>
              <a:ext uri="{FF2B5EF4-FFF2-40B4-BE49-F238E27FC236}">
                <a16:creationId xmlns:a16="http://schemas.microsoft.com/office/drawing/2014/main" id="{8F6D2D97-0702-1D61-6216-58FCAB557E7B}"/>
              </a:ext>
            </a:extLst>
          </p:cNvPr>
          <p:cNvSpPr txBox="1"/>
          <p:nvPr/>
        </p:nvSpPr>
        <p:spPr>
          <a:xfrm>
            <a:off x="8198870" y="4366260"/>
            <a:ext cx="731290" cy="369332"/>
          </a:xfrm>
          <a:prstGeom prst="rect">
            <a:avLst/>
          </a:prstGeom>
          <a:noFill/>
        </p:spPr>
        <p:txBody>
          <a:bodyPr wrap="none" rtlCol="0">
            <a:spAutoFit/>
          </a:bodyPr>
          <a:lstStyle/>
          <a:p>
            <a:r>
              <a:rPr lang="es-CL" dirty="0"/>
              <a:t>p(</a:t>
            </a:r>
            <a:r>
              <a:rPr lang="es-CL" dirty="0" err="1"/>
              <a:t>ing</a:t>
            </a:r>
            <a:r>
              <a:rPr lang="es-CL" dirty="0"/>
              <a:t>)</a:t>
            </a:r>
          </a:p>
        </p:txBody>
      </p:sp>
      <p:sp>
        <p:nvSpPr>
          <p:cNvPr id="48" name="TextBox 47">
            <a:extLst>
              <a:ext uri="{FF2B5EF4-FFF2-40B4-BE49-F238E27FC236}">
                <a16:creationId xmlns:a16="http://schemas.microsoft.com/office/drawing/2014/main" id="{7D608120-B9C9-AD5D-A921-05030B27756A}"/>
              </a:ext>
            </a:extLst>
          </p:cNvPr>
          <p:cNvSpPr txBox="1"/>
          <p:nvPr/>
        </p:nvSpPr>
        <p:spPr>
          <a:xfrm>
            <a:off x="10187788" y="4397325"/>
            <a:ext cx="774571" cy="369332"/>
          </a:xfrm>
          <a:prstGeom prst="rect">
            <a:avLst/>
          </a:prstGeom>
          <a:noFill/>
        </p:spPr>
        <p:txBody>
          <a:bodyPr wrap="none" rtlCol="0">
            <a:spAutoFit/>
          </a:bodyPr>
          <a:lstStyle/>
          <a:p>
            <a:r>
              <a:rPr lang="es-CL" dirty="0"/>
              <a:t>p(</a:t>
            </a:r>
            <a:r>
              <a:rPr lang="es-CL" dirty="0" err="1"/>
              <a:t>esp</a:t>
            </a:r>
            <a:r>
              <a:rPr lang="es-CL" dirty="0"/>
              <a:t>)</a:t>
            </a:r>
          </a:p>
        </p:txBody>
      </p:sp>
      <p:sp>
        <p:nvSpPr>
          <p:cNvPr id="49" name="TextBox 48">
            <a:extLst>
              <a:ext uri="{FF2B5EF4-FFF2-40B4-BE49-F238E27FC236}">
                <a16:creationId xmlns:a16="http://schemas.microsoft.com/office/drawing/2014/main" id="{00E1FC1D-7332-696A-C541-E6411C919EBF}"/>
              </a:ext>
            </a:extLst>
          </p:cNvPr>
          <p:cNvSpPr txBox="1"/>
          <p:nvPr/>
        </p:nvSpPr>
        <p:spPr>
          <a:xfrm>
            <a:off x="3999060" y="5158632"/>
            <a:ext cx="699230" cy="369332"/>
          </a:xfrm>
          <a:prstGeom prst="rect">
            <a:avLst/>
          </a:prstGeom>
          <a:noFill/>
        </p:spPr>
        <p:txBody>
          <a:bodyPr wrap="none" rtlCol="0">
            <a:spAutoFit/>
          </a:bodyPr>
          <a:lstStyle/>
          <a:p>
            <a:r>
              <a:rPr lang="es-CL" dirty="0"/>
              <a:t>s(</a:t>
            </a:r>
            <a:r>
              <a:rPr lang="es-CL" dirty="0" err="1"/>
              <a:t>ing</a:t>
            </a:r>
            <a:r>
              <a:rPr lang="es-CL" dirty="0"/>
              <a:t>)</a:t>
            </a:r>
          </a:p>
        </p:txBody>
      </p:sp>
      <p:sp>
        <p:nvSpPr>
          <p:cNvPr id="50" name="TextBox 49">
            <a:extLst>
              <a:ext uri="{FF2B5EF4-FFF2-40B4-BE49-F238E27FC236}">
                <a16:creationId xmlns:a16="http://schemas.microsoft.com/office/drawing/2014/main" id="{24ED60F5-B502-F559-5BF9-A04657C9A679}"/>
              </a:ext>
            </a:extLst>
          </p:cNvPr>
          <p:cNvSpPr txBox="1"/>
          <p:nvPr/>
        </p:nvSpPr>
        <p:spPr>
          <a:xfrm>
            <a:off x="5628212" y="5166944"/>
            <a:ext cx="663964" cy="369332"/>
          </a:xfrm>
          <a:prstGeom prst="rect">
            <a:avLst/>
          </a:prstGeom>
          <a:noFill/>
        </p:spPr>
        <p:txBody>
          <a:bodyPr wrap="none" rtlCol="0">
            <a:spAutoFit/>
          </a:bodyPr>
          <a:lstStyle/>
          <a:p>
            <a:r>
              <a:rPr lang="es-CL" dirty="0"/>
              <a:t>j(</a:t>
            </a:r>
            <a:r>
              <a:rPr lang="es-CL" dirty="0" err="1"/>
              <a:t>ing</a:t>
            </a:r>
            <a:r>
              <a:rPr lang="es-CL" dirty="0"/>
              <a:t>)</a:t>
            </a:r>
          </a:p>
        </p:txBody>
      </p:sp>
      <p:sp>
        <p:nvSpPr>
          <p:cNvPr id="51" name="TextBox 50">
            <a:extLst>
              <a:ext uri="{FF2B5EF4-FFF2-40B4-BE49-F238E27FC236}">
                <a16:creationId xmlns:a16="http://schemas.microsoft.com/office/drawing/2014/main" id="{5C24AA9A-E562-3100-10EE-8BD626341D83}"/>
              </a:ext>
            </a:extLst>
          </p:cNvPr>
          <p:cNvSpPr txBox="1"/>
          <p:nvPr/>
        </p:nvSpPr>
        <p:spPr>
          <a:xfrm>
            <a:off x="7373962" y="5166360"/>
            <a:ext cx="404278" cy="369332"/>
          </a:xfrm>
          <a:prstGeom prst="rect">
            <a:avLst/>
          </a:prstGeom>
          <a:noFill/>
        </p:spPr>
        <p:txBody>
          <a:bodyPr wrap="none" rtlCol="0">
            <a:spAutoFit/>
          </a:bodyPr>
          <a:lstStyle/>
          <a:p>
            <a:r>
              <a:rPr lang="es-CL" dirty="0"/>
              <a:t>ch</a:t>
            </a:r>
          </a:p>
        </p:txBody>
      </p:sp>
      <p:sp>
        <p:nvSpPr>
          <p:cNvPr id="52" name="TextBox 51">
            <a:extLst>
              <a:ext uri="{FF2B5EF4-FFF2-40B4-BE49-F238E27FC236}">
                <a16:creationId xmlns:a16="http://schemas.microsoft.com/office/drawing/2014/main" id="{7751F454-52DE-2780-2CF4-3EA140F26212}"/>
              </a:ext>
            </a:extLst>
          </p:cNvPr>
          <p:cNvSpPr txBox="1"/>
          <p:nvPr/>
        </p:nvSpPr>
        <p:spPr>
          <a:xfrm>
            <a:off x="9033924" y="5182076"/>
            <a:ext cx="274434" cy="369332"/>
          </a:xfrm>
          <a:prstGeom prst="rect">
            <a:avLst/>
          </a:prstGeom>
          <a:noFill/>
        </p:spPr>
        <p:txBody>
          <a:bodyPr wrap="none" rtlCol="0">
            <a:spAutoFit/>
          </a:bodyPr>
          <a:lstStyle/>
          <a:p>
            <a:r>
              <a:rPr lang="es-CL" dirty="0"/>
              <a:t>s</a:t>
            </a:r>
          </a:p>
        </p:txBody>
      </p:sp>
      <p:sp>
        <p:nvSpPr>
          <p:cNvPr id="53" name="TextBox 52">
            <a:extLst>
              <a:ext uri="{FF2B5EF4-FFF2-40B4-BE49-F238E27FC236}">
                <a16:creationId xmlns:a16="http://schemas.microsoft.com/office/drawing/2014/main" id="{1C696C47-8ABA-FA22-B490-2F632803AA8A}"/>
              </a:ext>
            </a:extLst>
          </p:cNvPr>
          <p:cNvSpPr txBox="1"/>
          <p:nvPr/>
        </p:nvSpPr>
        <p:spPr>
          <a:xfrm>
            <a:off x="10280824" y="5208508"/>
            <a:ext cx="986424" cy="369332"/>
          </a:xfrm>
          <a:prstGeom prst="rect">
            <a:avLst/>
          </a:prstGeom>
          <a:noFill/>
        </p:spPr>
        <p:txBody>
          <a:bodyPr wrap="none" rtlCol="0">
            <a:spAutoFit/>
          </a:bodyPr>
          <a:lstStyle/>
          <a:p>
            <a:r>
              <a:rPr lang="es-CL" dirty="0"/>
              <a:t>Tcha/</a:t>
            </a:r>
            <a:r>
              <a:rPr lang="es-CL" dirty="0" err="1"/>
              <a:t>zza</a:t>
            </a:r>
            <a:endParaRPr lang="es-CL" dirty="0"/>
          </a:p>
        </p:txBody>
      </p:sp>
      <p:sp>
        <p:nvSpPr>
          <p:cNvPr id="54" name="TextBox 53">
            <a:extLst>
              <a:ext uri="{FF2B5EF4-FFF2-40B4-BE49-F238E27FC236}">
                <a16:creationId xmlns:a16="http://schemas.microsoft.com/office/drawing/2014/main" id="{E845422C-277F-FDBB-6B40-C189299342ED}"/>
              </a:ext>
            </a:extLst>
          </p:cNvPr>
          <p:cNvSpPr txBox="1"/>
          <p:nvPr/>
        </p:nvSpPr>
        <p:spPr>
          <a:xfrm>
            <a:off x="5098458" y="5962888"/>
            <a:ext cx="997389" cy="369332"/>
          </a:xfrm>
          <a:prstGeom prst="rect">
            <a:avLst/>
          </a:prstGeom>
          <a:noFill/>
        </p:spPr>
        <p:txBody>
          <a:bodyPr wrap="none" rtlCol="0">
            <a:spAutoFit/>
          </a:bodyPr>
          <a:lstStyle/>
          <a:p>
            <a:r>
              <a:rPr lang="es-CL" dirty="0"/>
              <a:t>h(mudo)</a:t>
            </a:r>
          </a:p>
        </p:txBody>
      </p:sp>
      <p:sp>
        <p:nvSpPr>
          <p:cNvPr id="55" name="TextBox 54">
            <a:extLst>
              <a:ext uri="{FF2B5EF4-FFF2-40B4-BE49-F238E27FC236}">
                <a16:creationId xmlns:a16="http://schemas.microsoft.com/office/drawing/2014/main" id="{E022A997-C56D-CBF5-DF4A-4743822A9C9A}"/>
              </a:ext>
            </a:extLst>
          </p:cNvPr>
          <p:cNvSpPr txBox="1"/>
          <p:nvPr/>
        </p:nvSpPr>
        <p:spPr>
          <a:xfrm>
            <a:off x="9435668" y="5945061"/>
            <a:ext cx="239168" cy="369332"/>
          </a:xfrm>
          <a:prstGeom prst="rect">
            <a:avLst/>
          </a:prstGeom>
          <a:noFill/>
        </p:spPr>
        <p:txBody>
          <a:bodyPr wrap="none" rtlCol="0">
            <a:spAutoFit/>
          </a:bodyPr>
          <a:lstStyle/>
          <a:p>
            <a:r>
              <a:rPr lang="es-CL" dirty="0"/>
              <a:t>j</a:t>
            </a:r>
          </a:p>
        </p:txBody>
      </p:sp>
    </p:spTree>
    <p:extLst>
      <p:ext uri="{BB962C8B-B14F-4D97-AF65-F5344CB8AC3E}">
        <p14:creationId xmlns:p14="http://schemas.microsoft.com/office/powerpoint/2010/main" val="14387694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§5.1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ㄱ · ㄴ · ㄷ</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ㄱ → La lengua tocando el paladar.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'g' o 'k'. Al inicio de palabra suena más 'k'.</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김치 (Kimchi). 김 = kim.</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Lengua arriba detrás de los dientes.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'n'. Igual que en español.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나 → na (yo)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너 → neo (tú)</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ㄷ → La lengua hace forma de 'C' al revés.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Sonido 'd' o 't'.</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다 → da</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ㄱ ㄴ ㄷ</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(paladar, lengua, dientes)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Mostrá tu boca</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13  ·  TALLER</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§5.2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ㄹ · ㅁ · ㅂ</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ㄹ → ¡La famosa! Es a la vez 'r' y 'l'.</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suave, como en 'pero' (no 'perro').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 MÍTICO: 사랑 → sarang.</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¿Saben qué significa? AMOR.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사랑해 → saranghae = te amo.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ㅁ → Labios cerrados, forma cuadrada. 'm'.</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마 → ma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ㅂ → Labios juntos abriéndose. 'b' o 'p'.</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 bap (arroz/comida)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'밥 먹었어요?' = '¿Comiste?' (saludo en Corea)</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사랑</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sarang</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AMOR</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14  ·  TALLER</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§5.3 · CONSONANTES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ㅅ + Repaso · ya tenés 13 letras</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ㅅ → Forma de techo o 'V' invertida.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Suena 's' como en español. 사 → sa.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ciudad de SEÚL se escribe: 서울</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Vamos a leerla: ㅅ + ㅓ + ㅇ + ㅜ + ㄹ</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Esa ㅇ que aparece es una consonante muda al inicio de sílaba. Solo está ahí para que la vocal tenga compañía.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YA TIENEN:</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6 vocales + 7 consonantes = 13 letras.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Con eso podemos armar sílabas.</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서울</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Seoul</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ㅅ-ㅓ-ㅇ-ㅜ-ㄹ</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15  ·  TALLER</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365760"/>
            <a:ext cx="6400800" cy="274320"/>
          </a:xfrm>
          <a:prstGeom prst="rect">
            <a:avLst/>
          </a:prstGeom>
          <a:noFill/>
          <a:ln/>
        </p:spPr>
        <p:txBody>
          <a:bodyPr wrap="square" rtlCol="0" anchor="ctr"/>
          <a:lstStyle/>
          <a:p>
            <a:pPr marL="0" indent="0">
              <a:buNone/>
            </a:pPr>
            <a:r>
              <a:rPr lang="en-US" sz="1200" b="1" kern="0" spc="800" dirty="0">
                <a:solidFill>
                  <a:srgbClr val="FE6768"/>
                </a:solidFill>
                <a:latin typeface="Trebuchet MS" pitchFamily="34" charset="0"/>
                <a:ea typeface="Trebuchet MS" pitchFamily="34" charset="-122"/>
                <a:cs typeface="Trebuchet MS" pitchFamily="34" charset="-120"/>
              </a:rPr>
              <a:t>§6.0 · SÍLABAS</a:t>
            </a:r>
            <a:endParaRPr lang="en-US" sz="1200" dirty="0"/>
          </a:p>
        </p:txBody>
      </p:sp>
      <p:sp>
        <p:nvSpPr>
          <p:cNvPr id="3" name="Text 1"/>
          <p:cNvSpPr/>
          <p:nvPr/>
        </p:nvSpPr>
        <p:spPr>
          <a:xfrm>
            <a:off x="365760" y="658368"/>
            <a:ext cx="11430000" cy="640080"/>
          </a:xfrm>
          <a:prstGeom prst="rect">
            <a:avLst/>
          </a:prstGeom>
          <a:noFill/>
          <a:ln/>
        </p:spPr>
        <p:txBody>
          <a:bodyPr wrap="square" rtlCol="0" anchor="ctr"/>
          <a:lstStyle/>
          <a:p>
            <a:pPr marL="0" indent="0">
              <a:buNone/>
            </a:pPr>
            <a:r>
              <a:rPr lang="en-US" sz="3400" b="1" dirty="0">
                <a:solidFill>
                  <a:srgbClr val="0F172A"/>
                </a:solidFill>
                <a:latin typeface="Trebuchet MS" pitchFamily="34" charset="0"/>
                <a:ea typeface="Trebuchet MS" pitchFamily="34" charset="-122"/>
                <a:cs typeface="Trebuchet MS" pitchFamily="34" charset="-120"/>
              </a:rPr>
              <a:t>La estructura interna · I + M + F</a:t>
            </a:r>
            <a:endParaRPr lang="en-US" sz="3400" dirty="0"/>
          </a:p>
        </p:txBody>
      </p:sp>
      <p:sp>
        <p:nvSpPr>
          <p:cNvPr id="4" name="Shape 2"/>
          <p:cNvSpPr/>
          <p:nvPr/>
        </p:nvSpPr>
        <p:spPr>
          <a:xfrm>
            <a:off x="365760" y="1600200"/>
            <a:ext cx="11430000" cy="548640"/>
          </a:xfrm>
          <a:prstGeom prst="roundRect">
            <a:avLst>
              <a:gd name="adj" fmla="val 13333"/>
            </a:avLst>
          </a:prstGeom>
          <a:solidFill>
            <a:srgbClr val="F8F9FC"/>
          </a:solidFill>
          <a:ln w="12700">
            <a:solidFill>
              <a:srgbClr val="E2E8F0"/>
            </a:solidFill>
            <a:prstDash val="solid"/>
          </a:ln>
        </p:spPr>
      </p:sp>
      <p:sp>
        <p:nvSpPr>
          <p:cNvPr id="5" name="Shape 3"/>
          <p:cNvSpPr/>
          <p:nvPr/>
        </p:nvSpPr>
        <p:spPr>
          <a:xfrm>
            <a:off x="548640" y="1755648"/>
            <a:ext cx="237744" cy="237744"/>
          </a:xfrm>
          <a:prstGeom prst="ellipse">
            <a:avLst/>
          </a:prstGeom>
          <a:solidFill>
            <a:srgbClr val="4036ED"/>
          </a:solidFill>
          <a:ln/>
        </p:spPr>
      </p:sp>
      <p:sp>
        <p:nvSpPr>
          <p:cNvPr id="6" name="Text 4"/>
          <p:cNvSpPr/>
          <p:nvPr/>
        </p:nvSpPr>
        <p:spPr>
          <a:xfrm>
            <a:off x="868680" y="1691640"/>
            <a:ext cx="1371600" cy="365760"/>
          </a:xfrm>
          <a:prstGeom prst="rect">
            <a:avLst/>
          </a:prstGeom>
          <a:noFill/>
          <a:ln/>
        </p:spPr>
        <p:txBody>
          <a:bodyPr wrap="square" lIns="0" tIns="0" rIns="0" bIns="0" rtlCol="0" anchor="ctr"/>
          <a:lstStyle/>
          <a:p>
            <a:pPr marL="0" indent="0">
              <a:buNone/>
            </a:pPr>
            <a:r>
              <a:rPr lang="en-US" sz="1200" b="1" dirty="0">
                <a:solidFill>
                  <a:srgbClr val="4036ED"/>
                </a:solidFill>
                <a:latin typeface="Trebuchet MS" pitchFamily="34" charset="0"/>
                <a:ea typeface="Trebuchet MS" pitchFamily="34" charset="-122"/>
                <a:cs typeface="Trebuchet MS" pitchFamily="34" charset="-120"/>
              </a:rPr>
              <a:t>I · INITIAL</a:t>
            </a:r>
            <a:endParaRPr lang="en-US" sz="1200" dirty="0"/>
          </a:p>
        </p:txBody>
      </p:sp>
      <p:sp>
        <p:nvSpPr>
          <p:cNvPr id="7" name="Text 5"/>
          <p:cNvSpPr/>
          <p:nvPr/>
        </p:nvSpPr>
        <p:spPr>
          <a:xfrm>
            <a:off x="205740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Consonante inicial</a:t>
            </a:r>
            <a:endParaRPr lang="en-US" sz="1100" dirty="0"/>
          </a:p>
        </p:txBody>
      </p:sp>
      <p:sp>
        <p:nvSpPr>
          <p:cNvPr id="8" name="Shape 6"/>
          <p:cNvSpPr/>
          <p:nvPr/>
        </p:nvSpPr>
        <p:spPr>
          <a:xfrm>
            <a:off x="4343400" y="1755648"/>
            <a:ext cx="237744" cy="237744"/>
          </a:xfrm>
          <a:prstGeom prst="ellipse">
            <a:avLst/>
          </a:prstGeom>
          <a:solidFill>
            <a:srgbClr val="FE6768"/>
          </a:solidFill>
          <a:ln/>
        </p:spPr>
      </p:sp>
      <p:sp>
        <p:nvSpPr>
          <p:cNvPr id="9" name="Text 7"/>
          <p:cNvSpPr/>
          <p:nvPr/>
        </p:nvSpPr>
        <p:spPr>
          <a:xfrm>
            <a:off x="4663440" y="1691640"/>
            <a:ext cx="1371600" cy="365760"/>
          </a:xfrm>
          <a:prstGeom prst="rect">
            <a:avLst/>
          </a:prstGeom>
          <a:noFill/>
          <a:ln/>
        </p:spPr>
        <p:txBody>
          <a:bodyPr wrap="square" lIns="0" tIns="0" rIns="0" bIns="0" rtlCol="0" anchor="ctr"/>
          <a:lstStyle/>
          <a:p>
            <a:pPr marL="0" indent="0">
              <a:buNone/>
            </a:pPr>
            <a:r>
              <a:rPr lang="en-US" sz="1200" b="1" dirty="0">
                <a:solidFill>
                  <a:srgbClr val="FE6768"/>
                </a:solidFill>
                <a:latin typeface="Trebuchet MS" pitchFamily="34" charset="0"/>
                <a:ea typeface="Trebuchet MS" pitchFamily="34" charset="-122"/>
                <a:cs typeface="Trebuchet MS" pitchFamily="34" charset="-120"/>
              </a:rPr>
              <a:t>M · MEDIAL</a:t>
            </a:r>
            <a:endParaRPr lang="en-US" sz="1200" dirty="0"/>
          </a:p>
        </p:txBody>
      </p:sp>
      <p:sp>
        <p:nvSpPr>
          <p:cNvPr id="10" name="Text 8"/>
          <p:cNvSpPr/>
          <p:nvPr/>
        </p:nvSpPr>
        <p:spPr>
          <a:xfrm>
            <a:off x="585216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Vocal (obligatoria)</a:t>
            </a:r>
            <a:endParaRPr lang="en-US" sz="1100" dirty="0"/>
          </a:p>
        </p:txBody>
      </p:sp>
      <p:sp>
        <p:nvSpPr>
          <p:cNvPr id="11" name="Shape 9"/>
          <p:cNvSpPr/>
          <p:nvPr/>
        </p:nvSpPr>
        <p:spPr>
          <a:xfrm>
            <a:off x="8138160" y="1755648"/>
            <a:ext cx="237744" cy="237744"/>
          </a:xfrm>
          <a:prstGeom prst="ellipse">
            <a:avLst/>
          </a:prstGeom>
          <a:solidFill>
            <a:srgbClr val="2EA86B"/>
          </a:solidFill>
          <a:ln/>
        </p:spPr>
      </p:sp>
      <p:sp>
        <p:nvSpPr>
          <p:cNvPr id="12" name="Text 10"/>
          <p:cNvSpPr/>
          <p:nvPr/>
        </p:nvSpPr>
        <p:spPr>
          <a:xfrm>
            <a:off x="8458200" y="1691640"/>
            <a:ext cx="1371600" cy="365760"/>
          </a:xfrm>
          <a:prstGeom prst="rect">
            <a:avLst/>
          </a:prstGeom>
          <a:noFill/>
          <a:ln/>
        </p:spPr>
        <p:txBody>
          <a:bodyPr wrap="square" lIns="0" tIns="0" rIns="0" bIns="0" rtlCol="0" anchor="ctr"/>
          <a:lstStyle/>
          <a:p>
            <a:pPr marL="0" indent="0">
              <a:buNone/>
            </a:pPr>
            <a:r>
              <a:rPr lang="en-US" sz="1200" b="1" dirty="0">
                <a:solidFill>
                  <a:srgbClr val="2EA86B"/>
                </a:solidFill>
                <a:latin typeface="Trebuchet MS" pitchFamily="34" charset="0"/>
                <a:ea typeface="Trebuchet MS" pitchFamily="34" charset="-122"/>
                <a:cs typeface="Trebuchet MS" pitchFamily="34" charset="-120"/>
              </a:rPr>
              <a:t>F · FINAL</a:t>
            </a:r>
            <a:endParaRPr lang="en-US" sz="1200" dirty="0"/>
          </a:p>
        </p:txBody>
      </p:sp>
      <p:sp>
        <p:nvSpPr>
          <p:cNvPr id="13" name="Text 11"/>
          <p:cNvSpPr/>
          <p:nvPr/>
        </p:nvSpPr>
        <p:spPr>
          <a:xfrm>
            <a:off x="9646920" y="1691640"/>
            <a:ext cx="2194560" cy="365760"/>
          </a:xfrm>
          <a:prstGeom prst="rect">
            <a:avLst/>
          </a:prstGeom>
          <a:noFill/>
          <a:ln/>
        </p:spPr>
        <p:txBody>
          <a:bodyPr wrap="square" lIns="0" tIns="0" rIns="0" bIns="0" rtlCol="0" anchor="ctr"/>
          <a:lstStyle/>
          <a:p>
            <a:pPr marL="0" indent="0">
              <a:buNone/>
            </a:pPr>
            <a:r>
              <a:rPr lang="en-US" sz="1100" i="1" dirty="0">
                <a:solidFill>
                  <a:srgbClr val="4A5568"/>
                </a:solidFill>
                <a:latin typeface="Calibri" pitchFamily="34" charset="0"/>
                <a:ea typeface="Calibri" pitchFamily="34" charset="-122"/>
                <a:cs typeface="Calibri" pitchFamily="34" charset="-120"/>
              </a:rPr>
              <a:t>받침 (opcional)</a:t>
            </a:r>
            <a:endParaRPr lang="en-US" sz="1100" dirty="0"/>
          </a:p>
        </p:txBody>
      </p:sp>
      <p:sp>
        <p:nvSpPr>
          <p:cNvPr id="14" name="Shape 12"/>
          <p:cNvSpPr/>
          <p:nvPr/>
        </p:nvSpPr>
        <p:spPr>
          <a:xfrm>
            <a:off x="457200" y="2606040"/>
            <a:ext cx="3657600" cy="3337560"/>
          </a:xfrm>
          <a:prstGeom prst="roundRect">
            <a:avLst>
              <a:gd name="adj" fmla="val 3288"/>
            </a:avLst>
          </a:prstGeom>
          <a:solidFill>
            <a:srgbClr val="F8F9FC"/>
          </a:solidFill>
          <a:ln w="12700">
            <a:solidFill>
              <a:srgbClr val="E2E8F0"/>
            </a:solidFill>
            <a:prstDash val="solid"/>
          </a:ln>
        </p:spPr>
      </p:sp>
      <p:sp>
        <p:nvSpPr>
          <p:cNvPr id="15" name="Text 13"/>
          <p:cNvSpPr/>
          <p:nvPr/>
        </p:nvSpPr>
        <p:spPr>
          <a:xfrm>
            <a:off x="45720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한</a:t>
            </a:r>
            <a:endParaRPr lang="en-US" sz="12000" dirty="0"/>
          </a:p>
        </p:txBody>
      </p:sp>
      <p:sp>
        <p:nvSpPr>
          <p:cNvPr id="16" name="Text 14"/>
          <p:cNvSpPr/>
          <p:nvPr/>
        </p:nvSpPr>
        <p:spPr>
          <a:xfrm>
            <a:off x="45720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han</a:t>
            </a:r>
            <a:endParaRPr lang="en-US" sz="1800" dirty="0"/>
          </a:p>
        </p:txBody>
      </p:sp>
      <p:sp>
        <p:nvSpPr>
          <p:cNvPr id="17" name="Text 15"/>
          <p:cNvSpPr/>
          <p:nvPr/>
        </p:nvSpPr>
        <p:spPr>
          <a:xfrm>
            <a:off x="45720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18" name="Shape 16"/>
          <p:cNvSpPr/>
          <p:nvPr/>
        </p:nvSpPr>
        <p:spPr>
          <a:xfrm>
            <a:off x="822960" y="5120640"/>
            <a:ext cx="868680" cy="868680"/>
          </a:xfrm>
          <a:prstGeom prst="ellipse">
            <a:avLst/>
          </a:prstGeom>
          <a:solidFill>
            <a:srgbClr val="4036ED"/>
          </a:solidFill>
          <a:ln/>
        </p:spPr>
      </p:sp>
      <p:sp>
        <p:nvSpPr>
          <p:cNvPr id="19" name="Text 17"/>
          <p:cNvSpPr/>
          <p:nvPr/>
        </p:nvSpPr>
        <p:spPr>
          <a:xfrm>
            <a:off x="8229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ㅎ</a:t>
            </a:r>
            <a:endParaRPr lang="en-US" sz="3600" dirty="0"/>
          </a:p>
        </p:txBody>
      </p:sp>
      <p:sp>
        <p:nvSpPr>
          <p:cNvPr id="20" name="Text 18"/>
          <p:cNvSpPr/>
          <p:nvPr/>
        </p:nvSpPr>
        <p:spPr>
          <a:xfrm>
            <a:off x="8229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21" name="Shape 19"/>
          <p:cNvSpPr/>
          <p:nvPr/>
        </p:nvSpPr>
        <p:spPr>
          <a:xfrm>
            <a:off x="1828800" y="5120640"/>
            <a:ext cx="868680" cy="868680"/>
          </a:xfrm>
          <a:prstGeom prst="ellipse">
            <a:avLst/>
          </a:prstGeom>
          <a:solidFill>
            <a:srgbClr val="FE6768"/>
          </a:solidFill>
          <a:ln/>
        </p:spPr>
      </p:sp>
      <p:sp>
        <p:nvSpPr>
          <p:cNvPr id="22" name="Text 20"/>
          <p:cNvSpPr/>
          <p:nvPr/>
        </p:nvSpPr>
        <p:spPr>
          <a:xfrm>
            <a:off x="18288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ㅏ</a:t>
            </a:r>
            <a:endParaRPr lang="en-US" sz="3600" dirty="0"/>
          </a:p>
        </p:txBody>
      </p:sp>
      <p:sp>
        <p:nvSpPr>
          <p:cNvPr id="23" name="Text 21"/>
          <p:cNvSpPr/>
          <p:nvPr/>
        </p:nvSpPr>
        <p:spPr>
          <a:xfrm>
            <a:off x="18288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24" name="Shape 22"/>
          <p:cNvSpPr/>
          <p:nvPr/>
        </p:nvSpPr>
        <p:spPr>
          <a:xfrm>
            <a:off x="2834640" y="5120640"/>
            <a:ext cx="868680" cy="868680"/>
          </a:xfrm>
          <a:prstGeom prst="ellipse">
            <a:avLst/>
          </a:prstGeom>
          <a:solidFill>
            <a:srgbClr val="2EA86B"/>
          </a:solidFill>
          <a:ln/>
        </p:spPr>
      </p:sp>
      <p:sp>
        <p:nvSpPr>
          <p:cNvPr id="25" name="Text 23"/>
          <p:cNvSpPr/>
          <p:nvPr/>
        </p:nvSpPr>
        <p:spPr>
          <a:xfrm>
            <a:off x="28346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ㄴ</a:t>
            </a:r>
            <a:endParaRPr lang="en-US" sz="3600" dirty="0"/>
          </a:p>
        </p:txBody>
      </p:sp>
      <p:sp>
        <p:nvSpPr>
          <p:cNvPr id="26" name="Text 24"/>
          <p:cNvSpPr/>
          <p:nvPr/>
        </p:nvSpPr>
        <p:spPr>
          <a:xfrm>
            <a:off x="28346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27" name="Shape 25"/>
          <p:cNvSpPr/>
          <p:nvPr/>
        </p:nvSpPr>
        <p:spPr>
          <a:xfrm>
            <a:off x="4297680" y="2606040"/>
            <a:ext cx="3657600" cy="3337560"/>
          </a:xfrm>
          <a:prstGeom prst="roundRect">
            <a:avLst>
              <a:gd name="adj" fmla="val 3288"/>
            </a:avLst>
          </a:prstGeom>
          <a:solidFill>
            <a:srgbClr val="F8F9FC"/>
          </a:solidFill>
          <a:ln w="12700">
            <a:solidFill>
              <a:srgbClr val="E2E8F0"/>
            </a:solidFill>
            <a:prstDash val="solid"/>
          </a:ln>
        </p:spPr>
      </p:sp>
      <p:sp>
        <p:nvSpPr>
          <p:cNvPr id="28" name="Text 26"/>
          <p:cNvSpPr/>
          <p:nvPr/>
        </p:nvSpPr>
        <p:spPr>
          <a:xfrm>
            <a:off x="429768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국</a:t>
            </a:r>
            <a:endParaRPr lang="en-US" sz="12000" dirty="0"/>
          </a:p>
        </p:txBody>
      </p:sp>
      <p:sp>
        <p:nvSpPr>
          <p:cNvPr id="29" name="Text 27"/>
          <p:cNvSpPr/>
          <p:nvPr/>
        </p:nvSpPr>
        <p:spPr>
          <a:xfrm>
            <a:off x="429768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guk</a:t>
            </a:r>
            <a:endParaRPr lang="en-US" sz="1800" dirty="0"/>
          </a:p>
        </p:txBody>
      </p:sp>
      <p:sp>
        <p:nvSpPr>
          <p:cNvPr id="30" name="Text 28"/>
          <p:cNvSpPr/>
          <p:nvPr/>
        </p:nvSpPr>
        <p:spPr>
          <a:xfrm>
            <a:off x="429768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31" name="Shape 29"/>
          <p:cNvSpPr/>
          <p:nvPr/>
        </p:nvSpPr>
        <p:spPr>
          <a:xfrm>
            <a:off x="4663440" y="5120640"/>
            <a:ext cx="868680" cy="868680"/>
          </a:xfrm>
          <a:prstGeom prst="ellipse">
            <a:avLst/>
          </a:prstGeom>
          <a:solidFill>
            <a:srgbClr val="4036ED"/>
          </a:solidFill>
          <a:ln/>
        </p:spPr>
      </p:sp>
      <p:sp>
        <p:nvSpPr>
          <p:cNvPr id="32" name="Text 30"/>
          <p:cNvSpPr/>
          <p:nvPr/>
        </p:nvSpPr>
        <p:spPr>
          <a:xfrm>
            <a:off x="466344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3" name="Text 31"/>
          <p:cNvSpPr/>
          <p:nvPr/>
        </p:nvSpPr>
        <p:spPr>
          <a:xfrm>
            <a:off x="466344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34" name="Shape 32"/>
          <p:cNvSpPr/>
          <p:nvPr/>
        </p:nvSpPr>
        <p:spPr>
          <a:xfrm>
            <a:off x="5669280" y="5120640"/>
            <a:ext cx="868680" cy="868680"/>
          </a:xfrm>
          <a:prstGeom prst="ellipse">
            <a:avLst/>
          </a:prstGeom>
          <a:solidFill>
            <a:srgbClr val="FE6768"/>
          </a:solidFill>
          <a:ln/>
        </p:spPr>
      </p:sp>
      <p:sp>
        <p:nvSpPr>
          <p:cNvPr id="35" name="Text 33"/>
          <p:cNvSpPr/>
          <p:nvPr/>
        </p:nvSpPr>
        <p:spPr>
          <a:xfrm>
            <a:off x="566928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ㅜ</a:t>
            </a:r>
            <a:endParaRPr lang="en-US" sz="3600" dirty="0"/>
          </a:p>
        </p:txBody>
      </p:sp>
      <p:sp>
        <p:nvSpPr>
          <p:cNvPr id="36" name="Text 34"/>
          <p:cNvSpPr/>
          <p:nvPr/>
        </p:nvSpPr>
        <p:spPr>
          <a:xfrm>
            <a:off x="566928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37" name="Shape 35"/>
          <p:cNvSpPr/>
          <p:nvPr/>
        </p:nvSpPr>
        <p:spPr>
          <a:xfrm>
            <a:off x="6675120" y="5120640"/>
            <a:ext cx="868680" cy="868680"/>
          </a:xfrm>
          <a:prstGeom prst="ellipse">
            <a:avLst/>
          </a:prstGeom>
          <a:solidFill>
            <a:srgbClr val="2EA86B"/>
          </a:solidFill>
          <a:ln/>
        </p:spPr>
      </p:sp>
      <p:sp>
        <p:nvSpPr>
          <p:cNvPr id="38" name="Text 36"/>
          <p:cNvSpPr/>
          <p:nvPr/>
        </p:nvSpPr>
        <p:spPr>
          <a:xfrm>
            <a:off x="66751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ㄱ</a:t>
            </a:r>
            <a:endParaRPr lang="en-US" sz="3600" dirty="0"/>
          </a:p>
        </p:txBody>
      </p:sp>
      <p:sp>
        <p:nvSpPr>
          <p:cNvPr id="39" name="Text 37"/>
          <p:cNvSpPr/>
          <p:nvPr/>
        </p:nvSpPr>
        <p:spPr>
          <a:xfrm>
            <a:off x="66751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40" name="Shape 38"/>
          <p:cNvSpPr/>
          <p:nvPr/>
        </p:nvSpPr>
        <p:spPr>
          <a:xfrm>
            <a:off x="8138160" y="2606040"/>
            <a:ext cx="3657600" cy="3337560"/>
          </a:xfrm>
          <a:prstGeom prst="roundRect">
            <a:avLst>
              <a:gd name="adj" fmla="val 3288"/>
            </a:avLst>
          </a:prstGeom>
          <a:solidFill>
            <a:srgbClr val="F8F9FC"/>
          </a:solidFill>
          <a:ln w="12700">
            <a:solidFill>
              <a:srgbClr val="E2E8F0"/>
            </a:solidFill>
            <a:prstDash val="solid"/>
          </a:ln>
        </p:spPr>
      </p:sp>
      <p:sp>
        <p:nvSpPr>
          <p:cNvPr id="41" name="Text 39"/>
          <p:cNvSpPr/>
          <p:nvPr/>
        </p:nvSpPr>
        <p:spPr>
          <a:xfrm>
            <a:off x="8138160" y="2834640"/>
            <a:ext cx="3657600" cy="1371600"/>
          </a:xfrm>
          <a:prstGeom prst="rect">
            <a:avLst/>
          </a:prstGeom>
          <a:noFill/>
          <a:ln/>
        </p:spPr>
        <p:txBody>
          <a:bodyPr wrap="square" lIns="0" tIns="0" rIns="0" bIns="0" rtlCol="0" anchor="ctr"/>
          <a:lstStyle/>
          <a:p>
            <a:pPr marL="0" indent="0" algn="ctr">
              <a:buNone/>
            </a:pPr>
            <a:r>
              <a:rPr lang="en-US" sz="12000" b="1" dirty="0">
                <a:solidFill>
                  <a:srgbClr val="0F172A"/>
                </a:solidFill>
                <a:latin typeface="Malgun Gothic" pitchFamily="34" charset="0"/>
                <a:ea typeface="Malgun Gothic" pitchFamily="34" charset="-122"/>
                <a:cs typeface="Malgun Gothic" pitchFamily="34" charset="-120"/>
              </a:rPr>
              <a:t>어</a:t>
            </a:r>
            <a:endParaRPr lang="en-US" sz="12000" dirty="0"/>
          </a:p>
        </p:txBody>
      </p:sp>
      <p:sp>
        <p:nvSpPr>
          <p:cNvPr id="42" name="Text 40"/>
          <p:cNvSpPr/>
          <p:nvPr/>
        </p:nvSpPr>
        <p:spPr>
          <a:xfrm>
            <a:off x="8138160" y="4343400"/>
            <a:ext cx="3657600" cy="365760"/>
          </a:xfrm>
          <a:prstGeom prst="rect">
            <a:avLst/>
          </a:prstGeom>
          <a:noFill/>
          <a:ln/>
        </p:spPr>
        <p:txBody>
          <a:bodyPr wrap="square" lIns="0" tIns="0" rIns="0" bIns="0" rtlCol="0" anchor="ctr"/>
          <a:lstStyle/>
          <a:p>
            <a:pPr marL="0" indent="0" algn="ctr">
              <a:buNone/>
            </a:pPr>
            <a:r>
              <a:rPr lang="en-US" sz="1800" i="1" dirty="0">
                <a:solidFill>
                  <a:srgbClr val="4A5568"/>
                </a:solidFill>
                <a:latin typeface="Calibri" pitchFamily="34" charset="0"/>
                <a:ea typeface="Calibri" pitchFamily="34" charset="-122"/>
                <a:cs typeface="Calibri" pitchFamily="34" charset="-120"/>
              </a:rPr>
              <a:t>eo</a:t>
            </a:r>
            <a:endParaRPr lang="en-US" sz="1800" dirty="0"/>
          </a:p>
        </p:txBody>
      </p:sp>
      <p:sp>
        <p:nvSpPr>
          <p:cNvPr id="43" name="Text 41"/>
          <p:cNvSpPr/>
          <p:nvPr/>
        </p:nvSpPr>
        <p:spPr>
          <a:xfrm>
            <a:off x="8138160" y="4709160"/>
            <a:ext cx="3657600" cy="365760"/>
          </a:xfrm>
          <a:prstGeom prst="rect">
            <a:avLst/>
          </a:prstGeom>
          <a:noFill/>
          <a:ln/>
        </p:spPr>
        <p:txBody>
          <a:bodyPr wrap="square" lIns="0" tIns="0" rIns="0" bIns="0" rtlCol="0" anchor="ctr"/>
          <a:lstStyle/>
          <a:p>
            <a:pPr marL="0" indent="0" algn="ctr">
              <a:buNone/>
            </a:pPr>
            <a:r>
              <a:rPr lang="en-US" sz="2400" b="1" dirty="0">
                <a:solidFill>
                  <a:srgbClr val="94A3B8"/>
                </a:solidFill>
                <a:latin typeface="Trebuchet MS" pitchFamily="34" charset="0"/>
                <a:ea typeface="Trebuchet MS" pitchFamily="34" charset="-122"/>
                <a:cs typeface="Trebuchet MS" pitchFamily="34" charset="-120"/>
              </a:rPr>
              <a:t>=</a:t>
            </a:r>
            <a:endParaRPr lang="en-US" sz="2400" dirty="0"/>
          </a:p>
        </p:txBody>
      </p:sp>
      <p:sp>
        <p:nvSpPr>
          <p:cNvPr id="44" name="Shape 42"/>
          <p:cNvSpPr/>
          <p:nvPr/>
        </p:nvSpPr>
        <p:spPr>
          <a:xfrm>
            <a:off x="8503920" y="5120640"/>
            <a:ext cx="868680" cy="868680"/>
          </a:xfrm>
          <a:prstGeom prst="ellipse">
            <a:avLst/>
          </a:prstGeom>
          <a:solidFill>
            <a:srgbClr val="4036ED"/>
          </a:solidFill>
          <a:ln/>
        </p:spPr>
      </p:sp>
      <p:sp>
        <p:nvSpPr>
          <p:cNvPr id="45" name="Text 43"/>
          <p:cNvSpPr/>
          <p:nvPr/>
        </p:nvSpPr>
        <p:spPr>
          <a:xfrm>
            <a:off x="850392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ㅇ</a:t>
            </a:r>
            <a:endParaRPr lang="en-US" sz="3600" dirty="0"/>
          </a:p>
        </p:txBody>
      </p:sp>
      <p:sp>
        <p:nvSpPr>
          <p:cNvPr id="46" name="Text 44"/>
          <p:cNvSpPr/>
          <p:nvPr/>
        </p:nvSpPr>
        <p:spPr>
          <a:xfrm>
            <a:off x="850392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I</a:t>
            </a:r>
            <a:endParaRPr lang="en-US" sz="1100" dirty="0"/>
          </a:p>
        </p:txBody>
      </p:sp>
      <p:sp>
        <p:nvSpPr>
          <p:cNvPr id="47" name="Shape 45"/>
          <p:cNvSpPr/>
          <p:nvPr/>
        </p:nvSpPr>
        <p:spPr>
          <a:xfrm>
            <a:off x="9509760" y="5120640"/>
            <a:ext cx="868680" cy="868680"/>
          </a:xfrm>
          <a:prstGeom prst="ellipse">
            <a:avLst/>
          </a:prstGeom>
          <a:solidFill>
            <a:srgbClr val="FE6768"/>
          </a:solidFill>
          <a:ln/>
        </p:spPr>
      </p:sp>
      <p:sp>
        <p:nvSpPr>
          <p:cNvPr id="48" name="Text 46"/>
          <p:cNvSpPr/>
          <p:nvPr/>
        </p:nvSpPr>
        <p:spPr>
          <a:xfrm>
            <a:off x="950976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ㅓ</a:t>
            </a:r>
            <a:endParaRPr lang="en-US" sz="3600" dirty="0"/>
          </a:p>
        </p:txBody>
      </p:sp>
      <p:sp>
        <p:nvSpPr>
          <p:cNvPr id="49" name="Text 47"/>
          <p:cNvSpPr/>
          <p:nvPr/>
        </p:nvSpPr>
        <p:spPr>
          <a:xfrm>
            <a:off x="950976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M</a:t>
            </a:r>
            <a:endParaRPr lang="en-US" sz="1100" dirty="0"/>
          </a:p>
        </p:txBody>
      </p:sp>
      <p:sp>
        <p:nvSpPr>
          <p:cNvPr id="50" name="Shape 48"/>
          <p:cNvSpPr/>
          <p:nvPr/>
        </p:nvSpPr>
        <p:spPr>
          <a:xfrm>
            <a:off x="10515600" y="5120640"/>
            <a:ext cx="868680" cy="868680"/>
          </a:xfrm>
          <a:prstGeom prst="ellipse">
            <a:avLst/>
          </a:prstGeom>
          <a:solidFill>
            <a:srgbClr val="94A3B8"/>
          </a:solidFill>
          <a:ln/>
        </p:spPr>
      </p:sp>
      <p:sp>
        <p:nvSpPr>
          <p:cNvPr id="51" name="Text 49"/>
          <p:cNvSpPr/>
          <p:nvPr/>
        </p:nvSpPr>
        <p:spPr>
          <a:xfrm>
            <a:off x="10515600" y="5120640"/>
            <a:ext cx="868680" cy="640080"/>
          </a:xfrm>
          <a:prstGeom prst="rect">
            <a:avLst/>
          </a:prstGeom>
          <a:noFill/>
          <a:ln/>
        </p:spPr>
        <p:txBody>
          <a:bodyPr wrap="square" lIns="0" tIns="0" rIns="0" bIns="0" rtlCol="0" anchor="ctr"/>
          <a:lstStyle/>
          <a:p>
            <a:pPr marL="0" indent="0" algn="ctr">
              <a:buNone/>
            </a:pPr>
            <a:r>
              <a:rPr lang="en-US" sz="3600" b="1" dirty="0">
                <a:solidFill>
                  <a:srgbClr val="FFFFFF"/>
                </a:solidFill>
                <a:latin typeface="Malgun Gothic" pitchFamily="34" charset="0"/>
                <a:ea typeface="Malgun Gothic" pitchFamily="34" charset="-122"/>
                <a:cs typeface="Malgun Gothic" pitchFamily="34" charset="-120"/>
              </a:rPr>
              <a:t>—</a:t>
            </a:r>
            <a:endParaRPr lang="en-US" sz="3600" dirty="0"/>
          </a:p>
        </p:txBody>
      </p:sp>
      <p:sp>
        <p:nvSpPr>
          <p:cNvPr id="52" name="Text 50"/>
          <p:cNvSpPr/>
          <p:nvPr/>
        </p:nvSpPr>
        <p:spPr>
          <a:xfrm>
            <a:off x="10515600" y="5687568"/>
            <a:ext cx="8686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rebuchet MS" pitchFamily="34" charset="0"/>
                <a:ea typeface="Trebuchet MS" pitchFamily="34" charset="-122"/>
                <a:cs typeface="Trebuchet MS" pitchFamily="34" charset="-120"/>
              </a:rPr>
              <a:t>F</a:t>
            </a:r>
            <a:endParaRPr lang="en-US" sz="1100" dirty="0"/>
          </a:p>
        </p:txBody>
      </p:sp>
      <p:sp>
        <p:nvSpPr>
          <p:cNvPr id="53" name="Shape 51"/>
          <p:cNvSpPr/>
          <p:nvPr/>
        </p:nvSpPr>
        <p:spPr>
          <a:xfrm>
            <a:off x="365760" y="6080760"/>
            <a:ext cx="11430000" cy="292608"/>
          </a:xfrm>
          <a:prstGeom prst="roundRect">
            <a:avLst>
              <a:gd name="adj" fmla="val 18750"/>
            </a:avLst>
          </a:prstGeom>
          <a:solidFill>
            <a:srgbClr val="EFEBFF"/>
          </a:solidFill>
          <a:ln/>
        </p:spPr>
      </p:sp>
      <p:sp>
        <p:nvSpPr>
          <p:cNvPr id="54" name="Text 52"/>
          <p:cNvSpPr/>
          <p:nvPr/>
        </p:nvSpPr>
        <p:spPr>
          <a:xfrm>
            <a:off x="457200" y="6080760"/>
            <a:ext cx="11247120" cy="292608"/>
          </a:xfrm>
          <a:prstGeom prst="rect">
            <a:avLst/>
          </a:prstGeom>
          <a:noFill/>
          <a:ln/>
        </p:spPr>
        <p:txBody>
          <a:bodyPr wrap="square" lIns="0" tIns="0" rIns="0" bIns="0" rtlCol="0" anchor="ctr"/>
          <a:lstStyle/>
          <a:p>
            <a:pPr marL="0" indent="0" algn="ctr">
              <a:buNone/>
            </a:pPr>
            <a:r>
              <a:rPr lang="en-US" sz="1300" b="1" i="1" dirty="0">
                <a:solidFill>
                  <a:srgbClr val="2A1FB8"/>
                </a:solidFill>
                <a:latin typeface="Georgia" pitchFamily="34" charset="0"/>
                <a:ea typeface="Georgia" pitchFamily="34" charset="-122"/>
                <a:cs typeface="Georgia" pitchFamily="34" charset="-120"/>
              </a:rPr>
              <a:t>🧱  Cada sílaba es un bloque · Initial → Medial → Final  ·  Tetris coreano</a:t>
            </a:r>
            <a:endParaRPr lang="en-US" sz="1300" dirty="0"/>
          </a:p>
        </p:txBody>
      </p:sp>
      <p:sp>
        <p:nvSpPr>
          <p:cNvPr id="55" name="Text 53"/>
          <p:cNvSpPr/>
          <p:nvPr/>
        </p:nvSpPr>
        <p:spPr>
          <a:xfrm>
            <a:off x="365760" y="6199632"/>
            <a:ext cx="11460175" cy="201168"/>
          </a:xfrm>
          <a:prstGeom prst="rect">
            <a:avLst/>
          </a:prstGeom>
          <a:noFill/>
          <a:ln/>
        </p:spPr>
        <p:txBody>
          <a:bodyPr wrap="square" rtlCol="0" anchor="ctr"/>
          <a:lstStyle/>
          <a:p>
            <a:pPr marL="0" indent="0">
              <a:buNone/>
            </a:pPr>
            <a:r>
              <a:rPr lang="en-US" sz="900" i="1" dirty="0">
                <a:solidFill>
                  <a:srgbClr val="94A3B8"/>
                </a:solidFill>
                <a:latin typeface="Calibri" pitchFamily="34" charset="0"/>
                <a:ea typeface="Calibri" pitchFamily="34" charset="-122"/>
                <a:cs typeface="Calibri" pitchFamily="34" charset="-120"/>
              </a:rPr>
              <a:t>Fuente · Korea Foundation. Hangeul – Korea's Unique Alphabet, 2010, p. 27.</a:t>
            </a:r>
            <a:endParaRPr lang="en-US" sz="900" dirty="0"/>
          </a:p>
        </p:txBody>
      </p:sp>
      <p:sp>
        <p:nvSpPr>
          <p:cNvPr id="56" name="Text 54"/>
          <p:cNvSpPr/>
          <p:nvPr/>
        </p:nvSpPr>
        <p:spPr>
          <a:xfrm>
            <a:off x="365760" y="6446520"/>
            <a:ext cx="5486400" cy="274320"/>
          </a:xfrm>
          <a:prstGeom prst="rect">
            <a:avLst/>
          </a:prstGeom>
          <a:noFill/>
          <a:ln/>
        </p:spPr>
        <p:txBody>
          <a:bodyPr wrap="square" rtlCol="0" anchor="ctr"/>
          <a:lstStyle/>
          <a:p>
            <a:pPr marL="0" indent="0">
              <a:buNone/>
            </a:pPr>
            <a:r>
              <a:rPr lang="en-US" sz="1000" b="1" kern="0" spc="600" dirty="0">
                <a:solidFill>
                  <a:srgbClr val="94A3B8"/>
                </a:solidFill>
                <a:latin typeface="Trebuchet MS" pitchFamily="34" charset="0"/>
                <a:ea typeface="Trebuchet MS" pitchFamily="34" charset="-122"/>
                <a:cs typeface="Trebuchet MS" pitchFamily="34" charset="-120"/>
              </a:rPr>
              <a:t>ACADEMIA SEÚL  ·  MÉTODO CHINGU™</a:t>
            </a:r>
            <a:endParaRPr lang="en-US" sz="1000" dirty="0"/>
          </a:p>
        </p:txBody>
      </p:sp>
      <p:sp>
        <p:nvSpPr>
          <p:cNvPr id="57" name="Text 55"/>
          <p:cNvSpPr/>
          <p:nvPr/>
        </p:nvSpPr>
        <p:spPr>
          <a:xfrm>
            <a:off x="8991295" y="6446520"/>
            <a:ext cx="2743200" cy="274320"/>
          </a:xfrm>
          <a:prstGeom prst="rect">
            <a:avLst/>
          </a:prstGeom>
          <a:noFill/>
          <a:ln/>
        </p:spPr>
        <p:txBody>
          <a:bodyPr wrap="square" rtlCol="0" anchor="ctr"/>
          <a:lstStyle/>
          <a:p>
            <a:pPr marL="0" indent="0" algn="r">
              <a:buNone/>
            </a:pPr>
            <a:r>
              <a:rPr lang="en-US" sz="1000" b="1" kern="0" spc="600" dirty="0">
                <a:solidFill>
                  <a:srgbClr val="94A3B8"/>
                </a:solidFill>
                <a:latin typeface="Trebuchet MS" pitchFamily="34" charset="0"/>
                <a:ea typeface="Trebuchet MS" pitchFamily="34" charset="-122"/>
                <a:cs typeface="Trebuchet MS" pitchFamily="34" charset="-120"/>
              </a:rPr>
              <a:t>SES 16B  ·  TALLER</a:t>
            </a:r>
            <a:endParaRPr lang="en-US" sz="1000" dirty="0"/>
          </a:p>
        </p:txBody>
      </p:sp>
    </p:spTree>
    <p:extLst>
      <p:ext uri="{BB962C8B-B14F-4D97-AF65-F5344CB8AC3E}">
        <p14:creationId xmlns:p14="http://schemas.microsoft.com/office/powerpoint/2010/main" val="21413120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411480"/>
            <a:ext cx="10972800" cy="274320"/>
          </a:xfrm>
          <a:prstGeom prst="rect">
            <a:avLst/>
          </a:prstGeom>
          <a:noFill/>
          <a:ln/>
        </p:spPr>
        <p:txBody>
          <a:bodyPr wrap="square" lIns="0" tIns="0" rIns="0" bIns="0" rtlCol="0" anchor="ctr"/>
          <a:lstStyle/>
          <a:p>
            <a:pPr marL="0" indent="0">
              <a:buNone/>
            </a:pPr>
            <a:r>
              <a:rPr lang="en-US" sz="1100" b="1" kern="0" spc="500" dirty="0">
                <a:solidFill>
                  <a:srgbClr val="FE6768"/>
                </a:solidFill>
                <a:latin typeface="Calibri" pitchFamily="34" charset="0"/>
                <a:ea typeface="Calibri" pitchFamily="34" charset="-122"/>
                <a:cs typeface="Calibri" pitchFamily="34" charset="-120"/>
              </a:rPr>
              <a:t>§3.3</a:t>
            </a:r>
            <a:endParaRPr lang="en-US" sz="1100" dirty="0"/>
          </a:p>
        </p:txBody>
      </p:sp>
      <p:sp>
        <p:nvSpPr>
          <p:cNvPr id="3" name="Text 1"/>
          <p:cNvSpPr/>
          <p:nvPr/>
        </p:nvSpPr>
        <p:spPr>
          <a:xfrm>
            <a:off x="457200" y="777240"/>
            <a:ext cx="10972800" cy="822960"/>
          </a:xfrm>
          <a:prstGeom prst="rect">
            <a:avLst/>
          </a:prstGeom>
          <a:noFill/>
          <a:ln/>
        </p:spPr>
        <p:txBody>
          <a:bodyPr wrap="square" lIns="0" tIns="0" rIns="0" bIns="0" rtlCol="0" anchor="ctr"/>
          <a:lstStyle/>
          <a:p>
            <a:pPr marL="0" indent="0">
              <a:buNone/>
            </a:pPr>
            <a:r>
              <a:rPr lang="en-US" sz="4000" b="1" dirty="0">
                <a:solidFill>
                  <a:srgbClr val="4036ED"/>
                </a:solidFill>
                <a:latin typeface="Calibri" pitchFamily="34" charset="0"/>
                <a:ea typeface="Calibri" pitchFamily="34" charset="-122"/>
                <a:cs typeface="Calibri" pitchFamily="34" charset="-120"/>
              </a:rPr>
              <a:t>Los cuatro patrones de sílaba</a:t>
            </a:r>
            <a:endParaRPr lang="en-US" sz="4000" dirty="0"/>
          </a:p>
        </p:txBody>
      </p:sp>
      <p:sp>
        <p:nvSpPr>
          <p:cNvPr id="4" name="Text 2"/>
          <p:cNvSpPr/>
          <p:nvPr/>
        </p:nvSpPr>
        <p:spPr>
          <a:xfrm>
            <a:off x="457200" y="1691640"/>
            <a:ext cx="10972800" cy="457200"/>
          </a:xfrm>
          <a:prstGeom prst="rect">
            <a:avLst/>
          </a:prstGeom>
          <a:noFill/>
          <a:ln/>
        </p:spPr>
        <p:txBody>
          <a:bodyPr wrap="square" lIns="0" tIns="0" rIns="0" bIns="0" rtlCol="0" anchor="ctr"/>
          <a:lstStyle/>
          <a:p>
            <a:pPr marL="0" indent="0">
              <a:buNone/>
            </a:pPr>
            <a:r>
              <a:rPr lang="en-US" sz="1400" i="1" dirty="0">
                <a:solidFill>
                  <a:srgbClr val="4A4A55"/>
                </a:solidFill>
                <a:latin typeface="Calibri" pitchFamily="34" charset="0"/>
                <a:ea typeface="Calibri" pitchFamily="34" charset="-122"/>
                <a:cs typeface="Calibri" pitchFamily="34" charset="-120"/>
              </a:rPr>
              <a:t>Toda sílaba coreana sigue uno de estos cuatro moldes — sin excepción.</a:t>
            </a:r>
            <a:endParaRPr lang="en-US" sz="1400" dirty="0"/>
          </a:p>
        </p:txBody>
      </p:sp>
      <p:sp>
        <p:nvSpPr>
          <p:cNvPr id="5" name="Shape 3"/>
          <p:cNvSpPr/>
          <p:nvPr/>
        </p:nvSpPr>
        <p:spPr>
          <a:xfrm>
            <a:off x="540868" y="2468880"/>
            <a:ext cx="2606040" cy="3840480"/>
          </a:xfrm>
          <a:prstGeom prst="roundRect">
            <a:avLst>
              <a:gd name="adj" fmla="val 6316"/>
            </a:avLst>
          </a:prstGeom>
          <a:solidFill>
            <a:srgbClr val="FFE0E0"/>
          </a:solidFill>
          <a:ln w="19050">
            <a:solidFill>
              <a:srgbClr val="FE6768"/>
            </a:solidFill>
            <a:prstDash val="solid"/>
          </a:ln>
        </p:spPr>
      </p:sp>
      <p:sp>
        <p:nvSpPr>
          <p:cNvPr id="6" name="Text 4"/>
          <p:cNvSpPr/>
          <p:nvPr/>
        </p:nvSpPr>
        <p:spPr>
          <a:xfrm>
            <a:off x="54086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a:t>
            </a:r>
            <a:endParaRPr lang="en-US" sz="1400" dirty="0"/>
          </a:p>
        </p:txBody>
      </p:sp>
      <p:sp>
        <p:nvSpPr>
          <p:cNvPr id="7" name="Shape 5"/>
          <p:cNvSpPr/>
          <p:nvPr/>
        </p:nvSpPr>
        <p:spPr>
          <a:xfrm>
            <a:off x="1158088" y="3154680"/>
            <a:ext cx="1371600" cy="1371600"/>
          </a:xfrm>
          <a:prstGeom prst="rect">
            <a:avLst/>
          </a:prstGeom>
          <a:solidFill>
            <a:srgbClr val="F6F6F6"/>
          </a:solidFill>
          <a:ln w="19050">
            <a:solidFill>
              <a:srgbClr val="FE6768"/>
            </a:solidFill>
            <a:prstDash val="solid"/>
          </a:ln>
        </p:spPr>
      </p:sp>
      <p:sp>
        <p:nvSpPr>
          <p:cNvPr id="8" name="Text 6"/>
          <p:cNvSpPr/>
          <p:nvPr/>
        </p:nvSpPr>
        <p:spPr>
          <a:xfrm>
            <a:off x="11580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9" name="Text 7"/>
          <p:cNvSpPr/>
          <p:nvPr/>
        </p:nvSpPr>
        <p:spPr>
          <a:xfrm>
            <a:off x="1843888" y="3154680"/>
            <a:ext cx="685800" cy="137160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10" name="Text 8"/>
          <p:cNvSpPr/>
          <p:nvPr/>
        </p:nvSpPr>
        <p:spPr>
          <a:xfrm>
            <a:off x="54086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가  ·  ka</a:t>
            </a:r>
            <a:endParaRPr lang="en-US" sz="2200" dirty="0"/>
          </a:p>
        </p:txBody>
      </p:sp>
      <p:sp>
        <p:nvSpPr>
          <p:cNvPr id="11" name="Text 9"/>
          <p:cNvSpPr/>
          <p:nvPr/>
        </p:nvSpPr>
        <p:spPr>
          <a:xfrm>
            <a:off x="67802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vertical → al lado</a:t>
            </a:r>
            <a:endParaRPr lang="en-US" sz="1100" dirty="0"/>
          </a:p>
        </p:txBody>
      </p:sp>
      <p:sp>
        <p:nvSpPr>
          <p:cNvPr id="12" name="Shape 10"/>
          <p:cNvSpPr/>
          <p:nvPr/>
        </p:nvSpPr>
        <p:spPr>
          <a:xfrm>
            <a:off x="3375508" y="2468880"/>
            <a:ext cx="2606040" cy="3840480"/>
          </a:xfrm>
          <a:prstGeom prst="roundRect">
            <a:avLst>
              <a:gd name="adj" fmla="val 6316"/>
            </a:avLst>
          </a:prstGeom>
          <a:solidFill>
            <a:srgbClr val="EDE8FF"/>
          </a:solidFill>
          <a:ln w="19050">
            <a:solidFill>
              <a:srgbClr val="4036ED"/>
            </a:solidFill>
            <a:prstDash val="solid"/>
          </a:ln>
        </p:spPr>
      </p:sp>
      <p:sp>
        <p:nvSpPr>
          <p:cNvPr id="13" name="Text 11"/>
          <p:cNvSpPr/>
          <p:nvPr/>
        </p:nvSpPr>
        <p:spPr>
          <a:xfrm>
            <a:off x="337550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a:t>
            </a:r>
            <a:endParaRPr lang="en-US" sz="1400" dirty="0"/>
          </a:p>
        </p:txBody>
      </p:sp>
      <p:sp>
        <p:nvSpPr>
          <p:cNvPr id="14" name="Shape 12"/>
          <p:cNvSpPr/>
          <p:nvPr/>
        </p:nvSpPr>
        <p:spPr>
          <a:xfrm>
            <a:off x="3992728" y="3154680"/>
            <a:ext cx="1371600" cy="1371600"/>
          </a:xfrm>
          <a:prstGeom prst="rect">
            <a:avLst/>
          </a:prstGeom>
          <a:solidFill>
            <a:srgbClr val="F6F6F6"/>
          </a:solidFill>
          <a:ln w="19050">
            <a:solidFill>
              <a:srgbClr val="4036ED"/>
            </a:solidFill>
            <a:prstDash val="solid"/>
          </a:ln>
        </p:spPr>
      </p:sp>
      <p:sp>
        <p:nvSpPr>
          <p:cNvPr id="15" name="Text 13"/>
          <p:cNvSpPr/>
          <p:nvPr/>
        </p:nvSpPr>
        <p:spPr>
          <a:xfrm>
            <a:off x="3992728" y="31546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16" name="Text 14"/>
          <p:cNvSpPr/>
          <p:nvPr/>
        </p:nvSpPr>
        <p:spPr>
          <a:xfrm>
            <a:off x="3992728" y="3840480"/>
            <a:ext cx="1371600" cy="68580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17" name="Text 15"/>
          <p:cNvSpPr/>
          <p:nvPr/>
        </p:nvSpPr>
        <p:spPr>
          <a:xfrm>
            <a:off x="337550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고  ·  ko</a:t>
            </a:r>
            <a:endParaRPr lang="en-US" sz="2200" dirty="0"/>
          </a:p>
        </p:txBody>
      </p:sp>
      <p:sp>
        <p:nvSpPr>
          <p:cNvPr id="18" name="Text 16"/>
          <p:cNvSpPr/>
          <p:nvPr/>
        </p:nvSpPr>
        <p:spPr>
          <a:xfrm>
            <a:off x="351266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Vocal horizontal → debajo</a:t>
            </a:r>
            <a:endParaRPr lang="en-US" sz="1100" dirty="0"/>
          </a:p>
        </p:txBody>
      </p:sp>
      <p:sp>
        <p:nvSpPr>
          <p:cNvPr id="19" name="Shape 17"/>
          <p:cNvSpPr/>
          <p:nvPr/>
        </p:nvSpPr>
        <p:spPr>
          <a:xfrm>
            <a:off x="6210148" y="2468880"/>
            <a:ext cx="2606040" cy="3840480"/>
          </a:xfrm>
          <a:prstGeom prst="roundRect">
            <a:avLst>
              <a:gd name="adj" fmla="val 6316"/>
            </a:avLst>
          </a:prstGeom>
          <a:solidFill>
            <a:srgbClr val="FFE0E0"/>
          </a:solidFill>
          <a:ln w="19050">
            <a:solidFill>
              <a:srgbClr val="FE6768"/>
            </a:solidFill>
            <a:prstDash val="solid"/>
          </a:ln>
        </p:spPr>
      </p:sp>
      <p:sp>
        <p:nvSpPr>
          <p:cNvPr id="20" name="Text 18"/>
          <p:cNvSpPr/>
          <p:nvPr/>
        </p:nvSpPr>
        <p:spPr>
          <a:xfrm>
            <a:off x="621014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FE6768"/>
                </a:solidFill>
                <a:latin typeface="Calibri" pitchFamily="34" charset="0"/>
                <a:ea typeface="Calibri" pitchFamily="34" charset="-122"/>
                <a:cs typeface="Calibri" pitchFamily="34" charset="-120"/>
              </a:rPr>
              <a:t>C + V + C</a:t>
            </a:r>
            <a:endParaRPr lang="en-US" sz="1400" dirty="0"/>
          </a:p>
        </p:txBody>
      </p:sp>
      <p:sp>
        <p:nvSpPr>
          <p:cNvPr id="21" name="Shape 19"/>
          <p:cNvSpPr/>
          <p:nvPr/>
        </p:nvSpPr>
        <p:spPr>
          <a:xfrm>
            <a:off x="6827368" y="3154680"/>
            <a:ext cx="1371600" cy="1371600"/>
          </a:xfrm>
          <a:prstGeom prst="rect">
            <a:avLst/>
          </a:prstGeom>
          <a:solidFill>
            <a:srgbClr val="F6F6F6"/>
          </a:solidFill>
          <a:ln w="19050">
            <a:solidFill>
              <a:srgbClr val="FE6768"/>
            </a:solidFill>
            <a:prstDash val="solid"/>
          </a:ln>
        </p:spPr>
      </p:sp>
      <p:sp>
        <p:nvSpPr>
          <p:cNvPr id="22" name="Text 20"/>
          <p:cNvSpPr/>
          <p:nvPr/>
        </p:nvSpPr>
        <p:spPr>
          <a:xfrm>
            <a:off x="68273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ㄱ</a:t>
            </a:r>
            <a:endParaRPr lang="en-US" sz="5000" dirty="0"/>
          </a:p>
        </p:txBody>
      </p:sp>
      <p:sp>
        <p:nvSpPr>
          <p:cNvPr id="23" name="Text 21"/>
          <p:cNvSpPr/>
          <p:nvPr/>
        </p:nvSpPr>
        <p:spPr>
          <a:xfrm>
            <a:off x="7513168" y="3154680"/>
            <a:ext cx="685800" cy="891540"/>
          </a:xfrm>
          <a:prstGeom prst="rect">
            <a:avLst/>
          </a:prstGeom>
          <a:noFill/>
          <a:ln/>
        </p:spPr>
        <p:txBody>
          <a:bodyPr wrap="square" lIns="0" tIns="0" rIns="0" bIns="0" rtlCol="0" anchor="ctr"/>
          <a:lstStyle/>
          <a:p>
            <a:pPr marL="0" indent="0" algn="ctr">
              <a:buNone/>
            </a:pPr>
            <a:r>
              <a:rPr lang="en-US" sz="5000" b="1" dirty="0">
                <a:solidFill>
                  <a:srgbClr val="FE6768"/>
                </a:solidFill>
                <a:latin typeface="Malgun Gothic" pitchFamily="34" charset="0"/>
                <a:ea typeface="Malgun Gothic" pitchFamily="34" charset="-122"/>
                <a:cs typeface="Malgun Gothic" pitchFamily="34" charset="-120"/>
              </a:rPr>
              <a:t>ㅏ</a:t>
            </a:r>
            <a:endParaRPr lang="en-US" sz="5000" dirty="0"/>
          </a:p>
        </p:txBody>
      </p:sp>
      <p:sp>
        <p:nvSpPr>
          <p:cNvPr id="24" name="Text 22"/>
          <p:cNvSpPr/>
          <p:nvPr/>
        </p:nvSpPr>
        <p:spPr>
          <a:xfrm>
            <a:off x="6827368" y="4046220"/>
            <a:ext cx="1371600" cy="480060"/>
          </a:xfrm>
          <a:prstGeom prst="rect">
            <a:avLst/>
          </a:prstGeom>
          <a:noFill/>
          <a:ln/>
        </p:spPr>
        <p:txBody>
          <a:bodyPr wrap="square" lIns="0" tIns="0" rIns="0" bIns="0" rtlCol="0" anchor="ctr"/>
          <a:lstStyle/>
          <a:p>
            <a:pPr marL="0" indent="0" algn="ctr">
              <a:buNone/>
            </a:pPr>
            <a:r>
              <a:rPr lang="en-US" sz="4250" b="1" dirty="0">
                <a:solidFill>
                  <a:srgbClr val="FE6768"/>
                </a:solidFill>
                <a:latin typeface="Malgun Gothic" pitchFamily="34" charset="0"/>
                <a:ea typeface="Malgun Gothic" pitchFamily="34" charset="-122"/>
                <a:cs typeface="Malgun Gothic" pitchFamily="34" charset="-120"/>
              </a:rPr>
              <a:t>ㅇ</a:t>
            </a:r>
            <a:endParaRPr lang="en-US" sz="4250" dirty="0"/>
          </a:p>
        </p:txBody>
      </p:sp>
      <p:sp>
        <p:nvSpPr>
          <p:cNvPr id="25" name="Text 23"/>
          <p:cNvSpPr/>
          <p:nvPr/>
        </p:nvSpPr>
        <p:spPr>
          <a:xfrm>
            <a:off x="6210148" y="4754880"/>
            <a:ext cx="2606040" cy="411480"/>
          </a:xfrm>
          <a:prstGeom prst="rect">
            <a:avLst/>
          </a:prstGeom>
          <a:noFill/>
          <a:ln/>
        </p:spPr>
        <p:txBody>
          <a:bodyPr wrap="square" lIns="0" tIns="0" rIns="0" bIns="0" rtlCol="0" anchor="ctr"/>
          <a:lstStyle/>
          <a:p>
            <a:pPr marL="0" indent="0" algn="ctr">
              <a:buNone/>
            </a:pPr>
            <a:r>
              <a:rPr lang="en-US" sz="2200" b="1" dirty="0">
                <a:solidFill>
                  <a:srgbClr val="FE6768"/>
                </a:solidFill>
                <a:latin typeface="Malgun Gothic" pitchFamily="34" charset="0"/>
                <a:ea typeface="Malgun Gothic" pitchFamily="34" charset="-122"/>
                <a:cs typeface="Malgun Gothic" pitchFamily="34" charset="-120"/>
              </a:rPr>
              <a:t>강  ·  kang</a:t>
            </a:r>
            <a:endParaRPr lang="en-US" sz="2200" dirty="0"/>
          </a:p>
        </p:txBody>
      </p:sp>
      <p:sp>
        <p:nvSpPr>
          <p:cNvPr id="26" name="Text 24"/>
          <p:cNvSpPr/>
          <p:nvPr/>
        </p:nvSpPr>
        <p:spPr>
          <a:xfrm>
            <a:off x="634730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sp>
        <p:nvSpPr>
          <p:cNvPr id="27" name="Shape 25"/>
          <p:cNvSpPr/>
          <p:nvPr/>
        </p:nvSpPr>
        <p:spPr>
          <a:xfrm>
            <a:off x="9044788" y="2468880"/>
            <a:ext cx="2606040" cy="3840480"/>
          </a:xfrm>
          <a:prstGeom prst="roundRect">
            <a:avLst>
              <a:gd name="adj" fmla="val 6316"/>
            </a:avLst>
          </a:prstGeom>
          <a:solidFill>
            <a:srgbClr val="EDE8FF"/>
          </a:solidFill>
          <a:ln w="19050">
            <a:solidFill>
              <a:srgbClr val="4036ED"/>
            </a:solidFill>
            <a:prstDash val="solid"/>
          </a:ln>
        </p:spPr>
      </p:sp>
      <p:sp>
        <p:nvSpPr>
          <p:cNvPr id="28" name="Text 26"/>
          <p:cNvSpPr/>
          <p:nvPr/>
        </p:nvSpPr>
        <p:spPr>
          <a:xfrm>
            <a:off x="9044788" y="2651760"/>
            <a:ext cx="2606040" cy="365760"/>
          </a:xfrm>
          <a:prstGeom prst="rect">
            <a:avLst/>
          </a:prstGeom>
          <a:noFill/>
          <a:ln/>
        </p:spPr>
        <p:txBody>
          <a:bodyPr wrap="square" lIns="0" tIns="0" rIns="0" bIns="0" rtlCol="0" anchor="ctr"/>
          <a:lstStyle/>
          <a:p>
            <a:pPr marL="0" indent="0" algn="ctr">
              <a:buNone/>
            </a:pPr>
            <a:r>
              <a:rPr lang="en-US" sz="1400" b="1" kern="0" spc="400" dirty="0">
                <a:solidFill>
                  <a:srgbClr val="4036ED"/>
                </a:solidFill>
                <a:latin typeface="Calibri" pitchFamily="34" charset="0"/>
                <a:ea typeface="Calibri" pitchFamily="34" charset="-122"/>
                <a:cs typeface="Calibri" pitchFamily="34" charset="-120"/>
              </a:rPr>
              <a:t>C + V + C</a:t>
            </a:r>
            <a:endParaRPr lang="en-US" sz="1400" dirty="0"/>
          </a:p>
        </p:txBody>
      </p:sp>
      <p:sp>
        <p:nvSpPr>
          <p:cNvPr id="29" name="Shape 27"/>
          <p:cNvSpPr/>
          <p:nvPr/>
        </p:nvSpPr>
        <p:spPr>
          <a:xfrm>
            <a:off x="9662008" y="3154680"/>
            <a:ext cx="1371600" cy="1371600"/>
          </a:xfrm>
          <a:prstGeom prst="rect">
            <a:avLst/>
          </a:prstGeom>
          <a:solidFill>
            <a:srgbClr val="F6F6F6"/>
          </a:solidFill>
          <a:ln w="19050">
            <a:solidFill>
              <a:srgbClr val="4036ED"/>
            </a:solidFill>
            <a:prstDash val="solid"/>
          </a:ln>
        </p:spPr>
      </p:sp>
      <p:sp>
        <p:nvSpPr>
          <p:cNvPr id="30" name="Text 28"/>
          <p:cNvSpPr/>
          <p:nvPr/>
        </p:nvSpPr>
        <p:spPr>
          <a:xfrm>
            <a:off x="9662008" y="315468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ㄱ</a:t>
            </a:r>
            <a:endParaRPr lang="en-US" sz="5000" dirty="0"/>
          </a:p>
        </p:txBody>
      </p:sp>
      <p:sp>
        <p:nvSpPr>
          <p:cNvPr id="31" name="Text 29"/>
          <p:cNvSpPr/>
          <p:nvPr/>
        </p:nvSpPr>
        <p:spPr>
          <a:xfrm>
            <a:off x="9662008" y="3600450"/>
            <a:ext cx="1371600" cy="445770"/>
          </a:xfrm>
          <a:prstGeom prst="rect">
            <a:avLst/>
          </a:prstGeom>
          <a:noFill/>
          <a:ln/>
        </p:spPr>
        <p:txBody>
          <a:bodyPr wrap="square" lIns="0" tIns="0" rIns="0" bIns="0" rtlCol="0" anchor="ctr"/>
          <a:lstStyle/>
          <a:p>
            <a:pPr marL="0" indent="0" algn="ctr">
              <a:buNone/>
            </a:pPr>
            <a:r>
              <a:rPr lang="en-US" sz="5000" b="1" dirty="0">
                <a:solidFill>
                  <a:srgbClr val="4036ED"/>
                </a:solidFill>
                <a:latin typeface="Malgun Gothic" pitchFamily="34" charset="0"/>
                <a:ea typeface="Malgun Gothic" pitchFamily="34" charset="-122"/>
                <a:cs typeface="Malgun Gothic" pitchFamily="34" charset="-120"/>
              </a:rPr>
              <a:t>ㅗ</a:t>
            </a:r>
            <a:endParaRPr lang="en-US" sz="5000" dirty="0"/>
          </a:p>
        </p:txBody>
      </p:sp>
      <p:sp>
        <p:nvSpPr>
          <p:cNvPr id="32" name="Text 30"/>
          <p:cNvSpPr/>
          <p:nvPr/>
        </p:nvSpPr>
        <p:spPr>
          <a:xfrm>
            <a:off x="9662008" y="4046220"/>
            <a:ext cx="1371600" cy="480060"/>
          </a:xfrm>
          <a:prstGeom prst="rect">
            <a:avLst/>
          </a:prstGeom>
          <a:noFill/>
          <a:ln/>
        </p:spPr>
        <p:txBody>
          <a:bodyPr wrap="square" lIns="0" tIns="0" rIns="0" bIns="0" rtlCol="0" anchor="ctr"/>
          <a:lstStyle/>
          <a:p>
            <a:pPr marL="0" indent="0" algn="ctr">
              <a:buNone/>
            </a:pPr>
            <a:r>
              <a:rPr lang="en-US" sz="4250" b="1" dirty="0">
                <a:solidFill>
                  <a:srgbClr val="4036ED"/>
                </a:solidFill>
                <a:latin typeface="Malgun Gothic" pitchFamily="34" charset="0"/>
                <a:ea typeface="Malgun Gothic" pitchFamily="34" charset="-122"/>
                <a:cs typeface="Malgun Gothic" pitchFamily="34" charset="-120"/>
              </a:rPr>
              <a:t>ㅇ</a:t>
            </a:r>
            <a:endParaRPr lang="en-US" sz="4250" dirty="0"/>
          </a:p>
        </p:txBody>
      </p:sp>
      <p:sp>
        <p:nvSpPr>
          <p:cNvPr id="33" name="Text 31"/>
          <p:cNvSpPr/>
          <p:nvPr/>
        </p:nvSpPr>
        <p:spPr>
          <a:xfrm>
            <a:off x="9044788" y="4754880"/>
            <a:ext cx="2606040" cy="411480"/>
          </a:xfrm>
          <a:prstGeom prst="rect">
            <a:avLst/>
          </a:prstGeom>
          <a:noFill/>
          <a:ln/>
        </p:spPr>
        <p:txBody>
          <a:bodyPr wrap="square" lIns="0" tIns="0" rIns="0" bIns="0" rtlCol="0" anchor="ctr"/>
          <a:lstStyle/>
          <a:p>
            <a:pPr marL="0" indent="0" algn="ctr">
              <a:buNone/>
            </a:pPr>
            <a:r>
              <a:rPr lang="en-US" sz="2200" b="1" dirty="0">
                <a:solidFill>
                  <a:srgbClr val="4036ED"/>
                </a:solidFill>
                <a:latin typeface="Malgun Gothic" pitchFamily="34" charset="0"/>
                <a:ea typeface="Malgun Gothic" pitchFamily="34" charset="-122"/>
                <a:cs typeface="Malgun Gothic" pitchFamily="34" charset="-120"/>
              </a:rPr>
              <a:t>공  ·  kong</a:t>
            </a:r>
            <a:endParaRPr lang="en-US" sz="2200" dirty="0"/>
          </a:p>
        </p:txBody>
      </p:sp>
      <p:sp>
        <p:nvSpPr>
          <p:cNvPr id="34" name="Text 32"/>
          <p:cNvSpPr/>
          <p:nvPr/>
        </p:nvSpPr>
        <p:spPr>
          <a:xfrm>
            <a:off x="9181948" y="5257800"/>
            <a:ext cx="2331720" cy="868680"/>
          </a:xfrm>
          <a:prstGeom prst="rect">
            <a:avLst/>
          </a:prstGeom>
          <a:noFill/>
          <a:ln/>
        </p:spPr>
        <p:txBody>
          <a:bodyPr wrap="square" lIns="0" tIns="0" rIns="0" bIns="0" rtlCol="0" anchor="t"/>
          <a:lstStyle/>
          <a:p>
            <a:pPr marL="0" indent="0" algn="ctr">
              <a:buNone/>
            </a:pPr>
            <a:r>
              <a:rPr lang="en-US" sz="1100" i="1" dirty="0">
                <a:solidFill>
                  <a:srgbClr val="4A4A55"/>
                </a:solidFill>
                <a:latin typeface="Calibri" pitchFamily="34" charset="0"/>
                <a:ea typeface="Calibri" pitchFamily="34" charset="-122"/>
                <a:cs typeface="Calibri" pitchFamily="34" charset="-120"/>
              </a:rPr>
              <a:t>Igual + batchim al final</a:t>
            </a:r>
            <a:endParaRPr lang="en-US" sz="1100" dirty="0"/>
          </a:p>
        </p:txBody>
      </p:sp>
      <p:pic>
        <p:nvPicPr>
          <p:cNvPr id="35" name="Image 0" descr="preencoded.png"/>
          <p:cNvPicPr>
            <a:picLocks noChangeAspect="1"/>
          </p:cNvPicPr>
          <p:nvPr/>
        </p:nvPicPr>
        <p:blipFill>
          <a:blip r:embed="rId3"/>
          <a:stretch>
            <a:fillRect/>
          </a:stretch>
        </p:blipFill>
        <p:spPr>
          <a:xfrm>
            <a:off x="11597335" y="182880"/>
            <a:ext cx="292608" cy="292608"/>
          </a:xfrm>
          <a:prstGeom prst="rect">
            <a:avLst/>
          </a:prstGeom>
        </p:spPr>
      </p:pic>
      <p:sp>
        <p:nvSpPr>
          <p:cNvPr id="36" name="Text 33"/>
          <p:cNvSpPr/>
          <p:nvPr/>
        </p:nvSpPr>
        <p:spPr>
          <a:xfrm>
            <a:off x="365760" y="6446520"/>
            <a:ext cx="5486400" cy="228600"/>
          </a:xfrm>
          <a:prstGeom prst="rect">
            <a:avLst/>
          </a:prstGeom>
          <a:noFill/>
          <a:ln/>
        </p:spPr>
        <p:txBody>
          <a:bodyPr wrap="square" lIns="0" tIns="0" rIns="0" bIns="0" rtlCol="0" anchor="ctr"/>
          <a:lstStyle/>
          <a:p>
            <a:pPr marL="0" indent="0">
              <a:buNone/>
            </a:pPr>
            <a:r>
              <a:rPr lang="en-US" sz="800" kern="0" spc="300" dirty="0">
                <a:solidFill>
                  <a:srgbClr val="4A4A55"/>
                </a:solidFill>
                <a:latin typeface="Calibri" pitchFamily="34" charset="0"/>
                <a:ea typeface="Calibri" pitchFamily="34" charset="-122"/>
                <a:cs typeface="Calibri" pitchFamily="34" charset="-120"/>
              </a:rPr>
              <a:t>ACADEMIA SEÚL  ·  METHOD CHINGU™</a:t>
            </a:r>
            <a:endParaRPr lang="en-US" sz="800" dirty="0"/>
          </a:p>
        </p:txBody>
      </p:sp>
      <p:sp>
        <p:nvSpPr>
          <p:cNvPr id="37" name="Text 34"/>
          <p:cNvSpPr/>
          <p:nvPr/>
        </p:nvSpPr>
        <p:spPr>
          <a:xfrm>
            <a:off x="11277295" y="6446520"/>
            <a:ext cx="548640" cy="228600"/>
          </a:xfrm>
          <a:prstGeom prst="rect">
            <a:avLst/>
          </a:prstGeom>
          <a:noFill/>
          <a:ln/>
        </p:spPr>
        <p:txBody>
          <a:bodyPr wrap="square" lIns="0" tIns="0" rIns="0" bIns="0" rtlCol="0" anchor="ctr"/>
          <a:lstStyle/>
          <a:p>
            <a:pPr marL="0" indent="0" algn="r">
              <a:buNone/>
            </a:pPr>
            <a:r>
              <a:rPr lang="en-US" sz="800" dirty="0">
                <a:solidFill>
                  <a:srgbClr val="4A4A55"/>
                </a:solidFill>
                <a:latin typeface="Calibri" pitchFamily="34" charset="0"/>
                <a:ea typeface="Calibri" pitchFamily="34" charset="-122"/>
                <a:cs typeface="Calibri" pitchFamily="34" charset="-120"/>
              </a:rPr>
              <a:t>65</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 · SÍLABAS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 regla mágica del Hangul</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Aquí está la magia del Hangul.</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CADA sílaba se mete dentro de un cuadrado imaginario.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consonante va a la izquierda o arriba.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La vocal va a la derecha o abajo.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JUNTAS forman UN bloque que es UNA sílaba.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ㄴ + ㅏ no se escribe 'na' en dos letras separadas.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Se escribe 나 — en UN solo cuadro.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 como un TETRIS coreano.</a:t>
            </a:r>
            <a:endParaRPr lang="en-US" sz="1400" dirty="0"/>
          </a:p>
        </p:txBody>
      </p:sp>
      <p:sp>
        <p:nvSpPr>
          <p:cNvPr id="5" name="Shape 3"/>
          <p:cNvSpPr/>
          <p:nvPr/>
        </p:nvSpPr>
        <p:spPr>
          <a:xfrm>
            <a:off x="6766560" y="1828800"/>
            <a:ext cx="4846320" cy="4389120"/>
          </a:xfrm>
          <a:prstGeom prst="roundRect">
            <a:avLst>
              <a:gd name="adj" fmla="val 3125"/>
            </a:avLst>
          </a:prstGeom>
          <a:solidFill>
            <a:srgbClr val="FF5C5C"/>
          </a:solidFill>
          <a:ln w="12700">
            <a:solidFill>
              <a:srgbClr val="FF5C5C"/>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나</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ㄴ + ㅏ</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 UN cuadrado</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16  ·  TALLER</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§6.1 · REGLAS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Las 2 reglas de posición</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1 · Vocal VERTICAL (ㅏ ㅓ ㅣ)</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 la IZQUIERDA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나 (na)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비 (bi)</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서 (seo)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REGLA 2 · Vocal HORIZONTAL (ㅗ ㅜ ㅡ)</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Consonante ARRIBA</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Ejemplos:</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모 (mo)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두 (du)</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그 (geu)</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ESO ES TODO. Con esas 2 reglas, pueden leer Hangul.</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 →</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(2 reglas)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Vertical / Horizontal</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17  ·  TALLER</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§6.2 · LECTURA</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Lee conmigo · palabras reales</a:t>
            </a:r>
            <a:endParaRPr lang="en-US" sz="2600" dirty="0"/>
          </a:p>
        </p:txBody>
      </p:sp>
      <p:sp>
        <p:nvSpPr>
          <p:cNvPr id="4" name="Shape 2"/>
          <p:cNvSpPr/>
          <p:nvPr/>
        </p:nvSpPr>
        <p:spPr>
          <a:xfrm>
            <a:off x="548640" y="1828800"/>
            <a:ext cx="3657600" cy="1524000"/>
          </a:xfrm>
          <a:prstGeom prst="roundRect">
            <a:avLst>
              <a:gd name="adj" fmla="val 6000"/>
            </a:avLst>
          </a:prstGeom>
          <a:solidFill>
            <a:srgbClr val="FF5C5C"/>
          </a:solidFill>
          <a:ln w="12700">
            <a:solidFill>
              <a:srgbClr val="FF5C5C"/>
            </a:solidFill>
            <a:prstDash val="solid"/>
          </a:ln>
        </p:spPr>
      </p:sp>
      <p:sp>
        <p:nvSpPr>
          <p:cNvPr id="5" name="Text 3"/>
          <p:cNvSpPr/>
          <p:nvPr/>
        </p:nvSpPr>
        <p:spPr>
          <a:xfrm>
            <a:off x="548640"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나</a:t>
            </a:r>
            <a:endParaRPr lang="en-US" sz="2600" dirty="0"/>
          </a:p>
        </p:txBody>
      </p:sp>
      <p:sp>
        <p:nvSpPr>
          <p:cNvPr id="6" name="Text 4"/>
          <p:cNvSpPr/>
          <p:nvPr/>
        </p:nvSpPr>
        <p:spPr>
          <a:xfrm>
            <a:off x="548640"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na (yo)</a:t>
            </a:r>
            <a:endParaRPr lang="en-US" sz="1200" dirty="0"/>
          </a:p>
        </p:txBody>
      </p:sp>
      <p:sp>
        <p:nvSpPr>
          <p:cNvPr id="7" name="Shape 5"/>
          <p:cNvSpPr/>
          <p:nvPr/>
        </p:nvSpPr>
        <p:spPr>
          <a:xfrm>
            <a:off x="4325112" y="1828800"/>
            <a:ext cx="3657600" cy="1524000"/>
          </a:xfrm>
          <a:prstGeom prst="roundRect">
            <a:avLst>
              <a:gd name="adj" fmla="val 6000"/>
            </a:avLst>
          </a:prstGeom>
          <a:solidFill>
            <a:srgbClr val="E8E5F8"/>
          </a:solidFill>
          <a:ln w="12700">
            <a:solidFill>
              <a:srgbClr val="E8E5F8"/>
            </a:solidFill>
            <a:prstDash val="solid"/>
          </a:ln>
        </p:spPr>
      </p:sp>
      <p:sp>
        <p:nvSpPr>
          <p:cNvPr id="8" name="Text 6"/>
          <p:cNvSpPr/>
          <p:nvPr/>
        </p:nvSpPr>
        <p:spPr>
          <a:xfrm>
            <a:off x="4325112" y="1965960"/>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너</a:t>
            </a:r>
            <a:endParaRPr lang="en-US" sz="2600" dirty="0"/>
          </a:p>
        </p:txBody>
      </p:sp>
      <p:sp>
        <p:nvSpPr>
          <p:cNvPr id="9" name="Text 7"/>
          <p:cNvSpPr/>
          <p:nvPr/>
        </p:nvSpPr>
        <p:spPr>
          <a:xfrm>
            <a:off x="4325112" y="2743200"/>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neo (tú)</a:t>
            </a:r>
            <a:endParaRPr lang="en-US" sz="1200" dirty="0"/>
          </a:p>
        </p:txBody>
      </p:sp>
      <p:sp>
        <p:nvSpPr>
          <p:cNvPr id="10" name="Shape 8"/>
          <p:cNvSpPr/>
          <p:nvPr/>
        </p:nvSpPr>
        <p:spPr>
          <a:xfrm>
            <a:off x="8101584" y="1828800"/>
            <a:ext cx="3657600" cy="1524000"/>
          </a:xfrm>
          <a:prstGeom prst="roundRect">
            <a:avLst>
              <a:gd name="adj" fmla="val 6000"/>
            </a:avLst>
          </a:prstGeom>
          <a:solidFill>
            <a:srgbClr val="3D2EE8"/>
          </a:solidFill>
          <a:ln w="12700">
            <a:solidFill>
              <a:srgbClr val="3D2EE8"/>
            </a:solidFill>
            <a:prstDash val="solid"/>
          </a:ln>
        </p:spPr>
      </p:sp>
      <p:sp>
        <p:nvSpPr>
          <p:cNvPr id="11" name="Text 9"/>
          <p:cNvSpPr/>
          <p:nvPr/>
        </p:nvSpPr>
        <p:spPr>
          <a:xfrm>
            <a:off x="8101584" y="1965960"/>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우리</a:t>
            </a:r>
            <a:endParaRPr lang="en-US" sz="2600" dirty="0"/>
          </a:p>
        </p:txBody>
      </p:sp>
      <p:sp>
        <p:nvSpPr>
          <p:cNvPr id="12" name="Text 10"/>
          <p:cNvSpPr/>
          <p:nvPr/>
        </p:nvSpPr>
        <p:spPr>
          <a:xfrm>
            <a:off x="8101584" y="2743200"/>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uri (nosotros)</a:t>
            </a:r>
            <a:endParaRPr lang="en-US" sz="1200" dirty="0"/>
          </a:p>
        </p:txBody>
      </p:sp>
      <p:sp>
        <p:nvSpPr>
          <p:cNvPr id="13" name="Shape 11"/>
          <p:cNvSpPr/>
          <p:nvPr/>
        </p:nvSpPr>
        <p:spPr>
          <a:xfrm>
            <a:off x="548640" y="3471672"/>
            <a:ext cx="3657600" cy="1524000"/>
          </a:xfrm>
          <a:prstGeom prst="roundRect">
            <a:avLst>
              <a:gd name="adj" fmla="val 6000"/>
            </a:avLst>
          </a:prstGeom>
          <a:solidFill>
            <a:srgbClr val="FF5C5C"/>
          </a:solidFill>
          <a:ln w="12700">
            <a:solidFill>
              <a:srgbClr val="FF5C5C"/>
            </a:solidFill>
            <a:prstDash val="solid"/>
          </a:ln>
        </p:spPr>
      </p:sp>
      <p:sp>
        <p:nvSpPr>
          <p:cNvPr id="14" name="Text 12"/>
          <p:cNvSpPr/>
          <p:nvPr/>
        </p:nvSpPr>
        <p:spPr>
          <a:xfrm>
            <a:off x="548640"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사랑</a:t>
            </a:r>
            <a:endParaRPr lang="en-US" sz="2600" dirty="0"/>
          </a:p>
        </p:txBody>
      </p:sp>
      <p:sp>
        <p:nvSpPr>
          <p:cNvPr id="15" name="Text 13"/>
          <p:cNvSpPr/>
          <p:nvPr/>
        </p:nvSpPr>
        <p:spPr>
          <a:xfrm>
            <a:off x="548640"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sa-rang (amor)</a:t>
            </a:r>
            <a:endParaRPr lang="en-US" sz="1200" dirty="0"/>
          </a:p>
        </p:txBody>
      </p:sp>
      <p:sp>
        <p:nvSpPr>
          <p:cNvPr id="16" name="Shape 14"/>
          <p:cNvSpPr/>
          <p:nvPr/>
        </p:nvSpPr>
        <p:spPr>
          <a:xfrm>
            <a:off x="4325112" y="3471672"/>
            <a:ext cx="3657600" cy="1524000"/>
          </a:xfrm>
          <a:prstGeom prst="roundRect">
            <a:avLst>
              <a:gd name="adj" fmla="val 6000"/>
            </a:avLst>
          </a:prstGeom>
          <a:solidFill>
            <a:srgbClr val="E8E5F8"/>
          </a:solidFill>
          <a:ln w="12700">
            <a:solidFill>
              <a:srgbClr val="E8E5F8"/>
            </a:solidFill>
            <a:prstDash val="solid"/>
          </a:ln>
        </p:spPr>
      </p:sp>
      <p:sp>
        <p:nvSpPr>
          <p:cNvPr id="17" name="Text 15"/>
          <p:cNvSpPr/>
          <p:nvPr/>
        </p:nvSpPr>
        <p:spPr>
          <a:xfrm>
            <a:off x="4325112" y="3608832"/>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한국</a:t>
            </a:r>
            <a:endParaRPr lang="en-US" sz="2600" dirty="0"/>
          </a:p>
        </p:txBody>
      </p:sp>
      <p:sp>
        <p:nvSpPr>
          <p:cNvPr id="18" name="Text 16"/>
          <p:cNvSpPr/>
          <p:nvPr/>
        </p:nvSpPr>
        <p:spPr>
          <a:xfrm>
            <a:off x="4325112" y="4386072"/>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han-guk (Corea)</a:t>
            </a:r>
            <a:endParaRPr lang="en-US" sz="1200" dirty="0"/>
          </a:p>
        </p:txBody>
      </p:sp>
      <p:sp>
        <p:nvSpPr>
          <p:cNvPr id="19" name="Shape 17"/>
          <p:cNvSpPr/>
          <p:nvPr/>
        </p:nvSpPr>
        <p:spPr>
          <a:xfrm>
            <a:off x="8101584" y="3471672"/>
            <a:ext cx="3657600" cy="1524000"/>
          </a:xfrm>
          <a:prstGeom prst="roundRect">
            <a:avLst>
              <a:gd name="adj" fmla="val 6000"/>
            </a:avLst>
          </a:prstGeom>
          <a:solidFill>
            <a:srgbClr val="3D2EE8"/>
          </a:solidFill>
          <a:ln w="12700">
            <a:solidFill>
              <a:srgbClr val="3D2EE8"/>
            </a:solidFill>
            <a:prstDash val="solid"/>
          </a:ln>
        </p:spPr>
      </p:sp>
      <p:sp>
        <p:nvSpPr>
          <p:cNvPr id="20" name="Text 18"/>
          <p:cNvSpPr/>
          <p:nvPr/>
        </p:nvSpPr>
        <p:spPr>
          <a:xfrm>
            <a:off x="8101584" y="3608832"/>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서울</a:t>
            </a:r>
            <a:endParaRPr lang="en-US" sz="2600" dirty="0"/>
          </a:p>
        </p:txBody>
      </p:sp>
      <p:sp>
        <p:nvSpPr>
          <p:cNvPr id="21" name="Text 19"/>
          <p:cNvSpPr/>
          <p:nvPr/>
        </p:nvSpPr>
        <p:spPr>
          <a:xfrm>
            <a:off x="8101584" y="4386072"/>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seo-ul (Seúl)</a:t>
            </a:r>
            <a:endParaRPr lang="en-US" sz="1200" dirty="0"/>
          </a:p>
        </p:txBody>
      </p:sp>
      <p:sp>
        <p:nvSpPr>
          <p:cNvPr id="22" name="Shape 20"/>
          <p:cNvSpPr/>
          <p:nvPr/>
        </p:nvSpPr>
        <p:spPr>
          <a:xfrm>
            <a:off x="548640" y="5114544"/>
            <a:ext cx="3657600" cy="1524000"/>
          </a:xfrm>
          <a:prstGeom prst="roundRect">
            <a:avLst>
              <a:gd name="adj" fmla="val 6000"/>
            </a:avLst>
          </a:prstGeom>
          <a:solidFill>
            <a:srgbClr val="FF5C5C"/>
          </a:solidFill>
          <a:ln w="12700">
            <a:solidFill>
              <a:srgbClr val="FF5C5C"/>
            </a:solidFill>
            <a:prstDash val="solid"/>
          </a:ln>
        </p:spPr>
      </p:sp>
      <p:sp>
        <p:nvSpPr>
          <p:cNvPr id="23" name="Text 21"/>
          <p:cNvSpPr/>
          <p:nvPr/>
        </p:nvSpPr>
        <p:spPr>
          <a:xfrm>
            <a:off x="548640" y="5251704"/>
            <a:ext cx="3657600" cy="762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김치</a:t>
            </a:r>
            <a:endParaRPr lang="en-US" sz="2600" dirty="0"/>
          </a:p>
        </p:txBody>
      </p:sp>
      <p:sp>
        <p:nvSpPr>
          <p:cNvPr id="24" name="Text 22"/>
          <p:cNvSpPr/>
          <p:nvPr/>
        </p:nvSpPr>
        <p:spPr>
          <a:xfrm>
            <a:off x="548640" y="6028944"/>
            <a:ext cx="3657600" cy="5334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kim-chi</a:t>
            </a:r>
            <a:endParaRPr lang="en-US" sz="1200" dirty="0"/>
          </a:p>
        </p:txBody>
      </p:sp>
      <p:sp>
        <p:nvSpPr>
          <p:cNvPr id="25" name="Shape 23"/>
          <p:cNvSpPr/>
          <p:nvPr/>
        </p:nvSpPr>
        <p:spPr>
          <a:xfrm>
            <a:off x="4325112" y="5114544"/>
            <a:ext cx="3657600" cy="1524000"/>
          </a:xfrm>
          <a:prstGeom prst="roundRect">
            <a:avLst>
              <a:gd name="adj" fmla="val 6000"/>
            </a:avLst>
          </a:prstGeom>
          <a:solidFill>
            <a:srgbClr val="E8E5F8"/>
          </a:solidFill>
          <a:ln w="12700">
            <a:solidFill>
              <a:srgbClr val="E8E5F8"/>
            </a:solidFill>
            <a:prstDash val="solid"/>
          </a:ln>
        </p:spPr>
      </p:sp>
      <p:sp>
        <p:nvSpPr>
          <p:cNvPr id="26" name="Text 24"/>
          <p:cNvSpPr/>
          <p:nvPr/>
        </p:nvSpPr>
        <p:spPr>
          <a:xfrm>
            <a:off x="4325112" y="5251704"/>
            <a:ext cx="3657600" cy="762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라면</a:t>
            </a:r>
            <a:endParaRPr lang="en-US" sz="2600" dirty="0"/>
          </a:p>
        </p:txBody>
      </p:sp>
      <p:sp>
        <p:nvSpPr>
          <p:cNvPr id="27" name="Text 25"/>
          <p:cNvSpPr/>
          <p:nvPr/>
        </p:nvSpPr>
        <p:spPr>
          <a:xfrm>
            <a:off x="4325112" y="6028944"/>
            <a:ext cx="3657600" cy="5334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ra-myeon</a:t>
            </a:r>
            <a:endParaRPr lang="en-US" sz="1200" dirty="0"/>
          </a:p>
        </p:txBody>
      </p:sp>
      <p:pic>
        <p:nvPicPr>
          <p:cNvPr id="28"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9"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30" name="Text 26"/>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31" name="Text 27"/>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18  ·  TALLER</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FF5C5C"/>
                </a:solidFill>
                <a:latin typeface="Calibri" pitchFamily="34" charset="0"/>
                <a:ea typeface="Calibri" pitchFamily="34" charset="-122"/>
                <a:cs typeface="Calibri" pitchFamily="34" charset="-120"/>
              </a:rPr>
              <a:t>§7.1 · NOMBRES</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Ejemplos de nombres en Hangul</a:t>
            </a:r>
            <a:endParaRPr lang="en-US" sz="2600" dirty="0"/>
          </a:p>
        </p:txBody>
      </p:sp>
      <p:sp>
        <p:nvSpPr>
          <p:cNvPr id="4" name="Shape 2"/>
          <p:cNvSpPr/>
          <p:nvPr/>
        </p:nvSpPr>
        <p:spPr>
          <a:xfrm>
            <a:off x="548640" y="1828800"/>
            <a:ext cx="3657600" cy="2286000"/>
          </a:xfrm>
          <a:prstGeom prst="roundRect">
            <a:avLst>
              <a:gd name="adj" fmla="val 4000"/>
            </a:avLst>
          </a:prstGeom>
          <a:solidFill>
            <a:srgbClr val="FF5C5C"/>
          </a:solidFill>
          <a:ln w="12700">
            <a:solidFill>
              <a:srgbClr val="FF5C5C"/>
            </a:solidFill>
            <a:prstDash val="solid"/>
          </a:ln>
        </p:spPr>
      </p:sp>
      <p:sp>
        <p:nvSpPr>
          <p:cNvPr id="5" name="Text 3"/>
          <p:cNvSpPr/>
          <p:nvPr/>
        </p:nvSpPr>
        <p:spPr>
          <a:xfrm>
            <a:off x="548640"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아나</a:t>
            </a:r>
            <a:endParaRPr lang="en-US" sz="2600" dirty="0"/>
          </a:p>
        </p:txBody>
      </p:sp>
      <p:sp>
        <p:nvSpPr>
          <p:cNvPr id="6" name="Text 4"/>
          <p:cNvSpPr/>
          <p:nvPr/>
        </p:nvSpPr>
        <p:spPr>
          <a:xfrm>
            <a:off x="548640"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Ana</a:t>
            </a:r>
            <a:endParaRPr lang="en-US" sz="1200" dirty="0"/>
          </a:p>
        </p:txBody>
      </p:sp>
      <p:sp>
        <p:nvSpPr>
          <p:cNvPr id="7" name="Shape 5"/>
          <p:cNvSpPr/>
          <p:nvPr/>
        </p:nvSpPr>
        <p:spPr>
          <a:xfrm>
            <a:off x="4325112" y="1828800"/>
            <a:ext cx="3657600" cy="2286000"/>
          </a:xfrm>
          <a:prstGeom prst="roundRect">
            <a:avLst>
              <a:gd name="adj" fmla="val 4000"/>
            </a:avLst>
          </a:prstGeom>
          <a:solidFill>
            <a:srgbClr val="E8E5F8"/>
          </a:solidFill>
          <a:ln w="12700">
            <a:solidFill>
              <a:srgbClr val="E8E5F8"/>
            </a:solidFill>
            <a:prstDash val="solid"/>
          </a:ln>
        </p:spPr>
      </p:sp>
      <p:sp>
        <p:nvSpPr>
          <p:cNvPr id="8" name="Text 6"/>
          <p:cNvSpPr/>
          <p:nvPr/>
        </p:nvSpPr>
        <p:spPr>
          <a:xfrm>
            <a:off x="4325112" y="1965960"/>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마리아</a:t>
            </a:r>
            <a:endParaRPr lang="en-US" sz="2600" dirty="0"/>
          </a:p>
        </p:txBody>
      </p:sp>
      <p:sp>
        <p:nvSpPr>
          <p:cNvPr id="9" name="Text 7"/>
          <p:cNvSpPr/>
          <p:nvPr/>
        </p:nvSpPr>
        <p:spPr>
          <a:xfrm>
            <a:off x="4325112" y="3200400"/>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María</a:t>
            </a:r>
            <a:endParaRPr lang="en-US" sz="1200" dirty="0"/>
          </a:p>
        </p:txBody>
      </p:sp>
      <p:sp>
        <p:nvSpPr>
          <p:cNvPr id="10" name="Shape 8"/>
          <p:cNvSpPr/>
          <p:nvPr/>
        </p:nvSpPr>
        <p:spPr>
          <a:xfrm>
            <a:off x="8101584" y="1828800"/>
            <a:ext cx="3657600" cy="2286000"/>
          </a:xfrm>
          <a:prstGeom prst="roundRect">
            <a:avLst>
              <a:gd name="adj" fmla="val 4000"/>
            </a:avLst>
          </a:prstGeom>
          <a:solidFill>
            <a:srgbClr val="3D2EE8"/>
          </a:solidFill>
          <a:ln w="12700">
            <a:solidFill>
              <a:srgbClr val="3D2EE8"/>
            </a:solidFill>
            <a:prstDash val="solid"/>
          </a:ln>
        </p:spPr>
      </p:sp>
      <p:sp>
        <p:nvSpPr>
          <p:cNvPr id="11" name="Text 9"/>
          <p:cNvSpPr/>
          <p:nvPr/>
        </p:nvSpPr>
        <p:spPr>
          <a:xfrm>
            <a:off x="8101584" y="1965960"/>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루이스</a:t>
            </a:r>
            <a:endParaRPr lang="en-US" sz="2600" dirty="0"/>
          </a:p>
        </p:txBody>
      </p:sp>
      <p:sp>
        <p:nvSpPr>
          <p:cNvPr id="12" name="Text 10"/>
          <p:cNvSpPr/>
          <p:nvPr/>
        </p:nvSpPr>
        <p:spPr>
          <a:xfrm>
            <a:off x="8101584" y="3200400"/>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Luis (lu-i-seu)</a:t>
            </a:r>
            <a:endParaRPr lang="en-US" sz="1200" dirty="0"/>
          </a:p>
        </p:txBody>
      </p:sp>
      <p:sp>
        <p:nvSpPr>
          <p:cNvPr id="13" name="Shape 11"/>
          <p:cNvSpPr/>
          <p:nvPr/>
        </p:nvSpPr>
        <p:spPr>
          <a:xfrm>
            <a:off x="548640" y="4233672"/>
            <a:ext cx="3657600" cy="2286000"/>
          </a:xfrm>
          <a:prstGeom prst="roundRect">
            <a:avLst>
              <a:gd name="adj" fmla="val 4000"/>
            </a:avLst>
          </a:prstGeom>
          <a:solidFill>
            <a:srgbClr val="FF5C5C"/>
          </a:solidFill>
          <a:ln w="12700">
            <a:solidFill>
              <a:srgbClr val="FF5C5C"/>
            </a:solidFill>
            <a:prstDash val="solid"/>
          </a:ln>
        </p:spPr>
      </p:sp>
      <p:sp>
        <p:nvSpPr>
          <p:cNvPr id="14" name="Text 12"/>
          <p:cNvSpPr/>
          <p:nvPr/>
        </p:nvSpPr>
        <p:spPr>
          <a:xfrm>
            <a:off x="548640"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디에고</a:t>
            </a:r>
            <a:endParaRPr lang="en-US" sz="2600" dirty="0"/>
          </a:p>
        </p:txBody>
      </p:sp>
      <p:sp>
        <p:nvSpPr>
          <p:cNvPr id="15" name="Text 13"/>
          <p:cNvSpPr/>
          <p:nvPr/>
        </p:nvSpPr>
        <p:spPr>
          <a:xfrm>
            <a:off x="548640"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Diego</a:t>
            </a:r>
            <a:endParaRPr lang="en-US" sz="1200" dirty="0"/>
          </a:p>
        </p:txBody>
      </p:sp>
      <p:sp>
        <p:nvSpPr>
          <p:cNvPr id="16" name="Shape 14"/>
          <p:cNvSpPr/>
          <p:nvPr/>
        </p:nvSpPr>
        <p:spPr>
          <a:xfrm>
            <a:off x="4325112" y="4233672"/>
            <a:ext cx="3657600" cy="2286000"/>
          </a:xfrm>
          <a:prstGeom prst="roundRect">
            <a:avLst>
              <a:gd name="adj" fmla="val 4000"/>
            </a:avLst>
          </a:prstGeom>
          <a:solidFill>
            <a:srgbClr val="E8E5F8"/>
          </a:solidFill>
          <a:ln w="12700">
            <a:solidFill>
              <a:srgbClr val="E8E5F8"/>
            </a:solidFill>
            <a:prstDash val="solid"/>
          </a:ln>
        </p:spPr>
      </p:sp>
      <p:sp>
        <p:nvSpPr>
          <p:cNvPr id="17" name="Text 15"/>
          <p:cNvSpPr/>
          <p:nvPr/>
        </p:nvSpPr>
        <p:spPr>
          <a:xfrm>
            <a:off x="4325112" y="4370832"/>
            <a:ext cx="3657600" cy="1143000"/>
          </a:xfrm>
          <a:prstGeom prst="rect">
            <a:avLst/>
          </a:prstGeom>
          <a:noFill/>
          <a:ln/>
        </p:spPr>
        <p:txBody>
          <a:bodyPr wrap="square" rtlCol="0" anchor="ctr"/>
          <a:lstStyle/>
          <a:p>
            <a:pPr marL="0" indent="0" algn="ctr">
              <a:buNone/>
            </a:pPr>
            <a:r>
              <a:rPr lang="en-US" sz="2600" b="1" dirty="0">
                <a:solidFill>
                  <a:srgbClr val="1A1A2E"/>
                </a:solidFill>
                <a:latin typeface="Malgun Gothic" pitchFamily="34" charset="0"/>
                <a:ea typeface="Malgun Gothic" pitchFamily="34" charset="-122"/>
                <a:cs typeface="Malgun Gothic" pitchFamily="34" charset="-120"/>
              </a:rPr>
              <a:t>카롤리나</a:t>
            </a:r>
            <a:endParaRPr lang="en-US" sz="2600" dirty="0"/>
          </a:p>
        </p:txBody>
      </p:sp>
      <p:sp>
        <p:nvSpPr>
          <p:cNvPr id="18" name="Text 16"/>
          <p:cNvSpPr/>
          <p:nvPr/>
        </p:nvSpPr>
        <p:spPr>
          <a:xfrm>
            <a:off x="4325112" y="5605272"/>
            <a:ext cx="3657600" cy="800100"/>
          </a:xfrm>
          <a:prstGeom prst="rect">
            <a:avLst/>
          </a:prstGeom>
          <a:noFill/>
          <a:ln/>
        </p:spPr>
        <p:txBody>
          <a:bodyPr wrap="square" rtlCol="0" anchor="ctr"/>
          <a:lstStyle/>
          <a:p>
            <a:pPr marL="0" indent="0" algn="ctr">
              <a:buNone/>
            </a:pPr>
            <a:r>
              <a:rPr lang="en-US" sz="1200" i="1" dirty="0">
                <a:solidFill>
                  <a:srgbClr val="1A1A2E"/>
                </a:solidFill>
                <a:latin typeface="Calibri" pitchFamily="34" charset="0"/>
                <a:ea typeface="Calibri" pitchFamily="34" charset="-122"/>
                <a:cs typeface="Calibri" pitchFamily="34" charset="-120"/>
              </a:rPr>
              <a:t>Carolina</a:t>
            </a:r>
            <a:endParaRPr lang="en-US" sz="1200" dirty="0"/>
          </a:p>
        </p:txBody>
      </p:sp>
      <p:sp>
        <p:nvSpPr>
          <p:cNvPr id="19" name="Shape 17"/>
          <p:cNvSpPr/>
          <p:nvPr/>
        </p:nvSpPr>
        <p:spPr>
          <a:xfrm>
            <a:off x="8101584" y="4233672"/>
            <a:ext cx="3657600" cy="2286000"/>
          </a:xfrm>
          <a:prstGeom prst="roundRect">
            <a:avLst>
              <a:gd name="adj" fmla="val 4000"/>
            </a:avLst>
          </a:prstGeom>
          <a:solidFill>
            <a:srgbClr val="3D2EE8"/>
          </a:solidFill>
          <a:ln w="12700">
            <a:solidFill>
              <a:srgbClr val="3D2EE8"/>
            </a:solidFill>
            <a:prstDash val="solid"/>
          </a:ln>
        </p:spPr>
      </p:sp>
      <p:sp>
        <p:nvSpPr>
          <p:cNvPr id="20" name="Text 18"/>
          <p:cNvSpPr/>
          <p:nvPr/>
        </p:nvSpPr>
        <p:spPr>
          <a:xfrm>
            <a:off x="8101584" y="4370832"/>
            <a:ext cx="3657600" cy="1143000"/>
          </a:xfrm>
          <a:prstGeom prst="rect">
            <a:avLst/>
          </a:prstGeom>
          <a:noFill/>
          <a:ln/>
        </p:spPr>
        <p:txBody>
          <a:bodyPr wrap="square" rtlCol="0" anchor="ctr"/>
          <a:lstStyle/>
          <a:p>
            <a:pPr marL="0" indent="0" algn="ctr">
              <a:buNone/>
            </a:pPr>
            <a:r>
              <a:rPr lang="en-US" sz="2600" b="1" dirty="0">
                <a:solidFill>
                  <a:srgbClr val="FFFFFF"/>
                </a:solidFill>
                <a:latin typeface="Malgun Gothic" pitchFamily="34" charset="0"/>
                <a:ea typeface="Malgun Gothic" pitchFamily="34" charset="-122"/>
                <a:cs typeface="Malgun Gothic" pitchFamily="34" charset="-120"/>
              </a:rPr>
              <a:t>제이</a:t>
            </a:r>
            <a:endParaRPr lang="en-US" sz="2600" dirty="0"/>
          </a:p>
        </p:txBody>
      </p:sp>
      <p:sp>
        <p:nvSpPr>
          <p:cNvPr id="21" name="Text 19"/>
          <p:cNvSpPr/>
          <p:nvPr/>
        </p:nvSpPr>
        <p:spPr>
          <a:xfrm>
            <a:off x="8101584" y="5605272"/>
            <a:ext cx="3657600" cy="800100"/>
          </a:xfrm>
          <a:prstGeom prst="rect">
            <a:avLst/>
          </a:prstGeom>
          <a:noFill/>
          <a:ln/>
        </p:spPr>
        <p:txBody>
          <a:bodyPr wrap="square" rtlCol="0" anchor="ctr"/>
          <a:lstStyle/>
          <a:p>
            <a:pPr marL="0" indent="0" algn="ctr">
              <a:buNone/>
            </a:pPr>
            <a:r>
              <a:rPr lang="en-US" sz="1200" i="1" dirty="0">
                <a:solidFill>
                  <a:srgbClr val="FFFFFF"/>
                </a:solidFill>
                <a:latin typeface="Calibri" pitchFamily="34" charset="0"/>
                <a:ea typeface="Calibri" pitchFamily="34" charset="-122"/>
                <a:cs typeface="Calibri" pitchFamily="34" charset="-120"/>
              </a:rPr>
              <a:t>Jay (jeyi)</a:t>
            </a:r>
            <a:endParaRPr lang="en-US" sz="1200" dirty="0"/>
          </a:p>
        </p:txBody>
      </p:sp>
      <p:pic>
        <p:nvPicPr>
          <p:cNvPr id="22"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23"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24" name="Text 20"/>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25" name="Text 21"/>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20  ·  TALLER</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21">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74320"/>
            <a:ext cx="914400" cy="914400"/>
          </a:xfrm>
          <a:prstGeom prst="rect">
            <a:avLst/>
          </a:prstGeom>
        </p:spPr>
      </p:pic>
      <p:sp>
        <p:nvSpPr>
          <p:cNvPr id="3" name="Text 0"/>
          <p:cNvSpPr/>
          <p:nvPr/>
        </p:nvSpPr>
        <p:spPr>
          <a:xfrm>
            <a:off x="0" y="1325880"/>
            <a:ext cx="12161520" cy="274320"/>
          </a:xfrm>
          <a:prstGeom prst="rect">
            <a:avLst/>
          </a:prstGeom>
          <a:noFill/>
          <a:ln/>
        </p:spPr>
        <p:txBody>
          <a:bodyPr wrap="square" rtlCol="0" anchor="ctr"/>
          <a:lstStyle/>
          <a:p>
            <a:pPr marL="0" indent="0" algn="ctr">
              <a:buNone/>
            </a:pPr>
            <a:r>
              <a:rPr lang="en-US" sz="1200" b="1" kern="0" spc="800" dirty="0">
                <a:solidFill>
                  <a:srgbClr val="FFFFFF"/>
                </a:solidFill>
                <a:latin typeface="Calibri" pitchFamily="34" charset="0"/>
                <a:ea typeface="Calibri" pitchFamily="34" charset="-122"/>
                <a:cs typeface="Calibri" pitchFamily="34" charset="-120"/>
              </a:rPr>
              <a:t>LO LOGRASTE!</a:t>
            </a:r>
            <a:endParaRPr lang="en-US" sz="1200" dirty="0"/>
          </a:p>
        </p:txBody>
      </p:sp>
      <p:sp>
        <p:nvSpPr>
          <p:cNvPr id="4" name="Text 1"/>
          <p:cNvSpPr/>
          <p:nvPr/>
        </p:nvSpPr>
        <p:spPr>
          <a:xfrm>
            <a:off x="0" y="1691640"/>
            <a:ext cx="12161520" cy="64008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Recapitulemos</a:t>
            </a:r>
            <a:endParaRPr lang="en-US" sz="3000" dirty="0"/>
          </a:p>
        </p:txBody>
      </p:sp>
      <p:sp>
        <p:nvSpPr>
          <p:cNvPr id="5" name="Shape 2"/>
          <p:cNvSpPr/>
          <p:nvPr/>
        </p:nvSpPr>
        <p:spPr>
          <a:xfrm>
            <a:off x="1371600" y="2606040"/>
            <a:ext cx="9418320" cy="2743200"/>
          </a:xfrm>
          <a:prstGeom prst="roundRect">
            <a:avLst>
              <a:gd name="adj" fmla="val 5000"/>
            </a:avLst>
          </a:prstGeom>
          <a:solidFill>
            <a:srgbClr val="FFFFFF"/>
          </a:solidFill>
          <a:ln w="12700">
            <a:solidFill>
              <a:srgbClr val="FFFFFF"/>
            </a:solidFill>
            <a:prstDash val="solid"/>
          </a:ln>
        </p:spPr>
      </p:sp>
      <p:sp>
        <p:nvSpPr>
          <p:cNvPr id="6" name="Text 3"/>
          <p:cNvSpPr/>
          <p:nvPr/>
        </p:nvSpPr>
        <p:spPr>
          <a:xfrm>
            <a:off x="1645920" y="2788920"/>
            <a:ext cx="8869680" cy="2377440"/>
          </a:xfrm>
          <a:prstGeom prst="rect">
            <a:avLst/>
          </a:prstGeom>
          <a:noFill/>
          <a:ln/>
        </p:spPr>
        <p:txBody>
          <a:bodyPr wrap="square" rtlCol="0" anchor="t"/>
          <a:lstStyle/>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Las 6 vocales: ㅏ ㅓ ㅗ ㅜ ㅡ ㅣ</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7 consonantes: ㄱ ㄴ ㄷ ㄹ ㅁ ㅂ ㅅ</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Construcción de sílabas (2 reglas)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Lectura de palabras reales</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 Tu propio nombre en Hangul</a:t>
            </a:r>
            <a:endParaRPr lang="en-US" sz="1500" dirty="0"/>
          </a:p>
          <a:p>
            <a:pPr marL="0" indent="0">
              <a:lnSpc>
                <a:spcPct val="150000"/>
              </a:lnSpc>
              <a:buNone/>
            </a:pP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En 60 minutos aprendieron 13 letras + reglas de combinación.</a:t>
            </a:r>
            <a:endParaRPr lang="en-US" sz="1500" dirty="0"/>
          </a:p>
          <a:p>
            <a:pPr marL="0" indent="0">
              <a:lnSpc>
                <a:spcPct val="150000"/>
              </a:lnSpc>
              <a:buNone/>
            </a:pPr>
            <a:r>
              <a:rPr lang="en-US" sz="1500" dirty="0">
                <a:solidFill>
                  <a:srgbClr val="1A1A2E"/>
                </a:solidFill>
                <a:latin typeface="Calibri" pitchFamily="34" charset="0"/>
                <a:ea typeface="Calibri" pitchFamily="34" charset="-122"/>
                <a:cs typeface="Calibri" pitchFamily="34" charset="-120"/>
              </a:rPr>
              <a:t>La gente paga $200 USD por cursos que enseñan menos.</a:t>
            </a:r>
            <a:endParaRPr lang="en-US" sz="1500" dirty="0"/>
          </a:p>
        </p:txBody>
      </p:sp>
      <p:sp>
        <p:nvSpPr>
          <p:cNvPr id="7" name="Text 4"/>
          <p:cNvSpPr/>
          <p:nvPr/>
        </p:nvSpPr>
        <p:spPr>
          <a:xfrm>
            <a:off x="0" y="5623560"/>
            <a:ext cx="12161520" cy="365760"/>
          </a:xfrm>
          <a:prstGeom prst="rect">
            <a:avLst/>
          </a:prstGeom>
          <a:noFill/>
          <a:ln/>
        </p:spPr>
        <p:txBody>
          <a:bodyPr wrap="square" rtlCol="0" anchor="ctr"/>
          <a:lstStyle/>
          <a:p>
            <a:pPr marL="0" indent="0" algn="ctr">
              <a:buNone/>
            </a:pPr>
            <a:r>
              <a:rPr lang="en-US" sz="1200" b="1" kern="0" spc="600" dirty="0">
                <a:solidFill>
                  <a:srgbClr val="FFFFFF"/>
                </a:solidFill>
                <a:latin typeface="Calibri" pitchFamily="34" charset="0"/>
                <a:ea typeface="Calibri" pitchFamily="34" charset="-122"/>
                <a:cs typeface="Calibri" pitchFamily="34" charset="-120"/>
              </a:rPr>
              <a:t>🎯 AHORA</a:t>
            </a:r>
            <a:endParaRPr lang="en-US" sz="1200" dirty="0"/>
          </a:p>
        </p:txBody>
      </p:sp>
      <p:sp>
        <p:nvSpPr>
          <p:cNvPr id="8" name="Text 5"/>
          <p:cNvSpPr/>
          <p:nvPr/>
        </p:nvSpPr>
        <p:spPr>
          <a:xfrm>
            <a:off x="914400" y="5989320"/>
            <a:ext cx="10332720" cy="54864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Subí tu nombre en Hangul al chat AHORA — quiero verlos a todos</a:t>
            </a:r>
            <a:endParaRPr lang="en-US" sz="14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274320"/>
          </a:xfrm>
          <a:prstGeom prst="rect">
            <a:avLst/>
          </a:prstGeom>
          <a:noFill/>
          <a:ln/>
        </p:spPr>
        <p:txBody>
          <a:bodyPr wrap="square" rtlCol="0" anchor="ctr"/>
          <a:lstStyle/>
          <a:p>
            <a:pPr marL="0" indent="0">
              <a:buNone/>
            </a:pPr>
            <a:r>
              <a:rPr lang="en-US" sz="900" b="1" kern="0" spc="600" dirty="0">
                <a:solidFill>
                  <a:srgbClr val="3D2EE8"/>
                </a:solidFill>
                <a:latin typeface="Calibri" pitchFamily="34" charset="0"/>
                <a:ea typeface="Calibri" pitchFamily="34" charset="-122"/>
                <a:cs typeface="Calibri" pitchFamily="34" charset="-120"/>
              </a:rPr>
              <a:t>§8 · NIVEL 1</a:t>
            </a:r>
            <a:endParaRPr lang="en-US" sz="9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Lo que viene en Nivel 1 · 코리아 사랑</a:t>
            </a:r>
            <a:endParaRPr lang="en-US" sz="2600" dirty="0"/>
          </a:p>
        </p:txBody>
      </p:sp>
      <p:sp>
        <p:nvSpPr>
          <p:cNvPr id="4" name="Text 2"/>
          <p:cNvSpPr/>
          <p:nvPr/>
        </p:nvSpPr>
        <p:spPr>
          <a:xfrm>
            <a:off x="548640" y="1828800"/>
            <a:ext cx="5486400" cy="4389120"/>
          </a:xfrm>
          <a:prstGeom prst="rect">
            <a:avLst/>
          </a:prstGeom>
          <a:noFill/>
          <a:ln/>
        </p:spPr>
        <p:txBody>
          <a:bodyPr wrap="square" rtlCol="0" anchor="t"/>
          <a:lstStyle/>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Nivel 1 nos vemos UNA vez por semana, 90 minutos, durante 10 semanas. Empezamos el 7 de julio.</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En esas 10 semanas vas a poder:</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Presentarte en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Saludar, agradecer, despedirte</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Hablar de tu familia, trabajo, lo que te gusta</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Pedir comida en un restaurante coreano</a:t>
            </a: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 Entender frases básicas en K-dramas SIN subtítulos</a:t>
            </a:r>
            <a:endParaRPr lang="en-US" sz="1400" dirty="0"/>
          </a:p>
          <a:p>
            <a:pPr marL="0" indent="0">
              <a:lnSpc>
                <a:spcPct val="140000"/>
              </a:lnSpc>
              <a:buNone/>
            </a:pPr>
            <a:endParaRPr lang="en-US" sz="1400" dirty="0"/>
          </a:p>
          <a:p>
            <a:pPr marL="0" indent="0">
              <a:lnSpc>
                <a:spcPct val="140000"/>
              </a:lnSpc>
              <a:buNone/>
            </a:pPr>
            <a:r>
              <a:rPr lang="en-US" sz="1400" dirty="0">
                <a:solidFill>
                  <a:srgbClr val="1A1A2E"/>
                </a:solidFill>
                <a:latin typeface="Calibri" pitchFamily="34" charset="0"/>
                <a:ea typeface="Calibri" pitchFamily="34" charset="-122"/>
                <a:cs typeface="Calibri" pitchFamily="34" charset="-120"/>
              </a:rPr>
              <a:t>Y además tenés MI atención: yo personalmente corrijo la pronunciación de cada uno, sesión por sesión.</a:t>
            </a:r>
            <a:endParaRPr lang="en-US" sz="1400" dirty="0"/>
          </a:p>
        </p:txBody>
      </p:sp>
      <p:sp>
        <p:nvSpPr>
          <p:cNvPr id="5" name="Shape 3"/>
          <p:cNvSpPr/>
          <p:nvPr/>
        </p:nvSpPr>
        <p:spPr>
          <a:xfrm>
            <a:off x="6766560" y="1828800"/>
            <a:ext cx="4846320" cy="4389120"/>
          </a:xfrm>
          <a:prstGeom prst="roundRect">
            <a:avLst>
              <a:gd name="adj" fmla="val 3125"/>
            </a:avLst>
          </a:prstGeom>
          <a:solidFill>
            <a:srgbClr val="3D2EE8"/>
          </a:solidFill>
          <a:ln w="12700">
            <a:solidFill>
              <a:srgbClr val="3D2EE8"/>
            </a:solidFill>
            <a:prstDash val="solid"/>
          </a:ln>
        </p:spPr>
      </p:sp>
      <p:sp>
        <p:nvSpPr>
          <p:cNvPr id="6" name="Text 4"/>
          <p:cNvSpPr/>
          <p:nvPr/>
        </p:nvSpPr>
        <p:spPr>
          <a:xfrm>
            <a:off x="6766560" y="2560320"/>
            <a:ext cx="4846320" cy="1645920"/>
          </a:xfrm>
          <a:prstGeom prst="rect">
            <a:avLst/>
          </a:prstGeom>
          <a:noFill/>
          <a:ln/>
        </p:spPr>
        <p:txBody>
          <a:bodyPr wrap="square" rtlCol="0" anchor="ctr"/>
          <a:lstStyle/>
          <a:p>
            <a:pPr marL="0" indent="0" algn="ctr">
              <a:buNone/>
            </a:pPr>
            <a:r>
              <a:rPr lang="en-US" sz="8000" b="1" dirty="0">
                <a:solidFill>
                  <a:srgbClr val="FFFFFF"/>
                </a:solidFill>
                <a:latin typeface="Malgun Gothic" pitchFamily="34" charset="0"/>
                <a:ea typeface="Malgun Gothic" pitchFamily="34" charset="-122"/>
                <a:cs typeface="Malgun Gothic" pitchFamily="34" charset="-120"/>
              </a:rPr>
              <a:t>11</a:t>
            </a:r>
            <a:endParaRPr lang="en-US" sz="8000" dirty="0"/>
          </a:p>
        </p:txBody>
      </p:sp>
      <p:sp>
        <p:nvSpPr>
          <p:cNvPr id="7" name="Text 5"/>
          <p:cNvSpPr/>
          <p:nvPr/>
        </p:nvSpPr>
        <p:spPr>
          <a:xfrm>
            <a:off x="6766560" y="4297680"/>
            <a:ext cx="4846320" cy="54864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sesiones · 10 semanas</a:t>
            </a:r>
            <a:endParaRPr lang="en-US" sz="1800" dirty="0"/>
          </a:p>
        </p:txBody>
      </p:sp>
      <p:sp>
        <p:nvSpPr>
          <p:cNvPr id="8" name="Text 6"/>
          <p:cNvSpPr/>
          <p:nvPr/>
        </p:nvSpPr>
        <p:spPr>
          <a:xfrm>
            <a:off x="6766560" y="4937760"/>
            <a:ext cx="4846320" cy="457200"/>
          </a:xfrm>
          <a:prstGeom prst="rect">
            <a:avLst/>
          </a:prstGeom>
          <a:noFill/>
          <a:ln/>
        </p:spPr>
        <p:txBody>
          <a:bodyPr wrap="square"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Empieza 7 julio 2026</a:t>
            </a:r>
            <a:endParaRPr lang="en-US" sz="1400" dirty="0"/>
          </a:p>
        </p:txBody>
      </p:sp>
      <p:pic>
        <p:nvPicPr>
          <p:cNvPr id="9" name="Image 0" descr="/sessions/sleepy-zen-cray/mnt/outputs/deck_assets/logo_var2_azul.png"/>
          <p:cNvPicPr>
            <a:picLocks noChangeAspect="1"/>
          </p:cNvPicPr>
          <p:nvPr/>
        </p:nvPicPr>
        <p:blipFill>
          <a:blip r:embed="rId3"/>
          <a:stretch>
            <a:fillRect/>
          </a:stretch>
        </p:blipFill>
        <p:spPr>
          <a:xfrm>
            <a:off x="11338560" y="228600"/>
            <a:ext cx="594360" cy="594360"/>
          </a:xfrm>
          <a:prstGeom prst="rect">
            <a:avLst/>
          </a:prstGeom>
        </p:spPr>
      </p:pic>
      <p:pic>
        <p:nvPicPr>
          <p:cNvPr id="10" name="Image 1" descr="/sessions/sleepy-zen-cray/mnt/outputs/deck_assets/sello_linea_v1_01.png"/>
          <p:cNvPicPr>
            <a:picLocks noChangeAspect="1"/>
          </p:cNvPicPr>
          <p:nvPr/>
        </p:nvPicPr>
        <p:blipFill>
          <a:blip r:embed="rId4"/>
          <a:stretch>
            <a:fillRect/>
          </a:stretch>
        </p:blipFill>
        <p:spPr>
          <a:xfrm>
            <a:off x="365760" y="6355080"/>
            <a:ext cx="411480" cy="411480"/>
          </a:xfrm>
          <a:prstGeom prst="rect">
            <a:avLst/>
          </a:prstGeom>
        </p:spPr>
      </p:pic>
      <p:sp>
        <p:nvSpPr>
          <p:cNvPr id="11" name="Text 7"/>
          <p:cNvSpPr/>
          <p:nvPr/>
        </p:nvSpPr>
        <p:spPr>
          <a:xfrm>
            <a:off x="914400" y="6492240"/>
            <a:ext cx="4572000" cy="228600"/>
          </a:xfrm>
          <a:prstGeom prst="rect">
            <a:avLst/>
          </a:prstGeom>
          <a:noFill/>
          <a:ln/>
        </p:spPr>
        <p:txBody>
          <a:bodyPr wrap="square" rtlCol="0" anchor="ctr"/>
          <a:lstStyle/>
          <a:p>
            <a:pPr marL="0" indent="0">
              <a:buNone/>
            </a:pPr>
            <a:r>
              <a:rPr lang="en-US" sz="800" b="1" dirty="0">
                <a:solidFill>
                  <a:srgbClr val="6B6B7C"/>
                </a:solidFill>
                <a:latin typeface="Calibri" pitchFamily="34" charset="0"/>
                <a:ea typeface="Calibri" pitchFamily="34" charset="-122"/>
                <a:cs typeface="Calibri" pitchFamily="34" charset="-120"/>
              </a:rPr>
              <a:t>ACADEMIA SEÚL  ·  MÉTODO CHINGU™</a:t>
            </a:r>
            <a:endParaRPr lang="en-US" sz="800" dirty="0"/>
          </a:p>
        </p:txBody>
      </p:sp>
      <p:sp>
        <p:nvSpPr>
          <p:cNvPr id="12" name="Text 8"/>
          <p:cNvSpPr/>
          <p:nvPr/>
        </p:nvSpPr>
        <p:spPr>
          <a:xfrm>
            <a:off x="7315200" y="6492240"/>
            <a:ext cx="4572000" cy="228600"/>
          </a:xfrm>
          <a:prstGeom prst="rect">
            <a:avLst/>
          </a:prstGeom>
          <a:noFill/>
          <a:ln/>
        </p:spPr>
        <p:txBody>
          <a:bodyPr wrap="square" rtlCol="0" anchor="ctr"/>
          <a:lstStyle/>
          <a:p>
            <a:pPr marL="0" indent="0" algn="r">
              <a:buNone/>
            </a:pPr>
            <a:r>
              <a:rPr lang="en-US" sz="800" b="1" dirty="0">
                <a:solidFill>
                  <a:srgbClr val="6B6B7C"/>
                </a:solidFill>
                <a:latin typeface="Calibri" pitchFamily="34" charset="0"/>
                <a:ea typeface="Calibri" pitchFamily="34" charset="-122"/>
                <a:cs typeface="Calibri" pitchFamily="34" charset="-120"/>
              </a:rPr>
              <a:t>SES 22  ·  TALLER</a:t>
            </a:r>
            <a:endParaRPr lang="en-US" sz="8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3">
    <p:bg>
      <p:bgPr>
        <a:solidFill>
          <a:srgbClr val="FF5C5C"/>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623560" y="228600"/>
            <a:ext cx="914400" cy="914400"/>
          </a:xfrm>
          <a:prstGeom prst="rect">
            <a:avLst/>
          </a:prstGeom>
        </p:spPr>
      </p:pic>
      <p:sp>
        <p:nvSpPr>
          <p:cNvPr id="3" name="Text 0"/>
          <p:cNvSpPr/>
          <p:nvPr/>
        </p:nvSpPr>
        <p:spPr>
          <a:xfrm>
            <a:off x="0" y="1234440"/>
            <a:ext cx="12161520" cy="274320"/>
          </a:xfrm>
          <a:prstGeom prst="rect">
            <a:avLst/>
          </a:prstGeom>
          <a:noFill/>
          <a:ln/>
        </p:spPr>
        <p:txBody>
          <a:bodyPr wrap="square" rtlCol="0" anchor="ctr"/>
          <a:lstStyle/>
          <a:p>
            <a:pPr marL="0" indent="0" algn="ctr">
              <a:buNone/>
            </a:pPr>
            <a:r>
              <a:rPr lang="en-US" sz="1100" b="1" kern="0" spc="800" dirty="0">
                <a:solidFill>
                  <a:srgbClr val="FFFFFF"/>
                </a:solidFill>
                <a:latin typeface="Calibri" pitchFamily="34" charset="0"/>
                <a:ea typeface="Calibri" pitchFamily="34" charset="-122"/>
                <a:cs typeface="Calibri" pitchFamily="34" charset="-120"/>
              </a:rPr>
              <a:t>OFERTA EXCLUSIVA</a:t>
            </a:r>
            <a:endParaRPr lang="en-US" sz="1100" dirty="0"/>
          </a:p>
        </p:txBody>
      </p:sp>
      <p:sp>
        <p:nvSpPr>
          <p:cNvPr id="4" name="Text 1"/>
          <p:cNvSpPr/>
          <p:nvPr/>
        </p:nvSpPr>
        <p:spPr>
          <a:xfrm>
            <a:off x="0" y="1508760"/>
            <a:ext cx="12161520" cy="457200"/>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Solo para los del Taller de HOY</a:t>
            </a:r>
            <a:endParaRPr lang="en-US" sz="2200" dirty="0"/>
          </a:p>
        </p:txBody>
      </p:sp>
      <p:sp>
        <p:nvSpPr>
          <p:cNvPr id="5" name="Shape 2"/>
          <p:cNvSpPr/>
          <p:nvPr/>
        </p:nvSpPr>
        <p:spPr>
          <a:xfrm>
            <a:off x="1371600" y="2148840"/>
            <a:ext cx="9418320" cy="1371600"/>
          </a:xfrm>
          <a:prstGeom prst="roundRect">
            <a:avLst>
              <a:gd name="adj" fmla="val 10000"/>
            </a:avLst>
          </a:prstGeom>
          <a:solidFill>
            <a:srgbClr val="FFFFFF"/>
          </a:solidFill>
          <a:ln w="12700">
            <a:solidFill>
              <a:srgbClr val="FFFFFF"/>
            </a:solidFill>
            <a:prstDash val="solid"/>
          </a:ln>
        </p:spPr>
      </p:sp>
      <p:sp>
        <p:nvSpPr>
          <p:cNvPr id="6" name="Text 3"/>
          <p:cNvSpPr/>
          <p:nvPr/>
        </p:nvSpPr>
        <p:spPr>
          <a:xfrm>
            <a:off x="1554480" y="2286000"/>
            <a:ext cx="4389120" cy="1097280"/>
          </a:xfrm>
          <a:prstGeom prst="rect">
            <a:avLst/>
          </a:prstGeom>
          <a:noFill/>
          <a:ln/>
        </p:spPr>
        <p:txBody>
          <a:bodyPr wrap="square" rtlCol="0" anchor="ctr"/>
          <a:lstStyle/>
          <a:p>
            <a:pPr marL="0" indent="0" algn="ctr">
              <a:buNone/>
            </a:pPr>
            <a:r>
              <a:rPr lang="en-US" sz="2400" strike="sngStrike" dirty="0">
                <a:solidFill>
                  <a:srgbClr val="6B6B7C"/>
                </a:solidFill>
                <a:latin typeface="Calibri" pitchFamily="34" charset="0"/>
                <a:ea typeface="Calibri" pitchFamily="34" charset="-122"/>
                <a:cs typeface="Calibri" pitchFamily="34" charset="-120"/>
              </a:rPr>
              <a:t>$129 USD</a:t>
            </a:r>
            <a:endParaRPr lang="en-US" sz="2400" dirty="0"/>
          </a:p>
        </p:txBody>
      </p:sp>
      <p:sp>
        <p:nvSpPr>
          <p:cNvPr id="7" name="Text 4"/>
          <p:cNvSpPr/>
          <p:nvPr/>
        </p:nvSpPr>
        <p:spPr>
          <a:xfrm>
            <a:off x="6217920" y="2240280"/>
            <a:ext cx="4389120" cy="731520"/>
          </a:xfrm>
          <a:prstGeom prst="rect">
            <a:avLst/>
          </a:prstGeom>
          <a:noFill/>
          <a:ln/>
        </p:spPr>
        <p:txBody>
          <a:bodyPr wrap="square" rtlCol="0" anchor="ctr"/>
          <a:lstStyle/>
          <a:p>
            <a:pPr marL="0" indent="0" algn="ctr">
              <a:buNone/>
            </a:pPr>
            <a:r>
              <a:rPr lang="en-US" sz="4400" b="1" dirty="0">
                <a:solidFill>
                  <a:srgbClr val="3D2EE8"/>
                </a:solidFill>
                <a:latin typeface="Calibri" pitchFamily="34" charset="0"/>
                <a:ea typeface="Calibri" pitchFamily="34" charset="-122"/>
                <a:cs typeface="Calibri" pitchFamily="34" charset="-120"/>
              </a:rPr>
              <a:t>$89 USD</a:t>
            </a:r>
            <a:endParaRPr lang="en-US" sz="4400" dirty="0"/>
          </a:p>
        </p:txBody>
      </p:sp>
      <p:sp>
        <p:nvSpPr>
          <p:cNvPr id="8" name="Text 5"/>
          <p:cNvSpPr/>
          <p:nvPr/>
        </p:nvSpPr>
        <p:spPr>
          <a:xfrm>
            <a:off x="6217920" y="2880360"/>
            <a:ext cx="4389120" cy="365760"/>
          </a:xfrm>
          <a:prstGeom prst="rect">
            <a:avLst/>
          </a:prstGeom>
          <a:noFill/>
          <a:ln/>
        </p:spPr>
        <p:txBody>
          <a:bodyPr wrap="square" rtlCol="0" anchor="ctr"/>
          <a:lstStyle/>
          <a:p>
            <a:pPr marL="0" indent="0" algn="ctr">
              <a:buNone/>
            </a:pPr>
            <a:r>
              <a:rPr lang="en-US" sz="1200" i="1" dirty="0">
                <a:solidFill>
                  <a:srgbClr val="3D2EE8"/>
                </a:solidFill>
                <a:latin typeface="Calibri" pitchFamily="34" charset="0"/>
                <a:ea typeface="Calibri" pitchFamily="34" charset="-122"/>
                <a:cs typeface="Calibri" pitchFamily="34" charset="-120"/>
              </a:rPr>
              <a:t>Precio HOY · 31% OFF</a:t>
            </a:r>
            <a:endParaRPr lang="en-US" sz="1200" dirty="0"/>
          </a:p>
        </p:txBody>
      </p:sp>
      <p:sp>
        <p:nvSpPr>
          <p:cNvPr id="9" name="Text 6"/>
          <p:cNvSpPr/>
          <p:nvPr/>
        </p:nvSpPr>
        <p:spPr>
          <a:xfrm>
            <a:off x="0" y="3703320"/>
            <a:ext cx="12161520" cy="320040"/>
          </a:xfrm>
          <a:prstGeom prst="rect">
            <a:avLst/>
          </a:prstGeom>
          <a:noFill/>
          <a:ln/>
        </p:spPr>
        <p:txBody>
          <a:bodyPr wrap="square"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+ 4 BONOS GRATIS INCLUIDOS:</a:t>
            </a:r>
            <a:endParaRPr lang="en-US" sz="1300" dirty="0"/>
          </a:p>
        </p:txBody>
      </p:sp>
      <p:sp>
        <p:nvSpPr>
          <p:cNvPr id="10" name="Shape 7"/>
          <p:cNvSpPr/>
          <p:nvPr/>
        </p:nvSpPr>
        <p:spPr>
          <a:xfrm>
            <a:off x="548640" y="4114800"/>
            <a:ext cx="2697480" cy="914400"/>
          </a:xfrm>
          <a:prstGeom prst="roundRect">
            <a:avLst>
              <a:gd name="adj" fmla="val 10000"/>
            </a:avLst>
          </a:prstGeom>
          <a:solidFill>
            <a:srgbClr val="FFFFFF"/>
          </a:solidFill>
          <a:ln w="12700">
            <a:solidFill>
              <a:srgbClr val="FFFFFF"/>
            </a:solidFill>
            <a:prstDash val="solid"/>
          </a:ln>
        </p:spPr>
      </p:sp>
      <p:sp>
        <p:nvSpPr>
          <p:cNvPr id="11" name="Text 8"/>
          <p:cNvSpPr/>
          <p:nvPr/>
        </p:nvSpPr>
        <p:spPr>
          <a:xfrm>
            <a:off x="54864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PDF Pronunciación</a:t>
            </a:r>
            <a:endParaRPr lang="en-US" sz="1300" dirty="0"/>
          </a:p>
        </p:txBody>
      </p:sp>
      <p:sp>
        <p:nvSpPr>
          <p:cNvPr id="12" name="Text 9"/>
          <p:cNvSpPr/>
          <p:nvPr/>
        </p:nvSpPr>
        <p:spPr>
          <a:xfrm>
            <a:off x="54864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$19</a:t>
            </a:r>
            <a:endParaRPr lang="en-US" sz="1100" dirty="0"/>
          </a:p>
        </p:txBody>
      </p:sp>
      <p:sp>
        <p:nvSpPr>
          <p:cNvPr id="13" name="Shape 10"/>
          <p:cNvSpPr/>
          <p:nvPr/>
        </p:nvSpPr>
        <p:spPr>
          <a:xfrm>
            <a:off x="3383280" y="4114800"/>
            <a:ext cx="2697480" cy="914400"/>
          </a:xfrm>
          <a:prstGeom prst="roundRect">
            <a:avLst>
              <a:gd name="adj" fmla="val 10000"/>
            </a:avLst>
          </a:prstGeom>
          <a:solidFill>
            <a:srgbClr val="FFFFFF"/>
          </a:solidFill>
          <a:ln w="12700">
            <a:solidFill>
              <a:srgbClr val="FFFFFF"/>
            </a:solidFill>
            <a:prstDash val="solid"/>
          </a:ln>
        </p:spPr>
      </p:sp>
      <p:sp>
        <p:nvSpPr>
          <p:cNvPr id="14" name="Text 11"/>
          <p:cNvSpPr/>
          <p:nvPr/>
        </p:nvSpPr>
        <p:spPr>
          <a:xfrm>
            <a:off x="338328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Sesión 1:1 con Jay</a:t>
            </a:r>
            <a:endParaRPr lang="en-US" sz="1300" dirty="0"/>
          </a:p>
        </p:txBody>
      </p:sp>
      <p:sp>
        <p:nvSpPr>
          <p:cNvPr id="15" name="Text 12"/>
          <p:cNvSpPr/>
          <p:nvPr/>
        </p:nvSpPr>
        <p:spPr>
          <a:xfrm>
            <a:off x="338328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$30</a:t>
            </a:r>
            <a:endParaRPr lang="en-US" sz="1100" dirty="0"/>
          </a:p>
        </p:txBody>
      </p:sp>
      <p:sp>
        <p:nvSpPr>
          <p:cNvPr id="16" name="Shape 13"/>
          <p:cNvSpPr/>
          <p:nvPr/>
        </p:nvSpPr>
        <p:spPr>
          <a:xfrm>
            <a:off x="6217920" y="4114800"/>
            <a:ext cx="2697480" cy="914400"/>
          </a:xfrm>
          <a:prstGeom prst="roundRect">
            <a:avLst>
              <a:gd name="adj" fmla="val 10000"/>
            </a:avLst>
          </a:prstGeom>
          <a:solidFill>
            <a:srgbClr val="FFFFFF"/>
          </a:solidFill>
          <a:ln w="12700">
            <a:solidFill>
              <a:srgbClr val="FFFFFF"/>
            </a:solidFill>
            <a:prstDash val="solid"/>
          </a:ln>
        </p:spPr>
      </p:sp>
      <p:sp>
        <p:nvSpPr>
          <p:cNvPr id="17" name="Text 14"/>
          <p:cNvSpPr/>
          <p:nvPr/>
        </p:nvSpPr>
        <p:spPr>
          <a:xfrm>
            <a:off x="621792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Discord permanente</a:t>
            </a:r>
            <a:endParaRPr lang="en-US" sz="1300" dirty="0"/>
          </a:p>
        </p:txBody>
      </p:sp>
      <p:sp>
        <p:nvSpPr>
          <p:cNvPr id="18" name="Text 15"/>
          <p:cNvSpPr/>
          <p:nvPr/>
        </p:nvSpPr>
        <p:spPr>
          <a:xfrm>
            <a:off x="621792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$20</a:t>
            </a:r>
            <a:endParaRPr lang="en-US" sz="1100" dirty="0"/>
          </a:p>
        </p:txBody>
      </p:sp>
      <p:sp>
        <p:nvSpPr>
          <p:cNvPr id="19" name="Shape 16"/>
          <p:cNvSpPr/>
          <p:nvPr/>
        </p:nvSpPr>
        <p:spPr>
          <a:xfrm>
            <a:off x="9052560" y="4114800"/>
            <a:ext cx="2697480" cy="914400"/>
          </a:xfrm>
          <a:prstGeom prst="roundRect">
            <a:avLst>
              <a:gd name="adj" fmla="val 10000"/>
            </a:avLst>
          </a:prstGeom>
          <a:solidFill>
            <a:srgbClr val="FFFFFF"/>
          </a:solidFill>
          <a:ln w="12700">
            <a:solidFill>
              <a:srgbClr val="FFFFFF"/>
            </a:solidFill>
            <a:prstDash val="solid"/>
          </a:ln>
        </p:spPr>
      </p:sp>
      <p:sp>
        <p:nvSpPr>
          <p:cNvPr id="20" name="Text 17"/>
          <p:cNvSpPr/>
          <p:nvPr/>
        </p:nvSpPr>
        <p:spPr>
          <a:xfrm>
            <a:off x="9052560" y="4160520"/>
            <a:ext cx="2697480" cy="457200"/>
          </a:xfrm>
          <a:prstGeom prst="rect">
            <a:avLst/>
          </a:prstGeom>
          <a:noFill/>
          <a:ln/>
        </p:spPr>
        <p:txBody>
          <a:bodyPr wrap="square" rtlCol="0" anchor="ctr"/>
          <a:lstStyle/>
          <a:p>
            <a:pPr marL="0" indent="0" algn="ctr">
              <a:buNone/>
            </a:pPr>
            <a:r>
              <a:rPr lang="en-US" sz="1300" b="1" dirty="0">
                <a:solidFill>
                  <a:srgbClr val="1A1A2E"/>
                </a:solidFill>
                <a:latin typeface="Calibri" pitchFamily="34" charset="0"/>
                <a:ea typeface="Calibri" pitchFamily="34" charset="-122"/>
                <a:cs typeface="Calibri" pitchFamily="34" charset="-120"/>
              </a:rPr>
              <a:t>⭐ 20% OFF Nivel 2</a:t>
            </a:r>
            <a:endParaRPr lang="en-US" sz="1300" dirty="0"/>
          </a:p>
        </p:txBody>
      </p:sp>
      <p:sp>
        <p:nvSpPr>
          <p:cNvPr id="21" name="Text 18"/>
          <p:cNvSpPr/>
          <p:nvPr/>
        </p:nvSpPr>
        <p:spPr>
          <a:xfrm>
            <a:off x="9052560" y="4617720"/>
            <a:ext cx="2697480" cy="365760"/>
          </a:xfrm>
          <a:prstGeom prst="rect">
            <a:avLst/>
          </a:prstGeom>
          <a:noFill/>
          <a:ln/>
        </p:spPr>
        <p:txBody>
          <a:bodyPr wrap="square" rtlCol="0" anchor="ctr"/>
          <a:lstStyle/>
          <a:p>
            <a:pPr marL="0" indent="0" algn="ctr">
              <a:buNone/>
            </a:pPr>
            <a:r>
              <a:rPr lang="en-US" sz="1100" i="1" dirty="0">
                <a:solidFill>
                  <a:srgbClr val="6B6B7C"/>
                </a:solidFill>
                <a:latin typeface="Calibri" pitchFamily="34" charset="0"/>
                <a:ea typeface="Calibri" pitchFamily="34" charset="-122"/>
                <a:cs typeface="Calibri" pitchFamily="34" charset="-120"/>
              </a:rPr>
              <a:t>valor $25</a:t>
            </a:r>
            <a:endParaRPr lang="en-US" sz="1100" dirty="0"/>
          </a:p>
        </p:txBody>
      </p:sp>
      <p:sp>
        <p:nvSpPr>
          <p:cNvPr id="22" name="Text 19"/>
          <p:cNvSpPr/>
          <p:nvPr/>
        </p:nvSpPr>
        <p:spPr>
          <a:xfrm>
            <a:off x="0" y="5257800"/>
            <a:ext cx="12161520" cy="36576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Valor total: $223 USD  ·  Tu precio HOY: $89 USD</a:t>
            </a:r>
            <a:endParaRPr lang="en-US" sz="1600" dirty="0"/>
          </a:p>
        </p:txBody>
      </p:sp>
      <p:sp>
        <p:nvSpPr>
          <p:cNvPr id="23" name="Text 20"/>
          <p:cNvSpPr/>
          <p:nvPr/>
        </p:nvSpPr>
        <p:spPr>
          <a:xfrm>
            <a:off x="0" y="566928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 Solo hasta el LUNES 8 JUNIO · 23:59 hora Chile</a:t>
            </a:r>
            <a:endParaRPr lang="en-US" sz="1400" dirty="0"/>
          </a:p>
        </p:txBody>
      </p:sp>
      <p:sp>
        <p:nvSpPr>
          <p:cNvPr id="24" name="Text 21"/>
          <p:cNvSpPr/>
          <p:nvPr/>
        </p:nvSpPr>
        <p:spPr>
          <a:xfrm>
            <a:off x="0" y="6126480"/>
            <a:ext cx="12161520" cy="457200"/>
          </a:xfrm>
          <a:prstGeom prst="rect">
            <a:avLst/>
          </a:prstGeom>
          <a:noFill/>
          <a:ln/>
        </p:spPr>
        <p:txBody>
          <a:bodyPr wrap="square" rtlCol="0" anchor="ctr"/>
          <a:lstStyle/>
          <a:p>
            <a:pPr marL="0" indent="0" algn="ctr">
              <a:buNone/>
            </a:pPr>
            <a:r>
              <a:rPr lang="en-US" sz="2200" b="1" kern="0" spc="400" dirty="0">
                <a:solidFill>
                  <a:srgbClr val="FFFFFF"/>
                </a:solidFill>
                <a:latin typeface="Calibri" pitchFamily="34" charset="0"/>
                <a:ea typeface="Calibri" pitchFamily="34" charset="-122"/>
                <a:cs typeface="Calibri" pitchFamily="34" charset="-120"/>
              </a:rPr>
              <a:t>👉 academiaseul.com/nivel-1</a:t>
            </a:r>
            <a:endParaRPr lang="en-US" sz="2200" dirty="0"/>
          </a:p>
        </p:txBody>
      </p:sp>
      <p:pic>
        <p:nvPicPr>
          <p:cNvPr id="25" name="Image 1" descr="/sessions/sleepy-zen-cray/mnt/outputs/deck_assets/sello_linea_v1_05.png"/>
          <p:cNvPicPr>
            <a:picLocks noChangeAspect="1"/>
          </p:cNvPicPr>
          <p:nvPr/>
        </p:nvPicPr>
        <p:blipFill>
          <a:blip r:embed="rId4"/>
          <a:stretch>
            <a:fillRect/>
          </a:stretch>
        </p:blipFill>
        <p:spPr>
          <a:xfrm>
            <a:off x="365760" y="6126480"/>
            <a:ext cx="640080" cy="640080"/>
          </a:xfrm>
          <a:prstGeom prst="rect">
            <a:avLst/>
          </a:prstGeom>
        </p:spPr>
      </p:pic>
      <p:pic>
        <p:nvPicPr>
          <p:cNvPr id="26" name="Image 2" descr="/sessions/sleepy-zen-cray/mnt/outputs/deck_assets/sello_linea_v1_05.png"/>
          <p:cNvPicPr>
            <a:picLocks noChangeAspect="1"/>
          </p:cNvPicPr>
          <p:nvPr/>
        </p:nvPicPr>
        <p:blipFill>
          <a:blip r:embed="rId4"/>
          <a:stretch>
            <a:fillRect/>
          </a:stretch>
        </p:blipFill>
        <p:spPr>
          <a:xfrm>
            <a:off x="11155680" y="6126480"/>
            <a:ext cx="640080" cy="64008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371600" y="1371600"/>
            <a:ext cx="9418320" cy="4572000"/>
          </a:xfrm>
          <a:prstGeom prst="roundRect">
            <a:avLst>
              <a:gd name="adj" fmla="val 2400"/>
            </a:avLst>
          </a:prstGeom>
          <a:solidFill>
            <a:srgbClr val="FFFFFF"/>
          </a:solidFill>
          <a:ln w="12700">
            <a:solidFill>
              <a:srgbClr val="E2E8F0"/>
            </a:solidFill>
            <a:prstDash val="solid"/>
          </a:ln>
        </p:spPr>
      </p:sp>
      <p:sp>
        <p:nvSpPr>
          <p:cNvPr id="3" name="Shape 1"/>
          <p:cNvSpPr/>
          <p:nvPr/>
        </p:nvSpPr>
        <p:spPr>
          <a:xfrm>
            <a:off x="1371600" y="1371600"/>
            <a:ext cx="9418320" cy="640080"/>
          </a:xfrm>
          <a:prstGeom prst="rect">
            <a:avLst/>
          </a:prstGeom>
          <a:solidFill>
            <a:srgbClr val="2A1FB8"/>
          </a:solidFill>
          <a:ln/>
        </p:spPr>
      </p:sp>
      <p:sp>
        <p:nvSpPr>
          <p:cNvPr id="4" name="Text 2"/>
          <p:cNvSpPr/>
          <p:nvPr/>
        </p:nvSpPr>
        <p:spPr>
          <a:xfrm>
            <a:off x="1371600" y="1371600"/>
            <a:ext cx="9418320" cy="640080"/>
          </a:xfrm>
          <a:prstGeom prst="rect">
            <a:avLst/>
          </a:prstGeom>
          <a:noFill/>
          <a:ln/>
        </p:spPr>
        <p:txBody>
          <a:bodyPr wrap="square" lIns="0" tIns="0" rIns="0" bIns="0" rtlCol="0" anchor="ctr"/>
          <a:lstStyle/>
          <a:p>
            <a:pPr marL="0" indent="0" algn="ctr">
              <a:buNone/>
            </a:pPr>
            <a:r>
              <a:rPr lang="en-US" sz="1800" b="1" kern="0" spc="800" dirty="0">
                <a:solidFill>
                  <a:srgbClr val="FFFFFF"/>
                </a:solidFill>
                <a:latin typeface="Trebuchet MS" pitchFamily="34" charset="0"/>
                <a:ea typeface="Trebuchet MS" pitchFamily="34" charset="-122"/>
                <a:cs typeface="Trebuchet MS" pitchFamily="34" charset="-120"/>
              </a:rPr>
              <a:t>FUENTES &amp; ATRIBUCIÓN</a:t>
            </a:r>
            <a:endParaRPr lang="en-US" sz="1800" dirty="0"/>
          </a:p>
        </p:txBody>
      </p:sp>
      <p:sp>
        <p:nvSpPr>
          <p:cNvPr id="5" name="Text 3"/>
          <p:cNvSpPr/>
          <p:nvPr/>
        </p:nvSpPr>
        <p:spPr>
          <a:xfrm>
            <a:off x="1737360" y="219456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Fuente principal</a:t>
            </a:r>
            <a:endParaRPr lang="en-US" sz="1300" dirty="0"/>
          </a:p>
        </p:txBody>
      </p:sp>
      <p:sp>
        <p:nvSpPr>
          <p:cNvPr id="6" name="Text 4"/>
          <p:cNvSpPr/>
          <p:nvPr/>
        </p:nvSpPr>
        <p:spPr>
          <a:xfrm>
            <a:off x="1737360" y="2468880"/>
            <a:ext cx="8686800" cy="457200"/>
          </a:xfrm>
          <a:prstGeom prst="rect">
            <a:avLst/>
          </a:prstGeom>
          <a:noFill/>
          <a:ln/>
        </p:spPr>
        <p:txBody>
          <a:bodyPr wrap="square" rtlCol="0" anchor="ctr"/>
          <a:lstStyle/>
          <a:p>
            <a:pPr marL="0" indent="0">
              <a:buNone/>
            </a:pPr>
            <a:r>
              <a:rPr lang="en-US" sz="2200" b="1" i="1" dirty="0">
                <a:solidFill>
                  <a:srgbClr val="0F172A"/>
                </a:solidFill>
                <a:latin typeface="Trebuchet MS" pitchFamily="34" charset="0"/>
                <a:ea typeface="Trebuchet MS" pitchFamily="34" charset="-122"/>
                <a:cs typeface="Trebuchet MS" pitchFamily="34" charset="-120"/>
              </a:rPr>
              <a:t>Hangeul – Korea's Unique Alphabet</a:t>
            </a:r>
            <a:endParaRPr lang="en-US" sz="2200" dirty="0"/>
          </a:p>
        </p:txBody>
      </p:sp>
      <p:sp>
        <p:nvSpPr>
          <p:cNvPr id="7" name="Text 5"/>
          <p:cNvSpPr/>
          <p:nvPr/>
        </p:nvSpPr>
        <p:spPr>
          <a:xfrm>
            <a:off x="1737360" y="297180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 xml:space="preserve">Editor · </a:t>
            </a:r>
            <a:r>
              <a:rPr lang="en-US" sz="1400" dirty="0">
                <a:solidFill>
                  <a:srgbClr val="0F172A"/>
                </a:solidFill>
                <a:latin typeface="Calibri" pitchFamily="34" charset="0"/>
                <a:ea typeface="Calibri" pitchFamily="34" charset="-122"/>
                <a:cs typeface="Calibri" pitchFamily="34" charset="-120"/>
              </a:rPr>
              <a:t xml:space="preserve">Korea Foundation (KF)  </a:t>
            </a:r>
            <a:r>
              <a:rPr lang="en-US" sz="1400" i="1" dirty="0">
                <a:solidFill>
                  <a:srgbClr val="4A5568"/>
                </a:solidFill>
                <a:latin typeface="Malgun Gothic" pitchFamily="34" charset="0"/>
                <a:ea typeface="Malgun Gothic" pitchFamily="34" charset="-122"/>
                <a:cs typeface="Malgun Gothic" pitchFamily="34" charset="-120"/>
              </a:rPr>
              <a:t>한국국제교류재단</a:t>
            </a:r>
            <a:endParaRPr lang="en-US" sz="1400" dirty="0"/>
          </a:p>
        </p:txBody>
      </p:sp>
      <p:sp>
        <p:nvSpPr>
          <p:cNvPr id="8" name="Text 6"/>
          <p:cNvSpPr/>
          <p:nvPr/>
        </p:nvSpPr>
        <p:spPr>
          <a:xfrm>
            <a:off x="1737360" y="329184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 xml:space="preserve">Año · </a:t>
            </a:r>
            <a:r>
              <a:rPr lang="en-US" sz="1400" dirty="0">
                <a:solidFill>
                  <a:srgbClr val="0F172A"/>
                </a:solidFill>
                <a:latin typeface="Calibri" pitchFamily="34" charset="0"/>
                <a:ea typeface="Calibri" pitchFamily="34" charset="-122"/>
                <a:cs typeface="Calibri" pitchFamily="34" charset="-120"/>
              </a:rPr>
              <a:t>2010</a:t>
            </a:r>
            <a:endParaRPr lang="en-US" sz="1400" dirty="0"/>
          </a:p>
        </p:txBody>
      </p:sp>
      <p:sp>
        <p:nvSpPr>
          <p:cNvPr id="9" name="Text 7"/>
          <p:cNvSpPr/>
          <p:nvPr/>
        </p:nvSpPr>
        <p:spPr>
          <a:xfrm>
            <a:off x="1737360" y="3611880"/>
            <a:ext cx="8686800" cy="320040"/>
          </a:xfrm>
          <a:prstGeom prst="rect">
            <a:avLst/>
          </a:prstGeom>
          <a:noFill/>
          <a:ln/>
        </p:spPr>
        <p:txBody>
          <a:bodyPr wrap="square" lIns="0" tIns="0" rIns="0" bIns="0" rtlCol="0" anchor="ctr"/>
          <a:lstStyle/>
          <a:p>
            <a:pPr marL="0" indent="0">
              <a:buNone/>
            </a:pPr>
            <a:r>
              <a:rPr lang="en-US" sz="1400" b="1" dirty="0">
                <a:solidFill>
                  <a:srgbClr val="4A5568"/>
                </a:solidFill>
                <a:latin typeface="Calibri" pitchFamily="34" charset="0"/>
                <a:ea typeface="Calibri" pitchFamily="34" charset="-122"/>
                <a:cs typeface="Calibri" pitchFamily="34" charset="-120"/>
              </a:rPr>
              <a:t xml:space="preserve">Páginas referenciadas · </a:t>
            </a:r>
            <a:r>
              <a:rPr lang="en-US" sz="1400" dirty="0">
                <a:solidFill>
                  <a:srgbClr val="0F172A"/>
                </a:solidFill>
                <a:latin typeface="Calibri" pitchFamily="34" charset="0"/>
                <a:ea typeface="Calibri" pitchFamily="34" charset="-122"/>
                <a:cs typeface="Calibri" pitchFamily="34" charset="-120"/>
              </a:rPr>
              <a:t>12-13, 16-17, 21, 24, 27</a:t>
            </a:r>
            <a:endParaRPr lang="en-US" sz="1400" dirty="0"/>
          </a:p>
        </p:txBody>
      </p:sp>
      <p:sp>
        <p:nvSpPr>
          <p:cNvPr id="10" name="Text 8"/>
          <p:cNvSpPr/>
          <p:nvPr/>
        </p:nvSpPr>
        <p:spPr>
          <a:xfrm>
            <a:off x="1737360" y="4160520"/>
            <a:ext cx="8686800" cy="274320"/>
          </a:xfrm>
          <a:prstGeom prst="rect">
            <a:avLst/>
          </a:prstGeom>
          <a:noFill/>
          <a:ln/>
        </p:spPr>
        <p:txBody>
          <a:bodyPr wrap="square" rtlCol="0" anchor="ctr"/>
          <a:lstStyle/>
          <a:p>
            <a:pPr marL="0" indent="0">
              <a:buNone/>
            </a:pPr>
            <a:r>
              <a:rPr lang="en-US" sz="1300" b="1" kern="0" spc="500" dirty="0">
                <a:solidFill>
                  <a:srgbClr val="FE6768"/>
                </a:solidFill>
                <a:latin typeface="Trebuchet MS" pitchFamily="34" charset="0"/>
                <a:ea typeface="Trebuchet MS" pitchFamily="34" charset="-122"/>
                <a:cs typeface="Trebuchet MS" pitchFamily="34" charset="-120"/>
              </a:rPr>
              <a:t>Uso educativo</a:t>
            </a:r>
            <a:endParaRPr lang="en-US" sz="1300" dirty="0"/>
          </a:p>
        </p:txBody>
      </p:sp>
      <p:sp>
        <p:nvSpPr>
          <p:cNvPr id="11" name="Text 9"/>
          <p:cNvSpPr/>
          <p:nvPr/>
        </p:nvSpPr>
        <p:spPr>
          <a:xfrm>
            <a:off x="1737360" y="4434840"/>
            <a:ext cx="8686800" cy="1371600"/>
          </a:xfrm>
          <a:prstGeom prst="rect">
            <a:avLst/>
          </a:prstGeom>
          <a:noFill/>
          <a:ln/>
        </p:spPr>
        <p:txBody>
          <a:bodyPr wrap="square" rtlCol="0" anchor="ctr"/>
          <a:lstStyle/>
          <a:p>
            <a:pPr marL="0" indent="0">
              <a:buNone/>
            </a:pPr>
            <a:r>
              <a:rPr lang="en-US" sz="1300" i="1" dirty="0">
                <a:solidFill>
                  <a:srgbClr val="4A5568"/>
                </a:solidFill>
                <a:latin typeface="Calibri" pitchFamily="34" charset="0"/>
                <a:ea typeface="Calibri" pitchFamily="34" charset="-122"/>
                <a:cs typeface="Calibri" pitchFamily="34" charset="-120"/>
              </a:rPr>
              <a:t>Los conceptos, citas de académicos, y estructuras pedagógicas integradas en este taller están basados en y atribuidos a la publicación de Korea Foundation. Los diagramas han sido recreados en la línea gráfica de Academia Seúl. Este material se utiliza con fines educativos no comerciales.</a:t>
            </a:r>
            <a:endParaRPr lang="en-US" sz="1300" dirty="0"/>
          </a:p>
        </p:txBody>
      </p:sp>
      <p:sp>
        <p:nvSpPr>
          <p:cNvPr id="12" name="Text 10"/>
          <p:cNvSpPr/>
          <p:nvPr/>
        </p:nvSpPr>
        <p:spPr>
          <a:xfrm>
            <a:off x="365760" y="6446520"/>
            <a:ext cx="11430000" cy="274320"/>
          </a:xfrm>
          <a:prstGeom prst="rect">
            <a:avLst/>
          </a:prstGeom>
          <a:noFill/>
          <a:ln/>
        </p:spPr>
        <p:txBody>
          <a:bodyPr wrap="square" rtlCol="0" anchor="ctr"/>
          <a:lstStyle/>
          <a:p>
            <a:pPr marL="0" indent="0" algn="ctr">
              <a:buNone/>
            </a:pPr>
            <a:r>
              <a:rPr lang="en-US" sz="1100" i="1" dirty="0">
                <a:solidFill>
                  <a:srgbClr val="94A3B8"/>
                </a:solidFill>
                <a:latin typeface="Georgia" pitchFamily="34" charset="0"/>
                <a:ea typeface="Georgia" pitchFamily="34" charset="-122"/>
                <a:cs typeface="Georgia" pitchFamily="34" charset="-120"/>
              </a:rPr>
              <a:t>Academia Seúl agradece a Korea Foundation por preservar y compartir este legado lingüístico.</a:t>
            </a:r>
            <a:endParaRPr lang="en-US" sz="1100" dirty="0"/>
          </a:p>
        </p:txBody>
      </p:sp>
    </p:spTree>
    <p:extLst>
      <p:ext uri="{BB962C8B-B14F-4D97-AF65-F5344CB8AC3E}">
        <p14:creationId xmlns:p14="http://schemas.microsoft.com/office/powerpoint/2010/main" val="65744769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24">
    <p:bg>
      <p:bgPr>
        <a:solidFill>
          <a:srgbClr val="3D2EE8"/>
        </a:solidFill>
        <a:effectLst/>
      </p:bgPr>
    </p:bg>
    <p:spTree>
      <p:nvGrpSpPr>
        <p:cNvPr id="1" name=""/>
        <p:cNvGrpSpPr/>
        <p:nvPr/>
      </p:nvGrpSpPr>
      <p:grpSpPr>
        <a:xfrm>
          <a:off x="0" y="0"/>
          <a:ext cx="0" cy="0"/>
          <a:chOff x="0" y="0"/>
          <a:chExt cx="0" cy="0"/>
        </a:xfrm>
      </p:grpSpPr>
      <p:pic>
        <p:nvPicPr>
          <p:cNvPr id="2" name="Image 0" descr="/sessions/sleepy-zen-cray/mnt/outputs/deck_assets/logo_principal_blanco.png"/>
          <p:cNvPicPr>
            <a:picLocks noChangeAspect="1"/>
          </p:cNvPicPr>
          <p:nvPr/>
        </p:nvPicPr>
        <p:blipFill>
          <a:blip r:embed="rId3"/>
          <a:stretch>
            <a:fillRect/>
          </a:stretch>
        </p:blipFill>
        <p:spPr>
          <a:xfrm>
            <a:off x="5532120" y="457200"/>
            <a:ext cx="1097280" cy="1097280"/>
          </a:xfrm>
          <a:prstGeom prst="rect">
            <a:avLst/>
          </a:prstGeom>
        </p:spPr>
      </p:pic>
      <p:sp>
        <p:nvSpPr>
          <p:cNvPr id="3" name="Text 0"/>
          <p:cNvSpPr/>
          <p:nvPr/>
        </p:nvSpPr>
        <p:spPr>
          <a:xfrm>
            <a:off x="0" y="1828800"/>
            <a:ext cx="12161520" cy="914400"/>
          </a:xfrm>
          <a:prstGeom prst="rect">
            <a:avLst/>
          </a:prstGeom>
          <a:noFill/>
          <a:ln/>
        </p:spPr>
        <p:txBody>
          <a:bodyPr wrap="square" rtlCol="0" anchor="ctr"/>
          <a:lstStyle/>
          <a:p>
            <a:pPr marL="0" indent="0" algn="ctr">
              <a:buNone/>
            </a:pPr>
            <a:r>
              <a:rPr lang="en-US" sz="6000" b="1" dirty="0">
                <a:solidFill>
                  <a:srgbClr val="FFFFFF"/>
                </a:solidFill>
                <a:latin typeface="Calibri" pitchFamily="34" charset="0"/>
                <a:ea typeface="Calibri" pitchFamily="34" charset="-122"/>
                <a:cs typeface="Calibri" pitchFamily="34" charset="-120"/>
              </a:rPr>
              <a:t>Preguntas?</a:t>
            </a:r>
            <a:endParaRPr lang="en-US" sz="6000" dirty="0"/>
          </a:p>
        </p:txBody>
      </p:sp>
      <p:sp>
        <p:nvSpPr>
          <p:cNvPr id="4" name="Text 1"/>
          <p:cNvSpPr/>
          <p:nvPr/>
        </p:nvSpPr>
        <p:spPr>
          <a:xfrm>
            <a:off x="0" y="2834640"/>
            <a:ext cx="12161520" cy="731520"/>
          </a:xfrm>
          <a:prstGeom prst="rect">
            <a:avLst/>
          </a:prstGeom>
          <a:noFill/>
          <a:ln/>
        </p:spPr>
        <p:txBody>
          <a:bodyPr wrap="square" rtlCol="0" anchor="ctr"/>
          <a:lstStyle/>
          <a:p>
            <a:pPr marL="0" indent="0" algn="ctr">
              <a:buNone/>
            </a:pPr>
            <a:r>
              <a:rPr lang="en-US" sz="3600" dirty="0">
                <a:solidFill>
                  <a:srgbClr val="FFFFFF"/>
                </a:solidFill>
                <a:latin typeface="Malgun Gothic" pitchFamily="34" charset="0"/>
                <a:ea typeface="Malgun Gothic" pitchFamily="34" charset="-122"/>
                <a:cs typeface="Malgun Gothic" pitchFamily="34" charset="-120"/>
              </a:rPr>
              <a:t>질문이 있어요?</a:t>
            </a:r>
            <a:endParaRPr lang="en-US" sz="3600" dirty="0"/>
          </a:p>
        </p:txBody>
      </p:sp>
      <p:sp>
        <p:nvSpPr>
          <p:cNvPr id="5" name="Text 2"/>
          <p:cNvSpPr/>
          <p:nvPr/>
        </p:nvSpPr>
        <p:spPr>
          <a:xfrm>
            <a:off x="0" y="3931920"/>
            <a:ext cx="12161520" cy="36576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Link de inscripción en el chat:</a:t>
            </a:r>
            <a:endParaRPr lang="en-US" sz="1400" dirty="0"/>
          </a:p>
        </p:txBody>
      </p:sp>
      <p:sp>
        <p:nvSpPr>
          <p:cNvPr id="6" name="Text 3"/>
          <p:cNvSpPr/>
          <p:nvPr/>
        </p:nvSpPr>
        <p:spPr>
          <a:xfrm>
            <a:off x="0" y="4297680"/>
            <a:ext cx="12161520" cy="457200"/>
          </a:xfrm>
          <a:prstGeom prst="rect">
            <a:avLst/>
          </a:prstGeom>
          <a:noFill/>
          <a:ln/>
        </p:spPr>
        <p:txBody>
          <a:bodyPr wrap="square"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academiaseul.com/nivel-1</a:t>
            </a:r>
            <a:endParaRPr lang="en-US" sz="2400" dirty="0"/>
          </a:p>
        </p:txBody>
      </p:sp>
      <p:sp>
        <p:nvSpPr>
          <p:cNvPr id="7" name="Text 4"/>
          <p:cNvSpPr/>
          <p:nvPr/>
        </p:nvSpPr>
        <p:spPr>
          <a:xfrm>
            <a:off x="0" y="5212080"/>
            <a:ext cx="12161520" cy="365760"/>
          </a:xfrm>
          <a:prstGeom prst="rect">
            <a:avLst/>
          </a:prstGeom>
          <a:noFill/>
          <a:ln/>
        </p:spPr>
        <p:txBody>
          <a:bodyPr wrap="square"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 @jaychingu.oficial    🎵 @jaychingu.oficial    🎥 @jaychinguoficial</a:t>
            </a:r>
            <a:endParaRPr lang="en-US" sz="1200" dirty="0"/>
          </a:p>
        </p:txBody>
      </p:sp>
      <p:sp>
        <p:nvSpPr>
          <p:cNvPr id="8" name="Text 5"/>
          <p:cNvSpPr/>
          <p:nvPr/>
        </p:nvSpPr>
        <p:spPr>
          <a:xfrm>
            <a:off x="0" y="5760720"/>
            <a:ext cx="12161520" cy="457200"/>
          </a:xfrm>
          <a:prstGeom prst="rect">
            <a:avLst/>
          </a:prstGeom>
          <a:noFill/>
          <a:ln/>
        </p:spPr>
        <p:txBody>
          <a:bodyPr wrap="square" rtlCol="0" anchor="ctr"/>
          <a:lstStyle/>
          <a:p>
            <a:pPr marL="0" indent="0" algn="ctr">
              <a:buNone/>
            </a:pPr>
            <a:r>
              <a:rPr lang="en-US" sz="1800" i="1" dirty="0">
                <a:solidFill>
                  <a:srgbClr val="FFFFFF"/>
                </a:solidFill>
                <a:latin typeface="Calibri" pitchFamily="34" charset="0"/>
                <a:ea typeface="Calibri" pitchFamily="34" charset="-122"/>
                <a:cs typeface="Calibri" pitchFamily="34" charset="-120"/>
              </a:rPr>
              <a:t>💜 Gracias por estar acá hoy 💜</a:t>
            </a:r>
            <a:endParaRPr lang="en-US" sz="1800" dirty="0"/>
          </a:p>
        </p:txBody>
      </p:sp>
      <p:pic>
        <p:nvPicPr>
          <p:cNvPr id="9" name="Image 1" descr="/sessions/sleepy-zen-cray/mnt/outputs/deck_assets/sello_linea_v1_05.png"/>
          <p:cNvPicPr>
            <a:picLocks noChangeAspect="1"/>
          </p:cNvPicPr>
          <p:nvPr/>
        </p:nvPicPr>
        <p:blipFill>
          <a:blip r:embed="rId4"/>
          <a:stretch>
            <a:fillRect/>
          </a:stretch>
        </p:blipFill>
        <p:spPr>
          <a:xfrm>
            <a:off x="5440680" y="5852160"/>
            <a:ext cx="1280160" cy="128016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Ref 77">
    <p:spTree>
      <p:nvGrpSpPr>
        <p:cNvPr id="1" name=""/>
        <p:cNvGrpSpPr/>
        <p:nvPr/>
      </p:nvGrpSpPr>
      <p:grpSpPr>
        <a:xfrm>
          <a:off x="0" y="0"/>
          <a:ext cx="0" cy="0"/>
          <a:chOff x="0" y="0"/>
          <a:chExt cx="0" cy="0"/>
        </a:xfrm>
      </p:grpSpPr>
      <p:pic>
        <p:nvPicPr>
          <p:cNvPr id="2" name="ref77"/>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Ref 78">
    <p:spTree>
      <p:nvGrpSpPr>
        <p:cNvPr id="1" name=""/>
        <p:cNvGrpSpPr/>
        <p:nvPr/>
      </p:nvGrpSpPr>
      <p:grpSpPr>
        <a:xfrm>
          <a:off x="0" y="0"/>
          <a:ext cx="0" cy="0"/>
          <a:chOff x="0" y="0"/>
          <a:chExt cx="0" cy="0"/>
        </a:xfrm>
      </p:grpSpPr>
      <p:pic>
        <p:nvPicPr>
          <p:cNvPr id="2" name="ref78"/>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Ref 79">
    <p:spTree>
      <p:nvGrpSpPr>
        <p:cNvPr id="1" name=""/>
        <p:cNvGrpSpPr/>
        <p:nvPr/>
      </p:nvGrpSpPr>
      <p:grpSpPr>
        <a:xfrm>
          <a:off x="0" y="0"/>
          <a:ext cx="0" cy="0"/>
          <a:chOff x="0" y="0"/>
          <a:chExt cx="0" cy="0"/>
        </a:xfrm>
      </p:grpSpPr>
      <p:pic>
        <p:nvPicPr>
          <p:cNvPr id="2" name="ref79"/>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Ref 80">
    <p:spTree>
      <p:nvGrpSpPr>
        <p:cNvPr id="1" name=""/>
        <p:cNvGrpSpPr/>
        <p:nvPr/>
      </p:nvGrpSpPr>
      <p:grpSpPr>
        <a:xfrm>
          <a:off x="0" y="0"/>
          <a:ext cx="0" cy="0"/>
          <a:chOff x="0" y="0"/>
          <a:chExt cx="0" cy="0"/>
        </a:xfrm>
      </p:grpSpPr>
      <p:pic>
        <p:nvPicPr>
          <p:cNvPr id="2" name="ref80"/>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TotalTime>
  <Words>5778</Words>
  <Application>Microsoft Office PowerPoint</Application>
  <PresentationFormat>Widescreen</PresentationFormat>
  <Paragraphs>1430</Paragraphs>
  <Slides>76</Slides>
  <Notes>70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Malgun Gothic</vt:lpstr>
      <vt:lpstr>Arial</vt:lpstr>
      <vt:lpstr>Calibri</vt:lpstr>
      <vt:lpstr>Georgia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Academia Seúl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Academia Seúl · Taller Hangul · 6 Junio 2026</dc:title>
  <dc:subject>PptxGenJS Presentation</dc:subject>
  <dc:creator>김재희 (Jay Kim)</dc:creator>
  <cp:lastModifiedBy>Jae Hee Kim</cp:lastModifiedBy>
  <cp:revision>12</cp:revision>
  <dcterms:created xsi:type="dcterms:W3CDTF">2026-06-03T10:06:29Z</dcterms:created>
  <dcterms:modified xsi:type="dcterms:W3CDTF">2026-06-06T22:38:46Z</dcterms:modified>
</cp:coreProperties>
</file>