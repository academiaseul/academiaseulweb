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548640"/>
            <a:ext cx="1371600" cy="13716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2368" y="1938528"/>
            <a:ext cx="777240" cy="77724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331720" cy="384048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WEEK 07 · SEMANA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058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직장 문화와 회식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6C7D4"/>
                </a:solidFill>
                <a:latin typeface="Calibri"/>
                <a:ea typeface="Calibri"/>
                <a:cs typeface="Calibri"/>
              </a:rPr>
              <a:t>Workplace Culture &amp; Hoesik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Cultura laboral y hoesik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2336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온라인 회화 수업 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Online conversation lesson · 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188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Lección de conversación en línea · 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수업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Lesson Roadmap  ·  Ruta de la Clase   (60 min)</a:t>
            </a:r>
          </a:p>
        </p:txBody>
      </p:sp>
      <p:sp>
        <p:nvSpPr>
          <p:cNvPr id="4" name="Oval 3"/>
          <p:cNvSpPr/>
          <p:nvPr/>
        </p:nvSpPr>
        <p:spPr>
          <a:xfrm>
            <a:off x="1353312" y="2286000"/>
            <a:ext cx="731520" cy="731520"/>
          </a:xfrm>
          <a:prstGeom prst="ellipse">
            <a:avLst/>
          </a:prstGeom>
          <a:solidFill>
            <a:srgbClr val="9C5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Calentamiento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639312" y="2286000"/>
            <a:ext cx="731520" cy="731520"/>
          </a:xfrm>
          <a:prstGeom prst="ellipse">
            <a:avLst/>
          </a:prstGeom>
          <a:solidFill>
            <a:srgbClr val="8A4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어휘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916168" y="228600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202168" y="2286000"/>
            <a:ext cx="731520" cy="731520"/>
          </a:xfrm>
          <a:prstGeom prst="ellipse">
            <a:avLst/>
          </a:prstGeom>
          <a:solidFill>
            <a:srgbClr val="5A2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Gramática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10488168" y="2286000"/>
            <a:ext cx="731520" cy="731520"/>
          </a:xfrm>
          <a:prstGeom prst="ellipse">
            <a:avLst/>
          </a:prstGeom>
          <a:solidFill>
            <a:srgbClr val="4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88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오늘의 문법 · Today's grammar · Gramática de hoy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94960"/>
            <a:ext cx="10881360" cy="868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5955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-(으)시-     ·     -아/어도 되다     ·     -(으)면 안 되다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0702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Pedir permiso y marcar prohibiciones tratando con respeto a un superior.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직장 문화와 회식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직장 · Workplace &amp; Hoesik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  ·  Calentamiento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11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11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한국 회사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Korean office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28716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8716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회식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Company dinner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63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63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명함 교환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Exchanging cards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0881360" cy="199339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보면서 이야기해 보세요 · Talk about the photos · Habla sobre las fotos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36592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1. 아르바이트나 일을 해 본 적이 있어요?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983479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Have you ever had a part-time job or worked?  ·  ¿Has tenido alguna vez un trabajo o empleo parcial?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48656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2. 당신 나라에서는 상사를 어떻게 불러요?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49554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How do you address your boss in your country?  ·  ¿Cómo se llama al jefe en tu país?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3. 회사 사람들과 저녁을 자주 먹어요?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6007608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 you often have dinner with colleagues?  ·  ¿Cenas a menudo con tus compañeros de trabajo?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직장 문화와 회식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직장 · Workplace &amp; Hoesik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1 · Vocabulario Clave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empresa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사장님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company president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presidente/a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부장님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department 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jefe/a de departamento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선배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senior colleague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colega mayor (sunbae)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후배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junior colleague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colega menor (hubae)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동료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co-worker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compañero/a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meeting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reunión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야근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overtime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horas extra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직장 문화와 회식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직장 · Workplace &amp; Hoesik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2 · Vocabulario Clave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company dinner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cena de empresa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건배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cheers / a toast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brindis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따르다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pour (a drink)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servir (una bebida)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출근하다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go to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entrar a trabajar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퇴근하다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leave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salir del trabajo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예의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manners / etiquette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modales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수고하셨습니다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thank you for your 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gracias por su trabajo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실례합니다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excuse 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con permiso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직장 문화와 회식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직장 · Workplace &amp; Hoesik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Cultural Focus  ·  Claves Culturales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직급과 호칭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Titles, not names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회사에서는 이름 대신 직급으로 불러요. "김 부장님"처럼 말해요.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At work people are addressed by rank, not by name — "Manager Kim", not "Minsu".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el trabajo se llama por el cargo, no por el nombre: "gerente Kim", no "Minsu".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존댓말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Honorific speech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윗사람에게는 -(으)시-를 써요. 문법으로 존경을 표현해요.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Respect is encoded grammatically with -(으)시-; it is not optional politeness but syntax.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El respeto se marca gramaticalmente con -(으)시-: no es cortesía opcional, es sintaxis.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24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회식 문화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Hoesik, and how it is changing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회식은 같이 먹는 회사 저녁이에요. 요즘 젊은 사람들은 짧게 하고 싶어 해요.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Hoesik is the team dinner; younger employees increasingly push for shorter, lighter versions.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El hoesik es la cena de equipo; los empleados jóvenes piden versiones más cortas y ligeras.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직장 문화와 회식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직장 · Workplace &amp; Hoesik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 Patterns · Patrones Gramaticales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-(으)시-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subject honorific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honorífico del sujeto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221992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22199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부장님께서 지금 회의에 계세요.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7063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사장님이 뭐라고 말씀하셨어요?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99815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Introduction §5, pp. 20–24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93591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1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-아/어도 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may / it is okay to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poder / estar permitido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758183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58183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먼저 가도 돼요?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06824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여기 앉아도 될까요?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636007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7, p. 174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29783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21223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-(으)면 안 되다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96712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must not / is not allowed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no se debe / no está permitido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5294375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294375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회식에서 한 손으로 술을 따르면 안 돼요.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843016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회의에 늦으면 안 돼요.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6172199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7, p. 176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2103120"/>
            <a:ext cx="5486400" cy="54864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11480"/>
            <a:ext cx="914400" cy="9144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회화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Conversation Questions · Preguntas de Conversación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당신 나라의 회사 문화는 어때요?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is workplace culture like in your country?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¿Cómo es la cultura laboral en tu país?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상사에게 말할 때 어떻게 말해요?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do you speak to a superior?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¿Cómo le hablas a un superior?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회식 문화에 대해 어떻게 생각해요?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do you think about hoesik culture?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opinas de la cultura del hoesik?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회사에서 하면 안 되는 것은 뭐예요?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must you not do at work?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no se debe hacer en el trabajo?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59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일이 끝난 후에 동료들과 무엇을 해요?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do you do with colleagues after work?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haces con tus compañeros al salir del trabajo?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한국 회사에서 일해 보고 싶어요? 왜요?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Would you like to work at a Korean company? Why?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¿Te gustaría trabajar en una empresa coreana? ¿Por qué?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840480"/>
            <a:ext cx="4114800" cy="41148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수고하셨습니다!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Great work today!  ·  ¡Buen trabajo hoy!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과제: 상사에게 허락을 구하는 대화를 만드세요. (-아/어도 되다)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988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Tarea: crea un diálogo pidiendo permiso a un superior, usando -아/어도 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academiaseul.com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