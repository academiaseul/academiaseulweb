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02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4" y="740664"/>
            <a:ext cx="987552" cy="987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06940" y="1943100"/>
            <a:ext cx="777240" cy="777240"/>
          </a:xfrm>
          <a:prstGeom prst="ellipse">
            <a:avLst/>
          </a:prstGeom>
          <a:solidFill>
            <a:srgbClr val="E9C46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2/icons/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4" y="2051914"/>
            <a:ext cx="559613" cy="5596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 명절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Holidays: Seollal &amp; Chuseok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2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Festividades Coreanas: Seollal y Chuseok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회화 수업 자료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conversation lesson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 conversación en línea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SEÚL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수업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Roadmap  ·  Ruta de la Clase   (60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48740" y="2286000"/>
            <a:ext cx="731520" cy="731520"/>
          </a:xfrm>
          <a:prstGeom prst="ellipse">
            <a:avLst/>
          </a:prstGeom>
          <a:solidFill>
            <a:srgbClr val="9C5B76"/>
          </a:solidFill>
          <a:ln/>
        </p:spPr>
      </p:sp>
      <p:sp>
        <p:nvSpPr>
          <p:cNvPr id="5" name="Text 3"/>
          <p:cNvSpPr/>
          <p:nvPr/>
        </p:nvSpPr>
        <p:spPr>
          <a:xfrm>
            <a:off x="1348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워밍업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34740" y="2286000"/>
            <a:ext cx="731520" cy="731520"/>
          </a:xfrm>
          <a:prstGeom prst="ellipse">
            <a:avLst/>
          </a:prstGeom>
          <a:solidFill>
            <a:srgbClr val="8A4B65"/>
          </a:solidFill>
          <a:ln/>
        </p:spPr>
      </p:sp>
      <p:sp>
        <p:nvSpPr>
          <p:cNvPr id="13" name="Text 11"/>
          <p:cNvSpPr/>
          <p:nvPr/>
        </p:nvSpPr>
        <p:spPr>
          <a:xfrm>
            <a:off x="3634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0740" y="228600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5920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6740" y="2286000"/>
            <a:ext cx="731520" cy="731520"/>
          </a:xfrm>
          <a:prstGeom prst="ellipse">
            <a:avLst/>
          </a:prstGeom>
          <a:solidFill>
            <a:srgbClr val="5A2539"/>
          </a:solidFill>
          <a:ln/>
        </p:spPr>
      </p:sp>
      <p:sp>
        <p:nvSpPr>
          <p:cNvPr id="29" name="Text 27"/>
          <p:cNvSpPr/>
          <p:nvPr/>
        </p:nvSpPr>
        <p:spPr>
          <a:xfrm>
            <a:off x="8206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498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492740" y="2286000"/>
            <a:ext cx="731520" cy="731520"/>
          </a:xfrm>
          <a:prstGeom prst="ellipse">
            <a:avLst/>
          </a:prstGeom>
          <a:solidFill>
            <a:srgbClr val="4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10492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3E7EB"/>
          </a:solidFill>
          <a:ln w="19050">
            <a:solidFill>
              <a:srgbClr val="6D2E46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825496" y="2764231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/home/claude/dec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535" y="2849270"/>
            <a:ext cx="396850" cy="396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422599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음력 달력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71520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Calendar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852160" y="12801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CD9E1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1280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개념 · Key Concept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828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음력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5852160" y="2606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Calendar · Calendario Lunar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200400"/>
            <a:ext cx="5394960" cy="0"/>
          </a:xfrm>
          <a:prstGeom prst="line">
            <a:avLst/>
          </a:prstGeom>
          <a:noFill/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33649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· Explanation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52160" y="3657600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음력은 달의 움직임을 기준으로 만든 전통 달력이에요. 설날과 추석 같은 한국 명절은 음력 날짜로 </a:t>
            </a:r>
            <a:r>
              <a:rPr lang="en-US" sz="1400" dirty="0" err="1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정해져요</a:t>
            </a: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50" dirty="0">
              <a:solidFill>
                <a:srgbClr val="1D35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/>
              <a:t>양력 1년: 약 </a:t>
            </a:r>
            <a:r>
              <a:rPr lang="ko-KR" altLang="ko-KR" sz="1400" b="1" dirty="0"/>
              <a:t>365일</a:t>
            </a:r>
            <a:r>
              <a:rPr lang="ko-KR" altLang="ko-KR" sz="14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/>
              <a:t>음력 1년: 약 </a:t>
            </a:r>
            <a:r>
              <a:rPr lang="ko-KR" altLang="ko-KR" sz="1400" b="1" dirty="0"/>
              <a:t>354일</a:t>
            </a:r>
            <a:r>
              <a:rPr lang="ko-KR" altLang="ko-KR" sz="1400" dirty="0"/>
              <a:t> </a:t>
            </a:r>
          </a:p>
          <a:p>
            <a:pPr marL="0" indent="0">
              <a:buNone/>
            </a:pP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852160" y="4800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lunar calendar (eumnyeok) is based on the moon's cycles. Seollal and Chuseok follow lunar dates, so their date shifts each year on the Western calendar.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852160" y="5349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lunar (eumnyeok) se basa en los ciclos de la luna. Seollal y Chuseok siguen fechas lunares, por eso su fecha cambia cada año en el calendario occidental.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설날 vs 추석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Seollal vs Chuseok · Año Nuevo Lunar vs Chuseok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3E7EB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7260" y="235458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0" name="Image 1" descr="/home/claude/deck2/icons/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4" y="2463394"/>
            <a:ext cx="559613" cy="5596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설날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82880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New Year · Año Nuevo Lunar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005840" y="349300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0"/>
          <p:cNvSpPr/>
          <p:nvPr/>
        </p:nvSpPr>
        <p:spPr>
          <a:xfrm>
            <a:off x="126187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날짜: 음력 1월 1일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61872" y="3648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Lunar Jan 1st / Fecha: 1 de enero lunar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005840" y="40599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3"/>
          <p:cNvSpPr/>
          <p:nvPr/>
        </p:nvSpPr>
        <p:spPr>
          <a:xfrm>
            <a:off x="1261872" y="3922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음식: 떡국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261872" y="42153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Tteokguk / Comida: Tteokguk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005840" y="46268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6"/>
          <p:cNvSpPr/>
          <p:nvPr/>
        </p:nvSpPr>
        <p:spPr>
          <a:xfrm>
            <a:off x="1261872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옷: 한복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261872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Hanbok / Ropa: Hanbok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1005840" y="519379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19"/>
          <p:cNvSpPr/>
          <p:nvPr/>
        </p:nvSpPr>
        <p:spPr>
          <a:xfrm>
            <a:off x="1261872" y="5056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놀이: 윷놀이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261872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Game: Yutnori / Juego: Yutnori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005840" y="576072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2"/>
          <p:cNvSpPr/>
          <p:nvPr/>
        </p:nvSpPr>
        <p:spPr>
          <a:xfrm>
            <a:off x="1261872" y="5623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의미: 새해의 시작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61872" y="5916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Start of the new year / Significado: Inicio del año nuevo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63640" y="21031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3E7EB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560820" y="235458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0" name="Image 2" descr="/home/claude/deck2/icons/g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634" y="2463394"/>
            <a:ext cx="559613" cy="55961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5236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추석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74523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Chuseok · Acción de Gracias Coreana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629400" y="3493008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29"/>
          <p:cNvSpPr/>
          <p:nvPr/>
        </p:nvSpPr>
        <p:spPr>
          <a:xfrm>
            <a:off x="688543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날짜: 음력 8월 15일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885432" y="3648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Lunar Aug 15th / Fecha: 15 de agosto lunar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629400" y="4059936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7" name="Text 32"/>
          <p:cNvSpPr/>
          <p:nvPr/>
        </p:nvSpPr>
        <p:spPr>
          <a:xfrm>
            <a:off x="6885432" y="3922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음식: 송편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885432" y="42153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Songpyeon / Comida: Songpyeon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629400" y="4626864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0" name="Text 35"/>
          <p:cNvSpPr/>
          <p:nvPr/>
        </p:nvSpPr>
        <p:spPr>
          <a:xfrm>
            <a:off x="6885432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옷: 한복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885432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Hanbok / Ropa: Hanbok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629400" y="5193792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3" name="Text 38"/>
          <p:cNvSpPr/>
          <p:nvPr/>
        </p:nvSpPr>
        <p:spPr>
          <a:xfrm>
            <a:off x="6885432" y="5056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놀이: 강강술래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885432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Game: Ganggangsullae / Juego: Ganggangsullae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6629400" y="5760720"/>
            <a:ext cx="118872" cy="1188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6" name="Text 41"/>
          <p:cNvSpPr/>
          <p:nvPr/>
        </p:nvSpPr>
        <p:spPr>
          <a:xfrm>
            <a:off x="6885432" y="5623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의미: 추수 감사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6885432" y="5916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Harvest thanksgiving / Significado: Acción de gracias por la cosecha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워밍업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Calentamiento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3E7EB"/>
          </a:solidFill>
          <a:ln w="19050">
            <a:solidFill>
              <a:srgbClr val="6D2E4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071116" y="2642616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0" name="Image 1" descr="/home/claude/dec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55" y="2727655"/>
            <a:ext cx="396850" cy="396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한복 입기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Hanbok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72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2976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3E7EB"/>
          </a:solidFill>
          <a:ln w="19050">
            <a:solidFill>
              <a:srgbClr val="6D2E46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728716" y="2642616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/home/claude/dec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755" y="2727655"/>
            <a:ext cx="396850" cy="3968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48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윷놀이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4348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Yutnori Game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4348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9552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3E7EB"/>
          </a:solidFill>
          <a:ln w="19050">
            <a:solidFill>
              <a:srgbClr val="6D2E46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9386316" y="2642616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2" name="Image 3" descr="/home/claude/dec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355" y="2727655"/>
            <a:ext cx="396850" cy="396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924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차례상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924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Table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0924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40080" y="46634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3E7EB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보면서 이야기해 보세요 · Talk about the photos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설날이나 추석을 보낸 적이 있나요? 어땠어요?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4400" y="55046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한국 명절에 대해 무엇을 알고 있나요?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4400" y="58887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당신의 나라에도 이런 명절이 있나요?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어휘 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1 · Vocabulario Clave 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설날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86384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New Year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Nuevo Lunar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19856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추석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566160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Chuseok (Korean Thanksgiving)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Chuseok (Acción de Gracias coreana)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99632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음력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345936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calendar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lunar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79408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24" name="Text 21"/>
          <p:cNvSpPr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세배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125712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Year's bow to elders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reverencia de Año Nuevo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떡국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786384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cake soup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 de pastel de arroz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419856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34" name="Text 31"/>
          <p:cNvSpPr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송편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3566160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6616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half-moon rice cake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 de arroz en media luna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99632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39" name="Text 36"/>
          <p:cNvSpPr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한복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6345936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45936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Korean clothing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hanbok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979408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44" name="Text 41"/>
          <p:cNvSpPr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차례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9125712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25712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memorial rite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 ancestral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어휘 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2 · Vocabulario Clave 2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윷놀이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86384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yutnori (board game)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yutnori (juego tradicional)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19856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강강술래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566160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ganggangsullae (circle dance)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danza circular tradicional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99632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세뱃돈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345936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Year's money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de Año Nuevo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79408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24" name="Text 21"/>
          <p:cNvSpPr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고향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125712" y="271576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hometown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 natal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조상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786384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ancestros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4F02BC79-2392-0053-D2EB-E059995B9954}"/>
              </a:ext>
            </a:extLst>
          </p:cNvPr>
          <p:cNvSpPr/>
          <p:nvPr/>
        </p:nvSpPr>
        <p:spPr>
          <a:xfrm>
            <a:off x="3419856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E7EB"/>
          </a:solidFill>
          <a:ln/>
        </p:spPr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3AAA978A-F7B5-79E1-8154-CBE9111BF147}"/>
              </a:ext>
            </a:extLst>
          </p:cNvPr>
          <p:cNvSpPr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전통 이란 단어 넣어줘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8EE675EA-AE7B-F3DE-6B5F-89D7B70D90E7}"/>
              </a:ext>
            </a:extLst>
          </p:cNvPr>
          <p:cNvSpPr/>
          <p:nvPr/>
        </p:nvSpPr>
        <p:spPr>
          <a:xfrm>
            <a:off x="3566160" y="4818888"/>
            <a:ext cx="2377440" cy="0"/>
          </a:xfrm>
          <a:prstGeom prst="line">
            <a:avLst/>
          </a:prstGeom>
          <a:noFill/>
          <a:ln w="9525">
            <a:solidFill>
              <a:srgbClr val="6D2E46">
                <a:alpha val="60000"/>
              </a:srgbClr>
            </a:solidFill>
            <a:prstDash val="solid"/>
          </a:ln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8BE38139-5E0A-985A-0C22-DE01D5C04FA1}"/>
              </a:ext>
            </a:extLst>
          </p:cNvPr>
          <p:cNvSpPr/>
          <p:nvPr/>
        </p:nvSpPr>
        <p:spPr>
          <a:xfrm>
            <a:off x="356616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ancestors</a:t>
            </a:r>
            <a:endParaRPr lang="en-US" sz="105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F9E3BB81-D167-6EAC-B4B6-56DF6A7DE9F7}"/>
              </a:ext>
            </a:extLst>
          </p:cNvPr>
          <p:cNvSpPr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문법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Patterns · Patrones Gramaticales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3E7E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-(으)ㄴ 반면에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whereas / on the other hand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que / por otro lado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2221992"/>
            <a:ext cx="0" cy="1042416"/>
          </a:xfrm>
          <a:prstGeom prst="line">
            <a:avLst/>
          </a:prstGeom>
          <a:noFill/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설날에는 떡국을 먹는 반면에 추석에는 송편을 먹어요.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한국은 추석이 있는 반면에 제 나라는 없어요.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593592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3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-보다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(comparison)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(comparación)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60520" y="3758184"/>
            <a:ext cx="0" cy="1042416"/>
          </a:xfrm>
          <a:prstGeom prst="line">
            <a:avLst/>
          </a:prstGeom>
          <a:noFill/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375818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설날이 추석보다 더 추워요.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나라 명절이 한국 명절보다 짧아요.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129784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3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-처럼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/ as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60520" y="5294376"/>
            <a:ext cx="0" cy="1042416"/>
          </a:xfrm>
          <a:prstGeom prst="line">
            <a:avLst/>
          </a:prstGeom>
          <a:noFill/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4840" y="529437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 사람처럼 세배를 해 보고 싶어요.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가족 모임처럼 다 같이 모여요.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" name="Image 0" descr="/home/claude/deck2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명절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설날 &amp; 추석 · Seollal &amp; Chuseok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명절 인사 표현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Greetings · Saludos de Festividad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1671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새해 복 많이 받으세요!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25877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New Year! (formal greeting)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" y="29169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¡Feliz Año Nuevo! (saludo formal)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20574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13" name="Text 10"/>
          <p:cNvSpPr/>
          <p:nvPr/>
        </p:nvSpPr>
        <p:spPr>
          <a:xfrm>
            <a:off x="6336792" y="21671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건강하세요!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36792" y="25877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healthy!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36792" y="29169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¡Que tengas salud!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429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35387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추석 잘 보내세요!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9593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good Chuseok!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4672" y="42885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¡Que pases un buen Chuseok!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3429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21" name="Text 18"/>
          <p:cNvSpPr/>
          <p:nvPr/>
        </p:nvSpPr>
        <p:spPr>
          <a:xfrm>
            <a:off x="6336792" y="35387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명절 잘 보내세요!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36792" y="39593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good holiday!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36792" y="42885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¡Que pases una buena festividad!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48006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25" name="Text 22"/>
          <p:cNvSpPr/>
          <p:nvPr/>
        </p:nvSpPr>
        <p:spPr>
          <a:xfrm>
            <a:off x="804672" y="49103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맛있게 드세요!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" y="53309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your meal!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4672" y="56601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provecho!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72200" y="48006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D9E1"/>
          </a:solidFill>
          <a:ln/>
        </p:spPr>
      </p:sp>
      <p:sp>
        <p:nvSpPr>
          <p:cNvPr id="29" name="Text 26"/>
          <p:cNvSpPr/>
          <p:nvPr/>
        </p:nvSpPr>
        <p:spPr>
          <a:xfrm>
            <a:off x="6336792" y="491032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다음에 또 만나요!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36792" y="533095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again next time!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36792" y="566013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¡Nos vemos la próxima vez!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2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53949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회화 질문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Questions · Preguntas de Conversación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9280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53312" y="18013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당신의 나라에도 설날이나 추석과 비슷한 명절이 있나요? 그 명절은 언제예요?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64808" y="189280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6464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76872" y="18013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명절에는 무엇을 먹어요? 한국의 떡국이나 송편과 비슷한 음식이 있나요?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41248" y="344728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53312" y="33558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명절에 특별한 옷을 입나요? 한국의 한복처럼요.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64808" y="344728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76872" y="33558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명절에 가족들과 어떤 놀이를 해요? 한국은 윷놀이를 해요.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800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41248" y="500176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53312" y="491032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명절의 의미는 무엇인가요? 설날은 새해의 시작, 추석은 추수 감사의 의미가 있어요.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4800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64808" y="500176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Text 26"/>
          <p:cNvSpPr/>
          <p:nvPr/>
        </p:nvSpPr>
        <p:spPr>
          <a:xfrm>
            <a:off x="646480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76872" y="491032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명절과 당신 나라의 명절 중에서 어떤 점이 비슷하고 어떤 점이 다른가요?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수고하셨습니다!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 ·  ¡Buen trabajo hoy!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SEÚL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academiaseul.com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950</Words>
  <Application>Microsoft Office PowerPoint</Application>
  <PresentationFormat>와이드스크린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미영 홍</cp:lastModifiedBy>
  <cp:revision>3</cp:revision>
  <dcterms:created xsi:type="dcterms:W3CDTF">2026-08-05T10:57:23Z</dcterms:created>
  <dcterms:modified xsi:type="dcterms:W3CDTF">2026-08-05T11:13:31Z</dcterms:modified>
</cp:coreProperties>
</file>