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355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142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332720" y="4206240"/>
            <a:ext cx="3291840" cy="3291840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280160" y="5120640"/>
            <a:ext cx="3108960" cy="3108960"/>
          </a:xfrm>
          <a:prstGeom prst="ellipse">
            <a:avLst/>
          </a:prstGeom>
          <a:solidFill>
            <a:srgbClr val="2E43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378440" y="548640"/>
            <a:ext cx="1371600" cy="1371600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802368" y="1938528"/>
            <a:ext cx="777240" cy="777240"/>
          </a:xfrm>
          <a:prstGeom prst="ellipse">
            <a:avLst/>
          </a:prstGeom>
          <a:solidFill>
            <a:srgbClr val="E9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234440"/>
            <a:ext cx="2331720" cy="384048"/>
          </a:xfrm>
          <a:prstGeom prst="roundRect">
            <a:avLst>
              <a:gd name="adj" fmla="val 25000"/>
            </a:avLst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234440"/>
            <a:ext cx="23317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WEEK 09 · SEMANA 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828800"/>
            <a:ext cx="1005840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54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한국 명절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788920"/>
            <a:ext cx="9144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E6C7D4"/>
                </a:solidFill>
                <a:latin typeface="Calibri"/>
                <a:ea typeface="Calibri"/>
                <a:cs typeface="Calibri"/>
              </a:rPr>
              <a:t>Korean Holidays: Seollal &amp; Chuseok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218688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D2A6B8"/>
                </a:solidFill>
                <a:latin typeface="Calibri"/>
                <a:ea typeface="Calibri"/>
                <a:cs typeface="Calibri"/>
              </a:rPr>
              <a:t>Festividades Coreanas: Seollal y Chuseok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023360"/>
            <a:ext cx="2011680" cy="12700"/>
          </a:xfrm>
          <a:prstGeom prst="rect">
            <a:avLst/>
          </a:prstGeom>
          <a:solidFill>
            <a:srgbClr val="E9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20624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온라인 회화 수업 자료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544568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FA3C7"/>
                </a:solidFill>
                <a:latin typeface="Calibri"/>
                <a:ea typeface="Calibri"/>
                <a:cs typeface="Calibri"/>
              </a:rPr>
              <a:t>Online conversation lesson · A2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818888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FA3C7"/>
                </a:solidFill>
                <a:latin typeface="Calibri"/>
                <a:ea typeface="Calibri"/>
                <a:cs typeface="Calibri"/>
              </a:rPr>
              <a:t>Lección de conversación en línea · A2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12648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ACADEMIA SEÚL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0" y="6172200"/>
            <a:ext cx="5303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8FA3C7"/>
                </a:solidFill>
                <a:latin typeface="Calibri"/>
                <a:ea typeface="Calibri"/>
                <a:cs typeface="Calibri"/>
              </a:rPr>
              <a:t>수업 자료 · Lesson by 홍미영 (Abby)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수업 구성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87552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Lesson Roadmap  ·  Ruta de la Clase   (60 min)</a:t>
            </a:r>
          </a:p>
        </p:txBody>
      </p:sp>
      <p:sp>
        <p:nvSpPr>
          <p:cNvPr id="4" name="Oval 3"/>
          <p:cNvSpPr/>
          <p:nvPr/>
        </p:nvSpPr>
        <p:spPr>
          <a:xfrm>
            <a:off x="1353312" y="2286000"/>
            <a:ext cx="731520" cy="731520"/>
          </a:xfrm>
          <a:prstGeom prst="ellipse">
            <a:avLst/>
          </a:prstGeom>
          <a:solidFill>
            <a:srgbClr val="9C5B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53312" y="228600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246120"/>
            <a:ext cx="2148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워밍업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657600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Warm-up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913632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Calentamiento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224528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5분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88920" y="2423160"/>
            <a:ext cx="182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E7E4DC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11" name="Oval 10"/>
          <p:cNvSpPr/>
          <p:nvPr/>
        </p:nvSpPr>
        <p:spPr>
          <a:xfrm>
            <a:off x="3639312" y="2286000"/>
            <a:ext cx="731520" cy="731520"/>
          </a:xfrm>
          <a:prstGeom prst="ellipse">
            <a:avLst/>
          </a:prstGeom>
          <a:solidFill>
            <a:srgbClr val="8A4B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39312" y="228600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3246120"/>
            <a:ext cx="2148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어휘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3657600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Vocabulary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3913632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Vocabulario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4224528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10분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74920" y="2423160"/>
            <a:ext cx="182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E7E4DC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18" name="Oval 17"/>
          <p:cNvSpPr/>
          <p:nvPr/>
        </p:nvSpPr>
        <p:spPr>
          <a:xfrm>
            <a:off x="5916168" y="2286000"/>
            <a:ext cx="731520" cy="731520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16168" y="228600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0" y="3246120"/>
            <a:ext cx="2148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문화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3657600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Culture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80" y="3913632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Cultura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80" y="4224528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15분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60920" y="2423160"/>
            <a:ext cx="182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E7E4DC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25" name="Oval 24"/>
          <p:cNvSpPr/>
          <p:nvPr/>
        </p:nvSpPr>
        <p:spPr>
          <a:xfrm>
            <a:off x="8202168" y="2286000"/>
            <a:ext cx="731520" cy="731520"/>
          </a:xfrm>
          <a:prstGeom prst="ellipse">
            <a:avLst/>
          </a:prstGeom>
          <a:solidFill>
            <a:srgbClr val="5A25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02168" y="228600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79" y="3246120"/>
            <a:ext cx="2148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문법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79" y="3657600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Grammar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79" y="3913632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Gramática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79" y="4224528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15분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46920" y="2423160"/>
            <a:ext cx="182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E7E4DC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32" name="Oval 31"/>
          <p:cNvSpPr/>
          <p:nvPr/>
        </p:nvSpPr>
        <p:spPr>
          <a:xfrm>
            <a:off x="10488168" y="2286000"/>
            <a:ext cx="731520" cy="731520"/>
          </a:xfrm>
          <a:prstGeom prst="ellipse">
            <a:avLst/>
          </a:prstGeom>
          <a:solidFill>
            <a:srgbClr val="45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488168" y="228600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84080" y="3246120"/>
            <a:ext cx="2148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회화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84080" y="3657600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Conversation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84080" y="3913632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Conversación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84080" y="4224528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15분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507492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오늘의 문법 · Today's grammar · Gramática de hoy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" y="5394960"/>
            <a:ext cx="10881360" cy="86868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5559552"/>
            <a:ext cx="10332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6D2E46"/>
                </a:solidFill>
                <a:latin typeface="Cambria"/>
                <a:ea typeface="Cambria"/>
                <a:cs typeface="Cambria"/>
              </a:rPr>
              <a:t>-(으)ㄴ 반면에     ·     N보다     ·     N처럼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5907024"/>
            <a:ext cx="10332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Contrastar dos fiestas y compararlas con las de tu país.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457200"/>
            <a:ext cx="502920" cy="502920"/>
          </a:xfrm>
          <a:prstGeom prst="roundRect">
            <a:avLst>
              <a:gd name="adj" fmla="val 18000"/>
            </a:avLst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4114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한국 명절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68580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설날 &amp; 추석 · Seollal &amp; Chuseok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워밍업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72768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Warm-up  ·  Calentamiento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057400"/>
            <a:ext cx="3429000" cy="201168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071115" y="2359152"/>
            <a:ext cx="566928" cy="566928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71115" y="2359152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035808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한복 입기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319272"/>
            <a:ext cx="3154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Wearing hanbok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639312"/>
            <a:ext cx="3154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사진을 추가하세요 · Add photo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2057400"/>
            <a:ext cx="3429000" cy="201168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728716" y="2359152"/>
            <a:ext cx="566928" cy="566928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28716" y="2359152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3035808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윷놀이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3319272"/>
            <a:ext cx="3154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Yutnori game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3639312"/>
            <a:ext cx="3154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사진을 추가하세요 · Add photo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55279" y="2057400"/>
            <a:ext cx="3429000" cy="201168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386315" y="2359152"/>
            <a:ext cx="566928" cy="566928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86315" y="2359152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2440" y="3035808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차례상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92440" y="3319272"/>
            <a:ext cx="3154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Ancestral table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92440" y="3639312"/>
            <a:ext cx="3154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사진을 추가하세요 · Add photo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4315968"/>
            <a:ext cx="10881360" cy="1993392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4434840"/>
            <a:ext cx="10058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사진을 보면서 이야기해 보세요 · Talk about the photos · Habla sobre las fotos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4736592"/>
            <a:ext cx="10332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1. 설날이나 추석을 보낸 적이 있나요? 어땠어요?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" y="4983479"/>
            <a:ext cx="10149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Have you ever spent Seollal or Chuseok? How was it?  ·  ¿Has pasado alguna vez Seollal o Chuseok? ¿Qué tal?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248656"/>
            <a:ext cx="10332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2. 한국 명절에 대해 무엇을 알고 있나요?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" y="5495544"/>
            <a:ext cx="10149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What do you know about Korean holidays?  ·  ¿Qué sabes de las festividades coreanas?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5760720"/>
            <a:ext cx="10332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3. 당신의 나라에도 이런 명절이 있나요?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" y="6007608"/>
            <a:ext cx="10149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Does your country have holidays like these?  ·  ¿Tu país tiene festividades como estas?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457200"/>
            <a:ext cx="502920" cy="502920"/>
          </a:xfrm>
          <a:prstGeom prst="roundRect">
            <a:avLst>
              <a:gd name="adj" fmla="val 18000"/>
            </a:avLst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4114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한국 명절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68580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설날 &amp; 추석 · Seollal &amp; Chuseok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핵심 어휘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72768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Key Vocabulary 1 · Vocabulario Clave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057400"/>
            <a:ext cx="2670048" cy="196596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2185416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설날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6384" y="2715768"/>
            <a:ext cx="2377440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2834640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EN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Lunar New Year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338328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ES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Año Nuevo Lunar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19856" y="2057400"/>
            <a:ext cx="2670048" cy="196596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66160" y="2185416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추석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66160" y="2715768"/>
            <a:ext cx="2377440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6160" y="2834640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EN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Chuseok (Korean Thanksgiving)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338328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ES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Chuseok (Acción de Gracias coreana)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9632" y="2057400"/>
            <a:ext cx="2670048" cy="196596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45936" y="2185416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음력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45936" y="2715768"/>
            <a:ext cx="2377440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45936" y="2834640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EN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lunar calendar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45936" y="338328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ES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calendario lunar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79408" y="2057400"/>
            <a:ext cx="2670048" cy="196596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25712" y="2185416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세배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25712" y="2715768"/>
            <a:ext cx="2377440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25712" y="2834640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EN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New Year's bow to elders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25712" y="338328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ES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reverencia de Año Nuevo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4160520"/>
            <a:ext cx="2670048" cy="196596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6384" y="4288536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떡국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86384" y="4818888"/>
            <a:ext cx="2377440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6384" y="4937759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EN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rice cake soup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6384" y="548640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ES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sopa de pastel de arroz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419856" y="4160520"/>
            <a:ext cx="2670048" cy="196596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66160" y="4288536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송편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566160" y="4818888"/>
            <a:ext cx="2377440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566160" y="4937759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EN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half-moon rice cake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0" y="548640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ES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pastel de arroz en media luna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99632" y="4160520"/>
            <a:ext cx="2670048" cy="196596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45936" y="4288536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한복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45936" y="4818888"/>
            <a:ext cx="2377440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45936" y="4937759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EN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traditional Korean clothing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45936" y="548640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ES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hanbok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979408" y="4160520"/>
            <a:ext cx="2670048" cy="196596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25712" y="4288536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차례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125712" y="4818888"/>
            <a:ext cx="2377440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125712" y="4937759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EN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ancestral memorial rite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25712" y="548640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ES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ceremonia ancestral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457200"/>
            <a:ext cx="502920" cy="502920"/>
          </a:xfrm>
          <a:prstGeom prst="roundRect">
            <a:avLst>
              <a:gd name="adj" fmla="val 18000"/>
            </a:avLst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4114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한국 명절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68580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설날 &amp; 추석 · Seollal &amp; Chuseok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핵심 어휘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72768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Key Vocabulary 2 · Vocabulario Clave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05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057400"/>
            <a:ext cx="2670048" cy="196596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2185416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윷놀이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6384" y="2715768"/>
            <a:ext cx="2377440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2834640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EN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yutnori (board game)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338328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ES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yutnori (juego tradicional)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19856" y="2057400"/>
            <a:ext cx="2670048" cy="196596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66160" y="2185416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강강술래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66160" y="2715768"/>
            <a:ext cx="2377440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6160" y="2834640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EN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ganggangsullae (circle dance)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338328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ES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danza circular tradicional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9632" y="2057400"/>
            <a:ext cx="2670048" cy="196596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45936" y="2185416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세뱃돈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45936" y="2715768"/>
            <a:ext cx="2377440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45936" y="2834640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EN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New Year's money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45936" y="338328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ES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dinero de Año Nuevo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79408" y="2057400"/>
            <a:ext cx="2670048" cy="196596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25712" y="2185416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고향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25712" y="2715768"/>
            <a:ext cx="2377440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25712" y="2834640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EN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hometown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25712" y="338328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ES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pueblo natal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4160520"/>
            <a:ext cx="2670048" cy="196596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6384" y="4288536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조상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86384" y="4818888"/>
            <a:ext cx="2377440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6384" y="4937759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EN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ancestors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6384" y="548640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ES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ancestros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419856" y="4160520"/>
            <a:ext cx="2670048" cy="196596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66160" y="4288536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전통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566160" y="4818888"/>
            <a:ext cx="2377440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566160" y="4937759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EN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tradition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0" y="548640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ES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tradición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99632" y="4160520"/>
            <a:ext cx="2670048" cy="196596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45936" y="4288536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명절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45936" y="4818888"/>
            <a:ext cx="2377440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45936" y="4937759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EN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national holiday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45936" y="548640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ES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festividad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979408" y="4160520"/>
            <a:ext cx="2670048" cy="196596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25712" y="4288536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가족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125712" y="4818888"/>
            <a:ext cx="2377440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125712" y="4937759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EN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family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25712" y="548640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ES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familia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457200"/>
            <a:ext cx="502920" cy="502920"/>
          </a:xfrm>
          <a:prstGeom prst="roundRect">
            <a:avLst>
              <a:gd name="adj" fmla="val 18000"/>
            </a:avLst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4114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한국 명절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68580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설날 &amp; 추석 · Seollal &amp; Chuseok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문화 핵심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72768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Cultural Focus  ·  Claves Culturales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06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057400"/>
            <a:ext cx="3429000" cy="406908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77240" y="2221992"/>
            <a:ext cx="502920" cy="502920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221992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834640"/>
            <a:ext cx="3154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음력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273552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The lunar calendar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3611880"/>
            <a:ext cx="3154680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749039"/>
            <a:ext cx="315468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음력은 달의 움직임을 기준으로 만든 전통 달력이에요. 그래서 명절 날짜가 해마다 바뀌어요.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80060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The lunar calendar follows the moon's cycles, so holiday dates shift each year on the Western calendar.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468112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El calendario lunar sigue los ciclos de la luna, por eso las fechas cambian cada año en el calendario occidental.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2057400"/>
            <a:ext cx="3429000" cy="406908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434840" y="2221992"/>
            <a:ext cx="502920" cy="502920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34840" y="2221992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2834640"/>
            <a:ext cx="3154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설날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3273552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Seollal · Lunar New Year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34840" y="3611880"/>
            <a:ext cx="3154680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34840" y="3749039"/>
            <a:ext cx="315468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음력 1월 1일이에요. 떡국을 먹고 한복을 입고 세배를 해요. 윷놀이도 해요.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480060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Lunar January 1st: families eat tteokguk, wear hanbok, bow to elders and play yutnori.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34840" y="5468112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1 de enero lunar: se come tteokguk, se viste hanbok, se hace la reverencia y se juega al yutnori.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955279" y="2057400"/>
            <a:ext cx="3429000" cy="406908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092440" y="2221992"/>
            <a:ext cx="502920" cy="502920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92440" y="2221992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92440" y="2834640"/>
            <a:ext cx="3154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추석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92440" y="3273552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Chuseok · harvest thanksgiving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92440" y="3611880"/>
            <a:ext cx="3154680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92440" y="3749039"/>
            <a:ext cx="315468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음력 8월 15일이에요. 송편을 만들고 고향에 가서 조상에게 차례를 지내요.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92440" y="480060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Lunar August 15th: families make songpyeon, return to their hometown and hold rites for ancestors.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92440" y="5468112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15 de agosto lunar: se hace songpyeon, se vuelve al pueblo natal y se honra a los ancestros.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457200"/>
            <a:ext cx="502920" cy="502920"/>
          </a:xfrm>
          <a:prstGeom prst="roundRect">
            <a:avLst>
              <a:gd name="adj" fmla="val 18000"/>
            </a:avLst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4114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한국 명절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68580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설날 &amp; 추석 · Seollal &amp; Chuseok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문법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72768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Grammar Patterns · Patrones Gramaticales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07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057400"/>
            <a:ext cx="10881360" cy="137160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148840"/>
            <a:ext cx="3154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6D2E46"/>
                </a:solidFill>
                <a:latin typeface="Cambria"/>
                <a:ea typeface="Cambria"/>
                <a:cs typeface="Cambria"/>
              </a:rPr>
              <a:t>-(으)ㄴ 반면에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624328"/>
            <a:ext cx="31089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whereas / on the other hand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mientras que / por otro lado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60520" y="2221992"/>
            <a:ext cx="10972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2221992"/>
            <a:ext cx="6903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• 설날에는 떡국을 먹는 반면에 추석에는 송편을 먹어요.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2770632"/>
            <a:ext cx="6903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• 한국은 추석이 있는 반면에 제 나라는 없어요.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3099815"/>
            <a:ext cx="6903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Requires the noun modifiers of Week 04 · Unit 18, p. 272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593591"/>
            <a:ext cx="10881360" cy="137160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685031"/>
            <a:ext cx="3154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6D2E46"/>
                </a:solidFill>
                <a:latin typeface="Cambria"/>
                <a:ea typeface="Cambria"/>
                <a:cs typeface="Cambria"/>
              </a:rPr>
              <a:t>N보다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160520"/>
            <a:ext cx="31089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than (comparison)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que (comparación)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60520" y="3758183"/>
            <a:ext cx="10972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34840" y="3758183"/>
            <a:ext cx="6903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• 설날이 추석보다 더 추워요.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4306824"/>
            <a:ext cx="6903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• 우리 나라 명절이 한국 명절보다 짧아요.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4636007"/>
            <a:ext cx="6903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Korean Grammar in Use · Unit 3, p. 114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5129783"/>
            <a:ext cx="10881360" cy="137160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5221223"/>
            <a:ext cx="3154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6D2E46"/>
                </a:solidFill>
                <a:latin typeface="Cambria"/>
                <a:ea typeface="Cambria"/>
                <a:cs typeface="Cambria"/>
              </a:rPr>
              <a:t>N처럼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5696712"/>
            <a:ext cx="31089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like / as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como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60520" y="5294375"/>
            <a:ext cx="10972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34840" y="5294375"/>
            <a:ext cx="6903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• 한국 사람처럼 세배를 해 보고 싶어요.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34840" y="5843016"/>
            <a:ext cx="6903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• 우리 가족 모임처럼 다 같이 모여요.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34840" y="6172199"/>
            <a:ext cx="6903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Korean Grammar in Use · Unit 3, p. 112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457200"/>
            <a:ext cx="502920" cy="502920"/>
          </a:xfrm>
          <a:prstGeom prst="roundRect">
            <a:avLst>
              <a:gd name="adj" fmla="val 18000"/>
            </a:avLst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4114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한국 명절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68580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설날 &amp; 추석 · Seollal &amp; Chuseok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표현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72768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Useful Expressions · Expresiones Útiles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08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148840"/>
            <a:ext cx="3429000" cy="196596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1" y="2295144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새해 복 많이 받으세요!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671" y="2990088"/>
            <a:ext cx="3108960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1" y="3108960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EN  </a:t>
            </a:r>
            <a:r>
              <a:rPr sz="100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Happy New Year! (formal)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1" y="3566160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ES  </a:t>
            </a:r>
            <a:r>
              <a:rPr sz="100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¡Feliz Año Nuevo! (formal)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2148840"/>
            <a:ext cx="3429000" cy="196596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62272" y="2295144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건강하세요!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62272" y="2990088"/>
            <a:ext cx="3108960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62272" y="3108960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EN  </a:t>
            </a:r>
            <a:r>
              <a:rPr sz="100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Stay healthy!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62272" y="3566160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ES  </a:t>
            </a:r>
            <a:r>
              <a:rPr sz="100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¡Que tengas salud!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55279" y="2148840"/>
            <a:ext cx="3429000" cy="196596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19871" y="2295144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추석 잘 보내세요!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19871" y="2990088"/>
            <a:ext cx="3108960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19871" y="3108960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EN  </a:t>
            </a:r>
            <a:r>
              <a:rPr sz="100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Have a good Chuseok!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19871" y="3566160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ES  </a:t>
            </a:r>
            <a:r>
              <a:rPr sz="100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¡Que pases un buen Chuseok!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4251960"/>
            <a:ext cx="3429000" cy="196596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1" y="4398264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명절 잘 보내세요!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4671" y="5093208"/>
            <a:ext cx="3108960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4671" y="5212080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EN  </a:t>
            </a:r>
            <a:r>
              <a:rPr sz="100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Have a good holiday!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1" y="5669280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ES  </a:t>
            </a:r>
            <a:r>
              <a:rPr sz="100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¡Que pases una buena festividad!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97680" y="4251960"/>
            <a:ext cx="3429000" cy="196596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62272" y="4398264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맛있게 드세요!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462272" y="5093208"/>
            <a:ext cx="3108960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62272" y="5212080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EN  </a:t>
            </a:r>
            <a:r>
              <a:rPr sz="100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Enjoy your meal!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62272" y="5669280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ES  </a:t>
            </a:r>
            <a:r>
              <a:rPr sz="100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¡Buen provecho!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955279" y="4251960"/>
            <a:ext cx="3429000" cy="196596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19871" y="4398264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다음에 또 만나요!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119871" y="5093208"/>
            <a:ext cx="3108960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119871" y="5212080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EN  </a:t>
            </a:r>
            <a:r>
              <a:rPr sz="100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See you again next time!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19871" y="5669280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ES  </a:t>
            </a:r>
            <a:r>
              <a:rPr sz="100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¡Nos vemos la próxima vez!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355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509760" y="-2103120"/>
            <a:ext cx="5486400" cy="5486400"/>
          </a:xfrm>
          <a:prstGeom prst="ellipse">
            <a:avLst/>
          </a:prstGeom>
          <a:solidFill>
            <a:srgbClr val="142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24160" y="411480"/>
            <a:ext cx="914400" cy="914400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73152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회화 질문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87552"/>
            <a:ext cx="8686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Conversation Questions · Preguntas de Conversación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5257800" cy="1481328"/>
          </a:xfrm>
          <a:prstGeom prst="rect">
            <a:avLst/>
          </a:prstGeom>
          <a:solidFill>
            <a:srgbClr val="FFFFFF">
              <a:alpha val="9000"/>
            </a:srgbClr>
          </a:solidFill>
          <a:ln w="9525">
            <a:solidFill>
              <a:srgbClr val="8FA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59" y="1627632"/>
            <a:ext cx="347472" cy="347472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627632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8448" y="1609344"/>
            <a:ext cx="441655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당신의 나라에도 설날이나 추석과 비슷한 명절이 있나요?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448" y="2212848"/>
            <a:ext cx="44165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Does your country have holidays like Seollal or Chuseok?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8448" y="2542032"/>
            <a:ext cx="44165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D2A6B8"/>
                </a:solidFill>
                <a:latin typeface="Calibri"/>
                <a:ea typeface="Calibri"/>
                <a:cs typeface="Calibri"/>
              </a:rPr>
              <a:t>¿Tu país tiene fiestas parecidas a Seollal o Chuseok?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463040"/>
            <a:ext cx="5257800" cy="1481328"/>
          </a:xfrm>
          <a:prstGeom prst="rect">
            <a:avLst/>
          </a:prstGeom>
          <a:solidFill>
            <a:srgbClr val="FFFFFF">
              <a:alpha val="9000"/>
            </a:srgbClr>
          </a:solidFill>
          <a:ln w="9525">
            <a:solidFill>
              <a:srgbClr val="8FA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1627632"/>
            <a:ext cx="347472" cy="347472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627632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2008" y="1609344"/>
            <a:ext cx="441655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그 명절에는 무엇을 먹어요?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22008" y="2212848"/>
            <a:ext cx="44165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What do people eat on that holiday?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22008" y="2542032"/>
            <a:ext cx="44165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D2A6B8"/>
                </a:solidFill>
                <a:latin typeface="Calibri"/>
                <a:ea typeface="Calibri"/>
                <a:cs typeface="Calibri"/>
              </a:rPr>
              <a:t>¿Qué se come en esa festividad?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090672"/>
            <a:ext cx="5257800" cy="1481328"/>
          </a:xfrm>
          <a:prstGeom prst="rect">
            <a:avLst/>
          </a:prstGeom>
          <a:solidFill>
            <a:srgbClr val="FFFFFF">
              <a:alpha val="9000"/>
            </a:srgbClr>
          </a:solidFill>
          <a:ln w="9525">
            <a:solidFill>
              <a:srgbClr val="8FA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2959" y="3255264"/>
            <a:ext cx="347472" cy="347472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59" y="3255264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98448" y="3236976"/>
            <a:ext cx="441655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그 명절에 특별한 옷을 입나요? 한국의 한복처럼요.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98448" y="3840480"/>
            <a:ext cx="44165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Do you wear special clothes, like the Korean hanbok?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98448" y="4169663"/>
            <a:ext cx="44165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D2A6B8"/>
                </a:solidFill>
                <a:latin typeface="Calibri"/>
                <a:ea typeface="Calibri"/>
                <a:cs typeface="Calibri"/>
              </a:rPr>
              <a:t>¿Se usa ropa especial, como el hanbok coreano?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63640" y="3090672"/>
            <a:ext cx="5257800" cy="1481328"/>
          </a:xfrm>
          <a:prstGeom prst="rect">
            <a:avLst/>
          </a:prstGeom>
          <a:solidFill>
            <a:srgbClr val="FFFFFF">
              <a:alpha val="9000"/>
            </a:srgbClr>
          </a:solidFill>
          <a:ln w="9525">
            <a:solidFill>
              <a:srgbClr val="8FA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446520" y="3255264"/>
            <a:ext cx="347472" cy="347472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46520" y="3255264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22008" y="3236976"/>
            <a:ext cx="441655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그 명절에 가족들과 어떤 놀이를 해요?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22008" y="3840480"/>
            <a:ext cx="44165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What games do you play with family then?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22008" y="4169663"/>
            <a:ext cx="44165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D2A6B8"/>
                </a:solidFill>
                <a:latin typeface="Calibri"/>
                <a:ea typeface="Calibri"/>
                <a:cs typeface="Calibri"/>
              </a:rPr>
              <a:t>¿A qué juegan en familia en esa fecha?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4718304"/>
            <a:ext cx="5257800" cy="1481328"/>
          </a:xfrm>
          <a:prstGeom prst="rect">
            <a:avLst/>
          </a:prstGeom>
          <a:solidFill>
            <a:srgbClr val="FFFFFF">
              <a:alpha val="9000"/>
            </a:srgbClr>
          </a:solidFill>
          <a:ln w="9525">
            <a:solidFill>
              <a:srgbClr val="8FA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22959" y="4882896"/>
            <a:ext cx="347472" cy="347472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59" y="4882896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98448" y="4864608"/>
            <a:ext cx="441655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그 명절의 의미는 무엇인가요?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98448" y="5468112"/>
            <a:ext cx="44165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What does that holiday mean?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98448" y="5797296"/>
            <a:ext cx="44165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D2A6B8"/>
                </a:solidFill>
                <a:latin typeface="Calibri"/>
                <a:ea typeface="Calibri"/>
                <a:cs typeface="Calibri"/>
              </a:rPr>
              <a:t>¿Cuál es el significado de esa festividad?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63640" y="4718304"/>
            <a:ext cx="5257800" cy="1481328"/>
          </a:xfrm>
          <a:prstGeom prst="rect">
            <a:avLst/>
          </a:prstGeom>
          <a:solidFill>
            <a:srgbClr val="FFFFFF">
              <a:alpha val="9000"/>
            </a:srgbClr>
          </a:solidFill>
          <a:ln w="9525">
            <a:solidFill>
              <a:srgbClr val="8FA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446520" y="4882896"/>
            <a:ext cx="347472" cy="347472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46520" y="4882896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22008" y="4864608"/>
            <a:ext cx="441655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한국의 명절과 당신 나라의 명절은 어떤 점이 비슷하고 달라요?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22008" y="5468112"/>
            <a:ext cx="44165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How are Korean and your own holidays similar or different?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22008" y="5797296"/>
            <a:ext cx="44165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D2A6B8"/>
                </a:solidFill>
                <a:latin typeface="Calibri"/>
                <a:ea typeface="Calibri"/>
                <a:cs typeface="Calibri"/>
              </a:rPr>
              <a:t>¿En qué se parecen y se diferencian las fiestas coreanas y las tuyas?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355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828800" y="-2286000"/>
            <a:ext cx="5943600" cy="5943600"/>
          </a:xfrm>
          <a:prstGeom prst="ellipse">
            <a:avLst/>
          </a:prstGeom>
          <a:solidFill>
            <a:srgbClr val="142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3840480"/>
            <a:ext cx="4114800" cy="4114800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286000"/>
            <a:ext cx="9144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4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수고하셨습니다!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0040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Great work today!  ·  ¡Buen trabajo hoy!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931920"/>
            <a:ext cx="2011680" cy="12700"/>
          </a:xfrm>
          <a:prstGeom prst="rect">
            <a:avLst/>
          </a:prstGeom>
          <a:solidFill>
            <a:srgbClr val="E9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416052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과제: 우리 나라 명절을 한국 명절과 비교하세요. (-(으)ㄴ 반면에, -보다)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498848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FA3C7"/>
                </a:solidFill>
                <a:latin typeface="Calibri"/>
                <a:ea typeface="Calibri"/>
                <a:cs typeface="Calibri"/>
              </a:rPr>
              <a:t>Tarea: compara una fiesta de tu país con una coreana, usando -(으)ㄴ 반면에 y -보다.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94360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ACADEMIA SEÚL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30936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FA3C7"/>
                </a:solidFill>
                <a:latin typeface="Calibri"/>
                <a:ea typeface="Calibri"/>
                <a:cs typeface="Calibri"/>
              </a:rPr>
              <a:t>academiaseul.com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