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5120640"/>
            <a:ext cx="3108960" cy="3108960"/>
          </a:xfrm>
          <a:prstGeom prst="ellipse">
            <a:avLst/>
          </a:prstGeom>
          <a:solidFill>
            <a:srgbClr val="2E43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78440" y="548640"/>
            <a:ext cx="1371600" cy="137160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02368" y="1938528"/>
            <a:ext cx="777240" cy="777240"/>
          </a:xfrm>
          <a:prstGeom prst="ellips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234440"/>
            <a:ext cx="2331720" cy="384048"/>
          </a:xfrm>
          <a:prstGeom prst="roundRect">
            <a:avLst>
              <a:gd name="adj" fmla="val 25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3444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WEEK 05 · SEMANA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0584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피시방과 이스포츠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E6C7D4"/>
                </a:solidFill>
                <a:latin typeface="Calibri"/>
                <a:ea typeface="Calibri"/>
                <a:cs typeface="Calibri"/>
              </a:rPr>
              <a:t>PC방 &amp; E-Sports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1868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PC방 y e-sports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023360"/>
            <a:ext cx="2011680" cy="1270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06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온라인 회화 수업 자료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4456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Online conversation lesson · A2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188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Lección de conversación en línea · A2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126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ACADEMIA SEÚL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수업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Lesson Roadmap  ·  Ruta de la Clase   (60 min)</a:t>
            </a:r>
          </a:p>
        </p:txBody>
      </p:sp>
      <p:sp>
        <p:nvSpPr>
          <p:cNvPr id="4" name="Oval 3"/>
          <p:cNvSpPr/>
          <p:nvPr/>
        </p:nvSpPr>
        <p:spPr>
          <a:xfrm>
            <a:off x="1353312" y="2286000"/>
            <a:ext cx="731520" cy="731520"/>
          </a:xfrm>
          <a:prstGeom prst="ellipse">
            <a:avLst/>
          </a:prstGeom>
          <a:solidFill>
            <a:srgbClr val="9C5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53312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워밍업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Warm-up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Calentamiento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5분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42316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7E4D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3639312" y="2286000"/>
            <a:ext cx="731520" cy="731520"/>
          </a:xfrm>
          <a:prstGeom prst="ellipse">
            <a:avLst/>
          </a:prstGeom>
          <a:solidFill>
            <a:srgbClr val="8A4B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어휘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Vocabulary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Vocabulario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10분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42316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7E4D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5916168" y="2286000"/>
            <a:ext cx="731520" cy="7315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6168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문화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Culture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Cultura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15분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42316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7E4D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8202168" y="2286000"/>
            <a:ext cx="731520" cy="731520"/>
          </a:xfrm>
          <a:prstGeom prst="ellipse">
            <a:avLst/>
          </a:prstGeom>
          <a:solidFill>
            <a:srgbClr val="5A2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02168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문법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Grammar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Gramática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15분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242316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7E4D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2" name="Oval 31"/>
          <p:cNvSpPr/>
          <p:nvPr/>
        </p:nvSpPr>
        <p:spPr>
          <a:xfrm>
            <a:off x="10488168" y="2286000"/>
            <a:ext cx="731520" cy="731520"/>
          </a:xfrm>
          <a:prstGeom prst="ellipse">
            <a:avLst/>
          </a:prstGeom>
          <a:solidFill>
            <a:srgbClr val="4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88168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회화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Conversation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Conversación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15분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0749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오늘의 문법 · Today's grammar · Gramática de hoy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394960"/>
            <a:ext cx="10881360" cy="8686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559552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-기 전에 / -(으)ㄴ 후에     ·     -(으)ㄹ 거예요     ·     -기로 하다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907024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Ordenar acciones en el tiempo y anunciar planes propios y de grupo.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피시방과 이스포츠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피시방 · PC Bang &amp; E-Sports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워밍업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Warm-up  ·  Calentamiento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3429000" cy="20116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71115" y="2359152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71115" y="235915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3580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피시방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1927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PC bang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3931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사진을 추가하세요 · Add photo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057400"/>
            <a:ext cx="3429000" cy="20116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28716" y="2359152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28716" y="235915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03580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이스포츠 경기장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31927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E-sports arena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63931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사진을 추가하세요 · Add photo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2057400"/>
            <a:ext cx="3429000" cy="20116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86315" y="2359152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86315" y="235915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303580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프로게이머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331927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Pro gamer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363931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사진을 추가하세요 · Add photo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315968"/>
            <a:ext cx="10881360" cy="199339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43484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사진을 보면서 이야기해 보세요 · Talk about the photos · Habla sobre las fotos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736592"/>
            <a:ext cx="10332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1. 게임을 자주 해요?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4983479"/>
            <a:ext cx="10149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Do you play games often?  ·  ¿Juegas videojuegos a menudo?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248656"/>
            <a:ext cx="10332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2. 친구들과 같이 게임한 적이 있어요?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5495544"/>
            <a:ext cx="10149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Have you ever played games with friends?  ·  ¿Has jugado alguna vez con amigos?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760720"/>
            <a:ext cx="10332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3. 당신 나라에도 피시방 같은 곳이 있어요?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6007608"/>
            <a:ext cx="10149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Is there anything like a PC bang in your country?  ·  ¿Existe algo como un PC bang en tu país?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피시방과 이스포츠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피시방 · PC Bang &amp; E-Sports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핵심 어휘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Key Vocabulary 1 · Vocabulario Clave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게임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game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juego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9856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게임하다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play games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jugar videojuegos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이기다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45936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win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ganar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79408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5712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지다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25712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lose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5712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perder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team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equipo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19856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0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대회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66160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6160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tournament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torneo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9632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45936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선수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45936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45936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player (pro)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45936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jugador profesional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79408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25712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순위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25712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25712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ranking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25712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ranking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피시방과 이스포츠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피시방 · PC Bang &amp; E-Sports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핵심 어휘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Key Vocabulary 2 · Vocabulario Clave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피시방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internet café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cibercafé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9856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자리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seat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asiento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시간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45936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time / hours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tiempo, horas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79408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5712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충전하다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25712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top up (credit)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5712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recargar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주문하다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order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pedir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19856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0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컵라면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66160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6160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cup noodles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ramen instantáneo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9632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45936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약속하다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45936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45936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make a plan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45936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quedar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79408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25712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모이다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25712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25712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gather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25712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reunirse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피시방과 이스포츠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피시방 · PC Bang &amp; E-Sports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문화 핵심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Cultural Focus  ·  Claves Culturales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3429000" cy="40690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221992"/>
            <a:ext cx="502920" cy="5029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2199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3464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피시방 문화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7355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The PC bang as third space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611880"/>
            <a:ext cx="315468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49039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피시방은 게임만 하는 곳이 아니에요. 친구들을 만나고 밥도 먹는 공간이에요.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006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A PC bang is not only for gaming — it is a social space where friends meet and eat.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68112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Un PC bang no es solo para jugar: es un espacio social donde los amigos se reúnen y comen.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057400"/>
            <a:ext cx="3429000" cy="40690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34840" y="2221992"/>
            <a:ext cx="502920" cy="5029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222199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83464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이스포츠 리그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27355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Professional leagues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3611880"/>
            <a:ext cx="315468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749039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한국은 이스포츠를 처음 방송한 나라예요. 큰 경기장에서 대회를 해요.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8006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Korea was the first country to broadcast e-sports; tournaments fill large arenas.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5468112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Corea fue el primer país en televisar los e-sports; los torneos llenan grandes estadios.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2057400"/>
            <a:ext cx="3429000" cy="40690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92440" y="2221992"/>
            <a:ext cx="502920" cy="5029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222199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283464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프로게이머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327355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Gaming as a career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92440" y="3611880"/>
            <a:ext cx="315468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2440" y="3749039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프로게이머는 진짜 직업이에요. 어릴 때부터 팀에서 같이 살면서 연습해요.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48006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Pro gaming is a recognised career; players train and live together in team houses from a young age.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5468112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Ser progamer es una carrera reconocida; entrenan y viven juntos en casas de equipo desde jóvenes.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피시방과 이스포츠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피시방 · PC Bang &amp; E-Sports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문법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Grammar Patterns · Patrones Gramaticales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10881360" cy="137160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-기 전에 / -(으)ㄴ 후에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24328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before / after (doing)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antes de / después 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2221992"/>
            <a:ext cx="10972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221992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게임하기 전에 자리를 예약해요.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770632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수업이 끝난 후에 피시방에 가요.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099815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Korean Grammar in Use · Unit 5, pp. 130 / 133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93591"/>
            <a:ext cx="10881360" cy="137160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685031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-(으)ㄹ 거예요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60520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will / be going to (plan)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voy a / planeo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3758183"/>
            <a:ext cx="10972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758183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주말에 친구들과 게임할 거예요.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306824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내일 대회를 볼 거예요.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636007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Korean Grammar in Use · Unit 1, p. 52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129783"/>
            <a:ext cx="10881360" cy="137160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221223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-기로 하다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696712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to decide / agree to (with others)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quedar en / decidir (con otros)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5294375"/>
            <a:ext cx="10972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5294375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친구들하고 피시방에 가기로 했어요.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5843016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저녁에 같이 게임하기로 했어요.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6172199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Korean Grammar in Use · Unit 15, p. 248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-2103120"/>
            <a:ext cx="5486400" cy="5486400"/>
          </a:xfrm>
          <a:prstGeom prst="ellipse">
            <a:avLst/>
          </a:prstGeom>
          <a:solidFill>
            <a:srgbClr val="14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411480"/>
            <a:ext cx="914400" cy="91440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회화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Conversation Questions · Preguntas de Conversación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2763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609344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어떤 게임을 좋아해요? 보통 언제 해요?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212848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What games do you like? When do you usually play?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542032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¿Qué juegos te gustan? ¿Cuándo juegas normalmente?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463040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1627632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2763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2008" y="1609344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게임하기 전에 무엇을 해요?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2008" y="2212848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What do you do before you start playing?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2008" y="2542032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¿Qué haces antes de ponerte a jugar?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090672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59" y="3255264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325526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236976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이번 주말에 무엇을 할 거예요?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3840480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What are you going to do this weekend?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4169663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¿Qué vas a hacer este fin de semana?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090672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46520" y="3255264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25526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2008" y="3236976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친구들과 무엇을 하기로 했어요?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2008" y="3840480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What have you arranged to do with friends?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8" y="4169663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¿Qué quedaste en hacer con tus amigos?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718304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2959" y="4882896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" y="488289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4864608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당신 나라에서도 이스포츠가 인기가 많아요?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8448" y="5468112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Are e-sports popular in your country too?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98448" y="5797296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¿Los e-sports también son populares en tu país?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4718304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46520" y="4882896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88289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22008" y="4864608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프로게이머라는 직업을 어떻게 생각해요?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22008" y="5468112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What do you think about pro gaming as a career?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22008" y="5797296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¿Qué opinas de ser jugador profesional como carrera?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2286000"/>
            <a:ext cx="5943600" cy="5943600"/>
          </a:xfrm>
          <a:prstGeom prst="ellipse">
            <a:avLst/>
          </a:prstGeom>
          <a:solidFill>
            <a:srgbClr val="14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3840480"/>
            <a:ext cx="4114800" cy="411480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수고하셨습니다!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Great work today!  ·  ¡Buen trabajo hoy!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931920"/>
            <a:ext cx="2011680" cy="1270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과제: 이번 주말 계획을 순서대로 이야기하세요. (-기 전에, -(으)ㄴ 후에)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9884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Tarea: cuenta tu plan del fin de semana en orden, usando -기 전에 y -(으)ㄴ 후에.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436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ACADEMIA SEÚL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093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academiaseul.com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