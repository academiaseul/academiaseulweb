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4206240"/>
            <a:ext cx="3291840" cy="329184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280160" y="5120640"/>
            <a:ext cx="3108960" cy="3108960"/>
          </a:xfrm>
          <a:prstGeom prst="ellipse">
            <a:avLst/>
          </a:prstGeom>
          <a:solidFill>
            <a:srgbClr val="2E437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78440" y="548640"/>
            <a:ext cx="1371600" cy="13716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802368" y="1938528"/>
            <a:ext cx="777240" cy="777240"/>
          </a:xfrm>
          <a:prstGeom prst="ellipse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234440"/>
            <a:ext cx="2331720" cy="384048"/>
          </a:xfrm>
          <a:prstGeom prst="roundRect">
            <a:avLst>
              <a:gd name="adj" fmla="val 25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23444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WEEK 04 · SEMANA 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828800"/>
            <a:ext cx="1005840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5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한복과 미의식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788920"/>
            <a:ext cx="91440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E6C7D4"/>
                </a:solidFill>
                <a:latin typeface="Calibri"/>
                <a:ea typeface="Calibri"/>
                <a:cs typeface="Calibri"/>
              </a:rPr>
              <a:t>Hanbok &amp; Korean Aesthetics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18688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Hanbok y estética coreana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402336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온라인 회화 수업 자료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4456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Online conversation lesson · A2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18888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Lección de conversación en línea · A2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612648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91440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수업 구성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987552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Lesson Roadmap  ·  Ruta de la Clase   (60 min)</a:t>
            </a:r>
          </a:p>
        </p:txBody>
      </p:sp>
      <p:sp>
        <p:nvSpPr>
          <p:cNvPr id="4" name="Oval 3"/>
          <p:cNvSpPr/>
          <p:nvPr/>
        </p:nvSpPr>
        <p:spPr>
          <a:xfrm>
            <a:off x="1353312" y="2286000"/>
            <a:ext cx="731520" cy="731520"/>
          </a:xfrm>
          <a:prstGeom prst="ellipse">
            <a:avLst/>
          </a:prstGeom>
          <a:solidFill>
            <a:srgbClr val="9C5B7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53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Calentamiento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5분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1" name="Oval 10"/>
          <p:cNvSpPr/>
          <p:nvPr/>
        </p:nvSpPr>
        <p:spPr>
          <a:xfrm>
            <a:off x="3639312" y="2286000"/>
            <a:ext cx="731520" cy="731520"/>
          </a:xfrm>
          <a:prstGeom prst="ellipse">
            <a:avLst/>
          </a:prstGeom>
          <a:solidFill>
            <a:srgbClr val="8A4B6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39312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Vocabulario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10분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5916168" y="2286000"/>
            <a:ext cx="731520" cy="7315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12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12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60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25" name="Oval 24"/>
          <p:cNvSpPr/>
          <p:nvPr/>
        </p:nvSpPr>
        <p:spPr>
          <a:xfrm>
            <a:off x="8202168" y="2286000"/>
            <a:ext cx="731520" cy="731520"/>
          </a:xfrm>
          <a:prstGeom prst="ellipse">
            <a:avLst/>
          </a:prstGeom>
          <a:solidFill>
            <a:srgbClr val="5A253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02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98079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98079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79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Gramática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46920" y="2423160"/>
            <a:ext cx="1828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E7E4DC"/>
                </a:solidFill>
                <a:latin typeface="Calibri"/>
                <a:ea typeface="Calibri"/>
                <a:cs typeface="Calibri"/>
              </a:rPr>
              <a:t>→</a:t>
            </a:r>
          </a:p>
        </p:txBody>
      </p:sp>
      <p:sp>
        <p:nvSpPr>
          <p:cNvPr id="32" name="Oval 31"/>
          <p:cNvSpPr/>
          <p:nvPr/>
        </p:nvSpPr>
        <p:spPr>
          <a:xfrm>
            <a:off x="10488168" y="2286000"/>
            <a:ext cx="731520" cy="731520"/>
          </a:xfrm>
          <a:prstGeom prst="ellipse">
            <a:avLst/>
          </a:prstGeom>
          <a:solidFill>
            <a:srgbClr val="451C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488168" y="2286000"/>
            <a:ext cx="73152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784080" y="3246120"/>
            <a:ext cx="21488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회화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784080" y="3657600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0" y="3913632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Conversación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84080" y="4224528"/>
            <a:ext cx="2148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15분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50749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오늘의 문법 · Today's grammar · Gramática de hoy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" y="5394960"/>
            <a:ext cx="10881360" cy="868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14400" y="5559552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-(으)ㄴ / -는 / -(으)ㄹ + N     ·     A-게     ·     -고 싶다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907024"/>
            <a:ext cx="10332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Describir con detalle y decir qué te gustaría llevar o probar.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한복과 미의식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한복 · Hanbok &amp; Aesthetics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워밍업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Warm-up  ·  Calentamiento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전통 한복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Traditional hanbok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28716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28716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생활한복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Modern hanbok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2057400"/>
            <a:ext cx="3429000" cy="20116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6315" y="2359152"/>
            <a:ext cx="566928" cy="566928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86315" y="2359152"/>
            <a:ext cx="566928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+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3035808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경복궁 체험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92440" y="331927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Hanbok at Gyeongbokgung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92440" y="3639312"/>
            <a:ext cx="3154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추가하세요 · Add photo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4315968"/>
            <a:ext cx="10881360" cy="1993392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" y="4434840"/>
            <a:ext cx="10058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사진을 보면서 이야기해 보세요 · Talk about the photos · Habla sobre las fotos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4736592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1. 한복을 입어 본 적이 있어요?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15568" y="4983479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Have you ever worn hanbok?  ·  ¿Alguna vez te has puesto un hanbok?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" y="5248656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2. 당신 나라의 전통 옷은 무엇이에요?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" y="5495544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is the traditional dress of your country?  ·  ¿Cuál es el traje tradicional de tu país?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5760720"/>
            <a:ext cx="103327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3. 어떤 색깔을 좋아해요?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" y="6007608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What colours do you like?  ·  ¿Qué colores te gustan?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한복과 미의식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한복 · Hanbok &amp; Aesthetics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1 · Vocabulario Clave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한복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hanbok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hanbok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저고리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upper jacket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chaqueta (jeogori)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치마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skirt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falda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바지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trousers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pantalón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고름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ribbon tie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lazo del hanbok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소매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sleeve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manga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색동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striped colours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franjas de colores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옷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clothes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ropa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한복과 미의식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한복 · Hanbok &amp; Aesthetics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핵심 어휘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Key Vocabulary 2 · Vocabulario Clave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색깔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colour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color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19856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66160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비단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566160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6160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silk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66160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seda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99632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45936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무늬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45936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45936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pattern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45936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estampado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979408" y="205740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25712" y="218541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화려하다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25712" y="271576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2834640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be splendid / showy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25712" y="338328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ser vistoso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6384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단정하다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86384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6384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be neat / modest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6384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ser sobrio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419856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66160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부드럽다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566160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66160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be soft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66160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ser suave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199632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45936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어울리다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45936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45936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suit / match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345936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quedar bien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979408" y="4160520"/>
            <a:ext cx="2670048" cy="196596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125712" y="4288536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빌리다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25712" y="4818888"/>
            <a:ext cx="237744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25712" y="4937759"/>
            <a:ext cx="237744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EN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to rent / borrow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25712" y="5486400"/>
            <a:ext cx="23774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ES  </a:t>
            </a:r>
            <a:r>
              <a:rPr sz="105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alquilar, pedir prestado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한복과 미의식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한복 · Hanbok &amp; Aesthetics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문화 핵심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Cultural Focus  ·  Claves Culturales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06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7772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선과 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Line and colour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한복은 곡선이 아름다워요. 전통 색은 오방색이라고 해요.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Hanbok is built on curved lines; its traditional palette is the five cardinal colours (obangsaek).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El hanbok se basa en líneas curvas; su paleta tradicional son los cinco colores (obangsaek).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4348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생활한복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Everyday hanbok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348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348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요즘에는 편하게 입는 생활한복이 인기가 많아요. 청바지하고 같이 입기도 해요.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348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Modern "living hanbok" is designed for daily wear — sometimes styled with jeans.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348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El "hanbok de diario" está diseñado para el día a día; a veces se combina con jeans.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955279" y="2057400"/>
            <a:ext cx="3429000" cy="406908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92440" y="2221992"/>
            <a:ext cx="502920" cy="50292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92440" y="2221992"/>
            <a:ext cx="5029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092440" y="2834640"/>
            <a:ext cx="315468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한복 대여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92440" y="3273552"/>
            <a:ext cx="3154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Hanbok rental culture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092440" y="3611880"/>
            <a:ext cx="3154680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092440" y="3749039"/>
            <a:ext cx="315468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1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경복궁 근처에서 한복을 빌릴 수 있어요. 한복을 입으면 입장료가 무료예요.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92440" y="48006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You can rent hanbok near Gyeongbokgung; wearing it gets you free palace admission.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92440" y="5468112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Puedes alquilar hanbok cerca de Gyeongbokgung; llevándolo, la entrada al palacio es gratis.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40080" y="457200"/>
            <a:ext cx="502920" cy="502920"/>
          </a:xfrm>
          <a:prstGeom prst="roundRect">
            <a:avLst>
              <a:gd name="adj" fmla="val 18000"/>
            </a:avLst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80160" y="411480"/>
            <a:ext cx="7315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한복과 미의식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685800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한복 · Hanbok &amp; Aesthetics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09728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1D3557"/>
                </a:solidFill>
                <a:latin typeface="Cambria"/>
                <a:ea typeface="Cambria"/>
                <a:cs typeface="Cambria"/>
              </a:rPr>
              <a:t>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72768"/>
            <a:ext cx="9601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Grammar Patterns · Patrones Gramaticales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07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2057400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148840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-(으)ㄴ / -는 / -(으)ㄹ + 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24328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noun modifier (past/present/future)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modificador del sustantivo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60520" y="2221992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222199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제가 입고 싶은 한복은 파란색이에요.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770632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지금 입는 옷은 생활한복이에요.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3099815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18, p. 272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593591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685031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A-게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160520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adjective → adverb (in a … way)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adjetivo → adverbio (de manera …)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0520" y="3758183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34840" y="3758183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한복을 예쁘게 입었어요.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4306824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색을 화려하게 골랐어요.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636007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18, p. 278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" y="5129783"/>
            <a:ext cx="10881360" cy="1371600"/>
          </a:xfrm>
          <a:prstGeom prst="rect">
            <a:avLst/>
          </a:prstGeom>
          <a:solidFill>
            <a:srgbClr val="F3E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5221223"/>
            <a:ext cx="315468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>
                <a:solidFill>
                  <a:srgbClr val="6D2E46"/>
                </a:solidFill>
                <a:latin typeface="Cambria"/>
                <a:ea typeface="Cambria"/>
                <a:cs typeface="Cambria"/>
              </a:rPr>
              <a:t>-고 싶다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5696712"/>
            <a:ext cx="31089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to want to (do)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5C6B7A"/>
                </a:solidFill>
                <a:latin typeface="Calibri"/>
                <a:ea typeface="Calibri"/>
                <a:cs typeface="Calibri"/>
              </a:rPr>
              <a:t>querer (hacer)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60520" y="5294375"/>
            <a:ext cx="10972" cy="12700"/>
          </a:xfrm>
          <a:prstGeom prst="rect">
            <a:avLst/>
          </a:prstGeom>
          <a:solidFill>
            <a:srgbClr val="D2A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34840" y="5294375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경복궁에서 한복을 입고 싶어요.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5843016"/>
            <a:ext cx="690372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1D3557"/>
                </a:solidFill>
                <a:latin typeface="Calibri"/>
                <a:ea typeface="Calibri"/>
                <a:cs typeface="Calibri"/>
              </a:rPr>
              <a:t>• 전통 한복을 빌리고 싶어요.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34840" y="6172199"/>
            <a:ext cx="6903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D2E46"/>
                </a:solidFill>
                <a:latin typeface="Calibri"/>
                <a:ea typeface="Calibri"/>
                <a:cs typeface="Calibri"/>
              </a:rPr>
              <a:t>Korean Grammar in Use · Unit 8, p. 182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509760" y="-2103120"/>
            <a:ext cx="5486400" cy="54864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424160" y="411480"/>
            <a:ext cx="914400" cy="9144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731520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회화 질문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987552"/>
            <a:ext cx="868680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Conversation Questions · Preguntas de Conversación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59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59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어떤 한복을 입고 싶어요? 무슨 색이 좋아요?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844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kind of hanbok would you like to wear? Which colour?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9844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¿Qué hanbok te gustaría llevar? ¿De qué color?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463040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446520" y="1627632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46520" y="1627632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22008" y="1609344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당신 나라의 전통 옷은 어떻게 생겼어요?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22008" y="2212848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What does your country's traditional dress look like?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8" y="254203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¿Cómo es el traje tradicional de tu país?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59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59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844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그 옷을 보통 언제 입어요?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9844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When is it usually worn?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9844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¿Cuándo se usa normalmente?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63640" y="3090672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6446520" y="3255264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3255264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22008" y="3236976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한복과 당신 나라 전통 옷은 어떤 점이 달라요?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22008" y="3840480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How does hanbok differ from your traditional dress?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22008" y="4169663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¿En qué se diferencia el hanbok del traje de tu país?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22959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59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9844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요즘 젊은 사람들도 전통 옷을 입어요?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9844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Do young people still wear traditional clothes?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¿Los jóvenes todavía usan ropa tradicional?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63640" y="4718304"/>
            <a:ext cx="5257800" cy="1481328"/>
          </a:xfrm>
          <a:prstGeom prst="rect">
            <a:avLst/>
          </a:prstGeom>
          <a:solidFill>
            <a:srgbClr val="FFFFFF">
              <a:alpha val="9000"/>
            </a:srgbClr>
          </a:solidFill>
          <a:ln w="9525">
            <a:solidFill>
              <a:srgbClr val="8FA3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6446520" y="4882896"/>
            <a:ext cx="347472" cy="347472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46520" y="4882896"/>
            <a:ext cx="347472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22008" y="4864608"/>
            <a:ext cx="441655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한국에 가면 한복을 빌려서 사진을 찍고 싶어요?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22008" y="5468112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Would you rent a hanbok and take photos in Korea?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22008" y="5797296"/>
            <a:ext cx="4416552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800" b="0">
                <a:solidFill>
                  <a:srgbClr val="D2A6B8"/>
                </a:solidFill>
                <a:latin typeface="Calibri"/>
                <a:ea typeface="Calibri"/>
                <a:cs typeface="Calibri"/>
              </a:rPr>
              <a:t>¿Alquilarías un hanbok para sacarte fotos en Corea?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D355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828800" y="-2286000"/>
            <a:ext cx="5943600" cy="5943600"/>
          </a:xfrm>
          <a:prstGeom prst="ellipse">
            <a:avLst/>
          </a:prstGeom>
          <a:solidFill>
            <a:srgbClr val="1424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3840480"/>
            <a:ext cx="4114800" cy="4114800"/>
          </a:xfrm>
          <a:prstGeom prst="ellipse">
            <a:avLst/>
          </a:prstGeom>
          <a:solidFill>
            <a:srgbClr val="6D2E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수고하셨습니다!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320040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CADCFC"/>
                </a:solidFill>
                <a:latin typeface="Calibri"/>
                <a:ea typeface="Calibri"/>
                <a:cs typeface="Calibri"/>
              </a:rPr>
              <a:t>Great work today!  ·  ¡Buen trabajo hoy!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3931920"/>
            <a:ext cx="2011680" cy="12700"/>
          </a:xfrm>
          <a:prstGeom prst="rect">
            <a:avLst/>
          </a:prstGeom>
          <a:solidFill>
            <a:srgbClr val="E9C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과제: 입고 싶은 옷을 자세히 설명하세요. (관형형을 세 번 쓰세요)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498848"/>
            <a:ext cx="9144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Tarea: describe con detalle una prenda que te gustaría llevar, usando 3 modificadores.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45720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FFFFFF"/>
                </a:solidFill>
                <a:latin typeface="Cambria"/>
                <a:ea typeface="Cambria"/>
                <a:cs typeface="Cambria"/>
              </a:rPr>
              <a:t>ACADEMIA SEÚL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30936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8FA3C7"/>
                </a:solidFill>
                <a:latin typeface="Calibri"/>
                <a:ea typeface="Calibri"/>
                <a:cs typeface="Calibri"/>
              </a:rPr>
              <a:t>academiaseul.com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